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3ca1c78113470b" /><Relationship Type="http://schemas.openxmlformats.org/officeDocument/2006/relationships/extended-properties" Target="/docProps/app.xml" Id="R2ed3c0b0325e4ec8" /><Relationship Type="http://schemas.openxmlformats.org/officeDocument/2006/relationships/officeDocument" Target="/ppt/presentation.xml" Id="Re4335b96244847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421ce6217c4929"/>
  </p:sldMasterIdLst>
  <p:notesMasterIdLst>
    <p:notesMasterId xmlns:r="http://schemas.openxmlformats.org/officeDocument/2006/relationships" r:id="Rc9ede7b8d1d94d7b"/>
  </p:notesMasterIdLst>
  <p:sldIdLst>
    <p:sldId xmlns:r="http://schemas.openxmlformats.org/officeDocument/2006/relationships" id="256" r:id="R908b43f82ad04440"/>
    <p:sldId xmlns:r="http://schemas.openxmlformats.org/officeDocument/2006/relationships" id="257" r:id="Ra544e95ede09473b"/>
    <p:sldId xmlns:r="http://schemas.openxmlformats.org/officeDocument/2006/relationships" id="258" r:id="Rbf7698cda5fe4750"/>
    <p:sldId xmlns:r="http://schemas.openxmlformats.org/officeDocument/2006/relationships" id="259" r:id="Ra618da13fc31427c"/>
    <p:sldId xmlns:r="http://schemas.openxmlformats.org/officeDocument/2006/relationships" id="260" r:id="R84dca3dfa5d34d2c"/>
    <p:sldId xmlns:r="http://schemas.openxmlformats.org/officeDocument/2006/relationships" id="261" r:id="R6a684a901c5049b5"/>
    <p:sldId xmlns:r="http://schemas.openxmlformats.org/officeDocument/2006/relationships" id="262" r:id="Rf984b3a6b21e4484"/>
    <p:sldId xmlns:r="http://schemas.openxmlformats.org/officeDocument/2006/relationships" id="263" r:id="Re3886b09e0bf4394"/>
    <p:sldId xmlns:r="http://schemas.openxmlformats.org/officeDocument/2006/relationships" id="264" r:id="R0fabc45269a643b5"/>
    <p:sldId xmlns:r="http://schemas.openxmlformats.org/officeDocument/2006/relationships" id="265" r:id="Rbc01f72c434f4275"/>
    <p:sldId xmlns:r="http://schemas.openxmlformats.org/officeDocument/2006/relationships" id="266" r:id="R83865277d9d1493d"/>
    <p:sldId xmlns:r="http://schemas.openxmlformats.org/officeDocument/2006/relationships" id="267" r:id="R238bb920da5b4bcd"/>
    <p:sldId xmlns:r="http://schemas.openxmlformats.org/officeDocument/2006/relationships" id="268" r:id="R92642402045447d2"/>
    <p:sldId xmlns:r="http://schemas.openxmlformats.org/officeDocument/2006/relationships" id="269" r:id="R1dfc899b3394490e"/>
    <p:sldId xmlns:r="http://schemas.openxmlformats.org/officeDocument/2006/relationships" id="270" r:id="R71d08bf1babe4857"/>
    <p:sldId xmlns:r="http://schemas.openxmlformats.org/officeDocument/2006/relationships" id="271" r:id="R628a7a0222fb4c11"/>
    <p:sldId xmlns:r="http://schemas.openxmlformats.org/officeDocument/2006/relationships" id="272" r:id="Rf43e2fb6c43e4efc"/>
    <p:sldId xmlns:r="http://schemas.openxmlformats.org/officeDocument/2006/relationships" id="273" r:id="R9993097f6de94b75"/>
    <p:sldId xmlns:r="http://schemas.openxmlformats.org/officeDocument/2006/relationships" id="274" r:id="R6685761a651b4722"/>
    <p:sldId xmlns:r="http://schemas.openxmlformats.org/officeDocument/2006/relationships" id="275" r:id="Reea21331e3af4a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421ce6217c4929" /><Relationship Type="http://schemas.openxmlformats.org/officeDocument/2006/relationships/theme" Target="/ppt/theme/theme1.xml" Id="Rd9e905776a3d453c" /><Relationship Type="http://schemas.openxmlformats.org/officeDocument/2006/relationships/notesMaster" Target="/ppt/notesMasters/notesMaster1.xml" Id="Rc9ede7b8d1d94d7b" /><Relationship Type="http://schemas.openxmlformats.org/officeDocument/2006/relationships/presProps" Target="/ppt/presProps.xml" Id="R20848055c0ee4758" /><Relationship Type="http://schemas.openxmlformats.org/officeDocument/2006/relationships/viewProps" Target="/ppt/viewProps.xml" Id="Rcadc950b9a21401c" /><Relationship Type="http://schemas.openxmlformats.org/officeDocument/2006/relationships/tableStyles" Target="/ppt/tableStyles.xml" Id="R3fb8f0c3f54a4749" /><Relationship Type="http://schemas.openxmlformats.org/officeDocument/2006/relationships/slide" Target="/ppt/slides/slide1.xml" Id="R908b43f82ad04440" /><Relationship Type="http://schemas.openxmlformats.org/officeDocument/2006/relationships/slide" Target="/ppt/slides/slide2.xml" Id="Ra544e95ede09473b" /><Relationship Type="http://schemas.openxmlformats.org/officeDocument/2006/relationships/slide" Target="/ppt/slides/slide3.xml" Id="Rbf7698cda5fe4750" /><Relationship Type="http://schemas.openxmlformats.org/officeDocument/2006/relationships/slide" Target="/ppt/slides/slide4.xml" Id="Ra618da13fc31427c" /><Relationship Type="http://schemas.openxmlformats.org/officeDocument/2006/relationships/slide" Target="/ppt/slides/slide5.xml" Id="R84dca3dfa5d34d2c" /><Relationship Type="http://schemas.openxmlformats.org/officeDocument/2006/relationships/slide" Target="/ppt/slides/slide6.xml" Id="R6a684a901c5049b5" /><Relationship Type="http://schemas.openxmlformats.org/officeDocument/2006/relationships/slide" Target="/ppt/slides/slide7.xml" Id="Rf984b3a6b21e4484" /><Relationship Type="http://schemas.openxmlformats.org/officeDocument/2006/relationships/slide" Target="/ppt/slides/slide8.xml" Id="Re3886b09e0bf4394" /><Relationship Type="http://schemas.openxmlformats.org/officeDocument/2006/relationships/slide" Target="/ppt/slides/slide9.xml" Id="R0fabc45269a643b5" /><Relationship Type="http://schemas.openxmlformats.org/officeDocument/2006/relationships/slide" Target="/ppt/slides/slide10.xml" Id="Rbc01f72c434f4275" /><Relationship Type="http://schemas.openxmlformats.org/officeDocument/2006/relationships/slide" Target="/ppt/slides/slide11.xml" Id="R83865277d9d1493d" /><Relationship Type="http://schemas.openxmlformats.org/officeDocument/2006/relationships/slide" Target="/ppt/slides/slide12.xml" Id="R238bb920da5b4bcd" /><Relationship Type="http://schemas.openxmlformats.org/officeDocument/2006/relationships/slide" Target="/ppt/slides/slide13.xml" Id="R92642402045447d2" /><Relationship Type="http://schemas.openxmlformats.org/officeDocument/2006/relationships/slide" Target="/ppt/slides/slide14.xml" Id="R1dfc899b3394490e" /><Relationship Type="http://schemas.openxmlformats.org/officeDocument/2006/relationships/slide" Target="/ppt/slides/slide15.xml" Id="R71d08bf1babe4857" /><Relationship Type="http://schemas.openxmlformats.org/officeDocument/2006/relationships/slide" Target="/ppt/slides/slide16.xml" Id="R628a7a0222fb4c11" /><Relationship Type="http://schemas.openxmlformats.org/officeDocument/2006/relationships/slide" Target="/ppt/slides/slide17.xml" Id="Rf43e2fb6c43e4efc" /><Relationship Type="http://schemas.openxmlformats.org/officeDocument/2006/relationships/slide" Target="/ppt/slides/slide18.xml" Id="R9993097f6de94b75" /><Relationship Type="http://schemas.openxmlformats.org/officeDocument/2006/relationships/slide" Target="/ppt/slides/slide19.xml" Id="R6685761a651b4722" /><Relationship Type="http://schemas.openxmlformats.org/officeDocument/2006/relationships/slide" Target="/ppt/slides/slide20.xml" Id="Reea21331e3af4a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fb8a5032ae243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cb697fa75c4a9a" /><Relationship Type="http://schemas.openxmlformats.org/officeDocument/2006/relationships/notesMaster" Target="/ppt/notesMasters/notesMaster1.xml" Id="Rcbf2995550924f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137cf1ed624c05" /><Relationship Type="http://schemas.openxmlformats.org/officeDocument/2006/relationships/notesMaster" Target="/ppt/notesMasters/notesMaster1.xml" Id="R59020b53acd140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6929655ddb4928" /><Relationship Type="http://schemas.openxmlformats.org/officeDocument/2006/relationships/notesMaster" Target="/ppt/notesMasters/notesMaster1.xml" Id="R0316d0bee96944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1a9682be934e31" /><Relationship Type="http://schemas.openxmlformats.org/officeDocument/2006/relationships/notesMaster" Target="/ppt/notesMasters/notesMaster1.xml" Id="R486ca91cb32641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25d83caed54844" /><Relationship Type="http://schemas.openxmlformats.org/officeDocument/2006/relationships/notesMaster" Target="/ppt/notesMasters/notesMaster1.xml" Id="R332123356a6e49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d8eb8225424966" /><Relationship Type="http://schemas.openxmlformats.org/officeDocument/2006/relationships/notesMaster" Target="/ppt/notesMasters/notesMaster1.xml" Id="R792f4423e66049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f9176156d64f79" /><Relationship Type="http://schemas.openxmlformats.org/officeDocument/2006/relationships/notesMaster" Target="/ppt/notesMasters/notesMaster1.xml" Id="Re9acc1ddb1ea47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aff648c003440f" /><Relationship Type="http://schemas.openxmlformats.org/officeDocument/2006/relationships/notesMaster" Target="/ppt/notesMasters/notesMaster1.xml" Id="R25c66fcb554d4e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db075dc03d4b91" /><Relationship Type="http://schemas.openxmlformats.org/officeDocument/2006/relationships/notesMaster" Target="/ppt/notesMasters/notesMaster1.xml" Id="Re8b6ad0f070044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a35edd16ac429c" /><Relationship Type="http://schemas.openxmlformats.org/officeDocument/2006/relationships/notesMaster" Target="/ppt/notesMasters/notesMaster1.xml" Id="R31eea01fea5442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1f434d8b1441ad" /><Relationship Type="http://schemas.openxmlformats.org/officeDocument/2006/relationships/notesMaster" Target="/ppt/notesMasters/notesMaster1.xml" Id="R7afc2997e9b04f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d76e94d96941c8" /><Relationship Type="http://schemas.openxmlformats.org/officeDocument/2006/relationships/notesMaster" Target="/ppt/notesMasters/notesMaster1.xml" Id="R9730d161273646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534169b8f040ec" /><Relationship Type="http://schemas.openxmlformats.org/officeDocument/2006/relationships/notesMaster" Target="/ppt/notesMasters/notesMaster1.xml" Id="R204c5d37e55a48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5821a3049441b1" /><Relationship Type="http://schemas.openxmlformats.org/officeDocument/2006/relationships/notesMaster" Target="/ppt/notesMasters/notesMaster1.xml" Id="R31c0cbab03914f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a3dd6bd03bb4dd0" /><Relationship Type="http://schemas.openxmlformats.org/officeDocument/2006/relationships/notesMaster" Target="/ppt/notesMasters/notesMaster1.xml" Id="R748d1d7d8fa043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4e26aab51f4507" /><Relationship Type="http://schemas.openxmlformats.org/officeDocument/2006/relationships/notesMaster" Target="/ppt/notesMasters/notesMaster1.xml" Id="R9bd1dc88921749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ad9b1a884f4944" /><Relationship Type="http://schemas.openxmlformats.org/officeDocument/2006/relationships/notesMaster" Target="/ppt/notesMasters/notesMaster1.xml" Id="Rfc614e19f6e6405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b083298461472c" /><Relationship Type="http://schemas.openxmlformats.org/officeDocument/2006/relationships/notesMaster" Target="/ppt/notesMasters/notesMaster1.xml" Id="Rd1c6a34584984f4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0c2c168175e4ae6" /><Relationship Type="http://schemas.openxmlformats.org/officeDocument/2006/relationships/notesMaster" Target="/ppt/notesMasters/notesMaster1.xml" Id="R5e37765c8f754c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c419affa8414246" /><Relationship Type="http://schemas.openxmlformats.org/officeDocument/2006/relationships/notesMaster" Target="/ppt/notesMasters/notesMaster1.xml" Id="R78f4f663883a47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a6ac587bb2442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a7e772bbfaf4c05" /><Relationship Type="http://schemas.openxmlformats.org/officeDocument/2006/relationships/slideLayout" Target="/ppt/slideLayouts/slideLayout2.xml" Id="Rb172a01664254b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72a01664254b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8267b7c189486c" /><Relationship Type="http://schemas.openxmlformats.org/officeDocument/2006/relationships/notesSlide" Target="/ppt/notesSlides/notesSlide1.xml" Id="R9c24d8ff31da46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0b0fb5c2664df7" /><Relationship Type="http://schemas.openxmlformats.org/officeDocument/2006/relationships/notesSlide" Target="/ppt/notesSlides/notesSlide2.xml" Id="Rf9d4c435232d41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8aed9ff10e4076" /><Relationship Type="http://schemas.openxmlformats.org/officeDocument/2006/relationships/notesSlide" Target="/ppt/notesSlides/notesSlide3.xml" Id="R6b83ed8d47a549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a9d244c4eb4aa0" /><Relationship Type="http://schemas.openxmlformats.org/officeDocument/2006/relationships/notesSlide" Target="/ppt/notesSlides/notesSlide4.xml" Id="R10d36d304c5347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0548b013bd4030" /><Relationship Type="http://schemas.openxmlformats.org/officeDocument/2006/relationships/notesSlide" Target="/ppt/notesSlides/notesSlide5.xml" Id="R7e1bd858dcf043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6bec153136486d" /><Relationship Type="http://schemas.openxmlformats.org/officeDocument/2006/relationships/notesSlide" Target="/ppt/notesSlides/notesSlide6.xml" Id="R539e9cc0d5c841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aeec534c35454c" /><Relationship Type="http://schemas.openxmlformats.org/officeDocument/2006/relationships/notesSlide" Target="/ppt/notesSlides/notesSlide7.xml" Id="R4a96e4588cf64b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9cd74e4101488f" /><Relationship Type="http://schemas.openxmlformats.org/officeDocument/2006/relationships/notesSlide" Target="/ppt/notesSlides/notesSlide8.xml" Id="R8f95e24b849446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439ef0c0c84bdb" /><Relationship Type="http://schemas.openxmlformats.org/officeDocument/2006/relationships/notesSlide" Target="/ppt/notesSlides/notesSlide9.xml" Id="Rabe8bb03812d48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a3fa236eda4897" /><Relationship Type="http://schemas.openxmlformats.org/officeDocument/2006/relationships/notesSlide" Target="/ppt/notesSlides/notesSlide10.xml" Id="Ra5a599fce67e4b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a1f0b2cc9446c7" /><Relationship Type="http://schemas.openxmlformats.org/officeDocument/2006/relationships/notesSlide" Target="/ppt/notesSlides/notesSlide11.xml" Id="R7a9ae2d099164c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63827410574afd" /><Relationship Type="http://schemas.openxmlformats.org/officeDocument/2006/relationships/notesSlide" Target="/ppt/notesSlides/notesSlide12.xml" Id="R59c9004c3ca844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58147f5eca49a3" /><Relationship Type="http://schemas.openxmlformats.org/officeDocument/2006/relationships/notesSlide" Target="/ppt/notesSlides/notesSlide13.xml" Id="R71fbd1f2158144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6328135adb4801" /><Relationship Type="http://schemas.openxmlformats.org/officeDocument/2006/relationships/notesSlide" Target="/ppt/notesSlides/notesSlide14.xml" Id="R162c13ac16094a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e0a10782bf42c7" /><Relationship Type="http://schemas.openxmlformats.org/officeDocument/2006/relationships/notesSlide" Target="/ppt/notesSlides/notesSlide15.xml" Id="Rada9c28fc3b14b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15218a4e7f4c42" /><Relationship Type="http://schemas.openxmlformats.org/officeDocument/2006/relationships/notesSlide" Target="/ppt/notesSlides/notesSlide16.xml" Id="R104e287991b04dd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ccad69471c4ffb" /><Relationship Type="http://schemas.openxmlformats.org/officeDocument/2006/relationships/notesSlide" Target="/ppt/notesSlides/notesSlide17.xml" Id="R0f0aba6ff5bb43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0f0626aa7a4209" /><Relationship Type="http://schemas.openxmlformats.org/officeDocument/2006/relationships/notesSlide" Target="/ppt/notesSlides/notesSlide18.xml" Id="Rd454fcc86f9145b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de9b19a78b4b23" /><Relationship Type="http://schemas.openxmlformats.org/officeDocument/2006/relationships/notesSlide" Target="/ppt/notesSlides/notesSlide19.xml" Id="R655a2607b9c24d7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12dd1ad81c49a3" /><Relationship Type="http://schemas.openxmlformats.org/officeDocument/2006/relationships/notesSlide" Target="/ppt/notesSlides/notesSlide20.xml" Id="Rc817f46c00134e7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CC204B-3179-44D8-81E7-FEAB9CD5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0">
            <a:solidFill>
              <a:srgbClr val="1F2A4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37A29-86EF-4A74-8CA8-A69E3647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4062"/>
          </a:solidFill>
          <a:ln xmlns:a="http://schemas.openxmlformats.org/drawingml/2006/main" w="0">
            <a:solidFill>
              <a:srgbClr val="31406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96497-882C-4AF6-8BA4-F01DE5F1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554"/>
          </a:solidFill>
          <a:ln xmlns:a="http://schemas.openxmlformats.org/drawingml/2006/main" w="0">
            <a:solidFill>
              <a:srgbClr val="2735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DC890-D599-49A0-8FE6-67D1CCA3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EFDAA85-D395-4DE1-98D7-873FCD92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79C07FF-7E19-4104-BF41-50865A70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DEFENSE PROPOSAL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7CFF7-BFDF-478D-B3F2-B4058F0F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609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Algorithmic Authority and Information Calibration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CA5DD-ABAC-468E-8D1E-A5AFDD41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90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D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DDE7"/>
                </a:solidFill>
                <a:latin typeface="Aptos"/>
                <a:ea typeface="Aptos"/>
                <a:cs typeface="Aptos"/>
              </a:rPr>
              <a:t>How Generative AI Changes Additional Search and Belief Updating under Uncertainty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F7BC5-2FD6-4ACB-B366-05200135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Xu | Proposal Defense | June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911F2-DFFC-4047-8D5E-1BF8C1E0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239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54"/>
          </a:solidFill>
          <a:ln xmlns:a="http://schemas.openxmlformats.org/drawingml/2006/main" w="9525">
            <a:solidFill>
              <a:srgbClr val="43507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6E328-5B26-4BFC-9065-3C8A799D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239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DB497-1322-46F4-9FAB-49DCD4A5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763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OLD ORDER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54B6D-4CBC-4BA3-8748-198E3629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478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112DA-5C4B-40D6-B599-619F832B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859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C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CE6"/>
                </a:solidFill>
                <a:latin typeface="Aptos"/>
                <a:ea typeface="Aptos"/>
                <a:cs typeface="Aptos"/>
              </a:rPr>
              <a:t>People search first, interpret later.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76047-05A3-4996-9D4E-774241E0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54"/>
          </a:solidFill>
          <a:ln xmlns:a="http://schemas.openxmlformats.org/drawingml/2006/main" w="9525">
            <a:solidFill>
              <a:srgbClr val="43507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8571E-12B6-45F9-9B1E-92DC7E5E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5516C-F448-49BC-8642-A0CFBC0B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051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NEW ORDER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658D2-68D2-405C-B0A2-69AAFDD2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AI answer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EF8D6-EA3D-48DE-8BC5-56DEFFEC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147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C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CE6"/>
                </a:solidFill>
                <a:latin typeface="Aptos"/>
                <a:ea typeface="Aptos"/>
                <a:cs typeface="Aptos"/>
              </a:rPr>
              <a:t>Interpretation appears before verification.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5BD51-27D3-4547-A140-05BC1569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814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54"/>
          </a:solidFill>
          <a:ln xmlns:a="http://schemas.openxmlformats.org/drawingml/2006/main" w="9525">
            <a:solidFill>
              <a:srgbClr val="43507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18C82F-B218-49F6-A5E6-74D3E21A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814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4FFA7-7B17-4112-B63B-124E393E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338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431015-7C78-4200-AC34-8E97670A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053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What changes next?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64030D-34E5-4E98-BC05-4A8E687C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434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C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CE6"/>
                </a:solidFill>
                <a:latin typeface="Aptos"/>
                <a:ea typeface="Aptos"/>
                <a:cs typeface="Aptos"/>
              </a:rPr>
              <a:t>Search, ownership, and updating may all move.</a:t>
            </a:r>
          </a:p>
        </p:txBody>
      </p:sp>
      <p:cxnSp>
        <p:nvCxnSpPr>
          <p:cNvPr id="25" name=""/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9144000" y="2171700"/>
            <a:ext cx="57150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89B4A"/>
            </a:solidFill>
            <a:prstDash val="solid"/>
            <a:headEnd type="arrow" w="med" len="med"/>
          </a:ln>
        </p:spPr>
      </p:cxnSp>
      <p:cxnSp>
        <p:nvCxnSpPr>
          <p:cNvPr id="26" name=""/>
          <p:cNvCxnSpPr>
            <a:stCxn xmlns:a="http://schemas.openxmlformats.org/drawingml/2006/main" id="15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9144000" y="3600450"/>
            <a:ext cx="57150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89B4A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9D0981-74B2-474B-BBC5-CDD361AA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7DCE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7DCE7"/>
                </a:solidFill>
                <a:latin typeface="Aptos"/>
                <a:ea typeface="Aptos"/>
                <a:cs typeface="Aptos"/>
              </a:rPr>
              <a:t>Source basis: revised proposal plus English LaTeX translation in defense_project/latex.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617D40-2546-45E1-B5EF-1B71676B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9B4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89B4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90603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A8DCD4-B3A9-43A9-9636-63016480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E1FE3-3025-4189-ABD5-70DD71FE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4B50C-AA6A-4AF1-918F-ABDC2835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406DD-4C17-467F-A888-3DE46489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5ED8AC3-5B34-40FA-994E-891DCFBE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634ED8-D3EA-49E9-BBEA-98737AC9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85B24-C435-404E-9859-EF3CBE34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666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Generative AI may change the order of judgment before it changes the final answer.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40841-F33B-4F60-A7DB-4BD19550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Motivation built from the introduction of both drafts.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1982E-BCBD-4F34-A9C2-610D8E43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8B511-A69D-4108-BA0E-1D6DCF4D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FACBB-8ECA-4AAE-A3E9-78952C39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384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Users increasingly encounter an interpreted answer before they inspect the raw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2EDA6-59F5-49AE-9B0B-AEBB4A6A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D2272-86A5-48D4-8C1F-630C7A04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That answer can lower the felt value of additional search even when search is still normatively useful.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1E046-AA38-4284-AA6B-8F3E1B27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85529-8CB3-4DDC-9B83-0A823D3E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It can also change how later counterevidence is interpreted and weighted.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29D49-83B2-492F-9A36-C6988EAA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3429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5C835-8862-466B-9549-8D694E0F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571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1829A-5E76-48CB-B589-B3426000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CORE CLAIM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40875-1A42-43C0-84C3-85E102E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Why this matters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17304-94AA-4AD0-AB49-4B1F6555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4F557-BD78-4306-AF40-3364D71F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9082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Search less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5CF72C-0B05-4899-B130-DD62B7A4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5280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DDCB"/>
          </a:solidFill>
          <a:ln xmlns:a="http://schemas.openxmlformats.org/drawingml/2006/main" w="0">
            <a:solidFill>
              <a:srgbClr val="E9DD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C5ECB-3ADF-431F-8E94-99CDBACA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8137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Feel less ownership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9C01C-CA3E-42E3-BEA4-B1D27B43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D4"/>
          </a:solidFill>
          <a:ln xmlns:a="http://schemas.openxmlformats.org/drawingml/2006/main" w="0">
            <a:solidFill>
              <a:srgbClr val="E6E0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88EC10-EBD0-40A8-80FE-2A51AC9E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7192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Update less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8FF79-CD46-45DB-98A3-BF020AAD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The project studies how answer-first systems reshape search thresholds, subjective ownership, and response to later counterevidence.</a:t>
            </a:r>
          </a:p>
        </p:txBody>
      </p:sp>
    </p:spTree>
    <p:extLst>
      <p:ext uri="{BB962C8B-B14F-4D97-AF65-F5344CB8AC3E}">
        <p14:creationId xmlns:p14="http://schemas.microsoft.com/office/powerpoint/2010/main" val="299027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B1EB7C-52B2-440D-9936-DCB450FE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9D56D-D635-4A98-A6BA-E50774BC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FF709-8614-4ABF-AAFE-878C7596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8123F-0F5A-4B2D-AA3B-0850D3E3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18C6C39-218E-4CD0-9844-4542C3B5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9417DA-8928-4764-984B-668CB0C9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BACKGROUND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F673A-CE72-4FCE-B814-A964A1A4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The epistemic sequence is reversed in an answer-first environment.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2CCEA-62DD-4924-8AF7-A52200A2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Framing follows the theoretical framework section.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67B5C-42FF-43B0-A315-32CD1B90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46DA4-C44F-4A1F-B9E7-3EA74E5B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Traditional search 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36D5E-67A0-40D4-A787-4A1BA553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Generative AI logic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EE045-D2BA-4108-8F3D-881149D2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6CCEE-8000-426A-8EE9-025AD978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554DC-DAB8-4F96-9AF7-1A27045F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0291B-927A-4FC9-83D5-3EBA0ACF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1BF14-0592-4A58-871B-18F2B967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2FC73-3F5D-4D9C-8F46-64B214DA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Explanation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72AC8-B088-41FD-824E-071CCA15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EFD8D-5772-4946-83D3-1627ACE6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60352C-DC15-41AB-A3D6-ADEF84B0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767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Judgment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21A67-A17E-4F25-B9B8-147C16DA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A75357-147E-4EA8-8CAB-78AB5790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FCD336-0E93-42B9-B4CB-460E250F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241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AI answer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13167C-4798-480B-9FA7-1C09B728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D7E310-2938-4CB1-982B-540B67A4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B1B8BD-E27B-40FD-BAFB-DCE5E52E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004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AI explanation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206845-DFA2-4F1E-A49F-AD4053C9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0530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648FA0-C43E-48B4-8EC9-42F6E603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053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18278E-E92B-406D-B9B6-93CBEA09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Optional verification</a:t>
            </a:r>
          </a:p>
        </p:txBody>
      </p:sp>
      <p:cxnSp>
        <p:nvCxnSpPr>
          <p:cNvPr id="30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2667000" y="31813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561"/>
            </a:solidFill>
            <a:prstDash val="solid"/>
            <a:headEnd type="arrow" w="med" len="med"/>
          </a:ln>
        </p:spPr>
      </p:cxnSp>
      <p:cxnSp>
        <p:nvCxnSpPr>
          <p:cNvPr id="31" name=""/>
          <p:cNvCxnSpPr>
            <a:stCxn xmlns:a="http://schemas.openxmlformats.org/drawingml/2006/main" id="1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2667000" y="40576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561"/>
            </a:solidFill>
            <a:prstDash val="solid"/>
            <a:headEnd type="arrow" w="med" len="med"/>
          </a:ln>
        </p:spPr>
      </p:cxnSp>
      <p:cxnSp>
        <p:nvCxnSpPr>
          <p:cNvPr id="32" name=""/>
          <p:cNvCxnSpPr>
            <a:stCxn xmlns:a="http://schemas.openxmlformats.org/drawingml/2006/main" id="21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8286750" y="31813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A3C"/>
            </a:solidFill>
            <a:prstDash val="solid"/>
            <a:headEnd type="arrow" w="med" len="med"/>
          </a:ln>
        </p:spPr>
      </p:cxnSp>
      <p:cxnSp>
        <p:nvCxnSpPr>
          <p:cNvPr id="33" name="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286750" y="40576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A3C"/>
            </a:solidFill>
            <a:prstDash val="solid"/>
            <a:head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2425C9-BC31-4F0C-AD15-37C0C3E3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67050"/>
            <a:ext cx="1733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9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2B7927-93BC-410D-AC1C-E81F2F36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670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1A6C79-8FFC-4B4E-9806-A38849BD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1945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SHIFT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EC1616-2DE6-4617-A4D2-D8BD1920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909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From evidence-led to answer-led judgment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89F1DC-ADED-4684-B76D-DF7A8EFB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The project studies what happens when cognitive closure can begin before evidentiary uncertainty has been fully confronted.</a:t>
            </a:r>
          </a:p>
        </p:txBody>
      </p:sp>
    </p:spTree>
    <p:extLst>
      <p:ext uri="{BB962C8B-B14F-4D97-AF65-F5344CB8AC3E}">
        <p14:creationId xmlns:p14="http://schemas.microsoft.com/office/powerpoint/2010/main" val="13462928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50B490-F503-4348-8B85-ABC6868B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DD532-520B-4FA3-A150-B0726C45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B2CFD-2CA2-49DC-ADC9-0EC550FC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E1879-730D-446E-A681-5200E119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F3E2A9B-A207-46C6-932C-1D7A34A7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5AD13DF-8328-4108-8536-78DE4AE0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KEY LITERATURE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BA439-45F1-4AC3-B4A6-912461C3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19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The project sits at the intersection of three research traditions.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7F08D-0A37-4E3E-8D4E-3B8CC885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See references.bib for the literature map used here.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A54A5-6AE4-4CD9-BA49-9F6F2914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05D0A-D15A-4B18-AE34-F4777E0F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BD551-3543-4A54-B6C7-8C10B1E1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2FB1B-FAD5-44A7-9AA6-A9CA9D00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193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STREAM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7F4DF-FE0B-4EA2-A277-0769B4B8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Information acquisition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4F90E-477F-4FE3-8C31-2D9B560D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A1044-8F37-43A7-9572-735DFDD1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Rational inattention and costly information acquisition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2C7F7-C882-4711-ACB6-7412EA7D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8E49D-6A06-4751-B27E-54A37664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57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Adaptive search and stopping rules under cost constraints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D1B18-855A-44E7-8FC6-FF0F0FC7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DBA94-3785-4DAC-ADEB-937FEC7D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Search can distort beliefs before final judgment is made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8094C-2003-4BEE-89F1-B0352219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Sims 2003; Caplin and Dean 2015; Payne, Bettman, and Johnson 1993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5EBA97-5994-4F1D-91D2-354C1BFC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8CE64-4F1F-4917-9536-3A1F1007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F40BC-79C6-4E57-A66B-83E25CA1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193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STREAM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99F7CB-0813-4F95-96E3-B10C45B8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90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Belief updating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F5312F-76D1-409A-8A01-64D2502B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908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EA1277-C91F-4AC7-A2F4-B08F55D1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718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Posterior judgment depends on evidentiary diagnosticity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8B8AC7-F07C-4D4C-AFB4-A301E55A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E1FD0A-02DD-412B-889B-C8E414F7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57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Conservative updating and confirmation bias remain common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B11C56-1D95-471B-B830-3B030A0C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B617C-0AEF-466A-A187-F61F883E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434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Counterevidence must first be recognized as meaningful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F4902D-7F0D-4B30-B813-392A5DE4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01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Edwards 1968; Lord, Ross, and Lepper 1979; Nickerson 1998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6B56D3-4A38-4C8D-83BC-F2CD169B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4499CE-5F78-426B-8EC0-70A07C51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BC5510-7182-4C6E-A31E-3CF4B88E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STREAM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E947F6-A9CD-425F-8C5E-7695ADE3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90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Algorithmic authority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C1D993-2EF9-48EE-B140-1CF4C38F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59BA36-73F0-4D88-AA45-B58BD5F9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People do not respond to algorithms in a uniform way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CDBB11-5167-450A-A4DB-3D77224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300760-3BED-445F-A2B2-609BBD80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57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Trust, aversion, appreciation, and automation bias all matter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62EBC5-E7B6-41D5-8F3C-74FC6940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624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AD32CB-CB15-4A12-A134-64A2049F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434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Generative AI adds natural language, fluency, and social cues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99488E-876D-420E-B5B3-732150BB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101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Parasuraman and Riley 1997; Dietvorst et al. 2015; Logg et al. 2019; Nass and Moon 2000</a:t>
            </a:r>
          </a:p>
        </p:txBody>
      </p:sp>
    </p:spTree>
    <p:extLst>
      <p:ext uri="{BB962C8B-B14F-4D97-AF65-F5344CB8AC3E}">
        <p14:creationId xmlns:p14="http://schemas.microsoft.com/office/powerpoint/2010/main" val="20827991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75A3A9-D609-4D19-BF80-5F34564D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53EAD-9B1D-4D8F-BF2B-A3733309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2417E-2506-4049-820E-45F33257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2D703-AB62-4056-B480-BF8FF3C6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4994002-C189-4825-AE32-0743391F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F43C9A8-9FB2-45D8-98D0-38DBDF37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POSITIONING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AEE8F-608E-442C-BB2A-9250F41D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The missing link is metacognitive calibration, not answer adoption alone.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1D17B-9C0A-49E9-9E89-BBBA4415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Gap statement reflects the revised proposal and the English translation.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44F4B-0E50-41DF-B928-02BA9B13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9F86D-F05E-4A82-BC72-549630EC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3815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5BD52-7265-4425-A462-3396EDC5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571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FFACB-BBC1-4EFE-B840-0735BA87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396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PRIOR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CA69D-E08C-4DF4-A621-53C4E133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396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What prior work mostly explains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55EFE-33E2-4A9E-BB6A-ABA29345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43150"/>
            <a:ext cx="43815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DF2EE-46C4-4077-AA68-35915930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43150"/>
            <a:ext cx="571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B050E-1160-4929-8A07-7BBDA5AE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95550"/>
            <a:ext cx="396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THIS PROJECT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AED0A6-2672-4120-A621-174CAE95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67000"/>
            <a:ext cx="396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What this project adds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B7B2E-4B3E-4A32-92F9-E754E3A2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228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5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67561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EB9DE-4E4B-4EB4-8514-FFCD50C8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861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Whether users trust or adopt algorithmic advice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7A165-246E-43F6-8856-C0FF0A04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228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5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67561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2D293D-CB6E-4452-A2F0-A8959CDB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Whether search costs make information acquisition shallower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E93B16-6E48-4C6F-9F49-83C4E4C1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62450"/>
            <a:ext cx="228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5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67561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9A000C-9B10-480A-8D3C-5ED98A42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Whether counterevidence is ignored for motivational reasons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E529F6-50A4-4717-9FDE-7C63B268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05150"/>
            <a:ext cx="228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A27ED-9C81-4A76-9E52-5A1B1677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861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How AI labels change perceived information sufficiency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856D76-475D-406A-85C9-274FB705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33800"/>
            <a:ext cx="228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83A8DF-514A-4F91-8815-082E07CD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How compressed answers alter epistemic ownership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44A3DD-3B47-4D05-81BE-421BC068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62450"/>
            <a:ext cx="228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8767D0-FA47-4685-BC57-359D0DEE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434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How answer-first framing changes the weight of later disconfirming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67672D-C10A-46EB-A34F-74F943A0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9372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CD7AE5-A1E2-449E-A8F4-0B4A4670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F82CEB-08E6-4521-A933-ACC5426C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4355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ONE-LINE POSITIONING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DB6F5E-C450-4F99-BBED-C7367457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1500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The project moves from 'Do users believe AI?' to 'How does AI change what users think they already know?'</a:t>
            </a:r>
          </a:p>
        </p:txBody>
      </p:sp>
    </p:spTree>
    <p:extLst>
      <p:ext uri="{BB962C8B-B14F-4D97-AF65-F5344CB8AC3E}">
        <p14:creationId xmlns:p14="http://schemas.microsoft.com/office/powerpoint/2010/main" val="4870897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C6EF05-E850-4D84-A242-AA7F6236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9F94D-BF51-41AC-95CE-943F0C4C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9EA8E-7A01-4915-BA26-83F187CA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86478-54E0-484A-A95E-92B5493D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313D14F-73E9-4AFA-91E2-F65F2270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56879B3-2461-4A7A-9625-E35A51DB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CORE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06B4F-A64F-4039-97D9-97908BDD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The revised proposal organizes the theory as three calibration problems.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06E04-FF98-4531-9A17-1F0D4295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This reflects the revised move from a preset double distortion to three information calibrations.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F62D7-0436-47FB-9FB4-E4DCED76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468BF-1547-4EFF-B52A-E35CDB26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8956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F11FC-5671-45B3-95F3-FF7F04D1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571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4DFF6-A8D3-4DB6-8193-84432B12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CALIBRATION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90C78-2F53-4950-96E9-B609B6AC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Sufficiency calibration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6010C-2A5F-4DED-8E4C-2B0CF45A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2476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Does an AI-labeled answer make users feel that the evidence space has already been adequately covered?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B513B-4AC8-4D59-8C39-BF22E3D8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28956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71BF5-F88D-483A-AF98-15B0CEE8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571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C555E-D0F4-4A5B-A6F8-1127DAE2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CALIBRATION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DCFA27-64EA-4AF3-B526-B03BDDBB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622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Ownership calibration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C27700-9710-406A-AB4B-05EFEFE8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2476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Can users actually gain useful information from AI, but feel less epistemic ownership because they did not search and integrate it themselves?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822C6-4C9E-48EA-AF68-9A4770CA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38400"/>
            <a:ext cx="28956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224D89-AC20-4028-8082-BCFBB4A8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38400"/>
            <a:ext cx="571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D7C08-7944-43C5-9FA6-A422729B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908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CALIBRATION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E90FCD-04FA-44AE-98C9-D20BE9CC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622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Diagnosticity calibration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B69735-7E62-490E-BDC6-D3D7C7EF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00400"/>
            <a:ext cx="2476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When later counterevidence arrives, does the prior AI narrative reduce the weight users assign to that signal?</a:t>
            </a:r>
          </a:p>
        </p:txBody>
      </p:sp>
    </p:spTree>
    <p:extLst>
      <p:ext uri="{BB962C8B-B14F-4D97-AF65-F5344CB8AC3E}">
        <p14:creationId xmlns:p14="http://schemas.microsoft.com/office/powerpoint/2010/main" val="18529692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80B20F-14AE-485A-A03F-1020274A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4AC0F-96FB-4FA0-BFC5-E4ECDFB1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DCFDE-F91A-4F74-9C45-0585004E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9D813-8003-4BE6-9E7D-772B88DD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A5D1FC8-FFB4-4E58-A511-AD6126E6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63F54C-C8DF-4BBE-978C-DD43683D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4A959-2076-4CE1-940B-AC4D4034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The revised draft asks a cleaner mechanism question.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B8E31-857F-489E-97F4-BCA4D7AE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Research questions and hypotheses are condensed from the revised proposal.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156DC-A42A-420F-B5C4-DAF776DF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5E068-0435-44DE-98B3-1A471011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4648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5878D-DC7E-4FAF-B59A-7BFAE8FD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57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53EFD-57AD-4C51-AF5E-53E51346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38400"/>
            <a:ext cx="422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9601E-0109-486E-AE56-BA648627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86000"/>
            <a:ext cx="43243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E98803-88EA-4CD7-8B9F-79F0835A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86000"/>
            <a:ext cx="57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549C0-BDF7-40DC-BF1E-942525F3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3840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HYPOTHESES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6B2DC-EBA1-426F-92C7-A88F940D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22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AE86E-B5DE-49F1-A323-0A83E084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86050"/>
            <a:ext cx="4152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RQ1: Does an AI label increase perceived information sufficiency even when the summary content is identical?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F0335-2720-42DC-97EC-6B9288C9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22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2.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99E0F-B43D-4E71-B437-69B80BC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4152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RQ2: Under equal marginal search cost, does an AI label reduce demand for additional evidence?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0A4D1-3D6E-4BFC-9E13-510CF22E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22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3.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214D8E-259D-40D2-B47C-8539DCAC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33850"/>
            <a:ext cx="4152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RQ3: Does AI compression create a mismatch between actual information gain and perceived information acquisition?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46603B-1A8D-42A4-8916-995A3B1C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22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4.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F7C33B-0D3D-45C9-A8F8-AC29C640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57750"/>
            <a:ext cx="4152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RQ4: After information-set size is controlled, does an AI label still reduce Bayesian updating on a high-diagnostic shock?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62CE11-DED3-4FEC-BA6D-94E06695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228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1518DB-8C60-4521-851C-E8EB8B89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05100"/>
            <a:ext cx="3752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H1-H4: AI labels raise perceived sufficiency, lower the felt value of additional evidence, and reduce additional search.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61083B-FA09-43F1-82DC-70AAB274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00450"/>
            <a:ext cx="228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27A711-3FC5-45DE-9568-4A0C1A0E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81400"/>
            <a:ext cx="3752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H5-H6: AI summaries may improve efficiency or accuracy while lowering epistemic ownership; self-search may do the reverse.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A6F1EC-DC14-4AA0-B41C-2024162F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76750"/>
            <a:ext cx="228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A0B481-31A5-438D-ACCC-DA1434C1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3752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H7: Even with equal information sets, AI-labeled answers may attenuate log-odds updating on later counterevidence.</a:t>
            </a:r>
          </a:p>
        </p:txBody>
      </p:sp>
    </p:spTree>
    <p:extLst>
      <p:ext uri="{BB962C8B-B14F-4D97-AF65-F5344CB8AC3E}">
        <p14:creationId xmlns:p14="http://schemas.microsoft.com/office/powerpoint/2010/main" val="7889228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C0D9BE-481C-46EC-8230-4296E1B2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C79A4-1ECA-4CA8-ACFE-7D1623B1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7892D-9105-47C7-833E-3ABBC0EA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EF713-0C51-4B46-B4B6-A7255B8C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95AE0EC-B1D6-4B3B-AFA4-EE84C17C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F97317A-DE02-4C48-BF2B-D58816F4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REVISION LOGIC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A9B33-8C61-4AEC-81A6-449FAA25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42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Why the revised design is stronger than the original draft.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0A24A-8791-49B1-8C5F-48B2D20E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Comparison based on the original PDF and the modified PDF.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C1097-38E0-4193-A7C5-49E2AD20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B0EAF-8E1B-457B-8601-52E69AD4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1"/>
          </a:solidFill>
          <a:ln xmlns:a="http://schemas.openxmlformats.org/drawingml/2006/main" w="0">
            <a:solidFill>
              <a:srgbClr val="E9DE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43A4B-8EAF-4930-B94E-44B19712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DIMENSION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9ECD2-12B6-4AEF-8961-F64EAA87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526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1"/>
          </a:solidFill>
          <a:ln xmlns:a="http://schemas.openxmlformats.org/drawingml/2006/main" w="0">
            <a:solidFill>
              <a:srgbClr val="E9DE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53F6A-BA37-4041-8747-F441A868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098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ORIGINAL DRAFT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EADCA-928F-431F-B7AB-F1093D12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52650"/>
            <a:ext cx="3371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ED1"/>
          </a:solidFill>
          <a:ln xmlns:a="http://schemas.openxmlformats.org/drawingml/2006/main" w="0">
            <a:solidFill>
              <a:srgbClr val="E9DE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82615-A85F-4F40-8E8D-DD0F6213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337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REVISED DRAFT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65B7D-C9E6-4335-BA0C-E2176EFB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6D8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1089D-37F2-4084-9371-57B53642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6700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9533D-C9DF-4E2F-BBB1-ADC80D7B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67000"/>
            <a:ext cx="3371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89095-3AA2-4011-A34B-5283AE14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177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Target estimand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08677D-5017-4B7E-A757-EFA638E8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43200"/>
            <a:ext cx="2914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Overall difference between AI search and traditional 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78EC6F-C554-40BE-9F51-EC4A1E91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432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Effect of an AI source label under equal summary content and equal marginal search cost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202580-1F08-4F9B-88D1-2E543871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6D8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3742F7-7AE0-4175-8790-22CB137E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099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35021D-CF59-457C-892E-674240EC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09950"/>
            <a:ext cx="3371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175B43-6898-4544-B6F1-1B8AB819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177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Main identification risk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C9AD8E-2D4E-4FB9-8332-172570FA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86150"/>
            <a:ext cx="2914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Search cost, compression efficiency, trust, and search stopping are mixed together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6E8EEF-982B-4709-9549-7ED8204F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861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Search cost is fixed after the initial answer, so the label effect becomes cleaner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F1BC8D-1260-4A93-BF93-3058655D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6D8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32A130-D45C-4CE3-8D13-AE175CDF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5290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CE2962-6475-47DB-883E-308D7C1B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52900"/>
            <a:ext cx="3371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73BDC0-1912-434C-A80E-B9F59787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29100"/>
            <a:ext cx="177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Core mechanism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508942-E07E-41CB-A064-E8318DAF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29100"/>
            <a:ext cx="2914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Double Bayesian distortion is foregrounded from the start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7FEE5E-C5C0-45E0-B7F4-1BE6590C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291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Information sufficiency, ownership, and diagnosticity are separated and testable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568B9B-4801-4B0A-8B47-0E75838C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6D8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D992F0-7A5F-4423-AD63-78153CAF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9585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51141F-EFF2-4CA4-9BC4-746A5C92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95850"/>
            <a:ext cx="3371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9B0CB1-C909-4BBD-8296-0C80128C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72050"/>
            <a:ext cx="177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Design innovation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2A2F08-91D5-4993-ADC9-0C8C4E4A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72050"/>
            <a:ext cx="2914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Two-stage sequential sampling with Bayesian benchmark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5227C3-BF69-47C5-9AD9-2A651399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720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Same-summary source-label design plus ownership and yoked-update tests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DFAA7-0C4C-435F-8618-52C3369F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6D8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396777-7CE2-4893-84B1-F73BD255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38800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D4AAAF-06D0-4025-9A76-3FB75834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638800"/>
            <a:ext cx="3371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301C6D-45F8-46DF-B0C0-2BA44E0F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00"/>
            <a:ext cx="177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Interpretive stance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0B0EDE-150F-41D7-9135-D533AA97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715000"/>
            <a:ext cx="2914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AI search reduction is implicitly risky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8388F9-CAF9-4673-8ACD-6CF8FF74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7150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Search reduction is only problematic when calibration becomes normatively wrong</a:t>
            </a:r>
          </a:p>
        </p:txBody>
      </p:sp>
    </p:spTree>
    <p:extLst>
      <p:ext uri="{BB962C8B-B14F-4D97-AF65-F5344CB8AC3E}">
        <p14:creationId xmlns:p14="http://schemas.microsoft.com/office/powerpoint/2010/main" val="12206415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49B372-E798-403F-B3E9-273831C5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14D9D-2B4B-4FC7-9AF7-7A5593F9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BF7A0-4E61-464F-8416-FB0DD25F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80E22-DC1B-489B-92ED-5BE6AA7F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9F83286-3CF5-42DA-BFA7-1F009168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97D922D-D207-4CA1-AA6B-A9FD6665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IDENTIFICATION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50AA7-EEE6-4FA3-BE08-28888F95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The same-summary source-label design isolates a plausible AI-specific effect.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9994B-75B3-4DE4-A86E-0C546912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Core identification move introduced in the modified version.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5DE19-DAE7-4B25-9B6E-19B128C1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20E77-61C3-4F4D-988D-F16BBC3D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DDCB"/>
          </a:solidFill>
          <a:ln xmlns:a="http://schemas.openxmlformats.org/drawingml/2006/main" w="0">
            <a:solidFill>
              <a:srgbClr val="E9DD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C8287-243B-4958-B43A-D8D0B2C3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95525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Same prior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8FA01-4816-4827-9261-F747CA07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66950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E4D7"/>
          </a:solidFill>
          <a:ln xmlns:a="http://schemas.openxmlformats.org/drawingml/2006/main" w="0">
            <a:solidFill>
              <a:srgbClr val="EDE4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B9A9B-3413-4790-ABE7-A6B14433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95525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Same summary 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E4A06-6E04-4740-8BD0-B4DA7B5A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66950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DDCB"/>
          </a:solidFill>
          <a:ln xmlns:a="http://schemas.openxmlformats.org/drawingml/2006/main" w="0">
            <a:solidFill>
              <a:srgbClr val="E9DD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35F31-E6C6-4355-B089-38870A57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95525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Same evidence pool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760055-D5A3-48BE-94BC-E8B90DE6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E4D7"/>
          </a:solidFill>
          <a:ln xmlns:a="http://schemas.openxmlformats.org/drawingml/2006/main" w="0">
            <a:solidFill>
              <a:srgbClr val="EDE4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CE139-87E4-47B8-85AB-DFDAFD8A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95525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Same marginal search cost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1EBA6-016D-43F2-A0C7-1771E69A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1828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B2EB7-CF29-435B-9CE9-B043F423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E0FFF-C42F-4BFC-B683-35F2FAE8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909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ARM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1D147-1261-4B96-89B8-D0AA4BEF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6235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No summary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B160B4-1CEF-4F17-BB32-D9A7EDA7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1828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EE01B7-09B1-49A2-B727-D2C34C88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A4770-911D-4238-A373-9FD7287D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909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ARM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A19FEB-FA8B-47E3-B872-4B067ECD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6235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Unlabeled summary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C1F1DF-C9A2-4333-B286-291BA5E0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38500"/>
            <a:ext cx="1828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24F7F1-F783-4336-9FF3-C627ECDF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385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A12A06-C984-4B9F-88F9-6844C7BD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ARM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92396B-5E60-4AA8-ABB0-1D4037C6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AI-labeled summary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07BC23-AB80-43C1-85C3-0AFE5E5F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38500"/>
            <a:ext cx="1828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DD8245-9247-461A-AA6E-439F703A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385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CDD0C0-EF19-4F59-8C3A-E9465E3B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909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ARM 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DB7A2E-5DB3-441A-B1D4-92430A85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6235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Expert-labeled summary</a:t>
            </a:r>
          </a:p>
        </p:txBody>
      </p:sp>
      <p:cxnSp>
        <p:nvCxnSpPr>
          <p:cNvPr id="34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895600" y="37909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561"/>
            </a:solidFill>
            <a:prstDash val="solid"/>
            <a:headEnd type="arrow" w="med" len="med"/>
          </a:ln>
        </p:spPr>
      </p:cxnSp>
      <p:cxnSp>
        <p:nvCxnSpPr>
          <p:cNvPr id="35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5353050" y="37909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561"/>
            </a:solidFill>
            <a:prstDash val="solid"/>
            <a:headEnd type="arrow" w="med" len="med"/>
          </a:ln>
        </p:spPr>
      </p:cxnSp>
      <p:cxnSp>
        <p:nvCxnSpPr>
          <p:cNvPr id="36" name=""/>
          <p:cNvCxnSpPr>
            <a:stCxn xmlns:a="http://schemas.openxmlformats.org/drawingml/2006/main" id="26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7810500" y="37909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561"/>
            </a:solidFill>
            <a:prstDash val="solid"/>
            <a:headEnd type="arrow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C26FBB-B91F-4424-83EF-706BF601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95850"/>
            <a:ext cx="800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6567B8-55F3-4F2A-8C1A-2B491297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9585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D0AE1F-9FF6-4BC7-8066-CB8C9A76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48250"/>
            <a:ext cx="7581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IDENTIFICATION CLAIM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45AE30-1650-49B2-B126-270E81CF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758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Only the source frame changes, so any later difference in search or updating is less likely to be a pure cost effect.</a:t>
            </a:r>
          </a:p>
        </p:txBody>
      </p:sp>
    </p:spTree>
    <p:extLst>
      <p:ext uri="{BB962C8B-B14F-4D97-AF65-F5344CB8AC3E}">
        <p14:creationId xmlns:p14="http://schemas.microsoft.com/office/powerpoint/2010/main" val="12982163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C6AD5C-6448-4080-92A4-0F51FD1B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51173-6C5F-4C74-9CDC-68EF3103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C09A1-8B26-418B-BED5-65B5442F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C1372-9C2D-427A-9AE6-1388C87F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FC658AA-369C-4D66-AAC9-9853B1E0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05DBA31-1D78-426C-9C6F-D7F1EEFB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STUDY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C4846-22E1-497B-87D6-981C1244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42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Study 1 tests whether AI labels reduce additional information acquisition.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F49D2-FB03-4CBD-B670-7FA5CE47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Study 1 is drawn from the revised design with the corporate default scenario.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CEB8A-1D57-4E48-B228-82D060C2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B51B6-5CC6-4471-930D-C153E05C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381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3B4096-860B-4A6B-9F02-66E3F39B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B6A6A-58D4-4488-BBC1-67B4C8E4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396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TASK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0FA75-210C-477A-AD05-67D18299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28900"/>
            <a:ext cx="396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Corporate default-risk judgment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D07D3-BF5F-4FAE-8252-CDA724E0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228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DA62E-9D1A-4659-B833-867740EE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28950"/>
            <a:ext cx="384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Participants judge whether a firm will enter a high-default-risk state within one year.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2DEA81-1E46-4906-9A1F-6807551F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57600"/>
            <a:ext cx="228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FB2CD-1AF5-413E-8BE8-299FDFAF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384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They receive the same baseline facts and prior probability.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5F873-AD8B-4C23-9D72-3BFF627A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228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A64421-D102-4F8F-9324-D9E9D13B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48150"/>
            <a:ext cx="384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Depending on condition, they may see no summary, an unlabeled summary, an AI-labeled summary, or an expert-labeled summary.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492645-D4CD-4616-BA62-E8F5EA23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228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A10391-4248-4544-B0D5-0B5F6E50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57750"/>
            <a:ext cx="384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They can pay tokens to inspect more evidence and may stop at any time.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CE1194-0494-43D6-99F2-6B82347B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05050"/>
            <a:ext cx="44386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EA75B6-AF21-4DF0-AD7C-E016356B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05050"/>
            <a:ext cx="57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910DB7-A04C-4AF0-8612-764E4325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401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CONDITIONS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59B693-56F3-4032-960F-E7060DFA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9DDCB"/>
          </a:solidFill>
          <a:ln xmlns:a="http://schemas.openxmlformats.org/drawingml/2006/main" w="0">
            <a:solidFill>
              <a:srgbClr val="E9DD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D727A3-8F22-4332-92F1-1E1F0C51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9875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No summary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8367F0-59F1-4DF4-A137-D03CB5B0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9DDCB"/>
          </a:solidFill>
          <a:ln xmlns:a="http://schemas.openxmlformats.org/drawingml/2006/main" w="0">
            <a:solidFill>
              <a:srgbClr val="E9DDC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D909D0-ED2B-41CB-B045-605155A4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09875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Unlabeled summary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086ACD-C965-4ED7-A5AA-FADDE921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C9DF3-9E4C-4852-99F8-3EDAFC10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62325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AI-labeled summary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C6681C-3670-4F5E-9651-B5928B1A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9DDCB"/>
          </a:solidFill>
          <a:ln xmlns:a="http://schemas.openxmlformats.org/drawingml/2006/main" w="0">
            <a:solidFill>
              <a:srgbClr val="E9DDC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08E39B-B32B-47D4-A338-96232A5E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62325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Expert-labeled summary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51460A-A71D-4EC3-9865-528294D8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29100"/>
            <a:ext cx="44386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AD8F3E-F699-485D-B048-49846C9F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2910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D101B1-D4D1-4783-9421-D0E064D1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81500"/>
            <a:ext cx="401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MAIN OUTCOMES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797217-8B3A-4FE8-A98A-57BE92CC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EEE5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BFEDCF-5659-4069-A5F2-89E3BA0B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57725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Additional evidence viewed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238FA4-02DE-4C5B-A15F-8E994814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EEE5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382147-9150-41DC-A9A4-E0C8DD9F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57725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Stop point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758B39-D812-4DC1-B55E-BC491C54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911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EEE5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ADFE9A-9DC1-42F1-A596-F29D19E3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9675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Willingness to pay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D7712C-06E8-4D74-BAEF-6CC66C24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911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EEE5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2DCE80-3B8E-456C-B6D7-DE87CD96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19675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Posterior belief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F2CA5A-05E1-4F18-9376-E26E715F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5305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EEE5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2E708F-4B98-43BA-9855-C5E276BD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81625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86CE44-A17B-4BD7-8239-83EC4AA1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5305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EEE5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3E7317-B0E9-4ABA-B6AC-21E2B558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81625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433"/>
                </a:solidFill>
                <a:latin typeface="Aptos"/>
                <a:ea typeface="Aptos"/>
                <a:cs typeface="Aptos"/>
              </a:rPr>
              <a:t>Net payoff</a:t>
            </a:r>
          </a:p>
        </p:txBody>
      </p:sp>
    </p:spTree>
    <p:extLst>
      <p:ext uri="{BB962C8B-B14F-4D97-AF65-F5344CB8AC3E}">
        <p14:creationId xmlns:p14="http://schemas.microsoft.com/office/powerpoint/2010/main" val="2777499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0A98F9-7D11-406A-964B-903D19D4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61DAE-B261-455C-A633-6DEBD4CD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9440E-A052-4D27-BB0B-1B0CCC98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344D9-68C4-493B-B8AF-84DAE8F3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6C2CD9B-3D2C-4631-B0B3-B390C9CD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15F855F-3A6A-468B-971F-B408BE28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STUDY 1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C5E66-AF89-4C3B-8D45-DE72CA9C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Study 1 traces a mechanism from source label to search stopping.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B647B-FF1C-498E-8085-616D10D3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Mechanism chain follows H1-H4 in the revised draft.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253AC-C7A6-43E5-893E-969B7939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96BB6-14BB-45F5-8ABF-98D63492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1828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ED6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1AA12-02BD-41DF-970A-86307B99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DBB81-2AC8-48C9-94EB-61BBDD46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AI label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50EB7-9BE0-41B7-B600-881B1461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1828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4D4F8-7F16-4EE8-B326-9A9ED11F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561"/>
          </a:solidFill>
          <a:ln xmlns:a="http://schemas.openxmlformats.org/drawingml/2006/main" w="0">
            <a:solidFill>
              <a:srgbClr val="6675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321E76-8AC9-4874-A8DD-73B69105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7655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Higher perceived sufficiency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64FD6-4F96-4ADC-84E9-39A20996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05100"/>
            <a:ext cx="1828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D26F1-178F-4882-8D71-20B68B59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051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561"/>
          </a:solidFill>
          <a:ln xmlns:a="http://schemas.openxmlformats.org/drawingml/2006/main" w="0">
            <a:solidFill>
              <a:srgbClr val="66756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C0FF3-F6E5-4E8F-9F9B-7A3E8723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7655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Lower value of additional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355FCB-FED4-40E9-8CA0-DE6B2B50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05100"/>
            <a:ext cx="1828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43213-070E-4185-A08C-2E66D442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051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561"/>
          </a:solidFill>
          <a:ln xmlns:a="http://schemas.openxmlformats.org/drawingml/2006/main" w="0">
            <a:solidFill>
              <a:srgbClr val="6675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DB83F-7458-4ED4-84CB-93FBE0D8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7655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Less additional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7519A4-A60A-405E-A7E8-177915E4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05100"/>
            <a:ext cx="1828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95A7A2-CA64-4C40-9108-98374AB2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051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561"/>
          </a:solidFill>
          <a:ln xmlns:a="http://schemas.openxmlformats.org/drawingml/2006/main" w="0">
            <a:solidFill>
              <a:srgbClr val="66756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CDFF67-00CA-4D59-9E71-04A929E1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7655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Different posterior and payoff</a:t>
            </a:r>
          </a:p>
        </p:txBody>
      </p:sp>
      <p:cxnSp>
        <p:nvCxnSpPr>
          <p:cNvPr id="25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552700" y="31432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A3C"/>
            </a:solidFill>
            <a:prstDash val="solid"/>
            <a:headEnd type="arrow" w="med" len="med"/>
          </a:ln>
        </p:spPr>
      </p:cxnSp>
      <p:cxnSp>
        <p:nvCxnSpPr>
          <p:cNvPr id="26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00600" y="31432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A3C"/>
            </a:solidFill>
            <a:prstDash val="solid"/>
            <a:headEnd type="arrow" w="med" len="med"/>
          </a:ln>
        </p:spPr>
      </p:cxnSp>
      <p:cxnSp>
        <p:nvCxnSpPr>
          <p:cNvPr id="27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048500" y="31432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A3C"/>
            </a:solidFill>
            <a:prstDash val="solid"/>
            <a:headEnd type="arrow" w="med" len="med"/>
          </a:ln>
        </p:spPr>
      </p:cxnSp>
      <p:cxnSp>
        <p:nvCxnSpPr>
          <p:cNvPr id="28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296400" y="31432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A3C"/>
            </a:solidFill>
            <a:prstDash val="solid"/>
            <a:head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C9149A-7A5F-48A1-915A-C7479F40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9372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8F6B92-81B4-4DB3-91D6-402EB373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57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155C35-5932-402F-8F95-6EF1FD35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0055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WHAT IS OBSERVED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2C1FF3-81B5-4C8F-8C6D-A8FFF2BC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101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56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561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6A3859-E5A0-4A8E-8EA0-D875B674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9105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Mediator 1: perceived information sufficiency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777B22-8A3F-4203-B2E1-EB7366B3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768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56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561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3B3B0F-5B35-48A4-BF0B-2BCF42A0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Mediator 2: perceived value of additional evidence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9D99C0-1E5C-4231-9358-B1CD5EFC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435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56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561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B6DF0F-DD5E-44C3-879F-1BB58EC6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2445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Behavior: voluntary sample size and stop point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CA58A0-4786-4E23-BCED-1176AF36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102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56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561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84D38C-4E7D-4B9C-9EE6-4C8F534B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Outcome: posterior accuracy, confidence, and payoff</a:t>
            </a:r>
          </a:p>
        </p:txBody>
      </p:sp>
    </p:spTree>
    <p:extLst>
      <p:ext uri="{BB962C8B-B14F-4D97-AF65-F5344CB8AC3E}">
        <p14:creationId xmlns:p14="http://schemas.microsoft.com/office/powerpoint/2010/main" val="550525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12DCB2-4632-40C3-8137-54FDD0C8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065DF-E257-473C-9D7D-F5A7255B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162C3-561C-47BF-BD52-94326F87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C422B-F1F4-4454-B500-0CFBB8C6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11510F2-D146-4EB4-A831-2138B7C7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368CDDB-48F3-4396-AAD4-783BDF8F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STUDY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8297E-2F8B-431A-885D-68A0E65A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Study 2 asks whether AI compression creates an ownership mismatch.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38909-E0C8-42A8-BC20-6D338D23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Study 2 comes directly from the modified proposal.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F7471-9878-4103-820A-CD3710D4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DD210-B298-482A-B86C-6583AABC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7622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64A85-3D57-4D28-8CFA-B90D6967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571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A8FF8A-0E1E-45CB-918C-95FB8FD3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CONDITION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1C8A3-609C-4418-80DE-F7F1EDDB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AI-summary condition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07DDB-E87C-4B7A-8DC8-F9B4084C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343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Participants see a compressed answer that integrates multiple underlying signals.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670258-F80F-435C-AEC2-389D05CB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27622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BC8965-F85F-4E60-A2BA-E21A402B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571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561"/>
          </a:solidFill>
          <a:ln xmlns:a="http://schemas.openxmlformats.org/drawingml/2006/main" w="0">
            <a:solidFill>
              <a:srgbClr val="6675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8600FA-AD3A-4457-A163-B4CA980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0985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5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561"/>
                </a:solidFill>
                <a:latin typeface="Aptos"/>
                <a:ea typeface="Aptos"/>
                <a:cs typeface="Aptos"/>
              </a:rPr>
              <a:t>CONDITION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66B8B-DB42-4292-8484-45448F4F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Self-search condition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CD7DE-814E-492A-897A-FC3B5B9F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19450"/>
            <a:ext cx="2343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Participants inspect the same underlying information item by item and integrate it themselves.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E54A83-25C0-4230-9B49-41CD6B88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57450"/>
            <a:ext cx="27622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7F0CDA-15B3-4B93-A32C-0AA9DB02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57450"/>
            <a:ext cx="571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956BBC-60AE-4FFA-B50B-7957855A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0985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CONDITION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A1016F-E6E2-4C55-ACF8-E9783831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8130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Low-information control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8DE718-CC73-4581-98AB-D919A515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19450"/>
            <a:ext cx="2343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Participants receive only limited evidence to establish a low-information baseline.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F219B7-ED46-4433-A60E-E4FF5745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914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F364F1-3E4C-471E-B424-5B3F54B0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17D504-0A0C-4054-AA45-C4B590B8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9750"/>
            <a:ext cx="872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EXPECTED COMPARISON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0CEDCB-FA55-48E3-B9DE-392BCB1D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91200"/>
            <a:ext cx="872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The key comparison is whether AI can raise effective information gain while lowering perceived acquisition and epistemic ownership.</a:t>
            </a:r>
          </a:p>
        </p:txBody>
      </p:sp>
    </p:spTree>
    <p:extLst>
      <p:ext uri="{BB962C8B-B14F-4D97-AF65-F5344CB8AC3E}">
        <p14:creationId xmlns:p14="http://schemas.microsoft.com/office/powerpoint/2010/main" val="76792485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B44FA3-9F60-49F6-81A7-DA3A5D1D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03AFA-9AD0-48C7-9E31-C7D7E0A2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9D29D-B85A-4A93-9845-A33F0CBD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FCFFA-F270-4256-AE74-1EA5A9ED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FBF11B8-880A-40C0-BC2A-F55CD97F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2CD7CA2-9972-4CA9-805F-C4E1C64F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STUDY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AD9F7-A123-4BEB-BE32-138E933A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685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Study 3 uses a yoked design to isolate belief updating.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C622A-E07B-4CEE-BEC0-41F483F1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Study 3 adapts the yoked logic retained from the original draft into the revised framework.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05B83-8CCB-4A07-9DE8-76FDF648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7747C-001B-4061-AA10-35DCE1FD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705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EB43D-E3C5-4446-A8C7-73E3454F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BB469-C27B-4F51-B39B-9E8539DD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PATH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8192F-7A7C-40BF-9AE1-A64C7813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AI-labeled summary + fixed evidence 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22209-FAB2-42B8-880E-9FC252B3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38400"/>
            <a:ext cx="2705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F4217-BF46-415D-B0AA-368F3912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384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561"/>
          </a:solidFill>
          <a:ln xmlns:a="http://schemas.openxmlformats.org/drawingml/2006/main" w="0">
            <a:solidFill>
              <a:srgbClr val="66756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9CC9AC-03B9-43FA-848C-7FDA63C6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908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5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561"/>
                </a:solidFill>
                <a:latin typeface="Aptos"/>
                <a:ea typeface="Aptos"/>
                <a:cs typeface="Aptos"/>
              </a:rPr>
              <a:t>PATH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83E9A-B8E3-477A-AD9C-DF84F640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622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Unlabeled summary + same evidence 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47448-24E4-446B-9BE4-7C834C4D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38400"/>
            <a:ext cx="2705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FB3B3-8D82-4FA4-853F-B5321330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384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BFF2F4-651E-4D7C-8EB0-4303246D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PATH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3E515-3ED8-450C-8A01-126E95A3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622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Search-yoked evidence with no summary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DD95D7-96B1-4F49-9A23-715CE17E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93726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836410-5226-4C25-A1F9-55750E7F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57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C74D6-9454-4A52-A0BC-AA37A668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Main updating metric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A20F01-3C8A-498F-8F09-3D261576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895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w = [logit(P_final) - logit(P_interim)] / log(LR_shock)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If w &lt; 1 under equal information sets, the AI frame is affecting evidence weighting, not only search volume.</a:t>
            </a:r>
          </a:p>
        </p:txBody>
      </p:sp>
    </p:spTree>
    <p:extLst>
      <p:ext uri="{BB962C8B-B14F-4D97-AF65-F5344CB8AC3E}">
        <p14:creationId xmlns:p14="http://schemas.microsoft.com/office/powerpoint/2010/main" val="129004410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75F2F5-F7D0-4D51-B823-68C162A8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2205E-D570-4F6C-858D-21A09AE1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680B9-8C9B-4A9E-A8FD-5632CA28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B3890-4F9E-403E-A757-3E8518E0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1C19501-F355-4A2D-A452-4FC0181A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A84252-3ECC-49CA-9383-9835E17C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EMPIRICAL STRATEGY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92002-0262-4C81-BC96-DEE8CE56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00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The design keeps a computable Bayesian benchmark while staying behaviorally meaningful.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39681-44EC-4052-82FD-B073043C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This slide condenses the original benchmark logic and the modified source-label logic.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BF472-2AC5-4CCD-849C-6B497088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6B811-1FF9-4D94-B009-38D93B58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4457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65C91-94FC-422B-88F8-FBC8ABF1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06A80-4D00-4E97-94C8-6835873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14600"/>
            <a:ext cx="403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CONTROLLED DGP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1C63C-315F-4D38-A194-0FEF9A3A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62200"/>
            <a:ext cx="4457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A6C48-79CE-4527-949F-672B60C3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6220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F7934-6400-4155-A0E6-29E7752A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403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MAIN OUTCOMES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61144-83B8-4A77-98CC-2DCC1A49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Evidence process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7F84F6-4D3B-45C4-B657-1C0488AD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813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Researcher-controlled signals with known likelihood ratios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64287-CEF2-4E7F-AB32-1B4AC103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Search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572D55-7D33-4E70-A314-F0B2D89D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337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Observe N_actual, stopping point, and willingness to pay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54B57-1C32-428F-AAED-E700C618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862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Shock stage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26E853-702D-46ED-8233-87728966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86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Introduce a high-diagnostic disconfirming 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C6922E-C9D1-425B-890B-54B93E44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Normative benchmark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63FBC1-B933-44AA-9E66-45D9670E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386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Compare actual updating with log(LR_shock)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9B0532-91F3-4F59-9326-A183418E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813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Sampling deviation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868CA5-936E-4220-BB6C-75B37ACC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N* - N_actual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EBCFD1-A075-4B5D-A128-8D68F903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337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Updating deviation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8D2CE8-2176-4725-8F18-E00D2E9B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337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| Actual update - log(LR_shock) |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CE29C4-DFCE-4111-A036-E3782983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862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Implied weight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B6D6CC-5F75-405F-886D-371EB201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86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w on the shock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13BC05-4E78-4173-A46A-926A02F6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386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Decision quality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501428-F26C-4446-82D9-0984CFC2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386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Posterior accuracy, Brier or log score, and payoff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E23FDF-C450-4804-99F3-FF32F939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937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504B16-59F5-452C-9507-68F154AA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57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E3CC58-5B21-4784-B186-802E4F2A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MODELING CHOICE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9284B9-5003-4E67-AD9D-CE82DDB2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483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The AI summary should be modeled as lossy compression of the evidence environment, not as an independent new signal.</a:t>
            </a:r>
          </a:p>
        </p:txBody>
      </p:sp>
    </p:spTree>
    <p:extLst>
      <p:ext uri="{BB962C8B-B14F-4D97-AF65-F5344CB8AC3E}">
        <p14:creationId xmlns:p14="http://schemas.microsoft.com/office/powerpoint/2010/main" val="143408599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AA6DC-0A3F-4A0A-92B4-BA0F34D3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82403-E887-43FB-83EA-DB4457C8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38DA2-B957-4A3C-82FD-2DE6CD4E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D2913-3A1F-45AD-BFCB-4FF13DDB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954E1A-7423-4892-8495-56FA1881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0E9CF0-3CE7-4F3E-866B-4A58DF7D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CONTRIBUTIONS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E459D-4D7E-4F6F-8463-4CCF3B6D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The project contributes on theory, design, and governance.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47445-2287-4552-AFC7-2C7FF02F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Contribution claims follow the revised proposal while preserving the broader ambition of the original draft.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90A81-00FF-408D-875D-30888C7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C392D-CC58-42B5-9FDE-337AF7F0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21BBA-3882-466F-8589-8A07F624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D0D9D-AA3A-49C9-BF32-0C10E99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THEORY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AA9D4-3CF3-4FEB-964A-ACB91C9C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Answer-first epistemic architecture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CA554-105E-4B63-86E8-B06F9C83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Reframes generative AI as a meaning-making system that changes how evidence is encountered.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95D2B-01BB-4540-AE2E-6CCD1532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99B27-3BC4-4B29-889D-AA7BA3A2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C0984-4EAE-4789-BFC6-FC920CD5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MECHANISM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3C395-EDFA-4ABF-8F2A-5ADEF5B0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Three calibration failures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CACEB-AC25-49ED-9971-D1A20F35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Separates sufficiency, ownership, and diagnosticity instead of collapsing everything into trust.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EE24A-54AC-4D04-BC9B-B45F95C7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6CA49-7978-4E65-BCA5-5F3D91A2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EDF29-299C-40D9-94C3-FEBC3C20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IDENTIFICATION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6E2BB-D340-4117-9CCE-DF05C1C6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Cleaner label effect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C7ECA-4258-4C86-981A-EBAF4839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Uses equal summary content and equal marginal search cost to isolate a plausible AI-specific mechanism.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24D6A-FCD9-4551-8EBE-79CA4337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4A393-3DFA-48AF-A635-0FFDFA91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119CFB-0A1E-4FDA-92AC-B00D63CF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3AB15C-07F1-476D-B2BA-A04344EF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Net-benefit framing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3310E3-1BD9-411D-BFAA-BC0C2E6C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Treats intervention design as a calibration problem rather than a simple call for more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6948842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AF8D3E-535D-410A-844A-6F4B098B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0ADCD-AEC1-4555-8629-BECB2F09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9333E-9F46-431B-8095-C9198FB5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4E10A-0C68-4FB2-810D-E2E6A30C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E943E62-70F2-4CA6-9D3E-58843387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9CC6E79-589E-4C0B-9961-6231DC83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SIGNIFICANCE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58716-33A9-4854-9A94-90BD3B26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19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Governance should match risk, not maximize verification in every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2898A-64D1-493E-8102-F79F8879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Governance implications come from the original proposal and remain compatible with the revision.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6C893-7AB6-4A44-A0AE-10AED534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E9D91-7E2C-4FDF-9727-782E9446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7241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FF651-FF92-4546-99A8-9CB8DDA4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571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561"/>
          </a:solidFill>
          <a:ln xmlns:a="http://schemas.openxmlformats.org/drawingml/2006/main" w="0">
            <a:solidFill>
              <a:srgbClr val="66756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275F8-A1AD-4E02-9258-40F249E1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2305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5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561"/>
                </a:solidFill>
                <a:latin typeface="Aptos"/>
                <a:ea typeface="Aptos"/>
                <a:cs typeface="Aptos"/>
              </a:rPr>
              <a:t>RISK TIER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C449B-BE40-4503-B81B-A567FA58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Low-risk contexts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506CD-62BA-4BB2-A54B-DD57E1C2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56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67561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1B96C-EDAA-4C39-900B-AE36B52E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8500"/>
            <a:ext cx="2247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Light uncertainty reminders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EB637-DDAD-4E0B-959A-794D88A8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433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56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67561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76A72-3E8D-44F5-9986-D8450A4D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24300"/>
            <a:ext cx="2247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Optional source expansion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3F54F0-6316-42A4-8ED9-EF7A07FF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291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56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67561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F7E78-6B8E-4A7E-BFFF-95E438CA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10100"/>
            <a:ext cx="2247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Low-friction verification prompts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C26FBD-94D7-4523-B32B-915A005C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27241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7576F-2DAA-44E6-9A4E-D55A1203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571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4D7A73-C493-4011-B6F6-16F3FD4C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09850"/>
            <a:ext cx="2305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RISK TIER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484E6-5574-44DA-8230-A0772E54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81300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Medium-risk contexts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B33B67-9711-43A7-B212-0F067FB7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575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8D980D-FB3B-4833-ACC5-0ECCE6F5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38500"/>
            <a:ext cx="2247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Conflict-first presentation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5AE765-52CA-4396-B40B-7C408590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433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88985E-0C0E-4012-9ADA-0D7E7480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24300"/>
            <a:ext cx="2247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Uncertainty-calibrated summaries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C69007-4803-41BA-B78B-F31FB371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291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5E2578-FA77-4AE8-8E70-00A9450C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10100"/>
            <a:ext cx="2247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Source-traceable explanation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9F3C40-B6E8-4F26-BA96-BEFF6AFD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57450"/>
            <a:ext cx="27241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8E0B3F-CC49-4B37-8683-D82E222C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57450"/>
            <a:ext cx="571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A565C0-6AF2-4176-BC2D-7BFC0D65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09850"/>
            <a:ext cx="2305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RISK TIER 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38C688-37D1-4AA6-8971-905C1F5F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81300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High-risk contexts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D421A3-DBB7-4A8C-9D1F-482D92A6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575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23908F-F24D-4FDD-8F5E-6945E537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38500"/>
            <a:ext cx="2247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Source-before-answer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5708EC-C417-461A-9E3C-7CB5C8D8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433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41C803-89C8-444E-B0A7-B95E1309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24300"/>
            <a:ext cx="2247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Mandatory exposure to counterevidence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D767F2-A48D-49E5-97C1-5AEBD878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291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5D92B0-01C3-4CF2-9841-7021AE0B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10100"/>
            <a:ext cx="2247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Confidence calibration and stronger checks</a:t>
            </a:r>
          </a:p>
        </p:txBody>
      </p:sp>
    </p:spTree>
    <p:extLst>
      <p:ext uri="{BB962C8B-B14F-4D97-AF65-F5344CB8AC3E}">
        <p14:creationId xmlns:p14="http://schemas.microsoft.com/office/powerpoint/2010/main" val="19561504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AF475C-35EB-4CA1-BFCA-4C356D22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362CB-383D-4BCF-A7A7-F5BD0D22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D4124-2563-4107-A36B-E41F950D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E0557-F21C-4C20-8E65-0A02EDC4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9C08D53-D39A-48FE-8D97-2259132A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24F8B28-7BCB-4B54-B738-3C805BBA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DESIGN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FEDA2-26B4-4BE4-8441-5148E208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685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What the revised version already solves well.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BD5BD-C658-46C5-802E-B43E4E4E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Assessment based on direct comparison of the original and modified drafts.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62B61-3C83-4113-AEF5-1F3A817A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7A1F7-5E86-437A-BEC4-1324C0FE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095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DB33E-6ABF-4A69-A450-517D12CC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0EF16-30DE-4F1B-82F5-1DA3A5A2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3676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STRENGTH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3BB73-2AC2-4A15-BD76-9BF077C3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3676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It removes the biggest identification problem by no longer conflating AI use with lower objective search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05E41-C65C-4AFE-B995-144300F6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43150"/>
            <a:ext cx="4095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387F93-B52D-41AF-AD08-60A20A9A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431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561"/>
          </a:solidFill>
          <a:ln xmlns:a="http://schemas.openxmlformats.org/drawingml/2006/main" w="0">
            <a:solidFill>
              <a:srgbClr val="66756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6D7C85-B26C-47D5-868E-B0AB7E4A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95550"/>
            <a:ext cx="3676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5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561"/>
                </a:solidFill>
                <a:latin typeface="Aptos"/>
                <a:ea typeface="Aptos"/>
                <a:cs typeface="Aptos"/>
              </a:rPr>
              <a:t>STRENGTH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00750-13FE-4B7D-9807-AEA13359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3676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It keeps the strongest part of the original design: a measurable Bayesian benchmark with a later shock stage.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19E60-A19B-4340-B918-94E14702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4095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1472D-6A90-454B-B2B3-407EBA35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5C6BDD-6C41-4FC6-9EDC-229A999F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3676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STRENGTH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CE51CA-883A-40CC-80DA-1E50894A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3676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It adds AI label, unlabeled, and expert-label conditions, which helps separate AI-specific framing from generic authority.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B815E3-95DC-44B4-8A30-8BD45D4E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24300"/>
            <a:ext cx="4095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1A1839-8E4E-4EBC-B12F-56DFBF00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243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561"/>
          </a:solidFill>
          <a:ln xmlns:a="http://schemas.openxmlformats.org/drawingml/2006/main" w="0">
            <a:solidFill>
              <a:srgbClr val="66756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D39660-7B2F-48D9-8584-25201492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76700"/>
            <a:ext cx="3676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5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561"/>
                </a:solidFill>
                <a:latin typeface="Aptos"/>
                <a:ea typeface="Aptos"/>
                <a:cs typeface="Aptos"/>
              </a:rPr>
              <a:t>STRENGTH 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AAFF2D-8516-47F2-89C0-CAF46789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48150"/>
            <a:ext cx="3676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It introduces epistemic ownership, which gives the project a distinctive contribution beyond search depth alone.</a:t>
            </a:r>
          </a:p>
        </p:txBody>
      </p:sp>
    </p:spTree>
    <p:extLst>
      <p:ext uri="{BB962C8B-B14F-4D97-AF65-F5344CB8AC3E}">
        <p14:creationId xmlns:p14="http://schemas.microsoft.com/office/powerpoint/2010/main" val="78066711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A5DA52-1D53-4D57-8E48-A0E08062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2C35D-89E1-4D17-AAC5-73BC63EE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5F141-0542-4119-8296-1BF9D14C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AFD79-6C06-40A7-9A2D-93E7BB5E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2EB35AE-EA8E-4AAA-8934-5FA075B3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9283E36-9EDF-4684-BD88-75503503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DESIGN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E6616-C909-4934-AF3F-6CAB4B3E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What I would still update before the defense or pre-registration.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35CE5-D812-4253-A70B-00BF22A8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These are implementation recommendations derived from the draft comparison.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26A50-860B-4E6F-AE2C-E864B354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0733C-76AD-474B-9DE0-24D0575F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937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C36F9-2CA4-400A-952E-3C5C2943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8A653-4061-4E98-9B3B-F29DAAB3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UPDATE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EEB3D-A2BB-4D15-B4FF-7A6A1EF9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Pretest the label manipulation so that AI, expert, and unlabeled versions differ in perceived source without unintended quality differences.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D6C5C-94C3-4389-BC9C-5F38467D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937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F313E-FE71-4852-8A72-E74A6D73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561"/>
          </a:solidFill>
          <a:ln xmlns:a="http://schemas.openxmlformats.org/drawingml/2006/main" w="0">
            <a:solidFill>
              <a:srgbClr val="66756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07532-7673-40BC-99C5-8A499558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990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5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561"/>
                </a:solidFill>
                <a:latin typeface="Aptos"/>
                <a:ea typeface="Aptos"/>
                <a:cs typeface="Aptos"/>
              </a:rPr>
              <a:t>UPDATE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47C16-E4B9-47F6-9C17-CAF4E7BC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Use multiple scenarios or item sets, not only one default-risk vignette, to reduce single-task dependence.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6498E-EA91-4B8B-BDC4-0AAE9CEE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937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3729B-8460-4E1F-AFC8-6039D931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C3E58B-76A3-4A08-BC76-99749324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UPDATE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3AA7C1-05CF-4519-AAD6-D799B375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Add objective ownership measures such as recall, reason generation, or explanation transfer, not only self-report scales.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D38D16-7DFA-4EFA-9EE2-AF6F990B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937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75521D-D581-46C1-BCE3-2E42D0FF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E69270-ECD5-47FE-BAF9-B5FC3022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UPDATE 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4A219C-3D5A-4202-87F8-01116FE9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815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Measure moderators up front: prior AI trust, numeracy, domain familiarity, and baseline preference for self-search.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9B9233-CCB8-4666-891C-CCBCFD29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937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A17C0D-614E-49E6-8240-E692F92D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6E50BE-25ED-45EF-8BA2-51FE9DE4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UPDATE 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55BB2F-A7AE-4035-B918-95AFA030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816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Add robustness metrics such as Brier score, log score, and a more naturalistic follow-up condition for external validity.</a:t>
            </a:r>
          </a:p>
        </p:txBody>
      </p:sp>
    </p:spTree>
    <p:extLst>
      <p:ext uri="{BB962C8B-B14F-4D97-AF65-F5344CB8AC3E}">
        <p14:creationId xmlns:p14="http://schemas.microsoft.com/office/powerpoint/2010/main" val="207009081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31AFAC-A811-4506-9EE6-ED6A2F4B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0868E-2E4A-4755-B655-3776EF53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DCDA0-B520-4C6E-BA0A-E5C09B32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33631-AFA0-432E-B55D-1EB695C8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1ACD987-1F0A-42D1-9961-3024CD8D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5BA5193-3942-47C1-9EB6-448E4D9A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TAKEAWAYS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6174C-9EAE-4F18-B203-FC84E7A6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The central claim is about calibration under AI, not blind hostility to 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06241-72EE-4F09-9A44-2BFACD15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F8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Closing synthesis of the full deck.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4BF8E-884E-4856-9F94-33636F9D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4AB93-355B-44B4-B9A5-2846659F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6860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6DF73-638F-419D-9BA9-D58A2707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EC75C-94F4-46B5-AD41-B1EEE30D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TAKEAWAY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3F307-9F94-48E4-A1A5-A1BFF18B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AI can change when users think they have enough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6B0F5-DE73-433E-8E49-4C3F6667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67000"/>
            <a:ext cx="26860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D8148-829A-4CF8-A848-A82B583E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670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561"/>
          </a:solidFill>
          <a:ln xmlns:a="http://schemas.openxmlformats.org/drawingml/2006/main" w="0">
            <a:solidFill>
              <a:srgbClr val="66756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5EC26-BBB2-41ED-898D-A4B72018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5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561"/>
                </a:solidFill>
                <a:latin typeface="Aptos"/>
                <a:ea typeface="Aptos"/>
                <a:cs typeface="Aptos"/>
              </a:rPr>
              <a:t>TAKEAWAY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2A9A1-3CD2-4807-BF33-6479DDC7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908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AI can change how much users feel the knowledge belongs to them.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3FABD5-B9C3-49DC-8315-FBEC63F3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67000"/>
            <a:ext cx="26860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2EA11-D077-4409-BCE7-6D7E431C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670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A6919-BCFB-483C-B8D4-D5DE5283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194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TAKEAWAY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AC472-23C9-4C3B-B76F-5459D7CC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908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AI can change how much weight later counterevidence receives.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A1EF7A-55D7-4ACC-95D8-EBE847ED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9372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0FD9E-642F-4BB3-96D0-46C13BA5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429717-9624-470E-B2B7-46F868F1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8160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CLOSING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A03A13-9322-4627-B297-6483987C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The revised design asks a narrower and more credible causal question while preserving the broader theoretical ambition of the project.</a:t>
            </a:r>
          </a:p>
        </p:txBody>
      </p:sp>
    </p:spTree>
    <p:extLst>
      <p:ext uri="{BB962C8B-B14F-4D97-AF65-F5344CB8AC3E}">
        <p14:creationId xmlns:p14="http://schemas.microsoft.com/office/powerpoint/2010/main" val="123791186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BD5368-26A7-4333-AE77-38131490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0">
            <a:solidFill>
              <a:srgbClr val="1F2A4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37A08-B915-4852-87AA-98135172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4062"/>
          </a:solidFill>
          <a:ln xmlns:a="http://schemas.openxmlformats.org/drawingml/2006/main" w="0">
            <a:solidFill>
              <a:srgbClr val="31406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9F382-E61C-4D26-AE90-2E700328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554"/>
          </a:solidFill>
          <a:ln xmlns:a="http://schemas.openxmlformats.org/drawingml/2006/main" w="0">
            <a:solidFill>
              <a:srgbClr val="2735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3721C-BA61-4DA1-844B-2FE003CD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C631B40-0EE4-4238-98FE-D6397712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C71298C-5870-4212-9F2D-EF1A2634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Q AND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76E1F-B884-4E68-A417-5CDB1E82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62100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Thank you.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70252-F37A-430A-93BD-BFDD918C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609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DC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DCE7"/>
                </a:solidFill>
                <a:latin typeface="Aptos"/>
                <a:ea typeface="Aptos"/>
                <a:cs typeface="Aptos"/>
              </a:rPr>
              <a:t>I welcome questions on identification, measurement, and practical governance design.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96808-A2FC-42CC-9AF1-0DC0490F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0"/>
            <a:ext cx="2857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04264"/>
          </a:solidFill>
          <a:ln xmlns:a="http://schemas.openxmlformats.org/drawingml/2006/main" w="0">
            <a:solidFill>
              <a:srgbClr val="3042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74EF3-8A89-4947-A2FA-8E214692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33575"/>
            <a:ext cx="2628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Identification strategy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FF7BE-BA97-43E8-B226-96F49B9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47950"/>
            <a:ext cx="2857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04264"/>
          </a:solidFill>
          <a:ln xmlns:a="http://schemas.openxmlformats.org/drawingml/2006/main" w="0">
            <a:solidFill>
              <a:srgbClr val="3042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64492-6E7F-485E-986A-8DC13F56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76525"/>
            <a:ext cx="2628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Measurement and Bayesian benchmark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835FB-64A3-4829-9698-2D0EC1D4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90900"/>
            <a:ext cx="2857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04264"/>
          </a:solidFill>
          <a:ln xmlns:a="http://schemas.openxmlformats.org/drawingml/2006/main" w="0">
            <a:solidFill>
              <a:srgbClr val="3042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EA529-5A1B-41E8-A2A3-0781E95E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19475"/>
            <a:ext cx="2628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Governance implications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52817-50A3-491B-9083-6192E084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7DCE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7DCE7"/>
                </a:solidFill>
                <a:latin typeface="Aptos"/>
                <a:ea typeface="Aptos"/>
                <a:cs typeface="Aptos"/>
              </a:rPr>
              <a:t>End slide.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40FFF-1670-410A-9AF3-19A6FA1A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9B4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89B4A"/>
                </a:solidFill>
                <a:latin typeface="Aptos Mono"/>
                <a:ea typeface="Aptos Mono"/>
                <a:cs typeface="Aptos Mon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547365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2026-06-06T18:34:57.3660000Z</dcterms:created>
  <dcterms:modified xsi:type="dcterms:W3CDTF">2026-06-06T18:34:57.3660000Z</dcterms:modified>
</coreProperties>
</file>