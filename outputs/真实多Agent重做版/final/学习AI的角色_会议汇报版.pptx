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c77a7530cd433e" /><Relationship Type="http://schemas.openxmlformats.org/officeDocument/2006/relationships/extended-properties" Target="/docProps/app.xml" Id="R52989f1256c041bf" /><Relationship Type="http://schemas.openxmlformats.org/officeDocument/2006/relationships/officeDocument" Target="/ppt/presentation.xml" Id="Rb5a67d3c4a3649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dca9fa3b1b47ea"/>
  </p:sldMasterIdLst>
  <p:notesMasterIdLst>
    <p:notesMasterId xmlns:r="http://schemas.openxmlformats.org/officeDocument/2006/relationships" r:id="Ra0378cb55c334d5f"/>
  </p:notesMasterIdLst>
  <p:sldIdLst>
    <p:sldId xmlns:r="http://schemas.openxmlformats.org/officeDocument/2006/relationships" id="256" r:id="R132b38cea5594e65"/>
    <p:sldId xmlns:r="http://schemas.openxmlformats.org/officeDocument/2006/relationships" id="257" r:id="R078c69fb076d4121"/>
    <p:sldId xmlns:r="http://schemas.openxmlformats.org/officeDocument/2006/relationships" id="258" r:id="Ra9df97b94c7742b7"/>
    <p:sldId xmlns:r="http://schemas.openxmlformats.org/officeDocument/2006/relationships" id="259" r:id="R42c02f03b29d4c6d"/>
    <p:sldId xmlns:r="http://schemas.openxmlformats.org/officeDocument/2006/relationships" id="260" r:id="R4e1364686b684206"/>
    <p:sldId xmlns:r="http://schemas.openxmlformats.org/officeDocument/2006/relationships" id="261" r:id="Re5c231c4b1704001"/>
    <p:sldId xmlns:r="http://schemas.openxmlformats.org/officeDocument/2006/relationships" id="262" r:id="Ra8b963a4532a4f3f"/>
    <p:sldId xmlns:r="http://schemas.openxmlformats.org/officeDocument/2006/relationships" id="263" r:id="Rc19153c349fe4db1"/>
    <p:sldId xmlns:r="http://schemas.openxmlformats.org/officeDocument/2006/relationships" id="264" r:id="R965aa45a78bb4bd0"/>
    <p:sldId xmlns:r="http://schemas.openxmlformats.org/officeDocument/2006/relationships" id="265" r:id="R004c50427e674ab3"/>
    <p:sldId xmlns:r="http://schemas.openxmlformats.org/officeDocument/2006/relationships" id="266" r:id="R2d78427fd72a4031"/>
    <p:sldId xmlns:r="http://schemas.openxmlformats.org/officeDocument/2006/relationships" id="267" r:id="Rcfdfee8f1bfd48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63bc7354514b58" /><Relationship Type="http://schemas.openxmlformats.org/officeDocument/2006/relationships/slideMaster" Target="/ppt/slideMasters/slideMaster1.xml" Id="R79dca9fa3b1b47ea" /><Relationship Type="http://schemas.openxmlformats.org/officeDocument/2006/relationships/notesMaster" Target="/ppt/notesMasters/notesMaster1.xml" Id="Ra0378cb55c334d5f" /><Relationship Type="http://schemas.openxmlformats.org/officeDocument/2006/relationships/presProps" Target="/ppt/presProps.xml" Id="Ra2417461e72c4ea7" /><Relationship Type="http://schemas.openxmlformats.org/officeDocument/2006/relationships/tableStyles" Target="/ppt/tableStyles.xml" Id="Ra0ca4996ca034857" /><Relationship Type="http://schemas.openxmlformats.org/officeDocument/2006/relationships/slide" Target="/ppt/slides/slide1.xml" Id="R132b38cea5594e65" /><Relationship Type="http://schemas.openxmlformats.org/officeDocument/2006/relationships/slide" Target="/ppt/slides/slide2.xml" Id="R078c69fb076d4121" /><Relationship Type="http://schemas.openxmlformats.org/officeDocument/2006/relationships/slide" Target="/ppt/slides/slide3.xml" Id="Ra9df97b94c7742b7" /><Relationship Type="http://schemas.openxmlformats.org/officeDocument/2006/relationships/slide" Target="/ppt/slides/slide4.xml" Id="R42c02f03b29d4c6d" /><Relationship Type="http://schemas.openxmlformats.org/officeDocument/2006/relationships/slide" Target="/ppt/slides/slide5.xml" Id="R4e1364686b684206" /><Relationship Type="http://schemas.openxmlformats.org/officeDocument/2006/relationships/slide" Target="/ppt/slides/slide6.xml" Id="Re5c231c4b1704001" /><Relationship Type="http://schemas.openxmlformats.org/officeDocument/2006/relationships/slide" Target="/ppt/slides/slide7.xml" Id="Ra8b963a4532a4f3f" /><Relationship Type="http://schemas.openxmlformats.org/officeDocument/2006/relationships/slide" Target="/ppt/slides/slide8.xml" Id="Rc19153c349fe4db1" /><Relationship Type="http://schemas.openxmlformats.org/officeDocument/2006/relationships/slide" Target="/ppt/slides/slide9.xml" Id="R965aa45a78bb4bd0" /><Relationship Type="http://schemas.openxmlformats.org/officeDocument/2006/relationships/slide" Target="/ppt/slides/slide10.xml" Id="R004c50427e674ab3" /><Relationship Type="http://schemas.openxmlformats.org/officeDocument/2006/relationships/slide" Target="/ppt/slides/slide11.xml" Id="R2d78427fd72a4031" /><Relationship Type="http://schemas.openxmlformats.org/officeDocument/2006/relationships/slide" Target="/ppt/slides/slide12.xml" Id="Rcfdfee8f1bfd48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91fbf2b22742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1caa0c090b4502" /><Relationship Type="http://schemas.openxmlformats.org/officeDocument/2006/relationships/notesMaster" Target="/ppt/notesMasters/notesMaster1.xml" Id="R5d379080c55141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4397f8ea56473c" /><Relationship Type="http://schemas.openxmlformats.org/officeDocument/2006/relationships/notesMaster" Target="/ppt/notesMasters/notesMaster1.xml" Id="Re80ba94fcf1346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28f3600e63446c" /><Relationship Type="http://schemas.openxmlformats.org/officeDocument/2006/relationships/notesMaster" Target="/ppt/notesMasters/notesMaster1.xml" Id="R342154dd894a4b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ea65def2ae468e" /><Relationship Type="http://schemas.openxmlformats.org/officeDocument/2006/relationships/notesMaster" Target="/ppt/notesMasters/notesMaster1.xml" Id="R2ca997c7104242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1c2b6d27c94c66" /><Relationship Type="http://schemas.openxmlformats.org/officeDocument/2006/relationships/notesMaster" Target="/ppt/notesMasters/notesMaster1.xml" Id="R33c015777f3848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2bdf84c2fe42c0" /><Relationship Type="http://schemas.openxmlformats.org/officeDocument/2006/relationships/notesMaster" Target="/ppt/notesMasters/notesMaster1.xml" Id="R55d6482e61c54e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2991dc3a3d4ecd" /><Relationship Type="http://schemas.openxmlformats.org/officeDocument/2006/relationships/notesMaster" Target="/ppt/notesMasters/notesMaster1.xml" Id="Rfe0f0e9adf6646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f2dee801ae4eaf" /><Relationship Type="http://schemas.openxmlformats.org/officeDocument/2006/relationships/notesMaster" Target="/ppt/notesMasters/notesMaster1.xml" Id="R735111c8c0b74e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41e6a728e14059" /><Relationship Type="http://schemas.openxmlformats.org/officeDocument/2006/relationships/notesMaster" Target="/ppt/notesMasters/notesMaster1.xml" Id="R8f6e12f776974f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a9e276c6d040c8" /><Relationship Type="http://schemas.openxmlformats.org/officeDocument/2006/relationships/notesMaster" Target="/ppt/notesMasters/notesMaster1.xml" Id="R8d604b90642846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ab7dadaf964e0e" /><Relationship Type="http://schemas.openxmlformats.org/officeDocument/2006/relationships/notesMaster" Target="/ppt/notesMasters/notesMaster1.xml" Id="Rd17ee5f6574f45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b9d52685ce4f66" /><Relationship Type="http://schemas.openxmlformats.org/officeDocument/2006/relationships/notesMaster" Target="/ppt/notesMasters/notesMaster1.xml" Id="R22e21f45f93f4f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开场不要先讲 trust。先讲现实问题已经变了：组织现在决定的是 AI 的角色，而不是要不要碰它。</a:t>
            </a:r>
          </a:p>
          <a:p xmlns:a="http://schemas.openxmlformats.org/drawingml/2006/main">
            <a:r>
              <a:t>一句话主张要咬住：AI error 的关键后果不是短期 trust 下降，而是长期授权路径被改写。</a:t>
            </a:r>
          </a:p>
          <a:p xmlns:a="http://schemas.openxmlformats.org/drawingml/2006/main">
            <a:r>
              <a:t>如果评委一上来把题目听成 adoption，请立刻把问题重述成 role configuration 与 architecture learning。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这里要明确：AI 不是普通工具，它可以是顾问、推荐者、默认执行者，甚至自主决策者。</a:t>
            </a:r>
          </a:p>
          <a:p xmlns:a="http://schemas.openxmlformats.org/drawingml/2006/main">
            <a:r>
              <a:t>因此研究问题不能停留在 use vs. not use，而必须升级成 how to organize human-AI collaboration。</a:t>
            </a:r>
          </a:p>
          <a:p xmlns:a="http://schemas.openxmlformats.org/drawingml/2006/main">
            <a:r>
              <a:t>如果听众说这仍然像 adoption，就强调 adoption 只能回答“用不用”，不能回答“放在哪”。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这页不是贬低旧文献，而是指出它们的分析单位大多是单轮判断或局部反馈。</a:t>
            </a:r>
          </a:p>
          <a:p xmlns:a="http://schemas.openxmlformats.org/drawingml/2006/main">
            <a:r>
              <a:t>我们要补的是 architecture-level learning，不是再做一个更复杂的 trust study。</a:t>
            </a:r>
          </a:p>
          <a:p xmlns:a="http://schemas.openxmlformats.org/drawingml/2006/main">
            <a:r>
              <a:t>如果被问 novelty 在哪里，答案是：研究对象、时间尺度、学习内容和结果变量都换了。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 framing 的中轴页。要讲清：不是换个更响亮的词，而是整个问题结构变了。</a:t>
            </a:r>
          </a:p>
          <a:p xmlns:a="http://schemas.openxmlformats.org/drawingml/2006/main">
            <a:r>
              <a:t>AgentA 的红线是：如果主因变量能被 trust 量表替代，项目就已经降级。</a:t>
            </a:r>
          </a:p>
          <a:p xmlns:a="http://schemas.openxmlformats.org/drawingml/2006/main">
            <a:r>
              <a:t>这里可以主动点出：我们研究的是 role learning，不是 capability learning。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这一页要把机制讲实：错误影响的不只是答案评价，更是角色授权判断。</a:t>
            </a:r>
          </a:p>
          <a:p xmlns:a="http://schemas.openxmlformats.org/drawingml/2006/main">
            <a:r>
              <a:t>如果评委问为什么 early error 关键，不要答“首因效应”，要答“它改写了后续暴露与修复机会”。</a:t>
            </a:r>
          </a:p>
          <a:p xmlns:a="http://schemas.openxmlformats.org/drawingml/2006/main">
            <a:r>
              <a:t>这里的 steady state 是 EWA 意义上的学习稳定状态，不是传统 Nash equilibrium。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这里要让听众看到：问题不是‘下一轮会不会少用一点 AI’，而是‘长期会收敛到哪里’。</a:t>
            </a:r>
          </a:p>
          <a:p xmlns:a="http://schemas.openxmlformats.org/drawingml/2006/main">
            <a:r>
              <a:t>H5 很关键，它把项目从普通 behavior response 拉到 suboptimal institutional outcome。</a:t>
            </a:r>
          </a:p>
          <a:p xmlns:a="http://schemas.openxmlformats.org/drawingml/2006/main">
            <a:r>
              <a:t>如果被追问为什么要谈最优，需要说明：没有客观 benchmark，就不能声称观察到了次优锁定。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分析单位必须是 repeated architecture choice trajectory，而不是单次 advice acceptance。</a:t>
            </a:r>
          </a:p>
          <a:p xmlns:a="http://schemas.openxmlformats.org/drawingml/2006/main">
            <a:r>
              <a:t>多轮设计是红线。如果只做 vignette 或十轮以内，无法研究 convergence 与 steady state。</a:t>
            </a:r>
          </a:p>
          <a:p xmlns:a="http://schemas.openxmlformats.org/drawingml/2006/main">
            <a:r>
              <a:t>汇报时要强调：主结果不是 trust，而是 autonomy path、switching rate、recovery speed 和 low-autonomy lock-in。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这是方法页的核心。最重要的一句话是：我们操控的是经验路径，不是能力水平。</a:t>
            </a:r>
          </a:p>
          <a:p xmlns:a="http://schemas.openxmlformats.org/drawingml/2006/main">
            <a:r>
              <a:t>如果 AI 与 human 长期平均表现不同，后期授权差异就可能只是 rational response，而不是 learning path。</a:t>
            </a:r>
          </a:p>
          <a:p xmlns:a="http://schemas.openxmlformats.org/drawingml/2006/main">
            <a:r>
              <a:t>共同恢复窗口是为了排除‘最近冲击更强’而不是路径依赖的解释。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这一页对应 AgentB 的‘替代解释排除’和 AgentA 的‘监管红线’。</a:t>
            </a:r>
          </a:p>
          <a:p xmlns:a="http://schemas.openxmlformats.org/drawingml/2006/main">
            <a:r>
              <a:t>如果不能把先验偏见、惯性和近期冲击拆开，本研究就会看起来像更复杂的 algorithm aversion。</a:t>
            </a:r>
          </a:p>
          <a:p xmlns:a="http://schemas.openxmlformats.org/drawingml/2006/main">
            <a:r>
              <a:t>答辩时可以主动说：我们并不否认这些机制可能存在，但主机制必须是 AI error 改写角色授权路径。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这里不要把注意力放在公式本身，而要讲公式在替谁说话：它是在替架构学习这条理论链说话。</a:t>
            </a:r>
          </a:p>
          <a:p xmlns:a="http://schemas.openxmlformats.org/drawingml/2006/main">
            <a:r>
              <a:t>最重要的参数解读是：AI error 的负向更新权重是否更大，以及它是否比后续正确更难被修复。</a:t>
            </a:r>
          </a:p>
          <a:p xmlns:a="http://schemas.openxmlformats.org/drawingml/2006/main">
            <a:r>
              <a:t>如果评委问为什么不用静态 logit，答案是：静态模型无法识别路径依赖和收敛过程。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这页要避免变成流水账。最强的总结是：我们把 AI 行为研究从 attitude logic 推进到 structure logic。</a:t>
            </a:r>
          </a:p>
          <a:p xmlns:a="http://schemas.openxmlformats.org/drawingml/2006/main">
            <a:r>
              <a:t>如果被问最核心理论贡献，一句话答：AI error 通过非对称架构更新改写长期收敛路径。</a:t>
            </a:r>
          </a:p>
          <a:p xmlns:a="http://schemas.openxmlformats.org/drawingml/2006/main">
            <a:r>
              <a:t>如果被问最核心方法贡献，一句话答：用 repeated architecture choice 替代单轮 advice-taking，并在同均值不同路径框架下识别动态机制。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结尾不要只说‘对企业有启发’。要明确说：治理要从 performance audit 扩展到 collaboration architecture audit。</a:t>
            </a:r>
          </a:p>
          <a:p xmlns:a="http://schemas.openxmlformats.org/drawingml/2006/main">
            <a:r>
              <a:t>如果机制成立，组织最大的风险不只是误判，而是长期 under-delegation lock-in。</a:t>
            </a:r>
          </a:p>
          <a:p xmlns:a="http://schemas.openxmlformats.org/drawingml/2006/main">
            <a:r>
              <a:t>最后一句一定要回到题眼：重要的不只是 AI 有多强，而是组织会把它学成什么角色。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a427037dd4f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0b1e8aa6a84838" /><Relationship Type="http://schemas.openxmlformats.org/officeDocument/2006/relationships/slideLayout" Target="/ppt/slideLayouts/slideLayout1.xml" Id="R6cc30420916049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c30420916049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acf155e5f4e62" /><Relationship Type="http://schemas.openxmlformats.org/officeDocument/2006/relationships/notesSlide" Target="/ppt/notesSlides/notesSlide1.xml" Id="Rcaa75c8411794d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0db25e17c43cd" /><Relationship Type="http://schemas.openxmlformats.org/officeDocument/2006/relationships/notesSlide" Target="/ppt/notesSlides/notesSlide2.xml" Id="Raaad0a5ed48b48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73f36e3214ff6" /><Relationship Type="http://schemas.openxmlformats.org/officeDocument/2006/relationships/notesSlide" Target="/ppt/notesSlides/notesSlide3.xml" Id="Rfa3fefa5b2f446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b105018c44346" /><Relationship Type="http://schemas.openxmlformats.org/officeDocument/2006/relationships/notesSlide" Target="/ppt/notesSlides/notesSlide4.xml" Id="R599ada5eee624a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b1436b68b467a" /><Relationship Type="http://schemas.openxmlformats.org/officeDocument/2006/relationships/notesSlide" Target="/ppt/notesSlides/notesSlide5.xml" Id="Rf94c82359ff44f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9a50abdf248d4" /><Relationship Type="http://schemas.openxmlformats.org/officeDocument/2006/relationships/notesSlide" Target="/ppt/notesSlides/notesSlide6.xml" Id="Rb568e50eafbd4e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656ff4747451a" /><Relationship Type="http://schemas.openxmlformats.org/officeDocument/2006/relationships/notesSlide" Target="/ppt/notesSlides/notesSlide7.xml" Id="R0a9f43f6e8a342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e12638cd4433b" /><Relationship Type="http://schemas.openxmlformats.org/officeDocument/2006/relationships/notesSlide" Target="/ppt/notesSlides/notesSlide8.xml" Id="Rff9e73c7de5b43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80c8257ea42a2" /><Relationship Type="http://schemas.openxmlformats.org/officeDocument/2006/relationships/notesSlide" Target="/ppt/notesSlides/notesSlide9.xml" Id="Rc51bd34134f54b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5ddaade934770" /><Relationship Type="http://schemas.openxmlformats.org/officeDocument/2006/relationships/notesSlide" Target="/ppt/notesSlides/notesSlide10.xml" Id="R6b3cb76cd9ef45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2c46544844c72" /><Relationship Type="http://schemas.openxmlformats.org/officeDocument/2006/relationships/notesSlide" Target="/ppt/notesSlides/notesSlide11.xml" Id="R0c13ec3f7c244b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7d1e072d74434" /><Relationship Type="http://schemas.openxmlformats.org/officeDocument/2006/relationships/notesSlide" Target="/ppt/notesSlides/notesSlide12.xml" Id="Rc67eee4485a548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21194C-FA06-4CC5-AC2A-B49F3D50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86B05-0877-4F85-9339-7A9120DD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210312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8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C29A9-0D0D-4873-9C14-73202E36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"/>
            <a:ext cx="18745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5B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5B35"/>
                </a:solidFill>
                <a:latin typeface="Aptos"/>
                <a:ea typeface="Aptos"/>
                <a:cs typeface="Aptos"/>
              </a:rPr>
              <a:t>Conference Research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76BFC-F914-4285-98D7-BF3E9A47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学习 AI 的角色：</a:t>
            </a:r>
          </a:p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人类如何形成稳定的人机协作架构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09DBE-1C6E-4C1B-88BB-2B0CB325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5F5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355F57"/>
                </a:solidFill>
                <a:latin typeface="Aptos"/>
                <a:ea typeface="Aptos"/>
                <a:cs typeface="Aptos"/>
              </a:rPr>
              <a:t>从 trust/adoption 转向 architecture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C7038-3596-4FA5-9468-69BC3E75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81534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CBB81-2DD4-4072-927B-E93FEEFA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AI error 最值得警惕的后果，不是某一次互动中的 trust 下滑，而是它可能通过非对称学习重画权限边界，进而把人机协作系统推向一条长期低 AI 授权的收敛路径。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0CA3A-6050-4E7F-B81E-E204FB2C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Real multi-agent redo package | June 2026</a:t>
            </a:r>
          </a:p>
        </p:txBody>
      </p:sp>
    </p:spTree>
    <p:extLst>
      <p:ext uri="{BB962C8B-B14F-4D97-AF65-F5344CB8AC3E}">
        <p14:creationId xmlns:p14="http://schemas.microsoft.com/office/powerpoint/2010/main" val="956874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3BE66-2EB8-4A77-AEF8-EC8A9324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E40DB-F383-465E-8594-C35EE75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5B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5B35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637DB-0451-44AE-AF6A-06A0F500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33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0FA9A-6F52-431F-85F2-24816C43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F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41CE0-7129-4B9D-A901-355E6AC8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The Problem Has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E219D-49D2-4969-9E55-DD399DA3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AI 时代的核心问题已经从“是否采用”变成“如何配置角色”。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6B192-3FFD-4D34-8BCC-91605B44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47675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44D39-B2B2-4574-9CF5-DC495AA9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What the old frame asks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721DD-1DAC-4CC7-9EBB-3293FB39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405765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Do people trust AI?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Will users adopt AI?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Will they accept one piece of advice?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Can they calibrate AI confidence?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49769-B0FA-4E87-935B-A5C69664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4476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CE8E4"/>
          </a:solidFill>
          <a:ln xmlns:a="http://schemas.openxmlformats.org/drawingml/2006/main" w="9525">
            <a:solidFill>
              <a:srgbClr val="355F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F802A-D6F6-413E-A73B-85A64F5F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What this project asks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3CE7B-EDE2-4A64-A697-410A477A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40576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In repeated feedback, where do humans finally place AI in the decision chain?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260C5-AEC8-4280-9641-D8422A9B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90700"/>
            <a:ext cx="5048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04644-6688-431E-885F-1C204552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1  Human-only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F4CC2-99F2-47B3-B7A8-B80E6AFE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09850"/>
            <a:ext cx="5048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81FD5-532A-454E-80E3-8C62D197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003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2  AI advice + human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099E48-3DA1-42EB-8B59-0D980CB2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5048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60671-3B5D-4CC4-85B6-48AB09A0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195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3  AI recommendation + 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400EA-FC06-4DE8-A479-C46AB8E7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48150"/>
            <a:ext cx="5048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730B8-9B6E-4B78-837A-860945A7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386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4  AI default + human override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5AAB4-7B71-419B-9D22-E3D3C71E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67300"/>
            <a:ext cx="5048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D8CB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EE4C45-653E-4FDF-97E2-87635171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578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5  AI autonomous decision</a:t>
            </a:r>
          </a:p>
        </p:txBody>
      </p:sp>
    </p:spTree>
    <p:extLst>
      <p:ext uri="{BB962C8B-B14F-4D97-AF65-F5344CB8AC3E}">
        <p14:creationId xmlns:p14="http://schemas.microsoft.com/office/powerpoint/2010/main" val="627546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88BE49-39E0-40A4-ADE8-07014039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C0FBC-EA7A-4024-A958-C2E86042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5B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5B35"/>
                </a:solidFill>
                <a:latin typeface="Aptos"/>
                <a:ea typeface="Aptos"/>
                <a:cs typeface="Aptos"/>
              </a:rPr>
              <a:t>LITERATURE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36304-1EFD-4EC0-B603-694B4163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33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522E8-5F36-46FD-B4DB-62706565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F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14965-13C5-4635-B573-AB2C4C70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Why Existing Literatures Are Not Enough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5FBDA-A09F-4CEF-B968-1ABACDC0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它们解释短期反应很多，但解释长期协作结构形成很少。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4E60E-794E-4172-B067-F6C4666C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5720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F046B-942F-4934-B0C6-A1FE947B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429D1-6FEE-4996-B873-A8191A50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11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Explains whether an output is worth believing.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BAB19-2D98-43FB-82BC-F05D91F8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5720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DEB4A-DDA0-4F32-8474-E43A7C8B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Advice-taking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71C44-3539-44A1-AF59-DA7739A0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411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Explains whether one recommendation is accepted.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5E1D8-72FF-4BE9-9CE4-ADEEBDCB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5720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06A1C-A8EA-4FA9-A30C-95782175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Calibration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0C6FF-BB98-4411-BA48-C90087F6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11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Explains whether users understand confidence signals.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B57CE-C09A-4E4C-A5A9-A0C0BF22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45720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892D5-96AC-44A4-858B-0E770D89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95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Aversion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2BF8E-B098-44BA-A141-4CA2B9B7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411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Explains whether algorithm errors trigger immediate punishment.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CAFA7-A58D-49DD-90C7-78E24D50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8458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D8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AD5606-7D26-4A90-BA7C-04A8E6A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81650"/>
            <a:ext cx="792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F5B3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F5B35"/>
                </a:solidFill>
                <a:latin typeface="Georgia"/>
                <a:ea typeface="Georgia"/>
                <a:cs typeface="Georgia"/>
              </a:rPr>
              <a:t>Missing piece: long-run architecture formation under repeated feedback.</a:t>
            </a:r>
          </a:p>
        </p:txBody>
      </p:sp>
    </p:spTree>
    <p:extLst>
      <p:ext uri="{BB962C8B-B14F-4D97-AF65-F5344CB8AC3E}">
        <p14:creationId xmlns:p14="http://schemas.microsoft.com/office/powerpoint/2010/main" val="1765226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EB1232-E7D7-4AAA-A9F4-00312A42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005C4-D34E-4634-BBBE-DB6807C8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5B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5B35"/>
                </a:solidFill>
                <a:latin typeface="Aptos"/>
                <a:ea typeface="Aptos"/>
                <a:cs typeface="Aptos"/>
              </a:rPr>
              <a:t>FRAMING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3CE76-D2ED-4542-8DC1-8C797DAD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33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E2F48-86CD-4113-8F18-97D63D46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F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C1C4E-FAC6-4D1F-ACF7-87FF07BC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Theoretical Reframing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50F12-1C3D-4EFE-934D-87A75E08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这不是换标题，而是同时改写研究对象、时间尺度、学习内容和结果变量。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3C166-9D62-464C-A778-EE2FA859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76250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EFE5D3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938E2-6A94-40B7-B298-06B54CB0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Old 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D24CD-E699-4EB2-A381-F969C849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43434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Object: attitudes toward AI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Time scale: one-shot response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Learning target: AI capability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Outcome: adoption, reliance,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664B1-3390-43C2-A485-03E70520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90700"/>
            <a:ext cx="476250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DCE8E4"/>
          </a:solidFill>
          <a:ln xmlns:a="http://schemas.openxmlformats.org/drawingml/2006/main" w="9525">
            <a:solidFill>
              <a:srgbClr val="355F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7A2E2-8FCB-4E7D-8C58-8E06454F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621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New 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03CC3-89CE-4CD5-906C-F7B54852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05050"/>
            <a:ext cx="43434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Object: collaboration architecture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Time scale: long-run convergence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Learning target: AI role in the system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Outcome: autonomy path, boundary, lock-in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C467B-A116-4A71-B7BC-9B46040A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004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F5B3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F5B35"/>
                </a:solidFill>
                <a:latin typeface="Georgia"/>
                <a:ea typeface="Georgia"/>
                <a:cs typeface="Georgia"/>
              </a:rPr>
              <a:t>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E79FF-8E52-4320-93BE-803547E8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860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B35"/>
          </a:solidFill>
          <a:ln xmlns:a="http://schemas.openxmlformats.org/drawingml/2006/main" w="19050">
            <a:solidFill>
              <a:srgbClr val="BF5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D71FD-D20C-4FDC-A317-9910A355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529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B35"/>
          </a:solidFill>
          <a:ln xmlns:a="http://schemas.openxmlformats.org/drawingml/2006/main" w="19050">
            <a:solidFill>
              <a:srgbClr val="BF5B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9FC54-F736-4673-B66F-12C608E1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10250"/>
            <a:ext cx="70485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B9E19-A626-45CA-9CF9-64A3BAD8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962650"/>
            <a:ext cx="651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From trust/adoption -&gt; architecture learning; from short-term error response -&gt; long-run convergence.</a:t>
            </a:r>
          </a:p>
        </p:txBody>
      </p:sp>
    </p:spTree>
    <p:extLst>
      <p:ext uri="{BB962C8B-B14F-4D97-AF65-F5344CB8AC3E}">
        <p14:creationId xmlns:p14="http://schemas.microsoft.com/office/powerpoint/2010/main" val="1393696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3EDD7C-9E03-49D0-A3F4-6FFF9BFF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D7384-0D47-41FF-A839-957CA3CE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5B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5B35"/>
                </a:solidFill>
                <a:latin typeface="Aptos"/>
                <a:ea typeface="Aptos"/>
                <a:cs typeface="Aptos"/>
              </a:rPr>
              <a:t>CORE 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16903-937C-4A73-96F7-4B75177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33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AC53F-9109-423F-83D2-49D84460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F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1F644-09B7-4201-BE67-DE8A228D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Core Theory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EAEE8-E9F8-40EF-80EF-9A2B16CA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反馈更新的是架构吸引力，而不是抽象 trust 分数。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95E6C-9623-4FE2-85AD-5B43F253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17907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D4009-783B-47BD-AC2E-3E683EE6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144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1  Repeated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B3CA7-7261-4CB4-9FD7-343BF16B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0"/>
            <a:ext cx="17907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CE8E4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A339D-BFD5-408D-93B9-F95D6FCF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144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2  Architecture attraction updating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ED84D-F44E-4973-97B5-02FAC0EC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7907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C1BAD-9711-4953-AB8E-0A8452EE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24150"/>
            <a:ext cx="144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3  AI vs. human error asymmetry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8A2C9-8F2C-4C5A-B183-8986D244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7907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CE8E4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20A6B-D105-4B6D-810A-66D2132A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24150"/>
            <a:ext cx="144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4  Path dependence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D734B-F560-42AC-BF3F-CAED33CA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17907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33E03-6025-4BEC-801D-6CAADAA2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24150"/>
            <a:ext cx="144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5  Convergence and steady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4AB92-49B6-49D2-8BEB-FE9FAD71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48150"/>
            <a:ext cx="81153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5D8CB"/>
          </a:solidFill>
          <a:ln xmlns:a="http://schemas.openxmlformats.org/drawingml/2006/main" w="9525">
            <a:solidFill>
              <a:srgbClr val="BF5B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93E46-4C40-41F9-A1AC-F1D078B1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19600"/>
            <a:ext cx="769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The strongest claim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C4ADF-DE78-4F5C-A2A7-6898D842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62500"/>
            <a:ext cx="7696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Humans do not only learn whether AI is reliable; they learn whether AI deserves a particular role.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AI error matters because it can be interpreted as role misfit, not merely answer-level failure.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Early AI error can reduce future exposure to high-autonomy structures and slow recovery.</a:t>
            </a:r>
          </a:p>
        </p:txBody>
      </p:sp>
    </p:spTree>
    <p:extLst>
      <p:ext uri="{BB962C8B-B14F-4D97-AF65-F5344CB8AC3E}">
        <p14:creationId xmlns:p14="http://schemas.microsoft.com/office/powerpoint/2010/main" val="5133177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D5D583-42B6-48EC-A899-16E9EDB5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695D5-2960-464A-8E45-D78261C4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5B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5B35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C5CF4-CC31-413D-A0E2-46B25B85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33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68944-F793-45B7-A279-F845C883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F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9034F-D22B-4258-9566-13F98EAD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Research Questions and Hypotheses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CCBF6-7ED5-422D-AB9C-6F68FB60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主问题是角色学习，机制问题是非对称更新，结果问题是路径依赖。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A72FA-4721-45AD-B1E3-99C72FCC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02920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9E099-5248-4185-8650-12955BE9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Research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41864-A7E2-4920-BA0A-7F49DB6F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461010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Do humans converge toward stable human-AI collaboration architectures under repeated feedback?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When average objective performance is held equal, do AI errors trigger stronger negative architecture updating than human errors?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Do early AI errors create path-dependent convergence toward low-AI-autonomy structures?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Can the resulting steady state deviate from an objective benchmark?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E47F5-1FFB-4A33-8307-9AE5C1F5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502920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DCE8E4"/>
          </a:solidFill>
          <a:ln xmlns:a="http://schemas.openxmlformats.org/drawingml/2006/main" w="9525">
            <a:solidFill>
              <a:srgbClr val="355F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FC162-9434-4AA0-8F25-AACBFA42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Hypotheses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406FA-D0DD-4507-B37D-E2708544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47900"/>
            <a:ext cx="461010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H1: AI errors carry stronger negative weights than human errors.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H2: Early AI error lowers long-run autonomy choice.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H3: Recovery from AI error is weaker than the initial damage.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H4: Human early error does not symmetrically push people toward high AI autonomy.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H5: Participants may settle into suboptimal low-autonomy steady states.</a:t>
            </a:r>
          </a:p>
        </p:txBody>
      </p:sp>
    </p:spTree>
    <p:extLst>
      <p:ext uri="{BB962C8B-B14F-4D97-AF65-F5344CB8AC3E}">
        <p14:creationId xmlns:p14="http://schemas.microsoft.com/office/powerpoint/2010/main" val="790496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09B3EF-0351-4744-A611-4D6BCEB7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CC546-077B-46EE-8C2A-B8A17FA3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5B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5B35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E8E16-9A9B-4487-AD0F-5EA8E34C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33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C1C21-3276-4340-AD20-F2945B4E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F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DC5AB-650A-4D66-9057-E3687F3D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Experimental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5EACD-5CC5-453E-8DAC-2D891FCF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多轮行为实验 + 动态学习模型，用架构选择轨迹而不是问卷态度来识别机制。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3AD36-3BF0-441D-A6AA-FD8ACCDF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9812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5507D-D795-4080-B802-10EF9381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F5B35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BF5B35"/>
                </a:solidFill>
                <a:latin typeface="Georgia"/>
                <a:ea typeface="Georgia"/>
                <a:cs typeface="Georgia"/>
              </a:rPr>
              <a:t>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23A72-E218-45BB-A6A6-5439BA39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paid rounds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F2DA4-76B5-44EE-8588-600F4B2D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76400"/>
            <a:ext cx="19812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049E3-A2BA-48DF-949F-B4066B20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F5B35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BF5B35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B050D-3B21-491F-9A3B-B89BE4CC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architecture choices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2C38E-68D6-4FE6-9D69-33DB214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76400"/>
            <a:ext cx="19812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BF92B-4538-4376-B187-0E7645BE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669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F5B35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BF5B35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A67AA-2A53-4529-A466-60CEA3FC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66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experimental conditions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8EE49-6F05-469F-A3CE-5F43063C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76400"/>
            <a:ext cx="19812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AF346-6BC6-4A4A-8111-DE7C47C4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F5B35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BF5B35"/>
                </a:solidFill>
                <a:latin typeface="Georgia"/>
                <a:ea typeface="Georgia"/>
                <a:cs typeface="Georgia"/>
              </a:rPr>
              <a:t>61-90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26BB0-00EA-4740-A69D-D93EC7BA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steady-state window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9DF23-4C5B-4BC1-B661-21832BE3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28956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A0747-F9D7-486D-9406-3EC7D87D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Architecture ladder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5F24E-011B-4990-9699-9923AC67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4533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Human-only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AI advice + human decision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AI recommendation + human confirmation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AI default + human override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AI autonomous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57FDC-3635-4E0C-B68E-D45E8B73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4953000" cy="28956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D8CB"/>
          </a:solidFill>
          <a:ln xmlns:a="http://schemas.openxmlformats.org/drawingml/2006/main" w="9525">
            <a:solidFill>
              <a:srgbClr val="BF5B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EF170-F2CF-489B-B85B-866E7EC3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Conditions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1E06D-162E-4BF9-81DC-EC663DE5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4533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AI Early Error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AI Late Error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Human Early Error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Evenly Distributed Errors</a:t>
            </a:r>
          </a:p>
        </p:txBody>
      </p:sp>
    </p:spTree>
    <p:extLst>
      <p:ext uri="{BB962C8B-B14F-4D97-AF65-F5344CB8AC3E}">
        <p14:creationId xmlns:p14="http://schemas.microsoft.com/office/powerpoint/2010/main" val="8200560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2B66D0-C0F4-4D47-877C-66FC5477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3632E-6E9F-40DF-AE1A-F51528A1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5B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5B35"/>
                </a:solidFill>
                <a:latin typeface="Aptos"/>
                <a:ea typeface="Aptos"/>
                <a:cs typeface="Aptos"/>
              </a:rPr>
              <a:t>IDENTIFICATION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E0CEF-2ECE-4966-B344-EFA26068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33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F7CA3-CC5D-406A-ACE4-89CA9541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F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ED163-8865-4A31-AD3D-3AB831F8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What Identifies Path Dependence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1E381-0189-4C42-9936-49DC5E2D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同均值，不同路径；同冲击强度，不同来源。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F06E8-DE29-47AC-A6F6-F6768102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23EA5-0464-44D4-9D73-FEE02857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AI Early Error vs. AI Late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34EE1-16FB-49F7-8A3E-DA61CEC7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45339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Same total AI errors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Same long-run AI average accuracy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Same human average accuracy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Same cases and cost rules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Only timing differs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If 61-90 still diverges, sequence changed the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B9021-53AA-4A5D-8EB5-0C8BF2F9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95300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DCE8E4"/>
          </a:solidFill>
          <a:ln xmlns:a="http://schemas.openxmlformats.org/drawingml/2006/main" w="9525">
            <a:solidFill>
              <a:srgbClr val="355F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C908A-415D-434A-8B6F-98C115C4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621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AI Early Error vs. Human Early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153E6-DA2F-4976-A41B-AB20B8FD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45339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Same early shock timing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Same shock quantity and severity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Same long-run average performance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Only source differs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If AI shock lowers autonomy more, punishment is source-based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601DB-AC80-483A-8BB5-FDF49C35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81650"/>
            <a:ext cx="79629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8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9DC9D-903E-4AF6-83E1-6DD1EE11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53100"/>
            <a:ext cx="746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F5B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F5B35"/>
                </a:solidFill>
                <a:latin typeface="Aptos"/>
                <a:ea typeface="Aptos"/>
                <a:cs typeface="Aptos"/>
              </a:rPr>
              <a:t>Common recovery window: all shocks end before the final observation window.</a:t>
            </a:r>
          </a:p>
        </p:txBody>
      </p:sp>
    </p:spTree>
    <p:extLst>
      <p:ext uri="{BB962C8B-B14F-4D97-AF65-F5344CB8AC3E}">
        <p14:creationId xmlns:p14="http://schemas.microsoft.com/office/powerpoint/2010/main" val="3450488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8A1BF5-15C9-45C6-A01D-9CE8FB2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2D89C-A45D-4A66-BBBC-98C7F2B4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5B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5B35"/>
                </a:solidFill>
                <a:latin typeface="Aptos"/>
                <a:ea typeface="Aptos"/>
                <a:cs typeface="Aptos"/>
              </a:rPr>
              <a:t>ALTERNATIVE EXPLANATIONS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4CCDA-B5A0-4152-8DBC-610EE27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33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AC243-B4FF-4501-98B9-811AE19F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F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49987-6E04-4525-A349-2BC9058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What This Is Not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36B99-C24E-4F52-AF31-E4F98808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要有力声称路径依赖，必须系统排除替代解释。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C2931-30A4-42F4-A95E-456AFE1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5720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AF1CD-778D-40E6-8419-62098F43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Prior anti-AI bias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CB1E1-1514-484C-A1AF-C4800589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11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Measure prior AI attitude and initial architecture preference; estimate initial attraction separately.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5CE79-A1DE-4F21-9D32-E7EE03A5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45720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E8E4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64F99-D504-49C4-92EC-E82BD279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Generic inertia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9409C-A024-4BE4-9F25-57310871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11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Estimate switching cost eta so we can separate ‘too lazy to switch’ from path-dependent updating.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E12F4-64DA-4172-B1A9-FB685223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5720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D8CB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1C986-CD17-4B8C-B009-61419501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Recent shock effect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F920B-ECF7-4F22-943E-54F8184E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411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All shocks end before the common final window; if early shock still matters, it is not just recency.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A5D24-42AE-42AE-9BB9-C1703EA1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5720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A54D2-E7A4-4EE4-82CB-84A49499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Fatigue or task difficulty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4AB00-4D7B-4D84-99B5-6445F659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05300"/>
            <a:ext cx="411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Use the same case pool and round controls so differences cannot be explained by some groups simply facing harder tasks.</a:t>
            </a:r>
          </a:p>
        </p:txBody>
      </p:sp>
    </p:spTree>
    <p:extLst>
      <p:ext uri="{BB962C8B-B14F-4D97-AF65-F5344CB8AC3E}">
        <p14:creationId xmlns:p14="http://schemas.microsoft.com/office/powerpoint/2010/main" val="14336667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60692A-4863-420F-9BCE-563C3536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0FEB6-56A7-46E7-B9F7-6A0E9252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5B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5B35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8511D-4AEC-4D93-9D5A-2BFB5AA3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33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8D28F-4503-481D-87C2-225A5713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F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9F95A-2F56-4E06-BEE8-3FA161B3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EWA Is the Theory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C787F-5D0A-436B-9705-8FAC3518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如果 EWA 只在最后出现，它就是装饰；只有贯穿理论和设计，它才有意义。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49465-BD60-4A12-BB2A-8B53661D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61975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4A90B-B702-4550-BF20-3A5312B2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50863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N(t) = rho * N(t-1) + 1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A(k,t) = prior attraction</a:t>
            </a:r>
          </a:p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          + experienced payoff updating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P(choice k) = f[ attraction,</a:t>
            </a:r>
          </a:p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                  switching cost, sensitivity 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160DB-8D9E-4C9F-9EC0-8D30636E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5086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Key interpretation:</a:t>
            </a:r>
          </a:p>
          <a:p xmlns:a="http://schemas.openxmlformats.org/drawingml/2006/main">
            <a:pPr algn="l">
              <a:defRPr sz="1425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AI errors and human errors can carry different updating weights.</a:t>
            </a:r>
          </a:p>
          <a:p xmlns:a="http://schemas.openxmlformats.org/drawingml/2006/main">
            <a:pPr algn="l">
              <a:defRPr sz="1425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Early shocks matter because they change future exposure and future updating opportunities.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479B6-F9B4-4045-8CF6-31CEAC25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90700"/>
            <a:ext cx="478155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DCE8E4"/>
          </a:solidFill>
          <a:ln xmlns:a="http://schemas.openxmlformats.org/drawingml/2006/main" w="9525">
            <a:solidFill>
              <a:srgbClr val="355F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DDFF2-587D-436D-BBA8-6E31D01D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621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Parameters that matter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ABC0A-BD8D-43DF-9BD2-E7535C32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05050"/>
            <a:ext cx="436245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theta_AI^- : negative weight on AI error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theta_H^- : negative weight on human error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eta : generic switching cost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lambda : choice sensitivity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delta : counterfactual learning weight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phi and rho : persistence of prior 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C68F7-78A3-4A41-9121-3F68C0ED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53100"/>
            <a:ext cx="81153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8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D0CF8-0C55-4DCB-AB69-B292E708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959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F5B3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F5B35"/>
                </a:solidFill>
                <a:latin typeface="Aptos"/>
                <a:ea typeface="Aptos"/>
                <a:cs typeface="Aptos"/>
              </a:rPr>
              <a:t>Strong empirical signature: theta_AI^- &lt; theta_H^- &lt; 0, and |theta_AI^-| &gt; theta_AI^+.</a:t>
            </a:r>
          </a:p>
        </p:txBody>
      </p:sp>
    </p:spTree>
    <p:extLst>
      <p:ext uri="{BB962C8B-B14F-4D97-AF65-F5344CB8AC3E}">
        <p14:creationId xmlns:p14="http://schemas.microsoft.com/office/powerpoint/2010/main" val="2940422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691E27-1AB7-46CD-A911-911D3C55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B248D-0CE8-4B59-B27C-49C4D971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5B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5B35"/>
                </a:solidFill>
                <a:latin typeface="Aptos"/>
                <a:ea typeface="Aptos"/>
                <a:cs typeface="Aptos"/>
              </a:rPr>
              <a:t>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A9CBD-1F7C-4715-B46C-CB52C89B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33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1B543-DC91-49CB-B5F4-68735F4A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F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91C49-557F-4808-AADC-6B17DA74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Expected Contributions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55411-1DC8-4E9F-8B83-802E56A9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从态度逻辑推进到结构逻辑，从短期惩罚推进到长期锁定。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9FF4F-D387-432E-B841-877B2D8B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572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188FA-6530-4DCE-A3E8-A8D77B7B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Theory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934F0-5693-443E-AEF1-20541D13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152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From trust/adoption to architecture learning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From capability learning to role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3F020-AB74-4250-B2FD-C259890D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572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CE8E4"/>
          </a:solidFill>
          <a:ln xmlns:a="http://schemas.openxmlformats.org/drawingml/2006/main" w="9525">
            <a:solidFill>
              <a:srgbClr val="355F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73EED-CC8D-4043-8A05-034B10FD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Mechanism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AFD7E-5B1B-425D-8425-D09A6B24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4152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AI error as boundary-redrawing event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Asymmetric updating -&gt; path dependence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22786-C795-4BD8-BBE6-4706CB04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72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4C022-BF84-4A53-A645-D20CEB5C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B1BDC-5A62-441F-8B33-10EF4DDF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4152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Repeated architecture choice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Same means, different paths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5700F-A56A-46B2-90D2-7CFCD42D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572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CE8E4"/>
          </a:solidFill>
          <a:ln xmlns:a="http://schemas.openxmlformats.org/drawingml/2006/main" w="9525">
            <a:solidFill>
              <a:srgbClr val="355F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F9DE2-0FDD-432A-98BB-F5713FA8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7670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0E80E-87B0-457D-892D-458FD654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9600"/>
            <a:ext cx="4152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From performance audit to architecture audit</a:t>
            </a:r>
          </a:p>
          <a:p xmlns:a="http://schemas.openxmlformats.org/drawingml/2006/main">
            <a:pPr marL="22" indent="-12">
              <a:spcAft>
                <a:spcPts val="7"/>
              </a:spcAft>
              <a:buChar char="•"/>
              <a:defRPr sz="135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13245"/>
                </a:solidFill>
                <a:latin typeface="Aptos"/>
                <a:ea typeface="Aptos"/>
                <a:cs typeface="Aptos"/>
              </a:rPr>
              <a:t>From rollout to recovery design</a:t>
            </a:r>
          </a:p>
        </p:txBody>
      </p:sp>
    </p:spTree>
    <p:extLst>
      <p:ext uri="{BB962C8B-B14F-4D97-AF65-F5344CB8AC3E}">
        <p14:creationId xmlns:p14="http://schemas.microsoft.com/office/powerpoint/2010/main" val="8294064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B578A2-945A-4ADE-8E60-46FA4672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12D83-9241-460C-913F-28BE8876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5B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5B35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E75A3-9868-4819-A6B9-6BC1D34D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33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CA873-2D3D-4301-ACF5-C20B637D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F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B525F-00CF-484D-B8D8-81E7930F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Governance Implication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006E7-E03E-4F63-8EE3-E70FF89C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治理真正要管理的，不只是性能，而是协作架构如何形成、如何锁定、又如何恢复。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76809-1F3C-4D8C-B6C2-FD2D72F2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238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2D067-2513-4E9F-8B14-CCB5747F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1  Early deployment is institution 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1149B-E473-42FD-84F8-A6B098BE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部署初期不是普通磨合期，而是角色边界开始被学习的阶段。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11AE3-289A-46CE-8FD1-A950EF82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3238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0E3C4-B4AC-48A2-AB0B-FE9A05E5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2  Reversible delegation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4A558-4581-4C9E-BD17-7DB96A40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4325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如果边界一旦下移就很难恢复，治理就必须保留可逆授权与重新暴露机会。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42272-3DF8-4BE1-8108-FD62A989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38350"/>
            <a:ext cx="3238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0DD58-D205-475E-B996-5D3A46B7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233F"/>
                </a:solidFill>
                <a:latin typeface="Georgia"/>
                <a:ea typeface="Georgia"/>
                <a:cs typeface="Georgia"/>
              </a:rPr>
              <a:t>3  Audit the path, not only the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443F8-E99B-48C5-B15C-6BD30265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32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13245"/>
                </a:solidFill>
                <a:latin typeface="Aptos"/>
                <a:ea typeface="Aptos"/>
                <a:cs typeface="Aptos"/>
              </a:rPr>
              <a:t>平均准确率高，不代表组织没有把 AI 学成一个长期低权限角色。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D24CB-EC1F-4B1E-9047-DF1056F5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24400"/>
            <a:ext cx="9144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D8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84280-2771-411B-9A3E-D6DC81E3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48250"/>
            <a:ext cx="834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F5B3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F5B35"/>
                </a:solidFill>
                <a:latin typeface="Georgia"/>
                <a:ea typeface="Georgia"/>
                <a:cs typeface="Georgia"/>
              </a:rPr>
              <a:t>The real governance question is not only whether AI is strong, but what kind of role the organization will learn to give it.</a:t>
            </a:r>
          </a:p>
        </p:txBody>
      </p:sp>
    </p:spTree>
    <p:extLst>
      <p:ext uri="{BB962C8B-B14F-4D97-AF65-F5344CB8AC3E}">
        <p14:creationId xmlns:p14="http://schemas.microsoft.com/office/powerpoint/2010/main" val="570315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2026-06-22T09:37:02.8420000Z</dcterms:created>
  <dcterms:modified xsi:type="dcterms:W3CDTF">2026-06-22T09:37:02.8420000Z</dcterms:modified>
</coreProperties>
</file>