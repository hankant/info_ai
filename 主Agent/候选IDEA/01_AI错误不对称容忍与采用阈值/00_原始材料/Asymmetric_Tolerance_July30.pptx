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17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[morning/afternoon]. The paper I want to present today is called Asymmetric Tolerance — a behavioural theory of AI adoption and regulation. I have twenty minutes. I will spend a third on the model, a third on the evidence, and the last third on what follows for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motivating anomalies. In each row, the same substantive activity — driving, diagnosis, hiring — attracts different institutional attention depending on whether AI or a human is performing it. AVs: one 2018 fatality generates Congressional hearings; forty thousand annual driver-attributed deaths generate no comparable response. Medical: over a thousand AI-enabled devices go through pre-market FDA review; clinicians performing equivalent tasks operate under post-market liability. Hiring: New York, EU, UK have moved to AI-specific frameworks; twenty-five years of correspondence-experiment evidence on human hiring discrimination attracts no equivalent scrutiny. Systematic, cross-jurisdictional, patterned by domain — existing theories do not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existing theory does not explain these patterns. Adoption theory in the Rogers tradition treats the human incumbent symmetrically. Risk regulation theory explains cross-jurisdictional variation, but the human counterfactual enters as exogenous. Algorithm aversion has documented the individual-level phenomenon experimentally, but as a psychology-of-judgement finding on low-stakes lab tasks, not as a governance parameter. My contribution: bridge these three by developing the parameter and specifying its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setup. A principal selects between a human and an AI agent to perform a task. Errors generate a loss L that is source-independent by assumption. Rule (1) at bottom left: adopt AI when the error-rate differential exceeds the normalised cost differential. Errors enter symmetrically — the rational benchmark. Five assumptions on the right. A1 is load-bearing: source-independent loss defines what rational means; I return to this in limitations. The other four are simplifying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departure from the rational benchmark. Human errors carry weight L; AI errors carry weight (1+α)L, where α is the asymmetric tolerance parameter. When α is zero we recover the rational rule. When α is positive AI errors are perceived as more costly than equivalent human errors. Three notes on the form. First: multiplicative mirrors prospect theory's lambda — the framing lands with economists, and gives the central non-obvious prediction that distortion scales with stakes. Second: α is a source-dependent evaluation weight, not preference, technology attribute, or miscalibrated trust. Third: α is reduced-form, measured across stakeholder types and moderator conditions. To fix intuition: α = 0.5 means AI errors are perceived as fifty percent more costly than human errors of the same objective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result. Under the rational benchmark, the maximum AI error rate at which adoption is efficient is eₐ-star. Under asymmetric tolerance, the perceived threshold is eₐ-star divided by one plus α. The distortion is multiplicative in eₐ-star, so it scales with stakes. On the right — number line from zero to eight percent error. AI system at four percent; rational threshold at six. Under the rational rule AI is adopted. At α = 0.5 the perceived threshold moves down to four — indifference rather than clear adoption. At α = 1 the perceived threshold is three, and AI fails despite outperforming. Magnitudes at moderate α consistent with the algorithm aversion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CS2: for a regulator facing αᴿ, the permitted AI error ceiling equals the implicit human-tolerance rate divided by one plus αᴿ. Direct empirical anchors on the left. CS3: stakeholder heterogeneity in α. Empirical hypothesis is that regulators and incumbent professionals exhibit larger α than the public and managers. Distinct implication: governance more restrictive than the represented public would prefer, at the same objective error rates. This is a democratic-alignment claim distinct from standard accountability and capture concerns — it does not require organised-interest response, only that stakeholders setting standards exhibit systematically larger α than the population whose welfare governance is meant to protect.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moderators. CS4: visibility. AI errors highly aggregable; human errors diffuse. Prediction: domains with high AI-error visibility relative to human — AVs, content moderation — exhibit the largest distortions. CS5: salience. When the counterfactual is implicit, AI errors evaluated against a perfectionist implicit standard. When made vivid, perceived asymmetry diminishes. Both an experimental prediction and a policy-design handle. Cross-domain variation in v and s provides the identification variation for the empirical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calibration table. Stakes highest for AVs and medical, intermediate hiring, contested moderation. Visibility high across all four. Salience varies most: lowest AVs, intermediate medical, highest hiring, low-intermediate moderation. Predicted ordering follows: AVs largest, medical and moderation intermediate, hiring smallest.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Theoretical contribution. Not a replacement but a behavioural augmentation for the AI case. Three features. Source-specific: attaches to AI as the agent, not technology characteristics that learning would resolve — distinct from trust-in-automation, which treats miscalibrated reliance as correctable by exposure. Consequential at threshold: level effect, not rate effect. Stakeholder-heterogeneous: aggregation across types generates governance outcomes standard frameworks do not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implications, conditional on α &gt; 0. Benchmarking: frameworks calibrated against absolute rather than human-counterfactual standards systematically over-regulate; the scaling with stakes is the key. Not for abandoning floors — minimum floors have legitimate functions — but for reference standards that include the substitution counterfactual. Democratic alignment: stakeholder heterogeneity in α produces measurable misalignment; distinct from accountability and capture. Intervention design: counterfactual salience is a policy handle; explicit-comparison requirements attenuate the distortion. Most actionable of the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Asymmetric Tolerance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behavioural theory of AI adoption and regulation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3200400" cy="0"/>
          </a:xfrm>
          <a:prstGeom prst="line">
            <a:avLst/>
          </a:prstGeom>
          <a:noFill/>
          <a:ln w="15875">
            <a:solidFill>
              <a:srgbClr val="6E1E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9998" y="48691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 </a:t>
            </a:r>
            <a:r>
              <a:rPr lang="en-US" sz="20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Wu,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Hong Kong University of Science and Technology (Guangzhou)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Yvonne Chen, Asian Development Bank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Ching Leong, National University of Singapore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anomalies existing theory does not predict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AI-attributed activity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Human-attributed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2018 AV fatality → Congressional hearings, multi-firm testing suspensions, federal recalibration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560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40,901 driver-attributed US fatalities in 2023 → no comparable institutional response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diagnosis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 FDA-authorised AI/ML devices under pre-market review since 1995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840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Clinicians performing equivalent diagnostic tasks operate under post-market liability alone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6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hiring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1206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 LL144, EU AI Act, UK ICO — mandatory audits, disclosure, opt-out for AI tools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51206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years of correspondence-experiment evidence on human hiring bias — no equivalent regime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literatures — none provides the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EXPLAIN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adoption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Rogers 2003; Davis 1989;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Venkatesh et al. 2003, 2022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22402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advantage, compatibility, complexity, social influence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46720" y="22402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Source-dependent error weighting; human counterfactual enters symmetrically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regulation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Vogel 2003; Jasanoff 2005;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Renn 2008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3566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Cross-jurisdictional variation via institutions and civic epistemologies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35661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 as moving comparison point; substitution vs baseline of inaction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aversion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Dietvorst, Simmons &amp; Massey 2015;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Longoni et al. 2019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48920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Individual-level asymmetric judgement of algorithmic errors, in the lab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Consequences for adoption, regulation, and welfare at institutional scale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0080" y="608076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principal (manager, regulator, or end-user) selects a human agent H or an AI system 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eₕ, eₐ ∈ [0, 1]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0896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error rates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&gt; 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from an error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cₕ, cₐ ≥ 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08960" y="3931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costs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Cⱼ  =  eⱼ L + cⱼ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8960" y="4389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total cost, agent j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eₕ  −  eₐ   &gt;   (cₐ − cₕ) / 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rational adoption rule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1691640"/>
            <a:ext cx="0" cy="457200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7512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assumptions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103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23760" y="2103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Source-independent loss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24871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Lₕ = Lₐ = L.  Defines the rational benchmark.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2971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neutrality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23760" y="3355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minimises expected loss.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3840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3840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errors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42245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are independent draws.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0" y="4709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23760" y="47091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Costless evaluation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23760" y="50932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observes eₕ, eₐ accurately.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5577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5577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Single-period decision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23760" y="5961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selection; no dynamics.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behavioural departure: a source-dependent weight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losses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L̃ₕ  =  L                L̃ₐ  =  (1 + α) 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≥ 0    the asymmetric tolerance parameter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eₕ  −  (1 + α) eₐ   &gt;   (cₐ − cₕ) / 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perceived adoption rule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4526280"/>
            <a:ext cx="758952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threshold distortion scales with stakes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 and perceived thresholds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eₐ*  =  eₕ  −  (cₐ − cₕ) / 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ẽₐ  =  eₐ* / (1 + α)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eₐ* − ẽₐ  =  eₐ* · [α / (1 + α)]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5257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Multiplicative in eₐ* — scales with 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0" cy="457200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122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illustration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diagnosis, eₕ = 0.06, cost differential ≈ 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3840480"/>
            <a:ext cx="475488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12280" y="3840480"/>
            <a:ext cx="0" cy="7315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3840480"/>
            <a:ext cx="0" cy="7315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89720" y="3840480"/>
            <a:ext cx="0" cy="7315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1540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78440" y="3840480"/>
            <a:ext cx="0" cy="7315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0412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567160" y="3840480"/>
            <a:ext cx="0" cy="73152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29284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3566160"/>
            <a:ext cx="0" cy="27432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95360" y="2971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eₐ = .04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378440" y="3840480"/>
            <a:ext cx="0" cy="457200"/>
          </a:xfrm>
          <a:prstGeom prst="line">
            <a:avLst/>
          </a:prstGeom>
          <a:noFill/>
          <a:ln w="15875">
            <a:solidFill>
              <a:srgbClr val="1A1A1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784080" y="4343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eₐ* = .06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84080" y="4617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89720" y="3291840"/>
            <a:ext cx="0" cy="274320"/>
          </a:xfrm>
          <a:prstGeom prst="line">
            <a:avLst/>
          </a:prstGeom>
          <a:noFill/>
          <a:ln w="19050">
            <a:solidFill>
              <a:srgbClr val="6E1E2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75320" y="2560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ẽₐ (α=0.5) = .04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95360" y="3840480"/>
            <a:ext cx="0" cy="457200"/>
          </a:xfrm>
          <a:prstGeom prst="line">
            <a:avLst/>
          </a:prstGeom>
          <a:noFill/>
          <a:ln w="19050">
            <a:solidFill>
              <a:srgbClr val="6E1E2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8096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ẽₐ (α=1) = .03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5029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error rate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12280" y="53492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α = 0.5 an AI system with 20% lower error sits at the perceived threshold.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α = 1 it fails the test despite outperforming.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stringency and stakeholder heterogeneity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CS2   Regulatory stringency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regulator with parameter αᴿ, permitted AI error ceiling: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ēₐ  =  ēₕ / (1 + αᴿ)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2788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53949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bites in existing frameworks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EU AI Act — risk tiered by AI capability, not net-of-substitution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FDA — pre-market review for AI, post-market liability for clinicians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NYC Local Law 144 — bias audit for AI hiring, none for human screening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0" cy="457200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CS3   Stakeholder heterogeneity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empirical hypothesis: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697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α_regulator&gt;  α_public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98480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566160"/>
            <a:ext cx="502920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1148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democratic-alignment gap</a:t>
            </a: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governance more restrictive than the represented public would prefer at the same objective error rates.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moderators of 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CS4   Error visibility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 =  α(v),      α′(v)  &gt;  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errors are aggregable, statistically characterisable, and traceable. Human errors are diffuse, individually attributed, rarely aggregated.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8006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Domains where AI-error visibility is high relative to human — AVs, content moderation — exhibit the largest distortions.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0" cy="457200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CS5   Counterfactual salience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 =  α(s),      α′(s)  &lt;  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0" y="292608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human counterfactual is </a:t>
            </a: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</a:t>
            </a: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AI errors are evaluated against a perfectionist standard. When </a:t>
            </a: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vivid</a:t>
            </a: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through recent failures, aggregate statistics, or explicit comparison — the perceived asymmetry diminishes.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domains vary systematically on the moderators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17520" y="1691640"/>
            <a:ext cx="21259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43500" y="1691640"/>
            <a:ext cx="21259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AI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69480" y="1691640"/>
            <a:ext cx="21259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8813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Stakes  (L)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251460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$13.2M VSL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fatality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89220" y="251460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high; largest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time-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cancers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moderate; per-hire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discrimination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 (v)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63240" y="333756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high: sensor logs,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reporting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89220" y="333756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high: aggregable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summaries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33756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high: mandatory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audits under LL144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Salience  (s)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63240" y="416052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40,901 deaths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rarely cited in AV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9220" y="416052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intermediate: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medical-error lit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partially salient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416052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25 yrs of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498348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731520" y="4983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</a:t>
            </a:r>
            <a:endParaRPr lang="en-US" sz="1600" dirty="0"/>
          </a:p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063240" y="498348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89220" y="498348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(attenuated)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4983480"/>
            <a:ext cx="20345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(further attenuated)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640080" y="5824728"/>
            <a:ext cx="1088136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ordering:  AVs  &gt;  medical  &gt;  hiring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behavioural augmentation of adoption theory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does not replace adoption theory.  It identifies a bias specific to AI as the entrant and specifies its consequences for the </a:t>
            </a:r>
            <a:r>
              <a:rPr lang="en-US" sz="1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threshold itself</a:t>
            </a:r>
            <a:r>
              <a:rPr lang="en-US" sz="1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Source-specific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Attaches to AI as the agent, not to characteristics of the technology that learning would resolve.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 from trust-in-automation (Lee &amp; See 2004), which treats miscalibrated reliance as correctable by exposure.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Consequential at threshold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34290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not merely slow diffusion through learning curves or social influence.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49377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Raises the level of relative advantage required for adoption — a level effect, not a rate effect.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Stakeholder-heterogeneous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0" y="34290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Regulators, incumbents, managers, and end-users differ systematically in α.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49377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 across stakeholders generates governance outcomes the standard frameworks do not predict.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governance implications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6350">
            <a:solidFill>
              <a:srgbClr val="C8C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53288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calibrated against absolute rather than human-counterfactual standards systematically over-regulate; over-regulation scales with stakes.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566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Democratic alignment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95020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heterogeneity in α produces measurable misalignment between governance and represented public preferences.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4983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E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983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design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53675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 salience is a policy handle: explicit-comparison requirements attenuate the distortion through design choices internal to the regulatory process.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2167</Words>
  <Application>Microsoft Office PowerPoint</Application>
  <PresentationFormat>Widescreen</PresentationFormat>
  <Paragraphs>214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Tolerance</dc:title>
  <dc:subject>PptxGenJS Presentation</dc:subject>
  <dc:creator>PptxGenJS</dc:creator>
  <cp:lastModifiedBy>Xun WU</cp:lastModifiedBy>
  <cp:revision>5</cp:revision>
  <dcterms:created xsi:type="dcterms:W3CDTF">2026-07-29T14:44:19Z</dcterms:created>
  <dcterms:modified xsi:type="dcterms:W3CDTF">2026-07-30T05:46:56Z</dcterms:modified>
</cp:coreProperties>
</file>