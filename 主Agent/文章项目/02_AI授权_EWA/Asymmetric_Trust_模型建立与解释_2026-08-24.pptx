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34b6a9b21944df" /><Relationship Type="http://schemas.openxmlformats.org/officeDocument/2006/relationships/extended-properties" Target="/docProps/app.xml" Id="R63bc4e20900e4975" /><Relationship Type="http://schemas.openxmlformats.org/officeDocument/2006/relationships/officeDocument" Target="/ppt/presentation.xml" Id="Rf748a84e4e3c4b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8812772eab4912"/>
  </p:sldMasterIdLst>
  <p:notesMasterIdLst>
    <p:notesMasterId xmlns:r="http://schemas.openxmlformats.org/officeDocument/2006/relationships" r:id="R0b58ee09c4f14b2c"/>
  </p:notesMasterIdLst>
  <p:sldIdLst>
    <p:sldId xmlns:r="http://schemas.openxmlformats.org/officeDocument/2006/relationships" id="256" r:id="R503b18c927474e18"/>
    <p:sldId xmlns:r="http://schemas.openxmlformats.org/officeDocument/2006/relationships" id="257" r:id="Rcfaea7b7ab544ed0"/>
    <p:sldId xmlns:r="http://schemas.openxmlformats.org/officeDocument/2006/relationships" id="258" r:id="Rbef73f06ad0d4b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30dda513634816" /><Relationship Type="http://schemas.openxmlformats.org/officeDocument/2006/relationships/slideMaster" Target="/ppt/slideMasters/slideMaster1.xml" Id="R578812772eab4912" /><Relationship Type="http://schemas.openxmlformats.org/officeDocument/2006/relationships/notesMaster" Target="/ppt/notesMasters/notesMaster1.xml" Id="R0b58ee09c4f14b2c" /><Relationship Type="http://schemas.openxmlformats.org/officeDocument/2006/relationships/presProps" Target="/ppt/presProps.xml" Id="R1e5834a427fd4d31" /><Relationship Type="http://schemas.openxmlformats.org/officeDocument/2006/relationships/tableStyles" Target="/ppt/tableStyles.xml" Id="Rdb7af5888ed74aad" /><Relationship Type="http://schemas.openxmlformats.org/officeDocument/2006/relationships/slide" Target="/ppt/slides/slide1.xml" Id="R503b18c927474e18" /><Relationship Type="http://schemas.openxmlformats.org/officeDocument/2006/relationships/slide" Target="/ppt/slides/slide2.xml" Id="Rcfaea7b7ab544ed0" /><Relationship Type="http://schemas.openxmlformats.org/officeDocument/2006/relationships/slide" Target="/ppt/slides/slide3.xml" Id="Rbef73f06ad0d4b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1bd7e80e2a45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490a6aca2c49ee" /><Relationship Type="http://schemas.openxmlformats.org/officeDocument/2006/relationships/notesMaster" Target="/ppt/notesMasters/notesMaster1.xml" Id="R35bdc0404adf44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947774a3484c63" /><Relationship Type="http://schemas.openxmlformats.org/officeDocument/2006/relationships/notesMaster" Target="/ppt/notesMasters/notesMaster1.xml" Id="R1e4fb7e640e044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c588a7ddf741cd" /><Relationship Type="http://schemas.openxmlformats.org/officeDocument/2006/relationships/notesMaster" Target="/ppt/notesMasters/notesMaster1.xml" Id="Ra77958511ba549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本页先给出不包含心理变量的理性采用基准。</a:t>
            </a:r>
          </a:p>
          <a:p xmlns:a="http://schemas.openxmlformats.org/drawingml/2006/main">
            <a:r>
              <a:t>A1–A5 是模型维持条件，不是关于 alpha 正负方向的研究假设。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RP_Asymmetric_Trust_正式稿_2026-08-23.md, Sections 8.1–8.2.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本页从理性基准进入行为偏离。</a:t>
            </a:r>
          </a:p>
          <a:p xmlns:a="http://schemas.openxmlformats.org/drawingml/2006/main">
            <a:r>
              <a:t>alpha 允许正、零、负三个方向，因此同一模型可同时表示 excess tolerance、source-neutral weighting 与 excess intolerance。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RP_Asymmetric_Trust_正式稿_2026-08-23.md, Section 8.3.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本页把客观变量、心理变量与行为结果分开。</a:t>
            </a:r>
          </a:p>
          <a:p xmlns:a="http://schemas.openxmlformats.org/drawingml/2006/main">
            <a:r>
              <a:t>Perceived task accuracy 用来检查参与者是否准确理解绩效信息；它不等于 perceived trustworthiness。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RP_Asymmetric_Trust_正式稿_2026-08-23.md, Sections 6.3 and 8.4–8.5.</a:t>
            </a:r>
          </a:p>
          <a:p xmlns:a="http://schemas.openxmlformats.org/drawingml/2006/main">
            <a:r>
              <a:t>- Everett, J. A. C., Claessens, S., Knöchel, T.-D., &amp; Reinecke, M. G. (2026). Principles for understanding trust in artificial intelligence. Nature Reviews Psychology, 5, 388–401.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192db964745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71b07a2b58465f" /><Relationship Type="http://schemas.openxmlformats.org/officeDocument/2006/relationships/slideLayout" Target="/ppt/slideLayouts/slideLayout1.xml" Id="Rea019c368a1e4f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019c368a1e4f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b276614ea4157" /><Relationship Type="http://schemas.openxmlformats.org/officeDocument/2006/relationships/notesSlide" Target="/ppt/notesSlides/notesSlide1.xml" Id="Rfc213bdc535646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2c485fbf84a0f" /><Relationship Type="http://schemas.openxmlformats.org/officeDocument/2006/relationships/notesSlide" Target="/ppt/notesSlides/notesSlide2.xml" Id="Rf51cb98f429945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1b3134b7b4c1d" /><Relationship Type="http://schemas.openxmlformats.org/officeDocument/2006/relationships/notesSlide" Target="/ppt/notesSlides/notesSlide3.xml" Id="R676ec9b9f74f4a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DA64EDB3-BA4F-4685-9663-8A80FB59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5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5B67"/>
                </a:solidFill>
                <a:latin typeface="Microsoft YaHei"/>
                <a:ea typeface="Microsoft YaHei"/>
                <a:cs typeface="Microsoft YaHei"/>
              </a:rPr>
              <a:t>ASYMMETRIC TRUST · MODEL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C56404-6CF3-434D-A622-9538BDFE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rPr>
              <a:t>模型建立：理性采用基准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C9A7166-1207-4E2D-8CF8-6ED5995C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D9822B"/>
            </a:solidFill>
            <a:prstDash val="solid"/>
          </a:ln>
        </p:spPr>
      </p:sp>
      <p:sp>
        <p:nvSpPr>
          <p:cNvPr id="4" name="left-header">
            <a:extLst xmlns:a="http://schemas.openxmlformats.org/drawingml/2006/main">
              <a:ext uri="{FF2B5EF4-FFF2-40B4-BE49-F238E27FC236}">
                <a16:creationId xmlns:a16="http://schemas.microsoft.com/office/drawing/2014/main" id="{C4487D0E-45DA-493E-8C44-D0CF6A9C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5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E5B67"/>
                </a:solidFill>
                <a:latin typeface="Microsoft YaHei"/>
                <a:ea typeface="Microsoft YaHei"/>
                <a:cs typeface="Microsoft YaHei"/>
              </a:rPr>
              <a:t>Rational adoption rule</a:t>
            </a:r>
          </a:p>
        </p:txBody>
      </p:sp>
      <p:sp>
        <p:nvSpPr>
          <p:cNvPr id="5" name="left-intro">
            <a:extLst xmlns:a="http://schemas.openxmlformats.org/drawingml/2006/main">
              <a:ext uri="{FF2B5EF4-FFF2-40B4-BE49-F238E27FC236}">
                <a16:creationId xmlns:a16="http://schemas.microsoft.com/office/drawing/2014/main" id="{E12AF108-18EA-456E-9320-2F98410F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53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rPr>
              <a:t>决策者在完成同一任务的 Human（H）与 AI（A）之间选择。</a:t>
            </a:r>
          </a:p>
        </p:txBody>
      </p:sp>
      <p:sp>
        <p:nvSpPr>
          <p:cNvPr id="6" name="notation-band">
            <a:extLst xmlns:a="http://schemas.openxmlformats.org/drawingml/2006/main">
              <a:ext uri="{FF2B5EF4-FFF2-40B4-BE49-F238E27FC236}">
                <a16:creationId xmlns:a16="http://schemas.microsoft.com/office/drawing/2014/main" id="{5585734B-1C88-4776-913C-AAB624C2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49530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DE2E6"/>
            </a:solidFill>
            <a:prstDash val="solid"/>
          </a:ln>
        </p:spPr>
      </p:sp>
      <p:sp>
        <p:nvSpPr>
          <p:cNvPr id="7" name="notation-q">
            <a:extLst xmlns:a="http://schemas.openxmlformats.org/drawingml/2006/main">
              <a:ext uri="{FF2B5EF4-FFF2-40B4-BE49-F238E27FC236}">
                <a16:creationId xmlns:a16="http://schemas.microsoft.com/office/drawing/2014/main" id="{52D44665-2D5B-48DE-A190-37C84EB0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5B67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>
                <a:solidFill>
                  <a:srgbClr val="0E5B67"/>
                </a:solidFill>
                <a:latin typeface="Cambria Math"/>
                <a:ea typeface="Cambria Math"/>
                <a:cs typeface="Cambria Math"/>
              </a:rPr>
              <a:t>qₐ, qₕ</a:t>
            </a:r>
          </a:p>
        </p:txBody>
      </p:sp>
      <p:sp>
        <p:nvSpPr>
          <p:cNvPr id="8" name="notation-q-desc">
            <a:extLst xmlns:a="http://schemas.openxmlformats.org/drawingml/2006/main">
              <a:ext uri="{FF2B5EF4-FFF2-40B4-BE49-F238E27FC236}">
                <a16:creationId xmlns:a16="http://schemas.microsoft.com/office/drawing/2014/main" id="{2E73613B-B91F-4F00-A92B-5D9C2967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813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262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32629"/>
                </a:solidFill>
                <a:latin typeface="Aptos"/>
                <a:ea typeface="Aptos"/>
                <a:cs typeface="Aptos"/>
              </a:rPr>
              <a:t>objective task accuracy</a:t>
            </a:r>
          </a:p>
        </p:txBody>
      </p:sp>
      <p:sp>
        <p:nvSpPr>
          <p:cNvPr id="9" name="notation-e">
            <a:extLst xmlns:a="http://schemas.openxmlformats.org/drawingml/2006/main">
              <a:ext uri="{FF2B5EF4-FFF2-40B4-BE49-F238E27FC236}">
                <a16:creationId xmlns:a16="http://schemas.microsoft.com/office/drawing/2014/main" id="{077566C5-D92B-4C16-8413-4C48E35C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32629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232629"/>
                </a:solidFill>
                <a:latin typeface="Cambria Math"/>
                <a:ea typeface="Cambria Math"/>
                <a:cs typeface="Cambria Math"/>
              </a:rPr>
              <a:t>eₐ = 1 − qₐ     eₕ = 1 − qₕ</a:t>
            </a:r>
          </a:p>
        </p:txBody>
      </p:sp>
      <p:sp>
        <p:nvSpPr>
          <p:cNvPr id="10" name="cost-label">
            <a:extLst xmlns:a="http://schemas.openxmlformats.org/drawingml/2006/main">
              <a:ext uri="{FF2B5EF4-FFF2-40B4-BE49-F238E27FC236}">
                <a16:creationId xmlns:a16="http://schemas.microsoft.com/office/drawing/2014/main" id="{C7EC7144-5C16-460D-B372-FE582CBC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46A7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6A70"/>
                </a:solidFill>
                <a:latin typeface="Aptos"/>
                <a:ea typeface="Aptos"/>
                <a:cs typeface="Aptos"/>
              </a:rPr>
              <a:t>Expected total cost</a:t>
            </a:r>
          </a:p>
        </p:txBody>
      </p:sp>
      <p:sp>
        <p:nvSpPr>
          <p:cNvPr id="11" name="cost-formula">
            <a:extLst xmlns:a="http://schemas.openxmlformats.org/drawingml/2006/main">
              <a:ext uri="{FF2B5EF4-FFF2-40B4-BE49-F238E27FC236}">
                <a16:creationId xmlns:a16="http://schemas.microsoft.com/office/drawing/2014/main" id="{EC4FD6DC-55C1-4C7A-AEC7-248B1165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32629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>
                <a:solidFill>
                  <a:srgbClr val="232629"/>
                </a:solidFill>
                <a:latin typeface="Cambria Math"/>
                <a:ea typeface="Cambria Math"/>
                <a:cs typeface="Cambria Math"/>
              </a:rPr>
              <a:t>Cⱼ = eⱼL + cⱼ     (j ∈ {h, a})</a:t>
            </a:r>
          </a:p>
        </p:txBody>
      </p:sp>
      <p:sp>
        <p:nvSpPr>
          <p:cNvPr id="12" name="choice-rule">
            <a:extLst xmlns:a="http://schemas.openxmlformats.org/drawingml/2006/main">
              <a:ext uri="{FF2B5EF4-FFF2-40B4-BE49-F238E27FC236}">
                <a16:creationId xmlns:a16="http://schemas.microsoft.com/office/drawing/2014/main" id="{BE0BFCA3-D0F0-44A0-BDC9-7EAC2A5E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4953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3F4"/>
          </a:solidFill>
          <a:ln xmlns:a="http://schemas.openxmlformats.org/drawingml/2006/main" w="9525">
            <a:solidFill>
              <a:srgbClr val="0E5B67"/>
            </a:solidFill>
            <a:prstDash val="solid"/>
          </a:ln>
        </p:spPr>
      </p:sp>
      <p:sp>
        <p:nvSpPr>
          <p:cNvPr id="13" name="choice-rule-label">
            <a:extLst xmlns:a="http://schemas.openxmlformats.org/drawingml/2006/main">
              <a:ext uri="{FF2B5EF4-FFF2-40B4-BE49-F238E27FC236}">
                <a16:creationId xmlns:a16="http://schemas.microsoft.com/office/drawing/2014/main" id="{AFEC30CC-7D7A-49C6-96A1-1A378EC2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5B6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5B67"/>
                </a:solidFill>
                <a:latin typeface="Aptos"/>
                <a:ea typeface="Aptos"/>
                <a:cs typeface="Aptos"/>
              </a:rPr>
              <a:t>Choose AI iff</a:t>
            </a:r>
          </a:p>
        </p:txBody>
      </p:sp>
      <p:sp>
        <p:nvSpPr>
          <p:cNvPr id="14" name="choice-rule-formula">
            <a:extLst xmlns:a="http://schemas.openxmlformats.org/drawingml/2006/main">
              <a:ext uri="{FF2B5EF4-FFF2-40B4-BE49-F238E27FC236}">
                <a16:creationId xmlns:a16="http://schemas.microsoft.com/office/drawing/2014/main" id="{6A900A0F-9DE8-4EC7-B5AB-13C52782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530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2629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>
                <a:solidFill>
                  <a:srgbClr val="232629"/>
                </a:solidFill>
                <a:latin typeface="Cambria Math"/>
                <a:ea typeface="Cambria Math"/>
                <a:cs typeface="Cambria Math"/>
              </a:rPr>
              <a:t>eₕ − eₐ  &gt;  (cₐ − cₕ) / L</a:t>
            </a:r>
          </a:p>
        </p:txBody>
      </p:sp>
      <p:sp>
        <p:nvSpPr>
          <p:cNvPr id="15" name="benchmark-note">
            <a:extLst xmlns:a="http://schemas.openxmlformats.org/drawingml/2006/main">
              <a:ext uri="{FF2B5EF4-FFF2-40B4-BE49-F238E27FC236}">
                <a16:creationId xmlns:a16="http://schemas.microsoft.com/office/drawing/2014/main" id="{F9F047E6-AC15-4452-9A70-414040EF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rPr>
              <a:t>基准含义：选择预期总成本更低的来源。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1CC10EEF-66E5-4ACA-B3BA-4846335D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9525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6"/>
          </a:solidFill>
          <a:ln xmlns:a="http://schemas.openxmlformats.org/drawingml/2006/main" w="0">
            <a:solidFill>
              <a:srgbClr val="DDE2E6"/>
            </a:solidFill>
            <a:prstDash val="solid"/>
          </a:ln>
        </p:spPr>
      </p:sp>
      <p:sp>
        <p:nvSpPr>
          <p:cNvPr id="17" name="right-header">
            <a:extLst xmlns:a="http://schemas.openxmlformats.org/drawingml/2006/main">
              <a:ext uri="{FF2B5EF4-FFF2-40B4-BE49-F238E27FC236}">
                <a16:creationId xmlns:a16="http://schemas.microsoft.com/office/drawing/2014/main" id="{51CE89C4-080C-46AE-98E9-0863F17F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5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E5B67"/>
                </a:solidFill>
                <a:latin typeface="Microsoft YaHei"/>
                <a:ea typeface="Microsoft YaHei"/>
                <a:cs typeface="Microsoft YaHei"/>
              </a:rPr>
              <a:t>Model assumptions</a:t>
            </a:r>
          </a:p>
        </p:txBody>
      </p:sp>
      <p:sp>
        <p:nvSpPr>
          <p:cNvPr id="18" name="a1-dot">
            <a:extLst xmlns:a="http://schemas.openxmlformats.org/drawingml/2006/main">
              <a:ext uri="{FF2B5EF4-FFF2-40B4-BE49-F238E27FC236}">
                <a16:creationId xmlns:a16="http://schemas.microsoft.com/office/drawing/2014/main" id="{11B1BB54-BA68-48B8-BB35-013BAA9A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193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D9822B"/>
            </a:solidFill>
            <a:prstDash val="solid"/>
          </a:ln>
        </p:spPr>
      </p:sp>
      <p:sp>
        <p:nvSpPr>
          <p:cNvPr id="19" name="a1-tag">
            <a:extLst xmlns:a="http://schemas.openxmlformats.org/drawingml/2006/main">
              <a:ext uri="{FF2B5EF4-FFF2-40B4-BE49-F238E27FC236}">
                <a16:creationId xmlns:a16="http://schemas.microsoft.com/office/drawing/2014/main" id="{C8FF8A63-1283-4DFC-959D-A2F3F333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rPr>
              <a:t>A1  Comparable alternatives</a:t>
            </a:r>
          </a:p>
        </p:txBody>
      </p:sp>
      <p:sp>
        <p:nvSpPr>
          <p:cNvPr id="20" name="a1-body">
            <a:extLst xmlns:a="http://schemas.openxmlformats.org/drawingml/2006/main">
              <a:ext uri="{FF2B5EF4-FFF2-40B4-BE49-F238E27FC236}">
                <a16:creationId xmlns:a16="http://schemas.microsoft.com/office/drawing/2014/main" id="{9601635C-6F5E-468B-9A3B-50218017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479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rPr>
              <a:t>同一任务、同一绩效指标；同类错误具有相同客观后果 Lₕ = Lₐ = L。</a:t>
            </a:r>
          </a:p>
        </p:txBody>
      </p:sp>
      <p:sp>
        <p:nvSpPr>
          <p:cNvPr id="21" name="a2-dot">
            <a:extLst xmlns:a="http://schemas.openxmlformats.org/drawingml/2006/main">
              <a:ext uri="{FF2B5EF4-FFF2-40B4-BE49-F238E27FC236}">
                <a16:creationId xmlns:a16="http://schemas.microsoft.com/office/drawing/2014/main" id="{D60B6E4D-3B7B-4093-8AD4-8A46E8AD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D9822B"/>
            </a:solidFill>
            <a:prstDash val="solid"/>
          </a:ln>
        </p:spPr>
      </p:sp>
      <p:sp>
        <p:nvSpPr>
          <p:cNvPr id="22" name="a2-tag">
            <a:extLst xmlns:a="http://schemas.openxmlformats.org/drawingml/2006/main">
              <a:ext uri="{FF2B5EF4-FFF2-40B4-BE49-F238E27FC236}">
                <a16:creationId xmlns:a16="http://schemas.microsoft.com/office/drawing/2014/main" id="{86735767-B9E9-47A3-96E0-F304C4FD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rPr>
              <a:t>A2  Risk neutrality</a:t>
            </a:r>
          </a:p>
        </p:txBody>
      </p:sp>
      <p:sp>
        <p:nvSpPr>
          <p:cNvPr id="23" name="a2-body">
            <a:extLst xmlns:a="http://schemas.openxmlformats.org/drawingml/2006/main">
              <a:ext uri="{FF2B5EF4-FFF2-40B4-BE49-F238E27FC236}">
                <a16:creationId xmlns:a16="http://schemas.microsoft.com/office/drawing/2014/main" id="{7F91E4AD-684E-4E19-98C5-C6D884C1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rPr>
              <a:t>决策者最小化 expected total cost。</a:t>
            </a:r>
          </a:p>
        </p:txBody>
      </p:sp>
      <p:sp>
        <p:nvSpPr>
          <p:cNvPr id="24" name="a3-dot">
            <a:extLst xmlns:a="http://schemas.openxmlformats.org/drawingml/2006/main">
              <a:ext uri="{FF2B5EF4-FFF2-40B4-BE49-F238E27FC236}">
                <a16:creationId xmlns:a16="http://schemas.microsoft.com/office/drawing/2014/main" id="{96682CC2-B7E2-462D-8883-83D875DD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433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D9822B"/>
            </a:solidFill>
            <a:prstDash val="solid"/>
          </a:ln>
        </p:spPr>
      </p:sp>
      <p:sp>
        <p:nvSpPr>
          <p:cNvPr id="25" name="a3-tag">
            <a:extLst xmlns:a="http://schemas.openxmlformats.org/drawingml/2006/main">
              <a:ext uri="{FF2B5EF4-FFF2-40B4-BE49-F238E27FC236}">
                <a16:creationId xmlns:a16="http://schemas.microsoft.com/office/drawing/2014/main" id="{E72115E2-282C-4A8D-BF85-4BE26827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rPr>
              <a:t>A3  Independent errors</a:t>
            </a:r>
          </a:p>
        </p:txBody>
      </p:sp>
      <p:sp>
        <p:nvSpPr>
          <p:cNvPr id="26" name="a3-body">
            <a:extLst xmlns:a="http://schemas.openxmlformats.org/drawingml/2006/main">
              <a:ext uri="{FF2B5EF4-FFF2-40B4-BE49-F238E27FC236}">
                <a16:creationId xmlns:a16="http://schemas.microsoft.com/office/drawing/2014/main" id="{9AFC25F1-AE89-4EE2-B45D-EFB45863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719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rPr>
              <a:t>Errors are independent draws。</a:t>
            </a:r>
          </a:p>
        </p:txBody>
      </p:sp>
      <p:sp>
        <p:nvSpPr>
          <p:cNvPr id="27" name="a4-dot">
            <a:extLst xmlns:a="http://schemas.openxmlformats.org/drawingml/2006/main">
              <a:ext uri="{FF2B5EF4-FFF2-40B4-BE49-F238E27FC236}">
                <a16:creationId xmlns:a16="http://schemas.microsoft.com/office/drawing/2014/main" id="{A2DCE5D1-397C-4FA0-A601-FFF19821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D9822B"/>
            </a:solidFill>
            <a:prstDash val="solid"/>
          </a:ln>
        </p:spPr>
      </p:sp>
      <p:sp>
        <p:nvSpPr>
          <p:cNvPr id="28" name="a4-tag">
            <a:extLst xmlns:a="http://schemas.openxmlformats.org/drawingml/2006/main">
              <a:ext uri="{FF2B5EF4-FFF2-40B4-BE49-F238E27FC236}">
                <a16:creationId xmlns:a16="http://schemas.microsoft.com/office/drawing/2014/main" id="{861EBDF8-A2C5-45C1-B15D-31B2C116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rPr>
              <a:t>A4  Costless evaluation</a:t>
            </a:r>
          </a:p>
        </p:txBody>
      </p:sp>
      <p:sp>
        <p:nvSpPr>
          <p:cNvPr id="29" name="a4-body">
            <a:extLst xmlns:a="http://schemas.openxmlformats.org/drawingml/2006/main">
              <a:ext uri="{FF2B5EF4-FFF2-40B4-BE49-F238E27FC236}">
                <a16:creationId xmlns:a16="http://schemas.microsoft.com/office/drawing/2014/main" id="{34073F46-43BB-4AD1-9FE2-4B8D9C92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rPr>
              <a:t>决策者能够准确观察 eₕ 与 eₐ。</a:t>
            </a:r>
          </a:p>
        </p:txBody>
      </p:sp>
      <p:sp>
        <p:nvSpPr>
          <p:cNvPr id="30" name="a5-dot">
            <a:extLst xmlns:a="http://schemas.openxmlformats.org/drawingml/2006/main">
              <a:ext uri="{FF2B5EF4-FFF2-40B4-BE49-F238E27FC236}">
                <a16:creationId xmlns:a16="http://schemas.microsoft.com/office/drawing/2014/main" id="{59BD60F5-553D-45E0-8AA0-48A236BF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72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D9822B"/>
            </a:solidFill>
            <a:prstDash val="solid"/>
          </a:ln>
        </p:spPr>
      </p:sp>
      <p:sp>
        <p:nvSpPr>
          <p:cNvPr id="31" name="a5-tag">
            <a:extLst xmlns:a="http://schemas.openxmlformats.org/drawingml/2006/main">
              <a:ext uri="{FF2B5EF4-FFF2-40B4-BE49-F238E27FC236}">
                <a16:creationId xmlns:a16="http://schemas.microsoft.com/office/drawing/2014/main" id="{27257337-1B9A-49E7-92CA-793A58CD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95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rPr>
              <a:t>A5  Stationary environment</a:t>
            </a:r>
          </a:p>
        </p:txBody>
      </p:sp>
      <p:sp>
        <p:nvSpPr>
          <p:cNvPr id="32" name="a5-body">
            <a:extLst xmlns:a="http://schemas.openxmlformats.org/drawingml/2006/main">
              <a:ext uri="{FF2B5EF4-FFF2-40B4-BE49-F238E27FC236}">
                <a16:creationId xmlns:a16="http://schemas.microsoft.com/office/drawing/2014/main" id="{E725808A-E2AD-43D4-A14C-5D067EE5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006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rPr>
              <a:t>eₕ、eₐ、L、cₕ、cₐ 在每个 decision block 内保持不变。</a:t>
            </a:r>
          </a:p>
        </p:txBody>
      </p:sp>
      <p:sp>
        <p:nvSpPr>
          <p:cNvPr id="33" name="page-1">
            <a:extLst xmlns:a="http://schemas.openxmlformats.org/drawingml/2006/main">
              <a:ext uri="{FF2B5EF4-FFF2-40B4-BE49-F238E27FC236}">
                <a16:creationId xmlns:a16="http://schemas.microsoft.com/office/drawing/2014/main" id="{F45C6FA8-4FDB-465E-8EDE-DFA2AE9F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AA1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A1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508045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424B853C-1DB1-464C-B4F1-2FDE6284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5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5B67"/>
                </a:solidFill>
                <a:latin typeface="Microsoft YaHei"/>
                <a:ea typeface="Microsoft YaHei"/>
                <a:cs typeface="Microsoft YaHei"/>
              </a:rPr>
              <a:t>ASYMMETRIC TRUST · MODEL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6E7557-DFCB-4F40-BF7A-E7D2108E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rPr>
              <a:t>模型建立：来源如何进入错误权重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4745835-D482-4482-A62F-F4851535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D9822B"/>
            </a:solidFill>
            <a:prstDash val="solid"/>
          </a:ln>
        </p:spPr>
      </p:sp>
      <p:sp>
        <p:nvSpPr>
          <p:cNvPr id="4" name="left-header">
            <a:extLst xmlns:a="http://schemas.openxmlformats.org/drawingml/2006/main">
              <a:ext uri="{FF2B5EF4-FFF2-40B4-BE49-F238E27FC236}">
                <a16:creationId xmlns:a16="http://schemas.microsoft.com/office/drawing/2014/main" id="{048C9953-07ED-493B-A5C9-BF4E87F2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5B6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E5B67"/>
                </a:solidFill>
                <a:latin typeface="Aptos"/>
                <a:ea typeface="Aptos"/>
                <a:cs typeface="Aptos"/>
              </a:rPr>
              <a:t>Behavioural departure</a:t>
            </a:r>
          </a:p>
        </p:txBody>
      </p:sp>
      <p:sp>
        <p:nvSpPr>
          <p:cNvPr id="5" name="left-intro">
            <a:extLst xmlns:a="http://schemas.openxmlformats.org/drawingml/2006/main">
              <a:ext uri="{FF2B5EF4-FFF2-40B4-BE49-F238E27FC236}">
                <a16:creationId xmlns:a16="http://schemas.microsoft.com/office/drawing/2014/main" id="{2023CE06-3BFE-46FC-89BD-787153AF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rPr>
              <a:t>在理性基准上，仅引入一个有符号的结构参数 α。</a:t>
            </a:r>
          </a:p>
        </p:txBody>
      </p:sp>
      <p:sp>
        <p:nvSpPr>
          <p:cNvPr id="6" name="weight-box">
            <a:extLst xmlns:a="http://schemas.openxmlformats.org/drawingml/2006/main">
              <a:ext uri="{FF2B5EF4-FFF2-40B4-BE49-F238E27FC236}">
                <a16:creationId xmlns:a16="http://schemas.microsoft.com/office/drawing/2014/main" id="{AC41CC2E-763A-4171-87D9-D03C4C07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DE2E6"/>
            </a:solidFill>
            <a:prstDash val="solid"/>
          </a:ln>
        </p:spPr>
      </p:sp>
      <p:sp>
        <p:nvSpPr>
          <p:cNvPr id="7" name="weight-human">
            <a:extLst xmlns:a="http://schemas.openxmlformats.org/drawingml/2006/main">
              <a:ext uri="{FF2B5EF4-FFF2-40B4-BE49-F238E27FC236}">
                <a16:creationId xmlns:a16="http://schemas.microsoft.com/office/drawing/2014/main" id="{C5297618-A43E-45BF-854D-B7C6EC83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2629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>
                <a:solidFill>
                  <a:srgbClr val="232629"/>
                </a:solidFill>
                <a:latin typeface="Cambria Math"/>
                <a:ea typeface="Cambria Math"/>
                <a:cs typeface="Cambria Math"/>
              </a:rPr>
              <a:t>L̃ₕ = L</a:t>
            </a:r>
          </a:p>
        </p:txBody>
      </p:sp>
      <p:sp>
        <p:nvSpPr>
          <p:cNvPr id="8" name="weight-ai">
            <a:extLst xmlns:a="http://schemas.openxmlformats.org/drawingml/2006/main">
              <a:ext uri="{FF2B5EF4-FFF2-40B4-BE49-F238E27FC236}">
                <a16:creationId xmlns:a16="http://schemas.microsoft.com/office/drawing/2014/main" id="{F46B64CF-A74D-41BC-A0CC-76778493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822B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>
                <a:solidFill>
                  <a:srgbClr val="D9822B"/>
                </a:solidFill>
                <a:latin typeface="Cambria Math"/>
                <a:ea typeface="Cambria Math"/>
                <a:cs typeface="Cambria Math"/>
              </a:rPr>
              <a:t>L̃ₐ = (1 + α)L</a:t>
            </a:r>
          </a:p>
        </p:txBody>
      </p:sp>
      <p:sp>
        <p:nvSpPr>
          <p:cNvPr id="9" name="weight-caption">
            <a:extLst xmlns:a="http://schemas.openxmlformats.org/drawingml/2006/main">
              <a:ext uri="{FF2B5EF4-FFF2-40B4-BE49-F238E27FC236}">
                <a16:creationId xmlns:a16="http://schemas.microsoft.com/office/drawing/2014/main" id="{4611CEFB-0F49-40A3-B3B2-A3FEB657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A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A70"/>
                </a:solidFill>
                <a:latin typeface="Aptos"/>
                <a:ea typeface="Aptos"/>
                <a:cs typeface="Aptos"/>
              </a:rPr>
              <a:t>Human error weight remains L; AI error weight changes with α.</a:t>
            </a:r>
          </a:p>
        </p:txBody>
      </p:sp>
      <p:sp>
        <p:nvSpPr>
          <p:cNvPr id="10" name="behavioral-cost">
            <a:extLst xmlns:a="http://schemas.openxmlformats.org/drawingml/2006/main">
              <a:ext uri="{FF2B5EF4-FFF2-40B4-BE49-F238E27FC236}">
                <a16:creationId xmlns:a16="http://schemas.microsoft.com/office/drawing/2014/main" id="{21254F7A-5A93-47A1-9D31-62CBB54B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2629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>
                <a:solidFill>
                  <a:srgbClr val="232629"/>
                </a:solidFill>
                <a:latin typeface="Cambria Math"/>
                <a:ea typeface="Cambria Math"/>
                <a:cs typeface="Cambria Math"/>
              </a:rPr>
              <a:t>C̃ₐ = (1 + α)eₐL + cₐ</a:t>
            </a:r>
          </a:p>
        </p:txBody>
      </p:sp>
      <p:sp>
        <p:nvSpPr>
          <p:cNvPr id="11" name="behavioral-choice">
            <a:extLst xmlns:a="http://schemas.openxmlformats.org/drawingml/2006/main">
              <a:ext uri="{FF2B5EF4-FFF2-40B4-BE49-F238E27FC236}">
                <a16:creationId xmlns:a16="http://schemas.microsoft.com/office/drawing/2014/main" id="{DAD1A2B2-8EE2-4E7F-9E5C-69020BEE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4953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DF1E5"/>
          </a:solidFill>
          <a:ln xmlns:a="http://schemas.openxmlformats.org/drawingml/2006/main" w="9525">
            <a:solidFill>
              <a:srgbClr val="D9822B"/>
            </a:solidFill>
            <a:prstDash val="solid"/>
          </a:ln>
        </p:spPr>
      </p:sp>
      <p:sp>
        <p:nvSpPr>
          <p:cNvPr id="12" name="behavioral-choice-label">
            <a:extLst xmlns:a="http://schemas.openxmlformats.org/drawingml/2006/main">
              <a:ext uri="{FF2B5EF4-FFF2-40B4-BE49-F238E27FC236}">
                <a16:creationId xmlns:a16="http://schemas.microsoft.com/office/drawing/2014/main" id="{1E231239-F1AB-4F05-9431-1492FC52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8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Choose AI iff</a:t>
            </a:r>
          </a:p>
        </p:txBody>
      </p:sp>
      <p:sp>
        <p:nvSpPr>
          <p:cNvPr id="13" name="behavioral-choice-formula">
            <a:extLst xmlns:a="http://schemas.openxmlformats.org/drawingml/2006/main">
              <a:ext uri="{FF2B5EF4-FFF2-40B4-BE49-F238E27FC236}">
                <a16:creationId xmlns:a16="http://schemas.microsoft.com/office/drawing/2014/main" id="{591C0B51-FDB6-43B6-BACE-DBAE27E2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442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32629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>
                <a:solidFill>
                  <a:srgbClr val="232629"/>
                </a:solidFill>
                <a:latin typeface="Cambria Math"/>
                <a:ea typeface="Cambria Math"/>
                <a:cs typeface="Cambria Math"/>
              </a:rPr>
              <a:t>eₕ − eₐ − αeₐ  &gt;  (cₐ − cₕ) / L</a:t>
            </a:r>
          </a:p>
        </p:txBody>
      </p:sp>
      <p:sp>
        <p:nvSpPr>
          <p:cNvPr id="14" name="divider">
            <a:extLst xmlns:a="http://schemas.openxmlformats.org/drawingml/2006/main">
              <a:ext uri="{FF2B5EF4-FFF2-40B4-BE49-F238E27FC236}">
                <a16:creationId xmlns:a16="http://schemas.microsoft.com/office/drawing/2014/main" id="{5255E667-E503-4F04-912C-6A4C6518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95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6"/>
          </a:solidFill>
          <a:ln xmlns:a="http://schemas.openxmlformats.org/drawingml/2006/main" w="0">
            <a:solidFill>
              <a:srgbClr val="DDE2E6"/>
            </a:solidFill>
            <a:prstDash val="solid"/>
          </a:ln>
        </p:spPr>
      </p:sp>
      <p:sp>
        <p:nvSpPr>
          <p:cNvPr id="15" name="right-header">
            <a:extLst xmlns:a="http://schemas.openxmlformats.org/drawingml/2006/main">
              <a:ext uri="{FF2B5EF4-FFF2-40B4-BE49-F238E27FC236}">
                <a16:creationId xmlns:a16="http://schemas.microsoft.com/office/drawing/2014/main" id="{3C72D4AC-8A51-4D36-9E70-747925F6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5B6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E5B67"/>
                </a:solidFill>
                <a:latin typeface="Aptos"/>
                <a:ea typeface="Aptos"/>
                <a:cs typeface="Aptos"/>
              </a:rPr>
              <a:t>Signed interpretation of α</a:t>
            </a:r>
          </a:p>
        </p:txBody>
      </p:sp>
      <p:sp>
        <p:nvSpPr>
          <p:cNvPr id="16" name="right-intro">
            <a:extLst xmlns:a="http://schemas.openxmlformats.org/drawingml/2006/main">
              <a:ext uri="{FF2B5EF4-FFF2-40B4-BE49-F238E27FC236}">
                <a16:creationId xmlns:a16="http://schemas.microsoft.com/office/drawing/2014/main" id="{D7108743-7DBC-4137-A2F7-C9430EBA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rPr>
              <a:t>α 衡量：AI 错误相对于等价 Human 错误获得的额外决策权重。</a:t>
            </a:r>
          </a:p>
        </p:txBody>
      </p:sp>
      <p:sp>
        <p:nvSpPr>
          <p:cNvPr id="17" name="axis">
            <a:extLst xmlns:a="http://schemas.openxmlformats.org/drawingml/2006/main">
              <a:ext uri="{FF2B5EF4-FFF2-40B4-BE49-F238E27FC236}">
                <a16:creationId xmlns:a16="http://schemas.microsoft.com/office/drawing/2014/main" id="{A936FD94-79EB-4577-AAD3-8AE85E3F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6"/>
          </a:solidFill>
          <a:ln xmlns:a="http://schemas.openxmlformats.org/drawingml/2006/main" w="0">
            <a:solidFill>
              <a:srgbClr val="DDE2E6"/>
            </a:solidFill>
            <a:prstDash val="solid"/>
          </a:ln>
        </p:spPr>
      </p:sp>
      <p:sp>
        <p:nvSpPr>
          <p:cNvPr id="18" name="zero-tick">
            <a:extLst xmlns:a="http://schemas.openxmlformats.org/drawingml/2006/main">
              <a:ext uri="{FF2B5EF4-FFF2-40B4-BE49-F238E27FC236}">
                <a16:creationId xmlns:a16="http://schemas.microsoft.com/office/drawing/2014/main" id="{1FA18261-6286-4CC3-AD6E-87FE417C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B67"/>
          </a:solidFill>
          <a:ln xmlns:a="http://schemas.openxmlformats.org/drawingml/2006/main" w="0">
            <a:solidFill>
              <a:srgbClr val="0E5B67"/>
            </a:solidFill>
            <a:prstDash val="solid"/>
          </a:ln>
        </p:spPr>
      </p:sp>
      <p:sp>
        <p:nvSpPr>
          <p:cNvPr id="19" name="axis-neg">
            <a:extLst xmlns:a="http://schemas.openxmlformats.org/drawingml/2006/main">
              <a:ext uri="{FF2B5EF4-FFF2-40B4-BE49-F238E27FC236}">
                <a16:creationId xmlns:a16="http://schemas.microsoft.com/office/drawing/2014/main" id="{B1B88C8D-0F36-4358-A3A7-26113113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5C8A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>
                <a:solidFill>
                  <a:srgbClr val="355C8A"/>
                </a:solidFill>
                <a:latin typeface="Cambria Math"/>
                <a:ea typeface="Cambria Math"/>
                <a:cs typeface="Cambria Math"/>
              </a:rPr>
              <a:t>α &lt; 0</a:t>
            </a:r>
          </a:p>
        </p:txBody>
      </p:sp>
      <p:sp>
        <p:nvSpPr>
          <p:cNvPr id="20" name="axis-zero">
            <a:extLst xmlns:a="http://schemas.openxmlformats.org/drawingml/2006/main">
              <a:ext uri="{FF2B5EF4-FFF2-40B4-BE49-F238E27FC236}">
                <a16:creationId xmlns:a16="http://schemas.microsoft.com/office/drawing/2014/main" id="{50BA947D-3466-45F0-BE42-DE87B4A9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76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E5B67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>
                <a:solidFill>
                  <a:srgbClr val="0E5B67"/>
                </a:solidFill>
                <a:latin typeface="Cambria Math"/>
                <a:ea typeface="Cambria Math"/>
                <a:cs typeface="Cambria Math"/>
              </a:rPr>
              <a:t>α = 0</a:t>
            </a:r>
          </a:p>
        </p:txBody>
      </p:sp>
      <p:sp>
        <p:nvSpPr>
          <p:cNvPr id="21" name="axis-pos">
            <a:extLst xmlns:a="http://schemas.openxmlformats.org/drawingml/2006/main">
              <a:ext uri="{FF2B5EF4-FFF2-40B4-BE49-F238E27FC236}">
                <a16:creationId xmlns:a16="http://schemas.microsoft.com/office/drawing/2014/main" id="{F5387AC5-622A-4EA6-B81A-6BA60258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76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A64B3C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>
                <a:solidFill>
                  <a:srgbClr val="A64B3C"/>
                </a:solidFill>
                <a:latin typeface="Cambria Math"/>
                <a:ea typeface="Cambria Math"/>
                <a:cs typeface="Cambria Math"/>
              </a:rPr>
              <a:t>α &gt; 0</a:t>
            </a:r>
          </a:p>
        </p:txBody>
      </p:sp>
      <p:sp>
        <p:nvSpPr>
          <p:cNvPr id="22" name="neg-zone">
            <a:extLst xmlns:a="http://schemas.openxmlformats.org/drawingml/2006/main">
              <a:ext uri="{FF2B5EF4-FFF2-40B4-BE49-F238E27FC236}">
                <a16:creationId xmlns:a16="http://schemas.microsoft.com/office/drawing/2014/main" id="{50F6595B-4DC8-43D3-834F-74AD4460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157162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2F8"/>
          </a:solidFill>
          <a:ln xmlns:a="http://schemas.openxmlformats.org/drawingml/2006/main" w="9525">
            <a:solidFill>
              <a:srgbClr val="355C8A"/>
            </a:solidFill>
            <a:prstDash val="solid"/>
          </a:ln>
        </p:spPr>
      </p:sp>
      <p:sp>
        <p:nvSpPr>
          <p:cNvPr id="23" name="neg-title">
            <a:extLst xmlns:a="http://schemas.openxmlformats.org/drawingml/2006/main">
              <a:ext uri="{FF2B5EF4-FFF2-40B4-BE49-F238E27FC236}">
                <a16:creationId xmlns:a16="http://schemas.microsoft.com/office/drawing/2014/main" id="{C2F2D1B3-8395-4A64-8FC2-386BEEFF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17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55C8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55C8A"/>
                </a:solidFill>
                <a:latin typeface="Aptos"/>
                <a:ea typeface="Aptos"/>
                <a:cs typeface="Aptos"/>
              </a:rPr>
              <a:t>Excess tolerance</a:t>
            </a:r>
          </a:p>
        </p:txBody>
      </p:sp>
      <p:sp>
        <p:nvSpPr>
          <p:cNvPr id="24" name="neg-body">
            <a:extLst xmlns:a="http://schemas.openxmlformats.org/drawingml/2006/main">
              <a:ext uri="{FF2B5EF4-FFF2-40B4-BE49-F238E27FC236}">
                <a16:creationId xmlns:a16="http://schemas.microsoft.com/office/drawing/2014/main" id="{8E8CC0E2-D1F1-4D8C-B01D-B38CFBB7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577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236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rPr>
              <a:t>AI 错误获得较低权重</a:t>
            </a:r>
          </a:p>
        </p:txBody>
      </p:sp>
      <p:sp>
        <p:nvSpPr>
          <p:cNvPr id="25" name="zero-zone">
            <a:extLst xmlns:a="http://schemas.openxmlformats.org/drawingml/2006/main">
              <a:ext uri="{FF2B5EF4-FFF2-40B4-BE49-F238E27FC236}">
                <a16:creationId xmlns:a16="http://schemas.microsoft.com/office/drawing/2014/main" id="{65FADC08-6D66-4DFF-8941-D398F5C6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157162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2E7D6E"/>
            </a:solidFill>
            <a:prstDash val="solid"/>
          </a:ln>
        </p:spPr>
      </p:sp>
      <p:sp>
        <p:nvSpPr>
          <p:cNvPr id="26" name="zero-title">
            <a:extLst xmlns:a="http://schemas.openxmlformats.org/drawingml/2006/main">
              <a:ext uri="{FF2B5EF4-FFF2-40B4-BE49-F238E27FC236}">
                <a16:creationId xmlns:a16="http://schemas.microsoft.com/office/drawing/2014/main" id="{D9BD2F2F-D117-4A27-A9AC-421CFBEF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E7D6E"/>
                </a:solidFill>
                <a:latin typeface="Aptos"/>
                <a:ea typeface="Aptos"/>
                <a:cs typeface="Aptos"/>
              </a:rPr>
              <a:t>Source-neutral</a:t>
            </a:r>
          </a:p>
        </p:txBody>
      </p:sp>
      <p:sp>
        <p:nvSpPr>
          <p:cNvPr id="27" name="zero-body">
            <a:extLst xmlns:a="http://schemas.openxmlformats.org/drawingml/2006/main">
              <a:ext uri="{FF2B5EF4-FFF2-40B4-BE49-F238E27FC236}">
                <a16:creationId xmlns:a16="http://schemas.microsoft.com/office/drawing/2014/main" id="{2806C94A-969C-41CF-A8C0-1B8A03BC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577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rPr>
              <a:t>Human 与 AI 错误同权</a:t>
            </a:r>
          </a:p>
        </p:txBody>
      </p:sp>
      <p:sp>
        <p:nvSpPr>
          <p:cNvPr id="28" name="pos-zone">
            <a:extLst xmlns:a="http://schemas.openxmlformats.org/drawingml/2006/main">
              <a:ext uri="{FF2B5EF4-FFF2-40B4-BE49-F238E27FC236}">
                <a16:creationId xmlns:a16="http://schemas.microsoft.com/office/drawing/2014/main" id="{A1523E3F-2F93-4934-8074-83901F92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10000"/>
            <a:ext cx="157162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ECEA"/>
          </a:solidFill>
          <a:ln xmlns:a="http://schemas.openxmlformats.org/drawingml/2006/main" w="9525">
            <a:solidFill>
              <a:srgbClr val="A64B3C"/>
            </a:solidFill>
            <a:prstDash val="solid"/>
          </a:ln>
        </p:spPr>
      </p:sp>
      <p:sp>
        <p:nvSpPr>
          <p:cNvPr id="29" name="pos-title">
            <a:extLst xmlns:a="http://schemas.openxmlformats.org/drawingml/2006/main">
              <a:ext uri="{FF2B5EF4-FFF2-40B4-BE49-F238E27FC236}">
                <a16:creationId xmlns:a16="http://schemas.microsoft.com/office/drawing/2014/main" id="{0B20ED2E-E11C-4B70-958F-682C8415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005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06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64B3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64B3C"/>
                </a:solidFill>
                <a:latin typeface="Aptos"/>
                <a:ea typeface="Aptos"/>
                <a:cs typeface="Aptos"/>
              </a:rPr>
              <a:t>Excess intolerance</a:t>
            </a:r>
          </a:p>
        </p:txBody>
      </p:sp>
      <p:sp>
        <p:nvSpPr>
          <p:cNvPr id="30" name="pos-body">
            <a:extLst xmlns:a="http://schemas.openxmlformats.org/drawingml/2006/main">
              <a:ext uri="{FF2B5EF4-FFF2-40B4-BE49-F238E27FC236}">
                <a16:creationId xmlns:a16="http://schemas.microsoft.com/office/drawing/2014/main" id="{46511E86-0159-41DE-B180-EB031835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577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236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rPr>
              <a:t>AI 错误获得较高权重</a:t>
            </a:r>
          </a:p>
        </p:txBody>
      </p:sp>
      <p:sp>
        <p:nvSpPr>
          <p:cNvPr id="31" name="alpha-note">
            <a:extLst xmlns:a="http://schemas.openxmlformats.org/drawingml/2006/main">
              <a:ext uri="{FF2B5EF4-FFF2-40B4-BE49-F238E27FC236}">
                <a16:creationId xmlns:a16="http://schemas.microsoft.com/office/drawing/2014/main" id="{C29540FF-985D-4C4F-84EB-6DA18E5F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29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5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5B67"/>
                </a:solidFill>
                <a:latin typeface="Microsoft YaHei"/>
                <a:ea typeface="Microsoft YaHei"/>
                <a:cs typeface="Microsoft YaHei"/>
              </a:rPr>
              <a:t>α 是本文唯一的核心结构参数；它不是信任量表。</a:t>
            </a:r>
          </a:p>
        </p:txBody>
      </p:sp>
      <p:sp>
        <p:nvSpPr>
          <p:cNvPr id="32" name="page-2">
            <a:extLst xmlns:a="http://schemas.openxmlformats.org/drawingml/2006/main">
              <a:ext uri="{FF2B5EF4-FFF2-40B4-BE49-F238E27FC236}">
                <a16:creationId xmlns:a16="http://schemas.microsoft.com/office/drawing/2014/main" id="{59B0DE1C-C8D1-427A-A7B1-A8E3382E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AA1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A1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167718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DF487C4E-373C-4FA3-8B8D-323F8AA4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5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5B67"/>
                </a:solidFill>
                <a:latin typeface="Microsoft YaHei"/>
                <a:ea typeface="Microsoft YaHei"/>
                <a:cs typeface="Microsoft YaHei"/>
              </a:rPr>
              <a:t>ASYMMETRIC TRUST · EMPIRICAL 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B8E59-15BC-41E3-AF63-A615D985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rPr>
              <a:t>模型解释：测量什么，如何识别 α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833644E-47DF-45FB-B613-D3E1905B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D9822B"/>
            </a:solidFill>
            <a:prstDash val="solid"/>
          </a:ln>
        </p:spPr>
      </p:sp>
      <p:sp>
        <p:nvSpPr>
          <p:cNvPr id="4" name="left-header">
            <a:extLst xmlns:a="http://schemas.openxmlformats.org/drawingml/2006/main">
              <a:ext uri="{FF2B5EF4-FFF2-40B4-BE49-F238E27FC236}">
                <a16:creationId xmlns:a16="http://schemas.microsoft.com/office/drawing/2014/main" id="{EA4B45BB-5039-497F-8B7C-6C880B1D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5B6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E5B67"/>
                </a:solidFill>
                <a:latin typeface="Aptos"/>
                <a:ea typeface="Aptos"/>
                <a:cs typeface="Aptos"/>
              </a:rPr>
              <a:t>Three levels of variables</a:t>
            </a:r>
          </a:p>
        </p:txBody>
      </p:sp>
      <p:sp>
        <p:nvSpPr>
          <p:cNvPr id="5" name="row-01">
            <a:extLst xmlns:a="http://schemas.openxmlformats.org/drawingml/2006/main">
              <a:ext uri="{FF2B5EF4-FFF2-40B4-BE49-F238E27FC236}">
                <a16:creationId xmlns:a16="http://schemas.microsoft.com/office/drawing/2014/main" id="{AACC9F43-FD86-4DD0-ABA2-68E90788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95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w-01-n">
            <a:extLst xmlns:a="http://schemas.openxmlformats.org/drawingml/2006/main">
              <a:ext uri="{FF2B5EF4-FFF2-40B4-BE49-F238E27FC236}">
                <a16:creationId xmlns:a16="http://schemas.microsoft.com/office/drawing/2014/main" id="{067409B6-87E5-4DEB-ACD3-789495B1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5B6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5B6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ow-01-title">
            <a:extLst xmlns:a="http://schemas.openxmlformats.org/drawingml/2006/main">
              <a:ext uri="{FF2B5EF4-FFF2-40B4-BE49-F238E27FC236}">
                <a16:creationId xmlns:a16="http://schemas.microsoft.com/office/drawing/2014/main" id="{C50D874F-1C51-4717-835B-2A920A5E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5B6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5B67"/>
                </a:solidFill>
                <a:latin typeface="Aptos"/>
                <a:ea typeface="Aptos"/>
                <a:cs typeface="Aptos"/>
              </a:rPr>
              <a:t>Objective performance</a:t>
            </a:r>
          </a:p>
        </p:txBody>
      </p:sp>
      <p:sp>
        <p:nvSpPr>
          <p:cNvPr id="8" name="row-01-formula">
            <a:extLst xmlns:a="http://schemas.openxmlformats.org/drawingml/2006/main">
              <a:ext uri="{FF2B5EF4-FFF2-40B4-BE49-F238E27FC236}">
                <a16:creationId xmlns:a16="http://schemas.microsoft.com/office/drawing/2014/main" id="{5AA7C010-4542-415B-BF5C-81A86633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2410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32629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>
                <a:solidFill>
                  <a:srgbClr val="232629"/>
                </a:solidFill>
                <a:latin typeface="Cambria Math"/>
                <a:ea typeface="Cambria Math"/>
                <a:cs typeface="Cambria Math"/>
              </a:rPr>
              <a:t>qₐ, qₕ  →  eₐ, eₕ</a:t>
            </a:r>
          </a:p>
        </p:txBody>
      </p:sp>
      <p:sp>
        <p:nvSpPr>
          <p:cNvPr id="9" name="row-01-body">
            <a:extLst xmlns:a="http://schemas.openxmlformats.org/drawingml/2006/main">
              <a:ext uri="{FF2B5EF4-FFF2-40B4-BE49-F238E27FC236}">
                <a16:creationId xmlns:a16="http://schemas.microsoft.com/office/drawing/2014/main" id="{2616456C-0960-439E-980F-FF306646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rPr>
              <a:t>AI 与 Human 的客观任务正确率及错误率</a:t>
            </a:r>
          </a:p>
        </p:txBody>
      </p:sp>
      <p:sp>
        <p:nvSpPr>
          <p:cNvPr id="10" name="row-02">
            <a:extLst xmlns:a="http://schemas.openxmlformats.org/drawingml/2006/main">
              <a:ext uri="{FF2B5EF4-FFF2-40B4-BE49-F238E27FC236}">
                <a16:creationId xmlns:a16="http://schemas.microsoft.com/office/drawing/2014/main" id="{E1B1878F-0781-47C9-B602-E8564171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495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D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w-02-n">
            <a:extLst xmlns:a="http://schemas.openxmlformats.org/drawingml/2006/main">
              <a:ext uri="{FF2B5EF4-FFF2-40B4-BE49-F238E27FC236}">
                <a16:creationId xmlns:a16="http://schemas.microsoft.com/office/drawing/2014/main" id="{E5CF3656-AD79-42AB-B493-7BB4E049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8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ow-02-title">
            <a:extLst xmlns:a="http://schemas.openxmlformats.org/drawingml/2006/main">
              <a:ext uri="{FF2B5EF4-FFF2-40B4-BE49-F238E27FC236}">
                <a16:creationId xmlns:a16="http://schemas.microsoft.com/office/drawing/2014/main" id="{0E8F5248-F20C-416E-8AA4-15E2410C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52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8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Psychological evaluation</a:t>
            </a:r>
          </a:p>
        </p:txBody>
      </p:sp>
      <p:sp>
        <p:nvSpPr>
          <p:cNvPr id="13" name="row-02-formula">
            <a:extLst xmlns:a="http://schemas.openxmlformats.org/drawingml/2006/main">
              <a:ext uri="{FF2B5EF4-FFF2-40B4-BE49-F238E27FC236}">
                <a16:creationId xmlns:a16="http://schemas.microsoft.com/office/drawing/2014/main" id="{31DFAC17-AB68-4078-97EB-0DCC15D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5280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32629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>
                <a:solidFill>
                  <a:srgbClr val="232629"/>
                </a:solidFill>
                <a:latin typeface="Cambria Math"/>
                <a:ea typeface="Cambria Math"/>
                <a:cs typeface="Cambria Math"/>
              </a:rPr>
              <a:t>PTₐ,ᵢ , PTₕ,ᵢ</a:t>
            </a:r>
          </a:p>
        </p:txBody>
      </p:sp>
      <p:sp>
        <p:nvSpPr>
          <p:cNvPr id="14" name="row-02-body">
            <a:extLst xmlns:a="http://schemas.openxmlformats.org/drawingml/2006/main">
              <a:ext uri="{FF2B5EF4-FFF2-40B4-BE49-F238E27FC236}">
                <a16:creationId xmlns:a16="http://schemas.microsoft.com/office/drawing/2014/main" id="{9B20C98D-D724-4595-A11A-808D19D4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766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46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rPr>
              <a:t>Perceived trustworthiness：参与者认为来源多大程度上值得信任</a:t>
            </a:r>
          </a:p>
        </p:txBody>
      </p:sp>
      <p:sp>
        <p:nvSpPr>
          <p:cNvPr id="15" name="row-03">
            <a:extLst xmlns:a="http://schemas.openxmlformats.org/drawingml/2006/main">
              <a:ext uri="{FF2B5EF4-FFF2-40B4-BE49-F238E27FC236}">
                <a16:creationId xmlns:a16="http://schemas.microsoft.com/office/drawing/2014/main" id="{C6235CDB-8564-4FEA-9D14-E8139D0F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495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w-03-n">
            <a:extLst xmlns:a="http://schemas.openxmlformats.org/drawingml/2006/main">
              <a:ext uri="{FF2B5EF4-FFF2-40B4-BE49-F238E27FC236}">
                <a16:creationId xmlns:a16="http://schemas.microsoft.com/office/drawing/2014/main" id="{13967E69-6316-4FE9-8820-7B70636A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5C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55C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row-03-title">
            <a:extLst xmlns:a="http://schemas.openxmlformats.org/drawingml/2006/main">
              <a:ext uri="{FF2B5EF4-FFF2-40B4-BE49-F238E27FC236}">
                <a16:creationId xmlns:a16="http://schemas.microsoft.com/office/drawing/2014/main" id="{E7BB1C45-A12F-4251-B9F4-D45D0A45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8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55C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55C8A"/>
                </a:solidFill>
                <a:latin typeface="Aptos"/>
                <a:ea typeface="Aptos"/>
                <a:cs typeface="Aptos"/>
              </a:rPr>
              <a:t>Observed behaviour</a:t>
            </a:r>
          </a:p>
        </p:txBody>
      </p:sp>
      <p:sp>
        <p:nvSpPr>
          <p:cNvPr id="18" name="row-03-formula">
            <a:extLst xmlns:a="http://schemas.openxmlformats.org/drawingml/2006/main">
              <a:ext uri="{FF2B5EF4-FFF2-40B4-BE49-F238E27FC236}">
                <a16:creationId xmlns:a16="http://schemas.microsoft.com/office/drawing/2014/main" id="{0D0E1E99-A0E2-432D-8099-308574E1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38150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32629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>
                <a:solidFill>
                  <a:srgbClr val="232629"/>
                </a:solidFill>
                <a:latin typeface="Cambria Math"/>
                <a:ea typeface="Cambria Math"/>
                <a:cs typeface="Cambria Math"/>
              </a:rPr>
              <a:t>Yᵢₜ</a:t>
            </a:r>
          </a:p>
        </p:txBody>
      </p:sp>
      <p:sp>
        <p:nvSpPr>
          <p:cNvPr id="19" name="row-03-body">
            <a:extLst xmlns:a="http://schemas.openxmlformats.org/drawingml/2006/main">
              <a:ext uri="{FF2B5EF4-FFF2-40B4-BE49-F238E27FC236}">
                <a16:creationId xmlns:a16="http://schemas.microsoft.com/office/drawing/2014/main" id="{1E5BDF71-C5FD-4C4C-B0AF-E7F68994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43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rPr>
              <a:t>Source choice / AI adoption；只有满足构念条件时才解释为 trusting behaviour</a:t>
            </a:r>
          </a:p>
        </p:txBody>
      </p:sp>
      <p:sp>
        <p:nvSpPr>
          <p:cNvPr id="20" name="check-label">
            <a:extLst xmlns:a="http://schemas.openxmlformats.org/drawingml/2006/main">
              <a:ext uri="{FF2B5EF4-FFF2-40B4-BE49-F238E27FC236}">
                <a16:creationId xmlns:a16="http://schemas.microsoft.com/office/drawing/2014/main" id="{561E43F8-361F-4372-BCAD-D6E22B86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6A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46A70"/>
                </a:solidFill>
                <a:latin typeface="Aptos"/>
                <a:ea typeface="Aptos"/>
                <a:cs typeface="Aptos"/>
              </a:rPr>
              <a:t>Identification check</a:t>
            </a:r>
          </a:p>
        </p:txBody>
      </p:sp>
      <p:sp>
        <p:nvSpPr>
          <p:cNvPr id="21" name="check-formula">
            <a:extLst xmlns:a="http://schemas.openxmlformats.org/drawingml/2006/main">
              <a:ext uri="{FF2B5EF4-FFF2-40B4-BE49-F238E27FC236}">
                <a16:creationId xmlns:a16="http://schemas.microsoft.com/office/drawing/2014/main" id="{F8DCA180-9C21-4BC5-8D5B-FA107F96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53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2629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>
                <a:solidFill>
                  <a:srgbClr val="232629"/>
                </a:solidFill>
                <a:latin typeface="Cambria Math"/>
                <a:ea typeface="Cambria Math"/>
                <a:cs typeface="Cambria Math"/>
              </a:rPr>
              <a:t>q̂ₐ,ᵢ , q̂ₕ,ᵢ</a:t>
            </a:r>
          </a:p>
        </p:txBody>
      </p:sp>
      <p:sp>
        <p:nvSpPr>
          <p:cNvPr id="22" name="check-body">
            <a:extLst xmlns:a="http://schemas.openxmlformats.org/drawingml/2006/main">
              <a:ext uri="{FF2B5EF4-FFF2-40B4-BE49-F238E27FC236}">
                <a16:creationId xmlns:a16="http://schemas.microsoft.com/office/drawing/2014/main" id="{E903EDCE-3E06-42CB-BB3F-22D0BC20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9115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57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rPr>
              <a:t>用于检查 A4；它是能力信念，不是信任构念。</a:t>
            </a:r>
          </a:p>
        </p:txBody>
      </p:sp>
      <p:sp>
        <p:nvSpPr>
          <p:cNvPr id="23" name="divider">
            <a:extLst xmlns:a="http://schemas.openxmlformats.org/drawingml/2006/main">
              <a:ext uri="{FF2B5EF4-FFF2-40B4-BE49-F238E27FC236}">
                <a16:creationId xmlns:a16="http://schemas.microsoft.com/office/drawing/2014/main" id="{894542E1-FC76-4C41-A8E8-FB167C2B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6"/>
          </a:solidFill>
          <a:ln xmlns:a="http://schemas.openxmlformats.org/drawingml/2006/main" w="0">
            <a:solidFill>
              <a:srgbClr val="DDE2E6"/>
            </a:solidFill>
            <a:prstDash val="solid"/>
          </a:ln>
        </p:spPr>
      </p:sp>
      <p:sp>
        <p:nvSpPr>
          <p:cNvPr id="24" name="right-header">
            <a:extLst xmlns:a="http://schemas.openxmlformats.org/drawingml/2006/main">
              <a:ext uri="{FF2B5EF4-FFF2-40B4-BE49-F238E27FC236}">
                <a16:creationId xmlns:a16="http://schemas.microsoft.com/office/drawing/2014/main" id="{54B0A14B-55D2-4173-B045-152244C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5B6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E5B67"/>
                </a:solidFill>
                <a:latin typeface="Aptos"/>
                <a:ea typeface="Aptos"/>
                <a:cs typeface="Aptos"/>
              </a:rPr>
              <a:t>Identification of α</a:t>
            </a:r>
          </a:p>
        </p:txBody>
      </p:sp>
      <p:sp>
        <p:nvSpPr>
          <p:cNvPr id="25" name="threshold-def">
            <a:extLst xmlns:a="http://schemas.openxmlformats.org/drawingml/2006/main">
              <a:ext uri="{FF2B5EF4-FFF2-40B4-BE49-F238E27FC236}">
                <a16:creationId xmlns:a16="http://schemas.microsoft.com/office/drawing/2014/main" id="{D04BD95B-A2A2-455C-8BAD-F5DE70AB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6A70"/>
                </a:solidFill>
                <a:latin typeface="Microsoft YaHei"/>
                <a:ea typeface="Microsoft YaHei"/>
                <a:cs typeface="Microsoft YaHei"/>
              </a:rPr>
              <a:t>e*ₐ,ᵢ：参与者 i 仍愿意选择 AI 时，可接受的最高客观 AI 错误率。</a:t>
            </a:r>
          </a:p>
        </p:txBody>
      </p:sp>
      <p:sp>
        <p:nvSpPr>
          <p:cNvPr id="26" name="threshold-box">
            <a:extLst xmlns:a="http://schemas.openxmlformats.org/drawingml/2006/main">
              <a:ext uri="{FF2B5EF4-FFF2-40B4-BE49-F238E27FC236}">
                <a16:creationId xmlns:a16="http://schemas.microsoft.com/office/drawing/2014/main" id="{72A22E03-D148-4991-A5CC-3249ACE9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95600"/>
            <a:ext cx="49530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DE2E6"/>
            </a:solidFill>
            <a:prstDash val="solid"/>
          </a:ln>
        </p:spPr>
      </p:sp>
      <p:sp>
        <p:nvSpPr>
          <p:cNvPr id="27" name="threshold-eq">
            <a:extLst xmlns:a="http://schemas.openxmlformats.org/drawingml/2006/main">
              <a:ext uri="{FF2B5EF4-FFF2-40B4-BE49-F238E27FC236}">
                <a16:creationId xmlns:a16="http://schemas.microsoft.com/office/drawing/2014/main" id="{43020598-04CD-446A-914A-9E76D949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32629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>
                <a:solidFill>
                  <a:srgbClr val="232629"/>
                </a:solidFill>
                <a:latin typeface="Cambria Math"/>
                <a:ea typeface="Cambria Math"/>
                <a:cs typeface="Cambria Math"/>
              </a:rPr>
              <a:t>(1 + αᵢ)e*ₐ,ᵢL + cₐ = eₕL + cₕ</a:t>
            </a:r>
          </a:p>
        </p:txBody>
      </p:sp>
      <p:sp>
        <p:nvSpPr>
          <p:cNvPr id="28" name="threshold-sep">
            <a:extLst xmlns:a="http://schemas.openxmlformats.org/drawingml/2006/main">
              <a:ext uri="{FF2B5EF4-FFF2-40B4-BE49-F238E27FC236}">
                <a16:creationId xmlns:a16="http://schemas.microsoft.com/office/drawing/2014/main" id="{E9739F85-43A5-4C2E-BFAD-9BC6A3DA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338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6"/>
          </a:solidFill>
          <a:ln xmlns:a="http://schemas.openxmlformats.org/drawingml/2006/main" w="0">
            <a:solidFill>
              <a:srgbClr val="DDE2E6"/>
            </a:solidFill>
            <a:prstDash val="solid"/>
          </a:ln>
        </p:spPr>
      </p:sp>
      <p:sp>
        <p:nvSpPr>
          <p:cNvPr id="29" name="alpha-eq">
            <a:extLst xmlns:a="http://schemas.openxmlformats.org/drawingml/2006/main">
              <a:ext uri="{FF2B5EF4-FFF2-40B4-BE49-F238E27FC236}">
                <a16:creationId xmlns:a16="http://schemas.microsoft.com/office/drawing/2014/main" id="{F2F26028-1FA3-46C2-84F6-B51F5505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822B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>
                <a:solidFill>
                  <a:srgbClr val="D9822B"/>
                </a:solidFill>
                <a:latin typeface="Cambria Math"/>
                <a:ea typeface="Cambria Math"/>
                <a:cs typeface="Cambria Math"/>
              </a:rPr>
              <a:t>αᵢ = (eₕL + cₕ − cₐ) / (e*ₐ,ᵢL) − 1</a:t>
            </a:r>
          </a:p>
        </p:txBody>
      </p:sp>
      <p:sp>
        <p:nvSpPr>
          <p:cNvPr id="30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AFCE736C-931D-48A5-8290-015EC114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4953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interpretation-title">
            <a:extLst xmlns:a="http://schemas.openxmlformats.org/drawingml/2006/main">
              <a:ext uri="{FF2B5EF4-FFF2-40B4-BE49-F238E27FC236}">
                <a16:creationId xmlns:a16="http://schemas.microsoft.com/office/drawing/2014/main" id="{5A87A321-38C6-402F-A761-33E0AB85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5B6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5B67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32" name="interpretation-body">
            <a:extLst xmlns:a="http://schemas.openxmlformats.org/drawingml/2006/main">
              <a:ext uri="{FF2B5EF4-FFF2-40B4-BE49-F238E27FC236}">
                <a16:creationId xmlns:a16="http://schemas.microsoft.com/office/drawing/2014/main" id="{E1B2BF28-C309-40D0-938A-6CCE50DE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578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0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2629"/>
                </a:solidFill>
                <a:latin typeface="Microsoft YaHei"/>
                <a:ea typeface="Microsoft YaHei"/>
                <a:cs typeface="Microsoft YaHei"/>
              </a:rPr>
              <a:t>客观任务表现与来源选择共同识别 α；perceived trustworthiness 用于判断该选择差异能否解释为信任差异。</a:t>
            </a:r>
          </a:p>
        </p:txBody>
      </p:sp>
      <p:sp>
        <p:nvSpPr>
          <p:cNvPr id="33" name="caveat">
            <a:extLst xmlns:a="http://schemas.openxmlformats.org/drawingml/2006/main">
              <a:ext uri="{FF2B5EF4-FFF2-40B4-BE49-F238E27FC236}">
                <a16:creationId xmlns:a16="http://schemas.microsoft.com/office/drawing/2014/main" id="{18708210-283B-4D53-A09A-A9B8664E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962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4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64B3C"/>
                </a:solidFill>
                <a:latin typeface="Microsoft YaHei"/>
                <a:ea typeface="Microsoft YaHei"/>
                <a:cs typeface="Microsoft YaHei"/>
              </a:rPr>
              <a:t>若 q̂ 系统偏离 q，A4 不成立，选择差异不能直接解释为 α。</a:t>
            </a:r>
          </a:p>
        </p:txBody>
      </p:sp>
      <p:sp>
        <p:nvSpPr>
          <p:cNvPr id="34" name="page-3">
            <a:extLst xmlns:a="http://schemas.openxmlformats.org/drawingml/2006/main">
              <a:ext uri="{FF2B5EF4-FFF2-40B4-BE49-F238E27FC236}">
                <a16:creationId xmlns:a16="http://schemas.microsoft.com/office/drawing/2014/main" id="{E261F1E7-DDFF-4A53-B6F7-48E79EB0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AA1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AA1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18388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2026-08-24T07:21:19.8200000Z</dcterms:created>
  <dcterms:modified xsi:type="dcterms:W3CDTF">2026-08-24T07:21:19.8210000Z</dcterms:modified>
</coreProperties>
</file>