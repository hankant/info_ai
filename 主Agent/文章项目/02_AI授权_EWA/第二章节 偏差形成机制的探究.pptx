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0.xml"/><Relationship Id="rId3" Type="http://schemas.openxmlformats.org/officeDocument/2006/relationships/image" Target="../media/image1.png"/><Relationship Id="rId2" Type="http://schemas.openxmlformats.org/officeDocument/2006/relationships/tags" Target="../tags/tag69.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0.xml"/><Relationship Id="rId2" Type="http://schemas.openxmlformats.org/officeDocument/2006/relationships/image" Target="../media/image4.png"/><Relationship Id="rId1" Type="http://schemas.openxmlformats.org/officeDocument/2006/relationships/tags" Target="../tags/tag8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image" Target="../media/image5.png"/><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tags" Target="../tags/tag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00475" y="2723585"/>
            <a:ext cx="10969200" cy="705600"/>
          </a:xfrm>
        </p:spPr>
        <p:txBody>
          <a:bodyPr>
            <a:normAutofit fontScale="90000"/>
          </a:bodyPr>
          <a:p>
            <a:r>
              <a:rPr lang="zh-CN" altLang="en-US"/>
              <a:t>第二章节</a:t>
            </a:r>
            <a:r>
              <a:rPr lang="en-US" altLang="zh-CN"/>
              <a:t> </a:t>
            </a:r>
            <a:r>
              <a:rPr lang="zh-CN" altLang="en-US"/>
              <a:t>偏差形成机制的</a:t>
            </a:r>
            <a:r>
              <a:rPr lang="zh-CN" altLang="en-US"/>
              <a:t>探究：人类信任与</a:t>
            </a:r>
            <a:r>
              <a:rPr lang="en-US" altLang="zh-CN"/>
              <a:t>AI</a:t>
            </a:r>
            <a:r>
              <a:rPr lang="zh-CN" altLang="en-US"/>
              <a:t>实际能力的错配</a:t>
            </a:r>
            <a:endParaRPr lang="zh-CN" alt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研究切入：现实中的</a:t>
            </a:r>
            <a:r>
              <a:rPr lang="zh-CN" altLang="en-US"/>
              <a:t>冲突</a:t>
            </a:r>
            <a:endParaRPr lang="zh-CN" altLang="en-US"/>
          </a:p>
        </p:txBody>
      </p:sp>
      <p:sp>
        <p:nvSpPr>
          <p:cNvPr id="3" name="内容占位符 2"/>
          <p:cNvSpPr>
            <a:spLocks noGrp="1"/>
          </p:cNvSpPr>
          <p:nvPr>
            <p:ph idx="1"/>
            <p:custDataLst>
              <p:tags r:id="rId2"/>
            </p:custDataLst>
          </p:nvPr>
        </p:nvSpPr>
        <p:spPr>
          <a:xfrm>
            <a:off x="608330" y="1490345"/>
            <a:ext cx="10968990" cy="894715"/>
          </a:xfrm>
        </p:spPr>
        <p:txBody>
          <a:bodyPr/>
          <a:p>
            <a:r>
              <a:rPr lang="zh-CN" altLang="en-US"/>
              <a:t>大量的企业</a:t>
            </a:r>
            <a:r>
              <a:rPr lang="en-US" altLang="zh-CN"/>
              <a:t>/</a:t>
            </a:r>
            <a:r>
              <a:rPr lang="zh-CN" altLang="en-US"/>
              <a:t>政府机构使用激励政策来激励员工使用</a:t>
            </a:r>
            <a:r>
              <a:rPr lang="en-US" altLang="zh-CN"/>
              <a:t>AI</a:t>
            </a:r>
            <a:r>
              <a:rPr lang="zh-CN" altLang="en-US"/>
              <a:t>工具，这样的奖励是否会改变员工对</a:t>
            </a:r>
            <a:r>
              <a:rPr lang="en-US" altLang="zh-CN"/>
              <a:t>AI</a:t>
            </a:r>
            <a:r>
              <a:rPr lang="zh-CN" altLang="en-US"/>
              <a:t>的能力判断？会不会造成系统内部对</a:t>
            </a:r>
            <a:r>
              <a:rPr lang="en-US" altLang="zh-CN"/>
              <a:t>AI</a:t>
            </a:r>
            <a:r>
              <a:rPr lang="zh-CN" altLang="en-US"/>
              <a:t>的盲目</a:t>
            </a:r>
            <a:r>
              <a:rPr lang="zh-CN" altLang="en-US"/>
              <a:t>信任？</a:t>
            </a:r>
            <a:endParaRPr lang="zh-CN" altLang="en-US"/>
          </a:p>
        </p:txBody>
      </p:sp>
      <p:sp>
        <p:nvSpPr>
          <p:cNvPr id="4" name="文本框 3"/>
          <p:cNvSpPr txBox="1"/>
          <p:nvPr/>
        </p:nvSpPr>
        <p:spPr>
          <a:xfrm>
            <a:off x="853440" y="4953000"/>
            <a:ext cx="10379710" cy="1298575"/>
          </a:xfrm>
          <a:prstGeom prst="rect">
            <a:avLst/>
          </a:prstGeom>
          <a:noFill/>
        </p:spPr>
        <p:txBody>
          <a:bodyPr wrap="square" rtlCol="0">
            <a:noAutofit/>
          </a:bodyPr>
          <a:p>
            <a:r>
              <a:rPr lang="zh-CN" altLang="en-US"/>
              <a:t>激励的目标：提高生产效率，合理地利用</a:t>
            </a:r>
            <a:r>
              <a:rPr lang="en-US" altLang="zh-CN"/>
              <a:t>AI</a:t>
            </a:r>
            <a:r>
              <a:rPr lang="zh-CN" altLang="en-US"/>
              <a:t>的</a:t>
            </a:r>
            <a:r>
              <a:rPr lang="zh-CN" altLang="en-US"/>
              <a:t>能力</a:t>
            </a:r>
            <a:endParaRPr lang="zh-CN" altLang="en-US"/>
          </a:p>
          <a:p>
            <a:r>
              <a:rPr lang="zh-CN" altLang="en-US"/>
              <a:t>实际可能催生的结果：员工过度信赖</a:t>
            </a:r>
            <a:r>
              <a:rPr lang="en-US" altLang="zh-CN"/>
              <a:t>AI</a:t>
            </a:r>
            <a:r>
              <a:rPr lang="zh-CN" altLang="en-US"/>
              <a:t>，基层操作中出现大量不可控</a:t>
            </a:r>
            <a:r>
              <a:rPr lang="zh-CN" altLang="en-US"/>
              <a:t>风险</a:t>
            </a:r>
            <a:endParaRPr lang="zh-CN" altLang="en-US"/>
          </a:p>
        </p:txBody>
      </p:sp>
      <p:graphicFrame>
        <p:nvGraphicFramePr>
          <p:cNvPr id="7" name="表格 6"/>
          <p:cNvGraphicFramePr/>
          <p:nvPr/>
        </p:nvGraphicFramePr>
        <p:xfrm>
          <a:off x="853440" y="2500630"/>
          <a:ext cx="10485120" cy="0"/>
        </p:xfrm>
        <a:graphic>
          <a:graphicData uri="http://schemas.openxmlformats.org/drawingml/2006/table">
            <a:tbl>
              <a:tblPr/>
              <a:tblGrid>
                <a:gridCol w="2621280"/>
                <a:gridCol w="2621280"/>
                <a:gridCol w="2621280"/>
                <a:gridCol w="2621280"/>
              </a:tblGrid>
              <a:tr h="0">
                <a:tc>
                  <a:txBody>
                    <a:bodyPr/>
                    <a:p>
                      <a:r>
                        <a:rPr lang="zh-CN" altLang="en-US" sz="1100"/>
                        <a:t>案例</a:t>
                      </a:r>
                      <a:endParaRPr lang="zh-CN" altLang="en-US" sz="1100"/>
                    </a:p>
                  </a:txBody>
                  <a:tcPr marL="0" marR="0" marT="0" marB="0" anchor="ctr" anchorCtr="0">
                    <a:lnL>
                      <a:noFill/>
                    </a:lnL>
                    <a:lnR>
                      <a:noFill/>
                    </a:lnR>
                    <a:lnT>
                      <a:noFill/>
                    </a:lnT>
                    <a:lnB>
                      <a:noFill/>
                    </a:lnB>
                    <a:noFill/>
                  </a:tcPr>
                </a:tc>
                <a:tc>
                  <a:txBody>
                    <a:bodyPr/>
                    <a:p>
                      <a:r>
                        <a:rPr lang="zh-CN" altLang="en-US" sz="1100"/>
                        <a:t>实际政策</a:t>
                      </a:r>
                      <a:endParaRPr lang="zh-CN" altLang="en-US" sz="1100"/>
                    </a:p>
                  </a:txBody>
                  <a:tcPr marL="0" marR="0" marT="0" marB="0" anchor="ctr" anchorCtr="0">
                    <a:lnL>
                      <a:noFill/>
                    </a:lnL>
                    <a:lnR>
                      <a:noFill/>
                    </a:lnR>
                    <a:lnT>
                      <a:noFill/>
                    </a:lnT>
                    <a:lnB>
                      <a:noFill/>
                    </a:lnB>
                    <a:noFill/>
                  </a:tcPr>
                </a:tc>
                <a:tc>
                  <a:txBody>
                    <a:bodyPr/>
                    <a:p>
                      <a:r>
                        <a:rPr lang="zh-CN" altLang="en-US" sz="1100"/>
                        <a:t>激励对象与层级</a:t>
                      </a:r>
                      <a:endParaRPr lang="zh-CN" altLang="en-US" sz="1100"/>
                    </a:p>
                  </a:txBody>
                  <a:tcPr marL="0" marR="0" marT="0" marB="0" anchor="ctr" anchorCtr="0">
                    <a:lnL>
                      <a:noFill/>
                    </a:lnL>
                    <a:lnR>
                      <a:noFill/>
                    </a:lnR>
                    <a:lnT>
                      <a:noFill/>
                    </a:lnT>
                    <a:lnB>
                      <a:noFill/>
                    </a:lnB>
                    <a:noFill/>
                  </a:tcPr>
                </a:tc>
                <a:tc>
                  <a:txBody>
                    <a:bodyPr/>
                    <a:p>
                      <a:r>
                        <a:rPr lang="zh-CN" altLang="en-US" sz="1100"/>
                        <a:t>与实验的对应</a:t>
                      </a:r>
                      <a:endParaRPr lang="zh-CN" altLang="en-US" sz="1100"/>
                    </a:p>
                  </a:txBody>
                  <a:tcPr marL="0" marR="0" marT="0" marB="0" anchor="ctr" anchorCtr="0">
                    <a:lnL>
                      <a:noFill/>
                    </a:lnL>
                    <a:lnR>
                      <a:noFill/>
                    </a:lnR>
                    <a:lnT>
                      <a:noFill/>
                    </a:lnT>
                    <a:lnB>
                      <a:noFill/>
                    </a:lnB>
                    <a:noFill/>
                  </a:tcPr>
                </a:tc>
              </a:tr>
              <a:tr h="0">
                <a:tc>
                  <a:txBody>
                    <a:bodyPr/>
                    <a:p>
                      <a:r>
                        <a:rPr lang="zh-CN" altLang="en-US" sz="1100"/>
                        <a:t>上海“模型券（</a:t>
                      </a:r>
                      <a:r>
                        <a:rPr lang="en-US" altLang="zh-CN" sz="1100"/>
                        <a:t>Token</a:t>
                      </a:r>
                      <a:r>
                        <a:rPr lang="zh-CN" altLang="en-US" sz="1100"/>
                        <a:t>券）”</a:t>
                      </a:r>
                      <a:endParaRPr lang="zh-CN" altLang="en-US" sz="1100"/>
                    </a:p>
                  </a:txBody>
                  <a:tcPr marL="0" marR="0" marT="0" marB="0" anchor="ctr" anchorCtr="0">
                    <a:lnL>
                      <a:noFill/>
                    </a:lnL>
                    <a:lnR>
                      <a:noFill/>
                    </a:lnR>
                    <a:lnT>
                      <a:noFill/>
                    </a:lnT>
                    <a:lnB>
                      <a:noFill/>
                    </a:lnB>
                    <a:noFill/>
                  </a:tcPr>
                </a:tc>
                <a:tc>
                  <a:txBody>
                    <a:bodyPr/>
                    <a:p>
                      <a:r>
                        <a:rPr lang="zh-CN" altLang="en-US" sz="1100"/>
                        <a:t>补贴企业调用第三方大模型</a:t>
                      </a:r>
                      <a:r>
                        <a:rPr lang="en-US" altLang="zh-CN" sz="1100"/>
                        <a:t>API</a:t>
                      </a:r>
                      <a:r>
                        <a:rPr lang="zh-CN" altLang="en-US" sz="1100"/>
                        <a:t>产生的费用，以及模型私有化部署费用</a:t>
                      </a:r>
                      <a:endParaRPr lang="zh-CN" altLang="en-US" sz="1100"/>
                    </a:p>
                  </a:txBody>
                  <a:tcPr marL="0" marR="0" marT="0" marB="0" anchor="ctr" anchorCtr="0">
                    <a:lnL>
                      <a:noFill/>
                    </a:lnL>
                    <a:lnR>
                      <a:noFill/>
                    </a:lnR>
                    <a:lnT>
                      <a:noFill/>
                    </a:lnT>
                    <a:lnB>
                      <a:noFill/>
                    </a:lnB>
                    <a:noFill/>
                  </a:tcPr>
                </a:tc>
                <a:tc>
                  <a:txBody>
                    <a:bodyPr/>
                    <a:p>
                      <a:r>
                        <a:rPr lang="zh-CN" altLang="en-US" sz="1100"/>
                        <a:t>政府</a:t>
                      </a:r>
                      <a:r>
                        <a:rPr lang="en-US" altLang="zh-CN" sz="1100"/>
                        <a:t>→</a:t>
                      </a:r>
                      <a:r>
                        <a:rPr lang="zh-CN" altLang="en-US" sz="1100"/>
                        <a:t>企业</a:t>
                      </a:r>
                      <a:endParaRPr lang="zh-CN" altLang="en-US" sz="1100"/>
                    </a:p>
                  </a:txBody>
                  <a:tcPr marL="0" marR="0" marT="0" marB="0" anchor="ctr" anchorCtr="0">
                    <a:lnL>
                      <a:noFill/>
                    </a:lnL>
                    <a:lnR>
                      <a:noFill/>
                    </a:lnR>
                    <a:lnT>
                      <a:noFill/>
                    </a:lnT>
                    <a:lnB>
                      <a:noFill/>
                    </a:lnB>
                    <a:noFill/>
                  </a:tcPr>
                </a:tc>
                <a:tc>
                  <a:txBody>
                    <a:bodyPr/>
                    <a:p>
                      <a:r>
                        <a:rPr lang="zh-CN" altLang="en-US" sz="1100"/>
                        <a:t>最接近“</a:t>
                      </a:r>
                      <a:r>
                        <a:rPr lang="en-US" altLang="zh-CN" sz="1100"/>
                        <a:t>AI</a:t>
                      </a:r>
                      <a:r>
                        <a:rPr lang="zh-CN" altLang="en-US" sz="1100"/>
                        <a:t>使用成本补贴”</a:t>
                      </a:r>
                      <a:endParaRPr lang="zh-CN" altLang="en-US" sz="1100"/>
                    </a:p>
                  </a:txBody>
                  <a:tcPr marL="0" marR="0" marT="0" marB="0" anchor="ctr" anchorCtr="0">
                    <a:lnL>
                      <a:noFill/>
                    </a:lnL>
                    <a:lnR>
                      <a:noFill/>
                    </a:lnR>
                    <a:lnT>
                      <a:noFill/>
                    </a:lnT>
                    <a:lnB>
                      <a:noFill/>
                    </a:lnB>
                    <a:noFill/>
                  </a:tcPr>
                </a:tc>
              </a:tr>
              <a:tr h="0">
                <a:tc>
                  <a:txBody>
                    <a:bodyPr/>
                    <a:p>
                      <a:endParaRPr lang="zh-CN" altLang="en-US"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zh-CN" altLang="en-US" sz="1100"/>
                    </a:p>
                  </a:txBody>
                  <a:tcPr marL="0" marR="0" marT="0" marB="0" anchor="ctr" anchorCtr="0">
                    <a:lnL>
                      <a:noFill/>
                    </a:lnL>
                    <a:lnR>
                      <a:noFill/>
                    </a:lnR>
                    <a:lnT>
                      <a:noFill/>
                    </a:lnT>
                    <a:lnB>
                      <a:noFill/>
                    </a:lnB>
                    <a:noFill/>
                  </a:tcPr>
                </a:tc>
                <a:tc>
                  <a:txBody>
                    <a:bodyPr/>
                    <a:p>
                      <a:endParaRPr lang="zh-CN" altLang="en-US" sz="1100"/>
                    </a:p>
                  </a:txBody>
                  <a:tcPr marL="0" marR="0" marT="0" marB="0" anchor="ctr" anchorCtr="0">
                    <a:lnL>
                      <a:noFill/>
                    </a:lnL>
                    <a:lnR>
                      <a:noFill/>
                    </a:lnR>
                    <a:lnT>
                      <a:noFill/>
                    </a:lnT>
                    <a:lnB>
                      <a:noFill/>
                    </a:lnB>
                    <a:noFill/>
                  </a:tcPr>
                </a:tc>
              </a:tr>
              <a:tr h="0">
                <a:tc>
                  <a:txBody>
                    <a:bodyPr/>
                    <a:p>
                      <a:r>
                        <a:rPr lang="zh-CN" altLang="en-US" sz="1100"/>
                        <a:t>新加坡</a:t>
                      </a:r>
                      <a:r>
                        <a:rPr lang="en-US" altLang="zh-CN" sz="1100"/>
                        <a:t>GenAI</a:t>
                      </a:r>
                      <a:r>
                        <a:rPr lang="zh-CN" altLang="en-US" sz="1100"/>
                        <a:t>支持计划</a:t>
                      </a:r>
                      <a:endParaRPr lang="zh-CN" altLang="en-US" sz="1100"/>
                    </a:p>
                  </a:txBody>
                  <a:tcPr marL="0" marR="0" marT="0" marB="0" anchor="ctr" anchorCtr="0">
                    <a:lnL>
                      <a:noFill/>
                    </a:lnL>
                    <a:lnR>
                      <a:noFill/>
                    </a:lnR>
                    <a:lnT>
                      <a:noFill/>
                    </a:lnT>
                    <a:lnB>
                      <a:noFill/>
                    </a:lnB>
                    <a:noFill/>
                  </a:tcPr>
                </a:tc>
                <a:tc>
                  <a:txBody>
                    <a:bodyPr/>
                    <a:p>
                      <a:r>
                        <a:rPr lang="zh-CN" altLang="en-US" sz="1100"/>
                        <a:t>为企业采用</a:t>
                      </a:r>
                      <a:r>
                        <a:rPr lang="en-US" altLang="zh-CN" sz="1100"/>
                        <a:t>GenAI</a:t>
                      </a:r>
                      <a:r>
                        <a:rPr lang="zh-CN" altLang="en-US" sz="1100"/>
                        <a:t>解决方案提供最高</a:t>
                      </a:r>
                      <a:r>
                        <a:rPr lang="en-US" altLang="zh-CN" sz="1100"/>
                        <a:t>50%</a:t>
                      </a:r>
                      <a:r>
                        <a:rPr lang="zh-CN" altLang="en-US" sz="1100"/>
                        <a:t>的</a:t>
                      </a:r>
                      <a:r>
                        <a:rPr lang="en-US" altLang="zh-CN" sz="1100"/>
                        <a:t>grant support</a:t>
                      </a:r>
                      <a:r>
                        <a:rPr lang="zh-CN" altLang="en-US" sz="1100"/>
                        <a:t>；新的国家计划拟支持</a:t>
                      </a:r>
                      <a:r>
                        <a:rPr lang="en-US" altLang="zh-CN" sz="1100"/>
                        <a:t>1</a:t>
                      </a:r>
                      <a:r>
                        <a:rPr lang="zh-CN" altLang="en-US" sz="1100"/>
                        <a:t>万家企业和</a:t>
                      </a:r>
                      <a:r>
                        <a:rPr lang="en-US" altLang="zh-CN" sz="1100"/>
                        <a:t>10</a:t>
                      </a:r>
                      <a:r>
                        <a:rPr lang="zh-CN" altLang="en-US" sz="1100"/>
                        <a:t>万名劳动者深化</a:t>
                      </a:r>
                      <a:r>
                        <a:rPr lang="en-US" altLang="zh-CN" sz="1100"/>
                        <a:t>AI</a:t>
                      </a:r>
                      <a:r>
                        <a:rPr lang="zh-CN" altLang="en-US" sz="1100"/>
                        <a:t>应用</a:t>
                      </a:r>
                      <a:endParaRPr lang="zh-CN" altLang="en-US" sz="1100"/>
                    </a:p>
                  </a:txBody>
                  <a:tcPr marL="0" marR="0" marT="0" marB="0" anchor="ctr" anchorCtr="0">
                    <a:lnL>
                      <a:noFill/>
                    </a:lnL>
                    <a:lnR>
                      <a:noFill/>
                    </a:lnR>
                    <a:lnT>
                      <a:noFill/>
                    </a:lnT>
                    <a:lnB>
                      <a:noFill/>
                    </a:lnB>
                    <a:noFill/>
                  </a:tcPr>
                </a:tc>
                <a:tc>
                  <a:txBody>
                    <a:bodyPr/>
                    <a:p>
                      <a:r>
                        <a:rPr lang="zh-CN" altLang="en-US" sz="1100"/>
                        <a:t>政府</a:t>
                      </a:r>
                      <a:r>
                        <a:rPr lang="en-US" altLang="zh-CN" sz="1100"/>
                        <a:t>→</a:t>
                      </a:r>
                      <a:r>
                        <a:rPr lang="zh-CN" altLang="en-US" sz="1100"/>
                        <a:t>企业和劳动者</a:t>
                      </a:r>
                      <a:endParaRPr lang="zh-CN" altLang="en-US" sz="1100"/>
                    </a:p>
                  </a:txBody>
                  <a:tcPr marL="0" marR="0" marT="0" marB="0" anchor="ctr" anchorCtr="0">
                    <a:lnL>
                      <a:noFill/>
                    </a:lnL>
                    <a:lnR>
                      <a:noFill/>
                    </a:lnR>
                    <a:lnT>
                      <a:noFill/>
                    </a:lnT>
                    <a:lnB>
                      <a:noFill/>
                    </a:lnB>
                    <a:noFill/>
                  </a:tcPr>
                </a:tc>
                <a:tc>
                  <a:txBody>
                    <a:bodyPr/>
                    <a:p>
                      <a:r>
                        <a:rPr lang="zh-CN" altLang="en-US" sz="1100"/>
                        <a:t>降低组织采购及采用成本</a:t>
                      </a:r>
                      <a:endParaRPr lang="zh-CN" altLang="en-US" sz="1100"/>
                    </a:p>
                  </a:txBody>
                  <a:tcPr marL="0" marR="0" marT="0" marB="0" anchor="ctr" anchorCtr="0">
                    <a:lnL>
                      <a:noFill/>
                    </a:lnL>
                    <a:lnR>
                      <a:noFill/>
                    </a:lnR>
                    <a:lnT>
                      <a:noFill/>
                    </a:lnT>
                    <a:lnB>
                      <a:noFill/>
                    </a:lnB>
                    <a:noFill/>
                  </a:tcPr>
                </a:tc>
              </a:tr>
              <a:tr h="0">
                <a:tc>
                  <a:txBody>
                    <a:bodyPr/>
                    <a:p>
                      <a:r>
                        <a:rPr lang="en-US" altLang="zh-CN" sz="1100"/>
                        <a:t>Shopify</a:t>
                      </a:r>
                      <a:endParaRPr lang="en-US" altLang="zh-CN" sz="1100"/>
                    </a:p>
                  </a:txBody>
                  <a:tcPr marL="0" marR="0" marT="0" marB="0" anchor="ctr" anchorCtr="0">
                    <a:lnL>
                      <a:noFill/>
                    </a:lnL>
                    <a:lnR>
                      <a:noFill/>
                    </a:lnR>
                    <a:lnT>
                      <a:noFill/>
                    </a:lnT>
                    <a:lnB>
                      <a:noFill/>
                    </a:lnB>
                    <a:noFill/>
                  </a:tcPr>
                </a:tc>
                <a:tc>
                  <a:txBody>
                    <a:bodyPr/>
                    <a:p>
                      <a:r>
                        <a:rPr lang="zh-CN" altLang="en-US" sz="1100"/>
                        <a:t>将“</a:t>
                      </a:r>
                      <a:r>
                        <a:rPr lang="en-US" altLang="zh-CN" sz="1100"/>
                        <a:t>reflexive AI usage”</a:t>
                      </a:r>
                      <a:r>
                        <a:rPr lang="zh-CN" altLang="en-US" sz="1100"/>
                        <a:t>设为员工的基本要求；为团队提供不限量的先进模型访问和大量</a:t>
                      </a:r>
                      <a:r>
                        <a:rPr lang="en-US" altLang="zh-CN" sz="1100"/>
                        <a:t>Cursor</a:t>
                      </a:r>
                      <a:r>
                        <a:rPr lang="zh-CN" altLang="en-US" sz="1100"/>
                        <a:t>许可</a:t>
                      </a:r>
                      <a:endParaRPr lang="zh-CN" altLang="en-US" sz="1100"/>
                    </a:p>
                  </a:txBody>
                  <a:tcPr marL="0" marR="0" marT="0" marB="0" anchor="ctr" anchorCtr="0">
                    <a:lnL>
                      <a:noFill/>
                    </a:lnL>
                    <a:lnR>
                      <a:noFill/>
                    </a:lnR>
                    <a:lnT>
                      <a:noFill/>
                    </a:lnT>
                    <a:lnB>
                      <a:noFill/>
                    </a:lnB>
                    <a:noFill/>
                  </a:tcPr>
                </a:tc>
                <a:tc>
                  <a:txBody>
                    <a:bodyPr/>
                    <a:p>
                      <a:r>
                        <a:rPr lang="zh-CN" altLang="en-US" sz="1100"/>
                        <a:t>企业</a:t>
                      </a:r>
                      <a:r>
                        <a:rPr lang="en-US" altLang="zh-CN" sz="1100"/>
                        <a:t>→</a:t>
                      </a:r>
                      <a:r>
                        <a:rPr lang="zh-CN" altLang="en-US" sz="1100"/>
                        <a:t>员工</a:t>
                      </a:r>
                      <a:endParaRPr lang="zh-CN" altLang="en-US" sz="1100"/>
                    </a:p>
                  </a:txBody>
                  <a:tcPr marL="0" marR="0" marT="0" marB="0" anchor="ctr" anchorCtr="0">
                    <a:lnL>
                      <a:noFill/>
                    </a:lnL>
                    <a:lnR>
                      <a:noFill/>
                    </a:lnR>
                    <a:lnT>
                      <a:noFill/>
                    </a:lnT>
                    <a:lnB>
                      <a:noFill/>
                    </a:lnB>
                    <a:noFill/>
                  </a:tcPr>
                </a:tc>
                <a:tc>
                  <a:txBody>
                    <a:bodyPr/>
                    <a:p>
                      <a:r>
                        <a:rPr lang="zh-CN" altLang="en-US" sz="1100"/>
                        <a:t>企业承担工具费用并提出使用要求</a:t>
                      </a:r>
                      <a:endParaRPr lang="zh-CN" altLang="en-US" sz="1100"/>
                    </a:p>
                  </a:txBody>
                  <a:tcPr marL="0" marR="0" marT="0" marB="0" anchor="ctr" anchorCtr="0">
                    <a:lnL>
                      <a:noFill/>
                    </a:lnL>
                    <a:lnR>
                      <a:noFill/>
                    </a:lnR>
                    <a:lnT>
                      <a:noFill/>
                    </a:lnT>
                    <a:lnB>
                      <a:noFill/>
                    </a:lnB>
                    <a:noFill/>
                  </a:tcPr>
                </a:tc>
              </a:tr>
              <a:tr h="0">
                <a:tc>
                  <a:txBody>
                    <a:bodyPr/>
                    <a:p>
                      <a:r>
                        <a:rPr lang="en-US" altLang="zh-CN" sz="1100"/>
                        <a:t>Omnisend</a:t>
                      </a:r>
                      <a:endParaRPr lang="en-US" altLang="zh-CN" sz="1100"/>
                    </a:p>
                  </a:txBody>
                  <a:tcPr marL="0" marR="0" marT="0" marB="0" anchor="ctr" anchorCtr="0">
                    <a:lnL>
                      <a:noFill/>
                    </a:lnL>
                    <a:lnR>
                      <a:noFill/>
                    </a:lnR>
                    <a:lnT>
                      <a:noFill/>
                    </a:lnT>
                    <a:lnB>
                      <a:noFill/>
                    </a:lnB>
                    <a:noFill/>
                  </a:tcPr>
                </a:tc>
                <a:tc>
                  <a:txBody>
                    <a:bodyPr/>
                    <a:p>
                      <a:r>
                        <a:rPr lang="zh-CN" altLang="en-US" sz="1100"/>
                        <a:t>将有业务价值的</a:t>
                      </a:r>
                      <a:r>
                        <a:rPr lang="en-US" altLang="zh-CN" sz="1100"/>
                        <a:t>AI</a:t>
                      </a:r>
                      <a:r>
                        <a:rPr lang="zh-CN" altLang="en-US" sz="1100"/>
                        <a:t>采用纳入绩效与薪酬讨论，并向有效使用</a:t>
                      </a:r>
                      <a:r>
                        <a:rPr lang="en-US" altLang="zh-CN" sz="1100"/>
                        <a:t>AI</a:t>
                      </a:r>
                      <a:r>
                        <a:rPr lang="zh-CN" altLang="en-US" sz="1100"/>
                        <a:t>的员工提供现金奖金</a:t>
                      </a:r>
                      <a:endParaRPr lang="zh-CN" altLang="en-US" sz="1100"/>
                    </a:p>
                  </a:txBody>
                  <a:tcPr marL="0" marR="0" marT="0" marB="0" anchor="ctr" anchorCtr="0">
                    <a:lnL>
                      <a:noFill/>
                    </a:lnL>
                    <a:lnR>
                      <a:noFill/>
                    </a:lnR>
                    <a:lnT>
                      <a:noFill/>
                    </a:lnT>
                    <a:lnB>
                      <a:noFill/>
                    </a:lnB>
                    <a:noFill/>
                  </a:tcPr>
                </a:tc>
                <a:tc>
                  <a:txBody>
                    <a:bodyPr/>
                    <a:p>
                      <a:r>
                        <a:rPr lang="zh-CN" altLang="en-US" sz="1100"/>
                        <a:t>企业</a:t>
                      </a:r>
                      <a:r>
                        <a:rPr lang="en-US" altLang="zh-CN" sz="1100"/>
                        <a:t>→</a:t>
                      </a:r>
                      <a:r>
                        <a:rPr lang="zh-CN" altLang="en-US" sz="1100"/>
                        <a:t>员工</a:t>
                      </a:r>
                      <a:endParaRPr lang="zh-CN" altLang="en-US" sz="1100"/>
                    </a:p>
                  </a:txBody>
                  <a:tcPr marL="0" marR="0" marT="0" marB="0" anchor="ctr" anchorCtr="0">
                    <a:lnL>
                      <a:noFill/>
                    </a:lnL>
                    <a:lnR>
                      <a:noFill/>
                    </a:lnR>
                    <a:lnT>
                      <a:noFill/>
                    </a:lnT>
                    <a:lnB>
                      <a:noFill/>
                    </a:lnB>
                    <a:noFill/>
                  </a:tcPr>
                </a:tc>
                <a:tc>
                  <a:txBody>
                    <a:bodyPr/>
                    <a:p>
                      <a:r>
                        <a:rPr lang="zh-CN" altLang="en-US" sz="1100"/>
                        <a:t>最接近实验中的正向奖金</a:t>
                      </a:r>
                      <a:endParaRPr lang="zh-CN" altLang="en-US" sz="1100"/>
                    </a:p>
                  </a:txBody>
                  <a:tcPr marL="0" marR="0" marT="0" marB="0" anchor="ctr" anchorCtr="0">
                    <a:lnL>
                      <a:noFill/>
                    </a:lnL>
                    <a:lnR>
                      <a:noFill/>
                    </a:lnR>
                    <a:lnT>
                      <a:noFill/>
                    </a:lnT>
                    <a:lnB>
                      <a:noFill/>
                    </a:lnB>
                    <a:noFill/>
                  </a:tcPr>
                </a:tc>
              </a:tr>
              <a:tr h="0">
                <a:tc>
                  <a:txBody>
                    <a:bodyPr/>
                    <a:p>
                      <a:endParaRPr lang="en-US" altLang="zh-CN" sz="1100"/>
                    </a:p>
                  </a:txBody>
                  <a:tcPr marL="0" marR="0" marT="0" marB="0" anchor="ctr" anchorCtr="0">
                    <a:lnL>
                      <a:noFill/>
                    </a:lnL>
                    <a:lnR>
                      <a:noFill/>
                    </a:lnR>
                    <a:lnT>
                      <a:noFill/>
                    </a:lnT>
                    <a:lnB>
                      <a:noFill/>
                    </a:lnB>
                    <a:noFill/>
                  </a:tcPr>
                </a:tc>
                <a:tc>
                  <a:txBody>
                    <a:bodyPr/>
                    <a:p>
                      <a:endParaRPr lang="en-US" altLang="zh-CN" sz="1100"/>
                    </a:p>
                  </a:txBody>
                  <a:tcPr marL="0" marR="0" marT="0" marB="0" anchor="ctr" anchorCtr="0">
                    <a:lnL>
                      <a:noFill/>
                    </a:lnL>
                    <a:lnR>
                      <a:noFill/>
                    </a:lnR>
                    <a:lnT>
                      <a:noFill/>
                    </a:lnT>
                    <a:lnB>
                      <a:noFill/>
                    </a:lnB>
                    <a:noFill/>
                  </a:tcPr>
                </a:tc>
                <a:tc>
                  <a:txBody>
                    <a:bodyPr/>
                    <a:p>
                      <a:endParaRPr lang="zh-CN" altLang="en-US" sz="1100"/>
                    </a:p>
                  </a:txBody>
                  <a:tcPr marL="0" marR="0" marT="0" marB="0" anchor="ctr" anchorCtr="0">
                    <a:lnL>
                      <a:noFill/>
                    </a:lnL>
                    <a:lnR>
                      <a:noFill/>
                    </a:lnR>
                    <a:lnT>
                      <a:noFill/>
                    </a:lnT>
                    <a:lnB>
                      <a:noFill/>
                    </a:lnB>
                    <a:noFill/>
                  </a:tcPr>
                </a:tc>
                <a:tc>
                  <a:txBody>
                    <a:bodyPr/>
                    <a:p>
                      <a:endParaRPr lang="zh-CN" altLang="en-US" sz="11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“实际可信”与“实际依赖”是不同问题</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8179435" y="1499235"/>
            <a:ext cx="3252470" cy="5211445"/>
          </a:xfrm>
          <a:prstGeom prst="rect">
            <a:avLst/>
          </a:prstGeom>
        </p:spPr>
      </p:pic>
      <p:sp>
        <p:nvSpPr>
          <p:cNvPr id="5" name="文本框 4"/>
          <p:cNvSpPr txBox="1"/>
          <p:nvPr/>
        </p:nvSpPr>
        <p:spPr>
          <a:xfrm>
            <a:off x="608330" y="1499870"/>
            <a:ext cx="6621145" cy="645160"/>
          </a:xfrm>
          <a:prstGeom prst="rect">
            <a:avLst/>
          </a:prstGeom>
          <a:noFill/>
        </p:spPr>
        <p:txBody>
          <a:bodyPr wrap="square" rtlCol="0">
            <a:spAutoFit/>
          </a:bodyPr>
          <a:p>
            <a:r>
              <a:rPr lang="en-US" altLang="zh-CN"/>
              <a:t>“Trustworthiness, trust and trusting behaviour are connected but distinct constructs” (Everett et al., 2026, p. 390).</a:t>
            </a:r>
            <a:endParaRPr lang="en-US" altLang="zh-CN"/>
          </a:p>
        </p:txBody>
      </p:sp>
      <p:sp>
        <p:nvSpPr>
          <p:cNvPr id="3" name="文本框 2"/>
          <p:cNvSpPr txBox="1"/>
          <p:nvPr/>
        </p:nvSpPr>
        <p:spPr>
          <a:xfrm>
            <a:off x="608330" y="2536190"/>
            <a:ext cx="4064000" cy="3138170"/>
          </a:xfrm>
          <a:prstGeom prst="rect">
            <a:avLst/>
          </a:prstGeom>
          <a:noFill/>
        </p:spPr>
        <p:txBody>
          <a:bodyPr wrap="square" rtlCol="0">
            <a:spAutoFit/>
          </a:bodyPr>
          <a:p>
            <a:r>
              <a:rPr lang="en-US" altLang="zh-CN"/>
              <a:t>Actual trustworthiness</a:t>
            </a:r>
            <a:endParaRPr lang="en-US" altLang="zh-CN"/>
          </a:p>
          <a:p>
            <a:r>
              <a:rPr lang="en-US" altLang="zh-CN"/>
              <a:t>AI</a:t>
            </a:r>
            <a:r>
              <a:rPr lang="zh-CN" altLang="en-US"/>
              <a:t>实际上是否值得信任</a:t>
            </a:r>
            <a:endParaRPr lang="zh-CN" altLang="en-US"/>
          </a:p>
          <a:p>
            <a:r>
              <a:rPr lang="en-US" altLang="zh-CN"/>
              <a:t>            ↓</a:t>
            </a:r>
            <a:endParaRPr lang="en-US" altLang="zh-CN"/>
          </a:p>
          <a:p>
            <a:r>
              <a:rPr lang="en-US" altLang="zh-CN"/>
              <a:t>Perceived trustworthiness</a:t>
            </a:r>
            <a:endParaRPr lang="en-US" altLang="zh-CN"/>
          </a:p>
          <a:p>
            <a:r>
              <a:rPr lang="zh-CN" altLang="en-US"/>
              <a:t>使用者是否认为</a:t>
            </a:r>
            <a:r>
              <a:rPr lang="en-US" altLang="zh-CN"/>
              <a:t>AI</a:t>
            </a:r>
            <a:r>
              <a:rPr lang="zh-CN" altLang="en-US"/>
              <a:t>值得信任</a:t>
            </a:r>
            <a:endParaRPr lang="zh-CN" altLang="en-US"/>
          </a:p>
          <a:p>
            <a:r>
              <a:rPr lang="en-US" altLang="zh-CN"/>
              <a:t>            ↓</a:t>
            </a:r>
            <a:endParaRPr lang="en-US" altLang="zh-CN"/>
          </a:p>
          <a:p>
            <a:r>
              <a:rPr lang="en-US" altLang="zh-CN"/>
              <a:t>Attitudinal trust</a:t>
            </a:r>
            <a:endParaRPr lang="en-US" altLang="zh-CN"/>
          </a:p>
          <a:p>
            <a:r>
              <a:rPr lang="zh-CN" altLang="en-US"/>
              <a:t>使用者是否愿意依赖</a:t>
            </a:r>
            <a:r>
              <a:rPr lang="en-US" altLang="zh-CN"/>
              <a:t>AI</a:t>
            </a:r>
            <a:endParaRPr lang="en-US" altLang="zh-CN"/>
          </a:p>
          <a:p>
            <a:r>
              <a:rPr lang="en-US" altLang="zh-CN"/>
              <a:t>            ↓</a:t>
            </a:r>
            <a:endParaRPr lang="en-US" altLang="zh-CN"/>
          </a:p>
          <a:p>
            <a:r>
              <a:rPr lang="en-US" altLang="zh-CN"/>
              <a:t>Trusting behaviour</a:t>
            </a:r>
            <a:endParaRPr lang="en-US" altLang="zh-CN"/>
          </a:p>
          <a:p>
            <a:r>
              <a:rPr lang="zh-CN" altLang="en-US"/>
              <a:t>使用者是否实际依赖</a:t>
            </a:r>
            <a:r>
              <a:rPr lang="en-US" altLang="zh-CN"/>
              <a:t>AI</a:t>
            </a:r>
            <a:endParaRPr lang="en-US" altLang="zh-CN"/>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理论</a:t>
            </a:r>
            <a:r>
              <a:rPr lang="zh-CN" altLang="en-US"/>
              <a:t>背景：</a:t>
            </a:r>
            <a:endParaRPr lang="zh-CN" altLang="en-US"/>
          </a:p>
        </p:txBody>
      </p:sp>
      <p:sp>
        <p:nvSpPr>
          <p:cNvPr id="6" name="内容占位符 2"/>
          <p:cNvSpPr>
            <a:spLocks noGrp="1"/>
          </p:cNvSpPr>
          <p:nvPr>
            <p:custDataLst>
              <p:tags r:id="rId2"/>
            </p:custDataLst>
          </p:nvPr>
        </p:nvSpPr>
        <p:spPr>
          <a:xfrm>
            <a:off x="379730" y="1737995"/>
            <a:ext cx="12858750" cy="421068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Greiner et al.（2026）</a:t>
            </a:r>
            <a:endParaRPr lang="en-US" altLang="zh-CN"/>
          </a:p>
          <a:p>
            <a:r>
              <a:rPr lang="zh-CN" altLang="en-US"/>
              <a:t>研究问题：</a:t>
            </a:r>
            <a:r>
              <a:rPr lang="en-US" altLang="zh-CN"/>
              <a:t>AI</a:t>
            </a:r>
            <a:r>
              <a:rPr lang="zh-CN" altLang="en-US"/>
              <a:t>决策情境中，激励能否使决策者更多地利用一个已知优于普通人的算法？</a:t>
            </a:r>
            <a:endParaRPr lang="zh-CN" altLang="en-US"/>
          </a:p>
          <a:p>
            <a:r>
              <a:rPr lang="zh-CN" altLang="en-US"/>
              <a:t>重新检验一个管理控制问题：早期发现的“财务激励适得其反”效应，在现代</a:t>
            </a:r>
            <a:r>
              <a:rPr lang="en-US" altLang="zh-CN"/>
              <a:t>AI</a:t>
            </a:r>
            <a:r>
              <a:rPr lang="zh-CN" altLang="en-US"/>
              <a:t>决策工具中是否仍然成立？</a:t>
            </a:r>
            <a:endParaRPr lang="zh-CN" altLang="en-US"/>
          </a:p>
          <a:p>
            <a:r>
              <a:rPr lang="zh-CN" altLang="en-US"/>
              <a:t>局限：主要因变量是算法建议权重，不是系统性的感知可信性或信任态度测量；</a:t>
            </a:r>
            <a:endParaRPr lang="zh-CN" altLang="en-US"/>
          </a:p>
          <a:p>
            <a:r>
              <a:rPr lang="zh-CN" altLang="en-US"/>
              <a:t>算法能力在各激励条件之间没有变化，研究只有一个相对优质的算法；</a:t>
            </a:r>
            <a:endParaRPr lang="zh-CN" altLang="en-US"/>
          </a:p>
          <a:p>
            <a:r>
              <a:rPr lang="zh-CN" altLang="en-US"/>
              <a:t>可信性只在实验后通过单题测量，无法区分感知可信性、信任态度与信任行为；</a:t>
            </a:r>
            <a:endParaRPr lang="zh-CN" altLang="en-US"/>
          </a:p>
          <a:p>
            <a:r>
              <a:rPr lang="zh-CN" altLang="en-US"/>
              <a:t>没有将主观能力判断与客观能力基准进行比较，因此不能识别信任校准或信任错配。</a:t>
            </a:r>
            <a:endParaRPr lang="zh-CN" altLang="en-US"/>
          </a:p>
          <a:p>
            <a:r>
              <a:rPr lang="zh-CN" altLang="en-US"/>
              <a:t>我们的研究进一步追问：激励造成的信任变化是否与</a:t>
            </a:r>
            <a:r>
              <a:rPr lang="en-US" altLang="zh-CN"/>
              <a:t>AI</a:t>
            </a:r>
            <a:r>
              <a:rPr lang="zh-CN" altLang="en-US"/>
              <a:t>实际能力相匹配？</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理论</a:t>
            </a:r>
            <a:r>
              <a:rPr lang="zh-CN" altLang="en-US"/>
              <a:t>冲突：经济激励可能只改变选择，也可能改变对</a:t>
            </a:r>
            <a:r>
              <a:rPr lang="en-US" altLang="zh-CN"/>
              <a:t>AI</a:t>
            </a:r>
            <a:r>
              <a:rPr lang="zh-CN" altLang="en-US"/>
              <a:t>能力的判断</a:t>
            </a:r>
            <a:endParaRPr lang="zh-CN" altLang="en-US"/>
          </a:p>
        </p:txBody>
      </p:sp>
      <p:sp>
        <p:nvSpPr>
          <p:cNvPr id="3" name="内容占位符 2"/>
          <p:cNvSpPr>
            <a:spLocks noGrp="1"/>
          </p:cNvSpPr>
          <p:nvPr>
            <p:ph idx="1"/>
            <p:custDataLst>
              <p:tags r:id="rId2"/>
            </p:custDataLst>
          </p:nvPr>
        </p:nvSpPr>
        <p:spPr>
          <a:xfrm>
            <a:off x="608330" y="1490345"/>
            <a:ext cx="5847080" cy="2019300"/>
          </a:xfrm>
        </p:spPr>
        <p:txBody>
          <a:bodyPr>
            <a:normAutofit fontScale="30000"/>
          </a:bodyPr>
          <a:p>
            <a:r>
              <a:rPr lang="en-US" altLang="zh-CN"/>
              <a:t>Incentive Contracting and Performance </a:t>
            </a:r>
            <a:r>
              <a:rPr lang="zh-CN" altLang="en-US"/>
              <a:t>组织可以直接奖励员工采用</a:t>
            </a:r>
            <a:r>
              <a:rPr lang="en-US" altLang="zh-CN"/>
              <a:t>AI</a:t>
            </a:r>
            <a:r>
              <a:rPr lang="zh-CN" altLang="en-US"/>
              <a:t>建议，但“采用</a:t>
            </a:r>
            <a:r>
              <a:rPr lang="en-US" altLang="zh-CN"/>
              <a:t>AI</a:t>
            </a:r>
            <a:r>
              <a:rPr lang="zh-CN" altLang="en-US"/>
              <a:t>建议”并不完全等同于组织真正追求的决策质量或适当依赖。</a:t>
            </a:r>
            <a:endParaRPr lang="zh-CN" altLang="en-US"/>
          </a:p>
          <a:p>
            <a:r>
              <a:rPr lang="zh-CN" altLang="en-US"/>
              <a:t>当被奖励的绩效指标与组织真实目标不完全一致时，激励可能提高被测行为，却不能改善组织真正关心的结果（</a:t>
            </a:r>
            <a:r>
              <a:rPr lang="en-US" altLang="zh-CN"/>
              <a:t>Baker, 1992；Kerr, 1975）。</a:t>
            </a:r>
            <a:endParaRPr lang="en-US" altLang="zh-CN"/>
          </a:p>
          <a:p>
            <a:r>
              <a:rPr lang="en-US" altLang="zh-CN"/>
              <a:t>\[</a:t>
            </a:r>
            <a:endParaRPr lang="en-US" altLang="zh-CN"/>
          </a:p>
          <a:p>
            <a:r>
              <a:rPr lang="en-US" altLang="zh-CN"/>
              <a:t>\text{Rewarded performance measure}</a:t>
            </a:r>
            <a:endParaRPr lang="en-US" altLang="zh-CN"/>
          </a:p>
          <a:p>
            <a:r>
              <a:rPr lang="en-US" altLang="zh-CN"/>
              <a:t>\neq</a:t>
            </a:r>
            <a:endParaRPr lang="en-US" altLang="zh-CN"/>
          </a:p>
          <a:p>
            <a:r>
              <a:rPr lang="en-US" altLang="zh-CN"/>
              <a:t>\text{Organizational objective}</a:t>
            </a:r>
            <a:endParaRPr lang="en-US" altLang="zh-CN"/>
          </a:p>
          <a:p>
            <a:r>
              <a:rPr lang="en-US" altLang="zh-CN"/>
              <a:t>\]Rewarded measure: Reliance on AI advice</a:t>
            </a:r>
            <a:endParaRPr lang="en-US" altLang="zh-CN"/>
          </a:p>
          <a:p>
            <a:r>
              <a:rPr lang="en-US" altLang="zh-CN"/>
              <a:t>Organizational objective: Decision quality and calibrated reliance</a:t>
            </a:r>
            <a:endParaRPr lang="en-US" altLang="zh-CN"/>
          </a:p>
        </p:txBody>
      </p:sp>
      <p:sp>
        <p:nvSpPr>
          <p:cNvPr id="4" name="文本框 3"/>
          <p:cNvSpPr txBox="1"/>
          <p:nvPr/>
        </p:nvSpPr>
        <p:spPr>
          <a:xfrm>
            <a:off x="988060" y="4069080"/>
            <a:ext cx="4593590" cy="1885315"/>
          </a:xfrm>
          <a:prstGeom prst="rect">
            <a:avLst/>
          </a:prstGeom>
          <a:noFill/>
        </p:spPr>
        <p:txBody>
          <a:bodyPr wrap="square" rtlCol="0">
            <a:noAutofit/>
          </a:bodyPr>
          <a:p>
            <a:r>
              <a:rPr lang="en-US" altLang="zh-CN"/>
              <a:t>Bayesian Expected-Utility Benchmark</a:t>
            </a:r>
            <a:endParaRPr lang="en-US" altLang="zh-CN"/>
          </a:p>
          <a:p>
            <a:r>
              <a:rPr lang="zh-CN" altLang="en-US"/>
              <a:t>如果</a:t>
            </a:r>
            <a:r>
              <a:rPr lang="en-US" altLang="zh-CN"/>
              <a:t>AI</a:t>
            </a:r>
            <a:r>
              <a:rPr lang="zh-CN" altLang="en-US"/>
              <a:t>使用激励改变了采用</a:t>
            </a:r>
            <a:r>
              <a:rPr lang="en-US" altLang="zh-CN"/>
              <a:t>AI</a:t>
            </a:r>
            <a:r>
              <a:rPr lang="zh-CN" altLang="en-US"/>
              <a:t>建议的收益，但没有提供关于</a:t>
            </a:r>
            <a:r>
              <a:rPr lang="en-US" altLang="zh-CN"/>
              <a:t>AI</a:t>
            </a:r>
            <a:r>
              <a:rPr lang="zh-CN" altLang="en-US"/>
              <a:t>实际能力的新信息，那么理性决策者可以改变选择，而不改变对</a:t>
            </a:r>
            <a:r>
              <a:rPr lang="en-US" altLang="zh-CN"/>
              <a:t>AI</a:t>
            </a:r>
            <a:r>
              <a:rPr lang="zh-CN" altLang="en-US"/>
              <a:t>能力的后验信念。</a:t>
            </a:r>
            <a:endParaRPr lang="zh-CN" altLang="en-US"/>
          </a:p>
          <a:p>
            <a:r>
              <a:rPr lang="en-US" altLang="zh-CN"/>
              <a:t>\[</a:t>
            </a:r>
            <a:endParaRPr lang="en-US" altLang="zh-CN"/>
          </a:p>
          <a:p>
            <a:r>
              <a:rPr lang="en-US" altLang="zh-CN"/>
              <a:t>P(q\mid S,G)=P(q\mid S)</a:t>
            </a:r>
            <a:endParaRPr lang="en-US" altLang="zh-CN"/>
          </a:p>
          <a:p>
            <a:r>
              <a:rPr lang="en-US" altLang="zh-CN"/>
              <a:t>\]</a:t>
            </a:r>
            <a:endParaRPr lang="en-US" altLang="zh-CN"/>
          </a:p>
        </p:txBody>
      </p:sp>
      <p:sp>
        <p:nvSpPr>
          <p:cNvPr id="5" name="文本框 4"/>
          <p:cNvSpPr txBox="1"/>
          <p:nvPr/>
        </p:nvSpPr>
        <p:spPr>
          <a:xfrm>
            <a:off x="7513320" y="1588770"/>
            <a:ext cx="4064000" cy="3138170"/>
          </a:xfrm>
          <a:prstGeom prst="rect">
            <a:avLst/>
          </a:prstGeom>
          <a:noFill/>
        </p:spPr>
        <p:txBody>
          <a:bodyPr wrap="square" rtlCol="0">
            <a:spAutoFit/>
          </a:bodyPr>
          <a:p>
            <a:r>
              <a:rPr lang="en-US" altLang="zh-CN"/>
              <a:t>Trust Calibration Framework</a:t>
            </a:r>
            <a:endParaRPr lang="en-US" altLang="zh-CN"/>
          </a:p>
          <a:p>
            <a:r>
              <a:rPr lang="zh-CN" altLang="en-US"/>
              <a:t>更多信任或更多</a:t>
            </a:r>
            <a:r>
              <a:rPr lang="en-US" altLang="zh-CN"/>
              <a:t>AI</a:t>
            </a:r>
            <a:r>
              <a:rPr lang="zh-CN" altLang="en-US"/>
              <a:t>采用并不天然更好。适当信任要求使用者对</a:t>
            </a:r>
            <a:r>
              <a:rPr lang="en-US" altLang="zh-CN"/>
              <a:t>AI</a:t>
            </a:r>
            <a:r>
              <a:rPr lang="zh-CN" altLang="en-US"/>
              <a:t>的信任和依赖与</a:t>
            </a:r>
            <a:r>
              <a:rPr lang="en-US" altLang="zh-CN"/>
              <a:t>AI</a:t>
            </a:r>
            <a:r>
              <a:rPr lang="zh-CN" altLang="en-US"/>
              <a:t>在特定任务中的实际可信性相匹配（</a:t>
            </a:r>
            <a:r>
              <a:rPr lang="en-US" altLang="zh-CN"/>
              <a:t>Lee &amp; See, 2004；Everett et al., 2026）。</a:t>
            </a:r>
            <a:endParaRPr lang="en-US" altLang="zh-CN"/>
          </a:p>
          <a:p>
            <a:r>
              <a:rPr lang="en-US" altLang="zh-CN"/>
              <a:t>\[</a:t>
            </a:r>
            <a:endParaRPr lang="en-US" altLang="zh-CN"/>
          </a:p>
          <a:p>
            <a:r>
              <a:rPr lang="en-US" altLang="zh-CN"/>
              <a:t>\text{Trust / Reliance}</a:t>
            </a:r>
            <a:endParaRPr lang="en-US" altLang="zh-CN"/>
          </a:p>
          <a:p>
            <a:r>
              <a:rPr lang="en-US" altLang="zh-CN"/>
              <a:t>\longleftrightarrow</a:t>
            </a:r>
            <a:endParaRPr lang="en-US" altLang="zh-CN"/>
          </a:p>
          <a:p>
            <a:r>
              <a:rPr lang="en-US" altLang="zh-CN"/>
              <a:t>\text{Actual AI Trustworthiness}</a:t>
            </a:r>
            <a:endParaRPr lang="en-US" altLang="zh-CN"/>
          </a:p>
          <a:p>
            <a:r>
              <a:rPr lang="en-US" altLang="zh-CN"/>
              <a:t>\]</a:t>
            </a:r>
            <a:endParaRPr lang="en-US" altLang="zh-CN"/>
          </a:p>
        </p:txBody>
      </p:sp>
      <p:sp>
        <p:nvSpPr>
          <p:cNvPr id="6" name="文本框 5"/>
          <p:cNvSpPr txBox="1"/>
          <p:nvPr/>
        </p:nvSpPr>
        <p:spPr>
          <a:xfrm>
            <a:off x="7139940" y="5001895"/>
            <a:ext cx="4064000" cy="2030095"/>
          </a:xfrm>
          <a:prstGeom prst="rect">
            <a:avLst/>
          </a:prstGeom>
          <a:noFill/>
        </p:spPr>
        <p:txBody>
          <a:bodyPr wrap="square" rtlCol="0">
            <a:spAutoFit/>
          </a:bodyPr>
          <a:p>
            <a:r>
              <a:rPr lang="zh-CN" altLang="en-US"/>
              <a:t>绩效学习路径</a:t>
            </a:r>
            <a:r>
              <a:rPr lang="zh-CN" altLang="en-US"/>
              <a:t>认为激励可能改善校准</a:t>
            </a:r>
            <a:endParaRPr lang="zh-CN" altLang="en-US"/>
          </a:p>
          <a:p>
            <a:r>
              <a:rPr lang="zh-CN" altLang="en-US"/>
              <a:t>如果采用</a:t>
            </a:r>
            <a:r>
              <a:rPr lang="en-US" altLang="zh-CN"/>
              <a:t>AI</a:t>
            </a:r>
            <a:r>
              <a:rPr lang="zh-CN" altLang="en-US"/>
              <a:t>使员工获得更多关于</a:t>
            </a:r>
            <a:r>
              <a:rPr lang="en-US" altLang="zh-CN"/>
              <a:t>AI</a:t>
            </a:r>
            <a:r>
              <a:rPr lang="zh-CN" altLang="en-US"/>
              <a:t>表现的经验，激励可能通过增加试用和反馈，帮助员工更准确地认识</a:t>
            </a:r>
            <a:r>
              <a:rPr lang="en-US" altLang="zh-CN"/>
              <a:t>AI</a:t>
            </a:r>
            <a:r>
              <a:rPr lang="zh-CN" altLang="en-US"/>
              <a:t>能力。管理会计文献将这种帮助诊断和调整决策的信息作用称为绩效测量系统的 </a:t>
            </a:r>
            <a:r>
              <a:rPr lang="en-US" altLang="zh-CN"/>
              <a:t>decision-facilitating role。</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核心</a:t>
            </a:r>
            <a:r>
              <a:rPr lang="zh-CN" altLang="en-US"/>
              <a:t>问题</a:t>
            </a:r>
            <a:endParaRPr lang="zh-CN" altLang="en-US"/>
          </a:p>
        </p:txBody>
      </p:sp>
      <p:sp>
        <p:nvSpPr>
          <p:cNvPr id="3" name="内容占位符 2"/>
          <p:cNvSpPr>
            <a:spLocks noGrp="1"/>
          </p:cNvSpPr>
          <p:nvPr>
            <p:ph idx="1"/>
            <p:custDataLst>
              <p:tags r:id="rId2"/>
            </p:custDataLst>
          </p:nvPr>
        </p:nvSpPr>
        <p:spPr>
          <a:xfrm>
            <a:off x="608330" y="1490345"/>
            <a:ext cx="10968990" cy="721360"/>
          </a:xfrm>
        </p:spPr>
        <p:txBody>
          <a:bodyPr/>
          <a:p>
            <a:r>
              <a:rPr lang="en-US" altLang="zh-CN"/>
              <a:t>Do AI-use incentives cause trust in AI to deviate?</a:t>
            </a:r>
            <a:endParaRPr lang="en-US" altLang="zh-CN"/>
          </a:p>
        </p:txBody>
      </p:sp>
      <p:sp>
        <p:nvSpPr>
          <p:cNvPr id="4" name="文本框 3"/>
          <p:cNvSpPr txBox="1"/>
          <p:nvPr/>
        </p:nvSpPr>
        <p:spPr>
          <a:xfrm>
            <a:off x="608330" y="2240280"/>
            <a:ext cx="7183120" cy="1722755"/>
          </a:xfrm>
          <a:prstGeom prst="rect">
            <a:avLst/>
          </a:prstGeom>
        </p:spPr>
        <p:txBody>
          <a:bodyPr wrap="square">
            <a:spAutoFit/>
          </a:bodyPr>
          <a:p>
            <a:pPr>
              <a:spcAft>
                <a:spcPct val="60000"/>
              </a:spcAft>
            </a:pPr>
            <a:r>
              <a:rPr lang="zh-CN" altLang="en-US" sz="2200" b="1"/>
              <a:t>什么是偏离？</a:t>
            </a:r>
            <a:endParaRPr lang="zh-CN" altLang="en-US" sz="2200" b="1"/>
          </a:p>
          <a:p>
            <a:r>
              <a:rPr lang="en-US" altLang="zh-CN" sz="2200" b="1"/>
              <a:t>Deviation occurs when users’ trusting behaviour is not appropriately calibrated to the AI system’s actual trustworthiness.</a:t>
            </a:r>
            <a:endParaRPr lang="en-US" altLang="zh-CN" sz="2200" b="1"/>
          </a:p>
        </p:txBody>
      </p:sp>
      <mc:AlternateContent xmlns:mc="http://schemas.openxmlformats.org/markup-compatibility/2006">
        <mc:Choice xmlns:a14="http://schemas.microsoft.com/office/drawing/2010/main" Requires="a14">
          <p:sp>
            <p:nvSpPr>
              <p:cNvPr id="9" name="文本框 8"/>
              <p:cNvSpPr txBox="1"/>
              <p:nvPr/>
            </p:nvSpPr>
            <p:spPr>
              <a:xfrm>
                <a:off x="608330" y="4110990"/>
                <a:ext cx="10463530" cy="662305"/>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𝑇𝑟𝑢𝑠𝑡</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groupChr>
                            <m:groupChrPr>
                              <m:ctrlPr>
                                <a:rPr lang="en-US" altLang="zh-CN" i="1">
                                  <a:latin typeface="Cambria Math" panose="02040503050406030204" charset="0"/>
                                  <a:cs typeface="Cambria Math" panose="02040503050406030204" charset="0"/>
                                </a:rPr>
                              </m:ctrlPr>
                            </m:groupChr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𝑇𝑟𝑢𝑠𝑡𝑖𝑛𝑔</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𝐵𝑒ℎ𝑎𝑣𝑖𝑜𝑢𝑟</m:t>
                                  </m:r>
                                </m:e>
                                <m:sub>
                                  <m:r>
                                    <a:rPr lang="en-US" altLang="zh-CN" i="1">
                                      <a:latin typeface="Cambria Math" panose="02040503050406030204" charset="0"/>
                                      <a:cs typeface="Cambria Math" panose="02040503050406030204" charset="0"/>
                                    </a:rPr>
                                    <m:t>𝑖</m:t>
                                  </m:r>
                                </m:sub>
                              </m:sSub>
                            </m:e>
                          </m:groupChr>
                        </m:e>
                        <m:sub>
                          <m:r>
                            <a:rPr lang="en-US" altLang="zh-CN" i="1">
                              <a:latin typeface="Cambria Math" panose="02040503050406030204" charset="0"/>
                              <a:cs typeface="Cambria Math" panose="02040503050406030204" charset="0"/>
                            </a:rPr>
                            <m:t>𝑂𝑏𝑠𝑒𝑟𝑣𝑒𝑑</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𝑡𝑟𝑢𝑠𝑡</m:t>
                          </m:r>
                        </m:sub>
                      </m:sSub>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groupChr>
                            <m:groupChrPr>
                              <m:ctrlPr>
                                <a:rPr lang="en-US" altLang="zh-CN" i="1">
                                  <a:latin typeface="Cambria Math" panose="02040503050406030204" charset="0"/>
                                  <a:cs typeface="Cambria Math" panose="02040503050406030204" charset="0"/>
                                </a:rPr>
                              </m:ctrlPr>
                            </m:groupChrPr>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𝐴𝑐𝑡𝑢𝑎𝑙</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𝑇𝑟𝑢𝑠𝑡𝑤𝑜𝑟𝑡ℎ𝑖𝑛𝑒𝑠𝑠</m:t>
                                  </m:r>
                                </m:e>
                                <m:sub>
                                  <m:r>
                                    <a:rPr lang="en-US" altLang="zh-CN" i="1">
                                      <a:latin typeface="Cambria Math" panose="02040503050406030204" charset="0"/>
                                      <a:cs typeface="Cambria Math" panose="02040503050406030204" charset="0"/>
                                    </a:rPr>
                                    <m:t>𝑖</m:t>
                                  </m:r>
                                </m:sub>
                              </m:sSub>
                            </m:e>
                          </m:groupChr>
                        </m:e>
                        <m:sub>
                          <m:r>
                            <a:rPr lang="en-US" altLang="zh-CN" i="1">
                              <a:latin typeface="Cambria Math" panose="02040503050406030204" charset="0"/>
                              <a:cs typeface="Cambria Math" panose="02040503050406030204" charset="0"/>
                            </a:rPr>
                            <m:t>𝑂𝑏𝑗𝑒𝑐𝑡𝑖𝑣𝑒</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𝐴𝐼</m:t>
                          </m:r>
                          <m:r>
                            <a:rPr lang="en-US" altLang="zh-CN" i="1">
                              <a:latin typeface="Cambria Math" panose="02040503050406030204" charset="0"/>
                              <a:cs typeface="Cambria Math" panose="02040503050406030204" charset="0"/>
                            </a:rPr>
                            <m:t> </m:t>
                          </m:r>
                          <m:r>
                            <a:rPr lang="en-US" altLang="zh-CN" i="1">
                              <a:latin typeface="Cambria Math" panose="02040503050406030204" charset="0"/>
                              <a:cs typeface="Cambria Math" panose="02040503050406030204" charset="0"/>
                            </a:rPr>
                            <m:t>𝑐𝑎𝑝𝑎𝑏𝑖𝑙𝑖𝑡𝑦</m:t>
                          </m:r>
                        </m:sub>
                      </m:sSub>
                    </m:oMath>
                  </m:oMathPara>
                </a14:m>
                <a:endParaRPr lang="en-US" altLang="zh-CN" i="1">
                  <a:latin typeface="Cambria Math" panose="02040503050406030204" charset="0"/>
                  <a:cs typeface="Cambria Math" panose="02040503050406030204"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608330" y="4110990"/>
                <a:ext cx="10463530" cy="66230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111821" y="4921504"/>
                <a:ext cx="4682490" cy="82169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𝑇𝑟𝑢𝑠𝑡</m:t>
                          </m:r>
                        </m:sup>
                      </m:sSubSup>
                      <m:d>
                        <m:dPr>
                          <m:begChr m:val="{"/>
                          <m:endChr m:val=""/>
                          <m:ctrlPr>
                            <a:rPr lang="en-US" altLang="zh-CN" i="1">
                              <a:latin typeface="Cambria Math" panose="02040503050406030204" charset="0"/>
                              <a:cs typeface="Cambria Math" panose="02040503050406030204" charset="0"/>
                            </a:rPr>
                          </m:ctrlPr>
                        </m:dPr>
                        <m:e>
                          <m:eqArr>
                            <m:eqArrPr>
                              <m:ctrlPr>
                                <a:rPr lang="en-US" altLang="zh-CN" i="1">
                                  <a:latin typeface="Cambria Math" panose="02040503050406030204" charset="0"/>
                                  <a:cs typeface="Cambria Math" panose="02040503050406030204" charset="0"/>
                                </a:rPr>
                              </m:ctrlPr>
                            </m:eqArrPr>
                            <m:e>
                              <m:r>
                                <a:rPr lang="en-US" altLang="zh-CN" i="1">
                                  <a:latin typeface="Cambria Math" panose="02040503050406030204" charset="0"/>
                                  <a:cs typeface="Cambria Math" panose="02040503050406030204" charset="0"/>
                                </a:rPr>
                                <m:t>&gt;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𝑂𝑣𝑒𝑟𝑡𝑟𝑢𝑠𝑡</m:t>
                              </m:r>
                            </m:e>
                            <m:e>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𝐶𝑎𝑙𝑖𝑏𝑟𝑎𝑡𝑒𝑑𝑡𝑟𝑢𝑠𝑡</m:t>
                              </m:r>
                            </m:e>
                            <m:e>
                              <m:r>
                                <a:rPr lang="en-US" altLang="zh-CN" i="1">
                                  <a:latin typeface="Cambria Math" panose="02040503050406030204" charset="0"/>
                                  <a:cs typeface="Cambria Math" panose="02040503050406030204" charset="0"/>
                                </a:rPr>
                                <m:t>&lt;</m:t>
                              </m:r>
                              <m:r>
                                <a:rPr lang="en-US" altLang="zh-CN" i="1">
                                  <a:latin typeface="Cambria Math" panose="02040503050406030204" charset="0"/>
                                  <a:cs typeface="Cambria Math" panose="02040503050406030204" charset="0"/>
                                </a:rPr>
                                <m:t>0</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𝑈𝑛𝑑𝑒𝑟𝑡𝑟𝑢𝑠𝑡</m:t>
                              </m:r>
                            </m:e>
                          </m:eqArr>
                        </m:e>
                      </m:d>
                    </m:oMath>
                  </m:oMathPara>
                </a14:m>
                <a:endParaRPr lang="en-US" altLang="zh-CN" i="1">
                  <a:latin typeface="Cambria Math" panose="02040503050406030204" charset="0"/>
                  <a:cs typeface="Cambria Math" panose="0204050305040603020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111821" y="4921504"/>
                <a:ext cx="4682490" cy="821690"/>
              </a:xfrm>
              <a:prstGeom prst="rect">
                <a:avLst/>
              </a:prstGeom>
              <a:blipFill rotWithShape="1">
                <a:blip r:embed="rId4"/>
                <a:stretch>
                  <a:fillRect l="-12" t="-31" r="12" b="31"/>
                </a:stretch>
              </a:blipFill>
            </p:spPr>
            <p:txBody>
              <a:bodyPr/>
              <a:lstStyle/>
              <a:p>
                <a:r>
                  <a:rPr lang="zh-CN" altLang="en-US">
                    <a:noFill/>
                  </a:rPr>
                  <a:t> </a:t>
                </a:r>
              </a:p>
            </p:txBody>
          </p:sp>
        </mc:Fallback>
      </mc:AlternateContent>
      <p:sp>
        <p:nvSpPr>
          <p:cNvPr id="11" name="文本框 10"/>
          <p:cNvSpPr txBox="1"/>
          <p:nvPr/>
        </p:nvSpPr>
        <p:spPr>
          <a:xfrm>
            <a:off x="7791450" y="1158240"/>
            <a:ext cx="4064000" cy="4246245"/>
          </a:xfrm>
          <a:prstGeom prst="rect">
            <a:avLst/>
          </a:prstGeom>
          <a:noFill/>
        </p:spPr>
        <p:txBody>
          <a:bodyPr wrap="square" rtlCol="0">
            <a:spAutoFit/>
          </a:bodyPr>
          <a:p>
            <a:r>
              <a:rPr lang="en-US" altLang="zh-CN"/>
              <a:t>\(i\)：</a:t>
            </a:r>
            <a:r>
              <a:rPr lang="zh-CN" altLang="en-US"/>
              <a:t>参与者。</a:t>
            </a:r>
            <a:endParaRPr lang="zh-CN" altLang="en-US"/>
          </a:p>
          <a:p>
            <a:endParaRPr lang="en-US" altLang="zh-CN"/>
          </a:p>
          <a:p>
            <a:r>
              <a:rPr lang="en-US" altLang="zh-CN"/>
              <a:t>\(\mathrm{Trusting\ Behaviour}_i\)：</a:t>
            </a:r>
            <a:r>
              <a:rPr lang="zh-CN" altLang="en-US"/>
              <a:t>参与者 \(</a:t>
            </a:r>
            <a:r>
              <a:rPr lang="en-US" altLang="zh-CN"/>
              <a:t>i\) </a:t>
            </a:r>
            <a:r>
              <a:rPr lang="zh-CN" altLang="en-US"/>
              <a:t>实际表现出的</a:t>
            </a:r>
            <a:r>
              <a:rPr lang="en-US" altLang="zh-CN"/>
              <a:t>AI</a:t>
            </a:r>
            <a:r>
              <a:rPr lang="zh-CN" altLang="en-US"/>
              <a:t>依赖程度，操作化为其在有效决策轮次中采用</a:t>
            </a:r>
            <a:r>
              <a:rPr lang="en-US" altLang="zh-CN"/>
              <a:t>AI</a:t>
            </a:r>
            <a:r>
              <a:rPr lang="zh-CN" altLang="en-US"/>
              <a:t>建议的比例，取值为 \(0\) 至 \(1\)。</a:t>
            </a:r>
            <a:endParaRPr lang="zh-CN" altLang="en-US"/>
          </a:p>
          <a:p>
            <a:endParaRPr lang="en-US" altLang="zh-CN"/>
          </a:p>
          <a:p>
            <a:r>
              <a:rPr lang="en-US" altLang="zh-CN"/>
              <a:t>\(\mathrm{Actual\ Trustworthiness}_i\)：</a:t>
            </a:r>
            <a:r>
              <a:rPr lang="zh-CN" altLang="en-US"/>
              <a:t>参与者 \(</a:t>
            </a:r>
            <a:r>
              <a:rPr lang="en-US" altLang="zh-CN"/>
              <a:t>i\) </a:t>
            </a:r>
            <a:r>
              <a:rPr lang="zh-CN" altLang="en-US"/>
              <a:t>所面对</a:t>
            </a:r>
            <a:r>
              <a:rPr lang="en-US" altLang="zh-CN"/>
              <a:t>AI</a:t>
            </a:r>
            <a:r>
              <a:rPr lang="zh-CN" altLang="en-US"/>
              <a:t>的客观可信性，操作化为该</a:t>
            </a:r>
            <a:r>
              <a:rPr lang="en-US" altLang="zh-CN"/>
              <a:t>AI</a:t>
            </a:r>
            <a:r>
              <a:rPr lang="zh-CN" altLang="en-US"/>
              <a:t>在相同任务中的客观正确率，取值为 \(0\) 至 \(1\)。</a:t>
            </a:r>
            <a:endParaRPr lang="zh-CN" altLang="en-US"/>
          </a:p>
          <a:p>
            <a:endParaRPr lang="en-US" altLang="zh-CN"/>
          </a:p>
          <a:p>
            <a:r>
              <a:rPr lang="en-US" altLang="zh-CN"/>
              <a:t>\(D_i^{\mathrm{Trust}}\)：</a:t>
            </a:r>
            <a:r>
              <a:rPr lang="zh-CN" altLang="en-US"/>
              <a:t>参与者 \(</a:t>
            </a:r>
            <a:r>
              <a:rPr lang="en-US" altLang="zh-CN"/>
              <a:t>i\) </a:t>
            </a:r>
            <a:r>
              <a:rPr lang="zh-CN" altLang="en-US"/>
              <a:t>的信任偏离，即实际信任行为与</a:t>
            </a:r>
            <a:r>
              <a:rPr lang="en-US" altLang="zh-CN"/>
              <a:t>AI</a:t>
            </a:r>
            <a:r>
              <a:rPr lang="zh-CN" altLang="en-US"/>
              <a:t>客观可信性之间的差值。</a:t>
            </a:r>
            <a:endParaRPr lang="zh-CN" altLang="en-US"/>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研究假设</a:t>
            </a:r>
            <a:endParaRPr lang="zh-CN" altLang="en-US"/>
          </a:p>
        </p:txBody>
      </p:sp>
      <p:sp>
        <p:nvSpPr>
          <p:cNvPr id="3" name="内容占位符 2"/>
          <p:cNvSpPr>
            <a:spLocks noGrp="1"/>
          </p:cNvSpPr>
          <p:nvPr>
            <p:ph idx="1"/>
            <p:custDataLst>
              <p:tags r:id="rId2"/>
            </p:custDataLst>
          </p:nvPr>
        </p:nvSpPr>
        <p:spPr>
          <a:xfrm>
            <a:off x="608330" y="1490345"/>
            <a:ext cx="6686550" cy="1482725"/>
          </a:xfrm>
        </p:spPr>
        <p:txBody>
          <a:bodyPr>
            <a:normAutofit fontScale="60000"/>
          </a:bodyPr>
          <a:p>
            <a:r>
              <a:rPr lang="en-US" altLang="zh-CN"/>
              <a:t>H1</a:t>
            </a:r>
            <a:r>
              <a:rPr lang="zh-CN" altLang="en-US"/>
              <a:t>：</a:t>
            </a:r>
            <a:r>
              <a:rPr lang="en-US" altLang="zh-CN"/>
              <a:t>As the level of AI-use incentives increases, trusting behaviour may increase beyond the level supported by actual trustworthiness, resulting in overtrust</a:t>
            </a:r>
            <a:endParaRPr lang="en-US" altLang="zh-CN"/>
          </a:p>
          <a:p>
            <a:r>
              <a:rPr lang="zh-CN" altLang="en-US"/>
              <a:t>激励会提高参与者采用</a:t>
            </a:r>
            <a:r>
              <a:rPr lang="en-US" altLang="zh-CN"/>
              <a:t>AI</a:t>
            </a:r>
            <a:r>
              <a:rPr lang="zh-CN" altLang="en-US"/>
              <a:t>建议的比例。这是管理政策是否促进</a:t>
            </a:r>
            <a:r>
              <a:rPr lang="en-US" altLang="zh-CN"/>
              <a:t>AI</a:t>
            </a:r>
            <a:r>
              <a:rPr lang="zh-CN" altLang="en-US"/>
              <a:t>使用的基本效果，但它本身不能证明信任发生变化。</a:t>
            </a:r>
            <a:endParaRPr lang="zh-CN" altLang="en-US"/>
          </a:p>
        </p:txBody>
      </p:sp>
      <p:sp>
        <p:nvSpPr>
          <p:cNvPr id="4" name="文本框 3"/>
          <p:cNvSpPr txBox="1"/>
          <p:nvPr/>
        </p:nvSpPr>
        <p:spPr>
          <a:xfrm>
            <a:off x="843280" y="2973070"/>
            <a:ext cx="6242050" cy="1060450"/>
          </a:xfrm>
          <a:prstGeom prst="rect">
            <a:avLst/>
          </a:prstGeom>
          <a:noFill/>
        </p:spPr>
        <p:txBody>
          <a:bodyPr wrap="square" rtlCol="0">
            <a:noAutofit/>
          </a:bodyPr>
          <a:p>
            <a:r>
              <a:rPr lang="en-US" altLang="zh-CN"/>
              <a:t>H2For users whose baseline perceived trustworthiness is lower than the AI’s actual trustworthiness, AI-use incentives reduce the gap between the two.</a:t>
            </a:r>
            <a:endParaRPr lang="en-US" altLang="zh-CN"/>
          </a:p>
        </p:txBody>
      </p:sp>
      <p:sp>
        <p:nvSpPr>
          <p:cNvPr id="6" name="文本框 5"/>
          <p:cNvSpPr txBox="1"/>
          <p:nvPr/>
        </p:nvSpPr>
        <p:spPr>
          <a:xfrm>
            <a:off x="723265" y="4033520"/>
            <a:ext cx="6482080" cy="922020"/>
          </a:xfrm>
          <a:prstGeom prst="rect">
            <a:avLst/>
          </a:prstGeom>
          <a:noFill/>
        </p:spPr>
        <p:txBody>
          <a:bodyPr wrap="square" rtlCol="0">
            <a:spAutoFit/>
          </a:bodyPr>
          <a:p>
            <a:r>
              <a:rPr lang="en-US" altLang="zh-CN"/>
              <a:t>H3 —For users whose baseline perceived trustworthiness exceeds the AI’s actual trustworthiness, stronger AI-use incentives further widen the gap between the two.</a:t>
            </a:r>
            <a:endParaRPr lang="en-US" altLang="zh-CN"/>
          </a:p>
        </p:txBody>
      </p:sp>
      <p:sp>
        <p:nvSpPr>
          <p:cNvPr id="7" name="文本框 6"/>
          <p:cNvSpPr txBox="1"/>
          <p:nvPr/>
        </p:nvSpPr>
        <p:spPr>
          <a:xfrm>
            <a:off x="944880" y="5379720"/>
            <a:ext cx="6350000" cy="922020"/>
          </a:xfrm>
          <a:prstGeom prst="rect">
            <a:avLst/>
          </a:prstGeom>
          <a:noFill/>
        </p:spPr>
        <p:txBody>
          <a:bodyPr wrap="square" rtlCol="0">
            <a:spAutoFit/>
          </a:bodyPr>
          <a:p>
            <a:r>
              <a:rPr lang="en-US" altLang="zh-CN"/>
              <a:t>H4 — Moderating Effect of Actual Trustworthiness</a:t>
            </a:r>
            <a:endParaRPr lang="en-US" altLang="zh-CN"/>
          </a:p>
          <a:p>
            <a:r>
              <a:rPr lang="en-US" altLang="zh-CN"/>
              <a:t>The lower the AI’s actual trustworthiness, the stronger the positive effect of AI-use incentives on trust deviation.</a:t>
            </a:r>
            <a:endParaRPr lang="en-US" altLang="zh-CN"/>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研究设计</a:t>
            </a:r>
            <a:endParaRPr lang="zh-CN" altLang="en-US"/>
          </a:p>
        </p:txBody>
      </p:sp>
      <p:sp>
        <p:nvSpPr>
          <p:cNvPr id="3" name="内容占位符 2"/>
          <p:cNvSpPr>
            <a:spLocks noGrp="1"/>
          </p:cNvSpPr>
          <p:nvPr>
            <p:ph idx="1"/>
            <p:custDataLst>
              <p:tags r:id="rId2"/>
            </p:custDataLst>
          </p:nvPr>
        </p:nvSpPr>
        <p:spPr>
          <a:xfrm>
            <a:off x="608330" y="1490345"/>
            <a:ext cx="5381625" cy="4759325"/>
          </a:xfrm>
        </p:spPr>
        <p:txBody>
          <a:bodyPr>
            <a:normAutofit fontScale="45000"/>
          </a:bodyPr>
          <a:p>
            <a:r>
              <a:rPr lang="zh-CN" altLang="en-US"/>
              <a:t>实验</a:t>
            </a:r>
            <a:r>
              <a:rPr lang="zh-CN" altLang="en-US"/>
              <a:t>任务：</a:t>
            </a:r>
            <a:endParaRPr lang="zh-CN" altLang="en-US"/>
          </a:p>
          <a:p>
            <a:r>
              <a:rPr lang="zh-CN" altLang="en-US"/>
              <a:t>采用重复概率判断任务，并以虚拟老虎机作为决策界面。</a:t>
            </a:r>
            <a:endParaRPr lang="zh-CN" altLang="en-US"/>
          </a:p>
          <a:p>
            <a:r>
              <a:rPr lang="zh-CN" altLang="en-US"/>
              <a:t>每轮实验包含以下四个阶段：</a:t>
            </a:r>
            <a:endParaRPr lang="en-US" altLang="zh-CN"/>
          </a:p>
          <a:p>
            <a:r>
              <a:rPr lang="zh-CN" altLang="en-US"/>
              <a:t>① 独立判断参与者根据界面中可见的概率线索，独立判断哪一结果更可能出现。</a:t>
            </a:r>
            <a:endParaRPr lang="en-US" altLang="zh-CN"/>
          </a:p>
          <a:p>
            <a:r>
              <a:rPr lang="zh-CN" altLang="en-US"/>
              <a:t>② 接收 </a:t>
            </a:r>
            <a:r>
              <a:rPr lang="en-US" altLang="zh-CN"/>
              <a:t>AI </a:t>
            </a:r>
            <a:r>
              <a:rPr lang="zh-CN" altLang="en-US"/>
              <a:t>建议所有参与者看到同一条 </a:t>
            </a:r>
            <a:r>
              <a:rPr lang="en-US" altLang="zh-CN"/>
              <a:t>AI </a:t>
            </a:r>
            <a:r>
              <a:rPr lang="zh-CN" altLang="en-US"/>
              <a:t>建议。</a:t>
            </a:r>
            <a:endParaRPr lang="en-US" altLang="zh-CN"/>
          </a:p>
          <a:p>
            <a:r>
              <a:rPr lang="zh-CN" altLang="en-US"/>
              <a:t>③ 概率评估参与者分别报告：</a:t>
            </a:r>
            <a:endParaRPr lang="en-US" altLang="zh-CN"/>
          </a:p>
          <a:p>
            <a:r>
              <a:rPr lang="en-US" altLang="zh-CN"/>
              <a:t>AI </a:t>
            </a:r>
            <a:r>
              <a:rPr lang="zh-CN" altLang="en-US"/>
              <a:t>建议正确的主观概率</a:t>
            </a:r>
            <a:endParaRPr lang="en-US" altLang="zh-CN"/>
          </a:p>
          <a:p>
            <a:r>
              <a:rPr lang="zh-CN" altLang="en-US"/>
              <a:t>本人原判断正确的主观概率</a:t>
            </a:r>
            <a:endParaRPr lang="en-US" altLang="zh-CN"/>
          </a:p>
          <a:p>
            <a:r>
              <a:rPr lang="zh-CN" altLang="en-US"/>
              <a:t>④ 最终选择参与者在以下选项中进行选择：</a:t>
            </a:r>
            <a:endParaRPr lang="zh-CN" altLang="en-US"/>
          </a:p>
          <a:p>
            <a:pPr marL="0" indent="0">
              <a:buNone/>
            </a:pPr>
            <a:r>
              <a:rPr lang="zh-CN" altLang="en-US"/>
              <a:t>保留本人原判断</a:t>
            </a:r>
            <a:endParaRPr lang="en-US" altLang="zh-CN"/>
          </a:p>
          <a:p>
            <a:r>
              <a:rPr lang="zh-CN" altLang="en-US"/>
              <a:t>改为采用 </a:t>
            </a:r>
            <a:r>
              <a:rPr lang="en-US" altLang="zh-CN"/>
              <a:t>AI </a:t>
            </a:r>
            <a:r>
              <a:rPr lang="zh-CN" altLang="en-US"/>
              <a:t>建议</a:t>
            </a:r>
            <a:endParaRPr lang="en-US" altLang="zh-CN"/>
          </a:p>
          <a:p>
            <a:r>
              <a:rPr lang="zh-CN" altLang="en-US"/>
              <a:t>结果反馈</a:t>
            </a:r>
            <a:endParaRPr lang="en-US" altLang="zh-CN"/>
          </a:p>
          <a:p>
            <a:r>
              <a:rPr lang="zh-CN" altLang="en-US"/>
              <a:t>每轮结束后，参与者将看到：</a:t>
            </a:r>
            <a:endParaRPr lang="en-US" altLang="zh-CN"/>
          </a:p>
          <a:p>
            <a:r>
              <a:rPr lang="zh-CN" altLang="en-US"/>
              <a:t>真实结果</a:t>
            </a:r>
            <a:endParaRPr lang="en-US" altLang="zh-CN"/>
          </a:p>
          <a:p>
            <a:r>
              <a:rPr lang="zh-CN" altLang="en-US"/>
              <a:t>本人原判断是否正确</a:t>
            </a:r>
            <a:endParaRPr lang="en-US" altLang="zh-CN"/>
          </a:p>
          <a:p>
            <a:r>
              <a:rPr lang="en-US" altLang="zh-CN"/>
              <a:t>AI </a:t>
            </a:r>
            <a:r>
              <a:rPr lang="zh-CN" altLang="en-US"/>
              <a:t>建议是否正确</a:t>
            </a:r>
            <a:endParaRPr lang="zh-CN" altLang="en-US"/>
          </a:p>
        </p:txBody>
      </p:sp>
      <p:sp>
        <p:nvSpPr>
          <p:cNvPr id="4" name="文本框 3"/>
          <p:cNvSpPr txBox="1"/>
          <p:nvPr/>
        </p:nvSpPr>
        <p:spPr>
          <a:xfrm>
            <a:off x="6216650" y="452120"/>
            <a:ext cx="4064000" cy="12833350"/>
          </a:xfrm>
          <a:prstGeom prst="rect">
            <a:avLst/>
          </a:prstGeom>
          <a:noFill/>
        </p:spPr>
        <p:txBody>
          <a:bodyPr wrap="square" rtlCol="0">
            <a:spAutoFit/>
          </a:bodyPr>
          <a:p>
            <a:r>
              <a:rPr lang="en-US" altLang="zh-CN"/>
              <a:t>AI </a:t>
            </a:r>
            <a:r>
              <a:rPr lang="zh-CN" altLang="en-US"/>
              <a:t>建议与实验条件</a:t>
            </a:r>
            <a:endParaRPr lang="zh-CN" altLang="en-US"/>
          </a:p>
          <a:p>
            <a:endParaRPr lang="en-US" altLang="zh-CN"/>
          </a:p>
          <a:p>
            <a:r>
              <a:rPr lang="en-US" altLang="zh-CN"/>
              <a:t>AI </a:t>
            </a:r>
            <a:r>
              <a:rPr lang="zh-CN" altLang="en-US"/>
              <a:t>能力操纵</a:t>
            </a:r>
            <a:endParaRPr lang="zh-CN" altLang="en-US"/>
          </a:p>
          <a:p>
            <a:endParaRPr lang="en-US" altLang="zh-CN"/>
          </a:p>
          <a:p>
            <a:r>
              <a:rPr lang="en-US" altLang="zh-CN"/>
              <a:t>AI </a:t>
            </a:r>
            <a:r>
              <a:rPr lang="zh-CN" altLang="en-US"/>
              <a:t>建议由实验前生成的固定序列提供：</a:t>
            </a:r>
            <a:endParaRPr lang="zh-CN" altLang="en-US"/>
          </a:p>
          <a:p>
            <a:endParaRPr lang="en-US" altLang="zh-CN"/>
          </a:p>
          <a:p>
            <a:r>
              <a:rPr lang="zh-CN" altLang="en-US"/>
              <a:t>高能力 </a:t>
            </a:r>
            <a:r>
              <a:rPr lang="en-US" altLang="zh-CN"/>
              <a:t>AI：</a:t>
            </a:r>
            <a:r>
              <a:rPr lang="zh-CN" altLang="en-US"/>
              <a:t>正确率为 (</a:t>
            </a:r>
            <a:r>
              <a:rPr lang="en-US" altLang="zh-CN"/>
              <a:t>q_H)</a:t>
            </a:r>
            <a:endParaRPr lang="en-US" altLang="zh-CN"/>
          </a:p>
          <a:p>
            <a:endParaRPr lang="en-US" altLang="zh-CN"/>
          </a:p>
          <a:p>
            <a:r>
              <a:rPr lang="zh-CN" altLang="en-US"/>
              <a:t>低能力 </a:t>
            </a:r>
            <a:r>
              <a:rPr lang="en-US" altLang="zh-CN"/>
              <a:t>AI：</a:t>
            </a:r>
            <a:r>
              <a:rPr lang="zh-CN" altLang="en-US"/>
              <a:t>正确率为 (</a:t>
            </a:r>
            <a:r>
              <a:rPr lang="en-US" altLang="zh-CN"/>
              <a:t>q_L)</a:t>
            </a:r>
            <a:endParaRPr lang="en-US" altLang="zh-CN"/>
          </a:p>
          <a:p>
            <a:endParaRPr lang="en-US" altLang="zh-CN"/>
          </a:p>
          <a:p>
            <a:r>
              <a:rPr lang="zh-CN" altLang="en-US"/>
              <a:t>满足：(;</a:t>
            </a:r>
            <a:r>
              <a:rPr lang="en-US" altLang="zh-CN"/>
              <a:t>q_H &gt; q_L)</a:t>
            </a:r>
            <a:endParaRPr lang="en-US" altLang="zh-CN"/>
          </a:p>
          <a:p>
            <a:endParaRPr lang="en-US" altLang="zh-CN"/>
          </a:p>
          <a:p>
            <a:r>
              <a:rPr lang="zh-CN" altLang="en-US"/>
              <a:t>不同经济激励条件使用完全相同的：</a:t>
            </a:r>
            <a:endParaRPr lang="zh-CN" altLang="en-US"/>
          </a:p>
          <a:p>
            <a:endParaRPr lang="en-US" altLang="zh-CN"/>
          </a:p>
          <a:p>
            <a:r>
              <a:rPr lang="zh-CN" altLang="en-US"/>
              <a:t>实验题目</a:t>
            </a:r>
            <a:endParaRPr lang="zh-CN" altLang="en-US"/>
          </a:p>
          <a:p>
            <a:endParaRPr lang="en-US" altLang="zh-CN"/>
          </a:p>
          <a:p>
            <a:r>
              <a:rPr lang="en-US" altLang="zh-CN"/>
              <a:t>AI </a:t>
            </a:r>
            <a:r>
              <a:rPr lang="zh-CN" altLang="en-US"/>
              <a:t>建议序列</a:t>
            </a:r>
            <a:endParaRPr lang="zh-CN" altLang="en-US"/>
          </a:p>
          <a:p>
            <a:endParaRPr lang="en-US" altLang="zh-CN"/>
          </a:p>
          <a:p>
            <a:r>
              <a:rPr lang="en-US" altLang="zh-CN"/>
              <a:t>AI </a:t>
            </a:r>
            <a:r>
              <a:rPr lang="zh-CN" altLang="en-US"/>
              <a:t>错误位置</a:t>
            </a:r>
            <a:endParaRPr lang="zh-CN" altLang="en-US"/>
          </a:p>
          <a:p>
            <a:endParaRPr lang="en-US" altLang="zh-CN"/>
          </a:p>
          <a:p>
            <a:r>
              <a:rPr lang="zh-CN" altLang="en-US"/>
              <a:t>因此，不同条件之间的差异仅来自经济激励机制。</a:t>
            </a:r>
            <a:endParaRPr lang="zh-CN" altLang="en-US"/>
          </a:p>
          <a:p>
            <a:endParaRPr lang="en-US" altLang="zh-CN"/>
          </a:p>
          <a:p>
            <a:r>
              <a:rPr lang="zh-CN" altLang="en-US"/>
              <a:t>报酬机制</a:t>
            </a:r>
            <a:endParaRPr lang="zh-CN" altLang="en-US"/>
          </a:p>
          <a:p>
            <a:endParaRPr lang="en-US" altLang="zh-CN"/>
          </a:p>
          <a:p>
            <a:r>
              <a:rPr lang="zh-CN" altLang="en-US"/>
              <a:t>每答对一题，参与者获得相同的基础绩效报酬</a:t>
            </a:r>
            <a:endParaRPr lang="zh-CN" altLang="en-US"/>
          </a:p>
          <a:p>
            <a:endParaRPr lang="en-US" altLang="zh-CN"/>
          </a:p>
          <a:p>
            <a:r>
              <a:rPr lang="zh-CN" altLang="en-US"/>
              <a:t>采用 </a:t>
            </a:r>
            <a:r>
              <a:rPr lang="en-US" altLang="zh-CN"/>
              <a:t>AI </a:t>
            </a:r>
            <a:r>
              <a:rPr lang="zh-CN" altLang="en-US"/>
              <a:t>建议产生的扣款、返还或正向奖金，在基础绩效报酬之外单独结算</a:t>
            </a:r>
            <a:endParaRPr lang="zh-CN" altLang="en-US"/>
          </a:p>
          <a:p>
            <a:endParaRPr lang="en-US" altLang="zh-CN"/>
          </a:p>
          <a:p>
            <a:r>
              <a:rPr lang="zh-CN" altLang="en-US"/>
              <a:t>参数设定原则</a:t>
            </a:r>
            <a:endParaRPr lang="zh-CN" altLang="en-US"/>
          </a:p>
          <a:p>
            <a:endParaRPr lang="en-US" altLang="zh-CN"/>
          </a:p>
          <a:p>
            <a:r>
              <a:rPr lang="zh-CN" altLang="en-US"/>
              <a:t>正式实验前通过预测试确定并冻结：</a:t>
            </a:r>
            <a:endParaRPr lang="zh-CN" altLang="en-US"/>
          </a:p>
          <a:p>
            <a:endParaRPr lang="en-US" altLang="zh-CN"/>
          </a:p>
          <a:p>
            <a:r>
              <a:rPr lang="zh-CN" altLang="en-US"/>
              <a:t>任务难度</a:t>
            </a:r>
            <a:endParaRPr lang="zh-CN" altLang="en-US"/>
          </a:p>
          <a:p>
            <a:endParaRPr lang="en-US" altLang="zh-CN"/>
          </a:p>
          <a:p>
            <a:r>
              <a:rPr lang="zh-CN" altLang="en-US"/>
              <a:t>高、低能力 </a:t>
            </a:r>
            <a:r>
              <a:rPr lang="en-US" altLang="zh-CN"/>
              <a:t>AI </a:t>
            </a:r>
            <a:r>
              <a:rPr lang="zh-CN" altLang="en-US"/>
              <a:t>的正确率</a:t>
            </a:r>
            <a:endParaRPr lang="zh-CN" altLang="en-US"/>
          </a:p>
          <a:p>
            <a:endParaRPr lang="en-US" altLang="zh-CN"/>
          </a:p>
          <a:p>
            <a:r>
              <a:rPr lang="zh-CN" altLang="en-US"/>
              <a:t>参数需满足：</a:t>
            </a:r>
            <a:endParaRPr lang="zh-CN" altLang="en-US"/>
          </a:p>
          <a:p>
            <a:endParaRPr lang="en-US" altLang="zh-CN"/>
          </a:p>
          <a:p>
            <a:r>
              <a:rPr lang="zh-CN" altLang="en-US"/>
              <a:t>高、低能力差异能够通过有限轮次反馈被识别</a:t>
            </a:r>
            <a:endParaRPr lang="zh-CN" altLang="en-US"/>
          </a:p>
          <a:p>
            <a:endParaRPr lang="en-US" altLang="zh-CN"/>
          </a:p>
          <a:p>
            <a:r>
              <a:rPr lang="zh-CN" altLang="en-US"/>
              <a:t>能力差异不能过大，以保留参与者信念更新和依赖行为的变化空间</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实验变量</a:t>
            </a:r>
            <a:r>
              <a:rPr lang="zh-CN" altLang="en-US"/>
              <a:t>含义</a:t>
            </a:r>
            <a:endParaRPr lang="zh-CN" altLang="en-US"/>
          </a:p>
        </p:txBody>
      </p:sp>
      <p:graphicFrame>
        <p:nvGraphicFramePr>
          <p:cNvPr id="9" name="表格 8"/>
          <p:cNvGraphicFramePr/>
          <p:nvPr>
            <p:custDataLst>
              <p:tags r:id="rId2"/>
            </p:custDataLst>
          </p:nvPr>
        </p:nvGraphicFramePr>
        <p:xfrm>
          <a:off x="853440" y="1752600"/>
          <a:ext cx="9184640" cy="2921000"/>
        </p:xfrm>
        <a:graphic>
          <a:graphicData uri="http://schemas.openxmlformats.org/drawingml/2006/table">
            <a:tbl>
              <a:tblPr/>
              <a:tblGrid>
                <a:gridCol w="3081655"/>
                <a:gridCol w="3021330"/>
                <a:gridCol w="3081655"/>
              </a:tblGrid>
              <a:tr h="238760">
                <a:tc>
                  <a:txBody>
                    <a:bodyPr/>
                    <a:p>
                      <a:r>
                        <a:rPr lang="zh-CN" altLang="en-US" sz="1100"/>
                        <a:t>当前变量</a:t>
                      </a:r>
                      <a:endParaRPr lang="zh-CN" altLang="en-US" sz="1100"/>
                    </a:p>
                  </a:txBody>
                  <a:tcPr marL="0" marR="0" marT="0" marB="0" anchor="ctr" anchorCtr="0">
                    <a:lnL>
                      <a:noFill/>
                    </a:lnL>
                    <a:lnR>
                      <a:noFill/>
                    </a:lnR>
                    <a:lnT>
                      <a:noFill/>
                    </a:lnT>
                    <a:lnB>
                      <a:noFill/>
                    </a:lnB>
                    <a:noFill/>
                  </a:tcPr>
                </a:tc>
                <a:tc>
                  <a:txBody>
                    <a:bodyPr/>
                    <a:p>
                      <a:r>
                        <a:rPr lang="zh-CN" altLang="en-US" sz="1100"/>
                        <a:t>对应概念</a:t>
                      </a:r>
                      <a:endParaRPr lang="zh-CN" altLang="en-US" sz="1100"/>
                    </a:p>
                  </a:txBody>
                  <a:tcPr marL="0" marR="0" marT="0" marB="0" anchor="ctr" anchorCtr="0">
                    <a:lnL>
                      <a:noFill/>
                    </a:lnL>
                    <a:lnR>
                      <a:noFill/>
                    </a:lnR>
                    <a:lnT>
                      <a:noFill/>
                    </a:lnT>
                    <a:lnB>
                      <a:noFill/>
                    </a:lnB>
                    <a:noFill/>
                  </a:tcPr>
                </a:tc>
                <a:tc>
                  <a:txBody>
                    <a:bodyPr/>
                    <a:p>
                      <a:r>
                        <a:rPr lang="zh-CN" altLang="en-US" sz="1100"/>
                        <a:t>准确含义</a:t>
                      </a:r>
                      <a:endParaRPr lang="zh-CN" altLang="en-US" sz="1100"/>
                    </a:p>
                  </a:txBody>
                  <a:tcPr marL="0" marR="0" marT="0" marB="0" anchor="ctr" anchorCtr="0">
                    <a:lnL>
                      <a:noFill/>
                    </a:lnL>
                    <a:lnR>
                      <a:noFill/>
                    </a:lnR>
                    <a:lnT>
                      <a:noFill/>
                    </a:lnT>
                    <a:lnB>
                      <a:noFill/>
                    </a:lnB>
                    <a:noFill/>
                  </a:tcPr>
                </a:tc>
              </a:tr>
              <a:tr h="0">
                <a:tc>
                  <a:txBody>
                    <a:bodyPr/>
                    <a:p>
                      <a:r>
                        <a:rPr lang="en-US" altLang="zh-CN" sz="1100"/>
                        <a:t>AI</a:t>
                      </a:r>
                      <a:r>
                        <a:rPr lang="zh-CN" altLang="en-US" sz="1100"/>
                        <a:t>真实正确率 </a:t>
                      </a:r>
                      <a:r>
                        <a:rPr lang="en-US" altLang="zh-CN" sz="1100"/>
                        <a:t>\(q\)</a:t>
                      </a:r>
                      <a:endParaRPr lang="en-US" altLang="zh-CN" sz="1100"/>
                    </a:p>
                  </a:txBody>
                  <a:tcPr marL="0" marR="0" marT="0" marB="0" anchor="ctr" anchorCtr="0">
                    <a:lnL>
                      <a:noFill/>
                    </a:lnL>
                    <a:lnR>
                      <a:noFill/>
                    </a:lnR>
                    <a:lnT>
                      <a:noFill/>
                    </a:lnT>
                    <a:lnB>
                      <a:noFill/>
                    </a:lnB>
                    <a:noFill/>
                  </a:tcPr>
                </a:tc>
                <a:tc>
                  <a:txBody>
                    <a:bodyPr/>
                    <a:p>
                      <a:r>
                        <a:rPr lang="en-US" altLang="zh-CN" sz="1100"/>
                        <a:t>Actual trustworthiness</a:t>
                      </a:r>
                      <a:endParaRPr lang="en-US" altLang="zh-CN" sz="1100"/>
                    </a:p>
                  </a:txBody>
                  <a:tcPr marL="0" marR="0" marT="0" marB="0" anchor="ctr" anchorCtr="0">
                    <a:lnL>
                      <a:noFill/>
                    </a:lnL>
                    <a:lnR>
                      <a:noFill/>
                    </a:lnR>
                    <a:lnT>
                      <a:noFill/>
                    </a:lnT>
                    <a:lnB>
                      <a:noFill/>
                    </a:lnB>
                    <a:noFill/>
                  </a:tcPr>
                </a:tc>
                <a:tc>
                  <a:txBody>
                    <a:bodyPr/>
                    <a:p>
                      <a:r>
                        <a:rPr lang="en-US" altLang="zh-CN" sz="1100"/>
                        <a:t>Actual trustworthiness</a:t>
                      </a:r>
                      <a:r>
                        <a:rPr lang="zh-CN" altLang="en-US" sz="1100"/>
                        <a:t>比正确率更宽；在本实验的性能任务中，客观正确率是其操作化。</a:t>
                      </a:r>
                      <a:endParaRPr lang="zh-CN" altLang="en-US" sz="1100"/>
                    </a:p>
                  </a:txBody>
                  <a:tcPr marL="0" marR="0" marT="0" marB="0" anchor="ctr" anchorCtr="0">
                    <a:lnL>
                      <a:noFill/>
                    </a:lnL>
                    <a:lnR>
                      <a:noFill/>
                    </a:lnR>
                    <a:lnT>
                      <a:noFill/>
                    </a:lnT>
                    <a:lnB>
                      <a:noFill/>
                    </a:lnB>
                    <a:noFill/>
                  </a:tcPr>
                </a:tc>
              </a:tr>
              <a:tr h="0">
                <a:tc>
                  <a:txBody>
                    <a:bodyPr/>
                    <a:p>
                      <a:r>
                        <a:rPr lang="zh-CN" altLang="en-US" sz="1100"/>
                        <a:t>参与者估计的正确率 </a:t>
                      </a:r>
                      <a:r>
                        <a:rPr lang="en-US" altLang="zh-CN" sz="1100"/>
                        <a:t>\(\hat q\)</a:t>
                      </a:r>
                      <a:endParaRPr lang="en-US" altLang="zh-CN" sz="1100"/>
                    </a:p>
                  </a:txBody>
                  <a:tcPr marL="0" marR="0" marT="0" marB="0" anchor="ctr" anchorCtr="0">
                    <a:lnL>
                      <a:noFill/>
                    </a:lnL>
                    <a:lnR>
                      <a:noFill/>
                    </a:lnR>
                    <a:lnT>
                      <a:noFill/>
                    </a:lnT>
                    <a:lnB>
                      <a:noFill/>
                    </a:lnB>
                    <a:noFill/>
                  </a:tcPr>
                </a:tc>
                <a:tc>
                  <a:txBody>
                    <a:bodyPr/>
                    <a:p>
                      <a:r>
                        <a:rPr lang="en-US" altLang="zh-CN" sz="1100"/>
                        <a:t>Perceived trustworthiness</a:t>
                      </a:r>
                      <a:endParaRPr lang="en-US" altLang="zh-CN" sz="1100"/>
                    </a:p>
                  </a:txBody>
                  <a:tcPr marL="0" marR="0" marT="0" marB="0" anchor="ctr" anchorCtr="0">
                    <a:lnL>
                      <a:noFill/>
                    </a:lnL>
                    <a:lnR>
                      <a:noFill/>
                    </a:lnR>
                    <a:lnT>
                      <a:noFill/>
                    </a:lnT>
                    <a:lnB>
                      <a:noFill/>
                    </a:lnB>
                    <a:noFill/>
                  </a:tcPr>
                </a:tc>
                <a:tc>
                  <a:txBody>
                    <a:bodyPr/>
                    <a:p>
                      <a:r>
                        <a:rPr lang="zh-CN" altLang="en-US" sz="1100"/>
                        <a:t>参与者对</a:t>
                      </a:r>
                      <a:r>
                        <a:rPr lang="en-US" altLang="zh-CN" sz="1100"/>
                        <a:t>AI</a:t>
                      </a:r>
                      <a:r>
                        <a:rPr lang="zh-CN" altLang="en-US" sz="1100"/>
                        <a:t>在当前任务中客观能力的主观估计。</a:t>
                      </a:r>
                      <a:endParaRPr lang="zh-CN" altLang="en-US" sz="1100"/>
                    </a:p>
                  </a:txBody>
                  <a:tcPr marL="0" marR="0" marT="0" marB="0" anchor="ctr" anchorCtr="0">
                    <a:lnL>
                      <a:noFill/>
                    </a:lnL>
                    <a:lnR>
                      <a:noFill/>
                    </a:lnR>
                    <a:lnT>
                      <a:noFill/>
                    </a:lnT>
                    <a:lnB>
                      <a:noFill/>
                    </a:lnB>
                    <a:noFill/>
                  </a:tcPr>
                </a:tc>
              </a:tr>
              <a:tr h="0">
                <a:tc>
                  <a:txBody>
                    <a:bodyPr/>
                    <a:p>
                      <a:r>
                        <a:rPr lang="zh-CN" altLang="en-US" sz="1100"/>
                        <a:t>“我愿意依赖这个</a:t>
                      </a:r>
                      <a:r>
                        <a:rPr lang="en-US" altLang="zh-CN" sz="1100"/>
                        <a:t>AI”</a:t>
                      </a:r>
                      <a:r>
                        <a:rPr lang="zh-CN" altLang="en-US" sz="1100"/>
                        <a:t>等量表</a:t>
                      </a:r>
                      <a:endParaRPr lang="zh-CN" altLang="en-US" sz="1100"/>
                    </a:p>
                  </a:txBody>
                  <a:tcPr marL="0" marR="0" marT="0" marB="0" anchor="ctr" anchorCtr="0">
                    <a:lnL>
                      <a:noFill/>
                    </a:lnL>
                    <a:lnR>
                      <a:noFill/>
                    </a:lnR>
                    <a:lnT>
                      <a:noFill/>
                    </a:lnT>
                    <a:lnB>
                      <a:noFill/>
                    </a:lnB>
                    <a:noFill/>
                  </a:tcPr>
                </a:tc>
                <a:tc>
                  <a:txBody>
                    <a:bodyPr/>
                    <a:p>
                      <a:r>
                        <a:rPr lang="en-US" altLang="zh-CN" sz="1100"/>
                        <a:t>Attitudinal trust</a:t>
                      </a:r>
                      <a:endParaRPr lang="en-US" altLang="zh-CN" sz="1100"/>
                    </a:p>
                  </a:txBody>
                  <a:tcPr marL="0" marR="0" marT="0" marB="0" anchor="ctr" anchorCtr="0">
                    <a:lnL>
                      <a:noFill/>
                    </a:lnL>
                    <a:lnR>
                      <a:noFill/>
                    </a:lnR>
                    <a:lnT>
                      <a:noFill/>
                    </a:lnT>
                    <a:lnB>
                      <a:noFill/>
                    </a:lnB>
                    <a:noFill/>
                  </a:tcPr>
                </a:tc>
                <a:tc>
                  <a:txBody>
                    <a:bodyPr/>
                    <a:p>
                      <a:r>
                        <a:rPr lang="zh-CN" altLang="en-US" sz="1100"/>
                        <a:t>在结果不确定、需要承担风险时依赖</a:t>
                      </a:r>
                      <a:r>
                        <a:rPr lang="en-US" altLang="zh-CN" sz="1100"/>
                        <a:t>AI</a:t>
                      </a:r>
                      <a:r>
                        <a:rPr lang="zh-CN" altLang="en-US" sz="1100"/>
                        <a:t>的心理意愿。</a:t>
                      </a:r>
                      <a:endParaRPr lang="zh-CN" altLang="en-US" sz="1100"/>
                    </a:p>
                  </a:txBody>
                  <a:tcPr marL="0" marR="0" marT="0" marB="0" anchor="ctr" anchorCtr="0">
                    <a:lnL>
                      <a:noFill/>
                    </a:lnL>
                    <a:lnR>
                      <a:noFill/>
                    </a:lnR>
                    <a:lnT>
                      <a:noFill/>
                    </a:lnT>
                    <a:lnB>
                      <a:noFill/>
                    </a:lnB>
                    <a:noFill/>
                  </a:tcPr>
                </a:tc>
              </a:tr>
              <a:tr h="0">
                <a:tc>
                  <a:txBody>
                    <a:bodyPr/>
                    <a:p>
                      <a:r>
                        <a:rPr lang="zh-CN" altLang="en-US" sz="1100"/>
                        <a:t>基于正确率和错误记录形成的信任</a:t>
                      </a:r>
                      <a:endParaRPr lang="zh-CN" altLang="en-US" sz="1100"/>
                    </a:p>
                  </a:txBody>
                  <a:tcPr marL="0" marR="0" marT="0" marB="0" anchor="ctr" anchorCtr="0">
                    <a:lnL>
                      <a:noFill/>
                    </a:lnL>
                    <a:lnR>
                      <a:noFill/>
                    </a:lnR>
                    <a:lnT>
                      <a:noFill/>
                    </a:lnT>
                    <a:lnB>
                      <a:noFill/>
                    </a:lnB>
                    <a:noFill/>
                  </a:tcPr>
                </a:tc>
                <a:tc>
                  <a:txBody>
                    <a:bodyPr/>
                    <a:p>
                      <a:r>
                        <a:rPr lang="en-US" altLang="zh-CN" sz="1100"/>
                        <a:t>Cognitive trust</a:t>
                      </a:r>
                      <a:endParaRPr lang="en-US" altLang="zh-CN" sz="1100"/>
                    </a:p>
                  </a:txBody>
                  <a:tcPr marL="0" marR="0" marT="0" marB="0" anchor="ctr" anchorCtr="0">
                    <a:lnL>
                      <a:noFill/>
                    </a:lnL>
                    <a:lnR>
                      <a:noFill/>
                    </a:lnR>
                    <a:lnT>
                      <a:noFill/>
                    </a:lnT>
                    <a:lnB>
                      <a:noFill/>
                    </a:lnB>
                    <a:noFill/>
                  </a:tcPr>
                </a:tc>
                <a:tc>
                  <a:txBody>
                    <a:bodyPr/>
                    <a:p>
                      <a:r>
                        <a:rPr lang="zh-CN" altLang="en-US" sz="1100"/>
                        <a:t>仅仅看到正误记录或更新 </a:t>
                      </a:r>
                      <a:r>
                        <a:rPr lang="en-US" altLang="zh-CN" sz="1100"/>
                        <a:t>\(\hat q\)</a:t>
                      </a:r>
                      <a:r>
                        <a:rPr lang="zh-CN" altLang="en-US" sz="1100"/>
                        <a:t>，不能自动称为</a:t>
                      </a:r>
                      <a:r>
                        <a:rPr lang="en-US" altLang="zh-CN" sz="1100"/>
                        <a:t>cognitive trust</a:t>
                      </a:r>
                      <a:r>
                        <a:rPr lang="zh-CN" altLang="en-US" sz="1100"/>
                        <a:t>。除非测量的是参与者依据能力证据形成的信任判断，否则仍应称为</a:t>
                      </a:r>
                      <a:r>
                        <a:rPr lang="en-US" altLang="zh-CN" sz="1100"/>
                        <a:t>perceived trustworthiness</a:t>
                      </a:r>
                      <a:r>
                        <a:rPr lang="zh-CN" altLang="en-US" sz="1100"/>
                        <a:t>。</a:t>
                      </a:r>
                      <a:endParaRPr lang="zh-CN" altLang="en-US" sz="1100"/>
                    </a:p>
                  </a:txBody>
                  <a:tcPr marL="0" marR="0" marT="0" marB="0" anchor="ctr" anchorCtr="0">
                    <a:lnL>
                      <a:noFill/>
                    </a:lnL>
                    <a:lnR>
                      <a:noFill/>
                    </a:lnR>
                    <a:lnT>
                      <a:noFill/>
                    </a:lnT>
                    <a:lnB>
                      <a:noFill/>
                    </a:lnB>
                    <a:noFill/>
                  </a:tcPr>
                </a:tc>
              </a:tr>
              <a:tr h="0">
                <a:tc>
                  <a:txBody>
                    <a:bodyPr/>
                    <a:p>
                      <a:r>
                        <a:rPr lang="zh-CN" altLang="en-US" sz="1100"/>
                        <a:t>对</a:t>
                      </a:r>
                      <a:r>
                        <a:rPr lang="en-US" altLang="zh-CN" sz="1100"/>
                        <a:t>AI</a:t>
                      </a:r>
                      <a:r>
                        <a:rPr lang="zh-CN" altLang="en-US" sz="1100"/>
                        <a:t>可靠性、能力和表现的信任</a:t>
                      </a:r>
                      <a:endParaRPr lang="zh-CN" altLang="en-US" sz="1100"/>
                    </a:p>
                  </a:txBody>
                  <a:tcPr marL="0" marR="0" marT="0" marB="0" anchor="ctr" anchorCtr="0">
                    <a:lnL>
                      <a:noFill/>
                    </a:lnL>
                    <a:lnR>
                      <a:noFill/>
                    </a:lnR>
                    <a:lnT>
                      <a:noFill/>
                    </a:lnT>
                    <a:lnB>
                      <a:noFill/>
                    </a:lnB>
                    <a:noFill/>
                  </a:tcPr>
                </a:tc>
                <a:tc>
                  <a:txBody>
                    <a:bodyPr/>
                    <a:p>
                      <a:r>
                        <a:rPr lang="en-US" altLang="zh-CN" sz="1100"/>
                        <a:t>Performance trust</a:t>
                      </a:r>
                      <a:endParaRPr lang="en-US" altLang="zh-CN" sz="1100"/>
                    </a:p>
                  </a:txBody>
                  <a:tcPr marL="0" marR="0" marT="0" marB="0" anchor="ctr" anchorCtr="0">
                    <a:lnL>
                      <a:noFill/>
                    </a:lnL>
                    <a:lnR>
                      <a:noFill/>
                    </a:lnR>
                    <a:lnT>
                      <a:noFill/>
                    </a:lnT>
                    <a:lnB>
                      <a:noFill/>
                    </a:lnB>
                    <a:noFill/>
                  </a:tcPr>
                </a:tc>
                <a:tc>
                  <a:txBody>
                    <a:bodyPr/>
                    <a:p>
                      <a:r>
                        <a:rPr lang="zh-CN" altLang="en-US" sz="1100"/>
                        <a:t>信任所针对的内容是</a:t>
                      </a:r>
                      <a:r>
                        <a:rPr lang="en-US" altLang="zh-CN" sz="1100"/>
                        <a:t>AI</a:t>
                      </a:r>
                      <a:r>
                        <a:rPr lang="zh-CN" altLang="en-US" sz="1100"/>
                        <a:t>的可靠性、能力和表现，而不是道德品质。</a:t>
                      </a:r>
                      <a:endParaRPr lang="zh-CN" altLang="en-US" sz="1100"/>
                    </a:p>
                  </a:txBody>
                  <a:tcPr marL="0" marR="0" marT="0" marB="0" anchor="ctr" anchorCtr="0">
                    <a:lnL>
                      <a:noFill/>
                    </a:lnL>
                    <a:lnR>
                      <a:noFill/>
                    </a:lnR>
                    <a:lnT>
                      <a:noFill/>
                    </a:lnT>
                    <a:lnB>
                      <a:noFill/>
                    </a:lnB>
                    <a:noFill/>
                  </a:tcPr>
                </a:tc>
              </a:tr>
              <a:tr h="0">
                <a:tc>
                  <a:txBody>
                    <a:bodyPr/>
                    <a:p>
                      <a:r>
                        <a:rPr lang="zh-CN" altLang="en-US" sz="1100"/>
                        <a:t>实际采用</a:t>
                      </a:r>
                      <a:r>
                        <a:rPr lang="en-US" altLang="zh-CN" sz="1100"/>
                        <a:t>AI</a:t>
                      </a:r>
                      <a:r>
                        <a:rPr lang="zh-CN" altLang="en-US" sz="1100"/>
                        <a:t>建议</a:t>
                      </a:r>
                      <a:endParaRPr lang="zh-CN" altLang="en-US" sz="1100"/>
                    </a:p>
                  </a:txBody>
                  <a:tcPr marL="0" marR="0" marT="0" marB="0" anchor="ctr" anchorCtr="0">
                    <a:lnL>
                      <a:noFill/>
                    </a:lnL>
                    <a:lnR>
                      <a:noFill/>
                    </a:lnR>
                    <a:lnT>
                      <a:noFill/>
                    </a:lnT>
                    <a:lnB>
                      <a:noFill/>
                    </a:lnB>
                    <a:noFill/>
                  </a:tcPr>
                </a:tc>
                <a:tc>
                  <a:txBody>
                    <a:bodyPr/>
                    <a:p>
                      <a:r>
                        <a:rPr lang="en-US" altLang="zh-CN" sz="1100"/>
                        <a:t>Adoption behaviour</a:t>
                      </a:r>
                      <a:endParaRPr lang="en-US" altLang="zh-CN" sz="1100"/>
                    </a:p>
                  </a:txBody>
                  <a:tcPr marL="0" marR="0" marT="0" marB="0" anchor="ctr" anchorCtr="0">
                    <a:lnL>
                      <a:noFill/>
                    </a:lnL>
                    <a:lnR>
                      <a:noFill/>
                    </a:lnR>
                    <a:lnT>
                      <a:noFill/>
                    </a:lnT>
                    <a:lnB>
                      <a:noFill/>
                    </a:lnB>
                    <a:noFill/>
                  </a:tcPr>
                </a:tc>
                <a:tc>
                  <a:txBody>
                    <a:bodyPr/>
                    <a:p>
                      <a:r>
                        <a:rPr lang="zh-CN" altLang="en-US" sz="1100"/>
                        <a:t>在存在采用奖励时，采用行为可能是收益反应，不能自动称为</a:t>
                      </a:r>
                      <a:r>
                        <a:rPr lang="en-US" altLang="zh-CN" sz="1100"/>
                        <a:t>trusting behaviour</a:t>
                      </a:r>
                      <a:r>
                        <a:rPr lang="zh-CN" altLang="en-US" sz="1100"/>
                        <a:t>。只有证明该行为反映信任态度时，才能将其作为</a:t>
                      </a:r>
                      <a:r>
                        <a:rPr lang="en-US" altLang="zh-CN" sz="1100"/>
                        <a:t>trusting behaviour</a:t>
                      </a:r>
                      <a:r>
                        <a:rPr lang="zh-CN" altLang="en-US" sz="1100"/>
                        <a:t>的操作指标。</a:t>
                      </a:r>
                      <a:endParaRPr lang="zh-CN" altLang="en-US" sz="1100"/>
                    </a:p>
                  </a:txBody>
                  <a:tcPr marL="0" marR="0" marT="0" marB="0" anchor="ctr" anchorCtr="0">
                    <a:lnL>
                      <a:noFill/>
                    </a:lnL>
                    <a:lnR>
                      <a:noFill/>
                    </a:lnR>
                    <a:lnT>
                      <a:noFill/>
                    </a:lnT>
                    <a:lnB>
                      <a:noFill/>
                    </a:lnB>
                    <a:noFill/>
                  </a:tcPr>
                </a:tc>
              </a:tr>
              <a:tr h="0">
                <a:tc>
                  <a:txBody>
                    <a:bodyPr/>
                    <a:p>
                      <a:r>
                        <a:rPr lang="en-US" altLang="zh-CN" sz="1100"/>
                        <a:t>\(\hat q-q\)</a:t>
                      </a:r>
                      <a:endParaRPr lang="en-US" altLang="zh-CN" sz="1100"/>
                    </a:p>
                  </a:txBody>
                  <a:tcPr marL="0" marR="0" marT="0" marB="0" anchor="ctr" anchorCtr="0">
                    <a:lnL>
                      <a:noFill/>
                    </a:lnL>
                    <a:lnR>
                      <a:noFill/>
                    </a:lnR>
                    <a:lnT>
                      <a:noFill/>
                    </a:lnT>
                    <a:lnB>
                      <a:noFill/>
                    </a:lnB>
                    <a:noFill/>
                  </a:tcPr>
                </a:tc>
                <a:tc>
                  <a:txBody>
                    <a:bodyPr/>
                    <a:p>
                      <a:r>
                        <a:rPr lang="en-US" altLang="zh-CN" sz="1100"/>
                        <a:t>Perceived-trustworthiness calibration error</a:t>
                      </a:r>
                      <a:endParaRPr lang="en-US" altLang="zh-CN" sz="1100"/>
                    </a:p>
                  </a:txBody>
                  <a:tcPr marL="0" marR="0" marT="0" marB="0" anchor="ctr" anchorCtr="0">
                    <a:lnL>
                      <a:noFill/>
                    </a:lnL>
                    <a:lnR>
                      <a:noFill/>
                    </a:lnR>
                    <a:lnT>
                      <a:noFill/>
                    </a:lnT>
                    <a:lnB>
                      <a:noFill/>
                    </a:lnB>
                    <a:noFill/>
                  </a:tcPr>
                </a:tc>
                <a:tc>
                  <a:txBody>
                    <a:bodyPr/>
                    <a:p>
                      <a:r>
                        <a:rPr lang="zh-CN" altLang="en-US" sz="1100"/>
                        <a:t>它测量感知可信性与实际可信性之间的偏差，不等于</a:t>
                      </a:r>
                      <a:r>
                        <a:rPr lang="en-US" altLang="zh-CN" sz="1100"/>
                        <a:t>Nature</a:t>
                      </a:r>
                      <a:r>
                        <a:rPr lang="zh-CN" altLang="en-US" sz="1100"/>
                        <a:t>所定义的</a:t>
                      </a:r>
                      <a:r>
                        <a:rPr lang="en-US" altLang="zh-CN" sz="1100"/>
                        <a:t>calibrated trust</a:t>
                      </a:r>
                      <a:r>
                        <a:rPr lang="zh-CN" altLang="en-US" sz="1100"/>
                        <a:t>。</a:t>
                      </a:r>
                      <a:endParaRPr lang="zh-CN" altLang="en-US" sz="11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模型</a:t>
            </a:r>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81851" y="1801114"/>
                <a:ext cx="5403850" cy="52387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𝑝𝑜𝑠𝑡</m:t>
                          </m:r>
                        </m:sup>
                      </m:sSubSup>
                      <m:r>
                        <a:rPr lang="en-US" altLang="zh-CN" i="1">
                          <a:latin typeface="Cambria Math" panose="02040503050406030204"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𝑝𝑜𝑠𝑡</m:t>
                          </m:r>
                        </m:sup>
                      </m:sSubSup>
                      <m:r>
                        <a:rPr lang="en-US" altLang="zh-CN" i="1">
                          <a:latin typeface="Cambria Math" panose="02040503050406030204"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oMath>
                  </m:oMathPara>
                </a14:m>
                <a:endParaRPr lang="en-US" altLang="zh-CN" i="1">
                  <a:latin typeface="Cambria Math" panose="02040503050406030204" charset="0"/>
                  <a:cs typeface="Cambria Math" panose="02040503050406030204"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81851" y="1801114"/>
                <a:ext cx="5403850" cy="523875"/>
              </a:xfrm>
              <a:prstGeom prst="rect">
                <a:avLst/>
              </a:prstGeom>
              <a:blipFill rotWithShape="1">
                <a:blip r:embed="rId2"/>
                <a:stretch>
                  <a:fillRect l="-11" t="-48" r="11" b="48"/>
                </a:stretch>
              </a:blipFill>
            </p:spPr>
            <p:txBody>
              <a:bodyPr/>
              <a:lstStyle/>
              <a:p>
                <a:r>
                  <a:rPr lang="zh-CN" altLang="en-US">
                    <a:noFill/>
                  </a:rPr>
                  <a:t> </a:t>
                </a:r>
              </a:p>
            </p:txBody>
          </p:sp>
        </mc:Fallback>
      </mc:AlternateContent>
      <p:sp>
        <p:nvSpPr>
          <p:cNvPr id="6" name="文本框 5"/>
          <p:cNvSpPr txBox="1"/>
          <p:nvPr/>
        </p:nvSpPr>
        <p:spPr>
          <a:xfrm>
            <a:off x="751840" y="2778760"/>
            <a:ext cx="4064000" cy="2584450"/>
          </a:xfrm>
          <a:prstGeom prst="rect">
            <a:avLst/>
          </a:prstGeom>
          <a:noFill/>
        </p:spPr>
        <p:txBody>
          <a:bodyPr wrap="square" rtlCol="0">
            <a:spAutoFit/>
          </a:bodyPr>
          <a:p>
            <a:r>
              <a:rPr lang="en-US" altLang="zh-CN"/>
              <a:t> $\hat q_i^{\mathrm{post}}$：</a:t>
            </a:r>
            <a:r>
              <a:rPr lang="zh-CN" altLang="en-US"/>
              <a:t>激励实施后参与者估计的 </a:t>
            </a:r>
            <a:r>
              <a:rPr lang="en-US" altLang="zh-CN"/>
              <a:t>AI </a:t>
            </a:r>
            <a:r>
              <a:rPr lang="zh-CN" altLang="en-US"/>
              <a:t>正确率，对应 **</a:t>
            </a:r>
            <a:r>
              <a:rPr lang="en-US" altLang="zh-CN"/>
              <a:t>perceived trustworthiness**。</a:t>
            </a:r>
            <a:endParaRPr lang="en-US" altLang="zh-CN"/>
          </a:p>
          <a:p>
            <a:r>
              <a:rPr lang="en-US" altLang="zh-CN"/>
              <a:t>- $q_i$：AI </a:t>
            </a:r>
            <a:r>
              <a:rPr lang="zh-CN" altLang="en-US"/>
              <a:t>的实际正确率，对应 **</a:t>
            </a:r>
            <a:r>
              <a:rPr lang="en-US" altLang="zh-CN"/>
              <a:t>actual trustworthiness**。</a:t>
            </a:r>
            <a:endParaRPr lang="en-US" altLang="zh-CN"/>
          </a:p>
          <a:p>
            <a:r>
              <a:rPr lang="en-US" altLang="zh-CN"/>
              <a:t>- $D_i^{\mathrm{Perceived,post}}&gt;0$：</a:t>
            </a:r>
            <a:r>
              <a:rPr lang="zh-CN" altLang="en-US"/>
              <a:t>感知可信性高于实际可信性。</a:t>
            </a:r>
            <a:endParaRPr lang="zh-CN" altLang="en-US"/>
          </a:p>
          <a:p>
            <a:r>
              <a:rPr lang="en-US" altLang="zh-CN"/>
              <a:t>- $D_i^{\mathrm{Perceived,post}}&lt;0$：</a:t>
            </a:r>
            <a:r>
              <a:rPr lang="zh-CN" altLang="en-US"/>
              <a:t>感知可信性低于实际可信性。</a:t>
            </a:r>
            <a:endParaRPr lang="zh-CN" altLang="en-US"/>
          </a:p>
        </p:txBody>
      </p:sp>
      <p:sp>
        <p:nvSpPr>
          <p:cNvPr id="7" name="文本框 6"/>
          <p:cNvSpPr txBox="1"/>
          <p:nvPr/>
        </p:nvSpPr>
        <p:spPr>
          <a:xfrm>
            <a:off x="7274560" y="1220470"/>
            <a:ext cx="4064000" cy="368300"/>
          </a:xfrm>
          <a:prstGeom prst="rect">
            <a:avLst/>
          </a:prstGeom>
          <a:noFill/>
        </p:spPr>
        <p:txBody>
          <a:bodyPr wrap="square" rtlCol="0">
            <a:spAutoFit/>
          </a:bodyPr>
          <a:p>
            <a:r>
              <a:rPr lang="zh-CN" altLang="en-US"/>
              <a:t>三个核心解释变量</a:t>
            </a:r>
            <a:endParaRPr lang="zh-CN" altLang="en-US"/>
          </a:p>
        </p:txBody>
      </p:sp>
      <p:sp>
        <p:nvSpPr>
          <p:cNvPr id="8" name="文本框 7"/>
          <p:cNvSpPr txBox="1"/>
          <p:nvPr/>
        </p:nvSpPr>
        <p:spPr>
          <a:xfrm>
            <a:off x="1005840" y="1155700"/>
            <a:ext cx="6096000" cy="645160"/>
          </a:xfrm>
          <a:prstGeom prst="rect">
            <a:avLst/>
          </a:prstGeom>
          <a:noFill/>
        </p:spPr>
        <p:txBody>
          <a:bodyPr wrap="square" rtlCol="0" anchor="t">
            <a:spAutoFit/>
          </a:bodyPr>
          <a:p>
            <a:r>
              <a:rPr lang="zh-CN" altLang="en-US"/>
              <a:t>## 主要因变量</a:t>
            </a:r>
            <a:endParaRPr lang="zh-CN" altLang="en-US"/>
          </a:p>
          <a:p>
            <a:endParaRPr lang="zh-CN" altLang="en-US"/>
          </a:p>
        </p:txBody>
      </p:sp>
      <p:sp>
        <p:nvSpPr>
          <p:cNvPr id="9" name="文本框 8"/>
          <p:cNvSpPr txBox="1"/>
          <p:nvPr/>
        </p:nvSpPr>
        <p:spPr>
          <a:xfrm>
            <a:off x="7946390" y="2087880"/>
            <a:ext cx="4064000" cy="2861310"/>
          </a:xfrm>
          <a:prstGeom prst="rect">
            <a:avLst/>
          </a:prstGeom>
          <a:noFill/>
        </p:spPr>
        <p:txBody>
          <a:bodyPr wrap="square" rtlCol="0">
            <a:spAutoFit/>
          </a:bodyPr>
          <a:p>
            <a:endParaRPr lang="en-US" altLang="zh-CN"/>
          </a:p>
          <a:p>
            <a:r>
              <a:rPr lang="en-US" altLang="zh-CN"/>
              <a:t>- $\hat q_i^{\mathrm{post}}$：</a:t>
            </a:r>
            <a:r>
              <a:rPr lang="zh-CN" altLang="en-US"/>
              <a:t>激励实施后参与者估计的 </a:t>
            </a:r>
            <a:r>
              <a:rPr lang="en-US" altLang="zh-CN"/>
              <a:t>AI </a:t>
            </a:r>
            <a:r>
              <a:rPr lang="zh-CN" altLang="en-US"/>
              <a:t>正确率，对应 **</a:t>
            </a:r>
            <a:r>
              <a:rPr lang="en-US" altLang="zh-CN"/>
              <a:t>perceived trustworthiness**。</a:t>
            </a:r>
            <a:endParaRPr lang="en-US" altLang="zh-CN"/>
          </a:p>
          <a:p>
            <a:r>
              <a:rPr lang="en-US" altLang="zh-CN"/>
              <a:t>- $q_i$：AI </a:t>
            </a:r>
            <a:r>
              <a:rPr lang="zh-CN" altLang="en-US"/>
              <a:t>的实际正确率，对应 **</a:t>
            </a:r>
            <a:r>
              <a:rPr lang="en-US" altLang="zh-CN"/>
              <a:t>actual trustworthiness**。</a:t>
            </a:r>
            <a:endParaRPr lang="en-US" altLang="zh-CN"/>
          </a:p>
          <a:p>
            <a:r>
              <a:rPr lang="en-US" altLang="zh-CN"/>
              <a:t>- $D_i^{\mathrm{Perceived,post}}&gt;0$：</a:t>
            </a:r>
            <a:r>
              <a:rPr lang="zh-CN" altLang="en-US"/>
              <a:t>感知可信性高于实际可信性。</a:t>
            </a:r>
            <a:endParaRPr lang="zh-CN" altLang="en-US"/>
          </a:p>
          <a:p>
            <a:r>
              <a:rPr lang="en-US" altLang="zh-CN"/>
              <a:t>- $D_i^{\mathrm{Perceived,post}}&lt;0$：</a:t>
            </a:r>
            <a:r>
              <a:rPr lang="zh-CN" altLang="en-US"/>
              <a:t>感知可信性低于实际可信性。</a:t>
            </a:r>
            <a:endParaRPr lang="zh-CN"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主</a:t>
            </a:r>
            <a:r>
              <a:rPr lang="zh-CN" altLang="en-US"/>
              <a:t>模型</a:t>
            </a: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697166" y="1403604"/>
                <a:ext cx="8801100" cy="145542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m>
                        <m:mPr>
                          <m:mcs>
                            <m:mc>
                              <m:mcPr>
                                <m:count m:val="1"/>
                                <m:mcJc m:val="right"/>
                              </m:mcPr>
                            </m:mc>
                            <m:mc>
                              <m:mcPr>
                                <m:count m:val="1"/>
                                <m:mcJc m:val="left"/>
                              </m:mcPr>
                            </m:mc>
                          </m:mcs>
                          <m:ctrlPr>
                            <a:rPr lang="en-US" altLang="zh-CN" i="1">
                              <a:latin typeface="Cambria Math" panose="02040503050406030204" charset="0"/>
                              <a:cs typeface="Cambria Math" panose="02040503050406030204" charset="0"/>
                            </a:rPr>
                          </m:ctrlPr>
                        </m:mPr>
                        <m:mr>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cs typeface="Cambria Math" panose="02040503050406030204" charset="0"/>
                                  </a:rPr>
                                  <m:t>𝑝𝑜𝑠𝑡</m:t>
                                </m:r>
                              </m:sup>
                            </m:sSubSup>
                            <m:r>
                              <a:rPr lang="en-US" altLang="zh-CN" i="1">
                                <a:latin typeface="Cambria Math" panose="02040503050406030204" charset="0"/>
                                <a:ea typeface="MS Mincho" charset="0"/>
                                <a:cs typeface="Cambria Math" panose="02040503050406030204" charset="0"/>
                              </a:rPr>
                              <m:t>=</m:t>
                            </m:r>
                          </m:e>
                          <m:e>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0</m:t>
                                </m:r>
                              </m:sub>
                            </m:sSub>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ea typeface="MS Mincho" charset="0"/>
                                <a:cs typeface="Cambria Math" panose="02040503050406030204" charset="0"/>
                              </a:rPr>
                              <m:t>𝜌</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cs typeface="Cambria Math" panose="02040503050406030204" charset="0"/>
                                  </a:rPr>
                                  <m:t>𝑝𝑟𝑒</m:t>
                                </m:r>
                              </m:sup>
                            </m:sSubSup>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1</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2</m:t>
                                </m:r>
                              </m:sub>
                            </m:sSub>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3</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e>
                        </m:mr>
                        <m:mr>
                          <m:e/>
                          <m:e>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4</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cs typeface="Cambria Math" panose="02040503050406030204" charset="0"/>
                                  </a:rPr>
                                  <m:t>𝑝𝑟𝑒</m:t>
                                </m:r>
                              </m:sup>
                            </m:sSubSup>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5</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cs typeface="Cambria Math" panose="02040503050406030204" charset="0"/>
                                  </a:rPr>
                                  <m:t>𝑝𝑟𝑒</m:t>
                                </m:r>
                              </m:sup>
                            </m:sSubSup>
                            <m:r>
                              <a:rPr lang="en-US" altLang="zh-CN" i="1">
                                <a:latin typeface="Cambria Math" panose="02040503050406030204" charset="0"/>
                                <a:ea typeface="MS Mincho" charset="0"/>
                                <a:cs typeface="Cambria Math" panose="02040503050406030204" charset="0"/>
                              </a:rPr>
                              <m:t>)</m:t>
                            </m:r>
                          </m:e>
                        </m:mr>
                        <m:mr>
                          <m:e/>
                          <m:e>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𝛽</m:t>
                                </m:r>
                              </m:e>
                              <m:sub>
                                <m:r>
                                  <a:rPr lang="en-US" altLang="zh-CN" i="1">
                                    <a:latin typeface="Cambria Math" panose="02040503050406030204" charset="0"/>
                                    <a:ea typeface="MS Mincho" charset="0"/>
                                    <a:cs typeface="Cambria Math" panose="02040503050406030204" charset="0"/>
                                  </a:rPr>
                                  <m:t>6</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𝐺</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𝐷</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𝑃𝑒𝑟𝑐𝑒𝑖𝑣𝑒𝑑</m:t>
                                </m:r>
                                <m:r>
                                  <a:rPr lang="en-US" altLang="zh-CN" i="1">
                                    <a:latin typeface="Cambria Math" panose="02040503050406030204" charset="0"/>
                                    <a:ea typeface="MS Mincho" charset="0"/>
                                    <a:cs typeface="Cambria Math" panose="02040503050406030204" charset="0"/>
                                  </a:rPr>
                                  <m:t>,</m:t>
                                </m:r>
                                <m:r>
                                  <a:rPr lang="en-US" altLang="zh-CN" i="1">
                                    <a:latin typeface="Cambria Math" panose="02040503050406030204" charset="0"/>
                                    <a:cs typeface="Cambria Math" panose="02040503050406030204" charset="0"/>
                                  </a:rPr>
                                  <m:t>𝑝𝑟𝑒</m:t>
                                </m:r>
                              </m:sup>
                            </m:sSubSup>
                            <m:r>
                              <a:rPr lang="en-US" altLang="zh-CN" i="1">
                                <a:latin typeface="Cambria Math" panose="02040503050406030204" charset="0"/>
                                <a:ea typeface="MS Mincho" charset="0"/>
                                <a:cs typeface="Cambria Math" panose="02040503050406030204" charset="0"/>
                              </a:rPr>
                              <m:t>)+</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ea typeface="MS Mincho" charset="0"/>
                                    <a:cs typeface="Cambria Math" panose="02040503050406030204" charset="0"/>
                                  </a:rPr>
                                  <m:t>𝜀</m:t>
                                </m:r>
                              </m:e>
                              <m:sub>
                                <m:r>
                                  <a:rPr lang="en-US" altLang="zh-CN" i="1">
                                    <a:latin typeface="Cambria Math" panose="02040503050406030204" charset="0"/>
                                    <a:cs typeface="Cambria Math" panose="02040503050406030204" charset="0"/>
                                  </a:rPr>
                                  <m:t>𝑖</m:t>
                                </m:r>
                              </m:sub>
                            </m:sSub>
                            <m:r>
                              <a:rPr lang="en-US" altLang="zh-CN" i="1">
                                <a:latin typeface="Cambria Math" panose="02040503050406030204" charset="0"/>
                                <a:ea typeface="MS Mincho" charset="0"/>
                                <a:cs typeface="Cambria Math" panose="02040503050406030204" charset="0"/>
                              </a:rPr>
                              <m:t>.</m:t>
                            </m:r>
                          </m:e>
                        </m:mr>
                      </m:m>
                    </m:oMath>
                  </m:oMathPara>
                </a14:m>
                <a:endParaRPr lang="en-US" altLang="zh-CN"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697166" y="1403604"/>
                <a:ext cx="8801100" cy="1455420"/>
              </a:xfrm>
              <a:prstGeom prst="rect">
                <a:avLst/>
              </a:prstGeom>
              <a:blipFill rotWithShape="1">
                <a:blip r:embed="rId2"/>
                <a:stretch>
                  <a:fillRect l="-6" t="-17" r="6" b="17"/>
                </a:stretch>
              </a:blipFill>
            </p:spPr>
            <p:txBody>
              <a:bodyPr/>
              <a:lstStyle/>
              <a:p>
                <a:r>
                  <a:rPr lang="zh-CN" altLang="en-US">
                    <a:noFill/>
                  </a:rPr>
                  <a:t> </a:t>
                </a:r>
              </a:p>
            </p:txBody>
          </p:sp>
        </mc:Fallback>
      </mc:AlternateContent>
      <p:sp>
        <p:nvSpPr>
          <p:cNvPr id="5" name="文本框 4"/>
          <p:cNvSpPr txBox="1"/>
          <p:nvPr/>
        </p:nvSpPr>
        <p:spPr>
          <a:xfrm>
            <a:off x="4826000" y="3225800"/>
            <a:ext cx="5699760" cy="2584450"/>
          </a:xfrm>
          <a:prstGeom prst="rect">
            <a:avLst/>
          </a:prstGeom>
          <a:noFill/>
        </p:spPr>
        <p:txBody>
          <a:bodyPr wrap="square" rtlCol="0">
            <a:spAutoFit/>
          </a:bodyPr>
          <a:p>
            <a:r>
              <a:rPr lang="en-US" altLang="zh-CN"/>
              <a:t>- $\beta_3$：AI </a:t>
            </a:r>
            <a:r>
              <a:rPr lang="zh-CN" altLang="en-US"/>
              <a:t>实际可信性是否改变激励效应。</a:t>
            </a:r>
            <a:endParaRPr lang="zh-CN" altLang="en-US"/>
          </a:p>
          <a:p>
            <a:r>
              <a:rPr lang="en-US" altLang="zh-CN"/>
              <a:t>- $\beta_4$：</a:t>
            </a:r>
            <a:r>
              <a:rPr lang="zh-CN" altLang="en-US"/>
              <a:t>初始高估或低估是否改变激励效应。</a:t>
            </a:r>
            <a:endParaRPr lang="zh-CN" altLang="en-US"/>
          </a:p>
          <a:p>
            <a:r>
              <a:rPr lang="en-US" altLang="zh-CN"/>
              <a:t>- $\beta_6$：</a:t>
            </a:r>
            <a:r>
              <a:rPr lang="zh-CN" altLang="en-US"/>
              <a:t>激励水平、</a:t>
            </a:r>
            <a:r>
              <a:rPr lang="en-US" altLang="zh-CN"/>
              <a:t>AI </a:t>
            </a:r>
            <a:r>
              <a:rPr lang="zh-CN" altLang="en-US"/>
              <a:t>实际可信性和初始感知可信性的共同作用，是本研究最关键的异质性检验。</a:t>
            </a:r>
            <a:endParaRPr lang="zh-CN" altLang="en-US"/>
          </a:p>
          <a:p>
            <a:endParaRPr lang="en-US" altLang="zh-CN"/>
          </a:p>
          <a:p>
            <a:r>
              <a:rPr lang="en-US" altLang="zh-CN"/>
              <a:t>Attitudinal trust、performance trust </a:t>
            </a:r>
            <a:r>
              <a:rPr lang="zh-CN" altLang="en-US"/>
              <a:t>和 </a:t>
            </a:r>
            <a:r>
              <a:rPr lang="en-US" altLang="zh-CN"/>
              <a:t>adoption behaviour </a:t>
            </a:r>
            <a:r>
              <a:rPr lang="zh-CN" altLang="en-US"/>
              <a:t>作为辅助结果分别报告，不进入上述校准偏差的计算。</a:t>
            </a:r>
            <a:endParaRPr lang="zh-CN" altLang="en-US"/>
          </a:p>
          <a:p>
            <a:endParaRPr lang="zh-CN" altLang="en-US"/>
          </a:p>
        </p:txBody>
      </p:sp>
      <p:sp>
        <p:nvSpPr>
          <p:cNvPr id="7" name="文本框 6"/>
          <p:cNvSpPr txBox="1"/>
          <p:nvPr/>
        </p:nvSpPr>
        <p:spPr>
          <a:xfrm>
            <a:off x="608330" y="3225800"/>
            <a:ext cx="4064000" cy="2306955"/>
          </a:xfrm>
          <a:prstGeom prst="rect">
            <a:avLst/>
          </a:prstGeom>
          <a:noFill/>
        </p:spPr>
        <p:txBody>
          <a:bodyPr wrap="square" rtlCol="0">
            <a:spAutoFit/>
          </a:bodyPr>
          <a:p>
            <a:r>
              <a:rPr lang="en-US" altLang="zh-CN"/>
              <a:t>\(\rho\) </a:t>
            </a:r>
            <a:r>
              <a:rPr lang="zh-CN" altLang="en-US"/>
              <a:t>表示激励前偏差在激励后的持续程度。\(\</a:t>
            </a:r>
            <a:r>
              <a:rPr lang="en-US" altLang="zh-CN"/>
              <a:t>beta_1\) </a:t>
            </a:r>
            <a:r>
              <a:rPr lang="zh-CN" altLang="en-US"/>
              <a:t>表示</a:t>
            </a:r>
            <a:r>
              <a:rPr lang="en-US" altLang="zh-CN"/>
              <a:t>AI</a:t>
            </a:r>
            <a:r>
              <a:rPr lang="zh-CN" altLang="en-US"/>
              <a:t>使用激励对感知可信性偏差的影响；由于激励有三个水平，正式估计时对应两个组间比较系数。\(\</a:t>
            </a:r>
            <a:r>
              <a:rPr lang="en-US" altLang="zh-CN"/>
              <a:t>beta_2\) </a:t>
            </a:r>
            <a:r>
              <a:rPr lang="zh-CN" altLang="en-US"/>
              <a:t>表示</a:t>
            </a:r>
            <a:r>
              <a:rPr lang="en-US" altLang="zh-CN"/>
              <a:t>AI</a:t>
            </a:r>
            <a:r>
              <a:rPr lang="zh-CN" altLang="en-US"/>
              <a:t>实际可信性水平的影响。\(\</a:t>
            </a:r>
            <a:r>
              <a:rPr lang="en-US" altLang="zh-CN"/>
              <a:t>beta_3\) </a:t>
            </a:r>
            <a:r>
              <a:rPr lang="zh-CN" altLang="en-US"/>
              <a:t>表示激励效应是否因</a:t>
            </a:r>
            <a:r>
              <a:rPr lang="en-US" altLang="zh-CN"/>
              <a:t>AI</a:t>
            </a:r>
            <a:r>
              <a:rPr lang="zh-CN" altLang="en-US"/>
              <a:t>实际可信性不同而变化，同样对应两个交互系数。</a:t>
            </a:r>
            <a:endParaRPr lang="zh-CN" altLang="en-US"/>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预期贡献</a:t>
            </a:r>
            <a:endParaRPr lang="zh-CN" altLang="en-US"/>
          </a:p>
        </p:txBody>
      </p:sp>
      <p:sp>
        <p:nvSpPr>
          <p:cNvPr id="4" name="文本框 3"/>
          <p:cNvSpPr txBox="1"/>
          <p:nvPr/>
        </p:nvSpPr>
        <p:spPr>
          <a:xfrm>
            <a:off x="904240" y="1557655"/>
            <a:ext cx="6096000" cy="2584450"/>
          </a:xfrm>
          <a:prstGeom prst="rect">
            <a:avLst/>
          </a:prstGeom>
          <a:noFill/>
        </p:spPr>
        <p:txBody>
          <a:bodyPr wrap="square" rtlCol="0" anchor="t">
            <a:spAutoFit/>
          </a:bodyPr>
          <a:p>
            <a:r>
              <a:rPr lang="zh-CN" altLang="en-US"/>
              <a:t>对技术采用经济激励研究的贡献</a:t>
            </a:r>
            <a:endParaRPr lang="zh-CN" altLang="en-US"/>
          </a:p>
          <a:p>
            <a:endParaRPr lang="en-US" altLang="zh-CN"/>
          </a:p>
          <a:p>
            <a:r>
              <a:rPr lang="zh-CN" altLang="en-US"/>
              <a:t>既有技术采用研究主要把采用、购买、搜索或未来支付意愿作为经济激励的结果（</a:t>
            </a:r>
            <a:r>
              <a:rPr lang="en-US" altLang="zh-CN"/>
              <a:t>Aalbers et al., 2009；Ashraf et al., 2013；Meriggi et al., 2021）。</a:t>
            </a:r>
            <a:r>
              <a:rPr lang="zh-CN" altLang="en-US"/>
              <a:t>本文进一步检验采用变化是否能够由客观概率、主观概率和支付结构解释，从而区分理性的收益反应、能力判断引起的选择偏移以及实际选择对本人信念的偏离。</a:t>
            </a:r>
            <a:endParaRPr lang="zh-CN" altLang="en-US"/>
          </a:p>
          <a:p>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TABLE_ENDDRAG_ORIGIN_RECT" val="723*269"/>
  <p:tag name="TABLE_ENDDRAG_RECT" val="67*138*723*269"/>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5859</Words>
  <Application>WPS 演示</Application>
  <PresentationFormat>宽屏</PresentationFormat>
  <Paragraphs>285</Paragraphs>
  <Slides>12</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宋体</vt:lpstr>
      <vt:lpstr>Wingdings</vt:lpstr>
      <vt:lpstr>Wingdings</vt:lpstr>
      <vt:lpstr>微软雅黑</vt:lpstr>
      <vt:lpstr>Arial Unicode MS</vt:lpstr>
      <vt:lpstr>Calibri</vt:lpstr>
      <vt:lpstr>ui-monospace</vt:lpstr>
      <vt:lpstr>Segoe Print</vt:lpstr>
      <vt:lpstr>Cambria Math</vt:lpstr>
      <vt:lpstr>MS Mincho</vt:lpstr>
      <vt:lpstr>WPS</vt:lpstr>
      <vt:lpstr>第二章节 偏差形成机制的探究：人类信任与AI实际能力的错配</vt:lpstr>
      <vt:lpstr>研究切入：现实中的冲突</vt:lpstr>
      <vt:lpstr>“实际可信”与“实际依赖”是不同问题</vt:lpstr>
      <vt:lpstr>理论背景：</vt:lpstr>
      <vt:lpstr>理论冲突：经济激励可能只改变选择，也可能改变对AI能力的判断</vt:lpstr>
      <vt:lpstr>核心问题</vt:lpstr>
      <vt:lpstr>研究假设</vt:lpstr>
      <vt:lpstr>研究设计</vt:lpstr>
      <vt:lpstr>实验变量含义</vt:lpstr>
      <vt:lpstr>模型</vt:lpstr>
      <vt:lpstr>主模型</vt:lpstr>
      <vt:lpstr>预期贡献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汉克克克克克克克</cp:lastModifiedBy>
  <cp:revision>157</cp:revision>
  <dcterms:created xsi:type="dcterms:W3CDTF">2019-06-19T02:08:00Z</dcterms:created>
  <dcterms:modified xsi:type="dcterms:W3CDTF">2026-08-05T16:22:51Z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4965CACE311E4A8B8CB086093B6A5985_11</vt:lpwstr>
  </property>
</Properties>
</file>