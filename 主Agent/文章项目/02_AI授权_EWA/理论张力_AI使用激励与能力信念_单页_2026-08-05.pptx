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Default Extension="png" ContentType="image/png"/>
  <Override PartName="/ppt/notesSlides/notesSlide1.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notesSlides/_rels/notesSlide1.xml.rels><?xml version="1.0" encoding="UTF-8" standalone="yes"?>
<Relationships xmlns="http://schemas.openxmlformats.org/package/2006/relationships">
  <Relationship Id="rId1"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本页把研究定位为AI信任与管理控制的交叉问题。激励契约与绩效测量研究提醒我们，被奖励的AI依赖行为并不等同于组织真正需要的决策质量；信任校准研究则要求信任与依赖同AI实际可信性相匹配。由此产生两项可区分的预测：贝叶斯期望效用基准认为经济收益可以改变选择而不改变能力信念，动机性推理与基于收益的信念扭曲则预测经济收益也可能改变人们对相同能力证据的解释。本文的理论问题不是激励能否增加AI采用，而是同样的依赖增长究竟来自收益响应，还是来自能力信念扭曲。</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bd7a3645bd84f25c.png"/>
  <Relationship Id="rId3" Type="http://schemas.openxmlformats.org/officeDocument/2006/relationships/image" Target="../media/image_68c413ccb5fde13b.png"/>
  <Relationship Id="rId4" Type="http://schemas.openxmlformats.org/officeDocument/2006/relationships/image" Target="../media/image_51b3585fe9681c5e.png"/>
  <Relationship Id="rId5" Type="http://schemas.openxmlformats.org/officeDocument/2006/relationships/image" Target="../media/image_0945aecd304f781e.png"/>
  <Relationship Id="rId6" Type="http://schemas.openxmlformats.org/officeDocument/2006/relationships/image" Target="../media/image_fe05347ad4cf004d.png"/>
  <Relationship Id="rId7" Type="http://schemas.openxmlformats.org/officeDocument/2006/relationships/image" Target="../media/image_69ee618ba1c516a0.png"/>
  <Relationship Id="rId8" Type="http://schemas.openxmlformats.org/officeDocument/2006/relationships/notesSlide" Target="../notesSlides/notesSlide1.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426720" y="236220"/>
            <a:ext cx="11308080" cy="563880"/>
            <a:chOff x="426720" y="236220"/>
            <a:chExt cx="11308080" cy="563880"/>
          </a:xfrm>
        </p:grpSpPr>
        <p:sp>
          <p:nvSpPr>
            <p:cNvPr id="3" name="TextBox 3"/>
            <p:cNvSpPr txBox="1"/>
            <p:nvPr/>
          </p:nvSpPr>
          <p:spPr>
            <a:xfrm>
              <a:off x="426720" y="236220"/>
              <a:ext cx="10663085" cy="487680"/>
            </a:xfrm>
            <a:prstGeom prst="rect">
              <a:avLst/>
            </a:prstGeom>
            <a:noFill/>
            <a:ln>
              <a:noFill/>
            </a:ln>
          </p:spPr>
          <p:txBody>
            <a:bodyPr wrap="none" lIns="0" tIns="0" rIns="0" bIns="0" anchor="t" anchorCtr="0">
              <a:spAutoFit/>
            </a:bodyPr>
            <a:lstStyle/>
            <a:p>
              <a:pPr algn="l"/>
              <a:r>
                <a:rPr lang="zh-CN" sz="2400" b="1" dirty="0">
                  <a:solidFill>
                    <a:srgbClr val="143A5A"/>
                  </a:solidFill>
                  <a:latin typeface="Arial"/>
                  <a:ea typeface="Microsoft YaHei"/>
                  <a:cs typeface="Arial"/>
                </a:rPr>
                <a:t>理论张力：AI使用激励改变的是对AI建议的依赖，还是对AI能力的信念？</a:t>
              </a:r>
            </a:p>
          </p:txBody>
        </p:sp>
        <p:sp>
          <p:nvSpPr>
            <p:cNvPr id="4" name="Line 4"/>
            <p:cNvSpPr/>
            <p:nvPr/>
          </p:nvSpPr>
          <p:spPr>
            <a:xfrm>
              <a:off x="457200" y="762000"/>
              <a:ext cx="11277600" cy="9525"/>
            </a:xfrm>
            <a:custGeom>
              <a:avLst/>
              <a:gdLst/>
              <a:ahLst/>
              <a:cxnLst/>
              <a:rect l="l" t="t" r="r" b="b"/>
              <a:pathLst>
                <a:path w="11277600" h="9525">
                  <a:moveTo>
                    <a:pt x="0" y="0"/>
                  </a:moveTo>
                  <a:lnTo>
                    <a:pt x="11277600" y="0"/>
                  </a:lnTo>
                </a:path>
              </a:pathLst>
            </a:custGeom>
            <a:noFill/>
            <a:ln w="19050">
              <a:solidFill>
                <a:srgbClr val="143A5A"/>
              </a:solidFill>
            </a:ln>
          </p:spPr>
        </p:sp>
        <p:sp>
          <p:nvSpPr>
            <p:cNvPr id="5" name="Rectangle 5"/>
            <p:cNvSpPr/>
            <p:nvPr/>
          </p:nvSpPr>
          <p:spPr>
            <a:xfrm>
              <a:off x="457200" y="762000"/>
              <a:ext cx="1066800" cy="38100"/>
            </a:xfrm>
            <a:prstGeom prst="rect">
              <a:avLst/>
            </a:prstGeom>
            <a:solidFill>
              <a:srgbClr val="D97732"/>
            </a:solidFill>
            <a:ln>
              <a:noFill/>
            </a:ln>
          </p:spPr>
        </p:sp>
      </p:grpSp>
      <p:grpSp>
        <p:nvGrpSpPr>
          <p:cNvPr id="36" name="Group 36"/>
          <p:cNvGrpSpPr/>
          <p:nvPr/>
        </p:nvGrpSpPr>
        <p:grpSpPr>
          <a:xfrm>
            <a:off x="457200" y="971550"/>
            <a:ext cx="11277600" cy="1352550"/>
            <a:chOff x="457200" y="971550"/>
            <a:chExt cx="11277600" cy="1352550"/>
          </a:xfrm>
        </p:grpSpPr>
        <p:sp>
          <p:nvSpPr>
            <p:cNvPr id="7" name="Rectangle 7"/>
            <p:cNvSpPr/>
            <p:nvPr/>
          </p:nvSpPr>
          <p:spPr>
            <a:xfrm>
              <a:off x="457200" y="971550"/>
              <a:ext cx="5410200" cy="1352550"/>
            </a:xfrm>
            <a:prstGeom prst="rect">
              <a:avLst/>
            </a:prstGeom>
            <a:solidFill>
              <a:srgbClr val="F8FAFC"/>
            </a:solidFill>
            <a:ln w="9525">
              <a:solidFill>
                <a:srgbClr val="D8E0E7"/>
              </a:solidFill>
            </a:ln>
          </p:spPr>
        </p:sp>
        <p:sp>
          <p:nvSpPr>
            <p:cNvPr id="8" name="Rectangle 8"/>
            <p:cNvSpPr/>
            <p:nvPr/>
          </p:nvSpPr>
          <p:spPr>
            <a:xfrm>
              <a:off x="457200" y="971550"/>
              <a:ext cx="38100" cy="1352550"/>
            </a:xfrm>
            <a:prstGeom prst="rect">
              <a:avLst/>
            </a:prstGeom>
            <a:solidFill>
              <a:srgbClr val="143A5A"/>
            </a:solidFill>
            <a:ln>
              <a:noFill/>
            </a:ln>
          </p:spPr>
        </p:sp>
        <p:grpSp>
          <p:nvGrpSpPr>
            <p:cNvPr id="17" name="Group 17"/>
            <p:cNvGrpSpPr/>
            <p:nvPr/>
          </p:nvGrpSpPr>
          <p:grpSpPr>
            <a:xfrm>
              <a:off x="657225" y="1162050"/>
              <a:ext cx="171450" cy="180975"/>
              <a:chOff x="657225" y="1162050"/>
              <a:chExt cx="171450" cy="180975"/>
            </a:xfrm>
          </p:grpSpPr>
          <p:sp>
            <p:nvSpPr>
              <p:cNvPr id="9" name="Freeform 9"/>
              <p:cNvSpPr/>
              <p:nvPr/>
            </p:nvSpPr>
            <p:spPr>
              <a:xfrm>
                <a:off x="657225" y="1333500"/>
                <a:ext cx="171450" cy="9525"/>
              </a:xfrm>
              <a:custGeom>
                <a:avLst/>
                <a:gdLst/>
                <a:ahLst/>
                <a:cxnLst/>
                <a:rect l="l" t="t" r="r" b="b"/>
                <a:pathLst>
                  <a:path w="171450" h="9525">
                    <a:moveTo>
                      <a:pt x="0" y="0"/>
                    </a:moveTo>
                    <a:lnTo>
                      <a:pt x="171450" y="0"/>
                    </a:lnTo>
                  </a:path>
                </a:pathLst>
              </a:custGeom>
              <a:noFill/>
              <a:ln w="19050">
                <a:solidFill>
                  <a:srgbClr val="143A5A"/>
                </a:solidFill>
              </a:ln>
            </p:spPr>
          </p:sp>
          <p:sp>
            <p:nvSpPr>
              <p:cNvPr id="10" name="Freeform 10"/>
              <p:cNvSpPr/>
              <p:nvPr/>
            </p:nvSpPr>
            <p:spPr>
              <a:xfrm>
                <a:off x="714375" y="1209675"/>
                <a:ext cx="9525" cy="9525"/>
              </a:xfrm>
              <a:custGeom>
                <a:avLst/>
                <a:gdLst/>
                <a:ahLst/>
                <a:cxnLst/>
                <a:rect l="l" t="t" r="r" b="b"/>
                <a:pathLst>
                  <a:path w="9525" h="9525">
                    <a:moveTo>
                      <a:pt x="0" y="0"/>
                    </a:moveTo>
                    <a:lnTo>
                      <a:pt x="9525" y="0"/>
                    </a:lnTo>
                  </a:path>
                </a:pathLst>
              </a:custGeom>
              <a:noFill/>
              <a:ln w="19050">
                <a:solidFill>
                  <a:srgbClr val="143A5A"/>
                </a:solidFill>
              </a:ln>
            </p:spPr>
          </p:sp>
          <p:sp>
            <p:nvSpPr>
              <p:cNvPr id="11" name="Freeform 11"/>
              <p:cNvSpPr/>
              <p:nvPr/>
            </p:nvSpPr>
            <p:spPr>
              <a:xfrm>
                <a:off x="714375" y="1247775"/>
                <a:ext cx="9525" cy="9525"/>
              </a:xfrm>
              <a:custGeom>
                <a:avLst/>
                <a:gdLst/>
                <a:ahLst/>
                <a:cxnLst/>
                <a:rect l="l" t="t" r="r" b="b"/>
                <a:pathLst>
                  <a:path w="9525" h="9525">
                    <a:moveTo>
                      <a:pt x="0" y="0"/>
                    </a:moveTo>
                    <a:lnTo>
                      <a:pt x="9525" y="0"/>
                    </a:lnTo>
                  </a:path>
                </a:pathLst>
              </a:custGeom>
              <a:noFill/>
              <a:ln w="19050">
                <a:solidFill>
                  <a:srgbClr val="143A5A"/>
                </a:solidFill>
              </a:ln>
            </p:spPr>
          </p:sp>
          <p:sp>
            <p:nvSpPr>
              <p:cNvPr id="12" name="Freeform 12"/>
              <p:cNvSpPr/>
              <p:nvPr/>
            </p:nvSpPr>
            <p:spPr>
              <a:xfrm>
                <a:off x="714375" y="1285875"/>
                <a:ext cx="9525" cy="9525"/>
              </a:xfrm>
              <a:custGeom>
                <a:avLst/>
                <a:gdLst/>
                <a:ahLst/>
                <a:cxnLst/>
                <a:rect l="l" t="t" r="r" b="b"/>
                <a:pathLst>
                  <a:path w="9525" h="9525">
                    <a:moveTo>
                      <a:pt x="0" y="0"/>
                    </a:moveTo>
                    <a:lnTo>
                      <a:pt x="9525" y="0"/>
                    </a:lnTo>
                  </a:path>
                </a:pathLst>
              </a:custGeom>
              <a:noFill/>
              <a:ln w="19050">
                <a:solidFill>
                  <a:srgbClr val="143A5A"/>
                </a:solidFill>
              </a:ln>
            </p:spPr>
          </p:sp>
          <p:sp>
            <p:nvSpPr>
              <p:cNvPr id="13" name="Freeform 13"/>
              <p:cNvSpPr/>
              <p:nvPr/>
            </p:nvSpPr>
            <p:spPr>
              <a:xfrm>
                <a:off x="762000" y="1209675"/>
                <a:ext cx="9525" cy="9525"/>
              </a:xfrm>
              <a:custGeom>
                <a:avLst/>
                <a:gdLst/>
                <a:ahLst/>
                <a:cxnLst/>
                <a:rect l="l" t="t" r="r" b="b"/>
                <a:pathLst>
                  <a:path w="9525" h="9525">
                    <a:moveTo>
                      <a:pt x="0" y="0"/>
                    </a:moveTo>
                    <a:lnTo>
                      <a:pt x="9525" y="0"/>
                    </a:lnTo>
                  </a:path>
                </a:pathLst>
              </a:custGeom>
              <a:noFill/>
              <a:ln w="19050">
                <a:solidFill>
                  <a:srgbClr val="143A5A"/>
                </a:solidFill>
              </a:ln>
            </p:spPr>
          </p:sp>
          <p:sp>
            <p:nvSpPr>
              <p:cNvPr id="14" name="Freeform 14"/>
              <p:cNvSpPr/>
              <p:nvPr/>
            </p:nvSpPr>
            <p:spPr>
              <a:xfrm>
                <a:off x="762000" y="1247775"/>
                <a:ext cx="9525" cy="9525"/>
              </a:xfrm>
              <a:custGeom>
                <a:avLst/>
                <a:gdLst/>
                <a:ahLst/>
                <a:cxnLst/>
                <a:rect l="l" t="t" r="r" b="b"/>
                <a:pathLst>
                  <a:path w="9525" h="9525">
                    <a:moveTo>
                      <a:pt x="0" y="0"/>
                    </a:moveTo>
                    <a:lnTo>
                      <a:pt x="9525" y="0"/>
                    </a:lnTo>
                  </a:path>
                </a:pathLst>
              </a:custGeom>
              <a:noFill/>
              <a:ln w="19050">
                <a:solidFill>
                  <a:srgbClr val="143A5A"/>
                </a:solidFill>
              </a:ln>
            </p:spPr>
          </p:sp>
          <p:sp>
            <p:nvSpPr>
              <p:cNvPr id="15" name="Freeform 15"/>
              <p:cNvSpPr/>
              <p:nvPr/>
            </p:nvSpPr>
            <p:spPr>
              <a:xfrm>
                <a:off x="762000" y="1285875"/>
                <a:ext cx="9525" cy="9525"/>
              </a:xfrm>
              <a:custGeom>
                <a:avLst/>
                <a:gdLst/>
                <a:ahLst/>
                <a:cxnLst/>
                <a:rect l="l" t="t" r="r" b="b"/>
                <a:pathLst>
                  <a:path w="9525" h="9525">
                    <a:moveTo>
                      <a:pt x="0" y="0"/>
                    </a:moveTo>
                    <a:lnTo>
                      <a:pt x="9525" y="0"/>
                    </a:lnTo>
                  </a:path>
                </a:pathLst>
              </a:custGeom>
              <a:noFill/>
              <a:ln w="19050">
                <a:solidFill>
                  <a:srgbClr val="143A5A"/>
                </a:solidFill>
              </a:ln>
            </p:spPr>
          </p:sp>
          <p:sp>
            <p:nvSpPr>
              <p:cNvPr id="16" name="Freeform 16"/>
              <p:cNvSpPr/>
              <p:nvPr/>
            </p:nvSpPr>
            <p:spPr>
              <a:xfrm>
                <a:off x="676275" y="1162050"/>
                <a:ext cx="133350" cy="171450"/>
              </a:xfrm>
              <a:custGeom>
                <a:avLst/>
                <a:gdLst/>
                <a:ahLst/>
                <a:cxnLst/>
                <a:rect l="l" t="t" r="r" b="b"/>
                <a:pathLst>
                  <a:path w="133350" h="171450">
                    <a:moveTo>
                      <a:pt x="0" y="171450"/>
                    </a:moveTo>
                    <a:lnTo>
                      <a:pt x="0" y="19050"/>
                    </a:lnTo>
                    <a:cubicBezTo>
                      <a:pt x="0" y="8529"/>
                      <a:pt x="8529" y="0"/>
                      <a:pt x="19050" y="0"/>
                    </a:cubicBezTo>
                    <a:lnTo>
                      <a:pt x="114300" y="0"/>
                    </a:lnTo>
                    <a:cubicBezTo>
                      <a:pt x="124821" y="0"/>
                      <a:pt x="133350" y="8529"/>
                      <a:pt x="133350" y="19050"/>
                    </a:cubicBezTo>
                    <a:lnTo>
                      <a:pt x="133350" y="171450"/>
                    </a:lnTo>
                  </a:path>
                </a:pathLst>
              </a:custGeom>
              <a:noFill/>
              <a:ln w="19050">
                <a:solidFill>
                  <a:srgbClr val="143A5A"/>
                </a:solidFill>
              </a:ln>
            </p:spPr>
          </p:sp>
        </p:grpSp>
        <p:sp>
          <p:nvSpPr>
            <p:cNvPr id="18" name="TextBox 18"/>
            <p:cNvSpPr txBox="1"/>
            <p:nvPr/>
          </p:nvSpPr>
          <p:spPr>
            <a:xfrm>
              <a:off x="949642" y="1066324"/>
              <a:ext cx="707350" cy="198120"/>
            </a:xfrm>
            <a:prstGeom prst="rect">
              <a:avLst/>
            </a:prstGeom>
            <a:noFill/>
            <a:ln>
              <a:noFill/>
            </a:ln>
          </p:spPr>
          <p:txBody>
            <a:bodyPr wrap="none" lIns="0" tIns="0" rIns="0" bIns="0" anchor="t" anchorCtr="0">
              <a:spAutoFit/>
            </a:bodyPr>
            <a:lstStyle/>
            <a:p>
              <a:pPr algn="l"/>
              <a:r>
                <a:rPr lang="zh-CN" sz="975" b="1" dirty="0">
                  <a:solidFill>
                    <a:srgbClr val="D97732"/>
                  </a:solidFill>
                  <a:latin typeface="Arial"/>
                  <a:ea typeface="Microsoft YaHei"/>
                  <a:cs typeface="Arial"/>
                </a:rPr>
                <a:t>管理学问题</a:t>
              </a:r>
            </a:p>
          </p:txBody>
        </p:sp>
        <p:sp>
          <p:nvSpPr>
            <p:cNvPr id="19" name="TextBox 19"/>
            <p:cNvSpPr txBox="1"/>
            <p:nvPr/>
          </p:nvSpPr>
          <p:spPr>
            <a:xfrm>
              <a:off x="942022" y="1239679"/>
              <a:ext cx="2024753" cy="320040"/>
            </a:xfrm>
            <a:prstGeom prst="rect">
              <a:avLst/>
            </a:prstGeom>
            <a:noFill/>
            <a:ln>
              <a:noFill/>
            </a:ln>
          </p:spPr>
          <p:txBody>
            <a:bodyPr wrap="none" lIns="0" tIns="0" rIns="0" bIns="0" anchor="t" anchorCtr="0">
              <a:spAutoFit/>
            </a:bodyPr>
            <a:lstStyle/>
            <a:p>
              <a:pPr algn="l"/>
              <a:r>
                <a:rPr lang="zh-CN" sz="1575" b="1" dirty="0">
                  <a:solidFill>
                    <a:srgbClr val="143A5A"/>
                  </a:solidFill>
                  <a:latin typeface="Arial"/>
                  <a:ea typeface="Microsoft YaHei"/>
                  <a:cs typeface="Arial"/>
                </a:rPr>
                <a:t>激励契约与绩效测量</a:t>
              </a:r>
            </a:p>
          </p:txBody>
        </p:sp>
        <p:sp>
          <p:nvSpPr>
            <p:cNvPr id="20" name="TextBox 20"/>
            <p:cNvSpPr txBox="1"/>
            <p:nvPr/>
          </p:nvSpPr>
          <p:spPr>
            <a:xfrm>
              <a:off x="949642" y="1485424"/>
              <a:ext cx="3379184" cy="198120"/>
            </a:xfrm>
            <a:prstGeom prst="rect">
              <a:avLst/>
            </a:prstGeom>
            <a:noFill/>
            <a:ln>
              <a:noFill/>
            </a:ln>
          </p:spPr>
          <p:txBody>
            <a:bodyPr wrap="none" lIns="0" tIns="0" rIns="0" bIns="0" anchor="t" anchorCtr="0">
              <a:spAutoFit/>
            </a:bodyPr>
            <a:lstStyle/>
            <a:p>
              <a:pPr algn="l"/>
              <a:r>
                <a:rPr lang="zh-CN" sz="975" dirty="0">
                  <a:solidFill>
                    <a:srgbClr val="5B6773"/>
                  </a:solidFill>
                  <a:latin typeface="Arial"/>
                  <a:ea typeface="Microsoft YaHei"/>
                  <a:cs typeface="Arial"/>
                </a:rPr>
                <a:t>Incentive Contracting and Performance Measurement</a:t>
              </a:r>
            </a:p>
          </p:txBody>
        </p:sp>
        <p:sp>
          <p:nvSpPr>
            <p:cNvPr id="21" name="TextBox 21"/>
            <p:cNvSpPr txBox="1"/>
            <p:nvPr/>
          </p:nvSpPr>
          <p:spPr>
            <a:xfrm>
              <a:off x="611505" y="1683068"/>
              <a:ext cx="5605986" cy="274320"/>
            </a:xfrm>
            <a:prstGeom prst="rect">
              <a:avLst/>
            </a:prstGeom>
            <a:noFill/>
            <a:ln>
              <a:noFill/>
            </a:ln>
          </p:spPr>
          <p:txBody>
            <a:bodyPr wrap="none" lIns="0" tIns="0" rIns="0" bIns="0" anchor="t" anchorCtr="0">
              <a:spAutoFit/>
            </a:bodyPr>
            <a:lstStyle/>
            <a:p>
              <a:pPr algn="l"/>
              <a:r>
                <a:rPr lang="zh-CN" sz="1350" dirty="0">
                  <a:solidFill>
                    <a:srgbClr val="1F2933"/>
                  </a:solidFill>
                  <a:latin typeface="Arial"/>
                  <a:ea typeface="Microsoft YaHei"/>
                  <a:cs typeface="Arial"/>
                </a:rPr>
                <a:t>组织可以奖励“依赖AI建议”，但该行为不等同于决策质量或适当依赖。</a:t>
              </a:r>
            </a:p>
          </p:txBody>
        </p:sp>
        <p:pic>
          <p:nvPicPr>
            <p:cNvPr id="22" name="Image 22"/>
            <p:cNvPicPr>
              <a:picLocks noChangeAspect="1"/>
            </p:cNvPicPr>
            <p:nvPr/>
          </p:nvPicPr>
          <p:blipFill>
            <a:blip r:embed="rId2"/>
            <a:stretch>
              <a:fillRect/>
            </a:stretch>
          </p:blipFill>
          <p:spPr>
            <a:xfrm>
              <a:off x="781050" y="1971675"/>
              <a:ext cx="4333875" cy="161925"/>
            </a:xfrm>
            <a:prstGeom prst="rect">
              <a:avLst/>
            </a:prstGeom>
          </p:spPr>
        </p:pic>
        <p:sp>
          <p:nvSpPr>
            <p:cNvPr id="23" name="TextBox 23"/>
            <p:cNvSpPr txBox="1"/>
            <p:nvPr/>
          </p:nvSpPr>
          <p:spPr>
            <a:xfrm>
              <a:off x="619125" y="2166938"/>
              <a:ext cx="1209199" cy="152400"/>
            </a:xfrm>
            <a:prstGeom prst="rect">
              <a:avLst/>
            </a:prstGeom>
            <a:noFill/>
            <a:ln>
              <a:noFill/>
            </a:ln>
          </p:spPr>
          <p:txBody>
            <a:bodyPr wrap="none" lIns="0" tIns="0" rIns="0" bIns="0" anchor="t" anchorCtr="0">
              <a:spAutoFit/>
            </a:bodyPr>
            <a:lstStyle/>
            <a:p>
              <a:pPr algn="l"/>
              <a:r>
                <a:rPr lang="zh-CN" sz="750" dirty="0">
                  <a:solidFill>
                    <a:srgbClr val="7B8794"/>
                  </a:solidFill>
                  <a:latin typeface="Arial"/>
                  <a:ea typeface="Microsoft YaHei"/>
                  <a:cs typeface="Arial"/>
                </a:rPr>
                <a:t>Baker, 1992; Kerr, 1975</a:t>
              </a:r>
            </a:p>
          </p:txBody>
        </p:sp>
        <p:sp>
          <p:nvSpPr>
            <p:cNvPr id="24" name="Rectangle 24"/>
            <p:cNvSpPr/>
            <p:nvPr/>
          </p:nvSpPr>
          <p:spPr>
            <a:xfrm>
              <a:off x="6324600" y="971550"/>
              <a:ext cx="5410200" cy="1352550"/>
            </a:xfrm>
            <a:prstGeom prst="rect">
              <a:avLst/>
            </a:prstGeom>
            <a:solidFill>
              <a:srgbClr val="F8FAFC"/>
            </a:solidFill>
            <a:ln w="9525">
              <a:solidFill>
                <a:srgbClr val="D8E0E7"/>
              </a:solidFill>
            </a:ln>
          </p:spPr>
        </p:sp>
        <p:sp>
          <p:nvSpPr>
            <p:cNvPr id="25" name="Rectangle 25"/>
            <p:cNvSpPr/>
            <p:nvPr/>
          </p:nvSpPr>
          <p:spPr>
            <a:xfrm>
              <a:off x="6324600" y="971550"/>
              <a:ext cx="38100" cy="1352550"/>
            </a:xfrm>
            <a:prstGeom prst="rect">
              <a:avLst/>
            </a:prstGeom>
            <a:solidFill>
              <a:srgbClr val="4F7C8A"/>
            </a:solidFill>
            <a:ln>
              <a:noFill/>
            </a:ln>
          </p:spPr>
        </p:sp>
        <p:grpSp>
          <p:nvGrpSpPr>
            <p:cNvPr id="29" name="Group 29"/>
            <p:cNvGrpSpPr/>
            <p:nvPr/>
          </p:nvGrpSpPr>
          <p:grpSpPr>
            <a:xfrm>
              <a:off x="6524625" y="1162050"/>
              <a:ext cx="171450" cy="171450"/>
              <a:chOff x="6524625" y="1162050"/>
              <a:chExt cx="171450" cy="171450"/>
            </a:xfrm>
          </p:grpSpPr>
          <p:sp>
            <p:nvSpPr>
              <p:cNvPr id="26" name="Freeform 26"/>
              <p:cNvSpPr/>
              <p:nvPr/>
            </p:nvSpPr>
            <p:spPr>
              <a:xfrm>
                <a:off x="6600825" y="1238250"/>
                <a:ext cx="19050" cy="19050"/>
              </a:xfrm>
              <a:custGeom>
                <a:avLst/>
                <a:gdLst/>
                <a:ahLst/>
                <a:cxnLst/>
                <a:rect l="l" t="t" r="r" b="b"/>
                <a:pathLst>
                  <a:path w="19050" h="19050">
                    <a:moveTo>
                      <a:pt x="0" y="9525"/>
                    </a:moveTo>
                    <a:cubicBezTo>
                      <a:pt x="0" y="14786"/>
                      <a:pt x="4264" y="19050"/>
                      <a:pt x="9525" y="19050"/>
                    </a:cubicBezTo>
                    <a:cubicBezTo>
                      <a:pt x="14786" y="19050"/>
                      <a:pt x="19050" y="14786"/>
                      <a:pt x="19050" y="9525"/>
                    </a:cubicBezTo>
                    <a:cubicBezTo>
                      <a:pt x="19050" y="4264"/>
                      <a:pt x="14786" y="0"/>
                      <a:pt x="9525" y="0"/>
                    </a:cubicBezTo>
                    <a:cubicBezTo>
                      <a:pt x="4264" y="0"/>
                      <a:pt x="0" y="4264"/>
                      <a:pt x="0" y="9525"/>
                    </a:cubicBezTo>
                  </a:path>
                </a:pathLst>
              </a:custGeom>
              <a:noFill/>
              <a:ln w="19050">
                <a:solidFill>
                  <a:srgbClr val="143A5A"/>
                </a:solidFill>
              </a:ln>
            </p:spPr>
          </p:sp>
          <p:sp>
            <p:nvSpPr>
              <p:cNvPr id="27" name="Freeform 27"/>
              <p:cNvSpPr/>
              <p:nvPr/>
            </p:nvSpPr>
            <p:spPr>
              <a:xfrm>
                <a:off x="6562725" y="1200150"/>
                <a:ext cx="95250" cy="95250"/>
              </a:xfrm>
              <a:custGeom>
                <a:avLst/>
                <a:gdLst/>
                <a:ahLst/>
                <a:cxnLst/>
                <a:rect l="l" t="t" r="r" b="b"/>
                <a:pathLst>
                  <a:path w="95250" h="95250">
                    <a:moveTo>
                      <a:pt x="0" y="47625"/>
                    </a:moveTo>
                    <a:cubicBezTo>
                      <a:pt x="0" y="73928"/>
                      <a:pt x="21322" y="95250"/>
                      <a:pt x="47625" y="95250"/>
                    </a:cubicBezTo>
                    <a:cubicBezTo>
                      <a:pt x="73928" y="95250"/>
                      <a:pt x="95250" y="73928"/>
                      <a:pt x="95250" y="47625"/>
                    </a:cubicBezTo>
                    <a:cubicBezTo>
                      <a:pt x="95250" y="21322"/>
                      <a:pt x="73928" y="0"/>
                      <a:pt x="47625" y="0"/>
                    </a:cubicBezTo>
                    <a:cubicBezTo>
                      <a:pt x="21322" y="0"/>
                      <a:pt x="0" y="21322"/>
                      <a:pt x="0" y="47625"/>
                    </a:cubicBezTo>
                  </a:path>
                </a:pathLst>
              </a:custGeom>
              <a:noFill/>
              <a:ln w="19050">
                <a:solidFill>
                  <a:srgbClr val="143A5A"/>
                </a:solidFill>
              </a:ln>
            </p:spPr>
          </p:sp>
          <p:sp>
            <p:nvSpPr>
              <p:cNvPr id="28" name="Freeform 28"/>
              <p:cNvSpPr/>
              <p:nvPr/>
            </p:nvSpPr>
            <p:spPr>
              <a:xfrm>
                <a:off x="6524625" y="1162050"/>
                <a:ext cx="171450" cy="171450"/>
              </a:xfrm>
              <a:custGeom>
                <a:avLst/>
                <a:gdLst/>
                <a:ahLst/>
                <a:cxnLst/>
                <a:rect l="l" t="t" r="r" b="b"/>
                <a:pathLst>
                  <a:path w="171450" h="171450">
                    <a:moveTo>
                      <a:pt x="0" y="85725"/>
                    </a:moveTo>
                    <a:cubicBezTo>
                      <a:pt x="0" y="133070"/>
                      <a:pt x="38380" y="171450"/>
                      <a:pt x="85725" y="171450"/>
                    </a:cubicBezTo>
                    <a:cubicBezTo>
                      <a:pt x="133070" y="171450"/>
                      <a:pt x="171450" y="133070"/>
                      <a:pt x="171450" y="85725"/>
                    </a:cubicBezTo>
                    <a:cubicBezTo>
                      <a:pt x="171450" y="38380"/>
                      <a:pt x="133070" y="0"/>
                      <a:pt x="85725" y="0"/>
                    </a:cubicBezTo>
                    <a:cubicBezTo>
                      <a:pt x="38380" y="0"/>
                      <a:pt x="0" y="38380"/>
                      <a:pt x="0" y="85725"/>
                    </a:cubicBezTo>
                  </a:path>
                </a:pathLst>
              </a:custGeom>
              <a:noFill/>
              <a:ln w="19050">
                <a:solidFill>
                  <a:srgbClr val="143A5A"/>
                </a:solidFill>
              </a:ln>
            </p:spPr>
          </p:sp>
        </p:grpSp>
        <p:sp>
          <p:nvSpPr>
            <p:cNvPr id="30" name="TextBox 30"/>
            <p:cNvSpPr txBox="1"/>
            <p:nvPr/>
          </p:nvSpPr>
          <p:spPr>
            <a:xfrm>
              <a:off x="6817042" y="1066324"/>
              <a:ext cx="570833" cy="198120"/>
            </a:xfrm>
            <a:prstGeom prst="rect">
              <a:avLst/>
            </a:prstGeom>
            <a:noFill/>
            <a:ln>
              <a:noFill/>
            </a:ln>
          </p:spPr>
          <p:txBody>
            <a:bodyPr wrap="none" lIns="0" tIns="0" rIns="0" bIns="0" anchor="t" anchorCtr="0">
              <a:spAutoFit/>
            </a:bodyPr>
            <a:lstStyle/>
            <a:p>
              <a:pPr algn="l"/>
              <a:r>
                <a:rPr lang="zh-CN" sz="975" b="1" dirty="0">
                  <a:solidFill>
                    <a:srgbClr val="D97732"/>
                  </a:solidFill>
                  <a:latin typeface="Arial"/>
                  <a:ea typeface="Microsoft YaHei"/>
                  <a:cs typeface="Arial"/>
                </a:rPr>
                <a:t>评价标准</a:t>
              </a:r>
            </a:p>
          </p:txBody>
        </p:sp>
        <p:sp>
          <p:nvSpPr>
            <p:cNvPr id="31" name="TextBox 31"/>
            <p:cNvSpPr txBox="1"/>
            <p:nvPr/>
          </p:nvSpPr>
          <p:spPr>
            <a:xfrm>
              <a:off x="6809422" y="1239679"/>
              <a:ext cx="1363170" cy="320040"/>
            </a:xfrm>
            <a:prstGeom prst="rect">
              <a:avLst/>
            </a:prstGeom>
            <a:noFill/>
            <a:ln>
              <a:noFill/>
            </a:ln>
          </p:spPr>
          <p:txBody>
            <a:bodyPr wrap="none" lIns="0" tIns="0" rIns="0" bIns="0" anchor="t" anchorCtr="0">
              <a:spAutoFit/>
            </a:bodyPr>
            <a:lstStyle/>
            <a:p>
              <a:pPr algn="l"/>
              <a:r>
                <a:rPr lang="zh-CN" sz="1575" b="1" dirty="0">
                  <a:solidFill>
                    <a:srgbClr val="143A5A"/>
                  </a:solidFill>
                  <a:latin typeface="Arial"/>
                  <a:ea typeface="Microsoft YaHei"/>
                  <a:cs typeface="Arial"/>
                </a:rPr>
                <a:t>信任校准框架</a:t>
              </a:r>
            </a:p>
          </p:txBody>
        </p:sp>
        <p:sp>
          <p:nvSpPr>
            <p:cNvPr id="32" name="TextBox 32"/>
            <p:cNvSpPr txBox="1"/>
            <p:nvPr/>
          </p:nvSpPr>
          <p:spPr>
            <a:xfrm>
              <a:off x="6817042" y="1485424"/>
              <a:ext cx="1844993" cy="198120"/>
            </a:xfrm>
            <a:prstGeom prst="rect">
              <a:avLst/>
            </a:prstGeom>
            <a:noFill/>
            <a:ln>
              <a:noFill/>
            </a:ln>
          </p:spPr>
          <p:txBody>
            <a:bodyPr wrap="none" lIns="0" tIns="0" rIns="0" bIns="0" anchor="t" anchorCtr="0">
              <a:spAutoFit/>
            </a:bodyPr>
            <a:lstStyle/>
            <a:p>
              <a:pPr algn="l"/>
              <a:r>
                <a:rPr lang="zh-CN" sz="975" dirty="0">
                  <a:solidFill>
                    <a:srgbClr val="5B6773"/>
                  </a:solidFill>
                  <a:latin typeface="Arial"/>
                  <a:ea typeface="Microsoft YaHei"/>
                  <a:cs typeface="Arial"/>
                </a:rPr>
                <a:t>Trust Calibration Framework</a:t>
              </a:r>
            </a:p>
          </p:txBody>
        </p:sp>
        <p:sp>
          <p:nvSpPr>
            <p:cNvPr id="33" name="TextBox 33"/>
            <p:cNvSpPr txBox="1"/>
            <p:nvPr/>
          </p:nvSpPr>
          <p:spPr>
            <a:xfrm>
              <a:off x="6478905" y="1683068"/>
              <a:ext cx="5227939" cy="274320"/>
            </a:xfrm>
            <a:prstGeom prst="rect">
              <a:avLst/>
            </a:prstGeom>
            <a:noFill/>
            <a:ln>
              <a:noFill/>
            </a:ln>
          </p:spPr>
          <p:txBody>
            <a:bodyPr wrap="none" lIns="0" tIns="0" rIns="0" bIns="0" anchor="t" anchorCtr="0">
              <a:spAutoFit/>
            </a:bodyPr>
            <a:lstStyle/>
            <a:p>
              <a:pPr algn="l"/>
              <a:r>
                <a:rPr lang="zh-CN" sz="1350" dirty="0">
                  <a:solidFill>
                    <a:srgbClr val="1F2933"/>
                  </a:solidFill>
                  <a:latin typeface="Arial"/>
                  <a:ea typeface="Microsoft YaHei"/>
                  <a:cs typeface="Arial"/>
                </a:rPr>
                <a:t>更多采用并不天然更好；信任与依赖应同AI的实际可信性相匹配。</a:t>
              </a:r>
            </a:p>
          </p:txBody>
        </p:sp>
        <p:pic>
          <p:nvPicPr>
            <p:cNvPr id="34" name="Image 34"/>
            <p:cNvPicPr>
              <a:picLocks noChangeAspect="1"/>
            </p:cNvPicPr>
            <p:nvPr/>
          </p:nvPicPr>
          <p:blipFill>
            <a:blip r:embed="rId3"/>
            <a:stretch>
              <a:fillRect/>
            </a:stretch>
          </p:blipFill>
          <p:spPr>
            <a:xfrm>
              <a:off x="6934200" y="1971675"/>
              <a:ext cx="4095750" cy="161925"/>
            </a:xfrm>
            <a:prstGeom prst="rect">
              <a:avLst/>
            </a:prstGeom>
          </p:spPr>
        </p:pic>
        <p:sp>
          <p:nvSpPr>
            <p:cNvPr id="35" name="TextBox 35"/>
            <p:cNvSpPr txBox="1"/>
            <p:nvPr/>
          </p:nvSpPr>
          <p:spPr>
            <a:xfrm>
              <a:off x="6486525" y="2166938"/>
              <a:ext cx="1854279" cy="152400"/>
            </a:xfrm>
            <a:prstGeom prst="rect">
              <a:avLst/>
            </a:prstGeom>
            <a:noFill/>
            <a:ln>
              <a:noFill/>
            </a:ln>
          </p:spPr>
          <p:txBody>
            <a:bodyPr wrap="none" lIns="0" tIns="0" rIns="0" bIns="0" anchor="t" anchorCtr="0">
              <a:spAutoFit/>
            </a:bodyPr>
            <a:lstStyle/>
            <a:p>
              <a:pPr algn="l"/>
              <a:r>
                <a:rPr lang="zh-CN" sz="750" dirty="0">
                  <a:solidFill>
                    <a:srgbClr val="7B8794"/>
                  </a:solidFill>
                  <a:latin typeface="Arial"/>
                  <a:ea typeface="Microsoft YaHei"/>
                  <a:cs typeface="Arial"/>
                </a:rPr>
                <a:t>Lee &amp; See, 2004; Everett et al., 2026</a:t>
              </a:r>
            </a:p>
          </p:txBody>
        </p:sp>
      </p:grpSp>
      <p:grpSp>
        <p:nvGrpSpPr>
          <p:cNvPr id="41" name="Group 41"/>
          <p:cNvGrpSpPr/>
          <p:nvPr/>
        </p:nvGrpSpPr>
        <p:grpSpPr>
          <a:xfrm>
            <a:off x="1619250" y="2324100"/>
            <a:ext cx="8953500" cy="895350"/>
            <a:chOff x="1619250" y="2324100"/>
            <a:chExt cx="8953500" cy="895350"/>
          </a:xfrm>
        </p:grpSpPr>
        <p:sp>
          <p:nvSpPr>
            <p:cNvPr id="37" name="Line 37"/>
            <p:cNvSpPr/>
            <p:nvPr/>
          </p:nvSpPr>
          <p:spPr>
            <a:xfrm>
              <a:off x="6096000" y="2324100"/>
              <a:ext cx="9525" cy="133350"/>
            </a:xfrm>
            <a:custGeom>
              <a:avLst/>
              <a:gdLst/>
              <a:ahLst/>
              <a:cxnLst/>
              <a:rect l="l" t="t" r="r" b="b"/>
              <a:pathLst>
                <a:path w="9525" h="133350">
                  <a:moveTo>
                    <a:pt x="0" y="0"/>
                  </a:moveTo>
                  <a:lnTo>
                    <a:pt x="0" y="133350"/>
                  </a:lnTo>
                </a:path>
              </a:pathLst>
            </a:custGeom>
            <a:noFill/>
            <a:ln w="19050">
              <a:solidFill>
                <a:srgbClr val="D8E0E7"/>
              </a:solidFill>
            </a:ln>
          </p:spPr>
        </p:sp>
        <p:sp>
          <p:nvSpPr>
            <p:cNvPr id="38" name="Rectangle 38"/>
            <p:cNvSpPr/>
            <p:nvPr/>
          </p:nvSpPr>
          <p:spPr>
            <a:xfrm>
              <a:off x="1619250" y="2457450"/>
              <a:ext cx="8953500" cy="762000"/>
            </a:xfrm>
            <a:prstGeom prst="rect">
              <a:avLst/>
            </a:prstGeom>
            <a:solidFill>
              <a:srgbClr val="F4F7FA"/>
            </a:solidFill>
            <a:ln w="14288">
              <a:solidFill>
                <a:srgbClr val="143A5A"/>
              </a:solidFill>
            </a:ln>
          </p:spPr>
        </p:sp>
        <p:sp>
          <p:nvSpPr>
            <p:cNvPr id="39" name="TextBox 39"/>
            <p:cNvSpPr txBox="1"/>
            <p:nvPr/>
          </p:nvSpPr>
          <p:spPr>
            <a:xfrm>
              <a:off x="5158714" y="2571274"/>
              <a:ext cx="1874571" cy="198120"/>
            </a:xfrm>
            <a:prstGeom prst="rect">
              <a:avLst/>
            </a:prstGeom>
            <a:noFill/>
            <a:ln>
              <a:noFill/>
            </a:ln>
          </p:spPr>
          <p:txBody>
            <a:bodyPr wrap="none" lIns="0" tIns="0" rIns="0" bIns="0" anchor="t" anchorCtr="0">
              <a:spAutoFit/>
            </a:bodyPr>
            <a:lstStyle/>
            <a:p>
              <a:pPr algn="ctr"/>
              <a:r>
                <a:rPr lang="zh-CN" sz="975" b="1" dirty="0">
                  <a:solidFill>
                    <a:srgbClr val="D97732"/>
                  </a:solidFill>
                  <a:latin typeface="Arial"/>
                  <a:ea typeface="Microsoft YaHei"/>
                  <a:cs typeface="Arial"/>
                </a:rPr>
                <a:t>CORE THEORETICAL QUESTION</a:t>
              </a:r>
            </a:p>
          </p:txBody>
        </p:sp>
        <p:sp>
          <p:nvSpPr>
            <p:cNvPr id="40" name="TextBox 40"/>
            <p:cNvSpPr txBox="1"/>
            <p:nvPr/>
          </p:nvSpPr>
          <p:spPr>
            <a:xfrm>
              <a:off x="2348489" y="2804636"/>
              <a:ext cx="7495021" cy="350520"/>
            </a:xfrm>
            <a:prstGeom prst="rect">
              <a:avLst/>
            </a:prstGeom>
            <a:noFill/>
            <a:ln>
              <a:noFill/>
            </a:ln>
          </p:spPr>
          <p:txBody>
            <a:bodyPr wrap="none" lIns="0" tIns="0" rIns="0" bIns="0" anchor="t" anchorCtr="0">
              <a:spAutoFit/>
            </a:bodyPr>
            <a:lstStyle/>
            <a:p>
              <a:pPr algn="ctr"/>
              <a:r>
                <a:rPr lang="zh-CN" sz="1725" b="1" dirty="0">
                  <a:solidFill>
                    <a:srgbClr val="143A5A"/>
                  </a:solidFill>
                  <a:latin typeface="Arial"/>
                  <a:ea typeface="Microsoft YaHei"/>
                  <a:cs typeface="Arial"/>
                </a:rPr>
                <a:t>经济收益提高时，员工只是改变选择，还是也改变了对AI能力的信念？</a:t>
              </a:r>
            </a:p>
          </p:txBody>
        </p:sp>
      </p:grpSp>
      <p:grpSp>
        <p:nvGrpSpPr>
          <p:cNvPr id="79" name="Group 79"/>
          <p:cNvGrpSpPr/>
          <p:nvPr/>
        </p:nvGrpSpPr>
        <p:grpSpPr>
          <a:xfrm>
            <a:off x="457200" y="3219450"/>
            <a:ext cx="11277600" cy="2331244"/>
            <a:chOff x="457200" y="3219450"/>
            <a:chExt cx="11277600" cy="2331244"/>
          </a:xfrm>
        </p:grpSpPr>
        <p:sp>
          <p:nvSpPr>
            <p:cNvPr id="42" name="Line 42"/>
            <p:cNvSpPr/>
            <p:nvPr/>
          </p:nvSpPr>
          <p:spPr>
            <a:xfrm>
              <a:off x="6096000" y="3219450"/>
              <a:ext cx="9525" cy="114300"/>
            </a:xfrm>
            <a:custGeom>
              <a:avLst/>
              <a:gdLst/>
              <a:ahLst/>
              <a:cxnLst/>
              <a:rect l="l" t="t" r="r" b="b"/>
              <a:pathLst>
                <a:path w="9525" h="114300">
                  <a:moveTo>
                    <a:pt x="0" y="0"/>
                  </a:moveTo>
                  <a:lnTo>
                    <a:pt x="0" y="114300"/>
                  </a:lnTo>
                </a:path>
              </a:pathLst>
            </a:custGeom>
            <a:noFill/>
            <a:ln w="19050">
              <a:solidFill>
                <a:srgbClr val="D8E0E7"/>
              </a:solidFill>
            </a:ln>
          </p:spPr>
        </p:sp>
        <p:sp>
          <p:nvSpPr>
            <p:cNvPr id="43" name="Line 43"/>
            <p:cNvSpPr/>
            <p:nvPr/>
          </p:nvSpPr>
          <p:spPr>
            <a:xfrm>
              <a:off x="3162300" y="3333750"/>
              <a:ext cx="5867400" cy="9525"/>
            </a:xfrm>
            <a:custGeom>
              <a:avLst/>
              <a:gdLst/>
              <a:ahLst/>
              <a:cxnLst/>
              <a:rect l="l" t="t" r="r" b="b"/>
              <a:pathLst>
                <a:path w="5867400" h="9525">
                  <a:moveTo>
                    <a:pt x="0" y="0"/>
                  </a:moveTo>
                  <a:lnTo>
                    <a:pt x="5867400" y="0"/>
                  </a:lnTo>
                </a:path>
              </a:pathLst>
            </a:custGeom>
            <a:noFill/>
            <a:ln w="19050">
              <a:solidFill>
                <a:srgbClr val="D8E0E7"/>
              </a:solidFill>
            </a:ln>
          </p:spPr>
        </p:sp>
        <p:sp>
          <p:nvSpPr>
            <p:cNvPr id="44" name="Line 44"/>
            <p:cNvSpPr/>
            <p:nvPr/>
          </p:nvSpPr>
          <p:spPr>
            <a:xfrm>
              <a:off x="3162300" y="3333750"/>
              <a:ext cx="9525" cy="95250"/>
            </a:xfrm>
            <a:custGeom>
              <a:avLst/>
              <a:gdLst/>
              <a:ahLst/>
              <a:cxnLst/>
              <a:rect l="l" t="t" r="r" b="b"/>
              <a:pathLst>
                <a:path w="9525" h="95250">
                  <a:moveTo>
                    <a:pt x="0" y="0"/>
                  </a:moveTo>
                  <a:lnTo>
                    <a:pt x="0" y="95250"/>
                  </a:lnTo>
                </a:path>
              </a:pathLst>
            </a:custGeom>
            <a:noFill/>
            <a:ln w="19050">
              <a:solidFill>
                <a:srgbClr val="D8E0E7"/>
              </a:solidFill>
            </a:ln>
          </p:spPr>
        </p:sp>
        <p:sp>
          <p:nvSpPr>
            <p:cNvPr id="45" name="Line 45"/>
            <p:cNvSpPr/>
            <p:nvPr/>
          </p:nvSpPr>
          <p:spPr>
            <a:xfrm>
              <a:off x="9029700" y="3333750"/>
              <a:ext cx="9525" cy="95250"/>
            </a:xfrm>
            <a:custGeom>
              <a:avLst/>
              <a:gdLst/>
              <a:ahLst/>
              <a:cxnLst/>
              <a:rect l="l" t="t" r="r" b="b"/>
              <a:pathLst>
                <a:path w="9525" h="95250">
                  <a:moveTo>
                    <a:pt x="0" y="0"/>
                  </a:moveTo>
                  <a:lnTo>
                    <a:pt x="0" y="95250"/>
                  </a:lnTo>
                </a:path>
              </a:pathLst>
            </a:custGeom>
            <a:noFill/>
            <a:ln w="19050">
              <a:solidFill>
                <a:srgbClr val="D8E0E7"/>
              </a:solidFill>
            </a:ln>
          </p:spPr>
        </p:sp>
        <p:sp>
          <p:nvSpPr>
            <p:cNvPr id="46" name="Rectangle 46"/>
            <p:cNvSpPr/>
            <p:nvPr/>
          </p:nvSpPr>
          <p:spPr>
            <a:xfrm>
              <a:off x="457200" y="3429000"/>
              <a:ext cx="5410200" cy="2095500"/>
            </a:xfrm>
            <a:prstGeom prst="rect">
              <a:avLst/>
            </a:prstGeom>
            <a:solidFill>
              <a:srgbClr val="FFFFFF"/>
            </a:solidFill>
            <a:ln w="9525">
              <a:solidFill>
                <a:srgbClr val="D8E0E7"/>
              </a:solidFill>
            </a:ln>
          </p:spPr>
        </p:sp>
        <p:sp>
          <p:nvSpPr>
            <p:cNvPr id="47" name="Rectangle 47"/>
            <p:cNvSpPr/>
            <p:nvPr/>
          </p:nvSpPr>
          <p:spPr>
            <a:xfrm>
              <a:off x="457200" y="3429000"/>
              <a:ext cx="47625" cy="2095500"/>
            </a:xfrm>
            <a:prstGeom prst="rect">
              <a:avLst/>
            </a:prstGeom>
            <a:solidFill>
              <a:srgbClr val="143A5A"/>
            </a:solidFill>
            <a:ln>
              <a:noFill/>
            </a:ln>
          </p:spPr>
        </p:sp>
        <p:grpSp>
          <p:nvGrpSpPr>
            <p:cNvPr id="51" name="Group 51"/>
            <p:cNvGrpSpPr/>
            <p:nvPr/>
          </p:nvGrpSpPr>
          <p:grpSpPr>
            <a:xfrm>
              <a:off x="666750" y="3629025"/>
              <a:ext cx="171450" cy="171450"/>
              <a:chOff x="666750" y="3629025"/>
              <a:chExt cx="171450" cy="171450"/>
            </a:xfrm>
          </p:grpSpPr>
          <p:sp>
            <p:nvSpPr>
              <p:cNvPr id="48" name="Freeform 48"/>
              <p:cNvSpPr/>
              <p:nvPr/>
            </p:nvSpPr>
            <p:spPr>
              <a:xfrm>
                <a:off x="666750" y="3629025"/>
                <a:ext cx="171450" cy="171450"/>
              </a:xfrm>
              <a:custGeom>
                <a:avLst/>
                <a:gdLst/>
                <a:ahLst/>
                <a:cxnLst/>
                <a:rect l="l" t="t" r="r" b="b"/>
                <a:pathLst>
                  <a:path w="171450" h="171450">
                    <a:moveTo>
                      <a:pt x="0" y="85725"/>
                    </a:moveTo>
                    <a:cubicBezTo>
                      <a:pt x="0" y="133070"/>
                      <a:pt x="38380" y="171450"/>
                      <a:pt x="85725" y="171450"/>
                    </a:cubicBezTo>
                    <a:cubicBezTo>
                      <a:pt x="133070" y="171450"/>
                      <a:pt x="171450" y="133070"/>
                      <a:pt x="171450" y="85725"/>
                    </a:cubicBezTo>
                    <a:cubicBezTo>
                      <a:pt x="171450" y="38380"/>
                      <a:pt x="133070" y="0"/>
                      <a:pt x="85725" y="0"/>
                    </a:cubicBezTo>
                    <a:cubicBezTo>
                      <a:pt x="38380" y="0"/>
                      <a:pt x="0" y="38380"/>
                      <a:pt x="0" y="85725"/>
                    </a:cubicBezTo>
                  </a:path>
                </a:pathLst>
              </a:custGeom>
              <a:noFill/>
              <a:ln w="19050">
                <a:solidFill>
                  <a:srgbClr val="143A5A"/>
                </a:solidFill>
              </a:ln>
            </p:spPr>
          </p:sp>
          <p:sp>
            <p:nvSpPr>
              <p:cNvPr id="49" name="Freeform 49"/>
              <p:cNvSpPr/>
              <p:nvPr/>
            </p:nvSpPr>
            <p:spPr>
              <a:xfrm>
                <a:off x="723900" y="3676413"/>
                <a:ext cx="57150" cy="76674"/>
              </a:xfrm>
              <a:custGeom>
                <a:avLst/>
                <a:gdLst/>
                <a:ahLst/>
                <a:cxnLst/>
                <a:rect l="l" t="t" r="r" b="b"/>
                <a:pathLst>
                  <a:path w="57150" h="76674">
                    <a:moveTo>
                      <a:pt x="55245" y="9762"/>
                    </a:moveTo>
                    <a:cubicBezTo>
                      <a:pt x="51729" y="3663"/>
                      <a:pt x="45136" y="0"/>
                      <a:pt x="38100" y="237"/>
                    </a:cubicBezTo>
                    <a:lnTo>
                      <a:pt x="19050" y="237"/>
                    </a:lnTo>
                    <a:cubicBezTo>
                      <a:pt x="8529" y="237"/>
                      <a:pt x="0" y="8766"/>
                      <a:pt x="0" y="19287"/>
                    </a:cubicBezTo>
                    <a:cubicBezTo>
                      <a:pt x="0" y="29808"/>
                      <a:pt x="8529" y="38337"/>
                      <a:pt x="19050" y="38337"/>
                    </a:cubicBezTo>
                    <a:lnTo>
                      <a:pt x="38100" y="38337"/>
                    </a:lnTo>
                    <a:cubicBezTo>
                      <a:pt x="48621" y="38337"/>
                      <a:pt x="57150" y="46866"/>
                      <a:pt x="57150" y="57387"/>
                    </a:cubicBezTo>
                    <a:cubicBezTo>
                      <a:pt x="57150" y="67908"/>
                      <a:pt x="48621" y="76437"/>
                      <a:pt x="38100" y="76437"/>
                    </a:cubicBezTo>
                    <a:lnTo>
                      <a:pt x="19050" y="76437"/>
                    </a:lnTo>
                    <a:cubicBezTo>
                      <a:pt x="12014" y="76674"/>
                      <a:pt x="5421" y="73011"/>
                      <a:pt x="1905" y="66912"/>
                    </a:cubicBezTo>
                  </a:path>
                </a:pathLst>
              </a:custGeom>
              <a:noFill/>
              <a:ln w="19050">
                <a:solidFill>
                  <a:srgbClr val="143A5A"/>
                </a:solidFill>
              </a:ln>
            </p:spPr>
          </p:sp>
          <p:sp>
            <p:nvSpPr>
              <p:cNvPr id="50" name="Freeform 50"/>
              <p:cNvSpPr/>
              <p:nvPr/>
            </p:nvSpPr>
            <p:spPr>
              <a:xfrm>
                <a:off x="752475" y="3667125"/>
                <a:ext cx="9525" cy="95250"/>
              </a:xfrm>
              <a:custGeom>
                <a:avLst/>
                <a:gdLst/>
                <a:ahLst/>
                <a:cxnLst/>
                <a:rect l="l" t="t" r="r" b="b"/>
                <a:pathLst>
                  <a:path w="9525" h="95250">
                    <a:moveTo>
                      <a:pt x="0" y="0"/>
                    </a:moveTo>
                    <a:lnTo>
                      <a:pt x="0" y="95250"/>
                    </a:lnTo>
                  </a:path>
                </a:pathLst>
              </a:custGeom>
              <a:noFill/>
              <a:ln w="19050">
                <a:solidFill>
                  <a:srgbClr val="143A5A"/>
                </a:solidFill>
              </a:ln>
            </p:spPr>
          </p:sp>
        </p:grpSp>
        <p:sp>
          <p:nvSpPr>
            <p:cNvPr id="52" name="TextBox 52"/>
            <p:cNvSpPr txBox="1"/>
            <p:nvPr/>
          </p:nvSpPr>
          <p:spPr>
            <a:xfrm>
              <a:off x="959168" y="3533299"/>
              <a:ext cx="823390" cy="198120"/>
            </a:xfrm>
            <a:prstGeom prst="rect">
              <a:avLst/>
            </a:prstGeom>
            <a:noFill/>
            <a:ln>
              <a:noFill/>
            </a:ln>
          </p:spPr>
          <p:txBody>
            <a:bodyPr wrap="none" lIns="0" tIns="0" rIns="0" bIns="0" anchor="t" anchorCtr="0">
              <a:spAutoFit/>
            </a:bodyPr>
            <a:lstStyle/>
            <a:p>
              <a:pPr algn="l"/>
              <a:r>
                <a:rPr lang="zh-CN" sz="975" b="1" dirty="0">
                  <a:solidFill>
                    <a:srgbClr val="4F7C8A"/>
                  </a:solidFill>
                  <a:latin typeface="Arial"/>
                  <a:ea typeface="Microsoft YaHei"/>
                  <a:cs typeface="Arial"/>
                </a:rPr>
                <a:t>竞争性预测 A</a:t>
              </a:r>
            </a:p>
          </p:txBody>
        </p:sp>
        <p:sp>
          <p:nvSpPr>
            <p:cNvPr id="53" name="TextBox 53"/>
            <p:cNvSpPr txBox="1"/>
            <p:nvPr/>
          </p:nvSpPr>
          <p:spPr>
            <a:xfrm>
              <a:off x="951548" y="3706654"/>
              <a:ext cx="2024753" cy="320040"/>
            </a:xfrm>
            <a:prstGeom prst="rect">
              <a:avLst/>
            </a:prstGeom>
            <a:noFill/>
            <a:ln>
              <a:noFill/>
            </a:ln>
          </p:spPr>
          <p:txBody>
            <a:bodyPr wrap="none" lIns="0" tIns="0" rIns="0" bIns="0" anchor="t" anchorCtr="0">
              <a:spAutoFit/>
            </a:bodyPr>
            <a:lstStyle/>
            <a:p>
              <a:pPr algn="l"/>
              <a:r>
                <a:rPr lang="zh-CN" sz="1575" b="1" dirty="0">
                  <a:solidFill>
                    <a:srgbClr val="143A5A"/>
                  </a:solidFill>
                  <a:latin typeface="Arial"/>
                  <a:ea typeface="Microsoft YaHei"/>
                  <a:cs typeface="Arial"/>
                </a:rPr>
                <a:t>贝叶斯期望效用基准</a:t>
              </a:r>
            </a:p>
          </p:txBody>
        </p:sp>
        <p:sp>
          <p:nvSpPr>
            <p:cNvPr id="54" name="TextBox 54"/>
            <p:cNvSpPr txBox="1"/>
            <p:nvPr/>
          </p:nvSpPr>
          <p:spPr>
            <a:xfrm>
              <a:off x="959168" y="3952399"/>
              <a:ext cx="2358557" cy="198120"/>
            </a:xfrm>
            <a:prstGeom prst="rect">
              <a:avLst/>
            </a:prstGeom>
            <a:noFill/>
            <a:ln>
              <a:noFill/>
            </a:ln>
          </p:spPr>
          <p:txBody>
            <a:bodyPr wrap="none" lIns="0" tIns="0" rIns="0" bIns="0" anchor="t" anchorCtr="0">
              <a:spAutoFit/>
            </a:bodyPr>
            <a:lstStyle/>
            <a:p>
              <a:pPr algn="l"/>
              <a:r>
                <a:rPr lang="zh-CN" sz="975" dirty="0">
                  <a:solidFill>
                    <a:srgbClr val="5B6773"/>
                  </a:solidFill>
                  <a:latin typeface="Arial"/>
                  <a:ea typeface="Microsoft YaHei"/>
                  <a:cs typeface="Arial"/>
                </a:rPr>
                <a:t>Bayesian Expected-Utility Benchmark</a:t>
              </a:r>
            </a:p>
          </p:txBody>
        </p:sp>
        <p:sp>
          <p:nvSpPr>
            <p:cNvPr id="55" name="TextBox 55"/>
            <p:cNvSpPr txBox="1"/>
            <p:nvPr/>
          </p:nvSpPr>
          <p:spPr>
            <a:xfrm>
              <a:off x="621030" y="4159568"/>
              <a:ext cx="4507849" cy="274320"/>
            </a:xfrm>
            <a:prstGeom prst="rect">
              <a:avLst/>
            </a:prstGeom>
            <a:noFill/>
            <a:ln>
              <a:noFill/>
            </a:ln>
          </p:spPr>
          <p:txBody>
            <a:bodyPr wrap="none" lIns="0" tIns="0" rIns="0" bIns="0" anchor="t" anchorCtr="0">
              <a:spAutoFit/>
            </a:bodyPr>
            <a:lstStyle/>
            <a:p>
              <a:pPr algn="l"/>
              <a:r>
                <a:rPr lang="zh-CN" sz="1350" dirty="0">
                  <a:solidFill>
                    <a:srgbClr val="1F2933"/>
                  </a:solidFill>
                  <a:latin typeface="Arial"/>
                  <a:ea typeface="Microsoft YaHei"/>
                  <a:cs typeface="Arial"/>
                </a:rPr>
                <a:t>激励改变行动收益，但未提供关于AI实际能力的新信息。</a:t>
              </a:r>
            </a:p>
          </p:txBody>
        </p:sp>
        <p:pic>
          <p:nvPicPr>
            <p:cNvPr id="56" name="Image 56"/>
            <p:cNvPicPr>
              <a:picLocks noChangeAspect="1"/>
            </p:cNvPicPr>
            <p:nvPr/>
          </p:nvPicPr>
          <p:blipFill>
            <a:blip r:embed="rId4"/>
            <a:stretch>
              <a:fillRect/>
            </a:stretch>
          </p:blipFill>
          <p:spPr>
            <a:xfrm>
              <a:off x="723900" y="4438650"/>
              <a:ext cx="1952625" cy="209550"/>
            </a:xfrm>
            <a:prstGeom prst="rect">
              <a:avLst/>
            </a:prstGeom>
          </p:spPr>
        </p:pic>
        <p:pic>
          <p:nvPicPr>
            <p:cNvPr id="57" name="Image 57"/>
            <p:cNvPicPr>
              <a:picLocks noChangeAspect="1"/>
            </p:cNvPicPr>
            <p:nvPr/>
          </p:nvPicPr>
          <p:blipFill>
            <a:blip r:embed="rId5"/>
            <a:stretch>
              <a:fillRect/>
            </a:stretch>
          </p:blipFill>
          <p:spPr>
            <a:xfrm>
              <a:off x="723900" y="4743450"/>
              <a:ext cx="4048125" cy="190500"/>
            </a:xfrm>
            <a:prstGeom prst="rect">
              <a:avLst/>
            </a:prstGeom>
          </p:spPr>
        </p:pic>
        <p:sp>
          <p:nvSpPr>
            <p:cNvPr id="58" name="Rectangle 58"/>
            <p:cNvSpPr/>
            <p:nvPr/>
          </p:nvSpPr>
          <p:spPr>
            <a:xfrm>
              <a:off x="638175" y="5029200"/>
              <a:ext cx="5010150" cy="304800"/>
            </a:xfrm>
            <a:prstGeom prst="rect">
              <a:avLst/>
            </a:prstGeom>
            <a:solidFill>
              <a:srgbClr val="F4F7FA"/>
            </a:solidFill>
            <a:ln>
              <a:noFill/>
            </a:ln>
          </p:spPr>
        </p:sp>
        <p:sp>
          <p:nvSpPr>
            <p:cNvPr id="59" name="TextBox 59"/>
            <p:cNvSpPr txBox="1"/>
            <p:nvPr/>
          </p:nvSpPr>
          <p:spPr>
            <a:xfrm>
              <a:off x="749618" y="5123974"/>
              <a:ext cx="3639217" cy="198120"/>
            </a:xfrm>
            <a:prstGeom prst="rect">
              <a:avLst/>
            </a:prstGeom>
            <a:noFill/>
            <a:ln>
              <a:noFill/>
            </a:ln>
          </p:spPr>
          <p:txBody>
            <a:bodyPr wrap="none" lIns="0" tIns="0" rIns="0" bIns="0" anchor="t" anchorCtr="0">
              <a:spAutoFit/>
            </a:bodyPr>
            <a:lstStyle/>
            <a:p>
              <a:pPr algn="l"/>
              <a:r>
                <a:rPr lang="zh-CN" sz="975" dirty="0">
                  <a:solidFill>
                    <a:srgbClr val="5B6773"/>
                  </a:solidFill>
                  <a:latin typeface="Arial"/>
                  <a:ea typeface="Microsoft YaHei"/>
                  <a:cs typeface="Arial"/>
                </a:rPr>
                <a:t>“我采用AI，是因为这样更有利；并非因为我认为AI更有能力。”</a:t>
              </a:r>
            </a:p>
          </p:txBody>
        </p:sp>
        <p:sp>
          <p:nvSpPr>
            <p:cNvPr id="60" name="TextBox 60"/>
            <p:cNvSpPr txBox="1"/>
            <p:nvPr/>
          </p:nvSpPr>
          <p:spPr>
            <a:xfrm>
              <a:off x="625792" y="5352574"/>
              <a:ext cx="1936004" cy="198120"/>
            </a:xfrm>
            <a:prstGeom prst="rect">
              <a:avLst/>
            </a:prstGeom>
            <a:noFill/>
            <a:ln>
              <a:noFill/>
            </a:ln>
          </p:spPr>
          <p:txBody>
            <a:bodyPr wrap="none" lIns="0" tIns="0" rIns="0" bIns="0" anchor="t" anchorCtr="0">
              <a:spAutoFit/>
            </a:bodyPr>
            <a:lstStyle/>
            <a:p>
              <a:pPr algn="l"/>
              <a:r>
                <a:rPr lang="zh-CN" sz="975" b="1" dirty="0">
                  <a:solidFill>
                    <a:srgbClr val="143A5A"/>
                  </a:solidFill>
                  <a:latin typeface="Arial"/>
                  <a:ea typeface="Microsoft YaHei"/>
                  <a:cs typeface="Arial"/>
                </a:rPr>
                <a:t>预测：选择改变，能力信念不变</a:t>
              </a:r>
            </a:p>
          </p:txBody>
        </p:sp>
        <p:sp>
          <p:nvSpPr>
            <p:cNvPr id="61" name="Rectangle 61"/>
            <p:cNvSpPr/>
            <p:nvPr/>
          </p:nvSpPr>
          <p:spPr>
            <a:xfrm>
              <a:off x="6324600" y="3429000"/>
              <a:ext cx="5410200" cy="2095500"/>
            </a:xfrm>
            <a:prstGeom prst="rect">
              <a:avLst/>
            </a:prstGeom>
            <a:solidFill>
              <a:srgbClr val="FFFFFF"/>
            </a:solidFill>
            <a:ln w="9525">
              <a:solidFill>
                <a:srgbClr val="D8E0E7"/>
              </a:solidFill>
            </a:ln>
          </p:spPr>
        </p:sp>
        <p:sp>
          <p:nvSpPr>
            <p:cNvPr id="62" name="Rectangle 62"/>
            <p:cNvSpPr/>
            <p:nvPr/>
          </p:nvSpPr>
          <p:spPr>
            <a:xfrm>
              <a:off x="6324600" y="3429000"/>
              <a:ext cx="47625" cy="2095500"/>
            </a:xfrm>
            <a:prstGeom prst="rect">
              <a:avLst/>
            </a:prstGeom>
            <a:solidFill>
              <a:srgbClr val="D97732"/>
            </a:solidFill>
            <a:ln>
              <a:noFill/>
            </a:ln>
          </p:spPr>
        </p:sp>
        <p:grpSp>
          <p:nvGrpSpPr>
            <p:cNvPr id="69" name="Group 69"/>
            <p:cNvGrpSpPr/>
            <p:nvPr/>
          </p:nvGrpSpPr>
          <p:grpSpPr>
            <a:xfrm>
              <a:off x="6534150" y="3629025"/>
              <a:ext cx="171450" cy="171450"/>
              <a:chOff x="6534150" y="3629025"/>
              <a:chExt cx="171450" cy="171450"/>
            </a:xfrm>
          </p:grpSpPr>
          <p:sp>
            <p:nvSpPr>
              <p:cNvPr id="63" name="Freeform 63"/>
              <p:cNvSpPr/>
              <p:nvPr/>
            </p:nvSpPr>
            <p:spPr>
              <a:xfrm>
                <a:off x="6619875" y="3724275"/>
                <a:ext cx="66675" cy="76200"/>
              </a:xfrm>
              <a:custGeom>
                <a:avLst/>
                <a:gdLst/>
                <a:ahLst/>
                <a:cxnLst/>
                <a:rect l="l" t="t" r="r" b="b"/>
                <a:pathLst>
                  <a:path w="66675" h="76200">
                    <a:moveTo>
                      <a:pt x="33338" y="0"/>
                    </a:moveTo>
                    <a:cubicBezTo>
                      <a:pt x="14926" y="0"/>
                      <a:pt x="0" y="14926"/>
                      <a:pt x="0" y="33338"/>
                    </a:cubicBezTo>
                    <a:lnTo>
                      <a:pt x="0" y="42862"/>
                    </a:lnTo>
                    <a:cubicBezTo>
                      <a:pt x="0" y="61274"/>
                      <a:pt x="14926" y="76200"/>
                      <a:pt x="33338" y="76200"/>
                    </a:cubicBezTo>
                    <a:cubicBezTo>
                      <a:pt x="51749" y="76200"/>
                      <a:pt x="66675" y="61274"/>
                      <a:pt x="66675" y="42862"/>
                    </a:cubicBezTo>
                    <a:lnTo>
                      <a:pt x="66675" y="25717"/>
                    </a:lnTo>
                  </a:path>
                </a:pathLst>
              </a:custGeom>
              <a:noFill/>
              <a:ln w="19050">
                <a:solidFill>
                  <a:srgbClr val="D97732"/>
                </a:solidFill>
              </a:ln>
            </p:spPr>
          </p:sp>
          <p:sp>
            <p:nvSpPr>
              <p:cNvPr id="64" name="Freeform 64"/>
              <p:cNvSpPr/>
              <p:nvPr/>
            </p:nvSpPr>
            <p:spPr>
              <a:xfrm>
                <a:off x="6553200" y="3724275"/>
                <a:ext cx="66675" cy="76200"/>
              </a:xfrm>
              <a:custGeom>
                <a:avLst/>
                <a:gdLst/>
                <a:ahLst/>
                <a:cxnLst/>
                <a:rect l="l" t="t" r="r" b="b"/>
                <a:pathLst>
                  <a:path w="66675" h="76200">
                    <a:moveTo>
                      <a:pt x="33338" y="0"/>
                    </a:moveTo>
                    <a:cubicBezTo>
                      <a:pt x="51749" y="0"/>
                      <a:pt x="66675" y="14926"/>
                      <a:pt x="66675" y="33338"/>
                    </a:cubicBezTo>
                    <a:lnTo>
                      <a:pt x="66675" y="42862"/>
                    </a:lnTo>
                    <a:cubicBezTo>
                      <a:pt x="66675" y="61274"/>
                      <a:pt x="51749" y="76200"/>
                      <a:pt x="33338" y="76200"/>
                    </a:cubicBezTo>
                    <a:cubicBezTo>
                      <a:pt x="14926" y="76200"/>
                      <a:pt x="0" y="61274"/>
                      <a:pt x="0" y="42862"/>
                    </a:cubicBezTo>
                    <a:lnTo>
                      <a:pt x="0" y="25717"/>
                    </a:lnTo>
                  </a:path>
                </a:pathLst>
              </a:custGeom>
              <a:noFill/>
              <a:ln w="19050">
                <a:solidFill>
                  <a:srgbClr val="D97732"/>
                </a:solidFill>
              </a:ln>
            </p:spPr>
          </p:sp>
          <p:sp>
            <p:nvSpPr>
              <p:cNvPr id="65" name="Freeform 65"/>
              <p:cNvSpPr/>
              <p:nvPr/>
            </p:nvSpPr>
            <p:spPr>
              <a:xfrm>
                <a:off x="6667500" y="3686175"/>
                <a:ext cx="38100" cy="66675"/>
              </a:xfrm>
              <a:custGeom>
                <a:avLst/>
                <a:gdLst/>
                <a:ahLst/>
                <a:cxnLst/>
                <a:rect l="l" t="t" r="r" b="b"/>
                <a:pathLst>
                  <a:path w="38100" h="66675">
                    <a:moveTo>
                      <a:pt x="4762" y="66675"/>
                    </a:moveTo>
                    <a:cubicBezTo>
                      <a:pt x="23174" y="66675"/>
                      <a:pt x="38100" y="51749"/>
                      <a:pt x="38100" y="33338"/>
                    </a:cubicBezTo>
                    <a:cubicBezTo>
                      <a:pt x="38100" y="14926"/>
                      <a:pt x="23174" y="0"/>
                      <a:pt x="4762" y="0"/>
                    </a:cubicBezTo>
                    <a:lnTo>
                      <a:pt x="0" y="0"/>
                    </a:lnTo>
                  </a:path>
                </a:pathLst>
              </a:custGeom>
              <a:noFill/>
              <a:ln w="19050">
                <a:solidFill>
                  <a:srgbClr val="D97732"/>
                </a:solidFill>
              </a:ln>
            </p:spPr>
          </p:sp>
          <p:sp>
            <p:nvSpPr>
              <p:cNvPr id="66" name="Freeform 66"/>
              <p:cNvSpPr/>
              <p:nvPr/>
            </p:nvSpPr>
            <p:spPr>
              <a:xfrm>
                <a:off x="6619875" y="3629025"/>
                <a:ext cx="66675" cy="60008"/>
              </a:xfrm>
              <a:custGeom>
                <a:avLst/>
                <a:gdLst/>
                <a:ahLst/>
                <a:cxnLst/>
                <a:rect l="l" t="t" r="r" b="b"/>
                <a:pathLst>
                  <a:path w="66675" h="60008">
                    <a:moveTo>
                      <a:pt x="66675" y="60008"/>
                    </a:moveTo>
                    <a:lnTo>
                      <a:pt x="66675" y="33338"/>
                    </a:lnTo>
                    <a:cubicBezTo>
                      <a:pt x="66675" y="14926"/>
                      <a:pt x="51749" y="0"/>
                      <a:pt x="33338" y="0"/>
                    </a:cubicBezTo>
                    <a:cubicBezTo>
                      <a:pt x="14926" y="0"/>
                      <a:pt x="0" y="14926"/>
                      <a:pt x="0" y="33338"/>
                    </a:cubicBezTo>
                  </a:path>
                </a:pathLst>
              </a:custGeom>
              <a:noFill/>
              <a:ln w="19050">
                <a:solidFill>
                  <a:srgbClr val="D97732"/>
                </a:solidFill>
              </a:ln>
            </p:spPr>
          </p:sp>
          <p:sp>
            <p:nvSpPr>
              <p:cNvPr id="67" name="Freeform 67"/>
              <p:cNvSpPr/>
              <p:nvPr/>
            </p:nvSpPr>
            <p:spPr>
              <a:xfrm>
                <a:off x="6534150" y="3686175"/>
                <a:ext cx="38100" cy="66675"/>
              </a:xfrm>
              <a:custGeom>
                <a:avLst/>
                <a:gdLst/>
                <a:ahLst/>
                <a:cxnLst/>
                <a:rect l="l" t="t" r="r" b="b"/>
                <a:pathLst>
                  <a:path w="38100" h="66675">
                    <a:moveTo>
                      <a:pt x="33338" y="66675"/>
                    </a:moveTo>
                    <a:cubicBezTo>
                      <a:pt x="14926" y="66675"/>
                      <a:pt x="0" y="51749"/>
                      <a:pt x="0" y="33338"/>
                    </a:cubicBezTo>
                    <a:cubicBezTo>
                      <a:pt x="0" y="14926"/>
                      <a:pt x="14926" y="0"/>
                      <a:pt x="33338" y="0"/>
                    </a:cubicBezTo>
                    <a:lnTo>
                      <a:pt x="38100" y="0"/>
                    </a:lnTo>
                  </a:path>
                </a:pathLst>
              </a:custGeom>
              <a:noFill/>
              <a:ln w="19050">
                <a:solidFill>
                  <a:srgbClr val="D97732"/>
                </a:solidFill>
              </a:ln>
            </p:spPr>
          </p:sp>
          <p:sp>
            <p:nvSpPr>
              <p:cNvPr id="68" name="Freeform 68"/>
              <p:cNvSpPr/>
              <p:nvPr/>
            </p:nvSpPr>
            <p:spPr>
              <a:xfrm>
                <a:off x="6553200" y="3629025"/>
                <a:ext cx="66675" cy="128588"/>
              </a:xfrm>
              <a:custGeom>
                <a:avLst/>
                <a:gdLst/>
                <a:ahLst/>
                <a:cxnLst/>
                <a:rect l="l" t="t" r="r" b="b"/>
                <a:pathLst>
                  <a:path w="66675" h="128588">
                    <a:moveTo>
                      <a:pt x="0" y="60008"/>
                    </a:moveTo>
                    <a:lnTo>
                      <a:pt x="0" y="33338"/>
                    </a:lnTo>
                    <a:cubicBezTo>
                      <a:pt x="0" y="14926"/>
                      <a:pt x="14926" y="0"/>
                      <a:pt x="33338" y="0"/>
                    </a:cubicBezTo>
                    <a:cubicBezTo>
                      <a:pt x="51749" y="0"/>
                      <a:pt x="66675" y="14926"/>
                      <a:pt x="66675" y="33338"/>
                    </a:cubicBezTo>
                    <a:lnTo>
                      <a:pt x="66675" y="128588"/>
                    </a:lnTo>
                  </a:path>
                </a:pathLst>
              </a:custGeom>
              <a:noFill/>
              <a:ln w="19050">
                <a:solidFill>
                  <a:srgbClr val="D97732"/>
                </a:solidFill>
              </a:ln>
            </p:spPr>
          </p:sp>
        </p:grpSp>
        <p:sp>
          <p:nvSpPr>
            <p:cNvPr id="70" name="TextBox 70"/>
            <p:cNvSpPr txBox="1"/>
            <p:nvPr/>
          </p:nvSpPr>
          <p:spPr>
            <a:xfrm>
              <a:off x="6826568" y="3533299"/>
              <a:ext cx="823390" cy="198120"/>
            </a:xfrm>
            <a:prstGeom prst="rect">
              <a:avLst/>
            </a:prstGeom>
            <a:noFill/>
            <a:ln>
              <a:noFill/>
            </a:ln>
          </p:spPr>
          <p:txBody>
            <a:bodyPr wrap="none" lIns="0" tIns="0" rIns="0" bIns="0" anchor="t" anchorCtr="0">
              <a:spAutoFit/>
            </a:bodyPr>
            <a:lstStyle/>
            <a:p>
              <a:pPr algn="l"/>
              <a:r>
                <a:rPr lang="zh-CN" sz="975" b="1" dirty="0">
                  <a:solidFill>
                    <a:srgbClr val="D97732"/>
                  </a:solidFill>
                  <a:latin typeface="Arial"/>
                  <a:ea typeface="Microsoft YaHei"/>
                  <a:cs typeface="Arial"/>
                </a:rPr>
                <a:t>竞争性预测 B</a:t>
              </a:r>
            </a:p>
          </p:txBody>
        </p:sp>
        <p:sp>
          <p:nvSpPr>
            <p:cNvPr id="71" name="TextBox 71"/>
            <p:cNvSpPr txBox="1"/>
            <p:nvPr/>
          </p:nvSpPr>
          <p:spPr>
            <a:xfrm>
              <a:off x="6818948" y="3706654"/>
              <a:ext cx="3347918" cy="320040"/>
            </a:xfrm>
            <a:prstGeom prst="rect">
              <a:avLst/>
            </a:prstGeom>
            <a:noFill/>
            <a:ln>
              <a:noFill/>
            </a:ln>
          </p:spPr>
          <p:txBody>
            <a:bodyPr wrap="none" lIns="0" tIns="0" rIns="0" bIns="0" anchor="t" anchorCtr="0">
              <a:spAutoFit/>
            </a:bodyPr>
            <a:lstStyle/>
            <a:p>
              <a:pPr algn="l"/>
              <a:r>
                <a:rPr lang="zh-CN" sz="1575" b="1" dirty="0">
                  <a:solidFill>
                    <a:srgbClr val="143A5A"/>
                  </a:solidFill>
                  <a:latin typeface="Arial"/>
                  <a:ea typeface="Microsoft YaHei"/>
                  <a:cs typeface="Arial"/>
                </a:rPr>
                <a:t>动机性推理与基于收益的信念扭曲</a:t>
              </a:r>
            </a:p>
          </p:txBody>
        </p:sp>
        <p:sp>
          <p:nvSpPr>
            <p:cNvPr id="72" name="TextBox 72"/>
            <p:cNvSpPr txBox="1"/>
            <p:nvPr/>
          </p:nvSpPr>
          <p:spPr>
            <a:xfrm>
              <a:off x="6826568" y="3952399"/>
              <a:ext cx="3372683" cy="198120"/>
            </a:xfrm>
            <a:prstGeom prst="rect">
              <a:avLst/>
            </a:prstGeom>
            <a:noFill/>
            <a:ln>
              <a:noFill/>
            </a:ln>
          </p:spPr>
          <p:txBody>
            <a:bodyPr wrap="none" lIns="0" tIns="0" rIns="0" bIns="0" anchor="t" anchorCtr="0">
              <a:spAutoFit/>
            </a:bodyPr>
            <a:lstStyle/>
            <a:p>
              <a:pPr algn="l"/>
              <a:r>
                <a:rPr lang="zh-CN" sz="975" dirty="0">
                  <a:solidFill>
                    <a:srgbClr val="5B6773"/>
                  </a:solidFill>
                  <a:latin typeface="Arial"/>
                  <a:ea typeface="Microsoft YaHei"/>
                  <a:cs typeface="Arial"/>
                </a:rPr>
                <a:t>Motivated Reasoning; Payoff-Based Belief Distortion</a:t>
              </a:r>
            </a:p>
          </p:txBody>
        </p:sp>
        <p:sp>
          <p:nvSpPr>
            <p:cNvPr id="73" name="TextBox 73"/>
            <p:cNvSpPr txBox="1"/>
            <p:nvPr/>
          </p:nvSpPr>
          <p:spPr>
            <a:xfrm>
              <a:off x="6488430" y="4159568"/>
              <a:ext cx="4507849" cy="274320"/>
            </a:xfrm>
            <a:prstGeom prst="rect">
              <a:avLst/>
            </a:prstGeom>
            <a:noFill/>
            <a:ln>
              <a:noFill/>
            </a:ln>
          </p:spPr>
          <p:txBody>
            <a:bodyPr wrap="none" lIns="0" tIns="0" rIns="0" bIns="0" anchor="t" anchorCtr="0">
              <a:spAutoFit/>
            </a:bodyPr>
            <a:lstStyle/>
            <a:p>
              <a:pPr algn="l"/>
              <a:r>
                <a:rPr lang="zh-CN" sz="1350" dirty="0">
                  <a:solidFill>
                    <a:srgbClr val="1F2933"/>
                  </a:solidFill>
                  <a:latin typeface="Arial"/>
                  <a:ea typeface="Microsoft YaHei"/>
                  <a:cs typeface="Arial"/>
                </a:rPr>
                <a:t>收益可能改变证据解释，使人形成更乐观的AI能力信念。</a:t>
              </a:r>
            </a:p>
          </p:txBody>
        </p:sp>
        <p:pic>
          <p:nvPicPr>
            <p:cNvPr id="74" name="Image 74"/>
            <p:cNvPicPr>
              <a:picLocks noChangeAspect="1"/>
            </p:cNvPicPr>
            <p:nvPr/>
          </p:nvPicPr>
          <p:blipFill>
            <a:blip r:embed="rId6"/>
            <a:stretch>
              <a:fillRect/>
            </a:stretch>
          </p:blipFill>
          <p:spPr>
            <a:xfrm>
              <a:off x="6591300" y="4438650"/>
              <a:ext cx="1952625" cy="209550"/>
            </a:xfrm>
            <a:prstGeom prst="rect">
              <a:avLst/>
            </a:prstGeom>
          </p:spPr>
        </p:pic>
        <p:pic>
          <p:nvPicPr>
            <p:cNvPr id="75" name="Image 75"/>
            <p:cNvPicPr>
              <a:picLocks noChangeAspect="1"/>
            </p:cNvPicPr>
            <p:nvPr/>
          </p:nvPicPr>
          <p:blipFill>
            <a:blip r:embed="rId7"/>
            <a:stretch>
              <a:fillRect/>
            </a:stretch>
          </p:blipFill>
          <p:spPr>
            <a:xfrm>
              <a:off x="6591300" y="4743450"/>
              <a:ext cx="3524250" cy="209550"/>
            </a:xfrm>
            <a:prstGeom prst="rect">
              <a:avLst/>
            </a:prstGeom>
          </p:spPr>
        </p:pic>
        <p:sp>
          <p:nvSpPr>
            <p:cNvPr id="76" name="Rectangle 76"/>
            <p:cNvSpPr/>
            <p:nvPr/>
          </p:nvSpPr>
          <p:spPr>
            <a:xfrm>
              <a:off x="6505575" y="5029200"/>
              <a:ext cx="5010150" cy="304800"/>
            </a:xfrm>
            <a:prstGeom prst="rect">
              <a:avLst/>
            </a:prstGeom>
            <a:solidFill>
              <a:srgbClr val="F4F7FA"/>
            </a:solidFill>
            <a:ln>
              <a:noFill/>
            </a:ln>
          </p:spPr>
        </p:sp>
        <p:sp>
          <p:nvSpPr>
            <p:cNvPr id="77" name="TextBox 77"/>
            <p:cNvSpPr txBox="1"/>
            <p:nvPr/>
          </p:nvSpPr>
          <p:spPr>
            <a:xfrm>
              <a:off x="6617018" y="5123974"/>
              <a:ext cx="3658719" cy="198120"/>
            </a:xfrm>
            <a:prstGeom prst="rect">
              <a:avLst/>
            </a:prstGeom>
            <a:noFill/>
            <a:ln>
              <a:noFill/>
            </a:ln>
          </p:spPr>
          <p:txBody>
            <a:bodyPr wrap="none" lIns="0" tIns="0" rIns="0" bIns="0" anchor="t" anchorCtr="0">
              <a:spAutoFit/>
            </a:bodyPr>
            <a:lstStyle/>
            <a:p>
              <a:pPr algn="l"/>
              <a:r>
                <a:rPr lang="zh-CN" sz="975" dirty="0">
                  <a:solidFill>
                    <a:srgbClr val="5B6773"/>
                  </a:solidFill>
                  <a:latin typeface="Arial"/>
                  <a:ea typeface="Microsoft YaHei"/>
                  <a:cs typeface="Arial"/>
                </a:rPr>
                <a:t>“因为采用AI对我有利，我开始更有利地解释相同的能力证据。”</a:t>
              </a:r>
            </a:p>
          </p:txBody>
        </p:sp>
        <p:sp>
          <p:nvSpPr>
            <p:cNvPr id="78" name="TextBox 78"/>
            <p:cNvSpPr txBox="1"/>
            <p:nvPr/>
          </p:nvSpPr>
          <p:spPr>
            <a:xfrm>
              <a:off x="6493192" y="5352574"/>
              <a:ext cx="1936004" cy="198120"/>
            </a:xfrm>
            <a:prstGeom prst="rect">
              <a:avLst/>
            </a:prstGeom>
            <a:noFill/>
            <a:ln>
              <a:noFill/>
            </a:ln>
          </p:spPr>
          <p:txBody>
            <a:bodyPr wrap="none" lIns="0" tIns="0" rIns="0" bIns="0" anchor="t" anchorCtr="0">
              <a:spAutoFit/>
            </a:bodyPr>
            <a:lstStyle/>
            <a:p>
              <a:pPr algn="l"/>
              <a:r>
                <a:rPr lang="zh-CN" sz="975" b="1" dirty="0">
                  <a:solidFill>
                    <a:srgbClr val="D97732"/>
                  </a:solidFill>
                  <a:latin typeface="Arial"/>
                  <a:ea typeface="Microsoft YaHei"/>
                  <a:cs typeface="Arial"/>
                </a:rPr>
                <a:t>预测：选择与能力信念同时改变</a:t>
              </a:r>
            </a:p>
          </p:txBody>
        </p:sp>
      </p:grpSp>
      <p:grpSp>
        <p:nvGrpSpPr>
          <p:cNvPr id="83" name="Group 83"/>
          <p:cNvGrpSpPr/>
          <p:nvPr/>
        </p:nvGrpSpPr>
        <p:grpSpPr>
          <a:xfrm>
            <a:off x="457200" y="5657850"/>
            <a:ext cx="11277600" cy="595312"/>
            <a:chOff x="457200" y="5657850"/>
            <a:chExt cx="11277600" cy="595312"/>
          </a:xfrm>
        </p:grpSpPr>
        <p:sp>
          <p:nvSpPr>
            <p:cNvPr id="80" name="Rectangle 80"/>
            <p:cNvSpPr/>
            <p:nvPr/>
          </p:nvSpPr>
          <p:spPr>
            <a:xfrm>
              <a:off x="457200" y="5657850"/>
              <a:ext cx="11277600" cy="571500"/>
            </a:xfrm>
            <a:prstGeom prst="rect">
              <a:avLst/>
            </a:prstGeom>
            <a:solidFill>
              <a:srgbClr val="143A5A"/>
            </a:solidFill>
            <a:ln>
              <a:noFill/>
            </a:ln>
          </p:spPr>
        </p:sp>
        <p:sp>
          <p:nvSpPr>
            <p:cNvPr id="81" name="TextBox 81"/>
            <p:cNvSpPr txBox="1"/>
            <p:nvPr/>
          </p:nvSpPr>
          <p:spPr>
            <a:xfrm>
              <a:off x="657225" y="5795962"/>
              <a:ext cx="1258205" cy="152400"/>
            </a:xfrm>
            <a:prstGeom prst="rect">
              <a:avLst/>
            </a:prstGeom>
            <a:noFill/>
            <a:ln>
              <a:noFill/>
            </a:ln>
          </p:spPr>
          <p:txBody>
            <a:bodyPr wrap="none" lIns="0" tIns="0" rIns="0" bIns="0" anchor="t" anchorCtr="0">
              <a:spAutoFit/>
            </a:bodyPr>
            <a:lstStyle/>
            <a:p>
              <a:pPr algn="l"/>
              <a:r>
                <a:rPr lang="zh-CN" sz="750" b="1" dirty="0">
                  <a:solidFill>
                    <a:srgbClr val="FFFFFF"/>
                  </a:solidFill>
                  <a:latin typeface="Arial"/>
                  <a:ea typeface="Microsoft YaHei"/>
                  <a:cs typeface="Arial"/>
                </a:rPr>
                <a:t>THEORETICAL DISTINCTION</a:t>
              </a:r>
            </a:p>
          </p:txBody>
        </p:sp>
        <p:sp>
          <p:nvSpPr>
            <p:cNvPr id="82" name="TextBox 82"/>
            <p:cNvSpPr txBox="1"/>
            <p:nvPr/>
          </p:nvSpPr>
          <p:spPr>
            <a:xfrm>
              <a:off x="649605" y="5978842"/>
              <a:ext cx="7188834" cy="274320"/>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a:ea typeface="Microsoft YaHei"/>
                  <a:cs typeface="Arial"/>
                </a:rPr>
                <a:t>同样的AI依赖增长，可能是信念不变的收益响应，也可能是收益诱发的能力信念扭曲。</a:t>
              </a:r>
            </a:p>
          </p:txBody>
        </p:sp>
      </p:grpSp>
      <p:grpSp>
        <p:nvGrpSpPr>
          <p:cNvPr id="86" name="Group 86"/>
          <p:cNvGrpSpPr/>
          <p:nvPr/>
        </p:nvGrpSpPr>
        <p:grpSpPr>
          <a:xfrm>
            <a:off x="447675" y="6424612"/>
            <a:ext cx="11296650" cy="152400"/>
            <a:chOff x="447675" y="6424612"/>
            <a:chExt cx="11296650" cy="152400"/>
          </a:xfrm>
        </p:grpSpPr>
        <p:sp>
          <p:nvSpPr>
            <p:cNvPr id="84" name="TextBox 84"/>
            <p:cNvSpPr txBox="1"/>
            <p:nvPr/>
          </p:nvSpPr>
          <p:spPr>
            <a:xfrm>
              <a:off x="447675" y="6424612"/>
              <a:ext cx="4709636" cy="152400"/>
            </a:xfrm>
            <a:prstGeom prst="rect">
              <a:avLst/>
            </a:prstGeom>
            <a:noFill/>
            <a:ln>
              <a:noFill/>
            </a:ln>
          </p:spPr>
          <p:txBody>
            <a:bodyPr wrap="none" lIns="0" tIns="0" rIns="0" bIns="0" anchor="t" anchorCtr="0">
              <a:spAutoFit/>
            </a:bodyPr>
            <a:lstStyle/>
            <a:p>
              <a:pPr algn="l"/>
              <a:r>
                <a:rPr lang="zh-CN" sz="750" dirty="0">
                  <a:solidFill>
                    <a:srgbClr val="7B8794"/>
                  </a:solidFill>
                  <a:latin typeface="Arial"/>
                  <a:ea typeface="Microsoft YaHei"/>
                  <a:cs typeface="Arial"/>
                </a:rPr>
                <a:t>Baker (1992); Kerr (1975); Lee &amp; See (2004); Kunda (1990); Jiao (2020); Everett et al. (2026)</a:t>
              </a:r>
            </a:p>
          </p:txBody>
        </p:sp>
        <p:sp>
          <p:nvSpPr>
            <p:cNvPr id="85" name="TextBox 85"/>
            <p:cNvSpPr txBox="1"/>
            <p:nvPr/>
          </p:nvSpPr>
          <p:spPr>
            <a:xfrm>
              <a:off x="10240089" y="6424612"/>
              <a:ext cx="1504236" cy="152400"/>
            </a:xfrm>
            <a:prstGeom prst="rect">
              <a:avLst/>
            </a:prstGeom>
            <a:noFill/>
            <a:ln>
              <a:noFill/>
            </a:ln>
          </p:spPr>
          <p:txBody>
            <a:bodyPr wrap="none" lIns="0" tIns="0" rIns="0" bIns="0" anchor="t" anchorCtr="0">
              <a:spAutoFit/>
            </a:bodyPr>
            <a:lstStyle/>
            <a:p>
              <a:pPr algn="r"/>
              <a:r>
                <a:rPr lang="zh-CN" sz="750" dirty="0">
                  <a:solidFill>
                    <a:srgbClr val="7B8794"/>
                  </a:solidFill>
                  <a:latin typeface="Arial"/>
                  <a:ea typeface="Microsoft YaHei"/>
                  <a:cs typeface="Arial"/>
                </a:rPr>
                <a:t>AI Trust × Management Control</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400"/>
                                        <p:tgtEl>
                                          <p:spTgt spid="36"/>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41"/>
                                        </p:tgtEl>
                                        <p:attrNameLst>
                                          <p:attrName>style.visibility</p:attrName>
                                        </p:attrNameLst>
                                      </p:cBhvr>
                                      <p:to>
                                        <p:strVal val="visible"/>
                                      </p:to>
                                    </p:set>
                                    <p:animEffect transition="in" filter="wipe(left)">
                                      <p:cBhvr>
                                        <p:cTn id="11" dur="400"/>
                                        <p:tgtEl>
                                          <p:spTgt spid="41"/>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79"/>
                                        </p:tgtEl>
                                        <p:attrNameLst>
                                          <p:attrName>style.visibility</p:attrName>
                                        </p:attrNameLst>
                                      </p:cBhvr>
                                      <p:to>
                                        <p:strVal val="visible"/>
                                      </p:to>
                                    </p:set>
                                    <p:animEffect transition="in" filter="slide(fromBottom)">
                                      <p:cBhvr>
                                        <p:cTn id="15" dur="400"/>
                                        <p:tgtEl>
                                          <p:spTgt spid="79"/>
                                        </p:tgtEl>
                                      </p:cBhvr>
                                    </p:animEffect>
                                  </p:childTnLst>
                                </p:cTn>
                              </p:par>
                            </p:childTnLst>
                          </p:cTn>
                        </p:par>
                        <p:par>
                          <p:cTn id="16" fill="hold">
                            <p:stCondLst>
                              <p:cond delay="2700"/>
                            </p:stCondLst>
                            <p:childTnLst>
                              <p:par>
                                <p:cTn id="17" presetID="10" presetClass="entr" presetSubtype="0" fill="hold" nodeType="afterEffect">
                                  <p:stCondLst>
                                    <p:cond delay="0"/>
                                  </p:stCondLst>
                                  <p:childTnLst>
                                    <p:set>
                                      <p:cBhvr>
                                        <p:cTn id="18" dur="1" fill="hold">
                                          <p:stCondLst>
                                            <p:cond delay="0"/>
                                          </p:stCondLst>
                                        </p:cTn>
                                        <p:tgtEl>
                                          <p:spTgt spid="83"/>
                                        </p:tgtEl>
                                        <p:attrNameLst>
                                          <p:attrName>style.visibility</p:attrName>
                                        </p:attrNameLst>
                                      </p:cBhvr>
                                      <p:to>
                                        <p:strVal val="visible"/>
                                      </p:to>
                                    </p:set>
                                    <p:animEffect transition="in" filter="fade">
                                      <p:cBhvr>
                                        <p:cTn id="19" dur="400"/>
                                        <p:tgtEl>
                                          <p:spTgt spid="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41" grpId="0"/>
      <p:bldP spid="79" grpId="0"/>
      <p:bldP spid="83"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2026-08-05T09:12:01Z</dcterms:created>
  <dcterms:modified xsi:type="dcterms:W3CDTF">2026-08-05T09:12:01Z</dcterms:modified>
  <cp:category/>
  <cp:contentStatus/>
</cp:coreProperties>
</file>