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cff366dbb34fdd" /><Relationship Type="http://schemas.openxmlformats.org/officeDocument/2006/relationships/extended-properties" Target="/docProps/app.xml" Id="R0478bf750e4b424e" /><Relationship Type="http://schemas.openxmlformats.org/officeDocument/2006/relationships/officeDocument" Target="/ppt/presentation.xml" Id="Rc77588b5c58f49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5e99479dfb4e08"/>
  </p:sldMasterIdLst>
  <p:notesMasterIdLst>
    <p:notesMasterId xmlns:r="http://schemas.openxmlformats.org/officeDocument/2006/relationships" r:id="R651193e68bc94565"/>
  </p:notesMasterIdLst>
  <p:sldIdLst>
    <p:sldId xmlns:r="http://schemas.openxmlformats.org/officeDocument/2006/relationships" id="256" r:id="Rf96206eb9a964b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3e09ab5bb44fa5" /><Relationship Type="http://schemas.openxmlformats.org/officeDocument/2006/relationships/slideMaster" Target="/ppt/slideMasters/slideMaster1.xml" Id="R105e99479dfb4e08" /><Relationship Type="http://schemas.openxmlformats.org/officeDocument/2006/relationships/notesMaster" Target="/ppt/notesMasters/notesMaster1.xml" Id="R651193e68bc94565" /><Relationship Type="http://schemas.openxmlformats.org/officeDocument/2006/relationships/presProps" Target="/ppt/presProps.xml" Id="Rd9526db44d91430b" /><Relationship Type="http://schemas.openxmlformats.org/officeDocument/2006/relationships/tableStyles" Target="/ppt/tableStyles.xml" Id="R68610074f4414d35" /><Relationship Type="http://schemas.openxmlformats.org/officeDocument/2006/relationships/slide" Target="/ppt/slides/slide1.xml" Id="Rf96206eb9a964b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4dd30de60d47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d042f19d2a4e8c" /><Relationship Type="http://schemas.openxmlformats.org/officeDocument/2006/relationships/notesMaster" Target="/ppt/notesMasters/notesMaster1.xml" Id="Ra6970a3060dc47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Everett, J. A. C., Claessens, S., Knöchel, T.-D., &amp; Reinecke, M. G. (2026). Principles for understanding trust in artificial intelligence. Nature Reviews Psychology, 5, 388–401. https://doi.org/10.1038/s44159-026-00562-1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549568216642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38230c828d4717" /><Relationship Type="http://schemas.openxmlformats.org/officeDocument/2006/relationships/slideLayout" Target="/ppt/slideLayouts/slideLayout1.xml" Id="Ra5ca14adc4a44a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ca14adc4a44a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c4703853f450a" /><Relationship Type="http://schemas.openxmlformats.org/officeDocument/2006/relationships/notesSlide" Target="/ppt/notesSlides/notesSlide1.xml" Id="Rff764051abb247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2F58C780-3EE2-4830-99CB-6879C39E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MAIN MODEL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A88E15-71BA-4E84-85C1-7F6BBF63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28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Do incentives affect trusting behaviour differently by AI capability?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7CA735F-D57E-49F2-982B-98CAC3F8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95375"/>
            <a:ext cx="1128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F6B7A"/>
                </a:solidFill>
                <a:latin typeface="Arial"/>
                <a:ea typeface="Arial"/>
                <a:cs typeface="Arial"/>
              </a:rPr>
              <a:t>Primary outcome: adoption of AI advice after the incentive is removed</a:t>
            </a:r>
          </a:p>
        </p:txBody>
      </p:sp>
      <p:sp>
        <p:nvSpPr>
          <p:cNvPr id="4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7A4FD6AE-CAF0-4630-A6EC-2A64971A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1430">
            <a:solidFill>
              <a:srgbClr val="6DCBF4"/>
            </a:solidFill>
            <a:prstDash val="solid"/>
          </a:ln>
        </p:spPr>
      </p:sp>
      <p:sp>
        <p:nvSpPr>
          <p:cNvPr id="5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A0A4526B-BAEE-4F5A-A065-4AF07558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LOGISTIC MIXED MODEL</a:t>
            </a:r>
          </a:p>
        </p:txBody>
      </p:sp>
      <p:sp>
        <p:nvSpPr>
          <p:cNvPr id="6" name="formula-line-1">
            <a:extLst xmlns:a="http://schemas.openxmlformats.org/drawingml/2006/main">
              <a:ext uri="{FF2B5EF4-FFF2-40B4-BE49-F238E27FC236}">
                <a16:creationId xmlns:a16="http://schemas.microsoft.com/office/drawing/2014/main" id="{DCDEDC06-0AE6-4161-8E84-CE09E74B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Pr(Aᵖᵒˢᵗᵢₜ = 1) = logit⁻¹ [ β₀ + β₁Fᵢ + β₂Bᵢ + β₃Qᵢ</a:t>
            </a:r>
          </a:p>
        </p:txBody>
      </p:sp>
      <p:sp>
        <p:nvSpPr>
          <p:cNvPr id="7" name="formula-line-2">
            <a:extLst xmlns:a="http://schemas.openxmlformats.org/drawingml/2006/main">
              <a:ext uri="{FF2B5EF4-FFF2-40B4-BE49-F238E27FC236}">
                <a16:creationId xmlns:a16="http://schemas.microsoft.com/office/drawing/2014/main" id="{AF55A571-DD11-4864-9E9F-F7C6F87D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+ β₄(Fᵢ × Qᵢ) + β₅(Bᵢ × Qᵢ) + β₆Aᵖʳᵉᵢ + uᵢ ]</a:t>
            </a:r>
          </a:p>
        </p:txBody>
      </p:sp>
      <p:sp>
        <p:nvSpPr>
          <p:cNvPr id="8" name="Economic incentive — IV1-card">
            <a:extLst xmlns:a="http://schemas.openxmlformats.org/drawingml/2006/main">
              <a:ext uri="{FF2B5EF4-FFF2-40B4-BE49-F238E27FC236}">
                <a16:creationId xmlns:a16="http://schemas.microsoft.com/office/drawing/2014/main" id="{5D1DB747-C8F5-4B75-83AB-4237D625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356235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3E8"/>
            </a:solidFill>
            <a:prstDash val="solid"/>
          </a:ln>
        </p:spPr>
      </p:sp>
      <p:sp>
        <p:nvSpPr>
          <p:cNvPr id="9" name="Economic incentive — IV1-accent">
            <a:extLst xmlns:a="http://schemas.openxmlformats.org/drawingml/2006/main">
              <a:ext uri="{FF2B5EF4-FFF2-40B4-BE49-F238E27FC236}">
                <a16:creationId xmlns:a16="http://schemas.microsoft.com/office/drawing/2014/main" id="{B66D81A4-2BD5-48CB-83AE-41D67CD9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Economic incentive — IV1-title">
            <a:extLst xmlns:a="http://schemas.openxmlformats.org/drawingml/2006/main">
              <a:ext uri="{FF2B5EF4-FFF2-40B4-BE49-F238E27FC236}">
                <a16:creationId xmlns:a16="http://schemas.microsoft.com/office/drawing/2014/main" id="{2AA703A7-355D-4FC4-87F1-372EDCFE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Economic incentive — IV1</a:t>
            </a:r>
          </a:p>
        </p:txBody>
      </p:sp>
      <p:sp>
        <p:nvSpPr>
          <p:cNvPr id="11" name="Economic incentive — IV1-body">
            <a:extLst xmlns:a="http://schemas.openxmlformats.org/drawingml/2006/main">
              <a:ext uri="{FF2B5EF4-FFF2-40B4-BE49-F238E27FC236}">
                <a16:creationId xmlns:a16="http://schemas.microsoft.com/office/drawing/2014/main" id="{FE9919FD-0E22-43E7-A7B8-10FBC4BE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30289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1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Fᵢ = 1: full reimbursement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Bᵢ = 1: reimbursement + bonus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Reference: participant charge (Fᵢ = Bᵢ = 0)</a:t>
            </a:r>
          </a:p>
        </p:txBody>
      </p:sp>
      <p:sp>
        <p:nvSpPr>
          <p:cNvPr id="12" name="Actual AI capability — IV2-card">
            <a:extLst xmlns:a="http://schemas.openxmlformats.org/drawingml/2006/main">
              <a:ext uri="{FF2B5EF4-FFF2-40B4-BE49-F238E27FC236}">
                <a16:creationId xmlns:a16="http://schemas.microsoft.com/office/drawing/2014/main" id="{0BCDB759-6836-4BAE-88FC-05FF3FC9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81375"/>
            <a:ext cx="356235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3E8"/>
            </a:solidFill>
            <a:prstDash val="solid"/>
          </a:ln>
        </p:spPr>
      </p:sp>
      <p:sp>
        <p:nvSpPr>
          <p:cNvPr id="13" name="Actual AI capability — IV2-accent">
            <a:extLst xmlns:a="http://schemas.openxmlformats.org/drawingml/2006/main">
              <a:ext uri="{FF2B5EF4-FFF2-40B4-BE49-F238E27FC236}">
                <a16:creationId xmlns:a16="http://schemas.microsoft.com/office/drawing/2014/main" id="{6D880F4F-9C5E-40C5-87CC-F950EC50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81375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4" name="Actual AI capability — IV2-title">
            <a:extLst xmlns:a="http://schemas.openxmlformats.org/drawingml/2006/main">
              <a:ext uri="{FF2B5EF4-FFF2-40B4-BE49-F238E27FC236}">
                <a16:creationId xmlns:a16="http://schemas.microsoft.com/office/drawing/2014/main" id="{2A1B6AAE-5723-421D-ADCA-F13E73A1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6290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Actual AI capability — IV2</a:t>
            </a:r>
          </a:p>
        </p:txBody>
      </p:sp>
      <p:sp>
        <p:nvSpPr>
          <p:cNvPr id="15" name="Actual AI capability — IV2-body">
            <a:extLst xmlns:a="http://schemas.openxmlformats.org/drawingml/2006/main">
              <a:ext uri="{FF2B5EF4-FFF2-40B4-BE49-F238E27FC236}">
                <a16:creationId xmlns:a16="http://schemas.microsoft.com/office/drawing/2014/main" id="{DF8D71B9-1AE5-4C3C-9B78-9C9B74F5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095750"/>
            <a:ext cx="30289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621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Qᵢ = 1: high-capability 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Qᵢ = 0: low-capability 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Capability is defined by objective task-specific accuracy.</a:t>
            </a:r>
          </a:p>
        </p:txBody>
      </p:sp>
      <p:sp>
        <p:nvSpPr>
          <p:cNvPr id="16" name="Trusting behaviour — DV-card">
            <a:extLst xmlns:a="http://schemas.openxmlformats.org/drawingml/2006/main">
              <a:ext uri="{FF2B5EF4-FFF2-40B4-BE49-F238E27FC236}">
                <a16:creationId xmlns:a16="http://schemas.microsoft.com/office/drawing/2014/main" id="{1C65EB76-5E38-4F30-B0D6-8BD27517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81375"/>
            <a:ext cx="356235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3E8"/>
            </a:solidFill>
            <a:prstDash val="solid"/>
          </a:ln>
        </p:spPr>
      </p:sp>
      <p:sp>
        <p:nvSpPr>
          <p:cNvPr id="17" name="Trusting behaviour — DV-accent">
            <a:extLst xmlns:a="http://schemas.openxmlformats.org/drawingml/2006/main">
              <a:ext uri="{FF2B5EF4-FFF2-40B4-BE49-F238E27FC236}">
                <a16:creationId xmlns:a16="http://schemas.microsoft.com/office/drawing/2014/main" id="{A6290213-917E-4E67-9635-259A5239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81375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Trusting behaviour — DV-title">
            <a:extLst xmlns:a="http://schemas.openxmlformats.org/drawingml/2006/main">
              <a:ext uri="{FF2B5EF4-FFF2-40B4-BE49-F238E27FC236}">
                <a16:creationId xmlns:a16="http://schemas.microsoft.com/office/drawing/2014/main" id="{E7D7FE53-7C5E-486B-B6E8-C638F84C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290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Trusting behaviour — DV</a:t>
            </a:r>
          </a:p>
        </p:txBody>
      </p:sp>
      <p:sp>
        <p:nvSpPr>
          <p:cNvPr id="19" name="Trusting behaviour — DV-body">
            <a:extLst xmlns:a="http://schemas.openxmlformats.org/drawingml/2006/main">
              <a:ext uri="{FF2B5EF4-FFF2-40B4-BE49-F238E27FC236}">
                <a16:creationId xmlns:a16="http://schemas.microsoft.com/office/drawing/2014/main" id="{0EC5E123-58FC-4F55-A83C-C846FC91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95750"/>
            <a:ext cx="30289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621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Aᵖᵒˢᵗᵢₜ: whether participant i adopts AI advice on post-incentive trial 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Aᵖʳᵉᵢ: baseline adoption rate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uᵢ: participant random intercept</a:t>
            </a:r>
          </a:p>
        </p:txBody>
      </p:sp>
      <p:sp>
        <p:nvSpPr>
          <p:cNvPr id="20" name="key-test-band">
            <a:extLst xmlns:a="http://schemas.openxmlformats.org/drawingml/2006/main">
              <a:ext uri="{FF2B5EF4-FFF2-40B4-BE49-F238E27FC236}">
                <a16:creationId xmlns:a16="http://schemas.microsoft.com/office/drawing/2014/main" id="{D00E29BE-AC6E-4A60-BA43-163D54AE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3C66B"/>
            </a:solidFill>
            <a:prstDash val="solid"/>
          </a:ln>
        </p:spPr>
      </p:sp>
      <p:sp>
        <p:nvSpPr>
          <p:cNvPr id="21" name="key-test">
            <a:extLst xmlns:a="http://schemas.openxmlformats.org/drawingml/2006/main">
              <a:ext uri="{FF2B5EF4-FFF2-40B4-BE49-F238E27FC236}">
                <a16:creationId xmlns:a16="http://schemas.microsoft.com/office/drawing/2014/main" id="{0747A150-9FAB-4F98-AFA9-F155B24C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91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KEY TEST  β₄ and β₅ indicate whether prior incentives change how strongly adoption responds to actual AI capability.</a:t>
            </a:r>
          </a:p>
        </p:txBody>
      </p:sp>
      <p:sp>
        <p:nvSpPr>
          <p:cNvPr id="22" name="diagnostic-note">
            <a:extLst xmlns:a="http://schemas.openxmlformats.org/drawingml/2006/main">
              <a:ext uri="{FF2B5EF4-FFF2-40B4-BE49-F238E27FC236}">
                <a16:creationId xmlns:a16="http://schemas.microsoft.com/office/drawing/2014/main" id="{460900F8-247F-4897-9137-1A09F6C9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76950"/>
            <a:ext cx="1091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F6B7A"/>
                </a:solidFill>
                <a:latin typeface="Arial"/>
                <a:ea typeface="Arial"/>
                <a:cs typeface="Arial"/>
              </a:rPr>
              <a:t>Performance trust (Tᵢ) and perceived trustworthiness (q̂ᵢ) are diagnostic measures—not co-primary dependent variables.</a:t>
            </a:r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AD906AE4-130B-4623-A823-C47F6A7D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777777"/>
                </a:solidFill>
                <a:latin typeface="Arial"/>
                <a:ea typeface="Arial"/>
                <a:cs typeface="Arial"/>
              </a:rPr>
              <a:t>Source: Everett et al. (2026), Nature Reviews Psychology, 5, 388–401.</a:t>
            </a:r>
          </a:p>
        </p:txBody>
      </p:sp>
      <p:sp>
        <p:nvSpPr>
          <p:cNvPr id="2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00426E4-7126-4782-B033-CBE95E07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F6B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661115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2026-08-04T09:40:57.2720000Z</dcterms:created>
  <dcterms:modified xsi:type="dcterms:W3CDTF">2026-08-04T09:40:57.2720000Z</dcterms:modified>
</coreProperties>
</file>