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chapter examines how economic incentives for AI use may alter trust calibration. The presentation moves from the real-world tension to the theoretical conflict, hypotheses, experimental design, model, and expected contribution.</a:t>
            </a:r>
            <a:endParaRPr lang="zh-CN" dirty="0"/>
          </a:p>
          <a:p>
            <a:endParaRPr lang="zh-CN" dirty="0"/>
          </a:p>
          <a:p>
            <a:r>
              <a:rPr lang="zh-CN" dirty="0"/>
              <a:t>[Sources]</a:t>
            </a:r>
            <a:endParaRPr lang="zh-CN" dirty="0"/>
          </a:p>
          <a:p>
            <a:r>
              <a:rPr lang="zh-CN" dirty="0"/>
              <a:t>• User-provided source deck: F:\第二章节 偏差形成机制的探究.pptx</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Organizations increasingly use economic incentives to encourage employees and users to adopt AI. These incentives can increase use while also weakening the informational link between actual AI capability and observed reliance.</a:t>
            </a:r>
            <a:endParaRPr lang="zh-CN" dirty="0"/>
          </a:p>
          <a:p>
            <a:endParaRPr lang="zh-CN" dirty="0"/>
          </a:p>
          <a:p>
            <a:r>
              <a:rPr lang="zh-CN" dirty="0"/>
              <a:t>[Sources]</a:t>
            </a:r>
            <a:endParaRPr lang="zh-CN" dirty="0"/>
          </a:p>
          <a:p>
            <a:r>
              <a:rPr lang="zh-CN" dirty="0"/>
              <a:t>• User-provided source deck, slide 2.</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four cases show that AI-use incentives can take several economic forms, including subsidies, reimbursements, bonuses, and performance-linked rewards. The empirical tension is that more adoption does not by itself reveal whether users believe the AI is more capable.</a:t>
            </a:r>
            <a:endParaRPr lang="zh-CN" dirty="0"/>
          </a:p>
          <a:p>
            <a:endParaRPr lang="zh-CN" dirty="0"/>
          </a:p>
          <a:p>
            <a:r>
              <a:rPr lang="zh-CN" dirty="0"/>
              <a:t>[Sources]</a:t>
            </a:r>
            <a:endParaRPr lang="zh-CN" dirty="0"/>
          </a:p>
          <a:p>
            <a:r>
              <a:rPr lang="zh-CN" dirty="0"/>
              <a:t>• User-provided source deck, slide 2.</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separates actual trustworthiness, perceived trustworthiness, attitudinal trust, performance trust, and adoption behaviour. The distinction is essential because adoption under an incentive may be a payoff response rather than evidence of trust.</a:t>
            </a:r>
            <a:endParaRPr lang="zh-CN" dirty="0"/>
          </a:p>
          <a:p>
            <a:endParaRPr lang="zh-CN" dirty="0"/>
          </a:p>
          <a:p>
            <a:r>
              <a:rPr lang="zh-CN" dirty="0"/>
              <a:t>[Sources]</a:t>
            </a:r>
            <a:endParaRPr lang="zh-CN" dirty="0"/>
          </a:p>
          <a:p>
            <a:r>
              <a:rPr lang="zh-CN" dirty="0"/>
              <a:t>• User-provided source deck, slide 3.</a:t>
            </a:r>
            <a:endParaRPr lang="zh-CN" dirty="0"/>
          </a:p>
          <a:p>
            <a:r>
              <a:rPr lang="zh-CN" dirty="0"/>
              <a:t>• Terminology specification: E:\Info_AI\主Agent\文章项目\02_AI授权_EWA\第二篇_AI信任与经济激励_术语规范_2026-08-06.md</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Greiner and coauthors provide the theoretical entry point by asking how performance pay changes behaviour when the rewarded measure is imperfectly aligned with the underlying objective. The present study transfers this tension to AI-use incentives without treating adoption as trust by default.</a:t>
            </a:r>
            <a:endParaRPr lang="zh-CN" dirty="0"/>
          </a:p>
          <a:p>
            <a:endParaRPr lang="zh-CN" dirty="0"/>
          </a:p>
          <a:p>
            <a:r>
              <a:rPr lang="zh-CN" dirty="0"/>
              <a:t>[Sources]</a:t>
            </a:r>
            <a:endParaRPr lang="zh-CN" dirty="0"/>
          </a:p>
          <a:p>
            <a:r>
              <a:rPr lang="zh-CN" dirty="0"/>
              <a:t>• User-provided source deck, slide 4.</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Incentive contracting predicts that behaviour responds to the rewarded measure, while the trust-calibration framework evaluates whether reliance is aligned with actual AI trustworthiness. Their combination creates the first conflict: the same observed adoption may reflect either capability-based reliance or a rational payoff response.</a:t>
            </a:r>
            <a:endParaRPr lang="zh-CN" dirty="0"/>
          </a:p>
          <a:p>
            <a:endParaRPr lang="zh-CN" dirty="0"/>
          </a:p>
          <a:p>
            <a:r>
              <a:rPr lang="zh-CN" dirty="0"/>
              <a:t>[Sources]</a:t>
            </a:r>
            <a:endParaRPr lang="zh-CN" dirty="0"/>
          </a:p>
          <a:p>
            <a:r>
              <a:rPr lang="zh-CN" dirty="0"/>
              <a:t>• User-provided source deck, slide 5.</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Under a Bayesian expected-utility benchmark, an incentive should not change beliefs about AI accuracy when it contains no new capability information. A competing performance-learning pathway predicts that repeated choices and feedback may nevertheless shift perceived trustworthiness.</a:t>
            </a:r>
            <a:endParaRPr lang="zh-CN" dirty="0"/>
          </a:p>
          <a:p>
            <a:endParaRPr lang="zh-CN" dirty="0"/>
          </a:p>
          <a:p>
            <a:r>
              <a:rPr lang="zh-CN" dirty="0"/>
              <a:t>[Sources]</a:t>
            </a:r>
            <a:endParaRPr lang="zh-CN" dirty="0"/>
          </a:p>
          <a:p>
            <a:r>
              <a:rPr lang="zh-CN" dirty="0"/>
              <a:t>• User-provided source deck, slide 5.</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core question asks whether AI-use incentives cause trust in AI to deviate. The displayed definition and notation are preserved from the source deck, while the accompanying definitions clarify how each quantity is operationalized.</a:t>
            </a:r>
            <a:endParaRPr lang="zh-CN" dirty="0"/>
          </a:p>
          <a:p>
            <a:endParaRPr lang="zh-CN" dirty="0"/>
          </a:p>
          <a:p>
            <a:r>
              <a:rPr lang="zh-CN" dirty="0"/>
              <a:t>[Sources]</a:t>
            </a:r>
            <a:endParaRPr lang="zh-CN" dirty="0"/>
          </a:p>
          <a:p>
            <a:r>
              <a:rPr lang="zh-CN" dirty="0"/>
              <a:t>• User-provided source deck, slide 6.</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H1 predicts that stronger AI-use incentives may increase trusting behaviour beyond the level supported by actual trustworthiness. H2 focuses on initially underestimated AI and predicts a reduction in the perception gap.</a:t>
            </a:r>
            <a:endParaRPr lang="zh-CN" dirty="0"/>
          </a:p>
          <a:p>
            <a:endParaRPr lang="zh-CN" dirty="0"/>
          </a:p>
          <a:p>
            <a:r>
              <a:rPr lang="zh-CN" dirty="0"/>
              <a:t>[Sources]</a:t>
            </a:r>
            <a:endParaRPr lang="zh-CN" dirty="0"/>
          </a:p>
          <a:p>
            <a:r>
              <a:rPr lang="zh-CN" dirty="0"/>
              <a:t>• User-provided source deck, slide 7.</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H3 addresses users who initially overestimate AI trustworthiness and predicts that stronger incentives widen the gap. H4 predicts that this positive effect on trust deviation is stronger when actual trustworthiness is lower.</a:t>
            </a:r>
            <a:endParaRPr lang="zh-CN" dirty="0"/>
          </a:p>
          <a:p>
            <a:endParaRPr lang="zh-CN" dirty="0"/>
          </a:p>
          <a:p>
            <a:r>
              <a:rPr lang="zh-CN" dirty="0"/>
              <a:t>[Sources]</a:t>
            </a:r>
            <a:endParaRPr lang="zh-CN" dirty="0"/>
          </a:p>
          <a:p>
            <a:r>
              <a:rPr lang="zh-CN" dirty="0"/>
              <a:t>• User-provided source deck, slide 7.</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Each round separates independent judgment, exposure to AI advice, probability assessment, and the final choice. Outcome feedback then reveals the true result and the correctness of both the participant's initial judgment and the AI advice.</a:t>
            </a:r>
            <a:endParaRPr lang="zh-CN" dirty="0"/>
          </a:p>
          <a:p>
            <a:endParaRPr lang="zh-CN" dirty="0"/>
          </a:p>
          <a:p>
            <a:r>
              <a:rPr lang="zh-CN" dirty="0"/>
              <a:t>[Sources]</a:t>
            </a:r>
            <a:endParaRPr lang="zh-CN" dirty="0"/>
          </a:p>
          <a:p>
            <a:r>
              <a:rPr lang="zh-CN" dirty="0"/>
              <a:t>• User-provided source deck, slide 8.</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design holds experimental questions, advice sequences, and error positions constant while varying AI capability and the economic-incentive mechanism. Payment is decomposed into common base performance pay and a separately settled adoption deduction, reimbursement, or bonus.</a:t>
            </a:r>
            <a:endParaRPr lang="zh-CN" dirty="0"/>
          </a:p>
          <a:p>
            <a:endParaRPr lang="zh-CN" dirty="0"/>
          </a:p>
          <a:p>
            <a:r>
              <a:rPr lang="zh-CN" dirty="0"/>
              <a:t>[Sources]</a:t>
            </a:r>
            <a:endParaRPr lang="zh-CN" dirty="0"/>
          </a:p>
          <a:p>
            <a:r>
              <a:rPr lang="zh-CN" dirty="0"/>
              <a:t>• User-provided source deck, slide 8.</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variable table defines the constructs attached to actual accuracy, estimated accuracy, attitudinal trust, and cognitive trust. Feedback observation alone is not labeled cognitive trust unless the measure captures a trust judgment formed from capability evidence.</a:t>
            </a:r>
            <a:endParaRPr lang="zh-CN" dirty="0"/>
          </a:p>
          <a:p>
            <a:endParaRPr lang="zh-CN" dirty="0"/>
          </a:p>
          <a:p>
            <a:r>
              <a:rPr lang="zh-CN" dirty="0"/>
              <a:t>[Sources]</a:t>
            </a:r>
            <a:endParaRPr lang="zh-CN" dirty="0"/>
          </a:p>
          <a:p>
            <a:r>
              <a:rPr lang="zh-CN" dirty="0"/>
              <a:t>• User-provided source deck, slide 9.</a:t>
            </a:r>
            <a:endParaRPr lang="zh-CN" dirty="0"/>
          </a:p>
          <a:p>
            <a:r>
              <a:rPr lang="zh-CN" dirty="0"/>
              <a:t>• Terminology specification: E:\Info_AI\主Agent\文章项目\02_AI授权_EWA\第二篇_AI信任与经济激励_术语规范_2026-08-06.md</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table distinguishes performance trust from adoption behaviour and defines the calibration-error measure. Adoption under reward is not automatically trusting behaviour, and the perception gap is not treated as calibrated trust itself.</a:t>
            </a:r>
            <a:endParaRPr lang="zh-CN" dirty="0"/>
          </a:p>
          <a:p>
            <a:endParaRPr lang="zh-CN" dirty="0"/>
          </a:p>
          <a:p>
            <a:r>
              <a:rPr lang="zh-CN" dirty="0"/>
              <a:t>[Sources]</a:t>
            </a:r>
            <a:endParaRPr lang="zh-CN" dirty="0"/>
          </a:p>
          <a:p>
            <a:r>
              <a:rPr lang="zh-CN" dirty="0"/>
              <a:t>• User-provided source deck, slide 9.</a:t>
            </a:r>
            <a:endParaRPr lang="zh-CN" dirty="0"/>
          </a:p>
          <a:p>
            <a:r>
              <a:rPr lang="zh-CN" dirty="0"/>
              <a:t>• Terminology specification: E:\Info_AI\主Agent\文章项目\02_AI授权_EWA\第二篇_AI信任与经济激励_术语规范_2026-08-06.md</a:t>
            </a:r>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primary dependent variable is the post-incentive gap between perceived and actual AI trustworthiness. Its sign identifies whether perceived trustworthiness lies above or below actual trustworthiness.</a:t>
            </a:r>
            <a:endParaRPr lang="zh-CN" dirty="0"/>
          </a:p>
          <a:p>
            <a:endParaRPr lang="zh-CN" dirty="0"/>
          </a:p>
          <a:p>
            <a:r>
              <a:rPr lang="zh-CN" dirty="0"/>
              <a:t>[Sources]</a:t>
            </a:r>
            <a:endParaRPr lang="zh-CN" dirty="0"/>
          </a:p>
          <a:p>
            <a:r>
              <a:rPr lang="zh-CN" dirty="0"/>
              <a:t>• User-provided source deck, slide 10.</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main model estimates persistence in the pre-incentive gap, the incentive effect, the actual-trustworthiness effect, and their interaction. Because the incentive has three levels, the relevant main and interaction effects are represented by two comparison coefficients each.</a:t>
            </a:r>
            <a:endParaRPr lang="zh-CN" dirty="0"/>
          </a:p>
          <a:p>
            <a:endParaRPr lang="zh-CN" dirty="0"/>
          </a:p>
          <a:p>
            <a:r>
              <a:rPr lang="zh-CN" dirty="0"/>
              <a:t>[Sources]</a:t>
            </a:r>
            <a:endParaRPr lang="zh-CN" dirty="0"/>
          </a:p>
          <a:p>
            <a:r>
              <a:rPr lang="zh-CN" dirty="0"/>
              <a:t>• User-provided source deck, slide 11.</a:t>
            </a:r>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model tests heterogeneity by actual AI trustworthiness, initial overestimation or underestimation, and their joint interaction with incentive level. Attitudinal trust, performance trust, and adoption behaviour remain auxiliary outcomes and do not enter the calibration-gap calculation.</a:t>
            </a:r>
            <a:endParaRPr lang="zh-CN" dirty="0"/>
          </a:p>
          <a:p>
            <a:endParaRPr lang="zh-CN" dirty="0"/>
          </a:p>
          <a:p>
            <a:r>
              <a:rPr lang="zh-CN" dirty="0"/>
              <a:t>[Sources]</a:t>
            </a:r>
            <a:endParaRPr lang="zh-CN" dirty="0"/>
          </a:p>
          <a:p>
            <a:r>
              <a:rPr lang="zh-CN" dirty="0"/>
              <a:t>• User-provided source deck, slide 11.</a:t>
            </a:r>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expected contribution is to distinguish three explanations for adoption changes: rational payoff responses, capability-judgment shifts, and choices that diverge from participants' own beliefs. This extends research that has mainly treated adoption, purchase, search, or future willingness to pay as outcomes.</a:t>
            </a:r>
            <a:endParaRPr lang="zh-CN" dirty="0"/>
          </a:p>
          <a:p>
            <a:endParaRPr lang="zh-CN" dirty="0"/>
          </a:p>
          <a:p>
            <a:r>
              <a:rPr lang="zh-CN" dirty="0"/>
              <a:t>[Sources]</a:t>
            </a:r>
            <a:endParaRPr lang="zh-CN" dirty="0"/>
          </a:p>
          <a:p>
            <a:r>
              <a:rPr lang="zh-CN" dirty="0"/>
              <a:t>• User-provided source deck, slide 12.</a:t>
            </a:r>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expected contribution is to distinguish three explanations for adoption changes: rational payoff responses, capability-judgment shifts, and choices that diverge from participants' own beliefs. This extends research that has mainly treated adoption, purchase, search, or future willingness to pay as outcomes.</a:t>
            </a:r>
            <a:endParaRPr lang="zh-CN" dirty="0"/>
          </a:p>
          <a:p>
            <a:endParaRPr lang="zh-CN" dirty="0"/>
          </a:p>
          <a:p>
            <a:r>
              <a:rPr lang="zh-CN" dirty="0"/>
              <a:t>[Sources]</a:t>
            </a:r>
            <a:endParaRPr lang="zh-CN" dirty="0"/>
          </a:p>
          <a:p>
            <a:r>
              <a:rPr lang="zh-CN" dirty="0"/>
              <a:t>• User-provided source deck, slide 12.</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33400" y="1066800"/>
            <a:ext cx="914400" cy="4000500"/>
            <a:chOff x="533400" y="1066800"/>
            <a:chExt cx="914400" cy="4000500"/>
          </a:xfrm>
        </p:grpSpPr>
        <p:sp>
          <p:nvSpPr>
            <p:cNvPr id="3" name="Rectangle 3"/>
            <p:cNvSpPr/>
            <p:nvPr/>
          </p:nvSpPr>
          <p:spPr>
            <a:xfrm>
              <a:off x="533400" y="1066800"/>
              <a:ext cx="57150" cy="4000500"/>
            </a:xfrm>
            <a:prstGeom prst="rect">
              <a:avLst/>
            </a:prstGeom>
            <a:solidFill>
              <a:srgbClr val="173B57"/>
            </a:solidFill>
            <a:ln>
              <a:noFill/>
            </a:ln>
          </p:spPr>
        </p:sp>
        <p:sp>
          <p:nvSpPr>
            <p:cNvPr id="4" name="Rectangle 4"/>
            <p:cNvSpPr/>
            <p:nvPr/>
          </p:nvSpPr>
          <p:spPr>
            <a:xfrm>
              <a:off x="590550" y="1066800"/>
              <a:ext cx="857250" cy="57150"/>
            </a:xfrm>
            <a:prstGeom prst="rect">
              <a:avLst/>
            </a:prstGeom>
            <a:solidFill>
              <a:srgbClr val="B42318"/>
            </a:solidFill>
            <a:ln>
              <a:noFill/>
            </a:ln>
          </p:spPr>
        </p:sp>
      </p:grpSp>
      <p:grpSp>
        <p:nvGrpSpPr>
          <p:cNvPr id="8" name="Group 8"/>
          <p:cNvGrpSpPr/>
          <p:nvPr/>
        </p:nvGrpSpPr>
        <p:grpSpPr>
          <a:xfrm>
            <a:off x="916305" y="1873568"/>
            <a:ext cx="8607102" cy="1607820"/>
            <a:chOff x="916305" y="1873568"/>
            <a:chExt cx="8607102" cy="1607820"/>
          </a:xfrm>
        </p:grpSpPr>
        <p:sp>
          <p:nvSpPr>
            <p:cNvPr id="6" name="TextBox 6"/>
            <p:cNvSpPr txBox="1"/>
            <p:nvPr/>
          </p:nvSpPr>
          <p:spPr>
            <a:xfrm>
              <a:off x="916305" y="1873568"/>
              <a:ext cx="8576648" cy="883920"/>
            </a:xfrm>
            <a:prstGeom prst="rect">
              <a:avLst/>
            </a:prstGeom>
            <a:noFill/>
            <a:ln>
              <a:noFill/>
            </a:ln>
          </p:spPr>
          <p:txBody>
            <a:bodyPr wrap="none" lIns="0" tIns="0" rIns="0" bIns="0" anchor="t" anchorCtr="0">
              <a:spAutoFit/>
            </a:bodyPr>
            <a:lstStyle/>
            <a:p>
              <a:pPr algn="l"/>
              <a:r>
                <a:rPr lang="zh-CN" sz="4350" b="1" dirty="0">
                  <a:solidFill>
                    <a:srgbClr val="173B57"/>
                  </a:solidFill>
                  <a:latin typeface="Segoe UI" panose="020B0502040204020203"/>
                  <a:ea typeface="微软雅黑" panose="020B0503020204020204" charset="-122"/>
                  <a:cs typeface="Segoe UI" panose="020B0502040204020203"/>
                </a:rPr>
                <a:t>Chapter 2. Investigating the</a:t>
              </a:r>
              <a:endParaRPr lang="zh-CN" sz="4350" b="1" dirty="0">
                <a:solidFill>
                  <a:srgbClr val="173B57"/>
                </a:solidFill>
                <a:latin typeface="Segoe UI" panose="020B0502040204020203"/>
                <a:ea typeface="微软雅黑" panose="020B0503020204020204" charset="-122"/>
                <a:cs typeface="Segoe UI" panose="020B0502040204020203"/>
              </a:endParaRPr>
            </a:p>
          </p:txBody>
        </p:sp>
        <p:sp>
          <p:nvSpPr>
            <p:cNvPr id="7" name="TextBox 7"/>
            <p:cNvSpPr txBox="1"/>
            <p:nvPr/>
          </p:nvSpPr>
          <p:spPr>
            <a:xfrm>
              <a:off x="916305" y="2597468"/>
              <a:ext cx="8607102" cy="883920"/>
            </a:xfrm>
            <a:prstGeom prst="rect">
              <a:avLst/>
            </a:prstGeom>
            <a:noFill/>
            <a:ln>
              <a:noFill/>
            </a:ln>
          </p:spPr>
          <p:txBody>
            <a:bodyPr wrap="none" lIns="0" tIns="0" rIns="0" bIns="0" anchor="t" anchorCtr="0">
              <a:spAutoFit/>
            </a:bodyPr>
            <a:lstStyle/>
            <a:p>
              <a:pPr algn="l"/>
              <a:r>
                <a:rPr lang="zh-CN" sz="4350" b="1" dirty="0">
                  <a:solidFill>
                    <a:srgbClr val="173B57"/>
                  </a:solidFill>
                  <a:latin typeface="Segoe UI" panose="020B0502040204020203"/>
                  <a:ea typeface="微软雅黑" panose="020B0503020204020204" charset="-122"/>
                  <a:cs typeface="Segoe UI" panose="020B0502040204020203"/>
                </a:rPr>
                <a:t>Mechanism of Bias Formation</a:t>
              </a:r>
              <a:endParaRPr lang="zh-CN" sz="4350" b="1" dirty="0">
                <a:solidFill>
                  <a:srgbClr val="173B57"/>
                </a:solidFill>
                <a:latin typeface="Segoe UI" panose="020B0502040204020203"/>
                <a:ea typeface="微软雅黑" panose="020B0503020204020204" charset="-122"/>
                <a:cs typeface="Segoe UI" panose="020B0502040204020203"/>
              </a:endParaRPr>
            </a:p>
          </p:txBody>
        </p:sp>
      </p:grpSp>
      <p:grpSp>
        <p:nvGrpSpPr>
          <p:cNvPr id="11" name="Group 11"/>
          <p:cNvGrpSpPr/>
          <p:nvPr/>
        </p:nvGrpSpPr>
        <p:grpSpPr>
          <a:xfrm>
            <a:off x="967740" y="3863340"/>
            <a:ext cx="4570285" cy="708660"/>
            <a:chOff x="967740" y="3863340"/>
            <a:chExt cx="4570285" cy="708660"/>
          </a:xfrm>
        </p:grpSpPr>
        <p:sp>
          <p:nvSpPr>
            <p:cNvPr id="9" name="TextBox 9"/>
            <p:cNvSpPr txBox="1"/>
            <p:nvPr/>
          </p:nvSpPr>
          <p:spPr>
            <a:xfrm>
              <a:off x="967740" y="3863340"/>
              <a:ext cx="4570285" cy="365760"/>
            </a:xfrm>
            <a:prstGeom prst="rect">
              <a:avLst/>
            </a:prstGeom>
            <a:noFill/>
            <a:ln>
              <a:noFill/>
            </a:ln>
          </p:spPr>
          <p:txBody>
            <a:bodyPr wrap="none" lIns="0" tIns="0" rIns="0" bIns="0" anchor="t" anchorCtr="0">
              <a:spAutoFit/>
            </a:bodyPr>
            <a:lstStyle/>
            <a:p>
              <a:pPr algn="l"/>
              <a:r>
                <a:rPr lang="zh-CN" sz="1800" dirty="0">
                  <a:solidFill>
                    <a:srgbClr val="52606D"/>
                  </a:solidFill>
                  <a:latin typeface="Segoe UI" panose="020B0502040204020203"/>
                  <a:ea typeface="微软雅黑" panose="020B0503020204020204" charset="-122"/>
                  <a:cs typeface="Segoe UI" panose="020B0502040204020203"/>
                </a:rPr>
                <a:t>Misalignment Between Human Trust and</a:t>
              </a:r>
              <a:endParaRPr lang="zh-CN" sz="1800" dirty="0">
                <a:solidFill>
                  <a:srgbClr val="52606D"/>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967740" y="4206240"/>
              <a:ext cx="3094101" cy="365760"/>
            </a:xfrm>
            <a:prstGeom prst="rect">
              <a:avLst/>
            </a:prstGeom>
            <a:noFill/>
            <a:ln>
              <a:noFill/>
            </a:ln>
          </p:spPr>
          <p:txBody>
            <a:bodyPr wrap="none" lIns="0" tIns="0" rIns="0" bIns="0" anchor="t" anchorCtr="0">
              <a:spAutoFit/>
            </a:bodyPr>
            <a:lstStyle/>
            <a:p>
              <a:pPr algn="l"/>
              <a:r>
                <a:rPr lang="zh-CN" sz="1800" dirty="0">
                  <a:solidFill>
                    <a:srgbClr val="52606D"/>
                  </a:solidFill>
                  <a:latin typeface="Segoe UI" panose="020B0502040204020203"/>
                  <a:ea typeface="微软雅黑" panose="020B0503020204020204" charset="-122"/>
                  <a:cs typeface="Segoe UI" panose="020B0502040204020203"/>
                </a:rPr>
                <a:t>Actual AI Trustworthiness</a:t>
              </a:r>
              <a:endParaRPr lang="zh-CN" sz="1800" dirty="0">
                <a:solidFill>
                  <a:srgbClr val="52606D"/>
                </a:solidFill>
                <a:latin typeface="Segoe UI" panose="020B0502040204020203"/>
                <a:ea typeface="微软雅黑" panose="020B0503020204020204" charset="-122"/>
                <a:cs typeface="Segoe UI" panose="020B0502040204020203"/>
              </a:endParaRPr>
            </a:p>
          </p:txBody>
        </p:sp>
      </p:grpSp>
      <p:sp>
        <p:nvSpPr>
          <p:cNvPr id="12" name="TextBox 12"/>
          <p:cNvSpPr txBox="1"/>
          <p:nvPr/>
        </p:nvSpPr>
        <p:spPr>
          <a:xfrm>
            <a:off x="978218" y="6085999"/>
            <a:ext cx="2189536" cy="198120"/>
          </a:xfrm>
          <a:prstGeom prst="rect">
            <a:avLst/>
          </a:prstGeom>
          <a:noFill/>
          <a:ln>
            <a:noFill/>
          </a:ln>
        </p:spPr>
        <p:txBody>
          <a:bodyPr wrap="none" lIns="0" tIns="0" rIns="0" bIns="0" anchor="t" anchorCtr="0">
            <a:spAutoFit/>
          </a:bodyPr>
          <a:lstStyle/>
          <a:p>
            <a:pPr algn="l"/>
            <a:r>
              <a:rPr lang="zh-CN" sz="975" dirty="0">
                <a:solidFill>
                  <a:srgbClr val="7B8794"/>
                </a:solidFill>
                <a:latin typeface="Segoe UI" panose="020B0502040204020203"/>
                <a:ea typeface="微软雅黑" panose="020B0503020204020204" charset="-122"/>
                <a:cs typeface="Segoe UI" panose="020B0502040204020203"/>
              </a:rPr>
              <a:t>Paper 2 · Research Design Chapter</a:t>
            </a:r>
            <a:endParaRPr lang="zh-CN" sz="97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10528"/>
            <a:ext cx="11157585" cy="518160"/>
            <a:chOff x="501015" y="410528"/>
            <a:chExt cx="11157585" cy="518160"/>
          </a:xfrm>
        </p:grpSpPr>
        <p:sp>
          <p:nvSpPr>
            <p:cNvPr id="3" name="TextBox 3"/>
            <p:cNvSpPr txBox="1"/>
            <p:nvPr/>
          </p:nvSpPr>
          <p:spPr>
            <a:xfrm>
              <a:off x="501015" y="410528"/>
              <a:ext cx="7580559"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Research Entry Point: A Real-World Tension</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Rectangle 4"/>
            <p:cNvSpPr/>
            <p:nvPr/>
          </p:nvSpPr>
          <p:spPr>
            <a:xfrm>
              <a:off x="533400" y="876300"/>
              <a:ext cx="11125200" cy="28575"/>
            </a:xfrm>
            <a:prstGeom prst="rect">
              <a:avLst/>
            </a:prstGeom>
            <a:solidFill>
              <a:srgbClr val="173B57"/>
            </a:solidFill>
            <a:ln>
              <a:noFill/>
            </a:ln>
          </p:spPr>
        </p:sp>
      </p:grpSp>
      <p:grpSp>
        <p:nvGrpSpPr>
          <p:cNvPr id="9" name="Group 9"/>
          <p:cNvGrpSpPr/>
          <p:nvPr/>
        </p:nvGrpSpPr>
        <p:grpSpPr>
          <a:xfrm>
            <a:off x="739140" y="1310640"/>
            <a:ext cx="9673323" cy="1089660"/>
            <a:chOff x="739140" y="1310640"/>
            <a:chExt cx="9673323" cy="1089660"/>
          </a:xfrm>
        </p:grpSpPr>
        <p:sp>
          <p:nvSpPr>
            <p:cNvPr id="6" name="TextBox 6"/>
            <p:cNvSpPr txBox="1"/>
            <p:nvPr/>
          </p:nvSpPr>
          <p:spPr>
            <a:xfrm>
              <a:off x="739140" y="1310640"/>
              <a:ext cx="9673323" cy="365760"/>
            </a:xfrm>
            <a:prstGeom prst="rect">
              <a:avLst/>
            </a:prstGeom>
            <a:noFill/>
            <a:ln>
              <a:noFill/>
            </a:ln>
          </p:spPr>
          <p:txBody>
            <a:bodyPr wrap="none" lIns="0" tIns="0" rIns="0" bIns="0" anchor="t" anchorCtr="0">
              <a:spAutoFit/>
            </a:bodyPr>
            <a:lstStyle/>
            <a:p>
              <a:pPr algn="l"/>
              <a:r>
                <a:rPr lang="zh-CN" sz="1800" b="1" dirty="0">
                  <a:solidFill>
                    <a:srgbClr val="1F2933"/>
                  </a:solidFill>
                  <a:latin typeface="Segoe UI" panose="020B0502040204020203"/>
                  <a:ea typeface="微软雅黑" panose="020B0503020204020204" charset="-122"/>
                  <a:cs typeface="Segoe UI" panose="020B0502040204020203"/>
                </a:rPr>
                <a:t>Many enterprises and government agencies use incentive policies to encourage</a:t>
              </a:r>
              <a:endParaRPr lang="zh-CN" sz="1800" b="1" dirty="0">
                <a:solidFill>
                  <a:srgbClr val="1F2933"/>
                </a:solidFill>
                <a:latin typeface="Segoe UI" panose="020B0502040204020203"/>
                <a:ea typeface="微软雅黑" panose="020B0503020204020204" charset="-122"/>
                <a:cs typeface="Segoe UI" panose="020B0502040204020203"/>
              </a:endParaRPr>
            </a:p>
          </p:txBody>
        </p:sp>
        <p:sp>
          <p:nvSpPr>
            <p:cNvPr id="7" name="TextBox 7"/>
            <p:cNvSpPr txBox="1"/>
            <p:nvPr/>
          </p:nvSpPr>
          <p:spPr>
            <a:xfrm>
              <a:off x="739140" y="1672590"/>
              <a:ext cx="9446495" cy="365760"/>
            </a:xfrm>
            <a:prstGeom prst="rect">
              <a:avLst/>
            </a:prstGeom>
            <a:noFill/>
            <a:ln>
              <a:noFill/>
            </a:ln>
          </p:spPr>
          <p:txBody>
            <a:bodyPr wrap="none" lIns="0" tIns="0" rIns="0" bIns="0" anchor="t" anchorCtr="0">
              <a:spAutoFit/>
            </a:bodyPr>
            <a:lstStyle/>
            <a:p>
              <a:pPr algn="l"/>
              <a:r>
                <a:rPr lang="zh-CN" sz="1800" b="1" dirty="0">
                  <a:solidFill>
                    <a:srgbClr val="1F2933"/>
                  </a:solidFill>
                  <a:latin typeface="Segoe UI" panose="020B0502040204020203"/>
                  <a:ea typeface="微软雅黑" panose="020B0503020204020204" charset="-122"/>
                  <a:cs typeface="Segoe UI" panose="020B0502040204020203"/>
                </a:rPr>
                <a:t>employees to use AI tools. Do such rewards alter employees’ judgments of AI</a:t>
              </a:r>
              <a:endParaRPr lang="zh-CN" sz="1800" b="1" dirty="0">
                <a:solidFill>
                  <a:srgbClr val="1F2933"/>
                </a:solidFill>
                <a:latin typeface="Segoe UI" panose="020B0502040204020203"/>
                <a:ea typeface="微软雅黑" panose="020B0503020204020204" charset="-122"/>
                <a:cs typeface="Segoe UI" panose="020B0502040204020203"/>
              </a:endParaRPr>
            </a:p>
          </p:txBody>
        </p:sp>
        <p:sp>
          <p:nvSpPr>
            <p:cNvPr id="8" name="TextBox 8"/>
            <p:cNvSpPr txBox="1"/>
            <p:nvPr/>
          </p:nvSpPr>
          <p:spPr>
            <a:xfrm>
              <a:off x="739140" y="2034540"/>
              <a:ext cx="8035119" cy="365760"/>
            </a:xfrm>
            <a:prstGeom prst="rect">
              <a:avLst/>
            </a:prstGeom>
            <a:noFill/>
            <a:ln>
              <a:noFill/>
            </a:ln>
          </p:spPr>
          <p:txBody>
            <a:bodyPr wrap="none" lIns="0" tIns="0" rIns="0" bIns="0" anchor="t" anchorCtr="0">
              <a:spAutoFit/>
            </a:bodyPr>
            <a:lstStyle/>
            <a:p>
              <a:pPr algn="l"/>
              <a:r>
                <a:rPr lang="zh-CN" sz="1800" b="1" dirty="0">
                  <a:solidFill>
                    <a:srgbClr val="1F2933"/>
                  </a:solidFill>
                  <a:latin typeface="Segoe UI" panose="020B0502040204020203"/>
                  <a:ea typeface="微软雅黑" panose="020B0503020204020204" charset="-122"/>
                  <a:cs typeface="Segoe UI" panose="020B0502040204020203"/>
                </a:rPr>
                <a:t>capability? Could they create blind trust in AI within the system?</a:t>
              </a:r>
              <a:endParaRPr lang="zh-CN" sz="1800" b="1" dirty="0">
                <a:solidFill>
                  <a:srgbClr val="1F2933"/>
                </a:solidFill>
                <a:latin typeface="Segoe UI" panose="020B0502040204020203"/>
                <a:ea typeface="微软雅黑" panose="020B0503020204020204" charset="-122"/>
                <a:cs typeface="Segoe UI" panose="020B0502040204020203"/>
              </a:endParaRPr>
            </a:p>
          </p:txBody>
        </p:sp>
      </p:grpSp>
      <p:sp>
        <p:nvSpPr>
          <p:cNvPr id="10" name="Line 10"/>
          <p:cNvSpPr/>
          <p:nvPr/>
        </p:nvSpPr>
        <p:spPr>
          <a:xfrm>
            <a:off x="6096000" y="3238500"/>
            <a:ext cx="9525" cy="2533650"/>
          </a:xfrm>
          <a:custGeom>
            <a:avLst/>
            <a:gdLst/>
            <a:ahLst/>
            <a:cxnLst/>
            <a:rect l="l" t="t" r="r" b="b"/>
            <a:pathLst>
              <a:path w="9525" h="2533650">
                <a:moveTo>
                  <a:pt x="0" y="0"/>
                </a:moveTo>
                <a:lnTo>
                  <a:pt x="0" y="2533650"/>
                </a:lnTo>
              </a:path>
            </a:pathLst>
          </a:custGeom>
          <a:noFill/>
          <a:ln w="19050">
            <a:solidFill>
              <a:srgbClr val="CBD5E1"/>
            </a:solidFill>
          </a:ln>
        </p:spPr>
      </p:sp>
      <p:grpSp>
        <p:nvGrpSpPr>
          <p:cNvPr id="15" name="Group 15"/>
          <p:cNvGrpSpPr/>
          <p:nvPr/>
        </p:nvGrpSpPr>
        <p:grpSpPr>
          <a:xfrm>
            <a:off x="739140" y="3463290"/>
            <a:ext cx="3146203" cy="1361122"/>
            <a:chOff x="739140" y="3463290"/>
            <a:chExt cx="3146203" cy="1361122"/>
          </a:xfrm>
        </p:grpSpPr>
        <p:sp>
          <p:nvSpPr>
            <p:cNvPr id="11" name="TextBox 11"/>
            <p:cNvSpPr txBox="1"/>
            <p:nvPr/>
          </p:nvSpPr>
          <p:spPr>
            <a:xfrm>
              <a:off x="739140" y="3463290"/>
              <a:ext cx="1658722" cy="365760"/>
            </a:xfrm>
            <a:prstGeom prst="rect">
              <a:avLst/>
            </a:prstGeom>
            <a:noFill/>
            <a:ln>
              <a:noFill/>
            </a:ln>
          </p:spPr>
          <p:txBody>
            <a:bodyPr wrap="none" lIns="0" tIns="0" rIns="0" bIns="0" anchor="t" anchorCtr="0">
              <a:spAutoFit/>
            </a:bodyPr>
            <a:lstStyle/>
            <a:p>
              <a:pPr algn="l"/>
              <a:r>
                <a:rPr lang="zh-CN" sz="1800" b="1" dirty="0">
                  <a:solidFill>
                    <a:srgbClr val="173B57"/>
                  </a:solidFill>
                  <a:latin typeface="Segoe UI Semibold" panose="020B0702040204020203"/>
                  <a:ea typeface="微软雅黑" panose="020B0503020204020204" charset="-122"/>
                  <a:cs typeface="Segoe UI Semibold" panose="020B0702040204020203"/>
                </a:rPr>
                <a:t>Intended goal</a:t>
              </a:r>
              <a:endParaRPr lang="zh-CN" sz="18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12" name="Rectangle 12"/>
            <p:cNvSpPr/>
            <p:nvPr/>
          </p:nvSpPr>
          <p:spPr>
            <a:xfrm>
              <a:off x="762000" y="3829050"/>
              <a:ext cx="876300" cy="38100"/>
            </a:xfrm>
            <a:prstGeom prst="rect">
              <a:avLst/>
            </a:prstGeom>
            <a:solidFill>
              <a:srgbClr val="173B57"/>
            </a:solidFill>
            <a:ln>
              <a:noFill/>
            </a:ln>
          </p:spPr>
        </p:sp>
        <p:sp>
          <p:nvSpPr>
            <p:cNvPr id="13" name="TextBox 13"/>
            <p:cNvSpPr txBox="1"/>
            <p:nvPr/>
          </p:nvSpPr>
          <p:spPr>
            <a:xfrm>
              <a:off x="741045" y="4165282"/>
              <a:ext cx="3144298"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Improve productivity and use</a:t>
              </a:r>
              <a:endParaRPr lang="zh-CN" sz="1650" dirty="0">
                <a:solidFill>
                  <a:srgbClr val="1F2933"/>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741045" y="4489132"/>
              <a:ext cx="2990278"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AI capability appropriately.</a:t>
              </a:r>
              <a:endParaRPr lang="zh-CN" sz="1650" dirty="0">
                <a:solidFill>
                  <a:srgbClr val="1F2933"/>
                </a:solidFill>
                <a:latin typeface="Segoe UI" panose="020B0502040204020203"/>
                <a:ea typeface="微软雅黑" panose="020B0503020204020204" charset="-122"/>
                <a:cs typeface="Segoe UI" panose="020B0502040204020203"/>
              </a:endParaRPr>
            </a:p>
          </p:txBody>
        </p:sp>
      </p:grpSp>
      <p:grpSp>
        <p:nvGrpSpPr>
          <p:cNvPr id="21" name="Group 21"/>
          <p:cNvGrpSpPr/>
          <p:nvPr/>
        </p:nvGrpSpPr>
        <p:grpSpPr>
          <a:xfrm>
            <a:off x="6644640" y="3463290"/>
            <a:ext cx="3883295" cy="1684972"/>
            <a:chOff x="6644640" y="3463290"/>
            <a:chExt cx="3883295" cy="1684972"/>
          </a:xfrm>
        </p:grpSpPr>
        <p:sp>
          <p:nvSpPr>
            <p:cNvPr id="16" name="TextBox 16"/>
            <p:cNvSpPr txBox="1"/>
            <p:nvPr/>
          </p:nvSpPr>
          <p:spPr>
            <a:xfrm>
              <a:off x="6644640" y="3463290"/>
              <a:ext cx="2969285" cy="365760"/>
            </a:xfrm>
            <a:prstGeom prst="rect">
              <a:avLst/>
            </a:prstGeom>
            <a:noFill/>
            <a:ln>
              <a:noFill/>
            </a:ln>
          </p:spPr>
          <p:txBody>
            <a:bodyPr wrap="none" lIns="0" tIns="0" rIns="0" bIns="0" anchor="t" anchorCtr="0">
              <a:spAutoFit/>
            </a:bodyPr>
            <a:lstStyle/>
            <a:p>
              <a:pPr algn="l"/>
              <a:r>
                <a:rPr lang="zh-CN" sz="1800" b="1" dirty="0">
                  <a:solidFill>
                    <a:srgbClr val="B42318"/>
                  </a:solidFill>
                  <a:latin typeface="Segoe UI Semibold" panose="020B0702040204020203"/>
                  <a:ea typeface="微软雅黑" panose="020B0503020204020204" charset="-122"/>
                  <a:cs typeface="Segoe UI Semibold" panose="020B0702040204020203"/>
                </a:rPr>
                <a:t>Possible actual outcome</a:t>
              </a:r>
              <a:endParaRPr lang="zh-CN" sz="1800" b="1" dirty="0">
                <a:solidFill>
                  <a:srgbClr val="B42318"/>
                </a:solidFill>
                <a:latin typeface="Segoe UI Semibold" panose="020B0702040204020203"/>
                <a:ea typeface="微软雅黑" panose="020B0503020204020204" charset="-122"/>
                <a:cs typeface="Segoe UI Semibold" panose="020B0702040204020203"/>
              </a:endParaRPr>
            </a:p>
          </p:txBody>
        </p:sp>
        <p:sp>
          <p:nvSpPr>
            <p:cNvPr id="17" name="Rectangle 17"/>
            <p:cNvSpPr/>
            <p:nvPr/>
          </p:nvSpPr>
          <p:spPr>
            <a:xfrm>
              <a:off x="6667500" y="3829050"/>
              <a:ext cx="876300" cy="38100"/>
            </a:xfrm>
            <a:prstGeom prst="rect">
              <a:avLst/>
            </a:prstGeom>
            <a:solidFill>
              <a:srgbClr val="B42318"/>
            </a:solidFill>
            <a:ln>
              <a:noFill/>
            </a:ln>
          </p:spPr>
        </p:sp>
        <p:sp>
          <p:nvSpPr>
            <p:cNvPr id="18" name="TextBox 18"/>
            <p:cNvSpPr txBox="1"/>
            <p:nvPr/>
          </p:nvSpPr>
          <p:spPr>
            <a:xfrm>
              <a:off x="6646545" y="4165282"/>
              <a:ext cx="3881390"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Employees over-rely on AI, creating</a:t>
              </a:r>
              <a:endParaRPr lang="zh-CN" sz="1650" dirty="0">
                <a:solidFill>
                  <a:srgbClr val="1F2933"/>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6646545" y="4489132"/>
              <a:ext cx="3540347"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extensive uncontrollable risks in</a:t>
              </a:r>
              <a:endParaRPr lang="zh-CN" sz="1650" dirty="0">
                <a:solidFill>
                  <a:srgbClr val="1F2933"/>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6646545" y="4812982"/>
              <a:ext cx="2363200"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frontline operations.</a:t>
              </a:r>
              <a:endParaRPr lang="zh-CN" sz="1650" dirty="0">
                <a:solidFill>
                  <a:srgbClr val="1F2933"/>
                </a:solidFill>
                <a:latin typeface="Segoe UI" panose="020B0502040204020203"/>
                <a:ea typeface="微软雅黑" panose="020B0503020204020204" charset="-122"/>
                <a:cs typeface="Segoe UI" panose="020B0502040204020203"/>
              </a:endParaRPr>
            </a:p>
          </p:txBody>
        </p:sp>
      </p:grpSp>
      <p:sp>
        <p:nvSpPr>
          <p:cNvPr id="22" name="TextBox 22"/>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02</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353378"/>
            <a:ext cx="7216521" cy="656272"/>
            <a:chOff x="501015" y="353378"/>
            <a:chExt cx="7216521" cy="656272"/>
          </a:xfrm>
        </p:grpSpPr>
        <p:sp>
          <p:nvSpPr>
            <p:cNvPr id="3" name="TextBox 3"/>
            <p:cNvSpPr txBox="1"/>
            <p:nvPr/>
          </p:nvSpPr>
          <p:spPr>
            <a:xfrm>
              <a:off x="501015" y="353378"/>
              <a:ext cx="5616814"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Real-World Incentives for AI Use</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18160" y="765810"/>
              <a:ext cx="7199376"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Existing policies reduce AI-use costs or reward adoption at different organizational levels.</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55" name="Group 55"/>
          <p:cNvGrpSpPr/>
          <p:nvPr/>
        </p:nvGrpSpPr>
        <p:grpSpPr>
          <a:xfrm>
            <a:off x="533400" y="1162050"/>
            <a:ext cx="11125200" cy="5048250"/>
            <a:chOff x="533400" y="1162050"/>
            <a:chExt cx="11125200" cy="5048250"/>
          </a:xfrm>
        </p:grpSpPr>
        <p:sp>
          <p:nvSpPr>
            <p:cNvPr id="6" name="Rectangle 6"/>
            <p:cNvSpPr/>
            <p:nvPr/>
          </p:nvSpPr>
          <p:spPr>
            <a:xfrm>
              <a:off x="533400" y="1162050"/>
              <a:ext cx="11125200" cy="5048250"/>
            </a:xfrm>
            <a:prstGeom prst="rect">
              <a:avLst/>
            </a:prstGeom>
            <a:solidFill>
              <a:srgbClr val="FFFFFF"/>
            </a:solidFill>
            <a:ln w="14288">
              <a:solidFill>
                <a:srgbClr val="CBD5E1"/>
              </a:solidFill>
            </a:ln>
          </p:spPr>
        </p:sp>
        <p:sp>
          <p:nvSpPr>
            <p:cNvPr id="7" name="Rectangle 7"/>
            <p:cNvSpPr/>
            <p:nvPr/>
          </p:nvSpPr>
          <p:spPr>
            <a:xfrm>
              <a:off x="533400" y="1162050"/>
              <a:ext cx="11125200" cy="514350"/>
            </a:xfrm>
            <a:prstGeom prst="rect">
              <a:avLst/>
            </a:prstGeom>
            <a:solidFill>
              <a:srgbClr val="173B57"/>
            </a:solidFill>
            <a:ln>
              <a:noFill/>
            </a:ln>
          </p:spPr>
        </p:sp>
        <p:sp>
          <p:nvSpPr>
            <p:cNvPr id="8" name="Line 8"/>
            <p:cNvSpPr/>
            <p:nvPr/>
          </p:nvSpPr>
          <p:spPr>
            <a:xfrm>
              <a:off x="2514600" y="1162050"/>
              <a:ext cx="9525" cy="5048250"/>
            </a:xfrm>
            <a:custGeom>
              <a:avLst/>
              <a:gdLst/>
              <a:ahLst/>
              <a:cxnLst/>
              <a:rect l="l" t="t" r="r" b="b"/>
              <a:pathLst>
                <a:path w="9525" h="5048250">
                  <a:moveTo>
                    <a:pt x="0" y="0"/>
                  </a:moveTo>
                  <a:lnTo>
                    <a:pt x="0" y="5048250"/>
                  </a:lnTo>
                </a:path>
              </a:pathLst>
            </a:custGeom>
            <a:noFill/>
            <a:ln w="9525">
              <a:solidFill>
                <a:srgbClr val="CBD5E1"/>
              </a:solidFill>
            </a:ln>
          </p:spPr>
        </p:sp>
        <p:sp>
          <p:nvSpPr>
            <p:cNvPr id="9" name="Line 9"/>
            <p:cNvSpPr/>
            <p:nvPr/>
          </p:nvSpPr>
          <p:spPr>
            <a:xfrm>
              <a:off x="6705600" y="1162050"/>
              <a:ext cx="9525" cy="5048250"/>
            </a:xfrm>
            <a:custGeom>
              <a:avLst/>
              <a:gdLst/>
              <a:ahLst/>
              <a:cxnLst/>
              <a:rect l="l" t="t" r="r" b="b"/>
              <a:pathLst>
                <a:path w="9525" h="5048250">
                  <a:moveTo>
                    <a:pt x="0" y="0"/>
                  </a:moveTo>
                  <a:lnTo>
                    <a:pt x="0" y="5048250"/>
                  </a:lnTo>
                </a:path>
              </a:pathLst>
            </a:custGeom>
            <a:noFill/>
            <a:ln w="9525">
              <a:solidFill>
                <a:srgbClr val="CBD5E1"/>
              </a:solidFill>
            </a:ln>
          </p:spPr>
        </p:sp>
        <p:sp>
          <p:nvSpPr>
            <p:cNvPr id="10" name="Line 10"/>
            <p:cNvSpPr/>
            <p:nvPr/>
          </p:nvSpPr>
          <p:spPr>
            <a:xfrm>
              <a:off x="8705850" y="1162050"/>
              <a:ext cx="9525" cy="5048250"/>
            </a:xfrm>
            <a:custGeom>
              <a:avLst/>
              <a:gdLst/>
              <a:ahLst/>
              <a:cxnLst/>
              <a:rect l="l" t="t" r="r" b="b"/>
              <a:pathLst>
                <a:path w="9525" h="5048250">
                  <a:moveTo>
                    <a:pt x="0" y="0"/>
                  </a:moveTo>
                  <a:lnTo>
                    <a:pt x="0" y="5048250"/>
                  </a:lnTo>
                </a:path>
              </a:pathLst>
            </a:custGeom>
            <a:noFill/>
            <a:ln w="9525">
              <a:solidFill>
                <a:srgbClr val="CBD5E1"/>
              </a:solidFill>
            </a:ln>
          </p:spPr>
        </p:sp>
        <p:sp>
          <p:nvSpPr>
            <p:cNvPr id="11" name="TextBox 11"/>
            <p:cNvSpPr txBox="1"/>
            <p:nvPr/>
          </p:nvSpPr>
          <p:spPr>
            <a:xfrm>
              <a:off x="670560" y="1356360"/>
              <a:ext cx="40012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Semibold" panose="020B0702040204020203"/>
                  <a:ea typeface="微软雅黑" panose="020B0503020204020204" charset="-122"/>
                  <a:cs typeface="Segoe UI Semibold" panose="020B0702040204020203"/>
                </a:rPr>
                <a:t>CASE</a:t>
              </a:r>
              <a:endParaRPr lang="zh-CN" sz="1200" b="1" dirty="0">
                <a:solidFill>
                  <a:srgbClr val="FFFFFF"/>
                </a:solidFill>
                <a:latin typeface="Segoe UI Semibold" panose="020B0702040204020203"/>
                <a:ea typeface="微软雅黑" panose="020B0503020204020204" charset="-122"/>
                <a:cs typeface="Segoe UI Semibold" panose="020B0702040204020203"/>
              </a:endParaRPr>
            </a:p>
          </p:txBody>
        </p:sp>
        <p:sp>
          <p:nvSpPr>
            <p:cNvPr id="12" name="TextBox 12"/>
            <p:cNvSpPr txBox="1"/>
            <p:nvPr/>
          </p:nvSpPr>
          <p:spPr>
            <a:xfrm>
              <a:off x="2651760" y="1356360"/>
              <a:ext cx="118142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Semibold" panose="020B0702040204020203"/>
                  <a:ea typeface="微软雅黑" panose="020B0503020204020204" charset="-122"/>
                  <a:cs typeface="Segoe UI Semibold" panose="020B0702040204020203"/>
                </a:rPr>
                <a:t>ACTUAL POLICY</a:t>
              </a:r>
              <a:endParaRPr lang="zh-CN" sz="1200" b="1" dirty="0">
                <a:solidFill>
                  <a:srgbClr val="FFFFFF"/>
                </a:solidFill>
                <a:latin typeface="Segoe UI Semibold" panose="020B0702040204020203"/>
                <a:ea typeface="微软雅黑" panose="020B0503020204020204" charset="-122"/>
                <a:cs typeface="Segoe UI Semibold" panose="020B0702040204020203"/>
              </a:endParaRPr>
            </a:p>
          </p:txBody>
        </p:sp>
        <p:sp>
          <p:nvSpPr>
            <p:cNvPr id="13" name="TextBox 13"/>
            <p:cNvSpPr txBox="1"/>
            <p:nvPr/>
          </p:nvSpPr>
          <p:spPr>
            <a:xfrm>
              <a:off x="6842760" y="1356360"/>
              <a:ext cx="142505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Semibold" panose="020B0702040204020203"/>
                  <a:ea typeface="微软雅黑" panose="020B0503020204020204" charset="-122"/>
                  <a:cs typeface="Segoe UI Semibold" panose="020B0702040204020203"/>
                </a:rPr>
                <a:t>TARGET AND LEVEL</a:t>
              </a:r>
              <a:endParaRPr lang="zh-CN" sz="1200" b="1" dirty="0">
                <a:solidFill>
                  <a:srgbClr val="FFFFFF"/>
                </a:solidFill>
                <a:latin typeface="Segoe UI Semibold" panose="020B0702040204020203"/>
                <a:ea typeface="微软雅黑" panose="020B0503020204020204" charset="-122"/>
                <a:cs typeface="Segoe UI Semibold" panose="020B0702040204020203"/>
              </a:endParaRPr>
            </a:p>
          </p:txBody>
        </p:sp>
        <p:sp>
          <p:nvSpPr>
            <p:cNvPr id="14" name="TextBox 14"/>
            <p:cNvSpPr txBox="1"/>
            <p:nvPr/>
          </p:nvSpPr>
          <p:spPr>
            <a:xfrm>
              <a:off x="8843010" y="1356360"/>
              <a:ext cx="159307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Semibold" panose="020B0702040204020203"/>
                  <a:ea typeface="微软雅黑" panose="020B0503020204020204" charset="-122"/>
                  <a:cs typeface="Segoe UI Semibold" panose="020B0702040204020203"/>
                </a:rPr>
                <a:t>LINK TO EXPERIMENT</a:t>
              </a:r>
              <a:endParaRPr lang="zh-CN" sz="1200" b="1" dirty="0">
                <a:solidFill>
                  <a:srgbClr val="FFFFFF"/>
                </a:solidFill>
                <a:latin typeface="Segoe UI Semibold" panose="020B0702040204020203"/>
                <a:ea typeface="微软雅黑" panose="020B0503020204020204" charset="-122"/>
                <a:cs typeface="Segoe UI Semibold" panose="020B0702040204020203"/>
              </a:endParaRPr>
            </a:p>
          </p:txBody>
        </p:sp>
        <p:sp>
          <p:nvSpPr>
            <p:cNvPr id="15" name="Line 15"/>
            <p:cNvSpPr/>
            <p:nvPr/>
          </p:nvSpPr>
          <p:spPr>
            <a:xfrm>
              <a:off x="533400" y="2762250"/>
              <a:ext cx="11125200" cy="9525"/>
            </a:xfrm>
            <a:custGeom>
              <a:avLst/>
              <a:gdLst/>
              <a:ahLst/>
              <a:cxnLst/>
              <a:rect l="l" t="t" r="r" b="b"/>
              <a:pathLst>
                <a:path w="11125200" h="9525">
                  <a:moveTo>
                    <a:pt x="0" y="0"/>
                  </a:moveTo>
                  <a:lnTo>
                    <a:pt x="11125200" y="0"/>
                  </a:lnTo>
                </a:path>
              </a:pathLst>
            </a:custGeom>
            <a:noFill/>
            <a:ln w="9525">
              <a:solidFill>
                <a:srgbClr val="CBD5E1"/>
              </a:solidFill>
            </a:ln>
          </p:spPr>
        </p:sp>
        <p:sp>
          <p:nvSpPr>
            <p:cNvPr id="16" name="Line 16"/>
            <p:cNvSpPr/>
            <p:nvPr/>
          </p:nvSpPr>
          <p:spPr>
            <a:xfrm>
              <a:off x="533400" y="4038600"/>
              <a:ext cx="11125200" cy="9525"/>
            </a:xfrm>
            <a:custGeom>
              <a:avLst/>
              <a:gdLst/>
              <a:ahLst/>
              <a:cxnLst/>
              <a:rect l="l" t="t" r="r" b="b"/>
              <a:pathLst>
                <a:path w="11125200" h="9525">
                  <a:moveTo>
                    <a:pt x="0" y="0"/>
                  </a:moveTo>
                  <a:lnTo>
                    <a:pt x="11125200" y="0"/>
                  </a:lnTo>
                </a:path>
              </a:pathLst>
            </a:custGeom>
            <a:noFill/>
            <a:ln w="9525">
              <a:solidFill>
                <a:srgbClr val="CBD5E1"/>
              </a:solidFill>
            </a:ln>
          </p:spPr>
        </p:sp>
        <p:sp>
          <p:nvSpPr>
            <p:cNvPr id="17" name="Line 17"/>
            <p:cNvSpPr/>
            <p:nvPr/>
          </p:nvSpPr>
          <p:spPr>
            <a:xfrm>
              <a:off x="533400" y="5124450"/>
              <a:ext cx="11125200" cy="9525"/>
            </a:xfrm>
            <a:custGeom>
              <a:avLst/>
              <a:gdLst/>
              <a:ahLst/>
              <a:cxnLst/>
              <a:rect l="l" t="t" r="r" b="b"/>
              <a:pathLst>
                <a:path w="11125200" h="9525">
                  <a:moveTo>
                    <a:pt x="0" y="0"/>
                  </a:moveTo>
                  <a:lnTo>
                    <a:pt x="11125200" y="0"/>
                  </a:lnTo>
                </a:path>
              </a:pathLst>
            </a:custGeom>
            <a:noFill/>
            <a:ln w="9525">
              <a:solidFill>
                <a:srgbClr val="CBD5E1"/>
              </a:solidFill>
            </a:ln>
          </p:spPr>
        </p:sp>
        <p:grpSp>
          <p:nvGrpSpPr>
            <p:cNvPr id="27" name="Group 27"/>
            <p:cNvGrpSpPr/>
            <p:nvPr/>
          </p:nvGrpSpPr>
          <p:grpSpPr>
            <a:xfrm>
              <a:off x="670560" y="1756410"/>
              <a:ext cx="9851136" cy="662940"/>
              <a:chOff x="670560" y="1756410"/>
              <a:chExt cx="9851136" cy="662940"/>
            </a:xfrm>
          </p:grpSpPr>
          <p:sp>
            <p:nvSpPr>
              <p:cNvPr id="18" name="TextBox 18"/>
              <p:cNvSpPr txBox="1"/>
              <p:nvPr/>
            </p:nvSpPr>
            <p:spPr>
              <a:xfrm>
                <a:off x="670560" y="1823085"/>
                <a:ext cx="1929117"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Semibold" panose="020B0702040204020203"/>
                    <a:ea typeface="微软雅黑" panose="020B0503020204020204" charset="-122"/>
                    <a:cs typeface="Segoe UI Semibold" panose="020B0702040204020203"/>
                  </a:rPr>
                  <a:t>Shanghai “Model Coupon</a:t>
                </a:r>
                <a:endParaRPr lang="zh-CN" sz="12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19" name="TextBox 19"/>
              <p:cNvSpPr txBox="1"/>
              <p:nvPr/>
            </p:nvSpPr>
            <p:spPr>
              <a:xfrm>
                <a:off x="670560" y="2032635"/>
                <a:ext cx="1374648"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Semibold" panose="020B0702040204020203"/>
                    <a:ea typeface="微软雅黑" panose="020B0503020204020204" charset="-122"/>
                    <a:cs typeface="Segoe UI Semibold" panose="020B0702040204020203"/>
                  </a:rPr>
                  <a:t>(Token Coupon)”</a:t>
                </a:r>
                <a:endParaRPr lang="zh-CN" sz="12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0" name="TextBox 20"/>
              <p:cNvSpPr txBox="1"/>
              <p:nvPr/>
            </p:nvSpPr>
            <p:spPr>
              <a:xfrm>
                <a:off x="2651760" y="1756410"/>
                <a:ext cx="315087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Subsidizes enterprises’ costs of calling</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2651760" y="1965960"/>
                <a:ext cx="335889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third-party large-model APIs and privately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2651760" y="2175510"/>
                <a:ext cx="139865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deploying models.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842760" y="1908810"/>
                <a:ext cx="107861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Government →</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842760" y="2118360"/>
                <a:ext cx="87058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enterprise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8843010" y="1908810"/>
                <a:ext cx="167868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Closest to an “AI-use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8843010" y="2118360"/>
                <a:ext cx="118262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cost subsidy”.</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670560" y="2861310"/>
              <a:ext cx="10803255" cy="872490"/>
              <a:chOff x="670560" y="2861310"/>
              <a:chExt cx="10803255" cy="872490"/>
            </a:xfrm>
          </p:grpSpPr>
          <p:sp>
            <p:nvSpPr>
              <p:cNvPr id="28" name="TextBox 28"/>
              <p:cNvSpPr txBox="1"/>
              <p:nvPr/>
            </p:nvSpPr>
            <p:spPr>
              <a:xfrm>
                <a:off x="670560" y="3061335"/>
                <a:ext cx="1290637"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Semibold" panose="020B0702040204020203"/>
                    <a:ea typeface="微软雅黑" panose="020B0503020204020204" charset="-122"/>
                    <a:cs typeface="Segoe UI Semibold" panose="020B0702040204020203"/>
                  </a:rPr>
                  <a:t>Singapore GenAI</a:t>
                </a:r>
                <a:endParaRPr lang="zh-CN" sz="12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9" name="TextBox 29"/>
              <p:cNvSpPr txBox="1"/>
              <p:nvPr/>
            </p:nvSpPr>
            <p:spPr>
              <a:xfrm>
                <a:off x="670560" y="3270885"/>
                <a:ext cx="1626680"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Semibold" panose="020B0702040204020203"/>
                    <a:ea typeface="微软雅黑" panose="020B0503020204020204" charset="-122"/>
                    <a:cs typeface="Segoe UI Semibold" panose="020B0702040204020203"/>
                  </a:rPr>
                  <a:t>Support Programme</a:t>
                </a:r>
                <a:endParaRPr lang="zh-CN" sz="12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30" name="TextBox 30"/>
              <p:cNvSpPr txBox="1"/>
              <p:nvPr/>
            </p:nvSpPr>
            <p:spPr>
              <a:xfrm>
                <a:off x="2651760" y="2861310"/>
                <a:ext cx="339890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Provides up to 50% grant support for GenAI</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2651760" y="3070860"/>
                <a:ext cx="333489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solutions; a new national programme plans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651760" y="3280410"/>
                <a:ext cx="339890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to support 10,000 enterprises and 100,000</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651760" y="3489960"/>
                <a:ext cx="264680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workers in deepening AI adoption.</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6842760" y="3089910"/>
                <a:ext cx="107861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Government →</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6842760" y="3299460"/>
                <a:ext cx="196672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enterprises and workers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843010" y="3089910"/>
                <a:ext cx="180670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Reduces organizational</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8843010" y="3299460"/>
                <a:ext cx="263080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procurement and adoption costs.</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46" name="Group 46"/>
            <p:cNvGrpSpPr/>
            <p:nvPr/>
          </p:nvGrpSpPr>
          <p:grpSpPr>
            <a:xfrm>
              <a:off x="670560" y="4194810"/>
              <a:ext cx="10811256" cy="662940"/>
              <a:chOff x="670560" y="4194810"/>
              <a:chExt cx="10811256" cy="662940"/>
            </a:xfrm>
          </p:grpSpPr>
          <p:sp>
            <p:nvSpPr>
              <p:cNvPr id="39" name="TextBox 39"/>
              <p:cNvSpPr txBox="1"/>
              <p:nvPr/>
            </p:nvSpPr>
            <p:spPr>
              <a:xfrm>
                <a:off x="670560" y="4423410"/>
                <a:ext cx="635356"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Semibold" panose="020B0702040204020203"/>
                    <a:ea typeface="微软雅黑" panose="020B0503020204020204" charset="-122"/>
                    <a:cs typeface="Segoe UI Semibold" panose="020B0702040204020203"/>
                  </a:rPr>
                  <a:t>Shopify</a:t>
                </a:r>
                <a:endParaRPr lang="zh-CN" sz="12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40" name="TextBox 40"/>
              <p:cNvSpPr txBox="1"/>
              <p:nvPr/>
            </p:nvSpPr>
            <p:spPr>
              <a:xfrm>
                <a:off x="2651760" y="4194810"/>
                <a:ext cx="366293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Makes “reflexive AI usage” a baseline employee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2651760" y="4404360"/>
                <a:ext cx="3782949"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expectation; provides unlimited advanced-model</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2651760" y="4613910"/>
                <a:ext cx="300685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access and extensive Cursor licenses.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6842760" y="4423410"/>
                <a:ext cx="183870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Enterprise → employees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8843010" y="4309110"/>
                <a:ext cx="251879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The enterprise bears tool costs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843010" y="4518660"/>
                <a:ext cx="263880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and imposes a usage expectation.</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670560" y="5261610"/>
              <a:ext cx="10475214" cy="662940"/>
              <a:chOff x="670560" y="5261610"/>
              <a:chExt cx="10475214" cy="662940"/>
            </a:xfrm>
          </p:grpSpPr>
          <p:sp>
            <p:nvSpPr>
              <p:cNvPr id="47" name="TextBox 47"/>
              <p:cNvSpPr txBox="1"/>
              <p:nvPr/>
            </p:nvSpPr>
            <p:spPr>
              <a:xfrm>
                <a:off x="670560" y="5490210"/>
                <a:ext cx="794976"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Semibold" panose="020B0702040204020203"/>
                    <a:ea typeface="微软雅黑" panose="020B0503020204020204" charset="-122"/>
                    <a:cs typeface="Segoe UI Semibold" panose="020B0702040204020203"/>
                  </a:rPr>
                  <a:t>Omnisend</a:t>
                </a:r>
                <a:endParaRPr lang="zh-CN" sz="12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48" name="TextBox 48"/>
              <p:cNvSpPr txBox="1"/>
              <p:nvPr/>
            </p:nvSpPr>
            <p:spPr>
              <a:xfrm>
                <a:off x="2651760" y="5261610"/>
                <a:ext cx="367893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Links business-value-generating AI adoption to</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2651760" y="5471160"/>
                <a:ext cx="368693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performance and compensation discussions and</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2651760" y="5680710"/>
                <a:ext cx="331889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offers cash bonuses for effective AI use.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6842760" y="5490210"/>
                <a:ext cx="183870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Enterprise → employees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8843010" y="5375910"/>
                <a:ext cx="230276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Closest to the positive bonus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8843010" y="5585460"/>
                <a:ext cx="148666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in the experiment.</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sp>
        <p:nvSpPr>
          <p:cNvPr id="56" name="TextBox 56"/>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03</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2920" y="331470"/>
            <a:ext cx="11956847" cy="487680"/>
            <a:chOff x="502920" y="331470"/>
            <a:chExt cx="11956847" cy="487680"/>
          </a:xfrm>
        </p:grpSpPr>
        <p:sp>
          <p:nvSpPr>
            <p:cNvPr id="3" name="TextBox 3"/>
            <p:cNvSpPr txBox="1"/>
            <p:nvPr/>
          </p:nvSpPr>
          <p:spPr>
            <a:xfrm>
              <a:off x="502920" y="331470"/>
              <a:ext cx="11956847" cy="487680"/>
            </a:xfrm>
            <a:prstGeom prst="rect">
              <a:avLst/>
            </a:prstGeom>
            <a:noFill/>
            <a:ln>
              <a:noFill/>
            </a:ln>
          </p:spPr>
          <p:txBody>
            <a:bodyPr wrap="none" lIns="0" tIns="0" rIns="0" bIns="0" anchor="t" anchorCtr="0">
              <a:spAutoFit/>
            </a:bodyPr>
            <a:lstStyle/>
            <a:p>
              <a:pPr algn="l"/>
              <a:r>
                <a:rPr lang="zh-CN" sz="2400" b="1" dirty="0">
                  <a:solidFill>
                    <a:srgbClr val="173B57"/>
                  </a:solidFill>
                  <a:latin typeface="Segoe UI" panose="020B0502040204020203"/>
                  <a:ea typeface="微软雅黑" panose="020B0503020204020204" charset="-122"/>
                  <a:cs typeface="Segoe UI" panose="020B0502040204020203"/>
                </a:rPr>
                <a:t>“Actual Trustworthiness” and “Actual Reliance” Are Different Questions</a:t>
              </a:r>
              <a:endParaRPr lang="zh-CN" sz="2400" b="1" dirty="0">
                <a:solidFill>
                  <a:srgbClr val="173B57"/>
                </a:solidFill>
                <a:latin typeface="Segoe UI" panose="020B0502040204020203"/>
                <a:ea typeface="微软雅黑" panose="020B0503020204020204" charset="-122"/>
                <a:cs typeface="Segoe UI" panose="020B0502040204020203"/>
              </a:endParaRPr>
            </a:p>
          </p:txBody>
        </p:sp>
        <p:sp>
          <p:nvSpPr>
            <p:cNvPr id="4" name="Rectangle 4"/>
            <p:cNvSpPr/>
            <p:nvPr/>
          </p:nvSpPr>
          <p:spPr>
            <a:xfrm>
              <a:off x="533400" y="781050"/>
              <a:ext cx="11125200" cy="28575"/>
            </a:xfrm>
            <a:prstGeom prst="rect">
              <a:avLst/>
            </a:prstGeom>
            <a:solidFill>
              <a:srgbClr val="173B57"/>
            </a:solidFill>
            <a:ln>
              <a:noFill/>
            </a:ln>
          </p:spPr>
        </p:sp>
      </p:grpSp>
      <p:grpSp>
        <p:nvGrpSpPr>
          <p:cNvPr id="8" name="Group 8"/>
          <p:cNvGrpSpPr/>
          <p:nvPr/>
        </p:nvGrpSpPr>
        <p:grpSpPr>
          <a:xfrm>
            <a:off x="668655" y="1073468"/>
            <a:ext cx="7856268" cy="521970"/>
            <a:chOff x="668655" y="1073468"/>
            <a:chExt cx="7856268" cy="521970"/>
          </a:xfrm>
        </p:grpSpPr>
        <p:sp>
          <p:nvSpPr>
            <p:cNvPr id="6" name="TextBox 6"/>
            <p:cNvSpPr txBox="1"/>
            <p:nvPr/>
          </p:nvSpPr>
          <p:spPr>
            <a:xfrm>
              <a:off x="668655" y="1073468"/>
              <a:ext cx="7856268" cy="274320"/>
            </a:xfrm>
            <a:prstGeom prst="rect">
              <a:avLst/>
            </a:prstGeom>
            <a:noFill/>
            <a:ln>
              <a:noFill/>
            </a:ln>
          </p:spPr>
          <p:txBody>
            <a:bodyPr wrap="none" lIns="0" tIns="0" rIns="0" bIns="0" anchor="t" anchorCtr="0">
              <a:spAutoFit/>
            </a:bodyPr>
            <a:lstStyle/>
            <a:p>
              <a:pPr algn="l"/>
              <a:r>
                <a:rPr lang="zh-CN" sz="1350" i="1" dirty="0">
                  <a:solidFill>
                    <a:srgbClr val="52606D"/>
                  </a:solidFill>
                  <a:latin typeface="Segoe UI" panose="020B0502040204020203"/>
                  <a:ea typeface="微软雅黑" panose="020B0503020204020204" charset="-122"/>
                  <a:cs typeface="Segoe UI" panose="020B0502040204020203"/>
                </a:rPr>
                <a:t>“Trustworthiness, trust and trusting behaviour are connected but distinct constructs”</a:t>
              </a:r>
              <a:endParaRPr lang="zh-CN" sz="1350" i="1" dirty="0">
                <a:solidFill>
                  <a:srgbClr val="52606D"/>
                </a:solidFill>
                <a:latin typeface="Segoe UI" panose="020B0502040204020203"/>
                <a:ea typeface="微软雅黑" panose="020B0503020204020204" charset="-122"/>
                <a:cs typeface="Segoe UI" panose="020B0502040204020203"/>
              </a:endParaRPr>
            </a:p>
          </p:txBody>
        </p:sp>
        <p:sp>
          <p:nvSpPr>
            <p:cNvPr id="7" name="TextBox 7"/>
            <p:cNvSpPr txBox="1"/>
            <p:nvPr/>
          </p:nvSpPr>
          <p:spPr>
            <a:xfrm>
              <a:off x="668655" y="1321118"/>
              <a:ext cx="2833640" cy="274320"/>
            </a:xfrm>
            <a:prstGeom prst="rect">
              <a:avLst/>
            </a:prstGeom>
            <a:noFill/>
            <a:ln>
              <a:noFill/>
            </a:ln>
          </p:spPr>
          <p:txBody>
            <a:bodyPr wrap="none" lIns="0" tIns="0" rIns="0" bIns="0" anchor="t" anchorCtr="0">
              <a:spAutoFit/>
            </a:bodyPr>
            <a:lstStyle/>
            <a:p>
              <a:pPr algn="l"/>
              <a:r>
                <a:rPr lang="zh-CN" sz="1350" i="1" dirty="0">
                  <a:solidFill>
                    <a:srgbClr val="52606D"/>
                  </a:solidFill>
                  <a:latin typeface="Segoe UI" panose="020B0502040204020203"/>
                  <a:ea typeface="微软雅黑" panose="020B0503020204020204" charset="-122"/>
                  <a:cs typeface="Segoe UI" panose="020B0502040204020203"/>
                </a:rPr>
                <a:t>(Everett et al., 2026, p. 390).</a:t>
              </a:r>
              <a:endParaRPr lang="zh-CN" sz="1350" i="1" dirty="0">
                <a:solidFill>
                  <a:srgbClr val="52606D"/>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3524250" y="2343150"/>
            <a:ext cx="133350" cy="2552700"/>
            <a:chOff x="3524250" y="2343150"/>
            <a:chExt cx="133350" cy="2552700"/>
          </a:xfrm>
        </p:grpSpPr>
        <p:sp>
          <p:nvSpPr>
            <p:cNvPr id="9" name="Line 9"/>
            <p:cNvSpPr/>
            <p:nvPr/>
          </p:nvSpPr>
          <p:spPr>
            <a:xfrm>
              <a:off x="3590925" y="2343150"/>
              <a:ext cx="9525" cy="342900"/>
            </a:xfrm>
            <a:custGeom>
              <a:avLst/>
              <a:gdLst/>
              <a:ahLst/>
              <a:cxnLst/>
              <a:rect l="l" t="t" r="r" b="b"/>
              <a:pathLst>
                <a:path w="9525" h="342900">
                  <a:moveTo>
                    <a:pt x="0" y="0"/>
                  </a:moveTo>
                  <a:lnTo>
                    <a:pt x="0" y="342900"/>
                  </a:lnTo>
                </a:path>
              </a:pathLst>
            </a:custGeom>
            <a:noFill/>
            <a:ln w="19050">
              <a:solidFill>
                <a:srgbClr val="5B7C91"/>
              </a:solidFill>
            </a:ln>
          </p:spPr>
        </p:sp>
        <p:sp>
          <p:nvSpPr>
            <p:cNvPr id="10" name="Polygon 10"/>
            <p:cNvSpPr/>
            <p:nvPr/>
          </p:nvSpPr>
          <p:spPr>
            <a:xfrm>
              <a:off x="3524250" y="2676525"/>
              <a:ext cx="133350" cy="123825"/>
            </a:xfrm>
            <a:custGeom>
              <a:avLst/>
              <a:gdLst/>
              <a:ahLst/>
              <a:cxnLst/>
              <a:rect l="l" t="t" r="r" b="b"/>
              <a:pathLst>
                <a:path w="133350" h="123825">
                  <a:moveTo>
                    <a:pt x="66675" y="123825"/>
                  </a:moveTo>
                  <a:lnTo>
                    <a:pt x="0" y="0"/>
                  </a:lnTo>
                  <a:lnTo>
                    <a:pt x="133350" y="0"/>
                  </a:lnTo>
                  <a:close/>
                </a:path>
              </a:pathLst>
            </a:custGeom>
            <a:solidFill>
              <a:srgbClr val="5B7C91"/>
            </a:solidFill>
            <a:ln>
              <a:noFill/>
            </a:ln>
          </p:spPr>
        </p:sp>
        <p:sp>
          <p:nvSpPr>
            <p:cNvPr id="11" name="Line 11"/>
            <p:cNvSpPr/>
            <p:nvPr/>
          </p:nvSpPr>
          <p:spPr>
            <a:xfrm>
              <a:off x="3590925" y="3390900"/>
              <a:ext cx="9525" cy="342900"/>
            </a:xfrm>
            <a:custGeom>
              <a:avLst/>
              <a:gdLst/>
              <a:ahLst/>
              <a:cxnLst/>
              <a:rect l="l" t="t" r="r" b="b"/>
              <a:pathLst>
                <a:path w="9525" h="342900">
                  <a:moveTo>
                    <a:pt x="0" y="0"/>
                  </a:moveTo>
                  <a:lnTo>
                    <a:pt x="0" y="342900"/>
                  </a:lnTo>
                </a:path>
              </a:pathLst>
            </a:custGeom>
            <a:noFill/>
            <a:ln w="19050">
              <a:solidFill>
                <a:srgbClr val="5B7C91"/>
              </a:solidFill>
            </a:ln>
          </p:spPr>
        </p:sp>
        <p:sp>
          <p:nvSpPr>
            <p:cNvPr id="12" name="Polygon 12"/>
            <p:cNvSpPr/>
            <p:nvPr/>
          </p:nvSpPr>
          <p:spPr>
            <a:xfrm>
              <a:off x="3524250" y="3724275"/>
              <a:ext cx="133350" cy="123825"/>
            </a:xfrm>
            <a:custGeom>
              <a:avLst/>
              <a:gdLst/>
              <a:ahLst/>
              <a:cxnLst/>
              <a:rect l="l" t="t" r="r" b="b"/>
              <a:pathLst>
                <a:path w="133350" h="123825">
                  <a:moveTo>
                    <a:pt x="66675" y="123825"/>
                  </a:moveTo>
                  <a:lnTo>
                    <a:pt x="0" y="0"/>
                  </a:lnTo>
                  <a:lnTo>
                    <a:pt x="133350" y="0"/>
                  </a:lnTo>
                  <a:close/>
                </a:path>
              </a:pathLst>
            </a:custGeom>
            <a:solidFill>
              <a:srgbClr val="5B7C91"/>
            </a:solidFill>
            <a:ln>
              <a:noFill/>
            </a:ln>
          </p:spPr>
        </p:sp>
        <p:sp>
          <p:nvSpPr>
            <p:cNvPr id="13" name="Line 13"/>
            <p:cNvSpPr/>
            <p:nvPr/>
          </p:nvSpPr>
          <p:spPr>
            <a:xfrm>
              <a:off x="3590925" y="4438650"/>
              <a:ext cx="9525" cy="342900"/>
            </a:xfrm>
            <a:custGeom>
              <a:avLst/>
              <a:gdLst/>
              <a:ahLst/>
              <a:cxnLst/>
              <a:rect l="l" t="t" r="r" b="b"/>
              <a:pathLst>
                <a:path w="9525" h="342900">
                  <a:moveTo>
                    <a:pt x="0" y="0"/>
                  </a:moveTo>
                  <a:lnTo>
                    <a:pt x="0" y="342900"/>
                  </a:lnTo>
                </a:path>
              </a:pathLst>
            </a:custGeom>
            <a:noFill/>
            <a:ln w="19050">
              <a:solidFill>
                <a:srgbClr val="5B7C91"/>
              </a:solidFill>
            </a:ln>
          </p:spPr>
        </p:sp>
        <p:sp>
          <p:nvSpPr>
            <p:cNvPr id="14" name="Polygon 14"/>
            <p:cNvSpPr/>
            <p:nvPr/>
          </p:nvSpPr>
          <p:spPr>
            <a:xfrm>
              <a:off x="3524250" y="4772025"/>
              <a:ext cx="133350" cy="123825"/>
            </a:xfrm>
            <a:custGeom>
              <a:avLst/>
              <a:gdLst/>
              <a:ahLst/>
              <a:cxnLst/>
              <a:rect l="l" t="t" r="r" b="b"/>
              <a:pathLst>
                <a:path w="133350" h="123825">
                  <a:moveTo>
                    <a:pt x="66675" y="123825"/>
                  </a:moveTo>
                  <a:lnTo>
                    <a:pt x="0" y="0"/>
                  </a:lnTo>
                  <a:lnTo>
                    <a:pt x="133350" y="0"/>
                  </a:lnTo>
                  <a:close/>
                </a:path>
              </a:pathLst>
            </a:custGeom>
            <a:solidFill>
              <a:srgbClr val="5B7C91"/>
            </a:solidFill>
            <a:ln>
              <a:noFill/>
            </a:ln>
          </p:spPr>
        </p:sp>
      </p:grpSp>
      <p:grpSp>
        <p:nvGrpSpPr>
          <p:cNvPr id="20" name="Group 20"/>
          <p:cNvGrpSpPr/>
          <p:nvPr/>
        </p:nvGrpSpPr>
        <p:grpSpPr>
          <a:xfrm>
            <a:off x="685800" y="1790700"/>
            <a:ext cx="5810250" cy="561975"/>
            <a:chOff x="685800" y="1790700"/>
            <a:chExt cx="5810250" cy="561975"/>
          </a:xfrm>
        </p:grpSpPr>
        <p:sp>
          <p:nvSpPr>
            <p:cNvPr id="16" name="Rectangle 16"/>
            <p:cNvSpPr/>
            <p:nvPr/>
          </p:nvSpPr>
          <p:spPr>
            <a:xfrm>
              <a:off x="685800" y="1790700"/>
              <a:ext cx="5810250" cy="552450"/>
            </a:xfrm>
            <a:prstGeom prst="rect">
              <a:avLst/>
            </a:prstGeom>
            <a:solidFill>
              <a:srgbClr val="FFFFFF"/>
            </a:solidFill>
            <a:ln w="14288">
              <a:solidFill>
                <a:srgbClr val="CBD5E1"/>
              </a:solidFill>
            </a:ln>
          </p:spPr>
        </p:sp>
        <p:sp>
          <p:nvSpPr>
            <p:cNvPr id="17" name="Rectangle 17"/>
            <p:cNvSpPr/>
            <p:nvPr/>
          </p:nvSpPr>
          <p:spPr>
            <a:xfrm>
              <a:off x="685800" y="1790700"/>
              <a:ext cx="76200" cy="552450"/>
            </a:xfrm>
            <a:prstGeom prst="rect">
              <a:avLst/>
            </a:prstGeom>
            <a:solidFill>
              <a:srgbClr val="173B57"/>
            </a:solidFill>
            <a:ln>
              <a:noFill/>
            </a:ln>
          </p:spPr>
        </p:sp>
        <p:sp>
          <p:nvSpPr>
            <p:cNvPr id="18" name="TextBox 18"/>
            <p:cNvSpPr txBox="1"/>
            <p:nvPr/>
          </p:nvSpPr>
          <p:spPr>
            <a:xfrm>
              <a:off x="914400" y="1866900"/>
              <a:ext cx="2463903" cy="304800"/>
            </a:xfrm>
            <a:prstGeom prst="rect">
              <a:avLst/>
            </a:prstGeom>
            <a:noFill/>
            <a:ln>
              <a:noFill/>
            </a:ln>
          </p:spPr>
          <p:txBody>
            <a:bodyPr wrap="none" lIns="0" tIns="0" rIns="0" bIns="0" anchor="t" anchorCtr="0">
              <a:spAutoFit/>
            </a:bodyPr>
            <a:lstStyle/>
            <a:p>
              <a:pPr algn="l"/>
              <a:r>
                <a:rPr lang="zh-CN" sz="1500" b="1" dirty="0">
                  <a:solidFill>
                    <a:srgbClr val="173B57"/>
                  </a:solidFill>
                  <a:latin typeface="Segoe UI Semibold" panose="020B0702040204020203"/>
                  <a:ea typeface="微软雅黑" panose="020B0503020204020204" charset="-122"/>
                  <a:cs typeface="Segoe UI Semibold" panose="020B0702040204020203"/>
                </a:rPr>
                <a:t>Actual trustworthiness</a:t>
              </a:r>
              <a:endParaRPr lang="zh-CN" sz="15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19" name="TextBox 19"/>
            <p:cNvSpPr txBox="1"/>
            <p:nvPr/>
          </p:nvSpPr>
          <p:spPr>
            <a:xfrm>
              <a:off x="918210" y="2108835"/>
              <a:ext cx="3350895"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Whether the AI is in fact worthy of trust.</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685800" y="2838450"/>
            <a:ext cx="5810250" cy="561975"/>
            <a:chOff x="685800" y="2838450"/>
            <a:chExt cx="5810250" cy="561975"/>
          </a:xfrm>
        </p:grpSpPr>
        <p:sp>
          <p:nvSpPr>
            <p:cNvPr id="21" name="Rectangle 21"/>
            <p:cNvSpPr/>
            <p:nvPr/>
          </p:nvSpPr>
          <p:spPr>
            <a:xfrm>
              <a:off x="685800" y="2838450"/>
              <a:ext cx="5810250" cy="552450"/>
            </a:xfrm>
            <a:prstGeom prst="rect">
              <a:avLst/>
            </a:prstGeom>
            <a:solidFill>
              <a:srgbClr val="FFFFFF"/>
            </a:solidFill>
            <a:ln w="14288">
              <a:solidFill>
                <a:srgbClr val="CBD5E1"/>
              </a:solidFill>
            </a:ln>
          </p:spPr>
        </p:sp>
        <p:sp>
          <p:nvSpPr>
            <p:cNvPr id="22" name="Rectangle 22"/>
            <p:cNvSpPr/>
            <p:nvPr/>
          </p:nvSpPr>
          <p:spPr>
            <a:xfrm>
              <a:off x="685800" y="2838450"/>
              <a:ext cx="76200" cy="552450"/>
            </a:xfrm>
            <a:prstGeom prst="rect">
              <a:avLst/>
            </a:prstGeom>
            <a:solidFill>
              <a:srgbClr val="5B7C91"/>
            </a:solidFill>
            <a:ln>
              <a:noFill/>
            </a:ln>
          </p:spPr>
        </p:sp>
        <p:sp>
          <p:nvSpPr>
            <p:cNvPr id="23" name="TextBox 23"/>
            <p:cNvSpPr txBox="1"/>
            <p:nvPr/>
          </p:nvSpPr>
          <p:spPr>
            <a:xfrm>
              <a:off x="914400" y="2914650"/>
              <a:ext cx="2810446" cy="304800"/>
            </a:xfrm>
            <a:prstGeom prst="rect">
              <a:avLst/>
            </a:prstGeom>
            <a:noFill/>
            <a:ln>
              <a:noFill/>
            </a:ln>
          </p:spPr>
          <p:txBody>
            <a:bodyPr wrap="none" lIns="0" tIns="0" rIns="0" bIns="0" anchor="t" anchorCtr="0">
              <a:spAutoFit/>
            </a:bodyPr>
            <a:lstStyle/>
            <a:p>
              <a:pPr algn="l"/>
              <a:r>
                <a:rPr lang="zh-CN" sz="1500" b="1" dirty="0">
                  <a:solidFill>
                    <a:srgbClr val="173B57"/>
                  </a:solidFill>
                  <a:latin typeface="Segoe UI Semibold" panose="020B0702040204020203"/>
                  <a:ea typeface="微软雅黑" panose="020B0503020204020204" charset="-122"/>
                  <a:cs typeface="Segoe UI Semibold" panose="020B0702040204020203"/>
                </a:rPr>
                <a:t>Perceived trustworthiness</a:t>
              </a:r>
              <a:endParaRPr lang="zh-CN" sz="15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4" name="TextBox 24"/>
            <p:cNvSpPr txBox="1"/>
            <p:nvPr/>
          </p:nvSpPr>
          <p:spPr>
            <a:xfrm>
              <a:off x="918210" y="3156585"/>
              <a:ext cx="4279011"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Whether the user judges the AI to be worthy of trust.</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30" name="Group 30"/>
          <p:cNvGrpSpPr/>
          <p:nvPr/>
        </p:nvGrpSpPr>
        <p:grpSpPr>
          <a:xfrm>
            <a:off x="685800" y="3886200"/>
            <a:ext cx="5810250" cy="561975"/>
            <a:chOff x="685800" y="3886200"/>
            <a:chExt cx="5810250" cy="561975"/>
          </a:xfrm>
        </p:grpSpPr>
        <p:sp>
          <p:nvSpPr>
            <p:cNvPr id="26" name="Rectangle 26"/>
            <p:cNvSpPr/>
            <p:nvPr/>
          </p:nvSpPr>
          <p:spPr>
            <a:xfrm>
              <a:off x="685800" y="3886200"/>
              <a:ext cx="5810250" cy="552450"/>
            </a:xfrm>
            <a:prstGeom prst="rect">
              <a:avLst/>
            </a:prstGeom>
            <a:solidFill>
              <a:srgbClr val="FFFFFF"/>
            </a:solidFill>
            <a:ln w="14288">
              <a:solidFill>
                <a:srgbClr val="CBD5E1"/>
              </a:solidFill>
            </a:ln>
          </p:spPr>
        </p:sp>
        <p:sp>
          <p:nvSpPr>
            <p:cNvPr id="27" name="Rectangle 27"/>
            <p:cNvSpPr/>
            <p:nvPr/>
          </p:nvSpPr>
          <p:spPr>
            <a:xfrm>
              <a:off x="685800" y="3886200"/>
              <a:ext cx="76200" cy="552450"/>
            </a:xfrm>
            <a:prstGeom prst="rect">
              <a:avLst/>
            </a:prstGeom>
            <a:solidFill>
              <a:srgbClr val="5B7C91"/>
            </a:solidFill>
            <a:ln>
              <a:noFill/>
            </a:ln>
          </p:spPr>
        </p:sp>
        <p:sp>
          <p:nvSpPr>
            <p:cNvPr id="28" name="TextBox 28"/>
            <p:cNvSpPr txBox="1"/>
            <p:nvPr/>
          </p:nvSpPr>
          <p:spPr>
            <a:xfrm>
              <a:off x="914400" y="3962400"/>
              <a:ext cx="1791819" cy="304800"/>
            </a:xfrm>
            <a:prstGeom prst="rect">
              <a:avLst/>
            </a:prstGeom>
            <a:noFill/>
            <a:ln>
              <a:noFill/>
            </a:ln>
          </p:spPr>
          <p:txBody>
            <a:bodyPr wrap="none" lIns="0" tIns="0" rIns="0" bIns="0" anchor="t" anchorCtr="0">
              <a:spAutoFit/>
            </a:bodyPr>
            <a:lstStyle/>
            <a:p>
              <a:pPr algn="l"/>
              <a:r>
                <a:rPr lang="zh-CN" sz="1500" b="1" dirty="0">
                  <a:solidFill>
                    <a:srgbClr val="173B57"/>
                  </a:solidFill>
                  <a:latin typeface="Segoe UI Semibold" panose="020B0702040204020203"/>
                  <a:ea typeface="微软雅黑" panose="020B0503020204020204" charset="-122"/>
                  <a:cs typeface="Segoe UI Semibold" panose="020B0702040204020203"/>
                </a:rPr>
                <a:t>Attitudinal trust</a:t>
              </a:r>
              <a:endParaRPr lang="zh-CN" sz="15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9" name="TextBox 29"/>
            <p:cNvSpPr txBox="1"/>
            <p:nvPr/>
          </p:nvSpPr>
          <p:spPr>
            <a:xfrm>
              <a:off x="918210" y="4204335"/>
              <a:ext cx="3502914"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Whether the user is willing to rely on the AI.</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685800" y="4933950"/>
            <a:ext cx="5810250" cy="561975"/>
            <a:chOff x="685800" y="4933950"/>
            <a:chExt cx="5810250" cy="561975"/>
          </a:xfrm>
        </p:grpSpPr>
        <p:sp>
          <p:nvSpPr>
            <p:cNvPr id="31" name="Rectangle 31"/>
            <p:cNvSpPr/>
            <p:nvPr/>
          </p:nvSpPr>
          <p:spPr>
            <a:xfrm>
              <a:off x="685800" y="4933950"/>
              <a:ext cx="5810250" cy="552450"/>
            </a:xfrm>
            <a:prstGeom prst="rect">
              <a:avLst/>
            </a:prstGeom>
            <a:solidFill>
              <a:srgbClr val="FFFFFF"/>
            </a:solidFill>
            <a:ln w="14288">
              <a:solidFill>
                <a:srgbClr val="CBD5E1"/>
              </a:solidFill>
            </a:ln>
          </p:spPr>
        </p:sp>
        <p:sp>
          <p:nvSpPr>
            <p:cNvPr id="32" name="Rectangle 32"/>
            <p:cNvSpPr/>
            <p:nvPr/>
          </p:nvSpPr>
          <p:spPr>
            <a:xfrm>
              <a:off x="685800" y="4933950"/>
              <a:ext cx="76200" cy="552450"/>
            </a:xfrm>
            <a:prstGeom prst="rect">
              <a:avLst/>
            </a:prstGeom>
            <a:solidFill>
              <a:srgbClr val="B42318"/>
            </a:solidFill>
            <a:ln>
              <a:noFill/>
            </a:ln>
          </p:spPr>
        </p:sp>
        <p:sp>
          <p:nvSpPr>
            <p:cNvPr id="33" name="TextBox 33"/>
            <p:cNvSpPr txBox="1"/>
            <p:nvPr/>
          </p:nvSpPr>
          <p:spPr>
            <a:xfrm>
              <a:off x="914400" y="5010150"/>
              <a:ext cx="1959840" cy="304800"/>
            </a:xfrm>
            <a:prstGeom prst="rect">
              <a:avLst/>
            </a:prstGeom>
            <a:noFill/>
            <a:ln>
              <a:noFill/>
            </a:ln>
          </p:spPr>
          <p:txBody>
            <a:bodyPr wrap="none" lIns="0" tIns="0" rIns="0" bIns="0" anchor="t" anchorCtr="0">
              <a:spAutoFit/>
            </a:bodyPr>
            <a:lstStyle/>
            <a:p>
              <a:pPr algn="l"/>
              <a:r>
                <a:rPr lang="zh-CN" sz="1500" b="1" dirty="0">
                  <a:solidFill>
                    <a:srgbClr val="173B57"/>
                  </a:solidFill>
                  <a:latin typeface="Segoe UI Semibold" panose="020B0702040204020203"/>
                  <a:ea typeface="微软雅黑" panose="020B0503020204020204" charset="-122"/>
                  <a:cs typeface="Segoe UI Semibold" panose="020B0702040204020203"/>
                </a:rPr>
                <a:t>Trusting behaviour</a:t>
              </a:r>
              <a:endParaRPr lang="zh-CN" sz="15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34" name="TextBox 34"/>
            <p:cNvSpPr txBox="1"/>
            <p:nvPr/>
          </p:nvSpPr>
          <p:spPr>
            <a:xfrm>
              <a:off x="918210" y="5252085"/>
              <a:ext cx="3366897"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Whether the user actually relies on the AI.</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7600950" y="1200150"/>
            <a:ext cx="3467100" cy="5391150"/>
            <a:chOff x="7600950" y="1200150"/>
            <a:chExt cx="3467100" cy="5391150"/>
          </a:xfrm>
        </p:grpSpPr>
        <p:sp>
          <p:nvSpPr>
            <p:cNvPr id="36" name="Rectangle 36"/>
            <p:cNvSpPr/>
            <p:nvPr/>
          </p:nvSpPr>
          <p:spPr>
            <a:xfrm>
              <a:off x="7600950" y="1200150"/>
              <a:ext cx="3467100" cy="5391150"/>
            </a:xfrm>
            <a:prstGeom prst="rect">
              <a:avLst/>
            </a:prstGeom>
            <a:solidFill>
              <a:srgbClr val="FFFFFF"/>
            </a:solidFill>
            <a:ln w="19050">
              <a:solidFill>
                <a:srgbClr val="173B57"/>
              </a:solidFill>
            </a:ln>
          </p:spPr>
        </p:sp>
        <p:pic>
          <p:nvPicPr>
            <p:cNvPr id="37" name="Image 37"/>
            <p:cNvPicPr>
              <a:picLocks noChangeAspect="1"/>
            </p:cNvPicPr>
            <p:nvPr/>
          </p:nvPicPr>
          <p:blipFill>
            <a:blip r:embed="rId1"/>
            <a:stretch>
              <a:fillRect/>
            </a:stretch>
          </p:blipFill>
          <p:spPr>
            <a:xfrm>
              <a:off x="7726489" y="1276350"/>
              <a:ext cx="3216116" cy="5238750"/>
            </a:xfrm>
            <a:prstGeom prst="rect">
              <a:avLst/>
            </a:prstGeom>
          </p:spPr>
        </p:pic>
      </p:grpSp>
      <p:grpSp>
        <p:nvGrpSpPr>
          <p:cNvPr id="41" name="Group 41"/>
          <p:cNvGrpSpPr/>
          <p:nvPr/>
        </p:nvGrpSpPr>
        <p:grpSpPr>
          <a:xfrm>
            <a:off x="7590472" y="1015841"/>
            <a:ext cx="4078605" cy="5711190"/>
            <a:chOff x="7590472" y="1015841"/>
            <a:chExt cx="4078605" cy="5711190"/>
          </a:xfrm>
        </p:grpSpPr>
        <p:sp>
          <p:nvSpPr>
            <p:cNvPr id="39" name="TextBox 39"/>
            <p:cNvSpPr txBox="1"/>
            <p:nvPr/>
          </p:nvSpPr>
          <p:spPr>
            <a:xfrm>
              <a:off x="7590472" y="1015841"/>
              <a:ext cx="2094714" cy="167640"/>
            </a:xfrm>
            <a:prstGeom prst="rect">
              <a:avLst/>
            </a:prstGeom>
            <a:noFill/>
            <a:ln>
              <a:noFill/>
            </a:ln>
          </p:spPr>
          <p:txBody>
            <a:bodyPr wrap="none" lIns="0" tIns="0" rIns="0" bIns="0" anchor="t" anchorCtr="0">
              <a:spAutoFit/>
            </a:bodyPr>
            <a:lstStyle/>
            <a:p>
              <a:pPr algn="l"/>
              <a:r>
                <a:rPr lang="zh-CN" sz="825" dirty="0">
                  <a:solidFill>
                    <a:srgbClr val="7B8794"/>
                  </a:solidFill>
                  <a:latin typeface="Segoe UI" panose="020B0502040204020203"/>
                  <a:ea typeface="微软雅黑" panose="020B0503020204020204" charset="-122"/>
                  <a:cs typeface="Segoe UI" panose="020B0502040204020203"/>
                </a:rPr>
                <a:t>Source excerpt: Everett et al. (2026)</a:t>
              </a:r>
              <a:endParaRPr lang="zh-CN" sz="825" dirty="0">
                <a:solidFill>
                  <a:srgbClr val="7B8794"/>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04</a:t>
              </a:r>
              <a:endParaRPr lang="zh-CN" sz="825" dirty="0">
                <a:solidFill>
                  <a:srgbClr val="7B8794"/>
                </a:solidFill>
                <a:latin typeface="Segoe UI" panose="020B0502040204020203"/>
                <a:ea typeface="微软雅黑" panose="020B0503020204020204" charset="-122"/>
                <a:cs typeface="Segoe UI" panose="020B0502040204020203"/>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372428"/>
            <a:ext cx="11157585" cy="518160"/>
            <a:chOff x="501015" y="372428"/>
            <a:chExt cx="11157585" cy="518160"/>
          </a:xfrm>
        </p:grpSpPr>
        <p:sp>
          <p:nvSpPr>
            <p:cNvPr id="3" name="TextBox 3"/>
            <p:cNvSpPr txBox="1"/>
            <p:nvPr/>
          </p:nvSpPr>
          <p:spPr>
            <a:xfrm>
              <a:off x="501015" y="372428"/>
              <a:ext cx="4117226"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Theoretical Background</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Rectangle 4"/>
            <p:cNvSpPr/>
            <p:nvPr/>
          </p:nvSpPr>
          <p:spPr>
            <a:xfrm>
              <a:off x="533400" y="838200"/>
              <a:ext cx="11125200" cy="28575"/>
            </a:xfrm>
            <a:prstGeom prst="rect">
              <a:avLst/>
            </a:prstGeom>
            <a:solidFill>
              <a:srgbClr val="173B57"/>
            </a:solidFill>
            <a:ln>
              <a:noFill/>
            </a:ln>
          </p:spPr>
        </p:sp>
      </p:grpSp>
      <p:grpSp>
        <p:nvGrpSpPr>
          <p:cNvPr id="19" name="Group 19"/>
          <p:cNvGrpSpPr/>
          <p:nvPr/>
        </p:nvGrpSpPr>
        <p:grpSpPr>
          <a:xfrm>
            <a:off x="533400" y="1162050"/>
            <a:ext cx="4095750" cy="4095750"/>
            <a:chOff x="533400" y="1162050"/>
            <a:chExt cx="4095750" cy="4095750"/>
          </a:xfrm>
        </p:grpSpPr>
        <p:sp>
          <p:nvSpPr>
            <p:cNvPr id="6" name="Rectangle 6"/>
            <p:cNvSpPr/>
            <p:nvPr/>
          </p:nvSpPr>
          <p:spPr>
            <a:xfrm>
              <a:off x="533400" y="1162050"/>
              <a:ext cx="4095750" cy="4095750"/>
            </a:xfrm>
            <a:prstGeom prst="rect">
              <a:avLst/>
            </a:prstGeom>
            <a:solidFill>
              <a:srgbClr val="FFFFFF"/>
            </a:solidFill>
            <a:ln w="14288">
              <a:solidFill>
                <a:srgbClr val="CBD5E1"/>
              </a:solidFill>
            </a:ln>
          </p:spPr>
        </p:sp>
        <p:sp>
          <p:nvSpPr>
            <p:cNvPr id="7" name="Rectangle 7"/>
            <p:cNvSpPr/>
            <p:nvPr/>
          </p:nvSpPr>
          <p:spPr>
            <a:xfrm>
              <a:off x="533400" y="1162050"/>
              <a:ext cx="4095750" cy="76200"/>
            </a:xfrm>
            <a:prstGeom prst="rect">
              <a:avLst/>
            </a:prstGeom>
            <a:solidFill>
              <a:srgbClr val="173B57"/>
            </a:solidFill>
            <a:ln>
              <a:noFill/>
            </a:ln>
          </p:spPr>
        </p:sp>
        <p:sp>
          <p:nvSpPr>
            <p:cNvPr id="8" name="TextBox 8"/>
            <p:cNvSpPr txBox="1"/>
            <p:nvPr/>
          </p:nvSpPr>
          <p:spPr>
            <a:xfrm>
              <a:off x="758190" y="1405890"/>
              <a:ext cx="2641644" cy="365760"/>
            </a:xfrm>
            <a:prstGeom prst="rect">
              <a:avLst/>
            </a:prstGeom>
            <a:noFill/>
            <a:ln>
              <a:noFill/>
            </a:ln>
          </p:spPr>
          <p:txBody>
            <a:bodyPr wrap="none" lIns="0" tIns="0" rIns="0" bIns="0" anchor="t" anchorCtr="0">
              <a:spAutoFit/>
            </a:bodyPr>
            <a:lstStyle/>
            <a:p>
              <a:pPr algn="l"/>
              <a:r>
                <a:rPr lang="zh-CN" sz="1800" b="1" dirty="0">
                  <a:solidFill>
                    <a:srgbClr val="173B57"/>
                  </a:solidFill>
                  <a:latin typeface="Segoe UI Semibold" panose="020B0702040204020203"/>
                  <a:ea typeface="微软雅黑" panose="020B0503020204020204" charset="-122"/>
                  <a:cs typeface="Segoe UI Semibold" panose="020B0702040204020203"/>
                </a:rPr>
                <a:t>Greiner et al. (2026)</a:t>
              </a:r>
              <a:endParaRPr lang="zh-CN" sz="18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9" name="TextBox 9"/>
            <p:cNvSpPr txBox="1"/>
            <p:nvPr/>
          </p:nvSpPr>
          <p:spPr>
            <a:xfrm>
              <a:off x="763905" y="1892618"/>
              <a:ext cx="1707149" cy="274320"/>
            </a:xfrm>
            <a:prstGeom prst="rect">
              <a:avLst/>
            </a:prstGeom>
            <a:noFill/>
            <a:ln>
              <a:noFill/>
            </a:ln>
          </p:spPr>
          <p:txBody>
            <a:bodyPr wrap="none" lIns="0" tIns="0" rIns="0" bIns="0" anchor="t" anchorCtr="0">
              <a:spAutoFit/>
            </a:bodyPr>
            <a:lstStyle/>
            <a:p>
              <a:pPr algn="l"/>
              <a:r>
                <a:rPr lang="zh-CN" sz="1350" b="1" dirty="0">
                  <a:solidFill>
                    <a:srgbClr val="1F2933"/>
                  </a:solidFill>
                  <a:latin typeface="Segoe UI Semibold" panose="020B0702040204020203"/>
                  <a:ea typeface="微软雅黑" panose="020B0503020204020204" charset="-122"/>
                  <a:cs typeface="Segoe UI Semibold" panose="020B0702040204020203"/>
                </a:rPr>
                <a:t>Research question</a:t>
              </a:r>
              <a:endParaRPr lang="zh-CN" sz="1350" b="1" dirty="0">
                <a:solidFill>
                  <a:srgbClr val="1F2933"/>
                </a:solidFill>
                <a:latin typeface="Segoe UI Semibold" panose="020B0702040204020203"/>
                <a:ea typeface="微软雅黑" panose="020B0503020204020204" charset="-122"/>
                <a:cs typeface="Segoe UI Semibold" panose="020B0702040204020203"/>
              </a:endParaRPr>
            </a:p>
          </p:txBody>
        </p:sp>
        <p:sp>
          <p:nvSpPr>
            <p:cNvPr id="10" name="TextBox 10"/>
            <p:cNvSpPr txBox="1"/>
            <p:nvPr/>
          </p:nvSpPr>
          <p:spPr>
            <a:xfrm>
              <a:off x="763905" y="2197418"/>
              <a:ext cx="3292697"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In AI-assisted decision contexts, can</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763905" y="2454592"/>
              <a:ext cx="3256693"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incentives make decision-makers use</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763905" y="2711768"/>
              <a:ext cx="2698623"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more of an algorithm known to</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763905" y="2968942"/>
              <a:ext cx="259061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outperform average humans?</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4" name="Line 14"/>
            <p:cNvSpPr/>
            <p:nvPr/>
          </p:nvSpPr>
          <p:spPr>
            <a:xfrm>
              <a:off x="781050" y="3581400"/>
              <a:ext cx="3581400" cy="9525"/>
            </a:xfrm>
            <a:custGeom>
              <a:avLst/>
              <a:gdLst/>
              <a:ahLst/>
              <a:cxnLst/>
              <a:rect l="l" t="t" r="r" b="b"/>
              <a:pathLst>
                <a:path w="3581400" h="9525">
                  <a:moveTo>
                    <a:pt x="0" y="0"/>
                  </a:moveTo>
                  <a:lnTo>
                    <a:pt x="3581400" y="0"/>
                  </a:lnTo>
                </a:path>
              </a:pathLst>
            </a:custGeom>
            <a:noFill/>
            <a:ln w="9525">
              <a:solidFill>
                <a:srgbClr val="CBD5E1"/>
              </a:solidFill>
            </a:ln>
          </p:spPr>
        </p:sp>
        <p:sp>
          <p:nvSpPr>
            <p:cNvPr id="15" name="TextBox 15"/>
            <p:cNvSpPr txBox="1"/>
            <p:nvPr/>
          </p:nvSpPr>
          <p:spPr>
            <a:xfrm>
              <a:off x="763905" y="3797618"/>
              <a:ext cx="2775133" cy="274320"/>
            </a:xfrm>
            <a:prstGeom prst="rect">
              <a:avLst/>
            </a:prstGeom>
            <a:noFill/>
            <a:ln>
              <a:noFill/>
            </a:ln>
          </p:spPr>
          <p:txBody>
            <a:bodyPr wrap="none" lIns="0" tIns="0" rIns="0" bIns="0" anchor="t" anchorCtr="0">
              <a:spAutoFit/>
            </a:bodyPr>
            <a:lstStyle/>
            <a:p>
              <a:pPr algn="l"/>
              <a:r>
                <a:rPr lang="zh-CN" sz="1350" b="1" dirty="0">
                  <a:solidFill>
                    <a:srgbClr val="1F2933"/>
                  </a:solidFill>
                  <a:latin typeface="Segoe UI Semibold" panose="020B0702040204020203"/>
                  <a:ea typeface="微软雅黑" panose="020B0503020204020204" charset="-122"/>
                  <a:cs typeface="Segoe UI Semibold" panose="020B0702040204020203"/>
                </a:rPr>
                <a:t>Management-control question</a:t>
              </a:r>
              <a:endParaRPr lang="zh-CN" sz="1350" b="1" dirty="0">
                <a:solidFill>
                  <a:srgbClr val="1F2933"/>
                </a:solidFill>
                <a:latin typeface="Segoe UI Semibold" panose="020B0702040204020203"/>
                <a:ea typeface="微软雅黑" panose="020B0503020204020204" charset="-122"/>
                <a:cs typeface="Segoe UI Semibold" panose="020B0702040204020203"/>
              </a:endParaRPr>
            </a:p>
          </p:txBody>
        </p:sp>
        <p:sp>
          <p:nvSpPr>
            <p:cNvPr id="16" name="TextBox 16"/>
            <p:cNvSpPr txBox="1"/>
            <p:nvPr/>
          </p:nvSpPr>
          <p:spPr>
            <a:xfrm>
              <a:off x="765810" y="4118610"/>
              <a:ext cx="3070860"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Does the earlier finding that “financial</a:t>
              </a:r>
              <a:endParaRPr lang="zh-CN" sz="1200" dirty="0">
                <a:solidFill>
                  <a:srgbClr val="52606D"/>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65810" y="4337685"/>
              <a:ext cx="3278886"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incentives backfire” still hold for modern</a:t>
              </a:r>
              <a:endParaRPr lang="zh-CN" sz="1200" dirty="0">
                <a:solidFill>
                  <a:srgbClr val="52606D"/>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765810" y="4556760"/>
              <a:ext cx="1374648"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AI decision tools?</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5025390" y="1177290"/>
            <a:ext cx="7399782" cy="2842260"/>
            <a:chOff x="5025390" y="1177290"/>
            <a:chExt cx="7399782" cy="2842260"/>
          </a:xfrm>
        </p:grpSpPr>
        <p:sp>
          <p:nvSpPr>
            <p:cNvPr id="20" name="TextBox 20"/>
            <p:cNvSpPr txBox="1"/>
            <p:nvPr/>
          </p:nvSpPr>
          <p:spPr>
            <a:xfrm>
              <a:off x="5025390" y="1177290"/>
              <a:ext cx="1431893" cy="365760"/>
            </a:xfrm>
            <a:prstGeom prst="rect">
              <a:avLst/>
            </a:prstGeom>
            <a:noFill/>
            <a:ln>
              <a:noFill/>
            </a:ln>
          </p:spPr>
          <p:txBody>
            <a:bodyPr wrap="none" lIns="0" tIns="0" rIns="0" bIns="0" anchor="t" anchorCtr="0">
              <a:spAutoFit/>
            </a:bodyPr>
            <a:lstStyle/>
            <a:p>
              <a:pPr algn="l"/>
              <a:r>
                <a:rPr lang="zh-CN" sz="1800" b="1" dirty="0">
                  <a:solidFill>
                    <a:srgbClr val="B42318"/>
                  </a:solidFill>
                  <a:latin typeface="Segoe UI Semibold" panose="020B0702040204020203"/>
                  <a:ea typeface="微软雅黑" panose="020B0503020204020204" charset="-122"/>
                  <a:cs typeface="Segoe UI Semibold" panose="020B0702040204020203"/>
                </a:rPr>
                <a:t>Limitations</a:t>
              </a:r>
              <a:endParaRPr lang="zh-CN" sz="1800" b="1" dirty="0">
                <a:solidFill>
                  <a:srgbClr val="B42318"/>
                </a:solidFill>
                <a:latin typeface="Segoe UI Semibold" panose="020B0702040204020203"/>
                <a:ea typeface="微软雅黑" panose="020B0503020204020204" charset="-122"/>
                <a:cs typeface="Segoe UI Semibold" panose="020B0702040204020203"/>
              </a:endParaRPr>
            </a:p>
          </p:txBody>
        </p:sp>
        <p:grpSp>
          <p:nvGrpSpPr>
            <p:cNvPr id="24" name="Group 24"/>
            <p:cNvGrpSpPr/>
            <p:nvPr/>
          </p:nvGrpSpPr>
          <p:grpSpPr>
            <a:xfrm>
              <a:off x="5162550" y="1623060"/>
              <a:ext cx="6462522" cy="453390"/>
              <a:chOff x="5162550" y="1623060"/>
              <a:chExt cx="6462522" cy="453390"/>
            </a:xfrm>
          </p:grpSpPr>
          <p:sp>
            <p:nvSpPr>
              <p:cNvPr id="21" name="Ellipse 21"/>
              <p:cNvSpPr/>
              <p:nvPr/>
            </p:nvSpPr>
            <p:spPr>
              <a:xfrm>
                <a:off x="5162550" y="1752600"/>
                <a:ext cx="76200" cy="76200"/>
              </a:xfrm>
              <a:prstGeom prst="ellipse">
                <a:avLst/>
              </a:prstGeom>
              <a:solidFill>
                <a:srgbClr val="B42318"/>
              </a:solidFill>
              <a:ln>
                <a:noFill/>
              </a:ln>
            </p:spPr>
          </p:sp>
          <p:sp>
            <p:nvSpPr>
              <p:cNvPr id="22" name="TextBox 22"/>
              <p:cNvSpPr txBox="1"/>
              <p:nvPr/>
            </p:nvSpPr>
            <p:spPr>
              <a:xfrm>
                <a:off x="5337810" y="1623060"/>
                <a:ext cx="628726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The primary dependent variable is the weight placed on algorithmic advice, not a</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5337810" y="1832610"/>
                <a:ext cx="567918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systematic measure of perceived trustworthiness or attitudinal trust.</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5162550" y="2270760"/>
              <a:ext cx="6342507" cy="453390"/>
              <a:chOff x="5162550" y="2270760"/>
              <a:chExt cx="6342507" cy="453390"/>
            </a:xfrm>
          </p:grpSpPr>
          <p:sp>
            <p:nvSpPr>
              <p:cNvPr id="25" name="Ellipse 25"/>
              <p:cNvSpPr/>
              <p:nvPr/>
            </p:nvSpPr>
            <p:spPr>
              <a:xfrm>
                <a:off x="5162550" y="2400300"/>
                <a:ext cx="76200" cy="76200"/>
              </a:xfrm>
              <a:prstGeom prst="ellipse">
                <a:avLst/>
              </a:prstGeom>
              <a:solidFill>
                <a:srgbClr val="B42318"/>
              </a:solidFill>
              <a:ln>
                <a:noFill/>
              </a:ln>
            </p:spPr>
          </p:sp>
          <p:sp>
            <p:nvSpPr>
              <p:cNvPr id="26" name="TextBox 26"/>
              <p:cNvSpPr txBox="1"/>
              <p:nvPr/>
            </p:nvSpPr>
            <p:spPr>
              <a:xfrm>
                <a:off x="5337810" y="2270760"/>
                <a:ext cx="616724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Algorithm capability does not vary across incentive conditions; the study uses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5337810" y="2480310"/>
                <a:ext cx="332689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only one relatively high-quality algorithm.</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5162550" y="2918460"/>
              <a:ext cx="7262622" cy="453390"/>
              <a:chOff x="5162550" y="2918460"/>
              <a:chExt cx="7262622" cy="453390"/>
            </a:xfrm>
          </p:grpSpPr>
          <p:sp>
            <p:nvSpPr>
              <p:cNvPr id="29" name="Ellipse 29"/>
              <p:cNvSpPr/>
              <p:nvPr/>
            </p:nvSpPr>
            <p:spPr>
              <a:xfrm>
                <a:off x="5162550" y="3048000"/>
                <a:ext cx="76200" cy="76200"/>
              </a:xfrm>
              <a:prstGeom prst="ellipse">
                <a:avLst/>
              </a:prstGeom>
              <a:solidFill>
                <a:srgbClr val="B42318"/>
              </a:solidFill>
              <a:ln>
                <a:noFill/>
              </a:ln>
            </p:spPr>
          </p:sp>
          <p:sp>
            <p:nvSpPr>
              <p:cNvPr id="30" name="TextBox 30"/>
              <p:cNvSpPr txBox="1"/>
              <p:nvPr/>
            </p:nvSpPr>
            <p:spPr>
              <a:xfrm>
                <a:off x="5337810" y="2918460"/>
                <a:ext cx="637527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Trustworthiness is measured only after the experiment with a single item, which</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5337810" y="3128010"/>
                <a:ext cx="708736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cannot distinguish perceived trustworthiness, attitudinal trust, and trusting behaviour.</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5162550" y="3566160"/>
              <a:ext cx="6238494" cy="453390"/>
              <a:chOff x="5162550" y="3566160"/>
              <a:chExt cx="6238494" cy="453390"/>
            </a:xfrm>
          </p:grpSpPr>
          <p:sp>
            <p:nvSpPr>
              <p:cNvPr id="33" name="Ellipse 33"/>
              <p:cNvSpPr/>
              <p:nvPr/>
            </p:nvSpPr>
            <p:spPr>
              <a:xfrm>
                <a:off x="5162550" y="3695700"/>
                <a:ext cx="76200" cy="76200"/>
              </a:xfrm>
              <a:prstGeom prst="ellipse">
                <a:avLst/>
              </a:prstGeom>
              <a:solidFill>
                <a:srgbClr val="B42318"/>
              </a:solidFill>
              <a:ln>
                <a:noFill/>
              </a:ln>
            </p:spPr>
          </p:sp>
          <p:sp>
            <p:nvSpPr>
              <p:cNvPr id="34" name="TextBox 34"/>
              <p:cNvSpPr txBox="1"/>
              <p:nvPr/>
            </p:nvSpPr>
            <p:spPr>
              <a:xfrm>
                <a:off x="5337810" y="3566160"/>
                <a:ext cx="606323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Subjective capability judgments are not compared with an objective capability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5337810" y="3775710"/>
                <a:ext cx="600722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benchmark, so trust calibration or trust misalignment cannot be identified.</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grpSp>
        <p:nvGrpSpPr>
          <p:cNvPr id="41" name="Group 41"/>
          <p:cNvGrpSpPr/>
          <p:nvPr/>
        </p:nvGrpSpPr>
        <p:grpSpPr>
          <a:xfrm>
            <a:off x="533400" y="5543550"/>
            <a:ext cx="11125200" cy="723900"/>
            <a:chOff x="533400" y="5543550"/>
            <a:chExt cx="11125200" cy="723900"/>
          </a:xfrm>
        </p:grpSpPr>
        <p:sp>
          <p:nvSpPr>
            <p:cNvPr id="38" name="Rectangle 38"/>
            <p:cNvSpPr/>
            <p:nvPr/>
          </p:nvSpPr>
          <p:spPr>
            <a:xfrm>
              <a:off x="533400" y="5543550"/>
              <a:ext cx="11125200" cy="723900"/>
            </a:xfrm>
            <a:prstGeom prst="rect">
              <a:avLst/>
            </a:prstGeom>
            <a:solidFill>
              <a:srgbClr val="173B57"/>
            </a:solidFill>
            <a:ln>
              <a:noFill/>
            </a:ln>
          </p:spPr>
        </p:sp>
        <p:sp>
          <p:nvSpPr>
            <p:cNvPr id="39" name="TextBox 39"/>
            <p:cNvSpPr txBox="1"/>
            <p:nvPr/>
          </p:nvSpPr>
          <p:spPr>
            <a:xfrm>
              <a:off x="744855" y="5693092"/>
              <a:ext cx="2321476"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Segoe UI Semibold" panose="020B0702040204020203"/>
                  <a:ea typeface="微软雅黑" panose="020B0503020204020204" charset="-122"/>
                  <a:cs typeface="Segoe UI Semibold" panose="020B0702040204020203"/>
                </a:rPr>
                <a:t>Our study further asks:</a:t>
              </a:r>
              <a:endParaRPr lang="zh-CN" sz="1350" b="1" dirty="0">
                <a:solidFill>
                  <a:srgbClr val="FFFFFF"/>
                </a:solidFill>
                <a:latin typeface="Segoe UI Semibold" panose="020B0702040204020203"/>
                <a:ea typeface="微软雅黑" panose="020B0503020204020204" charset="-122"/>
                <a:cs typeface="Segoe UI Semibold" panose="020B0702040204020203"/>
              </a:endParaRPr>
            </a:p>
          </p:txBody>
        </p:sp>
        <p:sp>
          <p:nvSpPr>
            <p:cNvPr id="40" name="TextBox 40"/>
            <p:cNvSpPr txBox="1"/>
            <p:nvPr/>
          </p:nvSpPr>
          <p:spPr>
            <a:xfrm>
              <a:off x="744855" y="5969318"/>
              <a:ext cx="660511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panose="020B0502040204020203"/>
                  <a:ea typeface="微软雅黑" panose="020B0503020204020204" charset="-122"/>
                  <a:cs typeface="Segoe UI" panose="020B0502040204020203"/>
                </a:rPr>
                <a:t>Do incentive-induced changes in trust align with the AI’s actual capability?</a:t>
              </a:r>
              <a:endParaRPr lang="zh-CN" sz="1350" dirty="0">
                <a:solidFill>
                  <a:srgbClr val="FFFFFF"/>
                </a:solidFill>
                <a:latin typeface="Segoe UI" panose="020B0502040204020203"/>
                <a:ea typeface="微软雅黑" panose="020B0503020204020204" charset="-122"/>
                <a:cs typeface="Segoe UI" panose="020B0502040204020203"/>
              </a:endParaRPr>
            </a:p>
          </p:txBody>
        </p:sp>
      </p:grpSp>
      <p:sp>
        <p:nvSpPr>
          <p:cNvPr id="42" name="TextBox 42"/>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05</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6" name="Group 6"/>
          <p:cNvGrpSpPr/>
          <p:nvPr/>
        </p:nvGrpSpPr>
        <p:grpSpPr>
          <a:xfrm>
            <a:off x="504825" y="271462"/>
            <a:ext cx="11153775" cy="819150"/>
            <a:chOff x="504825" y="271462"/>
            <a:chExt cx="11153775" cy="819150"/>
          </a:xfrm>
        </p:grpSpPr>
        <p:sp>
          <p:nvSpPr>
            <p:cNvPr id="3" name="TextBox 3"/>
            <p:cNvSpPr txBox="1"/>
            <p:nvPr/>
          </p:nvSpPr>
          <p:spPr>
            <a:xfrm>
              <a:off x="504825" y="271462"/>
              <a:ext cx="10421945" cy="457200"/>
            </a:xfrm>
            <a:prstGeom prst="rect">
              <a:avLst/>
            </a:prstGeom>
            <a:noFill/>
            <a:ln>
              <a:noFill/>
            </a:ln>
          </p:spPr>
          <p:txBody>
            <a:bodyPr wrap="none" lIns="0" tIns="0" rIns="0" bIns="0" anchor="t" anchorCtr="0">
              <a:spAutoFit/>
            </a:bodyPr>
            <a:lstStyle/>
            <a:p>
              <a:pPr algn="l"/>
              <a:r>
                <a:rPr lang="zh-CN" sz="2250" b="1" dirty="0">
                  <a:solidFill>
                    <a:srgbClr val="173B57"/>
                  </a:solidFill>
                  <a:latin typeface="Segoe UI" panose="020B0502040204020203"/>
                  <a:ea typeface="微软雅黑" panose="020B0503020204020204" charset="-122"/>
                  <a:cs typeface="Segoe UI" panose="020B0502040204020203"/>
                </a:rPr>
                <a:t>Theoretical Conflict: Economic Incentives May Change Only Choices—</a:t>
              </a:r>
              <a:endParaRPr lang="zh-CN" sz="2250" b="1" dirty="0">
                <a:solidFill>
                  <a:srgbClr val="173B57"/>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04825" y="633412"/>
              <a:ext cx="5223796" cy="457200"/>
            </a:xfrm>
            <a:prstGeom prst="rect">
              <a:avLst/>
            </a:prstGeom>
            <a:noFill/>
            <a:ln>
              <a:noFill/>
            </a:ln>
          </p:spPr>
          <p:txBody>
            <a:bodyPr wrap="none" lIns="0" tIns="0" rIns="0" bIns="0" anchor="t" anchorCtr="0">
              <a:spAutoFit/>
            </a:bodyPr>
            <a:lstStyle/>
            <a:p>
              <a:pPr algn="l"/>
              <a:r>
                <a:rPr lang="zh-CN" sz="2250" b="1" dirty="0">
                  <a:solidFill>
                    <a:srgbClr val="173B57"/>
                  </a:solidFill>
                  <a:latin typeface="Segoe UI" panose="020B0502040204020203"/>
                  <a:ea typeface="微软雅黑" panose="020B0503020204020204" charset="-122"/>
                  <a:cs typeface="Segoe UI" panose="020B0502040204020203"/>
                </a:rPr>
                <a:t>or Also Judgments of AI Capability</a:t>
              </a:r>
              <a:endParaRPr lang="zh-CN" sz="2250" b="1" dirty="0">
                <a:solidFill>
                  <a:srgbClr val="173B57"/>
                </a:solidFill>
                <a:latin typeface="Segoe UI" panose="020B0502040204020203"/>
                <a:ea typeface="微软雅黑" panose="020B0503020204020204" charset="-122"/>
                <a:cs typeface="Segoe UI" panose="020B0502040204020203"/>
              </a:endParaRPr>
            </a:p>
          </p:txBody>
        </p:sp>
        <p:sp>
          <p:nvSpPr>
            <p:cNvPr id="5" name="Rectangle 5"/>
            <p:cNvSpPr/>
            <p:nvPr/>
          </p:nvSpPr>
          <p:spPr>
            <a:xfrm>
              <a:off x="533400" y="1047750"/>
              <a:ext cx="11125200" cy="28575"/>
            </a:xfrm>
            <a:prstGeom prst="rect">
              <a:avLst/>
            </a:prstGeom>
            <a:solidFill>
              <a:srgbClr val="173B57"/>
            </a:solidFill>
            <a:ln>
              <a:noFill/>
            </a:ln>
          </p:spPr>
        </p:sp>
      </p:grpSp>
      <p:sp>
        <p:nvSpPr>
          <p:cNvPr id="7" name="Line 7"/>
          <p:cNvSpPr/>
          <p:nvPr/>
        </p:nvSpPr>
        <p:spPr>
          <a:xfrm>
            <a:off x="6096000" y="1352550"/>
            <a:ext cx="9525" cy="4972050"/>
          </a:xfrm>
          <a:custGeom>
            <a:avLst/>
            <a:gdLst/>
            <a:ahLst/>
            <a:cxnLst/>
            <a:rect l="l" t="t" r="r" b="b"/>
            <a:pathLst>
              <a:path w="9525" h="4972050">
                <a:moveTo>
                  <a:pt x="0" y="0"/>
                </a:moveTo>
                <a:lnTo>
                  <a:pt x="0" y="4972050"/>
                </a:lnTo>
              </a:path>
            </a:pathLst>
          </a:custGeom>
          <a:noFill/>
          <a:ln w="19050">
            <a:solidFill>
              <a:srgbClr val="CBD5E1"/>
            </a:solidFill>
          </a:ln>
        </p:spPr>
      </p:sp>
      <p:grpSp>
        <p:nvGrpSpPr>
          <p:cNvPr id="21" name="Group 21"/>
          <p:cNvGrpSpPr/>
          <p:nvPr/>
        </p:nvGrpSpPr>
        <p:grpSpPr>
          <a:xfrm>
            <a:off x="662940" y="1463040"/>
            <a:ext cx="5194935" cy="4271010"/>
            <a:chOff x="662940" y="1463040"/>
            <a:chExt cx="5194935" cy="4271010"/>
          </a:xfrm>
        </p:grpSpPr>
        <p:sp>
          <p:nvSpPr>
            <p:cNvPr id="8" name="TextBox 8"/>
            <p:cNvSpPr txBox="1"/>
            <p:nvPr/>
          </p:nvSpPr>
          <p:spPr>
            <a:xfrm>
              <a:off x="662940" y="1463040"/>
              <a:ext cx="4846920" cy="365760"/>
            </a:xfrm>
            <a:prstGeom prst="rect">
              <a:avLst/>
            </a:prstGeom>
            <a:noFill/>
            <a:ln>
              <a:noFill/>
            </a:ln>
          </p:spPr>
          <p:txBody>
            <a:bodyPr wrap="none" lIns="0" tIns="0" rIns="0" bIns="0" anchor="t" anchorCtr="0">
              <a:spAutoFit/>
            </a:bodyPr>
            <a:lstStyle/>
            <a:p>
              <a:pPr algn="l"/>
              <a:r>
                <a:rPr lang="zh-CN" sz="1800" b="1" dirty="0">
                  <a:solidFill>
                    <a:srgbClr val="173B57"/>
                  </a:solidFill>
                  <a:latin typeface="Segoe UI Semibold" panose="020B0702040204020203"/>
                  <a:ea typeface="微软雅黑" panose="020B0503020204020204" charset="-122"/>
                  <a:cs typeface="Segoe UI Semibold" panose="020B0702040204020203"/>
                </a:rPr>
                <a:t>Incentive Contracting and Performance</a:t>
              </a:r>
              <a:endParaRPr lang="zh-CN" sz="18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9" name="TextBox 9"/>
            <p:cNvSpPr txBox="1"/>
            <p:nvPr/>
          </p:nvSpPr>
          <p:spPr>
            <a:xfrm>
              <a:off x="669608" y="1938814"/>
              <a:ext cx="410439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Organizations can directly reward employees for</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669608" y="2176939"/>
              <a:ext cx="416390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adopting AI advice, but “adopting AI advice” is not</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669608" y="2415064"/>
              <a:ext cx="416390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fully equivalent to decision quality or appropriate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669608" y="2653189"/>
              <a:ext cx="3891867"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reliance, which organizations ultimately seek.</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669608" y="3081814"/>
              <a:ext cx="4648462"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When a rewarded performance measure is not perfectly</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669608" y="3319939"/>
              <a:ext cx="469946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aligned with the true objective, incentives may increase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669608" y="3558064"/>
              <a:ext cx="4605957"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the measured behaviour without improving the outcome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669608" y="3796189"/>
              <a:ext cx="3152275"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the organization actually cares about</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669608" y="4034314"/>
              <a:ext cx="233617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(Baker, 1992; Kerr, 1975).</a:t>
              </a:r>
              <a:endParaRPr lang="zh-CN" sz="1275" dirty="0">
                <a:solidFill>
                  <a:srgbClr val="1F2933"/>
                </a:solidFill>
                <a:latin typeface="Segoe UI" panose="020B0502040204020203"/>
                <a:ea typeface="微软雅黑" panose="020B0503020204020204" charset="-122"/>
                <a:cs typeface="Segoe UI" panose="020B0502040204020203"/>
              </a:endParaRPr>
            </a:p>
          </p:txBody>
        </p:sp>
        <p:pic>
          <p:nvPicPr>
            <p:cNvPr id="18" name="Image 18"/>
            <p:cNvPicPr>
              <a:picLocks noChangeAspect="1"/>
            </p:cNvPicPr>
            <p:nvPr/>
          </p:nvPicPr>
          <p:blipFill>
            <a:blip r:embed="rId1"/>
            <a:stretch>
              <a:fillRect/>
            </a:stretch>
          </p:blipFill>
          <p:spPr>
            <a:xfrm>
              <a:off x="762000" y="4611529"/>
              <a:ext cx="4953000" cy="282988"/>
            </a:xfrm>
            <a:prstGeom prst="rect">
              <a:avLst/>
            </a:prstGeom>
          </p:spPr>
        </p:pic>
        <p:sp>
          <p:nvSpPr>
            <p:cNvPr id="19" name="TextBox 19"/>
            <p:cNvSpPr txBox="1"/>
            <p:nvPr/>
          </p:nvSpPr>
          <p:spPr>
            <a:xfrm>
              <a:off x="746760" y="5185410"/>
              <a:ext cx="3166872"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panose="020B0502040204020203"/>
                  <a:ea typeface="微软雅黑" panose="020B0503020204020204" charset="-122"/>
                  <a:cs typeface="Segoe UI" panose="020B0502040204020203"/>
                </a:rPr>
                <a:t>Rewarded measure:</a:t>
              </a:r>
              <a:r>
                <a:rPr lang="zh-CN" sz="1200" dirty="0">
                  <a:solidFill>
                    <a:srgbClr val="52606D"/>
                  </a:solidFill>
                  <a:latin typeface="Segoe UI" panose="020B0502040204020203"/>
                  <a:ea typeface="微软雅黑" panose="020B0503020204020204" charset="-122"/>
                  <a:cs typeface="Segoe UI" panose="020B0502040204020203"/>
                </a:rPr>
                <a:t> Reliance on AI advice</a:t>
              </a:r>
              <a:endParaRPr lang="zh-CN" sz="1200" dirty="0">
                <a:solidFill>
                  <a:srgbClr val="52606D"/>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746760" y="5490210"/>
              <a:ext cx="5111115" cy="243840"/>
            </a:xfrm>
            <a:prstGeom prst="rect">
              <a:avLst/>
            </a:prstGeom>
            <a:noFill/>
            <a:ln>
              <a:noFill/>
            </a:ln>
          </p:spPr>
          <p:txBody>
            <a:bodyPr wrap="none" lIns="0" tIns="0" rIns="0" bIns="0" anchor="t" anchorCtr="0">
              <a:spAutoFit/>
            </a:bodyPr>
            <a:lstStyle/>
            <a:p>
              <a:pPr algn="l"/>
              <a:r>
                <a:rPr lang="zh-CN" sz="1200" b="1" dirty="0">
                  <a:solidFill>
                    <a:srgbClr val="173B57"/>
                  </a:solidFill>
                  <a:latin typeface="Segoe UI" panose="020B0502040204020203"/>
                  <a:ea typeface="微软雅黑" panose="020B0503020204020204" charset="-122"/>
                  <a:cs typeface="Segoe UI" panose="020B0502040204020203"/>
                </a:rPr>
                <a:t>Organizational objective:</a:t>
              </a:r>
              <a:r>
                <a:rPr lang="zh-CN" sz="1200" dirty="0">
                  <a:solidFill>
                    <a:srgbClr val="52606D"/>
                  </a:solidFill>
                  <a:latin typeface="Segoe UI" panose="020B0502040204020203"/>
                  <a:ea typeface="微软雅黑" panose="020B0503020204020204" charset="-122"/>
                  <a:cs typeface="Segoe UI" panose="020B0502040204020203"/>
                </a:rPr>
                <a:t> Decision quality and calibrated reliance</a:t>
              </a:r>
              <a:endParaRPr lang="zh-CN" sz="1200" dirty="0">
                <a:solidFill>
                  <a:srgbClr val="52606D"/>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6454140" y="1463040"/>
            <a:ext cx="4975860" cy="4537710"/>
            <a:chOff x="6454140" y="1463040"/>
            <a:chExt cx="4975860" cy="4537710"/>
          </a:xfrm>
        </p:grpSpPr>
        <p:sp>
          <p:nvSpPr>
            <p:cNvPr id="22" name="TextBox 22"/>
            <p:cNvSpPr txBox="1"/>
            <p:nvPr/>
          </p:nvSpPr>
          <p:spPr>
            <a:xfrm>
              <a:off x="6454140" y="1463040"/>
              <a:ext cx="3574161" cy="365760"/>
            </a:xfrm>
            <a:prstGeom prst="rect">
              <a:avLst/>
            </a:prstGeom>
            <a:noFill/>
            <a:ln>
              <a:noFill/>
            </a:ln>
          </p:spPr>
          <p:txBody>
            <a:bodyPr wrap="none" lIns="0" tIns="0" rIns="0" bIns="0" anchor="t" anchorCtr="0">
              <a:spAutoFit/>
            </a:bodyPr>
            <a:lstStyle/>
            <a:p>
              <a:pPr algn="l"/>
              <a:r>
                <a:rPr lang="zh-CN" sz="1800" b="1" dirty="0">
                  <a:solidFill>
                    <a:srgbClr val="173B57"/>
                  </a:solidFill>
                  <a:latin typeface="Segoe UI Semibold" panose="020B0702040204020203"/>
                  <a:ea typeface="微软雅黑" panose="020B0503020204020204" charset="-122"/>
                  <a:cs typeface="Segoe UI Semibold" panose="020B0702040204020203"/>
                </a:rPr>
                <a:t>Trust Calibration Framework</a:t>
              </a:r>
              <a:endParaRPr lang="zh-CN" sz="18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3" name="TextBox 23"/>
            <p:cNvSpPr txBox="1"/>
            <p:nvPr/>
          </p:nvSpPr>
          <p:spPr>
            <a:xfrm>
              <a:off x="6458902" y="1979771"/>
              <a:ext cx="3504128" cy="289560"/>
            </a:xfrm>
            <a:prstGeom prst="rect">
              <a:avLst/>
            </a:prstGeom>
            <a:noFill/>
            <a:ln>
              <a:noFill/>
            </a:ln>
          </p:spPr>
          <p:txBody>
            <a:bodyPr wrap="none" lIns="0" tIns="0" rIns="0" bIns="0" anchor="t" anchorCtr="0">
              <a:spAutoFit/>
            </a:bodyPr>
            <a:lstStyle/>
            <a:p>
              <a:pPr algn="l"/>
              <a:r>
                <a:rPr lang="zh-CN" sz="1425" dirty="0">
                  <a:solidFill>
                    <a:srgbClr val="1F2933"/>
                  </a:solidFill>
                  <a:latin typeface="Segoe UI" panose="020B0502040204020203"/>
                  <a:ea typeface="微软雅黑" panose="020B0503020204020204" charset="-122"/>
                  <a:cs typeface="Segoe UI" panose="020B0502040204020203"/>
                </a:rPr>
                <a:t>More trust or more AI adoption is not</a:t>
              </a:r>
              <a:endParaRPr lang="zh-CN" sz="1425"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458902" y="2255996"/>
              <a:ext cx="1774912" cy="289560"/>
            </a:xfrm>
            <a:prstGeom prst="rect">
              <a:avLst/>
            </a:prstGeom>
            <a:noFill/>
            <a:ln>
              <a:noFill/>
            </a:ln>
          </p:spPr>
          <p:txBody>
            <a:bodyPr wrap="none" lIns="0" tIns="0" rIns="0" bIns="0" anchor="t" anchorCtr="0">
              <a:spAutoFit/>
            </a:bodyPr>
            <a:lstStyle/>
            <a:p>
              <a:pPr algn="l"/>
              <a:r>
                <a:rPr lang="zh-CN" sz="1425" dirty="0">
                  <a:solidFill>
                    <a:srgbClr val="1F2933"/>
                  </a:solidFill>
                  <a:latin typeface="Segoe UI" panose="020B0502040204020203"/>
                  <a:ea typeface="微软雅黑" panose="020B0503020204020204" charset="-122"/>
                  <a:cs typeface="Segoe UI" panose="020B0502040204020203"/>
                </a:rPr>
                <a:t>inherently better.</a:t>
              </a:r>
              <a:endParaRPr lang="zh-CN" sz="1425" dirty="0">
                <a:solidFill>
                  <a:srgbClr val="1F2933"/>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459855" y="2807018"/>
              <a:ext cx="4732877"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Appropriate trust requires users’ trust and reliance</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6459855" y="3064192"/>
              <a:ext cx="482288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to match the AI’s actual trustworthiness in a specific</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459855" y="3321368"/>
              <a:ext cx="4084796"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task (Lee &amp; See, 2004; Everett et al., 2026).</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477000" y="4076700"/>
              <a:ext cx="4953000" cy="1219200"/>
            </a:xfrm>
            <a:prstGeom prst="rect">
              <a:avLst/>
            </a:prstGeom>
            <a:solidFill>
              <a:srgbClr val="FFFFFF"/>
            </a:solidFill>
            <a:ln w="14288">
              <a:solidFill>
                <a:srgbClr val="CBD5E1"/>
              </a:solidFill>
            </a:ln>
          </p:spPr>
        </p:sp>
        <p:pic>
          <p:nvPicPr>
            <p:cNvPr id="29" name="Image 29"/>
            <p:cNvPicPr>
              <a:picLocks noChangeAspect="1"/>
            </p:cNvPicPr>
            <p:nvPr/>
          </p:nvPicPr>
          <p:blipFill>
            <a:blip r:embed="rId2"/>
            <a:stretch>
              <a:fillRect/>
            </a:stretch>
          </p:blipFill>
          <p:spPr>
            <a:xfrm>
              <a:off x="6667500" y="4456938"/>
              <a:ext cx="4572000" cy="268224"/>
            </a:xfrm>
            <a:prstGeom prst="rect">
              <a:avLst/>
            </a:prstGeom>
          </p:spPr>
        </p:pic>
        <p:sp>
          <p:nvSpPr>
            <p:cNvPr id="30" name="TextBox 30"/>
            <p:cNvSpPr txBox="1"/>
            <p:nvPr/>
          </p:nvSpPr>
          <p:spPr>
            <a:xfrm>
              <a:off x="6652260" y="5528310"/>
              <a:ext cx="2822829"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The relevant standard is alignment,</a:t>
              </a:r>
              <a:endParaRPr lang="zh-CN" sz="1200" dirty="0">
                <a:solidFill>
                  <a:srgbClr val="52606D"/>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652260" y="5756910"/>
              <a:ext cx="3206877" cy="243840"/>
            </a:xfrm>
            <a:prstGeom prst="rect">
              <a:avLst/>
            </a:prstGeom>
            <a:noFill/>
            <a:ln>
              <a:noFill/>
            </a:ln>
          </p:spPr>
          <p:txBody>
            <a:bodyPr wrap="none" lIns="0" tIns="0" rIns="0" bIns="0" anchor="t" anchorCtr="0">
              <a:spAutoFit/>
            </a:bodyPr>
            <a:lstStyle/>
            <a:p>
              <a:pPr algn="l"/>
              <a:r>
                <a:rPr lang="zh-CN" sz="1200" dirty="0">
                  <a:solidFill>
                    <a:srgbClr val="52606D"/>
                  </a:solidFill>
                  <a:latin typeface="Segoe UI" panose="020B0502040204020203"/>
                  <a:ea typeface="微软雅黑" panose="020B0503020204020204" charset="-122"/>
                  <a:cs typeface="Segoe UI" panose="020B0502040204020203"/>
                </a:rPr>
                <a:t>not the maximum possible level of trust.</a:t>
              </a:r>
              <a:endParaRPr lang="zh-CN" sz="1200" dirty="0">
                <a:solidFill>
                  <a:srgbClr val="52606D"/>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06</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6" name="Group 6"/>
          <p:cNvGrpSpPr/>
          <p:nvPr/>
        </p:nvGrpSpPr>
        <p:grpSpPr>
          <a:xfrm>
            <a:off x="504825" y="271462"/>
            <a:ext cx="11153775" cy="819150"/>
            <a:chOff x="504825" y="271462"/>
            <a:chExt cx="11153775" cy="819150"/>
          </a:xfrm>
        </p:grpSpPr>
        <p:sp>
          <p:nvSpPr>
            <p:cNvPr id="3" name="TextBox 3"/>
            <p:cNvSpPr txBox="1"/>
            <p:nvPr/>
          </p:nvSpPr>
          <p:spPr>
            <a:xfrm>
              <a:off x="504825" y="271462"/>
              <a:ext cx="10421945" cy="457200"/>
            </a:xfrm>
            <a:prstGeom prst="rect">
              <a:avLst/>
            </a:prstGeom>
            <a:noFill/>
            <a:ln>
              <a:noFill/>
            </a:ln>
          </p:spPr>
          <p:txBody>
            <a:bodyPr wrap="none" lIns="0" tIns="0" rIns="0" bIns="0" anchor="t" anchorCtr="0">
              <a:spAutoFit/>
            </a:bodyPr>
            <a:lstStyle/>
            <a:p>
              <a:pPr algn="l"/>
              <a:r>
                <a:rPr lang="zh-CN" sz="2250" b="1" dirty="0">
                  <a:solidFill>
                    <a:srgbClr val="173B57"/>
                  </a:solidFill>
                  <a:latin typeface="Segoe UI" panose="020B0502040204020203"/>
                  <a:ea typeface="微软雅黑" panose="020B0503020204020204" charset="-122"/>
                  <a:cs typeface="Segoe UI" panose="020B0502040204020203"/>
                </a:rPr>
                <a:t>Theoretical Conflict: Economic Incentives May Change Only Choices—</a:t>
              </a:r>
              <a:endParaRPr lang="zh-CN" sz="2250" b="1" dirty="0">
                <a:solidFill>
                  <a:srgbClr val="173B57"/>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04825" y="633412"/>
              <a:ext cx="5223796" cy="457200"/>
            </a:xfrm>
            <a:prstGeom prst="rect">
              <a:avLst/>
            </a:prstGeom>
            <a:noFill/>
            <a:ln>
              <a:noFill/>
            </a:ln>
          </p:spPr>
          <p:txBody>
            <a:bodyPr wrap="none" lIns="0" tIns="0" rIns="0" bIns="0" anchor="t" anchorCtr="0">
              <a:spAutoFit/>
            </a:bodyPr>
            <a:lstStyle/>
            <a:p>
              <a:pPr algn="l"/>
              <a:r>
                <a:rPr lang="zh-CN" sz="2250" b="1" dirty="0">
                  <a:solidFill>
                    <a:srgbClr val="173B57"/>
                  </a:solidFill>
                  <a:latin typeface="Segoe UI" panose="020B0502040204020203"/>
                  <a:ea typeface="微软雅黑" panose="020B0503020204020204" charset="-122"/>
                  <a:cs typeface="Segoe UI" panose="020B0502040204020203"/>
                </a:rPr>
                <a:t>or Also Judgments of AI Capability</a:t>
              </a:r>
              <a:endParaRPr lang="zh-CN" sz="2250" b="1" dirty="0">
                <a:solidFill>
                  <a:srgbClr val="173B57"/>
                </a:solidFill>
                <a:latin typeface="Segoe UI" panose="020B0502040204020203"/>
                <a:ea typeface="微软雅黑" panose="020B0503020204020204" charset="-122"/>
                <a:cs typeface="Segoe UI" panose="020B0502040204020203"/>
              </a:endParaRPr>
            </a:p>
          </p:txBody>
        </p:sp>
        <p:sp>
          <p:nvSpPr>
            <p:cNvPr id="5" name="Rectangle 5"/>
            <p:cNvSpPr/>
            <p:nvPr/>
          </p:nvSpPr>
          <p:spPr>
            <a:xfrm>
              <a:off x="533400" y="1047750"/>
              <a:ext cx="11125200" cy="28575"/>
            </a:xfrm>
            <a:prstGeom prst="rect">
              <a:avLst/>
            </a:prstGeom>
            <a:solidFill>
              <a:srgbClr val="173B57"/>
            </a:solidFill>
            <a:ln>
              <a:noFill/>
            </a:ln>
          </p:spPr>
        </p:sp>
      </p:grpSp>
      <p:sp>
        <p:nvSpPr>
          <p:cNvPr id="7" name="Line 7"/>
          <p:cNvSpPr/>
          <p:nvPr/>
        </p:nvSpPr>
        <p:spPr>
          <a:xfrm>
            <a:off x="6096000" y="1390650"/>
            <a:ext cx="9525" cy="4838700"/>
          </a:xfrm>
          <a:custGeom>
            <a:avLst/>
            <a:gdLst/>
            <a:ahLst/>
            <a:cxnLst/>
            <a:rect l="l" t="t" r="r" b="b"/>
            <a:pathLst>
              <a:path w="9525" h="4838700">
                <a:moveTo>
                  <a:pt x="0" y="0"/>
                </a:moveTo>
                <a:lnTo>
                  <a:pt x="0" y="4838700"/>
                </a:lnTo>
              </a:path>
            </a:pathLst>
          </a:custGeom>
          <a:noFill/>
          <a:ln w="19050">
            <a:solidFill>
              <a:srgbClr val="CBD5E1"/>
            </a:solidFill>
          </a:ln>
        </p:spPr>
      </p:sp>
      <p:grpSp>
        <p:nvGrpSpPr>
          <p:cNvPr id="18" name="Group 18"/>
          <p:cNvGrpSpPr/>
          <p:nvPr/>
        </p:nvGrpSpPr>
        <p:grpSpPr>
          <a:xfrm>
            <a:off x="662940" y="1558290"/>
            <a:ext cx="4975860" cy="4430554"/>
            <a:chOff x="662940" y="1558290"/>
            <a:chExt cx="4975860" cy="4430554"/>
          </a:xfrm>
        </p:grpSpPr>
        <p:sp>
          <p:nvSpPr>
            <p:cNvPr id="8" name="TextBox 8"/>
            <p:cNvSpPr txBox="1"/>
            <p:nvPr/>
          </p:nvSpPr>
          <p:spPr>
            <a:xfrm>
              <a:off x="662940" y="1558290"/>
              <a:ext cx="4569685" cy="365760"/>
            </a:xfrm>
            <a:prstGeom prst="rect">
              <a:avLst/>
            </a:prstGeom>
            <a:noFill/>
            <a:ln>
              <a:noFill/>
            </a:ln>
          </p:spPr>
          <p:txBody>
            <a:bodyPr wrap="none" lIns="0" tIns="0" rIns="0" bIns="0" anchor="t" anchorCtr="0">
              <a:spAutoFit/>
            </a:bodyPr>
            <a:lstStyle/>
            <a:p>
              <a:pPr algn="l"/>
              <a:r>
                <a:rPr lang="zh-CN" sz="1800" b="1" dirty="0">
                  <a:solidFill>
                    <a:srgbClr val="173B57"/>
                  </a:solidFill>
                  <a:latin typeface="Segoe UI Semibold" panose="020B0702040204020203"/>
                  <a:ea typeface="微软雅黑" panose="020B0503020204020204" charset="-122"/>
                  <a:cs typeface="Segoe UI Semibold" panose="020B0702040204020203"/>
                </a:rPr>
                <a:t>Bayesian Expected-Utility Benchmark</a:t>
              </a:r>
              <a:endParaRPr lang="zh-CN" sz="18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9" name="TextBox 9"/>
            <p:cNvSpPr txBox="1"/>
            <p:nvPr/>
          </p:nvSpPr>
          <p:spPr>
            <a:xfrm>
              <a:off x="668655" y="2140268"/>
              <a:ext cx="418380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If incentives for AI use change the payoff from</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668655" y="2397442"/>
              <a:ext cx="4372832"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adopting AI advice but provide no new information</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668655" y="2654618"/>
              <a:ext cx="3805761"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about the AI’s actual capability, a rational</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668655" y="2911792"/>
              <a:ext cx="4057793"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decision-maker can change the choice without</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668655" y="3168968"/>
              <a:ext cx="410279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changing posterior beliefs about AI capability.</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685800" y="4019550"/>
              <a:ext cx="4953000" cy="1104900"/>
            </a:xfrm>
            <a:prstGeom prst="rect">
              <a:avLst/>
            </a:prstGeom>
            <a:solidFill>
              <a:srgbClr val="FFFFFF"/>
            </a:solidFill>
            <a:ln w="14288">
              <a:solidFill>
                <a:srgbClr val="CBD5E1"/>
              </a:solidFill>
            </a:ln>
          </p:spPr>
        </p:sp>
        <p:pic>
          <p:nvPicPr>
            <p:cNvPr id="15" name="Image 15"/>
            <p:cNvPicPr>
              <a:picLocks noChangeAspect="1"/>
            </p:cNvPicPr>
            <p:nvPr/>
          </p:nvPicPr>
          <p:blipFill>
            <a:blip r:embed="rId1"/>
            <a:stretch>
              <a:fillRect/>
            </a:stretch>
          </p:blipFill>
          <p:spPr>
            <a:xfrm>
              <a:off x="1028700" y="4427792"/>
              <a:ext cx="4267200" cy="250412"/>
            </a:xfrm>
            <a:prstGeom prst="rect">
              <a:avLst/>
            </a:prstGeom>
          </p:spPr>
        </p:pic>
        <p:sp>
          <p:nvSpPr>
            <p:cNvPr id="16" name="TextBox 16"/>
            <p:cNvSpPr txBox="1"/>
            <p:nvPr/>
          </p:nvSpPr>
          <p:spPr>
            <a:xfrm>
              <a:off x="668655" y="5416868"/>
              <a:ext cx="979408" cy="274320"/>
            </a:xfrm>
            <a:prstGeom prst="rect">
              <a:avLst/>
            </a:prstGeom>
            <a:noFill/>
            <a:ln>
              <a:noFill/>
            </a:ln>
          </p:spPr>
          <p:txBody>
            <a:bodyPr wrap="none" lIns="0" tIns="0" rIns="0" bIns="0" anchor="t" anchorCtr="0">
              <a:spAutoFit/>
            </a:bodyPr>
            <a:lstStyle/>
            <a:p>
              <a:pPr algn="l"/>
              <a:r>
                <a:rPr lang="zh-CN" sz="1350" b="1" dirty="0">
                  <a:solidFill>
                    <a:srgbClr val="173B57"/>
                  </a:solidFill>
                  <a:latin typeface="Segoe UI Semibold" panose="020B0702040204020203"/>
                  <a:ea typeface="微软雅黑" panose="020B0503020204020204" charset="-122"/>
                  <a:cs typeface="Segoe UI Semibold" panose="020B0702040204020203"/>
                </a:rPr>
                <a:t>Prediction</a:t>
              </a:r>
              <a:endParaRPr lang="zh-CN" sz="135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17" name="TextBox 17"/>
            <p:cNvSpPr txBox="1"/>
            <p:nvPr/>
          </p:nvSpPr>
          <p:spPr>
            <a:xfrm>
              <a:off x="669608" y="5729764"/>
              <a:ext cx="4563451"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Choice may change; capability beliefs need not change.</a:t>
              </a:r>
              <a:endParaRPr lang="zh-CN" sz="1275" dirty="0">
                <a:solidFill>
                  <a:srgbClr val="52606D"/>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6454140" y="1558290"/>
            <a:ext cx="4975860" cy="4309110"/>
            <a:chOff x="6454140" y="1558290"/>
            <a:chExt cx="4975860" cy="4309110"/>
          </a:xfrm>
        </p:grpSpPr>
        <p:sp>
          <p:nvSpPr>
            <p:cNvPr id="19" name="TextBox 19"/>
            <p:cNvSpPr txBox="1"/>
            <p:nvPr/>
          </p:nvSpPr>
          <p:spPr>
            <a:xfrm>
              <a:off x="6454140" y="1558290"/>
              <a:ext cx="3901802" cy="365760"/>
            </a:xfrm>
            <a:prstGeom prst="rect">
              <a:avLst/>
            </a:prstGeom>
            <a:noFill/>
            <a:ln>
              <a:noFill/>
            </a:ln>
          </p:spPr>
          <p:txBody>
            <a:bodyPr wrap="none" lIns="0" tIns="0" rIns="0" bIns="0" anchor="t" anchorCtr="0">
              <a:spAutoFit/>
            </a:bodyPr>
            <a:lstStyle/>
            <a:p>
              <a:pPr algn="l"/>
              <a:r>
                <a:rPr lang="zh-CN" sz="1800" b="1" dirty="0">
                  <a:solidFill>
                    <a:srgbClr val="173B57"/>
                  </a:solidFill>
                  <a:latin typeface="Segoe UI Semibold" panose="020B0702040204020203"/>
                  <a:ea typeface="微软雅黑" panose="020B0503020204020204" charset="-122"/>
                  <a:cs typeface="Segoe UI Semibold" panose="020B0702040204020203"/>
                </a:rPr>
                <a:t>Performance-Learning Pathway</a:t>
              </a:r>
              <a:endParaRPr lang="zh-CN" sz="180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0" name="TextBox 20"/>
            <p:cNvSpPr txBox="1"/>
            <p:nvPr/>
          </p:nvSpPr>
          <p:spPr>
            <a:xfrm>
              <a:off x="6459855" y="2140268"/>
              <a:ext cx="419281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The performance-learning pathway argues that</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6459855" y="2397442"/>
              <a:ext cx="3166682"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incentives may improve calibration.</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459855" y="2959418"/>
              <a:ext cx="4120801"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If adopting AI gives employees more experience</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459855" y="3216592"/>
              <a:ext cx="4138803"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with AI performance, incentives may help them</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459855" y="3473768"/>
              <a:ext cx="387777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understand AI capability more accurately by</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459855" y="3730942"/>
              <a:ext cx="2689622"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increasing trial and feedback.</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6477000" y="4400550"/>
              <a:ext cx="4953000" cy="1466850"/>
            </a:xfrm>
            <a:prstGeom prst="rect">
              <a:avLst/>
            </a:prstGeom>
            <a:solidFill>
              <a:srgbClr val="EDF2F7"/>
            </a:solidFill>
            <a:ln>
              <a:noFill/>
            </a:ln>
          </p:spPr>
        </p:sp>
        <p:sp>
          <p:nvSpPr>
            <p:cNvPr id="27" name="TextBox 27"/>
            <p:cNvSpPr txBox="1"/>
            <p:nvPr/>
          </p:nvSpPr>
          <p:spPr>
            <a:xfrm>
              <a:off x="6688455" y="4597718"/>
              <a:ext cx="2727877" cy="274320"/>
            </a:xfrm>
            <a:prstGeom prst="rect">
              <a:avLst/>
            </a:prstGeom>
            <a:noFill/>
            <a:ln>
              <a:noFill/>
            </a:ln>
          </p:spPr>
          <p:txBody>
            <a:bodyPr wrap="none" lIns="0" tIns="0" rIns="0" bIns="0" anchor="t" anchorCtr="0">
              <a:spAutoFit/>
            </a:bodyPr>
            <a:lstStyle/>
            <a:p>
              <a:pPr algn="l"/>
              <a:r>
                <a:rPr lang="zh-CN" sz="1350" b="1" dirty="0">
                  <a:solidFill>
                    <a:srgbClr val="173B57"/>
                  </a:solidFill>
                  <a:latin typeface="Segoe UI Semibold" panose="020B0702040204020203"/>
                  <a:ea typeface="微软雅黑" panose="020B0503020204020204" charset="-122"/>
                  <a:cs typeface="Segoe UI Semibold" panose="020B0702040204020203"/>
                </a:rPr>
                <a:t>Management-accounting label</a:t>
              </a:r>
              <a:endParaRPr lang="zh-CN" sz="135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28" name="TextBox 28"/>
            <p:cNvSpPr txBox="1"/>
            <p:nvPr/>
          </p:nvSpPr>
          <p:spPr>
            <a:xfrm>
              <a:off x="6690360" y="4937760"/>
              <a:ext cx="380695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This informational function—helping diagnose and</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6690360" y="5156835"/>
              <a:ext cx="383095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adjust decisions—is the decision-facilitating role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690360" y="5375910"/>
              <a:ext cx="311886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of performance measurement systems.</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32" name="TextBox 32"/>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07</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372428"/>
            <a:ext cx="11157585" cy="518160"/>
            <a:chOff x="501015" y="372428"/>
            <a:chExt cx="11157585" cy="518160"/>
          </a:xfrm>
        </p:grpSpPr>
        <p:sp>
          <p:nvSpPr>
            <p:cNvPr id="3" name="TextBox 3"/>
            <p:cNvSpPr txBox="1"/>
            <p:nvPr/>
          </p:nvSpPr>
          <p:spPr>
            <a:xfrm>
              <a:off x="501015" y="372428"/>
              <a:ext cx="2510526"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Core Question</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Rectangle 4"/>
            <p:cNvSpPr/>
            <p:nvPr/>
          </p:nvSpPr>
          <p:spPr>
            <a:xfrm>
              <a:off x="533400" y="838200"/>
              <a:ext cx="11125200" cy="28575"/>
            </a:xfrm>
            <a:prstGeom prst="rect">
              <a:avLst/>
            </a:prstGeom>
            <a:solidFill>
              <a:srgbClr val="173B57"/>
            </a:solidFill>
            <a:ln>
              <a:noFill/>
            </a:ln>
          </p:spPr>
        </p:sp>
      </p:grpSp>
      <p:grpSp>
        <p:nvGrpSpPr>
          <p:cNvPr id="13" name="Group 13"/>
          <p:cNvGrpSpPr/>
          <p:nvPr/>
        </p:nvGrpSpPr>
        <p:grpSpPr>
          <a:xfrm>
            <a:off x="664845" y="1174432"/>
            <a:ext cx="6974205" cy="3416618"/>
            <a:chOff x="664845" y="1174432"/>
            <a:chExt cx="6974205" cy="3416618"/>
          </a:xfrm>
        </p:grpSpPr>
        <p:sp>
          <p:nvSpPr>
            <p:cNvPr id="6" name="TextBox 6"/>
            <p:cNvSpPr txBox="1"/>
            <p:nvPr/>
          </p:nvSpPr>
          <p:spPr>
            <a:xfrm>
              <a:off x="664845" y="1174432"/>
              <a:ext cx="5586603" cy="335280"/>
            </a:xfrm>
            <a:prstGeom prst="rect">
              <a:avLst/>
            </a:prstGeom>
            <a:noFill/>
            <a:ln>
              <a:noFill/>
            </a:ln>
          </p:spPr>
          <p:txBody>
            <a:bodyPr wrap="none" lIns="0" tIns="0" rIns="0" bIns="0" anchor="t" anchorCtr="0">
              <a:spAutoFit/>
            </a:bodyPr>
            <a:lstStyle/>
            <a:p>
              <a:pPr algn="l"/>
              <a:r>
                <a:rPr lang="zh-CN" sz="1650" b="1" dirty="0">
                  <a:solidFill>
                    <a:srgbClr val="173B57"/>
                  </a:solidFill>
                  <a:latin typeface="Segoe UI Semibold" panose="020B0702040204020203"/>
                  <a:ea typeface="微软雅黑" panose="020B0503020204020204" charset="-122"/>
                  <a:cs typeface="Segoe UI Semibold" panose="020B0702040204020203"/>
                </a:rPr>
                <a:t>Do AI-use incentives cause trust in AI to deviate?</a:t>
              </a:r>
              <a:endParaRPr lang="zh-CN" sz="165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7" name="TextBox 7"/>
            <p:cNvSpPr txBox="1"/>
            <p:nvPr/>
          </p:nvSpPr>
          <p:spPr>
            <a:xfrm>
              <a:off x="664845" y="1745932"/>
              <a:ext cx="2086516" cy="335280"/>
            </a:xfrm>
            <a:prstGeom prst="rect">
              <a:avLst/>
            </a:prstGeom>
            <a:noFill/>
            <a:ln>
              <a:noFill/>
            </a:ln>
          </p:spPr>
          <p:txBody>
            <a:bodyPr wrap="none" lIns="0" tIns="0" rIns="0" bIns="0" anchor="t" anchorCtr="0">
              <a:spAutoFit/>
            </a:bodyPr>
            <a:lstStyle/>
            <a:p>
              <a:pPr algn="l"/>
              <a:r>
                <a:rPr lang="zh-CN" sz="1650" b="1" dirty="0">
                  <a:solidFill>
                    <a:srgbClr val="B42318"/>
                  </a:solidFill>
                  <a:latin typeface="Segoe UI Semibold" panose="020B0702040204020203"/>
                  <a:ea typeface="微软雅黑" panose="020B0503020204020204" charset="-122"/>
                  <a:cs typeface="Segoe UI Semibold" panose="020B0702040204020203"/>
                </a:rPr>
                <a:t>What is deviation?</a:t>
              </a:r>
              <a:endParaRPr lang="zh-CN" sz="1650" b="1" dirty="0">
                <a:solidFill>
                  <a:srgbClr val="B42318"/>
                </a:solidFill>
                <a:latin typeface="Segoe UI Semibold" panose="020B0702040204020203"/>
                <a:ea typeface="微软雅黑" panose="020B0503020204020204" charset="-122"/>
                <a:cs typeface="Segoe UI Semibold" panose="020B0702040204020203"/>
              </a:endParaRPr>
            </a:p>
          </p:txBody>
        </p:sp>
        <p:sp>
          <p:nvSpPr>
            <p:cNvPr id="8" name="TextBox 8"/>
            <p:cNvSpPr txBox="1"/>
            <p:nvPr/>
          </p:nvSpPr>
          <p:spPr>
            <a:xfrm>
              <a:off x="664845" y="2165032"/>
              <a:ext cx="5806080" cy="335280"/>
            </a:xfrm>
            <a:prstGeom prst="rect">
              <a:avLst/>
            </a:prstGeom>
            <a:noFill/>
            <a:ln>
              <a:noFill/>
            </a:ln>
          </p:spPr>
          <p:txBody>
            <a:bodyPr wrap="none" lIns="0" tIns="0" rIns="0" bIns="0" anchor="t" anchorCtr="0">
              <a:spAutoFit/>
            </a:bodyPr>
            <a:lstStyle/>
            <a:p>
              <a:pPr algn="l"/>
              <a:r>
                <a:rPr lang="zh-CN" sz="1650" b="1" dirty="0">
                  <a:solidFill>
                    <a:srgbClr val="1F2933"/>
                  </a:solidFill>
                  <a:latin typeface="Segoe UI Semibold" panose="020B0702040204020203"/>
                  <a:ea typeface="微软雅黑" panose="020B0503020204020204" charset="-122"/>
                  <a:cs typeface="Segoe UI Semibold" panose="020B0702040204020203"/>
                </a:rPr>
                <a:t>Deviation occurs when users’ trusting behaviour is</a:t>
              </a:r>
              <a:endParaRPr lang="zh-CN" sz="1650" b="1" dirty="0">
                <a:solidFill>
                  <a:srgbClr val="1F2933"/>
                </a:solidFill>
                <a:latin typeface="Segoe UI Semibold" panose="020B0702040204020203"/>
                <a:ea typeface="微软雅黑" panose="020B0503020204020204" charset="-122"/>
                <a:cs typeface="Segoe UI Semibold" panose="020B0702040204020203"/>
              </a:endParaRPr>
            </a:p>
          </p:txBody>
        </p:sp>
        <p:sp>
          <p:nvSpPr>
            <p:cNvPr id="9" name="TextBox 9"/>
            <p:cNvSpPr txBox="1"/>
            <p:nvPr/>
          </p:nvSpPr>
          <p:spPr>
            <a:xfrm>
              <a:off x="664845" y="2469832"/>
              <a:ext cx="5424883" cy="335280"/>
            </a:xfrm>
            <a:prstGeom prst="rect">
              <a:avLst/>
            </a:prstGeom>
            <a:noFill/>
            <a:ln>
              <a:noFill/>
            </a:ln>
          </p:spPr>
          <p:txBody>
            <a:bodyPr wrap="none" lIns="0" tIns="0" rIns="0" bIns="0" anchor="t" anchorCtr="0">
              <a:spAutoFit/>
            </a:bodyPr>
            <a:lstStyle/>
            <a:p>
              <a:pPr algn="l"/>
              <a:r>
                <a:rPr lang="zh-CN" sz="1650" b="1" dirty="0">
                  <a:solidFill>
                    <a:srgbClr val="1F2933"/>
                  </a:solidFill>
                  <a:latin typeface="Segoe UI Semibold" panose="020B0702040204020203"/>
                  <a:ea typeface="微软雅黑" panose="020B0503020204020204" charset="-122"/>
                  <a:cs typeface="Segoe UI Semibold" panose="020B0702040204020203"/>
                </a:rPr>
                <a:t>not appropriately calibrated to the AI system’s</a:t>
              </a:r>
              <a:endParaRPr lang="zh-CN" sz="1650" b="1" dirty="0">
                <a:solidFill>
                  <a:srgbClr val="1F2933"/>
                </a:solidFill>
                <a:latin typeface="Segoe UI Semibold" panose="020B0702040204020203"/>
                <a:ea typeface="微软雅黑" panose="020B0503020204020204" charset="-122"/>
                <a:cs typeface="Segoe UI Semibold" panose="020B0702040204020203"/>
              </a:endParaRPr>
            </a:p>
          </p:txBody>
        </p:sp>
        <p:sp>
          <p:nvSpPr>
            <p:cNvPr id="10" name="TextBox 10"/>
            <p:cNvSpPr txBox="1"/>
            <p:nvPr/>
          </p:nvSpPr>
          <p:spPr>
            <a:xfrm>
              <a:off x="664845" y="2774632"/>
              <a:ext cx="2837359" cy="335280"/>
            </a:xfrm>
            <a:prstGeom prst="rect">
              <a:avLst/>
            </a:prstGeom>
            <a:noFill/>
            <a:ln>
              <a:noFill/>
            </a:ln>
          </p:spPr>
          <p:txBody>
            <a:bodyPr wrap="none" lIns="0" tIns="0" rIns="0" bIns="0" anchor="t" anchorCtr="0">
              <a:spAutoFit/>
            </a:bodyPr>
            <a:lstStyle/>
            <a:p>
              <a:pPr algn="l"/>
              <a:r>
                <a:rPr lang="zh-CN" sz="1650" b="1" dirty="0">
                  <a:solidFill>
                    <a:srgbClr val="1F2933"/>
                  </a:solidFill>
                  <a:latin typeface="Segoe UI Semibold" panose="020B0702040204020203"/>
                  <a:ea typeface="微软雅黑" panose="020B0503020204020204" charset="-122"/>
                  <a:cs typeface="Segoe UI Semibold" panose="020B0702040204020203"/>
                </a:rPr>
                <a:t>actual trustworthiness.</a:t>
              </a:r>
              <a:endParaRPr lang="zh-CN" sz="1650" b="1" dirty="0">
                <a:solidFill>
                  <a:srgbClr val="1F2933"/>
                </a:solidFill>
                <a:latin typeface="Segoe UI Semibold" panose="020B0702040204020203"/>
                <a:ea typeface="微软雅黑" panose="020B0503020204020204" charset="-122"/>
                <a:cs typeface="Segoe UI Semibold" panose="020B0702040204020203"/>
              </a:endParaRPr>
            </a:p>
          </p:txBody>
        </p:sp>
        <p:sp>
          <p:nvSpPr>
            <p:cNvPr id="11" name="Rectangle 11"/>
            <p:cNvSpPr/>
            <p:nvPr/>
          </p:nvSpPr>
          <p:spPr>
            <a:xfrm>
              <a:off x="685800" y="3543300"/>
              <a:ext cx="6953250" cy="1047750"/>
            </a:xfrm>
            <a:prstGeom prst="rect">
              <a:avLst/>
            </a:prstGeom>
            <a:solidFill>
              <a:srgbClr val="FFFFFF"/>
            </a:solidFill>
            <a:ln w="14288">
              <a:solidFill>
                <a:srgbClr val="CBD5E1"/>
              </a:solidFill>
            </a:ln>
          </p:spPr>
        </p:sp>
        <p:pic>
          <p:nvPicPr>
            <p:cNvPr id="12" name="Image 12"/>
            <p:cNvPicPr>
              <a:picLocks noChangeAspect="1"/>
            </p:cNvPicPr>
            <p:nvPr/>
          </p:nvPicPr>
          <p:blipFill>
            <a:blip r:embed="rId1"/>
            <a:stretch>
              <a:fillRect/>
            </a:stretch>
          </p:blipFill>
          <p:spPr>
            <a:xfrm>
              <a:off x="876300" y="3821049"/>
              <a:ext cx="6572250" cy="416147"/>
            </a:xfrm>
            <a:prstGeom prst="rect">
              <a:avLst/>
            </a:prstGeom>
          </p:spPr>
        </p:pic>
      </p:grpSp>
      <p:grpSp>
        <p:nvGrpSpPr>
          <p:cNvPr id="37" name="Group 37"/>
          <p:cNvGrpSpPr/>
          <p:nvPr/>
        </p:nvGrpSpPr>
        <p:grpSpPr>
          <a:xfrm>
            <a:off x="8020050" y="1219200"/>
            <a:ext cx="4220337" cy="4819650"/>
            <a:chOff x="8020050" y="1219200"/>
            <a:chExt cx="4220337" cy="4819650"/>
          </a:xfrm>
        </p:grpSpPr>
        <p:sp>
          <p:nvSpPr>
            <p:cNvPr id="14" name="Rectangle 14"/>
            <p:cNvSpPr/>
            <p:nvPr/>
          </p:nvSpPr>
          <p:spPr>
            <a:xfrm>
              <a:off x="8020050" y="1219200"/>
              <a:ext cx="3638550" cy="4819650"/>
            </a:xfrm>
            <a:prstGeom prst="rect">
              <a:avLst/>
            </a:prstGeom>
            <a:solidFill>
              <a:srgbClr val="FFFFFF"/>
            </a:solidFill>
            <a:ln w="14288">
              <a:solidFill>
                <a:srgbClr val="CBD5E1"/>
              </a:solidFill>
            </a:ln>
          </p:spPr>
        </p:sp>
        <p:grpSp>
          <p:nvGrpSpPr>
            <p:cNvPr id="17" name="Group 17"/>
            <p:cNvGrpSpPr/>
            <p:nvPr/>
          </p:nvGrpSpPr>
          <p:grpSpPr>
            <a:xfrm>
              <a:off x="8231505" y="1454468"/>
              <a:ext cx="1256157" cy="274320"/>
              <a:chOff x="8231505" y="1454468"/>
              <a:chExt cx="1256157" cy="274320"/>
            </a:xfrm>
          </p:grpSpPr>
          <p:sp>
            <p:nvSpPr>
              <p:cNvPr id="15" name="TextBox 15"/>
              <p:cNvSpPr txBox="1"/>
              <p:nvPr/>
            </p:nvSpPr>
            <p:spPr>
              <a:xfrm>
                <a:off x="8231505" y="1454468"/>
                <a:ext cx="90997" cy="274320"/>
              </a:xfrm>
              <a:prstGeom prst="rect">
                <a:avLst/>
              </a:prstGeom>
              <a:noFill/>
              <a:ln>
                <a:noFill/>
              </a:ln>
            </p:spPr>
            <p:txBody>
              <a:bodyPr wrap="none" lIns="0" tIns="0" rIns="0" bIns="0" anchor="t" anchorCtr="0">
                <a:spAutoFit/>
              </a:bodyPr>
              <a:lstStyle/>
              <a:p>
                <a:pPr algn="l"/>
                <a:r>
                  <a:rPr lang="zh-CN" sz="1350" b="1" dirty="0">
                    <a:solidFill>
                      <a:srgbClr val="173B57"/>
                    </a:solidFill>
                    <a:latin typeface="Segoe UI Semibold" panose="020B0702040204020203"/>
                    <a:ea typeface="微软雅黑" panose="020B0503020204020204" charset="-122"/>
                    <a:cs typeface="Segoe UI Semibold" panose="020B0702040204020203"/>
                  </a:rPr>
                  <a:t>i</a:t>
                </a:r>
                <a:endParaRPr lang="zh-CN" sz="135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16" name="TextBox 16"/>
              <p:cNvSpPr txBox="1"/>
              <p:nvPr/>
            </p:nvSpPr>
            <p:spPr>
              <a:xfrm>
                <a:off x="8481060" y="1470660"/>
                <a:ext cx="100660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participant.</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18" name="Line 18"/>
            <p:cNvSpPr/>
            <p:nvPr/>
          </p:nvSpPr>
          <p:spPr>
            <a:xfrm>
              <a:off x="8248650" y="1790700"/>
              <a:ext cx="3181350" cy="9525"/>
            </a:xfrm>
            <a:custGeom>
              <a:avLst/>
              <a:gdLst/>
              <a:ahLst/>
              <a:cxnLst/>
              <a:rect l="l" t="t" r="r" b="b"/>
              <a:pathLst>
                <a:path w="3181350" h="9525">
                  <a:moveTo>
                    <a:pt x="0" y="0"/>
                  </a:moveTo>
                  <a:lnTo>
                    <a:pt x="3181350" y="0"/>
                  </a:lnTo>
                </a:path>
              </a:pathLst>
            </a:custGeom>
            <a:noFill/>
            <a:ln w="9525">
              <a:solidFill>
                <a:srgbClr val="E3E8EF"/>
              </a:solidFill>
            </a:ln>
          </p:spPr>
        </p:sp>
        <p:grpSp>
          <p:nvGrpSpPr>
            <p:cNvPr id="24" name="Group 24"/>
            <p:cNvGrpSpPr/>
            <p:nvPr/>
          </p:nvGrpSpPr>
          <p:grpSpPr>
            <a:xfrm>
              <a:off x="8233410" y="1886712"/>
              <a:ext cx="3774948" cy="1408938"/>
              <a:chOff x="8233410" y="1886712"/>
              <a:chExt cx="3774948" cy="1408938"/>
            </a:xfrm>
          </p:grpSpPr>
          <p:pic>
            <p:nvPicPr>
              <p:cNvPr id="19" name="Image 19"/>
              <p:cNvPicPr>
                <a:picLocks noChangeAspect="1"/>
              </p:cNvPicPr>
              <p:nvPr/>
            </p:nvPicPr>
            <p:blipFill>
              <a:blip r:embed="rId2"/>
              <a:stretch>
                <a:fillRect/>
              </a:stretch>
            </p:blipFill>
            <p:spPr>
              <a:xfrm>
                <a:off x="8248650" y="1886712"/>
                <a:ext cx="2667000" cy="436531"/>
              </a:xfrm>
              <a:prstGeom prst="rect">
                <a:avLst/>
              </a:prstGeom>
            </p:spPr>
          </p:pic>
          <p:sp>
            <p:nvSpPr>
              <p:cNvPr id="20" name="TextBox 20"/>
              <p:cNvSpPr txBox="1"/>
              <p:nvPr/>
            </p:nvSpPr>
            <p:spPr>
              <a:xfrm>
                <a:off x="8233410" y="2423160"/>
                <a:ext cx="360692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The degree of AI reliance actually displayed by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233410" y="2632710"/>
                <a:ext cx="377494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participant i, operationalized as the proportion</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8233410" y="2842260"/>
                <a:ext cx="377494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of valid decision rounds in which the participant</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8233410" y="3051810"/>
                <a:ext cx="300685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adopts AI advice, ranging from 0 to 1.</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25" name="Line 25"/>
            <p:cNvSpPr/>
            <p:nvPr/>
          </p:nvSpPr>
          <p:spPr>
            <a:xfrm>
              <a:off x="8248650" y="3333750"/>
              <a:ext cx="3181350" cy="9525"/>
            </a:xfrm>
            <a:custGeom>
              <a:avLst/>
              <a:gdLst/>
              <a:ahLst/>
              <a:cxnLst/>
              <a:rect l="l" t="t" r="r" b="b"/>
              <a:pathLst>
                <a:path w="3181350" h="9525">
                  <a:moveTo>
                    <a:pt x="0" y="0"/>
                  </a:moveTo>
                  <a:lnTo>
                    <a:pt x="3181350" y="0"/>
                  </a:lnTo>
                </a:path>
              </a:pathLst>
            </a:custGeom>
            <a:noFill/>
            <a:ln w="9525">
              <a:solidFill>
                <a:srgbClr val="E3E8EF"/>
              </a:solidFill>
            </a:ln>
          </p:spPr>
        </p:sp>
        <p:grpSp>
          <p:nvGrpSpPr>
            <p:cNvPr id="30" name="Group 30"/>
            <p:cNvGrpSpPr/>
            <p:nvPr/>
          </p:nvGrpSpPr>
          <p:grpSpPr>
            <a:xfrm>
              <a:off x="8233410" y="3437287"/>
              <a:ext cx="4006977" cy="1191863"/>
              <a:chOff x="8233410" y="3437287"/>
              <a:chExt cx="4006977" cy="1191863"/>
            </a:xfrm>
          </p:grpSpPr>
          <p:pic>
            <p:nvPicPr>
              <p:cNvPr id="26" name="Image 26"/>
              <p:cNvPicPr>
                <a:picLocks noChangeAspect="1"/>
              </p:cNvPicPr>
              <p:nvPr/>
            </p:nvPicPr>
            <p:blipFill>
              <a:blip r:embed="rId3"/>
              <a:stretch>
                <a:fillRect/>
              </a:stretch>
            </p:blipFill>
            <p:spPr>
              <a:xfrm>
                <a:off x="8248650" y="3437287"/>
                <a:ext cx="2952750" cy="383476"/>
              </a:xfrm>
              <a:prstGeom prst="rect">
                <a:avLst/>
              </a:prstGeom>
            </p:spPr>
          </p:pic>
          <p:sp>
            <p:nvSpPr>
              <p:cNvPr id="27" name="TextBox 27"/>
              <p:cNvSpPr txBox="1"/>
              <p:nvPr/>
            </p:nvSpPr>
            <p:spPr>
              <a:xfrm>
                <a:off x="8233410" y="3966210"/>
                <a:ext cx="384695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The objective trustworthiness of the AI faced by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8233410" y="4175760"/>
                <a:ext cx="400697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participant i, operationalized as the AI’s objective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233410" y="4385310"/>
                <a:ext cx="383095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accuracy on the same task, ranging from 0 to 1.</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31" name="Line 31"/>
            <p:cNvSpPr/>
            <p:nvPr/>
          </p:nvSpPr>
          <p:spPr>
            <a:xfrm>
              <a:off x="8248650" y="4724400"/>
              <a:ext cx="3181350" cy="9525"/>
            </a:xfrm>
            <a:custGeom>
              <a:avLst/>
              <a:gdLst/>
              <a:ahLst/>
              <a:cxnLst/>
              <a:rect l="l" t="t" r="r" b="b"/>
              <a:pathLst>
                <a:path w="3181350" h="9525">
                  <a:moveTo>
                    <a:pt x="0" y="0"/>
                  </a:moveTo>
                  <a:lnTo>
                    <a:pt x="3181350" y="0"/>
                  </a:lnTo>
                </a:path>
              </a:pathLst>
            </a:custGeom>
            <a:noFill/>
            <a:ln w="9525">
              <a:solidFill>
                <a:srgbClr val="E3E8EF"/>
              </a:solidFill>
            </a:ln>
          </p:spPr>
        </p:sp>
        <p:grpSp>
          <p:nvGrpSpPr>
            <p:cNvPr id="36" name="Group 36"/>
            <p:cNvGrpSpPr/>
            <p:nvPr/>
          </p:nvGrpSpPr>
          <p:grpSpPr>
            <a:xfrm>
              <a:off x="8233410" y="4819650"/>
              <a:ext cx="3726942" cy="1219200"/>
              <a:chOff x="8233410" y="4819650"/>
              <a:chExt cx="3726942" cy="1219200"/>
            </a:xfrm>
          </p:grpSpPr>
          <p:pic>
            <p:nvPicPr>
              <p:cNvPr id="32" name="Image 32"/>
              <p:cNvPicPr>
                <a:picLocks noChangeAspect="1"/>
              </p:cNvPicPr>
              <p:nvPr/>
            </p:nvPicPr>
            <p:blipFill>
              <a:blip r:embed="rId4"/>
              <a:stretch>
                <a:fillRect/>
              </a:stretch>
            </p:blipFill>
            <p:spPr>
              <a:xfrm>
                <a:off x="8302371" y="4819650"/>
                <a:ext cx="883063" cy="457200"/>
              </a:xfrm>
              <a:prstGeom prst="rect">
                <a:avLst/>
              </a:prstGeom>
            </p:spPr>
          </p:pic>
          <p:sp>
            <p:nvSpPr>
              <p:cNvPr id="33" name="TextBox 33"/>
              <p:cNvSpPr txBox="1"/>
              <p:nvPr/>
            </p:nvSpPr>
            <p:spPr>
              <a:xfrm>
                <a:off x="8233410" y="5375910"/>
                <a:ext cx="372694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Participant i’s trust deviation: the difference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8233410" y="5585460"/>
                <a:ext cx="371094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between actual trusting behaviour and the AI’s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233410" y="5795010"/>
                <a:ext cx="219075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objective trustworthiness.</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sp>
        <p:nvSpPr>
          <p:cNvPr id="38" name="TextBox 38"/>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08</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372428"/>
            <a:ext cx="11157585" cy="518160"/>
            <a:chOff x="501015" y="372428"/>
            <a:chExt cx="11157585" cy="518160"/>
          </a:xfrm>
        </p:grpSpPr>
        <p:sp>
          <p:nvSpPr>
            <p:cNvPr id="3" name="TextBox 3"/>
            <p:cNvSpPr txBox="1"/>
            <p:nvPr/>
          </p:nvSpPr>
          <p:spPr>
            <a:xfrm>
              <a:off x="501015" y="372428"/>
              <a:ext cx="3706625"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Research Hypotheses</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Rectangle 4"/>
            <p:cNvSpPr/>
            <p:nvPr/>
          </p:nvSpPr>
          <p:spPr>
            <a:xfrm>
              <a:off x="533400" y="838200"/>
              <a:ext cx="11125200" cy="28575"/>
            </a:xfrm>
            <a:prstGeom prst="rect">
              <a:avLst/>
            </a:prstGeom>
            <a:solidFill>
              <a:srgbClr val="173B57"/>
            </a:solidFill>
            <a:ln>
              <a:noFill/>
            </a:ln>
          </p:spPr>
        </p:sp>
      </p:grpSp>
      <p:grpSp>
        <p:nvGrpSpPr>
          <p:cNvPr id="11" name="Group 11"/>
          <p:cNvGrpSpPr/>
          <p:nvPr/>
        </p:nvGrpSpPr>
        <p:grpSpPr>
          <a:xfrm>
            <a:off x="533400" y="1200150"/>
            <a:ext cx="11125200" cy="1771650"/>
            <a:chOff x="533400" y="1200150"/>
            <a:chExt cx="11125200" cy="1771650"/>
          </a:xfrm>
        </p:grpSpPr>
        <p:sp>
          <p:nvSpPr>
            <p:cNvPr id="6" name="Rectangle 6"/>
            <p:cNvSpPr/>
            <p:nvPr/>
          </p:nvSpPr>
          <p:spPr>
            <a:xfrm>
              <a:off x="533400" y="1200150"/>
              <a:ext cx="11125200" cy="1771650"/>
            </a:xfrm>
            <a:prstGeom prst="rect">
              <a:avLst/>
            </a:prstGeom>
            <a:solidFill>
              <a:srgbClr val="FFFFFF"/>
            </a:solidFill>
            <a:ln w="14288">
              <a:solidFill>
                <a:srgbClr val="CBD5E1"/>
              </a:solidFill>
            </a:ln>
          </p:spPr>
        </p:sp>
        <p:sp>
          <p:nvSpPr>
            <p:cNvPr id="7" name="Rectangle 7"/>
            <p:cNvSpPr/>
            <p:nvPr/>
          </p:nvSpPr>
          <p:spPr>
            <a:xfrm>
              <a:off x="533400" y="1200150"/>
              <a:ext cx="76200" cy="1771650"/>
            </a:xfrm>
            <a:prstGeom prst="rect">
              <a:avLst/>
            </a:prstGeom>
            <a:solidFill>
              <a:srgbClr val="B42318"/>
            </a:solidFill>
            <a:ln>
              <a:noFill/>
            </a:ln>
          </p:spPr>
        </p:sp>
        <p:sp>
          <p:nvSpPr>
            <p:cNvPr id="8" name="TextBox 8"/>
            <p:cNvSpPr txBox="1"/>
            <p:nvPr/>
          </p:nvSpPr>
          <p:spPr>
            <a:xfrm>
              <a:off x="782955" y="1416368"/>
              <a:ext cx="242216" cy="274320"/>
            </a:xfrm>
            <a:prstGeom prst="rect">
              <a:avLst/>
            </a:prstGeom>
            <a:noFill/>
            <a:ln>
              <a:noFill/>
            </a:ln>
          </p:spPr>
          <p:txBody>
            <a:bodyPr wrap="none" lIns="0" tIns="0" rIns="0" bIns="0" anchor="t" anchorCtr="0">
              <a:spAutoFit/>
            </a:bodyPr>
            <a:lstStyle/>
            <a:p>
              <a:pPr algn="l"/>
              <a:r>
                <a:rPr lang="zh-CN" sz="1350" b="1" dirty="0">
                  <a:solidFill>
                    <a:srgbClr val="B42318"/>
                  </a:solidFill>
                  <a:latin typeface="Segoe UI Semibold" panose="020B0702040204020203"/>
                  <a:ea typeface="微软雅黑" panose="020B0503020204020204" charset="-122"/>
                  <a:cs typeface="Segoe UI Semibold" panose="020B0702040204020203"/>
                </a:rPr>
                <a:t>H1</a:t>
              </a:r>
              <a:endParaRPr lang="zh-CN" sz="1350" b="1" dirty="0">
                <a:solidFill>
                  <a:srgbClr val="B42318"/>
                </a:solidFill>
                <a:latin typeface="Segoe UI Semibold" panose="020B0702040204020203"/>
                <a:ea typeface="微软雅黑" panose="020B0503020204020204" charset="-122"/>
                <a:cs typeface="Segoe UI Semibold" panose="020B0702040204020203"/>
              </a:endParaRPr>
            </a:p>
          </p:txBody>
        </p:sp>
        <p:sp>
          <p:nvSpPr>
            <p:cNvPr id="9" name="TextBox 9"/>
            <p:cNvSpPr txBox="1"/>
            <p:nvPr/>
          </p:nvSpPr>
          <p:spPr>
            <a:xfrm>
              <a:off x="780098" y="1773079"/>
              <a:ext cx="8304538" cy="320040"/>
            </a:xfrm>
            <a:prstGeom prst="rect">
              <a:avLst/>
            </a:prstGeom>
            <a:noFill/>
            <a:ln>
              <a:noFill/>
            </a:ln>
          </p:spPr>
          <p:txBody>
            <a:bodyPr wrap="none" lIns="0" tIns="0" rIns="0" bIns="0" anchor="t" anchorCtr="0">
              <a:spAutoFit/>
            </a:bodyPr>
            <a:lstStyle/>
            <a:p>
              <a:pPr algn="l"/>
              <a:r>
                <a:rPr lang="zh-CN" sz="1575" dirty="0">
                  <a:solidFill>
                    <a:srgbClr val="1F2933"/>
                  </a:solidFill>
                  <a:latin typeface="Segoe UI" panose="020B0502040204020203"/>
                  <a:ea typeface="微软雅黑" panose="020B0503020204020204" charset="-122"/>
                  <a:cs typeface="Segoe UI" panose="020B0502040204020203"/>
                </a:rPr>
                <a:t>H1：As the level of AI-use incentives increases, trusting behaviour may increase</a:t>
              </a:r>
              <a:endParaRPr lang="zh-CN" sz="1575" dirty="0">
                <a:solidFill>
                  <a:srgbClr val="1F2933"/>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780098" y="2068354"/>
              <a:ext cx="8021002" cy="320040"/>
            </a:xfrm>
            <a:prstGeom prst="rect">
              <a:avLst/>
            </a:prstGeom>
            <a:noFill/>
            <a:ln>
              <a:noFill/>
            </a:ln>
          </p:spPr>
          <p:txBody>
            <a:bodyPr wrap="none" lIns="0" tIns="0" rIns="0" bIns="0" anchor="t" anchorCtr="0">
              <a:spAutoFit/>
            </a:bodyPr>
            <a:lstStyle/>
            <a:p>
              <a:pPr algn="l"/>
              <a:r>
                <a:rPr lang="zh-CN" sz="1575" dirty="0">
                  <a:solidFill>
                    <a:srgbClr val="1F2933"/>
                  </a:solidFill>
                  <a:latin typeface="Segoe UI" panose="020B0502040204020203"/>
                  <a:ea typeface="微软雅黑" panose="020B0503020204020204" charset="-122"/>
                  <a:cs typeface="Segoe UI" panose="020B0502040204020203"/>
                </a:rPr>
                <a:t>beyond the level supported by actual trustworthiness, resulting in overtrust</a:t>
              </a:r>
              <a:endParaRPr lang="zh-CN" sz="1575" dirty="0">
                <a:solidFill>
                  <a:srgbClr val="1F2933"/>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800100" y="3181350"/>
            <a:ext cx="10591800" cy="914400"/>
            <a:chOff x="800100" y="3181350"/>
            <a:chExt cx="10591800" cy="914400"/>
          </a:xfrm>
        </p:grpSpPr>
        <p:sp>
          <p:nvSpPr>
            <p:cNvPr id="12" name="Rectangle 12"/>
            <p:cNvSpPr/>
            <p:nvPr/>
          </p:nvSpPr>
          <p:spPr>
            <a:xfrm>
              <a:off x="800100" y="3181350"/>
              <a:ext cx="10591800" cy="914400"/>
            </a:xfrm>
            <a:prstGeom prst="rect">
              <a:avLst/>
            </a:prstGeom>
            <a:solidFill>
              <a:srgbClr val="EDF2F7"/>
            </a:solidFill>
            <a:ln>
              <a:noFill/>
            </a:ln>
          </p:spPr>
        </p:sp>
        <p:sp>
          <p:nvSpPr>
            <p:cNvPr id="13" name="TextBox 13"/>
            <p:cNvSpPr txBox="1"/>
            <p:nvPr/>
          </p:nvSpPr>
          <p:spPr>
            <a:xfrm>
              <a:off x="1011555" y="3378518"/>
              <a:ext cx="7802261"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Incentives increase the proportion of participants who adopt AI advice. This is the basic</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11555" y="3635692"/>
              <a:ext cx="9989534"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effect of whether the management policy promotes AI use, but it cannot by itself prove that trust has changed.</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21" name="Group 21"/>
          <p:cNvGrpSpPr/>
          <p:nvPr/>
        </p:nvGrpSpPr>
        <p:grpSpPr>
          <a:xfrm>
            <a:off x="533400" y="4457700"/>
            <a:ext cx="11125200" cy="1466850"/>
            <a:chOff x="533400" y="4457700"/>
            <a:chExt cx="11125200" cy="1466850"/>
          </a:xfrm>
        </p:grpSpPr>
        <p:sp>
          <p:nvSpPr>
            <p:cNvPr id="16" name="Rectangle 16"/>
            <p:cNvSpPr/>
            <p:nvPr/>
          </p:nvSpPr>
          <p:spPr>
            <a:xfrm>
              <a:off x="533400" y="4457700"/>
              <a:ext cx="11125200" cy="1466850"/>
            </a:xfrm>
            <a:prstGeom prst="rect">
              <a:avLst/>
            </a:prstGeom>
            <a:solidFill>
              <a:srgbClr val="FFFFFF"/>
            </a:solidFill>
            <a:ln w="14288">
              <a:solidFill>
                <a:srgbClr val="CBD5E1"/>
              </a:solidFill>
            </a:ln>
          </p:spPr>
        </p:sp>
        <p:sp>
          <p:nvSpPr>
            <p:cNvPr id="17" name="Rectangle 17"/>
            <p:cNvSpPr/>
            <p:nvPr/>
          </p:nvSpPr>
          <p:spPr>
            <a:xfrm>
              <a:off x="533400" y="4457700"/>
              <a:ext cx="76200" cy="1466850"/>
            </a:xfrm>
            <a:prstGeom prst="rect">
              <a:avLst/>
            </a:prstGeom>
            <a:solidFill>
              <a:srgbClr val="173B57"/>
            </a:solidFill>
            <a:ln>
              <a:noFill/>
            </a:ln>
          </p:spPr>
        </p:sp>
        <p:sp>
          <p:nvSpPr>
            <p:cNvPr id="18" name="TextBox 18"/>
            <p:cNvSpPr txBox="1"/>
            <p:nvPr/>
          </p:nvSpPr>
          <p:spPr>
            <a:xfrm>
              <a:off x="782955" y="4673918"/>
              <a:ext cx="242216" cy="274320"/>
            </a:xfrm>
            <a:prstGeom prst="rect">
              <a:avLst/>
            </a:prstGeom>
            <a:noFill/>
            <a:ln>
              <a:noFill/>
            </a:ln>
          </p:spPr>
          <p:txBody>
            <a:bodyPr wrap="none" lIns="0" tIns="0" rIns="0" bIns="0" anchor="t" anchorCtr="0">
              <a:spAutoFit/>
            </a:bodyPr>
            <a:lstStyle/>
            <a:p>
              <a:pPr algn="l"/>
              <a:r>
                <a:rPr lang="zh-CN" sz="1350" b="1" dirty="0">
                  <a:solidFill>
                    <a:srgbClr val="173B57"/>
                  </a:solidFill>
                  <a:latin typeface="Segoe UI Semibold" panose="020B0702040204020203"/>
                  <a:ea typeface="微软雅黑" panose="020B0503020204020204" charset="-122"/>
                  <a:cs typeface="Segoe UI Semibold" panose="020B0702040204020203"/>
                </a:rPr>
                <a:t>H2</a:t>
              </a:r>
              <a:endParaRPr lang="zh-CN" sz="1350" b="1" dirty="0">
                <a:solidFill>
                  <a:srgbClr val="173B57"/>
                </a:solidFill>
                <a:latin typeface="Segoe UI Semibold" panose="020B0702040204020203"/>
                <a:ea typeface="微软雅黑" panose="020B0503020204020204" charset="-122"/>
                <a:cs typeface="Segoe UI Semibold" panose="020B0702040204020203"/>
              </a:endParaRPr>
            </a:p>
          </p:txBody>
        </p:sp>
        <p:sp>
          <p:nvSpPr>
            <p:cNvPr id="19" name="TextBox 19"/>
            <p:cNvSpPr txBox="1"/>
            <p:nvPr/>
          </p:nvSpPr>
          <p:spPr>
            <a:xfrm>
              <a:off x="779145" y="5041582"/>
              <a:ext cx="9052036"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H2For users whose baseline perceived trustworthiness is lower than the AI’s actual</a:t>
              </a:r>
              <a:endParaRPr lang="zh-CN" sz="1650" dirty="0">
                <a:solidFill>
                  <a:srgbClr val="1F2933"/>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779145" y="5355908"/>
              <a:ext cx="7500842"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trustworthiness, AI-use incentives reduce the gap between the two.</a:t>
              </a:r>
              <a:endParaRPr lang="zh-CN" sz="1650" dirty="0">
                <a:solidFill>
                  <a:srgbClr val="1F2933"/>
                </a:solidFill>
                <a:latin typeface="Segoe UI" panose="020B0502040204020203"/>
                <a:ea typeface="微软雅黑" panose="020B0503020204020204" charset="-122"/>
                <a:cs typeface="Segoe UI" panose="020B0502040204020203"/>
              </a:endParaRPr>
            </a:p>
          </p:txBody>
        </p:sp>
      </p:grpSp>
      <p:sp>
        <p:nvSpPr>
          <p:cNvPr id="22" name="TextBox 22"/>
          <p:cNvSpPr txBox="1"/>
          <p:nvPr/>
        </p:nvSpPr>
        <p:spPr>
          <a:xfrm>
            <a:off x="11527107" y="655939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09</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72428"/>
            <a:ext cx="10852785" cy="518160"/>
            <a:chOff x="653415" y="372428"/>
            <a:chExt cx="10852785" cy="518160"/>
          </a:xfrm>
        </p:grpSpPr>
        <p:sp>
          <p:nvSpPr>
            <p:cNvPr id="3" name="TextBox 3"/>
            <p:cNvSpPr txBox="1"/>
            <p:nvPr/>
          </p:nvSpPr>
          <p:spPr>
            <a:xfrm>
              <a:off x="653415" y="372428"/>
              <a:ext cx="2028515"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Hypotheses</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Line 4"/>
            <p:cNvSpPr/>
            <p:nvPr/>
          </p:nvSpPr>
          <p:spPr>
            <a:xfrm>
              <a:off x="685800" y="83820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11" name="Group 11"/>
          <p:cNvGrpSpPr/>
          <p:nvPr/>
        </p:nvGrpSpPr>
        <p:grpSpPr>
          <a:xfrm>
            <a:off x="685800" y="1200150"/>
            <a:ext cx="10820400" cy="1981200"/>
            <a:chOff x="685800" y="1200150"/>
            <a:chExt cx="10820400" cy="1981200"/>
          </a:xfrm>
        </p:grpSpPr>
        <p:sp>
          <p:nvSpPr>
            <p:cNvPr id="6" name="Freeform 6"/>
            <p:cNvSpPr/>
            <p:nvPr/>
          </p:nvSpPr>
          <p:spPr>
            <a:xfrm>
              <a:off x="685800" y="1200150"/>
              <a:ext cx="10820400" cy="1981200"/>
            </a:xfrm>
            <a:custGeom>
              <a:avLst/>
              <a:gdLst/>
              <a:ahLst/>
              <a:cxnLst/>
              <a:rect l="l" t="t" r="r" b="b"/>
              <a:pathLst>
                <a:path w="10820400" h="1981200">
                  <a:moveTo>
                    <a:pt x="95250" y="0"/>
                  </a:moveTo>
                  <a:lnTo>
                    <a:pt x="10725150" y="0"/>
                  </a:lnTo>
                  <a:cubicBezTo>
                    <a:pt x="10777755" y="0"/>
                    <a:pt x="10820400" y="42645"/>
                    <a:pt x="10820400" y="95250"/>
                  </a:cubicBezTo>
                  <a:lnTo>
                    <a:pt x="10820400" y="1885950"/>
                  </a:lnTo>
                  <a:cubicBezTo>
                    <a:pt x="10820400" y="1938555"/>
                    <a:pt x="10777755" y="1981200"/>
                    <a:pt x="10725150" y="1981200"/>
                  </a:cubicBezTo>
                  <a:lnTo>
                    <a:pt x="95250" y="1981200"/>
                  </a:lnTo>
                  <a:cubicBezTo>
                    <a:pt x="42645" y="1981200"/>
                    <a:pt x="0" y="1938555"/>
                    <a:pt x="0" y="1885950"/>
                  </a:cubicBezTo>
                  <a:lnTo>
                    <a:pt x="0" y="95250"/>
                  </a:lnTo>
                  <a:cubicBezTo>
                    <a:pt x="0" y="42645"/>
                    <a:pt x="42645" y="0"/>
                    <a:pt x="95250" y="0"/>
                  </a:cubicBezTo>
                  <a:close/>
                </a:path>
              </a:pathLst>
            </a:custGeom>
            <a:solidFill>
              <a:srgbClr val="FFFFFF"/>
            </a:solidFill>
            <a:ln w="19050">
              <a:solidFill>
                <a:srgbClr val="CBD5E1"/>
              </a:solidFill>
            </a:ln>
          </p:spPr>
        </p:sp>
        <p:sp>
          <p:nvSpPr>
            <p:cNvPr id="7" name="Freeform 7"/>
            <p:cNvSpPr/>
            <p:nvPr/>
          </p:nvSpPr>
          <p:spPr>
            <a:xfrm>
              <a:off x="685800" y="1200150"/>
              <a:ext cx="114300" cy="1981200"/>
            </a:xfrm>
            <a:custGeom>
              <a:avLst/>
              <a:gdLst/>
              <a:ahLst/>
              <a:cxnLst/>
              <a:rect l="l" t="t" r="r" b="b"/>
              <a:pathLst>
                <a:path w="114300" h="1981200">
                  <a:moveTo>
                    <a:pt x="57150" y="0"/>
                  </a:moveTo>
                  <a:lnTo>
                    <a:pt x="57150" y="0"/>
                  </a:lnTo>
                  <a:cubicBezTo>
                    <a:pt x="88713" y="0"/>
                    <a:pt x="114300" y="25587"/>
                    <a:pt x="114300" y="57150"/>
                  </a:cubicBezTo>
                  <a:lnTo>
                    <a:pt x="114300" y="1924050"/>
                  </a:lnTo>
                  <a:cubicBezTo>
                    <a:pt x="114300" y="1955613"/>
                    <a:pt x="88713" y="1981200"/>
                    <a:pt x="57150" y="1981200"/>
                  </a:cubicBezTo>
                  <a:lnTo>
                    <a:pt x="57150" y="1981200"/>
                  </a:lnTo>
                  <a:cubicBezTo>
                    <a:pt x="25587" y="1981200"/>
                    <a:pt x="0" y="1955613"/>
                    <a:pt x="0" y="1924050"/>
                  </a:cubicBezTo>
                  <a:lnTo>
                    <a:pt x="0" y="57150"/>
                  </a:lnTo>
                  <a:cubicBezTo>
                    <a:pt x="0" y="25587"/>
                    <a:pt x="25587" y="0"/>
                    <a:pt x="57150" y="0"/>
                  </a:cubicBezTo>
                  <a:close/>
                </a:path>
              </a:pathLst>
            </a:custGeom>
            <a:solidFill>
              <a:srgbClr val="B42318"/>
            </a:solidFill>
            <a:ln>
              <a:noFill/>
            </a:ln>
          </p:spPr>
        </p:sp>
        <p:sp>
          <p:nvSpPr>
            <p:cNvPr id="8" name="TextBox 8"/>
            <p:cNvSpPr txBox="1"/>
            <p:nvPr/>
          </p:nvSpPr>
          <p:spPr>
            <a:xfrm>
              <a:off x="1043940" y="1520190"/>
              <a:ext cx="309753" cy="365760"/>
            </a:xfrm>
            <a:prstGeom prst="rect">
              <a:avLst/>
            </a:prstGeom>
            <a:noFill/>
            <a:ln>
              <a:noFill/>
            </a:ln>
          </p:spPr>
          <p:txBody>
            <a:bodyPr wrap="none" lIns="0" tIns="0" rIns="0" bIns="0" anchor="t" anchorCtr="0">
              <a:spAutoFit/>
            </a:bodyPr>
            <a:lstStyle/>
            <a:p>
              <a:pPr algn="l"/>
              <a:r>
                <a:rPr lang="zh-CN" sz="1800" dirty="0">
                  <a:solidFill>
                    <a:srgbClr val="B42318"/>
                  </a:solidFill>
                  <a:latin typeface="Segoe UI Semibold" panose="020B0702040204020203"/>
                  <a:ea typeface="微软雅黑" panose="020B0503020204020204" charset="-122"/>
                  <a:cs typeface="Segoe UI Semibold" panose="020B0702040204020203"/>
                </a:rPr>
                <a:t>H3</a:t>
              </a:r>
              <a:endParaRPr lang="zh-CN" sz="1800" dirty="0">
                <a:solidFill>
                  <a:srgbClr val="B42318"/>
                </a:solidFill>
                <a:latin typeface="Segoe UI Semibold" panose="020B0702040204020203"/>
                <a:ea typeface="微软雅黑" panose="020B0503020204020204" charset="-122"/>
                <a:cs typeface="Segoe UI Semibold" panose="020B0702040204020203"/>
              </a:endParaRPr>
            </a:p>
          </p:txBody>
        </p:sp>
        <p:sp>
          <p:nvSpPr>
            <p:cNvPr id="9" name="TextBox 9"/>
            <p:cNvSpPr txBox="1"/>
            <p:nvPr/>
          </p:nvSpPr>
          <p:spPr>
            <a:xfrm>
              <a:off x="1045845" y="1955482"/>
              <a:ext cx="8380952"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—For users whose baseline perceived trustworthiness exceeds the AI’s actual</a:t>
              </a:r>
              <a:endParaRPr lang="zh-CN" sz="1650" dirty="0">
                <a:solidFill>
                  <a:srgbClr val="1F2933"/>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1045845" y="2279332"/>
              <a:ext cx="9316069"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trustworthiness, stronger AI-use incentives further widen the gap between the two.</a:t>
              </a:r>
              <a:endParaRPr lang="zh-CN" sz="1650" dirty="0">
                <a:solidFill>
                  <a:srgbClr val="1F2933"/>
                </a:solidFill>
                <a:latin typeface="Segoe UI" panose="020B0502040204020203"/>
                <a:ea typeface="微软雅黑" panose="020B0503020204020204" charset="-122"/>
                <a:cs typeface="Segoe UI" panose="020B0502040204020203"/>
              </a:endParaRPr>
            </a:p>
          </p:txBody>
        </p:sp>
      </p:grpSp>
      <p:grpSp>
        <p:nvGrpSpPr>
          <p:cNvPr id="18" name="Group 18"/>
          <p:cNvGrpSpPr/>
          <p:nvPr/>
        </p:nvGrpSpPr>
        <p:grpSpPr>
          <a:xfrm>
            <a:off x="685800" y="3486150"/>
            <a:ext cx="10820400" cy="2476500"/>
            <a:chOff x="685800" y="3486150"/>
            <a:chExt cx="10820400" cy="2476500"/>
          </a:xfrm>
        </p:grpSpPr>
        <p:sp>
          <p:nvSpPr>
            <p:cNvPr id="12" name="Freeform 12"/>
            <p:cNvSpPr/>
            <p:nvPr/>
          </p:nvSpPr>
          <p:spPr>
            <a:xfrm>
              <a:off x="685800" y="3486150"/>
              <a:ext cx="10820400" cy="2476500"/>
            </a:xfrm>
            <a:custGeom>
              <a:avLst/>
              <a:gdLst/>
              <a:ahLst/>
              <a:cxnLst/>
              <a:rect l="l" t="t" r="r" b="b"/>
              <a:pathLst>
                <a:path w="10820400" h="2476500">
                  <a:moveTo>
                    <a:pt x="95250" y="0"/>
                  </a:moveTo>
                  <a:lnTo>
                    <a:pt x="10725150" y="0"/>
                  </a:lnTo>
                  <a:cubicBezTo>
                    <a:pt x="10777755" y="0"/>
                    <a:pt x="10820400" y="42645"/>
                    <a:pt x="10820400" y="95250"/>
                  </a:cubicBezTo>
                  <a:lnTo>
                    <a:pt x="10820400" y="2381250"/>
                  </a:lnTo>
                  <a:cubicBezTo>
                    <a:pt x="10820400" y="2433855"/>
                    <a:pt x="10777755" y="2476500"/>
                    <a:pt x="10725150" y="2476500"/>
                  </a:cubicBezTo>
                  <a:lnTo>
                    <a:pt x="95250" y="2476500"/>
                  </a:lnTo>
                  <a:cubicBezTo>
                    <a:pt x="42645" y="2476500"/>
                    <a:pt x="0" y="2433855"/>
                    <a:pt x="0" y="2381250"/>
                  </a:cubicBezTo>
                  <a:lnTo>
                    <a:pt x="0" y="95250"/>
                  </a:lnTo>
                  <a:cubicBezTo>
                    <a:pt x="0" y="42645"/>
                    <a:pt x="42645" y="0"/>
                    <a:pt x="95250" y="0"/>
                  </a:cubicBezTo>
                  <a:close/>
                </a:path>
              </a:pathLst>
            </a:custGeom>
            <a:solidFill>
              <a:srgbClr val="FFFFFF"/>
            </a:solidFill>
            <a:ln w="19050">
              <a:solidFill>
                <a:srgbClr val="CBD5E1"/>
              </a:solidFill>
            </a:ln>
          </p:spPr>
        </p:sp>
        <p:sp>
          <p:nvSpPr>
            <p:cNvPr id="13" name="Freeform 13"/>
            <p:cNvSpPr/>
            <p:nvPr/>
          </p:nvSpPr>
          <p:spPr>
            <a:xfrm>
              <a:off x="685800" y="3486150"/>
              <a:ext cx="114300" cy="2476500"/>
            </a:xfrm>
            <a:custGeom>
              <a:avLst/>
              <a:gdLst/>
              <a:ahLst/>
              <a:cxnLst/>
              <a:rect l="l" t="t" r="r" b="b"/>
              <a:pathLst>
                <a:path w="114300" h="2476500">
                  <a:moveTo>
                    <a:pt x="57150" y="0"/>
                  </a:moveTo>
                  <a:lnTo>
                    <a:pt x="57150" y="0"/>
                  </a:lnTo>
                  <a:cubicBezTo>
                    <a:pt x="88713" y="0"/>
                    <a:pt x="114300" y="25587"/>
                    <a:pt x="114300" y="57150"/>
                  </a:cubicBezTo>
                  <a:lnTo>
                    <a:pt x="114300" y="2419350"/>
                  </a:lnTo>
                  <a:cubicBezTo>
                    <a:pt x="114300" y="2450913"/>
                    <a:pt x="88713" y="2476500"/>
                    <a:pt x="57150" y="2476500"/>
                  </a:cubicBezTo>
                  <a:lnTo>
                    <a:pt x="57150" y="2476500"/>
                  </a:lnTo>
                  <a:cubicBezTo>
                    <a:pt x="25587" y="2476500"/>
                    <a:pt x="0" y="2450913"/>
                    <a:pt x="0" y="2419350"/>
                  </a:cubicBezTo>
                  <a:lnTo>
                    <a:pt x="0" y="57150"/>
                  </a:lnTo>
                  <a:cubicBezTo>
                    <a:pt x="0" y="25587"/>
                    <a:pt x="25587" y="0"/>
                    <a:pt x="57150" y="0"/>
                  </a:cubicBezTo>
                  <a:close/>
                </a:path>
              </a:pathLst>
            </a:custGeom>
            <a:solidFill>
              <a:srgbClr val="173B57"/>
            </a:solidFill>
            <a:ln>
              <a:noFill/>
            </a:ln>
          </p:spPr>
        </p:sp>
        <p:sp>
          <p:nvSpPr>
            <p:cNvPr id="14" name="TextBox 14"/>
            <p:cNvSpPr txBox="1"/>
            <p:nvPr/>
          </p:nvSpPr>
          <p:spPr>
            <a:xfrm>
              <a:off x="1043940" y="3806190"/>
              <a:ext cx="5938456" cy="365760"/>
            </a:xfrm>
            <a:prstGeom prst="rect">
              <a:avLst/>
            </a:prstGeom>
            <a:noFill/>
            <a:ln>
              <a:noFill/>
            </a:ln>
          </p:spPr>
          <p:txBody>
            <a:bodyPr wrap="none" lIns="0" tIns="0" rIns="0" bIns="0" anchor="t" anchorCtr="0">
              <a:spAutoFit/>
            </a:bodyPr>
            <a:lstStyle/>
            <a:p>
              <a:pPr algn="l"/>
              <a:r>
                <a:rPr lang="zh-CN" sz="1800" dirty="0">
                  <a:solidFill>
                    <a:srgbClr val="173B57"/>
                  </a:solidFill>
                  <a:latin typeface="Segoe UI Semibold" panose="020B0702040204020203"/>
                  <a:ea typeface="微软雅黑" panose="020B0503020204020204" charset="-122"/>
                  <a:cs typeface="Segoe UI Semibold" panose="020B0702040204020203"/>
                </a:rPr>
                <a:t>H4 — Moderating Effect of Actual Trustworthiness</a:t>
              </a:r>
              <a:endParaRPr lang="zh-CN" sz="1800" dirty="0">
                <a:solidFill>
                  <a:srgbClr val="173B57"/>
                </a:solidFill>
                <a:latin typeface="Segoe UI Semibold" panose="020B0702040204020203"/>
                <a:ea typeface="微软雅黑" panose="020B0503020204020204" charset="-122"/>
                <a:cs typeface="Segoe UI Semibold" panose="020B0702040204020203"/>
              </a:endParaRPr>
            </a:p>
          </p:txBody>
        </p:sp>
        <p:sp>
          <p:nvSpPr>
            <p:cNvPr id="15" name="Line 15"/>
            <p:cNvSpPr/>
            <p:nvPr/>
          </p:nvSpPr>
          <p:spPr>
            <a:xfrm>
              <a:off x="1066800" y="4267200"/>
              <a:ext cx="10039350" cy="9525"/>
            </a:xfrm>
            <a:custGeom>
              <a:avLst/>
              <a:gdLst/>
              <a:ahLst/>
              <a:cxnLst/>
              <a:rect l="l" t="t" r="r" b="b"/>
              <a:pathLst>
                <a:path w="10039350" h="9525">
                  <a:moveTo>
                    <a:pt x="0" y="0"/>
                  </a:moveTo>
                  <a:lnTo>
                    <a:pt x="10039350" y="0"/>
                  </a:lnTo>
                </a:path>
              </a:pathLst>
            </a:custGeom>
            <a:noFill/>
            <a:ln w="19050">
              <a:solidFill>
                <a:srgbClr val="E3E8EF"/>
              </a:solidFill>
            </a:ln>
          </p:spPr>
        </p:sp>
        <p:sp>
          <p:nvSpPr>
            <p:cNvPr id="16" name="TextBox 16"/>
            <p:cNvSpPr txBox="1"/>
            <p:nvPr/>
          </p:nvSpPr>
          <p:spPr>
            <a:xfrm>
              <a:off x="1045845" y="4584382"/>
              <a:ext cx="8633984"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The lower the AI’s actual trustworthiness, the stronger the positive effect of</a:t>
              </a:r>
              <a:endParaRPr lang="zh-CN" sz="1650" dirty="0">
                <a:solidFill>
                  <a:srgbClr val="1F2933"/>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045845" y="4908232"/>
              <a:ext cx="4024408"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Segoe UI" panose="020B0502040204020203"/>
                  <a:ea typeface="微软雅黑" panose="020B0503020204020204" charset="-122"/>
                  <a:cs typeface="Segoe UI" panose="020B0502040204020203"/>
                </a:rPr>
                <a:t>AI-use incentives on trust deviation.</a:t>
              </a:r>
              <a:endParaRPr lang="zh-CN" sz="1650" dirty="0">
                <a:solidFill>
                  <a:srgbClr val="1F2933"/>
                </a:solidFill>
                <a:latin typeface="Segoe UI" panose="020B0502040204020203"/>
                <a:ea typeface="微软雅黑" panose="020B0503020204020204" charset="-122"/>
                <a:cs typeface="Segoe UI" panose="020B0502040204020203"/>
              </a:endParaRPr>
            </a:p>
          </p:txBody>
        </p:sp>
      </p:grpSp>
      <p:sp>
        <p:nvSpPr>
          <p:cNvPr id="19" name="TextBox 19"/>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10</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15278"/>
            <a:ext cx="8051530" cy="708660"/>
            <a:chOff x="653415" y="315278"/>
            <a:chExt cx="8051530" cy="708660"/>
          </a:xfrm>
        </p:grpSpPr>
        <p:sp>
          <p:nvSpPr>
            <p:cNvPr id="3" name="TextBox 3"/>
            <p:cNvSpPr txBox="1"/>
            <p:nvPr/>
          </p:nvSpPr>
          <p:spPr>
            <a:xfrm>
              <a:off x="653415" y="315278"/>
              <a:ext cx="2831866"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Research Design</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668655" y="749618"/>
              <a:ext cx="8036290" cy="274320"/>
            </a:xfrm>
            <a:prstGeom prst="rect">
              <a:avLst/>
            </a:prstGeom>
            <a:noFill/>
            <a:ln>
              <a:noFill/>
            </a:ln>
          </p:spPr>
          <p:txBody>
            <a:bodyPr wrap="none" lIns="0" tIns="0" rIns="0" bIns="0" anchor="t" anchorCtr="0">
              <a:spAutoFit/>
            </a:bodyPr>
            <a:lstStyle/>
            <a:p>
              <a:pPr algn="l"/>
              <a:r>
                <a:rPr lang="zh-CN" sz="1350" dirty="0">
                  <a:solidFill>
                    <a:srgbClr val="52606D"/>
                  </a:solidFill>
                  <a:latin typeface="Segoe UI" panose="020B0502040204020203"/>
                  <a:ea typeface="微软雅黑" panose="020B0503020204020204" charset="-122"/>
                  <a:cs typeface="Segoe UI" panose="020B0502040204020203"/>
                </a:rPr>
                <a:t>Repeated probabilistic-judgment task using a virtual slot machine as the decision interface</a:t>
              </a:r>
              <a:endParaRPr lang="zh-CN" sz="1350" dirty="0">
                <a:solidFill>
                  <a:srgbClr val="52606D"/>
                </a:solidFill>
                <a:latin typeface="Segoe UI" panose="020B0502040204020203"/>
                <a:ea typeface="微软雅黑" panose="020B0503020204020204" charset="-122"/>
                <a:cs typeface="Segoe UI" panose="020B0502040204020203"/>
              </a:endParaRPr>
            </a:p>
          </p:txBody>
        </p:sp>
      </p:grpSp>
      <p:grpSp>
        <p:nvGrpSpPr>
          <p:cNvPr id="12" name="Group 12"/>
          <p:cNvGrpSpPr/>
          <p:nvPr/>
        </p:nvGrpSpPr>
        <p:grpSpPr>
          <a:xfrm>
            <a:off x="2981325" y="2914650"/>
            <a:ext cx="5638800" cy="152400"/>
            <a:chOff x="2981325" y="2914650"/>
            <a:chExt cx="5638800" cy="152400"/>
          </a:xfrm>
        </p:grpSpPr>
        <p:sp>
          <p:nvSpPr>
            <p:cNvPr id="6" name="Line 6"/>
            <p:cNvSpPr/>
            <p:nvPr/>
          </p:nvSpPr>
          <p:spPr>
            <a:xfrm>
              <a:off x="2981325" y="2990850"/>
              <a:ext cx="228600" cy="9525"/>
            </a:xfrm>
            <a:custGeom>
              <a:avLst/>
              <a:gdLst/>
              <a:ahLst/>
              <a:cxnLst/>
              <a:rect l="l" t="t" r="r" b="b"/>
              <a:pathLst>
                <a:path w="228600" h="9525">
                  <a:moveTo>
                    <a:pt x="0" y="0"/>
                  </a:moveTo>
                  <a:lnTo>
                    <a:pt x="228600" y="0"/>
                  </a:lnTo>
                </a:path>
              </a:pathLst>
            </a:custGeom>
            <a:noFill/>
            <a:ln w="28575">
              <a:solidFill>
                <a:srgbClr val="5B7C91"/>
              </a:solidFill>
            </a:ln>
          </p:spPr>
        </p:sp>
        <p:sp>
          <p:nvSpPr>
            <p:cNvPr id="7" name="Polyline 7"/>
            <p:cNvSpPr/>
            <p:nvPr/>
          </p:nvSpPr>
          <p:spPr>
            <a:xfrm>
              <a:off x="3133725" y="2914650"/>
              <a:ext cx="76200" cy="152400"/>
            </a:xfrm>
            <a:custGeom>
              <a:avLst/>
              <a:gdLst/>
              <a:ahLst/>
              <a:cxnLst/>
              <a:rect l="l" t="t" r="r" b="b"/>
              <a:pathLst>
                <a:path w="76200" h="152400">
                  <a:moveTo>
                    <a:pt x="0" y="0"/>
                  </a:moveTo>
                  <a:lnTo>
                    <a:pt x="76200" y="76200"/>
                  </a:lnTo>
                  <a:lnTo>
                    <a:pt x="0" y="152400"/>
                  </a:lnTo>
                </a:path>
              </a:pathLst>
            </a:custGeom>
            <a:noFill/>
            <a:ln w="28575">
              <a:solidFill>
                <a:srgbClr val="5B7C91"/>
              </a:solidFill>
            </a:ln>
          </p:spPr>
        </p:sp>
        <p:sp>
          <p:nvSpPr>
            <p:cNvPr id="8" name="Line 8"/>
            <p:cNvSpPr/>
            <p:nvPr/>
          </p:nvSpPr>
          <p:spPr>
            <a:xfrm>
              <a:off x="5686425" y="2990850"/>
              <a:ext cx="228600" cy="9525"/>
            </a:xfrm>
            <a:custGeom>
              <a:avLst/>
              <a:gdLst/>
              <a:ahLst/>
              <a:cxnLst/>
              <a:rect l="l" t="t" r="r" b="b"/>
              <a:pathLst>
                <a:path w="228600" h="9525">
                  <a:moveTo>
                    <a:pt x="0" y="0"/>
                  </a:moveTo>
                  <a:lnTo>
                    <a:pt x="228600" y="0"/>
                  </a:lnTo>
                </a:path>
              </a:pathLst>
            </a:custGeom>
            <a:noFill/>
            <a:ln w="28575">
              <a:solidFill>
                <a:srgbClr val="5B7C91"/>
              </a:solidFill>
            </a:ln>
          </p:spPr>
        </p:sp>
        <p:sp>
          <p:nvSpPr>
            <p:cNvPr id="9" name="Polyline 9"/>
            <p:cNvSpPr/>
            <p:nvPr/>
          </p:nvSpPr>
          <p:spPr>
            <a:xfrm>
              <a:off x="5838825" y="2914650"/>
              <a:ext cx="76200" cy="152400"/>
            </a:xfrm>
            <a:custGeom>
              <a:avLst/>
              <a:gdLst/>
              <a:ahLst/>
              <a:cxnLst/>
              <a:rect l="l" t="t" r="r" b="b"/>
              <a:pathLst>
                <a:path w="76200" h="152400">
                  <a:moveTo>
                    <a:pt x="0" y="0"/>
                  </a:moveTo>
                  <a:lnTo>
                    <a:pt x="76200" y="76200"/>
                  </a:lnTo>
                  <a:lnTo>
                    <a:pt x="0" y="152400"/>
                  </a:lnTo>
                </a:path>
              </a:pathLst>
            </a:custGeom>
            <a:noFill/>
            <a:ln w="28575">
              <a:solidFill>
                <a:srgbClr val="5B7C91"/>
              </a:solidFill>
            </a:ln>
          </p:spPr>
        </p:sp>
        <p:sp>
          <p:nvSpPr>
            <p:cNvPr id="10" name="Line 10"/>
            <p:cNvSpPr/>
            <p:nvPr/>
          </p:nvSpPr>
          <p:spPr>
            <a:xfrm>
              <a:off x="8391525" y="2990850"/>
              <a:ext cx="228600" cy="9525"/>
            </a:xfrm>
            <a:custGeom>
              <a:avLst/>
              <a:gdLst/>
              <a:ahLst/>
              <a:cxnLst/>
              <a:rect l="l" t="t" r="r" b="b"/>
              <a:pathLst>
                <a:path w="228600" h="9525">
                  <a:moveTo>
                    <a:pt x="0" y="0"/>
                  </a:moveTo>
                  <a:lnTo>
                    <a:pt x="228600" y="0"/>
                  </a:lnTo>
                </a:path>
              </a:pathLst>
            </a:custGeom>
            <a:noFill/>
            <a:ln w="28575">
              <a:solidFill>
                <a:srgbClr val="5B7C91"/>
              </a:solidFill>
            </a:ln>
          </p:spPr>
        </p:sp>
        <p:sp>
          <p:nvSpPr>
            <p:cNvPr id="11" name="Polyline 11"/>
            <p:cNvSpPr/>
            <p:nvPr/>
          </p:nvSpPr>
          <p:spPr>
            <a:xfrm>
              <a:off x="8543925" y="2914650"/>
              <a:ext cx="76200" cy="152400"/>
            </a:xfrm>
            <a:custGeom>
              <a:avLst/>
              <a:gdLst/>
              <a:ahLst/>
              <a:cxnLst/>
              <a:rect l="l" t="t" r="r" b="b"/>
              <a:pathLst>
                <a:path w="76200" h="152400">
                  <a:moveTo>
                    <a:pt x="0" y="0"/>
                  </a:moveTo>
                  <a:lnTo>
                    <a:pt x="76200" y="76200"/>
                  </a:lnTo>
                  <a:lnTo>
                    <a:pt x="0" y="152400"/>
                  </a:lnTo>
                </a:path>
              </a:pathLst>
            </a:custGeom>
            <a:noFill/>
            <a:ln w="28575">
              <a:solidFill>
                <a:srgbClr val="5B7C91"/>
              </a:solidFill>
            </a:ln>
          </p:spPr>
        </p:sp>
      </p:grpSp>
      <p:grpSp>
        <p:nvGrpSpPr>
          <p:cNvPr id="23" name="Group 23"/>
          <p:cNvGrpSpPr/>
          <p:nvPr/>
        </p:nvGrpSpPr>
        <p:grpSpPr>
          <a:xfrm>
            <a:off x="504825" y="1409700"/>
            <a:ext cx="2881526" cy="3162300"/>
            <a:chOff x="504825" y="1409700"/>
            <a:chExt cx="2881526" cy="3162300"/>
          </a:xfrm>
        </p:grpSpPr>
        <p:sp>
          <p:nvSpPr>
            <p:cNvPr id="13" name="Freeform 13"/>
            <p:cNvSpPr/>
            <p:nvPr/>
          </p:nvSpPr>
          <p:spPr>
            <a:xfrm>
              <a:off x="504825" y="1409700"/>
              <a:ext cx="2476500" cy="3162300"/>
            </a:xfrm>
            <a:custGeom>
              <a:avLst/>
              <a:gdLst/>
              <a:ahLst/>
              <a:cxnLst/>
              <a:rect l="l" t="t" r="r" b="b"/>
              <a:pathLst>
                <a:path w="2476500" h="3162300">
                  <a:moveTo>
                    <a:pt x="95250" y="0"/>
                  </a:moveTo>
                  <a:lnTo>
                    <a:pt x="2381250" y="0"/>
                  </a:lnTo>
                  <a:cubicBezTo>
                    <a:pt x="2433855" y="0"/>
                    <a:pt x="2476500" y="42645"/>
                    <a:pt x="2476500" y="95250"/>
                  </a:cubicBezTo>
                  <a:lnTo>
                    <a:pt x="2476500" y="3067050"/>
                  </a:lnTo>
                  <a:cubicBezTo>
                    <a:pt x="2476500" y="3119655"/>
                    <a:pt x="2433855" y="3162300"/>
                    <a:pt x="2381250" y="3162300"/>
                  </a:cubicBezTo>
                  <a:lnTo>
                    <a:pt x="95250" y="3162300"/>
                  </a:lnTo>
                  <a:cubicBezTo>
                    <a:pt x="42645" y="3162300"/>
                    <a:pt x="0" y="3119655"/>
                    <a:pt x="0" y="3067050"/>
                  </a:cubicBezTo>
                  <a:lnTo>
                    <a:pt x="0" y="95250"/>
                  </a:lnTo>
                  <a:cubicBezTo>
                    <a:pt x="0" y="42645"/>
                    <a:pt x="42645" y="0"/>
                    <a:pt x="95250" y="0"/>
                  </a:cubicBezTo>
                  <a:close/>
                </a:path>
              </a:pathLst>
            </a:custGeom>
            <a:solidFill>
              <a:srgbClr val="FFFFFF"/>
            </a:solidFill>
            <a:ln w="19050">
              <a:solidFill>
                <a:srgbClr val="CBD5E1"/>
              </a:solidFill>
            </a:ln>
          </p:spPr>
        </p:sp>
        <p:sp>
          <p:nvSpPr>
            <p:cNvPr id="14" name="Ellipse 14"/>
            <p:cNvSpPr/>
            <p:nvPr/>
          </p:nvSpPr>
          <p:spPr>
            <a:xfrm>
              <a:off x="657225" y="1562100"/>
              <a:ext cx="419100" cy="419100"/>
            </a:xfrm>
            <a:prstGeom prst="ellipse">
              <a:avLst/>
            </a:prstGeom>
            <a:solidFill>
              <a:srgbClr val="173B57"/>
            </a:solidFill>
            <a:ln>
              <a:noFill/>
            </a:ln>
          </p:spPr>
        </p:sp>
        <p:sp>
          <p:nvSpPr>
            <p:cNvPr id="15" name="TextBox 15"/>
            <p:cNvSpPr txBox="1"/>
            <p:nvPr/>
          </p:nvSpPr>
          <p:spPr>
            <a:xfrm>
              <a:off x="792718" y="1685925"/>
              <a:ext cx="148114"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Segoe UI Semibold" panose="020B0702040204020203"/>
                  <a:ea typeface="微软雅黑" panose="020B0503020204020204" charset="-122"/>
                  <a:cs typeface="Segoe UI Semibold" panose="020B0702040204020203"/>
                </a:rPr>
                <a:t>1</a:t>
              </a:r>
              <a:endParaRPr lang="zh-CN" sz="1500" dirty="0">
                <a:solidFill>
                  <a:srgbClr val="FFFFFF"/>
                </a:solidFill>
                <a:latin typeface="Segoe UI Semibold" panose="020B0702040204020203"/>
                <a:ea typeface="微软雅黑" panose="020B0503020204020204" charset="-122"/>
                <a:cs typeface="Segoe UI Semibold" panose="020B0702040204020203"/>
              </a:endParaRPr>
            </a:p>
          </p:txBody>
        </p:sp>
        <p:sp>
          <p:nvSpPr>
            <p:cNvPr id="16" name="TextBox 16"/>
            <p:cNvSpPr txBox="1"/>
            <p:nvPr/>
          </p:nvSpPr>
          <p:spPr>
            <a:xfrm>
              <a:off x="1151572" y="1677829"/>
              <a:ext cx="2234779" cy="320040"/>
            </a:xfrm>
            <a:prstGeom prst="rect">
              <a:avLst/>
            </a:prstGeom>
            <a:noFill/>
            <a:ln>
              <a:noFill/>
            </a:ln>
          </p:spPr>
          <p:txBody>
            <a:bodyPr wrap="none" lIns="0" tIns="0" rIns="0" bIns="0" anchor="t" anchorCtr="0">
              <a:spAutoFit/>
            </a:bodyPr>
            <a:lstStyle/>
            <a:p>
              <a:pPr algn="l"/>
              <a:r>
                <a:rPr lang="zh-CN" sz="1575" dirty="0">
                  <a:solidFill>
                    <a:srgbClr val="173B57"/>
                  </a:solidFill>
                  <a:latin typeface="Segoe UI Semibold" panose="020B0702040204020203"/>
                  <a:ea typeface="微软雅黑" panose="020B0503020204020204" charset="-122"/>
                  <a:cs typeface="Segoe UI Semibold" panose="020B0702040204020203"/>
                </a:rPr>
                <a:t>Independent judgment</a:t>
              </a:r>
              <a:endParaRPr lang="zh-CN" sz="1575" dirty="0">
                <a:solidFill>
                  <a:srgbClr val="173B57"/>
                </a:solidFill>
                <a:latin typeface="Segoe UI Semibold" panose="020B0702040204020203"/>
                <a:ea typeface="微软雅黑" panose="020B0503020204020204" charset="-122"/>
                <a:cs typeface="Segoe UI Semibold" panose="020B0702040204020203"/>
              </a:endParaRPr>
            </a:p>
          </p:txBody>
        </p:sp>
        <p:sp>
          <p:nvSpPr>
            <p:cNvPr id="17" name="Line 17"/>
            <p:cNvSpPr/>
            <p:nvPr/>
          </p:nvSpPr>
          <p:spPr>
            <a:xfrm>
              <a:off x="733425" y="2076450"/>
              <a:ext cx="2019300" cy="9525"/>
            </a:xfrm>
            <a:custGeom>
              <a:avLst/>
              <a:gdLst/>
              <a:ahLst/>
              <a:cxnLst/>
              <a:rect l="l" t="t" r="r" b="b"/>
              <a:pathLst>
                <a:path w="2019300" h="9525">
                  <a:moveTo>
                    <a:pt x="0" y="0"/>
                  </a:moveTo>
                  <a:lnTo>
                    <a:pt x="2019300" y="0"/>
                  </a:lnTo>
                </a:path>
              </a:pathLst>
            </a:custGeom>
            <a:noFill/>
            <a:ln w="19050">
              <a:solidFill>
                <a:srgbClr val="E3E8EF"/>
              </a:solidFill>
            </a:ln>
          </p:spPr>
        </p:sp>
        <p:sp>
          <p:nvSpPr>
            <p:cNvPr id="18" name="TextBox 18"/>
            <p:cNvSpPr txBox="1"/>
            <p:nvPr/>
          </p:nvSpPr>
          <p:spPr>
            <a:xfrm>
              <a:off x="716280" y="2311718"/>
              <a:ext cx="139346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Based on visible</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716280" y="2578418"/>
              <a:ext cx="153747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probability cues,</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716280" y="2845118"/>
              <a:ext cx="2383584"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participants independently</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716280" y="3111818"/>
              <a:ext cx="201453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judge which outcome is</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716280" y="3378518"/>
              <a:ext cx="1078421"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more likely.</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3209925" y="1409700"/>
            <a:ext cx="2476500" cy="3162300"/>
            <a:chOff x="3209925" y="1409700"/>
            <a:chExt cx="2476500" cy="3162300"/>
          </a:xfrm>
        </p:grpSpPr>
        <p:sp>
          <p:nvSpPr>
            <p:cNvPr id="24" name="Freeform 24"/>
            <p:cNvSpPr/>
            <p:nvPr/>
          </p:nvSpPr>
          <p:spPr>
            <a:xfrm>
              <a:off x="3209925" y="1409700"/>
              <a:ext cx="2476500" cy="3162300"/>
            </a:xfrm>
            <a:custGeom>
              <a:avLst/>
              <a:gdLst/>
              <a:ahLst/>
              <a:cxnLst/>
              <a:rect l="l" t="t" r="r" b="b"/>
              <a:pathLst>
                <a:path w="2476500" h="3162300">
                  <a:moveTo>
                    <a:pt x="95250" y="0"/>
                  </a:moveTo>
                  <a:lnTo>
                    <a:pt x="2381250" y="0"/>
                  </a:lnTo>
                  <a:cubicBezTo>
                    <a:pt x="2433855" y="0"/>
                    <a:pt x="2476500" y="42645"/>
                    <a:pt x="2476500" y="95250"/>
                  </a:cubicBezTo>
                  <a:lnTo>
                    <a:pt x="2476500" y="3067050"/>
                  </a:lnTo>
                  <a:cubicBezTo>
                    <a:pt x="2476500" y="3119655"/>
                    <a:pt x="2433855" y="3162300"/>
                    <a:pt x="2381250" y="3162300"/>
                  </a:cubicBezTo>
                  <a:lnTo>
                    <a:pt x="95250" y="3162300"/>
                  </a:lnTo>
                  <a:cubicBezTo>
                    <a:pt x="42645" y="3162300"/>
                    <a:pt x="0" y="3119655"/>
                    <a:pt x="0" y="3067050"/>
                  </a:cubicBezTo>
                  <a:lnTo>
                    <a:pt x="0" y="95250"/>
                  </a:lnTo>
                  <a:cubicBezTo>
                    <a:pt x="0" y="42645"/>
                    <a:pt x="42645" y="0"/>
                    <a:pt x="95250" y="0"/>
                  </a:cubicBezTo>
                  <a:close/>
                </a:path>
              </a:pathLst>
            </a:custGeom>
            <a:solidFill>
              <a:srgbClr val="FFFFFF"/>
            </a:solidFill>
            <a:ln w="19050">
              <a:solidFill>
                <a:srgbClr val="CBD5E1"/>
              </a:solidFill>
            </a:ln>
          </p:spPr>
        </p:sp>
        <p:sp>
          <p:nvSpPr>
            <p:cNvPr id="25" name="Ellipse 25"/>
            <p:cNvSpPr/>
            <p:nvPr/>
          </p:nvSpPr>
          <p:spPr>
            <a:xfrm>
              <a:off x="3362325" y="1562100"/>
              <a:ext cx="419100" cy="419100"/>
            </a:xfrm>
            <a:prstGeom prst="ellipse">
              <a:avLst/>
            </a:prstGeom>
            <a:solidFill>
              <a:srgbClr val="173B57"/>
            </a:solidFill>
            <a:ln>
              <a:noFill/>
            </a:ln>
          </p:spPr>
        </p:sp>
        <p:sp>
          <p:nvSpPr>
            <p:cNvPr id="26" name="TextBox 26"/>
            <p:cNvSpPr txBox="1"/>
            <p:nvPr/>
          </p:nvSpPr>
          <p:spPr>
            <a:xfrm>
              <a:off x="3497818" y="1685925"/>
              <a:ext cx="148114"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Segoe UI Semibold" panose="020B0702040204020203"/>
                  <a:ea typeface="微软雅黑" panose="020B0503020204020204" charset="-122"/>
                  <a:cs typeface="Segoe UI Semibold" panose="020B0702040204020203"/>
                </a:rPr>
                <a:t>2</a:t>
              </a:r>
              <a:endParaRPr lang="zh-CN" sz="1500" dirty="0">
                <a:solidFill>
                  <a:srgbClr val="FFFFFF"/>
                </a:solidFill>
                <a:latin typeface="Segoe UI Semibold" panose="020B0702040204020203"/>
                <a:ea typeface="微软雅黑" panose="020B0503020204020204" charset="-122"/>
                <a:cs typeface="Segoe UI Semibold" panose="020B0702040204020203"/>
              </a:endParaRPr>
            </a:p>
          </p:txBody>
        </p:sp>
        <p:sp>
          <p:nvSpPr>
            <p:cNvPr id="27" name="TextBox 27"/>
            <p:cNvSpPr txBox="1"/>
            <p:nvPr/>
          </p:nvSpPr>
          <p:spPr>
            <a:xfrm>
              <a:off x="3856672" y="1677829"/>
              <a:ext cx="1741218" cy="320040"/>
            </a:xfrm>
            <a:prstGeom prst="rect">
              <a:avLst/>
            </a:prstGeom>
            <a:noFill/>
            <a:ln>
              <a:noFill/>
            </a:ln>
          </p:spPr>
          <p:txBody>
            <a:bodyPr wrap="none" lIns="0" tIns="0" rIns="0" bIns="0" anchor="t" anchorCtr="0">
              <a:spAutoFit/>
            </a:bodyPr>
            <a:lstStyle/>
            <a:p>
              <a:pPr algn="l"/>
              <a:r>
                <a:rPr lang="zh-CN" sz="1575" dirty="0">
                  <a:solidFill>
                    <a:srgbClr val="173B57"/>
                  </a:solidFill>
                  <a:latin typeface="Segoe UI Semibold" panose="020B0702040204020203"/>
                  <a:ea typeface="微软雅黑" panose="020B0503020204020204" charset="-122"/>
                  <a:cs typeface="Segoe UI Semibold" panose="020B0702040204020203"/>
                </a:rPr>
                <a:t>Receive AI advice</a:t>
              </a:r>
              <a:endParaRPr lang="zh-CN" sz="1575" dirty="0">
                <a:solidFill>
                  <a:srgbClr val="173B57"/>
                </a:solidFill>
                <a:latin typeface="Segoe UI Semibold" panose="020B0702040204020203"/>
                <a:ea typeface="微软雅黑" panose="020B0503020204020204" charset="-122"/>
                <a:cs typeface="Segoe UI Semibold" panose="020B0702040204020203"/>
              </a:endParaRPr>
            </a:p>
          </p:txBody>
        </p:sp>
        <p:sp>
          <p:nvSpPr>
            <p:cNvPr id="28" name="Line 28"/>
            <p:cNvSpPr/>
            <p:nvPr/>
          </p:nvSpPr>
          <p:spPr>
            <a:xfrm>
              <a:off x="3438525" y="2076450"/>
              <a:ext cx="2019300" cy="9525"/>
            </a:xfrm>
            <a:custGeom>
              <a:avLst/>
              <a:gdLst/>
              <a:ahLst/>
              <a:cxnLst/>
              <a:rect l="l" t="t" r="r" b="b"/>
              <a:pathLst>
                <a:path w="2019300" h="9525">
                  <a:moveTo>
                    <a:pt x="0" y="0"/>
                  </a:moveTo>
                  <a:lnTo>
                    <a:pt x="2019300" y="0"/>
                  </a:lnTo>
                </a:path>
              </a:pathLst>
            </a:custGeom>
            <a:noFill/>
            <a:ln w="19050">
              <a:solidFill>
                <a:srgbClr val="E3E8EF"/>
              </a:solidFill>
            </a:ln>
          </p:spPr>
        </p:sp>
        <p:sp>
          <p:nvSpPr>
            <p:cNvPr id="29" name="TextBox 29"/>
            <p:cNvSpPr txBox="1"/>
            <p:nvPr/>
          </p:nvSpPr>
          <p:spPr>
            <a:xfrm>
              <a:off x="3421380" y="2311718"/>
              <a:ext cx="209554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All participants see the</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3421380" y="2578418"/>
              <a:ext cx="2239566"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same AI recommendation.</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44" name="Group 44"/>
          <p:cNvGrpSpPr/>
          <p:nvPr/>
        </p:nvGrpSpPr>
        <p:grpSpPr>
          <a:xfrm>
            <a:off x="5915025" y="1409700"/>
            <a:ext cx="3060049" cy="3162300"/>
            <a:chOff x="5915025" y="1409700"/>
            <a:chExt cx="3060049" cy="3162300"/>
          </a:xfrm>
        </p:grpSpPr>
        <p:sp>
          <p:nvSpPr>
            <p:cNvPr id="32" name="Freeform 32"/>
            <p:cNvSpPr/>
            <p:nvPr/>
          </p:nvSpPr>
          <p:spPr>
            <a:xfrm>
              <a:off x="5915025" y="1409700"/>
              <a:ext cx="2476500" cy="3162300"/>
            </a:xfrm>
            <a:custGeom>
              <a:avLst/>
              <a:gdLst/>
              <a:ahLst/>
              <a:cxnLst/>
              <a:rect l="l" t="t" r="r" b="b"/>
              <a:pathLst>
                <a:path w="2476500" h="3162300">
                  <a:moveTo>
                    <a:pt x="95250" y="0"/>
                  </a:moveTo>
                  <a:lnTo>
                    <a:pt x="2381250" y="0"/>
                  </a:lnTo>
                  <a:cubicBezTo>
                    <a:pt x="2433855" y="0"/>
                    <a:pt x="2476500" y="42645"/>
                    <a:pt x="2476500" y="95250"/>
                  </a:cubicBezTo>
                  <a:lnTo>
                    <a:pt x="2476500" y="3067050"/>
                  </a:lnTo>
                  <a:cubicBezTo>
                    <a:pt x="2476500" y="3119655"/>
                    <a:pt x="2433855" y="3162300"/>
                    <a:pt x="2381250" y="3162300"/>
                  </a:cubicBezTo>
                  <a:lnTo>
                    <a:pt x="95250" y="3162300"/>
                  </a:lnTo>
                  <a:cubicBezTo>
                    <a:pt x="42645" y="3162300"/>
                    <a:pt x="0" y="3119655"/>
                    <a:pt x="0" y="3067050"/>
                  </a:cubicBezTo>
                  <a:lnTo>
                    <a:pt x="0" y="95250"/>
                  </a:lnTo>
                  <a:cubicBezTo>
                    <a:pt x="0" y="42645"/>
                    <a:pt x="42645" y="0"/>
                    <a:pt x="95250" y="0"/>
                  </a:cubicBezTo>
                  <a:close/>
                </a:path>
              </a:pathLst>
            </a:custGeom>
            <a:solidFill>
              <a:srgbClr val="FFFFFF"/>
            </a:solidFill>
            <a:ln w="19050">
              <a:solidFill>
                <a:srgbClr val="CBD5E1"/>
              </a:solidFill>
            </a:ln>
          </p:spPr>
        </p:sp>
        <p:sp>
          <p:nvSpPr>
            <p:cNvPr id="33" name="Ellipse 33"/>
            <p:cNvSpPr/>
            <p:nvPr/>
          </p:nvSpPr>
          <p:spPr>
            <a:xfrm>
              <a:off x="6067425" y="1562100"/>
              <a:ext cx="419100" cy="419100"/>
            </a:xfrm>
            <a:prstGeom prst="ellipse">
              <a:avLst/>
            </a:prstGeom>
            <a:solidFill>
              <a:srgbClr val="173B57"/>
            </a:solidFill>
            <a:ln>
              <a:noFill/>
            </a:ln>
          </p:spPr>
        </p:sp>
        <p:sp>
          <p:nvSpPr>
            <p:cNvPr id="34" name="TextBox 34"/>
            <p:cNvSpPr txBox="1"/>
            <p:nvPr/>
          </p:nvSpPr>
          <p:spPr>
            <a:xfrm>
              <a:off x="6202918" y="1685925"/>
              <a:ext cx="148114"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Segoe UI Semibold" panose="020B0702040204020203"/>
                  <a:ea typeface="微软雅黑" panose="020B0503020204020204" charset="-122"/>
                  <a:cs typeface="Segoe UI Semibold" panose="020B0702040204020203"/>
                </a:rPr>
                <a:t>3</a:t>
              </a:r>
              <a:endParaRPr lang="zh-CN" sz="1500" dirty="0">
                <a:solidFill>
                  <a:srgbClr val="FFFFFF"/>
                </a:solidFill>
                <a:latin typeface="Segoe UI Semibold" panose="020B0702040204020203"/>
                <a:ea typeface="微软雅黑" panose="020B0503020204020204" charset="-122"/>
                <a:cs typeface="Segoe UI Semibold" panose="020B0702040204020203"/>
              </a:endParaRPr>
            </a:p>
          </p:txBody>
        </p:sp>
        <p:sp>
          <p:nvSpPr>
            <p:cNvPr id="35" name="TextBox 35"/>
            <p:cNvSpPr txBox="1"/>
            <p:nvPr/>
          </p:nvSpPr>
          <p:spPr>
            <a:xfrm>
              <a:off x="6561772" y="1677829"/>
              <a:ext cx="2413302" cy="320040"/>
            </a:xfrm>
            <a:prstGeom prst="rect">
              <a:avLst/>
            </a:prstGeom>
            <a:noFill/>
            <a:ln>
              <a:noFill/>
            </a:ln>
          </p:spPr>
          <p:txBody>
            <a:bodyPr wrap="none" lIns="0" tIns="0" rIns="0" bIns="0" anchor="t" anchorCtr="0">
              <a:spAutoFit/>
            </a:bodyPr>
            <a:lstStyle/>
            <a:p>
              <a:pPr algn="l"/>
              <a:r>
                <a:rPr lang="zh-CN" sz="1575" dirty="0">
                  <a:solidFill>
                    <a:srgbClr val="173B57"/>
                  </a:solidFill>
                  <a:latin typeface="Segoe UI Semibold" panose="020B0702040204020203"/>
                  <a:ea typeface="微软雅黑" panose="020B0503020204020204" charset="-122"/>
                  <a:cs typeface="Segoe UI Semibold" panose="020B0702040204020203"/>
                </a:rPr>
                <a:t>Probability assessment</a:t>
              </a:r>
              <a:endParaRPr lang="zh-CN" sz="1575" dirty="0">
                <a:solidFill>
                  <a:srgbClr val="173B57"/>
                </a:solidFill>
                <a:latin typeface="Segoe UI Semibold" panose="020B0702040204020203"/>
                <a:ea typeface="微软雅黑" panose="020B0503020204020204" charset="-122"/>
                <a:cs typeface="Segoe UI Semibold" panose="020B0702040204020203"/>
              </a:endParaRPr>
            </a:p>
          </p:txBody>
        </p:sp>
        <p:sp>
          <p:nvSpPr>
            <p:cNvPr id="36" name="Line 36"/>
            <p:cNvSpPr/>
            <p:nvPr/>
          </p:nvSpPr>
          <p:spPr>
            <a:xfrm>
              <a:off x="6143625" y="2076450"/>
              <a:ext cx="2019300" cy="9525"/>
            </a:xfrm>
            <a:custGeom>
              <a:avLst/>
              <a:gdLst/>
              <a:ahLst/>
              <a:cxnLst/>
              <a:rect l="l" t="t" r="r" b="b"/>
              <a:pathLst>
                <a:path w="2019300" h="9525">
                  <a:moveTo>
                    <a:pt x="0" y="0"/>
                  </a:moveTo>
                  <a:lnTo>
                    <a:pt x="2019300" y="0"/>
                  </a:lnTo>
                </a:path>
              </a:pathLst>
            </a:custGeom>
            <a:noFill/>
            <a:ln w="19050">
              <a:solidFill>
                <a:srgbClr val="E3E8EF"/>
              </a:solidFill>
            </a:ln>
          </p:spPr>
        </p:sp>
        <p:sp>
          <p:nvSpPr>
            <p:cNvPr id="37" name="TextBox 37"/>
            <p:cNvSpPr txBox="1"/>
            <p:nvPr/>
          </p:nvSpPr>
          <p:spPr>
            <a:xfrm>
              <a:off x="6127432" y="2262664"/>
              <a:ext cx="201313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Participants separately</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6127432" y="2510314"/>
              <a:ext cx="182610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report the subjective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6127432" y="2757964"/>
              <a:ext cx="1452062"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probability that:</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6127432" y="3081814"/>
              <a:ext cx="1902619"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 AI recommendation is</a:t>
              </a:r>
              <a:endParaRPr lang="zh-CN" sz="1275" dirty="0">
                <a:solidFill>
                  <a:srgbClr val="52606D"/>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279832" y="3319939"/>
              <a:ext cx="686967"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correct</a:t>
              </a:r>
              <a:endParaRPr lang="zh-CN" sz="1275" dirty="0">
                <a:solidFill>
                  <a:srgbClr val="52606D"/>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6127432" y="3624739"/>
              <a:ext cx="2293668"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 their own initial judgment</a:t>
              </a:r>
              <a:endParaRPr lang="zh-CN" sz="1275" dirty="0">
                <a:solidFill>
                  <a:srgbClr val="52606D"/>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6279832" y="3862864"/>
              <a:ext cx="882491"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is correct</a:t>
              </a:r>
              <a:endParaRPr lang="zh-CN" sz="1275" dirty="0">
                <a:solidFill>
                  <a:srgbClr val="52606D"/>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8620125" y="1409700"/>
            <a:ext cx="3067050" cy="3162300"/>
            <a:chOff x="8620125" y="1409700"/>
            <a:chExt cx="3067050" cy="3162300"/>
          </a:xfrm>
        </p:grpSpPr>
        <p:sp>
          <p:nvSpPr>
            <p:cNvPr id="45" name="Freeform 45"/>
            <p:cNvSpPr/>
            <p:nvPr/>
          </p:nvSpPr>
          <p:spPr>
            <a:xfrm>
              <a:off x="8620125" y="1409700"/>
              <a:ext cx="3067050" cy="3162300"/>
            </a:xfrm>
            <a:custGeom>
              <a:avLst/>
              <a:gdLst/>
              <a:ahLst/>
              <a:cxnLst/>
              <a:rect l="l" t="t" r="r" b="b"/>
              <a:pathLst>
                <a:path w="3067050" h="3162300">
                  <a:moveTo>
                    <a:pt x="95250" y="0"/>
                  </a:moveTo>
                  <a:lnTo>
                    <a:pt x="2971800" y="0"/>
                  </a:lnTo>
                  <a:cubicBezTo>
                    <a:pt x="3024405" y="0"/>
                    <a:pt x="3067050" y="42645"/>
                    <a:pt x="3067050" y="95250"/>
                  </a:cubicBezTo>
                  <a:lnTo>
                    <a:pt x="3067050" y="3067050"/>
                  </a:lnTo>
                  <a:cubicBezTo>
                    <a:pt x="3067050" y="3119655"/>
                    <a:pt x="3024405" y="3162300"/>
                    <a:pt x="2971800" y="3162300"/>
                  </a:cubicBezTo>
                  <a:lnTo>
                    <a:pt x="95250" y="3162300"/>
                  </a:lnTo>
                  <a:cubicBezTo>
                    <a:pt x="42645" y="3162300"/>
                    <a:pt x="0" y="3119655"/>
                    <a:pt x="0" y="3067050"/>
                  </a:cubicBezTo>
                  <a:lnTo>
                    <a:pt x="0" y="95250"/>
                  </a:lnTo>
                  <a:cubicBezTo>
                    <a:pt x="0" y="42645"/>
                    <a:pt x="42645" y="0"/>
                    <a:pt x="95250" y="0"/>
                  </a:cubicBezTo>
                  <a:close/>
                </a:path>
              </a:pathLst>
            </a:custGeom>
            <a:solidFill>
              <a:srgbClr val="FFFFFF"/>
            </a:solidFill>
            <a:ln w="19050">
              <a:solidFill>
                <a:srgbClr val="CBD5E1"/>
              </a:solidFill>
            </a:ln>
          </p:spPr>
        </p:sp>
        <p:sp>
          <p:nvSpPr>
            <p:cNvPr id="46" name="Ellipse 46"/>
            <p:cNvSpPr/>
            <p:nvPr/>
          </p:nvSpPr>
          <p:spPr>
            <a:xfrm>
              <a:off x="8772525" y="1562100"/>
              <a:ext cx="419100" cy="419100"/>
            </a:xfrm>
            <a:prstGeom prst="ellipse">
              <a:avLst/>
            </a:prstGeom>
            <a:solidFill>
              <a:srgbClr val="B42318"/>
            </a:solidFill>
            <a:ln>
              <a:noFill/>
            </a:ln>
          </p:spPr>
        </p:sp>
        <p:sp>
          <p:nvSpPr>
            <p:cNvPr id="47" name="TextBox 47"/>
            <p:cNvSpPr txBox="1"/>
            <p:nvPr/>
          </p:nvSpPr>
          <p:spPr>
            <a:xfrm>
              <a:off x="8908018" y="1685925"/>
              <a:ext cx="148114"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Segoe UI Semibold" panose="020B0702040204020203"/>
                  <a:ea typeface="微软雅黑" panose="020B0503020204020204" charset="-122"/>
                  <a:cs typeface="Segoe UI Semibold" panose="020B0702040204020203"/>
                </a:rPr>
                <a:t>4</a:t>
              </a:r>
              <a:endParaRPr lang="zh-CN" sz="1500" dirty="0">
                <a:solidFill>
                  <a:srgbClr val="FFFFFF"/>
                </a:solidFill>
                <a:latin typeface="Segoe UI Semibold" panose="020B0702040204020203"/>
                <a:ea typeface="微软雅黑" panose="020B0503020204020204" charset="-122"/>
                <a:cs typeface="Segoe UI Semibold" panose="020B0702040204020203"/>
              </a:endParaRPr>
            </a:p>
          </p:txBody>
        </p:sp>
        <p:sp>
          <p:nvSpPr>
            <p:cNvPr id="48" name="TextBox 48"/>
            <p:cNvSpPr txBox="1"/>
            <p:nvPr/>
          </p:nvSpPr>
          <p:spPr>
            <a:xfrm>
              <a:off x="9266872" y="1677829"/>
              <a:ext cx="1216152" cy="320040"/>
            </a:xfrm>
            <a:prstGeom prst="rect">
              <a:avLst/>
            </a:prstGeom>
            <a:noFill/>
            <a:ln>
              <a:noFill/>
            </a:ln>
          </p:spPr>
          <p:txBody>
            <a:bodyPr wrap="none" lIns="0" tIns="0" rIns="0" bIns="0" anchor="t" anchorCtr="0">
              <a:spAutoFit/>
            </a:bodyPr>
            <a:lstStyle/>
            <a:p>
              <a:pPr algn="l"/>
              <a:r>
                <a:rPr lang="zh-CN" sz="1575" dirty="0">
                  <a:solidFill>
                    <a:srgbClr val="173B57"/>
                  </a:solidFill>
                  <a:latin typeface="Segoe UI Semibold" panose="020B0702040204020203"/>
                  <a:ea typeface="微软雅黑" panose="020B0503020204020204" charset="-122"/>
                  <a:cs typeface="Segoe UI Semibold" panose="020B0702040204020203"/>
                </a:rPr>
                <a:t>Final choice</a:t>
              </a:r>
              <a:endParaRPr lang="zh-CN" sz="1575" dirty="0">
                <a:solidFill>
                  <a:srgbClr val="173B57"/>
                </a:solidFill>
                <a:latin typeface="Segoe UI Semibold" panose="020B0702040204020203"/>
                <a:ea typeface="微软雅黑" panose="020B0503020204020204" charset="-122"/>
                <a:cs typeface="Segoe UI Semibold" panose="020B0702040204020203"/>
              </a:endParaRPr>
            </a:p>
          </p:txBody>
        </p:sp>
        <p:sp>
          <p:nvSpPr>
            <p:cNvPr id="49" name="Line 49"/>
            <p:cNvSpPr/>
            <p:nvPr/>
          </p:nvSpPr>
          <p:spPr>
            <a:xfrm>
              <a:off x="8848725" y="2076450"/>
              <a:ext cx="2609850" cy="9525"/>
            </a:xfrm>
            <a:custGeom>
              <a:avLst/>
              <a:gdLst/>
              <a:ahLst/>
              <a:cxnLst/>
              <a:rect l="l" t="t" r="r" b="b"/>
              <a:pathLst>
                <a:path w="2609850" h="9525">
                  <a:moveTo>
                    <a:pt x="0" y="0"/>
                  </a:moveTo>
                  <a:lnTo>
                    <a:pt x="2609850" y="0"/>
                  </a:lnTo>
                </a:path>
              </a:pathLst>
            </a:custGeom>
            <a:noFill/>
            <a:ln w="19050">
              <a:solidFill>
                <a:srgbClr val="E3E8EF"/>
              </a:solidFill>
            </a:ln>
          </p:spPr>
        </p:sp>
        <p:sp>
          <p:nvSpPr>
            <p:cNvPr id="50" name="TextBox 50"/>
            <p:cNvSpPr txBox="1"/>
            <p:nvPr/>
          </p:nvSpPr>
          <p:spPr>
            <a:xfrm>
              <a:off x="8831580" y="2311718"/>
              <a:ext cx="233857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Retain the initial judgment</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8831580" y="2578418"/>
              <a:ext cx="1681496"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or switch to the AI</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8831580" y="2845118"/>
              <a:ext cx="154647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recommendation.</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685800" y="4953000"/>
            <a:ext cx="10820400" cy="1104900"/>
            <a:chOff x="685800" y="4953000"/>
            <a:chExt cx="10820400" cy="1104900"/>
          </a:xfrm>
        </p:grpSpPr>
        <p:sp>
          <p:nvSpPr>
            <p:cNvPr id="54" name="Freeform 54"/>
            <p:cNvSpPr/>
            <p:nvPr/>
          </p:nvSpPr>
          <p:spPr>
            <a:xfrm>
              <a:off x="685800" y="4953000"/>
              <a:ext cx="10820400" cy="1104900"/>
            </a:xfrm>
            <a:custGeom>
              <a:avLst/>
              <a:gdLst/>
              <a:ahLst/>
              <a:cxnLst/>
              <a:rect l="l" t="t" r="r" b="b"/>
              <a:pathLst>
                <a:path w="10820400" h="1104900">
                  <a:moveTo>
                    <a:pt x="95250" y="0"/>
                  </a:moveTo>
                  <a:lnTo>
                    <a:pt x="10725150" y="0"/>
                  </a:lnTo>
                  <a:cubicBezTo>
                    <a:pt x="10777755" y="0"/>
                    <a:pt x="10820400" y="42645"/>
                    <a:pt x="10820400" y="95250"/>
                  </a:cubicBezTo>
                  <a:lnTo>
                    <a:pt x="10820400" y="1009650"/>
                  </a:lnTo>
                  <a:cubicBezTo>
                    <a:pt x="10820400" y="1062255"/>
                    <a:pt x="10777755" y="1104900"/>
                    <a:pt x="10725150" y="1104900"/>
                  </a:cubicBezTo>
                  <a:lnTo>
                    <a:pt x="95250" y="1104900"/>
                  </a:lnTo>
                  <a:cubicBezTo>
                    <a:pt x="42645" y="1104900"/>
                    <a:pt x="0" y="1062255"/>
                    <a:pt x="0" y="1009650"/>
                  </a:cubicBezTo>
                  <a:lnTo>
                    <a:pt x="0" y="95250"/>
                  </a:lnTo>
                  <a:cubicBezTo>
                    <a:pt x="0" y="42645"/>
                    <a:pt x="42645" y="0"/>
                    <a:pt x="95250" y="0"/>
                  </a:cubicBezTo>
                  <a:close/>
                </a:path>
              </a:pathLst>
            </a:custGeom>
            <a:solidFill>
              <a:srgbClr val="EDF2F7"/>
            </a:solidFill>
            <a:ln w="19050">
              <a:solidFill>
                <a:srgbClr val="CBD5E1"/>
              </a:solidFill>
            </a:ln>
          </p:spPr>
        </p:sp>
        <p:sp>
          <p:nvSpPr>
            <p:cNvPr id="55" name="TextBox 55"/>
            <p:cNvSpPr txBox="1"/>
            <p:nvPr/>
          </p:nvSpPr>
          <p:spPr>
            <a:xfrm>
              <a:off x="895350" y="5153025"/>
              <a:ext cx="1828324" cy="304800"/>
            </a:xfrm>
            <a:prstGeom prst="rect">
              <a:avLst/>
            </a:prstGeom>
            <a:noFill/>
            <a:ln>
              <a:noFill/>
            </a:ln>
          </p:spPr>
          <p:txBody>
            <a:bodyPr wrap="none" lIns="0" tIns="0" rIns="0" bIns="0" anchor="t" anchorCtr="0">
              <a:spAutoFit/>
            </a:bodyPr>
            <a:lstStyle/>
            <a:p>
              <a:pPr algn="l"/>
              <a:r>
                <a:rPr lang="zh-CN" sz="1500" dirty="0">
                  <a:solidFill>
                    <a:srgbClr val="173B57"/>
                  </a:solidFill>
                  <a:latin typeface="Segoe UI Semibold" panose="020B0702040204020203"/>
                  <a:ea typeface="微软雅黑" panose="020B0503020204020204" charset="-122"/>
                  <a:cs typeface="Segoe UI Semibold" panose="020B0702040204020203"/>
                </a:rPr>
                <a:t>Outcome feedback</a:t>
              </a:r>
              <a:endParaRPr lang="zh-CN" sz="1500" dirty="0">
                <a:solidFill>
                  <a:srgbClr val="173B57"/>
                </a:solidFill>
                <a:latin typeface="Segoe UI Semibold" panose="020B0702040204020203"/>
                <a:ea typeface="微软雅黑" panose="020B0503020204020204" charset="-122"/>
                <a:cs typeface="Segoe UI Semibold" panose="020B0702040204020203"/>
              </a:endParaRPr>
            </a:p>
          </p:txBody>
        </p:sp>
        <p:sp>
          <p:nvSpPr>
            <p:cNvPr id="56" name="TextBox 56"/>
            <p:cNvSpPr txBox="1"/>
            <p:nvPr/>
          </p:nvSpPr>
          <p:spPr>
            <a:xfrm>
              <a:off x="897255" y="5531168"/>
              <a:ext cx="1213437"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True outcome</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57" name="Ellipse 57"/>
            <p:cNvSpPr/>
            <p:nvPr/>
          </p:nvSpPr>
          <p:spPr>
            <a:xfrm>
              <a:off x="2857500" y="5581650"/>
              <a:ext cx="76200" cy="76200"/>
            </a:xfrm>
            <a:prstGeom prst="ellipse">
              <a:avLst/>
            </a:prstGeom>
            <a:solidFill>
              <a:srgbClr val="5B7C91"/>
            </a:solidFill>
            <a:ln>
              <a:noFill/>
            </a:ln>
          </p:spPr>
        </p:sp>
        <p:sp>
          <p:nvSpPr>
            <p:cNvPr id="58" name="TextBox 58"/>
            <p:cNvSpPr txBox="1"/>
            <p:nvPr/>
          </p:nvSpPr>
          <p:spPr>
            <a:xfrm>
              <a:off x="3088005" y="5531168"/>
              <a:ext cx="3652742"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Whether the initial judgment was correct</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59" name="Ellipse 59"/>
            <p:cNvSpPr/>
            <p:nvPr/>
          </p:nvSpPr>
          <p:spPr>
            <a:xfrm>
              <a:off x="6981825" y="5581650"/>
              <a:ext cx="76200" cy="76200"/>
            </a:xfrm>
            <a:prstGeom prst="ellipse">
              <a:avLst/>
            </a:prstGeom>
            <a:solidFill>
              <a:srgbClr val="5B7C91"/>
            </a:solidFill>
            <a:ln>
              <a:noFill/>
            </a:ln>
          </p:spPr>
        </p:sp>
        <p:sp>
          <p:nvSpPr>
            <p:cNvPr id="60" name="TextBox 60"/>
            <p:cNvSpPr txBox="1"/>
            <p:nvPr/>
          </p:nvSpPr>
          <p:spPr>
            <a:xfrm>
              <a:off x="7212330" y="5531168"/>
              <a:ext cx="305866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Whether the AI advice was correct</a:t>
              </a:r>
              <a:endParaRPr lang="zh-CN" sz="1350" dirty="0">
                <a:solidFill>
                  <a:srgbClr val="1F2933"/>
                </a:solidFill>
                <a:latin typeface="Segoe UI" panose="020B0502040204020203"/>
                <a:ea typeface="微软雅黑" panose="020B0503020204020204" charset="-122"/>
                <a:cs typeface="Segoe UI" panose="020B0502040204020203"/>
              </a:endParaRPr>
            </a:p>
          </p:txBody>
        </p:sp>
      </p:grpSp>
      <p:sp>
        <p:nvSpPr>
          <p:cNvPr id="62" name="TextBox 62"/>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11</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15278"/>
            <a:ext cx="10852785" cy="518160"/>
            <a:chOff x="653415" y="315278"/>
            <a:chExt cx="10852785" cy="518160"/>
          </a:xfrm>
        </p:grpSpPr>
        <p:sp>
          <p:nvSpPr>
            <p:cNvPr id="3" name="TextBox 3"/>
            <p:cNvSpPr txBox="1"/>
            <p:nvPr/>
          </p:nvSpPr>
          <p:spPr>
            <a:xfrm>
              <a:off x="653415" y="315278"/>
              <a:ext cx="6509425"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AI Advice and Experimental Conditions</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Line 4"/>
            <p:cNvSpPr/>
            <p:nvPr/>
          </p:nvSpPr>
          <p:spPr>
            <a:xfrm>
              <a:off x="685800" y="80010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16" name="Group 16"/>
          <p:cNvGrpSpPr/>
          <p:nvPr/>
        </p:nvGrpSpPr>
        <p:grpSpPr>
          <a:xfrm>
            <a:off x="514350" y="1200150"/>
            <a:ext cx="3486150" cy="4819650"/>
            <a:chOff x="514350" y="1200150"/>
            <a:chExt cx="3486150" cy="4819650"/>
          </a:xfrm>
        </p:grpSpPr>
        <p:sp>
          <p:nvSpPr>
            <p:cNvPr id="6" name="Freeform 6"/>
            <p:cNvSpPr/>
            <p:nvPr/>
          </p:nvSpPr>
          <p:spPr>
            <a:xfrm>
              <a:off x="514350" y="1200150"/>
              <a:ext cx="3486150" cy="4819650"/>
            </a:xfrm>
            <a:custGeom>
              <a:avLst/>
              <a:gdLst/>
              <a:ahLst/>
              <a:cxnLst/>
              <a:rect l="l" t="t" r="r" b="b"/>
              <a:pathLst>
                <a:path w="3486150" h="4819650">
                  <a:moveTo>
                    <a:pt x="95250" y="0"/>
                  </a:moveTo>
                  <a:lnTo>
                    <a:pt x="3390900" y="0"/>
                  </a:lnTo>
                  <a:cubicBezTo>
                    <a:pt x="3443505" y="0"/>
                    <a:pt x="3486150" y="42645"/>
                    <a:pt x="3486150" y="95250"/>
                  </a:cubicBezTo>
                  <a:lnTo>
                    <a:pt x="3486150" y="4724400"/>
                  </a:lnTo>
                  <a:cubicBezTo>
                    <a:pt x="3486150" y="4777005"/>
                    <a:pt x="3443505" y="4819650"/>
                    <a:pt x="3390900" y="4819650"/>
                  </a:cubicBezTo>
                  <a:lnTo>
                    <a:pt x="95250" y="4819650"/>
                  </a:lnTo>
                  <a:cubicBezTo>
                    <a:pt x="42645" y="4819650"/>
                    <a:pt x="0" y="4777005"/>
                    <a:pt x="0" y="4724400"/>
                  </a:cubicBezTo>
                  <a:lnTo>
                    <a:pt x="0" y="95250"/>
                  </a:lnTo>
                  <a:cubicBezTo>
                    <a:pt x="0" y="42645"/>
                    <a:pt x="42645" y="0"/>
                    <a:pt x="95250" y="0"/>
                  </a:cubicBezTo>
                  <a:close/>
                </a:path>
              </a:pathLst>
            </a:custGeom>
            <a:solidFill>
              <a:srgbClr val="FFFFFF"/>
            </a:solidFill>
            <a:ln w="19050">
              <a:solidFill>
                <a:srgbClr val="CBD5E1"/>
              </a:solidFill>
            </a:ln>
          </p:spPr>
        </p:sp>
        <p:sp>
          <p:nvSpPr>
            <p:cNvPr id="7" name="Freeform 7"/>
            <p:cNvSpPr/>
            <p:nvPr/>
          </p:nvSpPr>
          <p:spPr>
            <a:xfrm>
              <a:off x="514350" y="1200150"/>
              <a:ext cx="3486150" cy="647700"/>
            </a:xfrm>
            <a:custGeom>
              <a:avLst/>
              <a:gdLst/>
              <a:ahLst/>
              <a:cxnLst/>
              <a:rect l="l" t="t" r="r" b="b"/>
              <a:pathLst>
                <a:path w="3486150" h="647700">
                  <a:moveTo>
                    <a:pt x="95250" y="0"/>
                  </a:moveTo>
                  <a:lnTo>
                    <a:pt x="3390900" y="0"/>
                  </a:lnTo>
                  <a:cubicBezTo>
                    <a:pt x="3443505" y="0"/>
                    <a:pt x="3486150" y="42645"/>
                    <a:pt x="3486150" y="95250"/>
                  </a:cubicBezTo>
                  <a:lnTo>
                    <a:pt x="3486150" y="552450"/>
                  </a:lnTo>
                  <a:cubicBezTo>
                    <a:pt x="3486150" y="605055"/>
                    <a:pt x="3443505" y="647700"/>
                    <a:pt x="3390900" y="647700"/>
                  </a:cubicBezTo>
                  <a:lnTo>
                    <a:pt x="95250" y="647700"/>
                  </a:lnTo>
                  <a:cubicBezTo>
                    <a:pt x="42645" y="647700"/>
                    <a:pt x="0" y="605055"/>
                    <a:pt x="0" y="552450"/>
                  </a:cubicBezTo>
                  <a:lnTo>
                    <a:pt x="0" y="95250"/>
                  </a:lnTo>
                  <a:cubicBezTo>
                    <a:pt x="0" y="42645"/>
                    <a:pt x="42645" y="0"/>
                    <a:pt x="95250" y="0"/>
                  </a:cubicBezTo>
                  <a:close/>
                </a:path>
              </a:pathLst>
            </a:custGeom>
            <a:solidFill>
              <a:srgbClr val="173B57"/>
            </a:solidFill>
            <a:ln>
              <a:noFill/>
            </a:ln>
          </p:spPr>
        </p:sp>
        <p:sp>
          <p:nvSpPr>
            <p:cNvPr id="8" name="Rectangle 8"/>
            <p:cNvSpPr/>
            <p:nvPr/>
          </p:nvSpPr>
          <p:spPr>
            <a:xfrm>
              <a:off x="514350" y="1733550"/>
              <a:ext cx="3486150" cy="114300"/>
            </a:xfrm>
            <a:prstGeom prst="rect">
              <a:avLst/>
            </a:prstGeom>
            <a:solidFill>
              <a:srgbClr val="173B57"/>
            </a:solidFill>
            <a:ln>
              <a:noFill/>
            </a:ln>
          </p:spPr>
        </p:sp>
        <p:sp>
          <p:nvSpPr>
            <p:cNvPr id="9" name="TextBox 9"/>
            <p:cNvSpPr txBox="1"/>
            <p:nvPr/>
          </p:nvSpPr>
          <p:spPr>
            <a:xfrm>
              <a:off x="721995" y="1431608"/>
              <a:ext cx="2737247" cy="335280"/>
            </a:xfrm>
            <a:prstGeom prst="rect">
              <a:avLst/>
            </a:prstGeom>
            <a:noFill/>
            <a:ln>
              <a:noFill/>
            </a:ln>
          </p:spPr>
          <p:txBody>
            <a:bodyPr wrap="none" lIns="0" tIns="0" rIns="0" bIns="0" anchor="t" anchorCtr="0">
              <a:spAutoFit/>
            </a:bodyPr>
            <a:lstStyle/>
            <a:p>
              <a:pPr algn="l"/>
              <a:r>
                <a:rPr lang="zh-CN" sz="1650" dirty="0">
                  <a:solidFill>
                    <a:srgbClr val="FFFFFF"/>
                  </a:solidFill>
                  <a:latin typeface="Segoe UI Semibold" panose="020B0702040204020203"/>
                  <a:ea typeface="微软雅黑" panose="020B0503020204020204" charset="-122"/>
                  <a:cs typeface="Segoe UI Semibold" panose="020B0702040204020203"/>
                </a:rPr>
                <a:t>AI capability manipulation</a:t>
              </a:r>
              <a:endParaRPr lang="zh-CN" sz="1650" dirty="0">
                <a:solidFill>
                  <a:srgbClr val="FFFFFF"/>
                </a:solidFill>
                <a:latin typeface="Segoe UI Semibold" panose="020B0702040204020203"/>
                <a:ea typeface="微软雅黑" panose="020B0503020204020204" charset="-122"/>
                <a:cs typeface="Segoe UI Semibold" panose="020B0702040204020203"/>
              </a:endParaRPr>
            </a:p>
          </p:txBody>
        </p:sp>
        <p:sp>
          <p:nvSpPr>
            <p:cNvPr id="10" name="TextBox 10"/>
            <p:cNvSpPr txBox="1"/>
            <p:nvPr/>
          </p:nvSpPr>
          <p:spPr>
            <a:xfrm>
              <a:off x="726758" y="2129314"/>
              <a:ext cx="2633710"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 Fixed pre-generated AI advice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898208" y="2386489"/>
              <a:ext cx="78047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sequence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726758" y="2748439"/>
              <a:ext cx="240418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 High-capability AI accuracy</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726758" y="3110389"/>
              <a:ext cx="238717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 Low-capability AI accuracy</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4" name="Freeform 14"/>
            <p:cNvSpPr/>
            <p:nvPr/>
          </p:nvSpPr>
          <p:spPr>
            <a:xfrm>
              <a:off x="742950" y="4286250"/>
              <a:ext cx="3028950" cy="990600"/>
            </a:xfrm>
            <a:custGeom>
              <a:avLst/>
              <a:gdLst/>
              <a:ahLst/>
              <a:cxnLst/>
              <a:rect l="l" t="t" r="r" b="b"/>
              <a:pathLst>
                <a:path w="3028950" h="990600">
                  <a:moveTo>
                    <a:pt x="76200" y="0"/>
                  </a:moveTo>
                  <a:lnTo>
                    <a:pt x="2952750" y="0"/>
                  </a:lnTo>
                  <a:cubicBezTo>
                    <a:pt x="2994834" y="0"/>
                    <a:pt x="3028950" y="34116"/>
                    <a:pt x="3028950" y="76200"/>
                  </a:cubicBezTo>
                  <a:lnTo>
                    <a:pt x="3028950" y="914400"/>
                  </a:lnTo>
                  <a:cubicBezTo>
                    <a:pt x="3028950" y="956484"/>
                    <a:pt x="2994834" y="990600"/>
                    <a:pt x="2952750" y="990600"/>
                  </a:cubicBezTo>
                  <a:lnTo>
                    <a:pt x="76200" y="990600"/>
                  </a:lnTo>
                  <a:cubicBezTo>
                    <a:pt x="34116" y="990600"/>
                    <a:pt x="0" y="956484"/>
                    <a:pt x="0" y="914400"/>
                  </a:cubicBezTo>
                  <a:lnTo>
                    <a:pt x="0" y="76200"/>
                  </a:lnTo>
                  <a:cubicBezTo>
                    <a:pt x="0" y="34116"/>
                    <a:pt x="34116" y="0"/>
                    <a:pt x="76200" y="0"/>
                  </a:cubicBezTo>
                  <a:close/>
                </a:path>
              </a:pathLst>
            </a:custGeom>
            <a:solidFill>
              <a:srgbClr val="EDF2F7"/>
            </a:solidFill>
            <a:ln>
              <a:noFill/>
            </a:ln>
          </p:spPr>
        </p:sp>
        <p:pic>
          <p:nvPicPr>
            <p:cNvPr id="15" name="Image 15"/>
            <p:cNvPicPr>
              <a:picLocks noChangeAspect="1"/>
            </p:cNvPicPr>
            <p:nvPr/>
          </p:nvPicPr>
          <p:blipFill>
            <a:blip r:embed="rId1"/>
            <a:stretch>
              <a:fillRect/>
            </a:stretch>
          </p:blipFill>
          <p:spPr>
            <a:xfrm>
              <a:off x="1451134" y="4524375"/>
              <a:ext cx="1612582" cy="514350"/>
            </a:xfrm>
            <a:prstGeom prst="rect">
              <a:avLst/>
            </a:prstGeom>
          </p:spPr>
        </p:pic>
      </p:grpSp>
      <p:grpSp>
        <p:nvGrpSpPr>
          <p:cNvPr id="27" name="Group 27"/>
          <p:cNvGrpSpPr/>
          <p:nvPr/>
        </p:nvGrpSpPr>
        <p:grpSpPr>
          <a:xfrm>
            <a:off x="4352925" y="1200150"/>
            <a:ext cx="3486150" cy="4819650"/>
            <a:chOff x="4352925" y="1200150"/>
            <a:chExt cx="3486150" cy="4819650"/>
          </a:xfrm>
        </p:grpSpPr>
        <p:sp>
          <p:nvSpPr>
            <p:cNvPr id="17" name="Freeform 17"/>
            <p:cNvSpPr/>
            <p:nvPr/>
          </p:nvSpPr>
          <p:spPr>
            <a:xfrm>
              <a:off x="4352925" y="1200150"/>
              <a:ext cx="3486150" cy="4819650"/>
            </a:xfrm>
            <a:custGeom>
              <a:avLst/>
              <a:gdLst/>
              <a:ahLst/>
              <a:cxnLst/>
              <a:rect l="l" t="t" r="r" b="b"/>
              <a:pathLst>
                <a:path w="3486150" h="4819650">
                  <a:moveTo>
                    <a:pt x="95250" y="0"/>
                  </a:moveTo>
                  <a:lnTo>
                    <a:pt x="3390900" y="0"/>
                  </a:lnTo>
                  <a:cubicBezTo>
                    <a:pt x="3443505" y="0"/>
                    <a:pt x="3486150" y="42645"/>
                    <a:pt x="3486150" y="95250"/>
                  </a:cubicBezTo>
                  <a:lnTo>
                    <a:pt x="3486150" y="4724400"/>
                  </a:lnTo>
                  <a:cubicBezTo>
                    <a:pt x="3486150" y="4777005"/>
                    <a:pt x="3443505" y="4819650"/>
                    <a:pt x="3390900" y="4819650"/>
                  </a:cubicBezTo>
                  <a:lnTo>
                    <a:pt x="95250" y="4819650"/>
                  </a:lnTo>
                  <a:cubicBezTo>
                    <a:pt x="42645" y="4819650"/>
                    <a:pt x="0" y="4777005"/>
                    <a:pt x="0" y="4724400"/>
                  </a:cubicBezTo>
                  <a:lnTo>
                    <a:pt x="0" y="95250"/>
                  </a:lnTo>
                  <a:cubicBezTo>
                    <a:pt x="0" y="42645"/>
                    <a:pt x="42645" y="0"/>
                    <a:pt x="95250" y="0"/>
                  </a:cubicBezTo>
                  <a:close/>
                </a:path>
              </a:pathLst>
            </a:custGeom>
            <a:solidFill>
              <a:srgbClr val="FFFFFF"/>
            </a:solidFill>
            <a:ln w="19050">
              <a:solidFill>
                <a:srgbClr val="CBD5E1"/>
              </a:solidFill>
            </a:ln>
          </p:spPr>
        </p:sp>
        <p:sp>
          <p:nvSpPr>
            <p:cNvPr id="18" name="Freeform 18"/>
            <p:cNvSpPr/>
            <p:nvPr/>
          </p:nvSpPr>
          <p:spPr>
            <a:xfrm>
              <a:off x="4352925" y="1200150"/>
              <a:ext cx="3486150" cy="647700"/>
            </a:xfrm>
            <a:custGeom>
              <a:avLst/>
              <a:gdLst/>
              <a:ahLst/>
              <a:cxnLst/>
              <a:rect l="l" t="t" r="r" b="b"/>
              <a:pathLst>
                <a:path w="3486150" h="647700">
                  <a:moveTo>
                    <a:pt x="95250" y="0"/>
                  </a:moveTo>
                  <a:lnTo>
                    <a:pt x="3390900" y="0"/>
                  </a:lnTo>
                  <a:cubicBezTo>
                    <a:pt x="3443505" y="0"/>
                    <a:pt x="3486150" y="42645"/>
                    <a:pt x="3486150" y="95250"/>
                  </a:cubicBezTo>
                  <a:lnTo>
                    <a:pt x="3486150" y="552450"/>
                  </a:lnTo>
                  <a:cubicBezTo>
                    <a:pt x="3486150" y="605055"/>
                    <a:pt x="3443505" y="647700"/>
                    <a:pt x="3390900" y="647700"/>
                  </a:cubicBezTo>
                  <a:lnTo>
                    <a:pt x="95250" y="647700"/>
                  </a:lnTo>
                  <a:cubicBezTo>
                    <a:pt x="42645" y="647700"/>
                    <a:pt x="0" y="605055"/>
                    <a:pt x="0" y="552450"/>
                  </a:cubicBezTo>
                  <a:lnTo>
                    <a:pt x="0" y="95250"/>
                  </a:lnTo>
                  <a:cubicBezTo>
                    <a:pt x="0" y="42645"/>
                    <a:pt x="42645" y="0"/>
                    <a:pt x="95250" y="0"/>
                  </a:cubicBezTo>
                  <a:close/>
                </a:path>
              </a:pathLst>
            </a:custGeom>
            <a:solidFill>
              <a:srgbClr val="5B7C91"/>
            </a:solidFill>
            <a:ln>
              <a:noFill/>
            </a:ln>
          </p:spPr>
        </p:sp>
        <p:sp>
          <p:nvSpPr>
            <p:cNvPr id="19" name="Rectangle 19"/>
            <p:cNvSpPr/>
            <p:nvPr/>
          </p:nvSpPr>
          <p:spPr>
            <a:xfrm>
              <a:off x="4352925" y="1733550"/>
              <a:ext cx="3486150" cy="114300"/>
            </a:xfrm>
            <a:prstGeom prst="rect">
              <a:avLst/>
            </a:prstGeom>
            <a:solidFill>
              <a:srgbClr val="5B7C91"/>
            </a:solidFill>
            <a:ln>
              <a:noFill/>
            </a:ln>
          </p:spPr>
        </p:sp>
        <p:sp>
          <p:nvSpPr>
            <p:cNvPr id="20" name="TextBox 20"/>
            <p:cNvSpPr txBox="1"/>
            <p:nvPr/>
          </p:nvSpPr>
          <p:spPr>
            <a:xfrm>
              <a:off x="4560570" y="1431608"/>
              <a:ext cx="1835134" cy="335280"/>
            </a:xfrm>
            <a:prstGeom prst="rect">
              <a:avLst/>
            </a:prstGeom>
            <a:noFill/>
            <a:ln>
              <a:noFill/>
            </a:ln>
          </p:spPr>
          <p:txBody>
            <a:bodyPr wrap="none" lIns="0" tIns="0" rIns="0" bIns="0" anchor="t" anchorCtr="0">
              <a:spAutoFit/>
            </a:bodyPr>
            <a:lstStyle/>
            <a:p>
              <a:pPr algn="l"/>
              <a:r>
                <a:rPr lang="zh-CN" sz="1650" dirty="0">
                  <a:solidFill>
                    <a:srgbClr val="FFFFFF"/>
                  </a:solidFill>
                  <a:latin typeface="Segoe UI Semibold" panose="020B0702040204020203"/>
                  <a:ea typeface="微软雅黑" panose="020B0503020204020204" charset="-122"/>
                  <a:cs typeface="Segoe UI Semibold" panose="020B0702040204020203"/>
                </a:rPr>
                <a:t>Common evidence</a:t>
              </a:r>
              <a:endParaRPr lang="zh-CN" sz="1650" dirty="0">
                <a:solidFill>
                  <a:srgbClr val="FFFFFF"/>
                </a:solidFill>
                <a:latin typeface="Segoe UI Semibold" panose="020B0702040204020203"/>
                <a:ea typeface="微软雅黑" panose="020B0503020204020204" charset="-122"/>
                <a:cs typeface="Segoe UI Semibold" panose="020B0702040204020203"/>
              </a:endParaRPr>
            </a:p>
          </p:txBody>
        </p:sp>
        <p:sp>
          <p:nvSpPr>
            <p:cNvPr id="21" name="TextBox 21"/>
            <p:cNvSpPr txBox="1"/>
            <p:nvPr/>
          </p:nvSpPr>
          <p:spPr>
            <a:xfrm>
              <a:off x="4565332" y="2129314"/>
              <a:ext cx="255720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 Same experimental questions</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565332" y="2529364"/>
              <a:ext cx="2191655"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 Same AI-advice sequence</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565332" y="2929414"/>
              <a:ext cx="2149150"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 Same AI-error positions</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565332" y="3424714"/>
              <a:ext cx="2769727"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Differences therefore arise only</a:t>
              </a:r>
              <a:endParaRPr lang="zh-CN" sz="1275" dirty="0">
                <a:solidFill>
                  <a:srgbClr val="52606D"/>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565332" y="3681889"/>
              <a:ext cx="2412682"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from the economic-incentive</a:t>
              </a:r>
              <a:endParaRPr lang="zh-CN" sz="1275" dirty="0">
                <a:solidFill>
                  <a:srgbClr val="52606D"/>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565332" y="3939064"/>
              <a:ext cx="993005" cy="259080"/>
            </a:xfrm>
            <a:prstGeom prst="rect">
              <a:avLst/>
            </a:prstGeom>
            <a:noFill/>
            <a:ln>
              <a:noFill/>
            </a:ln>
          </p:spPr>
          <p:txBody>
            <a:bodyPr wrap="none" lIns="0" tIns="0" rIns="0" bIns="0" anchor="t" anchorCtr="0">
              <a:spAutoFit/>
            </a:bodyPr>
            <a:lstStyle/>
            <a:p>
              <a:pPr algn="l"/>
              <a:r>
                <a:rPr lang="zh-CN" sz="1275" dirty="0">
                  <a:solidFill>
                    <a:srgbClr val="52606D"/>
                  </a:solidFill>
                  <a:latin typeface="Segoe UI" panose="020B0502040204020203"/>
                  <a:ea typeface="微软雅黑" panose="020B0503020204020204" charset="-122"/>
                  <a:cs typeface="Segoe UI" panose="020B0502040204020203"/>
                </a:rPr>
                <a:t>mechanism.</a:t>
              </a:r>
              <a:endParaRPr lang="zh-CN" sz="1275" dirty="0">
                <a:solidFill>
                  <a:srgbClr val="52606D"/>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8191500" y="1200150"/>
            <a:ext cx="3880009" cy="4819650"/>
            <a:chOff x="8191500" y="1200150"/>
            <a:chExt cx="3880009" cy="4819650"/>
          </a:xfrm>
        </p:grpSpPr>
        <p:sp>
          <p:nvSpPr>
            <p:cNvPr id="28" name="Freeform 28"/>
            <p:cNvSpPr/>
            <p:nvPr/>
          </p:nvSpPr>
          <p:spPr>
            <a:xfrm>
              <a:off x="8191500" y="1200150"/>
              <a:ext cx="3486150" cy="4819650"/>
            </a:xfrm>
            <a:custGeom>
              <a:avLst/>
              <a:gdLst/>
              <a:ahLst/>
              <a:cxnLst/>
              <a:rect l="l" t="t" r="r" b="b"/>
              <a:pathLst>
                <a:path w="3486150" h="4819650">
                  <a:moveTo>
                    <a:pt x="95250" y="0"/>
                  </a:moveTo>
                  <a:lnTo>
                    <a:pt x="3390900" y="0"/>
                  </a:lnTo>
                  <a:cubicBezTo>
                    <a:pt x="3443505" y="0"/>
                    <a:pt x="3486150" y="42645"/>
                    <a:pt x="3486150" y="95250"/>
                  </a:cubicBezTo>
                  <a:lnTo>
                    <a:pt x="3486150" y="4724400"/>
                  </a:lnTo>
                  <a:cubicBezTo>
                    <a:pt x="3486150" y="4777005"/>
                    <a:pt x="3443505" y="4819650"/>
                    <a:pt x="3390900" y="4819650"/>
                  </a:cubicBezTo>
                  <a:lnTo>
                    <a:pt x="95250" y="4819650"/>
                  </a:lnTo>
                  <a:cubicBezTo>
                    <a:pt x="42645" y="4819650"/>
                    <a:pt x="0" y="4777005"/>
                    <a:pt x="0" y="4724400"/>
                  </a:cubicBezTo>
                  <a:lnTo>
                    <a:pt x="0" y="95250"/>
                  </a:lnTo>
                  <a:cubicBezTo>
                    <a:pt x="0" y="42645"/>
                    <a:pt x="42645" y="0"/>
                    <a:pt x="95250" y="0"/>
                  </a:cubicBezTo>
                  <a:close/>
                </a:path>
              </a:pathLst>
            </a:custGeom>
            <a:solidFill>
              <a:srgbClr val="FFFFFF"/>
            </a:solidFill>
            <a:ln w="19050">
              <a:solidFill>
                <a:srgbClr val="CBD5E1"/>
              </a:solidFill>
            </a:ln>
          </p:spPr>
        </p:sp>
        <p:sp>
          <p:nvSpPr>
            <p:cNvPr id="29" name="Freeform 29"/>
            <p:cNvSpPr/>
            <p:nvPr/>
          </p:nvSpPr>
          <p:spPr>
            <a:xfrm>
              <a:off x="8191500" y="1200150"/>
              <a:ext cx="3486150" cy="647700"/>
            </a:xfrm>
            <a:custGeom>
              <a:avLst/>
              <a:gdLst/>
              <a:ahLst/>
              <a:cxnLst/>
              <a:rect l="l" t="t" r="r" b="b"/>
              <a:pathLst>
                <a:path w="3486150" h="647700">
                  <a:moveTo>
                    <a:pt x="95250" y="0"/>
                  </a:moveTo>
                  <a:lnTo>
                    <a:pt x="3390900" y="0"/>
                  </a:lnTo>
                  <a:cubicBezTo>
                    <a:pt x="3443505" y="0"/>
                    <a:pt x="3486150" y="42645"/>
                    <a:pt x="3486150" y="95250"/>
                  </a:cubicBezTo>
                  <a:lnTo>
                    <a:pt x="3486150" y="552450"/>
                  </a:lnTo>
                  <a:cubicBezTo>
                    <a:pt x="3486150" y="605055"/>
                    <a:pt x="3443505" y="647700"/>
                    <a:pt x="3390900" y="647700"/>
                  </a:cubicBezTo>
                  <a:lnTo>
                    <a:pt x="95250" y="647700"/>
                  </a:lnTo>
                  <a:cubicBezTo>
                    <a:pt x="42645" y="647700"/>
                    <a:pt x="0" y="605055"/>
                    <a:pt x="0" y="552450"/>
                  </a:cubicBezTo>
                  <a:lnTo>
                    <a:pt x="0" y="95250"/>
                  </a:lnTo>
                  <a:cubicBezTo>
                    <a:pt x="0" y="42645"/>
                    <a:pt x="42645" y="0"/>
                    <a:pt x="95250" y="0"/>
                  </a:cubicBezTo>
                  <a:close/>
                </a:path>
              </a:pathLst>
            </a:custGeom>
            <a:solidFill>
              <a:srgbClr val="B42318"/>
            </a:solidFill>
            <a:ln>
              <a:noFill/>
            </a:ln>
          </p:spPr>
        </p:sp>
        <p:sp>
          <p:nvSpPr>
            <p:cNvPr id="30" name="Rectangle 30"/>
            <p:cNvSpPr/>
            <p:nvPr/>
          </p:nvSpPr>
          <p:spPr>
            <a:xfrm>
              <a:off x="8191500" y="1733550"/>
              <a:ext cx="3486150" cy="114300"/>
            </a:xfrm>
            <a:prstGeom prst="rect">
              <a:avLst/>
            </a:prstGeom>
            <a:solidFill>
              <a:srgbClr val="B42318"/>
            </a:solidFill>
            <a:ln>
              <a:noFill/>
            </a:ln>
          </p:spPr>
        </p:sp>
        <p:sp>
          <p:nvSpPr>
            <p:cNvPr id="31" name="TextBox 31"/>
            <p:cNvSpPr txBox="1"/>
            <p:nvPr/>
          </p:nvSpPr>
          <p:spPr>
            <a:xfrm>
              <a:off x="8399145" y="1431608"/>
              <a:ext cx="3672364" cy="335280"/>
            </a:xfrm>
            <a:prstGeom prst="rect">
              <a:avLst/>
            </a:prstGeom>
            <a:noFill/>
            <a:ln>
              <a:noFill/>
            </a:ln>
          </p:spPr>
          <p:txBody>
            <a:bodyPr wrap="none" lIns="0" tIns="0" rIns="0" bIns="0" anchor="t" anchorCtr="0">
              <a:spAutoFit/>
            </a:bodyPr>
            <a:lstStyle/>
            <a:p>
              <a:pPr algn="l"/>
              <a:r>
                <a:rPr lang="zh-CN" sz="1650" dirty="0">
                  <a:solidFill>
                    <a:srgbClr val="FFFFFF"/>
                  </a:solidFill>
                  <a:latin typeface="Segoe UI Semibold" panose="020B0702040204020203"/>
                  <a:ea typeface="微软雅黑" panose="020B0503020204020204" charset="-122"/>
                  <a:cs typeface="Segoe UI Semibold" panose="020B0702040204020203"/>
                </a:rPr>
                <a:t>Payment and parameter principles</a:t>
              </a:r>
              <a:endParaRPr lang="zh-CN" sz="1650" dirty="0">
                <a:solidFill>
                  <a:srgbClr val="FFFFFF"/>
                </a:solidFill>
                <a:latin typeface="Segoe UI Semibold" panose="020B0702040204020203"/>
                <a:ea typeface="微软雅黑" panose="020B0503020204020204" charset="-122"/>
                <a:cs typeface="Segoe UI Semibold" panose="020B0702040204020203"/>
              </a:endParaRPr>
            </a:p>
          </p:txBody>
        </p:sp>
        <p:sp>
          <p:nvSpPr>
            <p:cNvPr id="32" name="TextBox 32"/>
            <p:cNvSpPr txBox="1"/>
            <p:nvPr/>
          </p:nvSpPr>
          <p:spPr>
            <a:xfrm>
              <a:off x="8404860" y="2080260"/>
              <a:ext cx="302285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 Same base performance pay for each</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8576310" y="2308860"/>
              <a:ext cx="125463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correct answer</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8404860" y="2632710"/>
              <a:ext cx="302285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 Adoption deduction, reimbursement,</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576310" y="2861310"/>
              <a:ext cx="287883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or positive bonus settled separately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404860" y="3185160"/>
              <a:ext cx="296684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 Pretest freezes task difficulty and</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8576310" y="3413760"/>
              <a:ext cx="215074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both capability parameters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8404860" y="3737610"/>
              <a:ext cx="294284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 Capability difference is identifiable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8576310" y="3966210"/>
              <a:ext cx="312686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within limited feedback rounds, but not</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8576310" y="4194810"/>
              <a:ext cx="278282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large enough to remove variation in</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8576310" y="4423410"/>
              <a:ext cx="155067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beliefs or reliance.</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43" name="TextBox 43"/>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12</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653415" y="315278"/>
            <a:ext cx="3831591"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Meaning of Variables I</a:t>
            </a:r>
            <a:endParaRPr lang="zh-CN" sz="2550" b="1" dirty="0">
              <a:solidFill>
                <a:srgbClr val="173B57"/>
              </a:solidFill>
              <a:latin typeface="Segoe UI" panose="020B0502040204020203"/>
              <a:ea typeface="微软雅黑" panose="020B0503020204020204" charset="-122"/>
              <a:cs typeface="Segoe UI" panose="020B0502040204020203"/>
            </a:endParaRPr>
          </a:p>
        </p:txBody>
      </p:sp>
      <p:grpSp>
        <p:nvGrpSpPr>
          <p:cNvPr id="12" name="Group 12"/>
          <p:cNvGrpSpPr/>
          <p:nvPr/>
        </p:nvGrpSpPr>
        <p:grpSpPr>
          <a:xfrm>
            <a:off x="685800" y="990600"/>
            <a:ext cx="10820400" cy="5200650"/>
            <a:chOff x="685800" y="990600"/>
            <a:chExt cx="10820400" cy="5200650"/>
          </a:xfrm>
        </p:grpSpPr>
        <p:sp>
          <p:nvSpPr>
            <p:cNvPr id="4" name="Rectangle 4"/>
            <p:cNvSpPr/>
            <p:nvPr/>
          </p:nvSpPr>
          <p:spPr>
            <a:xfrm>
              <a:off x="685800" y="990600"/>
              <a:ext cx="10820400" cy="5200650"/>
            </a:xfrm>
            <a:prstGeom prst="rect">
              <a:avLst/>
            </a:prstGeom>
            <a:solidFill>
              <a:srgbClr val="FFFFFF"/>
            </a:solidFill>
            <a:ln w="19050">
              <a:solidFill>
                <a:srgbClr val="CBD5E1"/>
              </a:solidFill>
            </a:ln>
          </p:spPr>
        </p:sp>
        <p:sp>
          <p:nvSpPr>
            <p:cNvPr id="5" name="Rectangle 5"/>
            <p:cNvSpPr/>
            <p:nvPr/>
          </p:nvSpPr>
          <p:spPr>
            <a:xfrm>
              <a:off x="685800" y="990600"/>
              <a:ext cx="10820400" cy="609600"/>
            </a:xfrm>
            <a:prstGeom prst="rect">
              <a:avLst/>
            </a:prstGeom>
            <a:solidFill>
              <a:srgbClr val="173B57"/>
            </a:solidFill>
            <a:ln>
              <a:noFill/>
            </a:ln>
          </p:spPr>
        </p:sp>
        <p:sp>
          <p:nvSpPr>
            <p:cNvPr id="6" name="Line 6"/>
            <p:cNvSpPr/>
            <p:nvPr/>
          </p:nvSpPr>
          <p:spPr>
            <a:xfrm>
              <a:off x="3162300" y="990600"/>
              <a:ext cx="9525" cy="5200650"/>
            </a:xfrm>
            <a:custGeom>
              <a:avLst/>
              <a:gdLst/>
              <a:ahLst/>
              <a:cxnLst/>
              <a:rect l="l" t="t" r="r" b="b"/>
              <a:pathLst>
                <a:path w="9525" h="5200650">
                  <a:moveTo>
                    <a:pt x="0" y="0"/>
                  </a:moveTo>
                  <a:lnTo>
                    <a:pt x="0" y="5200650"/>
                  </a:lnTo>
                </a:path>
              </a:pathLst>
            </a:custGeom>
            <a:noFill/>
            <a:ln w="19050">
              <a:solidFill>
                <a:srgbClr val="CBD5E1"/>
              </a:solidFill>
            </a:ln>
          </p:spPr>
        </p:sp>
        <p:sp>
          <p:nvSpPr>
            <p:cNvPr id="7" name="Line 7"/>
            <p:cNvSpPr/>
            <p:nvPr/>
          </p:nvSpPr>
          <p:spPr>
            <a:xfrm>
              <a:off x="5829300" y="990600"/>
              <a:ext cx="9525" cy="5200650"/>
            </a:xfrm>
            <a:custGeom>
              <a:avLst/>
              <a:gdLst/>
              <a:ahLst/>
              <a:cxnLst/>
              <a:rect l="l" t="t" r="r" b="b"/>
              <a:pathLst>
                <a:path w="9525" h="5200650">
                  <a:moveTo>
                    <a:pt x="0" y="0"/>
                  </a:moveTo>
                  <a:lnTo>
                    <a:pt x="0" y="5200650"/>
                  </a:lnTo>
                </a:path>
              </a:pathLst>
            </a:custGeom>
            <a:noFill/>
            <a:ln w="19050">
              <a:solidFill>
                <a:srgbClr val="CBD5E1"/>
              </a:solidFill>
            </a:ln>
          </p:spPr>
        </p:sp>
        <p:sp>
          <p:nvSpPr>
            <p:cNvPr id="8" name="Line 8"/>
            <p:cNvSpPr/>
            <p:nvPr/>
          </p:nvSpPr>
          <p:spPr>
            <a:xfrm>
              <a:off x="685800" y="1600200"/>
              <a:ext cx="10820400" cy="9525"/>
            </a:xfrm>
            <a:custGeom>
              <a:avLst/>
              <a:gdLst/>
              <a:ahLst/>
              <a:cxnLst/>
              <a:rect l="l" t="t" r="r" b="b"/>
              <a:pathLst>
                <a:path w="10820400" h="9525">
                  <a:moveTo>
                    <a:pt x="0" y="0"/>
                  </a:moveTo>
                  <a:lnTo>
                    <a:pt x="10820400" y="0"/>
                  </a:lnTo>
                </a:path>
              </a:pathLst>
            </a:custGeom>
            <a:noFill/>
            <a:ln w="19050">
              <a:solidFill>
                <a:srgbClr val="CBD5E1"/>
              </a:solidFill>
            </a:ln>
          </p:spPr>
        </p:sp>
        <p:sp>
          <p:nvSpPr>
            <p:cNvPr id="9" name="Line 9"/>
            <p:cNvSpPr/>
            <p:nvPr/>
          </p:nvSpPr>
          <p:spPr>
            <a:xfrm>
              <a:off x="685800" y="2628900"/>
              <a:ext cx="10820400" cy="9525"/>
            </a:xfrm>
            <a:custGeom>
              <a:avLst/>
              <a:gdLst/>
              <a:ahLst/>
              <a:cxnLst/>
              <a:rect l="l" t="t" r="r" b="b"/>
              <a:pathLst>
                <a:path w="10820400" h="9525">
                  <a:moveTo>
                    <a:pt x="0" y="0"/>
                  </a:moveTo>
                  <a:lnTo>
                    <a:pt x="10820400" y="0"/>
                  </a:lnTo>
                </a:path>
              </a:pathLst>
            </a:custGeom>
            <a:noFill/>
            <a:ln w="19050">
              <a:solidFill>
                <a:srgbClr val="CBD5E1"/>
              </a:solidFill>
            </a:ln>
          </p:spPr>
        </p:sp>
        <p:sp>
          <p:nvSpPr>
            <p:cNvPr id="10" name="Line 10"/>
            <p:cNvSpPr/>
            <p:nvPr/>
          </p:nvSpPr>
          <p:spPr>
            <a:xfrm>
              <a:off x="685800" y="3657600"/>
              <a:ext cx="10820400" cy="9525"/>
            </a:xfrm>
            <a:custGeom>
              <a:avLst/>
              <a:gdLst/>
              <a:ahLst/>
              <a:cxnLst/>
              <a:rect l="l" t="t" r="r" b="b"/>
              <a:pathLst>
                <a:path w="10820400" h="9525">
                  <a:moveTo>
                    <a:pt x="0" y="0"/>
                  </a:moveTo>
                  <a:lnTo>
                    <a:pt x="10820400" y="0"/>
                  </a:lnTo>
                </a:path>
              </a:pathLst>
            </a:custGeom>
            <a:noFill/>
            <a:ln w="19050">
              <a:solidFill>
                <a:srgbClr val="CBD5E1"/>
              </a:solidFill>
            </a:ln>
          </p:spPr>
        </p:sp>
        <p:sp>
          <p:nvSpPr>
            <p:cNvPr id="11" name="Line 11"/>
            <p:cNvSpPr/>
            <p:nvPr/>
          </p:nvSpPr>
          <p:spPr>
            <a:xfrm>
              <a:off x="685800" y="468630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16" name="Group 16"/>
          <p:cNvGrpSpPr/>
          <p:nvPr/>
        </p:nvGrpSpPr>
        <p:grpSpPr>
          <a:xfrm>
            <a:off x="859155" y="1225868"/>
            <a:ext cx="6563963" cy="274320"/>
            <a:chOff x="859155" y="1225868"/>
            <a:chExt cx="6563963" cy="274320"/>
          </a:xfrm>
        </p:grpSpPr>
        <p:sp>
          <p:nvSpPr>
            <p:cNvPr id="13" name="TextBox 13"/>
            <p:cNvSpPr txBox="1"/>
            <p:nvPr/>
          </p:nvSpPr>
          <p:spPr>
            <a:xfrm>
              <a:off x="859155" y="1225868"/>
              <a:ext cx="148347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Semibold" panose="020B0702040204020203"/>
                  <a:ea typeface="微软雅黑" panose="020B0503020204020204" charset="-122"/>
                  <a:cs typeface="Segoe UI Semibold" panose="020B0702040204020203"/>
                </a:rPr>
                <a:t>Current variable</a:t>
              </a:r>
              <a:endParaRPr lang="zh-CN" sz="1350" dirty="0">
                <a:solidFill>
                  <a:srgbClr val="FFFFFF"/>
                </a:solidFill>
                <a:latin typeface="Segoe UI Semibold" panose="020B0702040204020203"/>
                <a:ea typeface="微软雅黑" panose="020B0503020204020204" charset="-122"/>
                <a:cs typeface="Segoe UI Semibold" panose="020B0702040204020203"/>
              </a:endParaRPr>
            </a:p>
          </p:txBody>
        </p:sp>
        <p:sp>
          <p:nvSpPr>
            <p:cNvPr id="14" name="TextBox 14"/>
            <p:cNvSpPr txBox="1"/>
            <p:nvPr/>
          </p:nvSpPr>
          <p:spPr>
            <a:xfrm>
              <a:off x="3335655" y="1225868"/>
              <a:ext cx="2221563"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Semibold" panose="020B0702040204020203"/>
                  <a:ea typeface="微软雅黑" panose="020B0503020204020204" charset="-122"/>
                  <a:cs typeface="Segoe UI Semibold" panose="020B0702040204020203"/>
                </a:rPr>
                <a:t>Corresponding construct</a:t>
              </a:r>
              <a:endParaRPr lang="zh-CN" sz="1350" dirty="0">
                <a:solidFill>
                  <a:srgbClr val="FFFFFF"/>
                </a:solidFill>
                <a:latin typeface="Segoe UI Semibold" panose="020B0702040204020203"/>
                <a:ea typeface="微软雅黑" panose="020B0503020204020204" charset="-122"/>
                <a:cs typeface="Segoe UI Semibold" panose="020B0702040204020203"/>
              </a:endParaRPr>
            </a:p>
          </p:txBody>
        </p:sp>
        <p:sp>
          <p:nvSpPr>
            <p:cNvPr id="15" name="TextBox 15"/>
            <p:cNvSpPr txBox="1"/>
            <p:nvPr/>
          </p:nvSpPr>
          <p:spPr>
            <a:xfrm>
              <a:off x="6002655" y="1225868"/>
              <a:ext cx="1420463"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Semibold" panose="020B0702040204020203"/>
                  <a:ea typeface="微软雅黑" panose="020B0503020204020204" charset="-122"/>
                  <a:cs typeface="Segoe UI Semibold" panose="020B0702040204020203"/>
                </a:rPr>
                <a:t>Precise meaning</a:t>
              </a:r>
              <a:endParaRPr lang="zh-CN" sz="1350" dirty="0">
                <a:solidFill>
                  <a:srgbClr val="FFFFFF"/>
                </a:solidFill>
                <a:latin typeface="Segoe UI Semibold" panose="020B0702040204020203"/>
                <a:ea typeface="微软雅黑" panose="020B0503020204020204" charset="-122"/>
                <a:cs typeface="Segoe UI Semibold" panose="020B0702040204020203"/>
              </a:endParaRPr>
            </a:p>
          </p:txBody>
        </p:sp>
      </p:grpSp>
      <p:grpSp>
        <p:nvGrpSpPr>
          <p:cNvPr id="21" name="Group 21"/>
          <p:cNvGrpSpPr/>
          <p:nvPr/>
        </p:nvGrpSpPr>
        <p:grpSpPr>
          <a:xfrm>
            <a:off x="861060" y="1756410"/>
            <a:ext cx="10190607" cy="462915"/>
            <a:chOff x="861060" y="1756410"/>
            <a:chExt cx="10190607" cy="462915"/>
          </a:xfrm>
        </p:grpSpPr>
        <p:sp>
          <p:nvSpPr>
            <p:cNvPr id="17" name="TextBox 17"/>
            <p:cNvSpPr txBox="1"/>
            <p:nvPr/>
          </p:nvSpPr>
          <p:spPr>
            <a:xfrm>
              <a:off x="861060" y="1813560"/>
              <a:ext cx="176669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Consolas" panose="020B0609020204030204"/>
                  <a:ea typeface="微软雅黑" panose="020B0503020204020204" charset="-122"/>
                  <a:cs typeface="Consolas" panose="020B0609020204030204"/>
                </a:rPr>
                <a:t>AI’s actual accuracy q</a:t>
              </a:r>
              <a:endParaRPr lang="zh-CN" sz="1200" dirty="0">
                <a:solidFill>
                  <a:srgbClr val="1F2933"/>
                </a:solidFill>
                <a:latin typeface="Consolas" panose="020B0609020204030204"/>
                <a:ea typeface="微软雅黑" panose="020B0503020204020204" charset="-122"/>
                <a:cs typeface="Consolas" panose="020B0609020204030204"/>
              </a:endParaRPr>
            </a:p>
          </p:txBody>
        </p:sp>
        <p:sp>
          <p:nvSpPr>
            <p:cNvPr id="18" name="TextBox 18"/>
            <p:cNvSpPr txBox="1"/>
            <p:nvPr/>
          </p:nvSpPr>
          <p:spPr>
            <a:xfrm>
              <a:off x="3337560" y="1813560"/>
              <a:ext cx="1878711"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Actual trustworthiness</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19" name="TextBox 19"/>
            <p:cNvSpPr txBox="1"/>
            <p:nvPr/>
          </p:nvSpPr>
          <p:spPr>
            <a:xfrm>
              <a:off x="6004560" y="1756410"/>
              <a:ext cx="451104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Actual trustworthiness is broader than accuracy; in this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6004560" y="1975485"/>
              <a:ext cx="504710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performance task, objective accuracy is its operationalization.</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861060" y="2785110"/>
            <a:ext cx="9806559" cy="520065"/>
            <a:chOff x="861060" y="2785110"/>
            <a:chExt cx="9806559" cy="520065"/>
          </a:xfrm>
        </p:grpSpPr>
        <p:sp>
          <p:nvSpPr>
            <p:cNvPr id="22" name="TextBox 22"/>
            <p:cNvSpPr txBox="1"/>
            <p:nvPr/>
          </p:nvSpPr>
          <p:spPr>
            <a:xfrm>
              <a:off x="861060" y="2842260"/>
              <a:ext cx="179070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Participant-estimated</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861060" y="3061335"/>
              <a:ext cx="113461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accuracy qhat</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3337560" y="2842260"/>
              <a:ext cx="2142744"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Perceived trustworthiness</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25" name="TextBox 25"/>
            <p:cNvSpPr txBox="1"/>
            <p:nvPr/>
          </p:nvSpPr>
          <p:spPr>
            <a:xfrm>
              <a:off x="6004560" y="2785110"/>
              <a:ext cx="4663059"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Participant’s subjective estimate of AI objective capability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6004560" y="3004185"/>
              <a:ext cx="163068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in the current task.</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861060" y="3813810"/>
            <a:ext cx="8734425" cy="739140"/>
            <a:chOff x="861060" y="3813810"/>
            <a:chExt cx="8734425" cy="739140"/>
          </a:xfrm>
        </p:grpSpPr>
        <p:sp>
          <p:nvSpPr>
            <p:cNvPr id="28" name="TextBox 28"/>
            <p:cNvSpPr txBox="1"/>
            <p:nvPr/>
          </p:nvSpPr>
          <p:spPr>
            <a:xfrm>
              <a:off x="861060" y="3870960"/>
              <a:ext cx="153466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Scale items such as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61060" y="4090035"/>
              <a:ext cx="1542669"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“I am willing to rely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61060" y="4309110"/>
              <a:ext cx="83858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on this AI”</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3337560" y="3870960"/>
              <a:ext cx="1366647"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Attitudinal trust</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32" name="TextBox 32"/>
            <p:cNvSpPr txBox="1"/>
            <p:nvPr/>
          </p:nvSpPr>
          <p:spPr>
            <a:xfrm>
              <a:off x="6004560" y="3813810"/>
              <a:ext cx="359092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Willingness to rely under uncertainty or risk.</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861060" y="4823460"/>
            <a:ext cx="10262616" cy="901065"/>
            <a:chOff x="861060" y="4823460"/>
            <a:chExt cx="10262616" cy="901065"/>
          </a:xfrm>
        </p:grpSpPr>
        <p:sp>
          <p:nvSpPr>
            <p:cNvPr id="34" name="TextBox 34"/>
            <p:cNvSpPr txBox="1"/>
            <p:nvPr/>
          </p:nvSpPr>
          <p:spPr>
            <a:xfrm>
              <a:off x="861060" y="4918710"/>
              <a:ext cx="151066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Trust formed from</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61060" y="5137785"/>
              <a:ext cx="211074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accuracy or error records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3337560" y="4918710"/>
              <a:ext cx="1230630"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Cognitive trust</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37" name="TextBox 37"/>
            <p:cNvSpPr txBox="1"/>
            <p:nvPr/>
          </p:nvSpPr>
          <p:spPr>
            <a:xfrm>
              <a:off x="6004560" y="4823460"/>
              <a:ext cx="511911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Merely observing feedback or updating qhat cannot automatically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6004560" y="5042535"/>
              <a:ext cx="495909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be called cognitive trust. Unless the measure captures a trust</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6004560" y="5261610"/>
              <a:ext cx="4679061"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judgment formed from capability evidence, call it perceived</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6004560" y="5480685"/>
              <a:ext cx="143065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trustworthiness.</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42" name="TextBox 42"/>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13</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653415" y="315278"/>
            <a:ext cx="3938704"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Meaning of Variables II</a:t>
            </a:r>
            <a:endParaRPr lang="zh-CN" sz="2550" b="1" dirty="0">
              <a:solidFill>
                <a:srgbClr val="173B57"/>
              </a:solidFill>
              <a:latin typeface="Segoe UI" panose="020B0502040204020203"/>
              <a:ea typeface="微软雅黑" panose="020B0503020204020204" charset="-122"/>
              <a:cs typeface="Segoe UI" panose="020B0502040204020203"/>
            </a:endParaRPr>
          </a:p>
        </p:txBody>
      </p:sp>
      <p:grpSp>
        <p:nvGrpSpPr>
          <p:cNvPr id="11" name="Group 11"/>
          <p:cNvGrpSpPr/>
          <p:nvPr/>
        </p:nvGrpSpPr>
        <p:grpSpPr>
          <a:xfrm>
            <a:off x="685800" y="990600"/>
            <a:ext cx="10820400" cy="5200650"/>
            <a:chOff x="685800" y="990600"/>
            <a:chExt cx="10820400" cy="5200650"/>
          </a:xfrm>
        </p:grpSpPr>
        <p:sp>
          <p:nvSpPr>
            <p:cNvPr id="4" name="Rectangle 4"/>
            <p:cNvSpPr/>
            <p:nvPr/>
          </p:nvSpPr>
          <p:spPr>
            <a:xfrm>
              <a:off x="685800" y="990600"/>
              <a:ext cx="10820400" cy="5200650"/>
            </a:xfrm>
            <a:prstGeom prst="rect">
              <a:avLst/>
            </a:prstGeom>
            <a:solidFill>
              <a:srgbClr val="FFFFFF"/>
            </a:solidFill>
            <a:ln w="19050">
              <a:solidFill>
                <a:srgbClr val="CBD5E1"/>
              </a:solidFill>
            </a:ln>
          </p:spPr>
        </p:sp>
        <p:sp>
          <p:nvSpPr>
            <p:cNvPr id="5" name="Rectangle 5"/>
            <p:cNvSpPr/>
            <p:nvPr/>
          </p:nvSpPr>
          <p:spPr>
            <a:xfrm>
              <a:off x="685800" y="990600"/>
              <a:ext cx="10820400" cy="609600"/>
            </a:xfrm>
            <a:prstGeom prst="rect">
              <a:avLst/>
            </a:prstGeom>
            <a:solidFill>
              <a:srgbClr val="173B57"/>
            </a:solidFill>
            <a:ln>
              <a:noFill/>
            </a:ln>
          </p:spPr>
        </p:sp>
        <p:sp>
          <p:nvSpPr>
            <p:cNvPr id="6" name="Line 6"/>
            <p:cNvSpPr/>
            <p:nvPr/>
          </p:nvSpPr>
          <p:spPr>
            <a:xfrm>
              <a:off x="3162300" y="990600"/>
              <a:ext cx="9525" cy="5200650"/>
            </a:xfrm>
            <a:custGeom>
              <a:avLst/>
              <a:gdLst/>
              <a:ahLst/>
              <a:cxnLst/>
              <a:rect l="l" t="t" r="r" b="b"/>
              <a:pathLst>
                <a:path w="9525" h="5200650">
                  <a:moveTo>
                    <a:pt x="0" y="0"/>
                  </a:moveTo>
                  <a:lnTo>
                    <a:pt x="0" y="5200650"/>
                  </a:lnTo>
                </a:path>
              </a:pathLst>
            </a:custGeom>
            <a:noFill/>
            <a:ln w="19050">
              <a:solidFill>
                <a:srgbClr val="CBD5E1"/>
              </a:solidFill>
            </a:ln>
          </p:spPr>
        </p:sp>
        <p:sp>
          <p:nvSpPr>
            <p:cNvPr id="7" name="Line 7"/>
            <p:cNvSpPr/>
            <p:nvPr/>
          </p:nvSpPr>
          <p:spPr>
            <a:xfrm>
              <a:off x="5829300" y="990600"/>
              <a:ext cx="9525" cy="5200650"/>
            </a:xfrm>
            <a:custGeom>
              <a:avLst/>
              <a:gdLst/>
              <a:ahLst/>
              <a:cxnLst/>
              <a:rect l="l" t="t" r="r" b="b"/>
              <a:pathLst>
                <a:path w="9525" h="5200650">
                  <a:moveTo>
                    <a:pt x="0" y="0"/>
                  </a:moveTo>
                  <a:lnTo>
                    <a:pt x="0" y="5200650"/>
                  </a:lnTo>
                </a:path>
              </a:pathLst>
            </a:custGeom>
            <a:noFill/>
            <a:ln w="19050">
              <a:solidFill>
                <a:srgbClr val="CBD5E1"/>
              </a:solidFill>
            </a:ln>
          </p:spPr>
        </p:sp>
        <p:sp>
          <p:nvSpPr>
            <p:cNvPr id="8" name="Line 8"/>
            <p:cNvSpPr/>
            <p:nvPr/>
          </p:nvSpPr>
          <p:spPr>
            <a:xfrm>
              <a:off x="685800" y="1600200"/>
              <a:ext cx="10820400" cy="9525"/>
            </a:xfrm>
            <a:custGeom>
              <a:avLst/>
              <a:gdLst/>
              <a:ahLst/>
              <a:cxnLst/>
              <a:rect l="l" t="t" r="r" b="b"/>
              <a:pathLst>
                <a:path w="10820400" h="9525">
                  <a:moveTo>
                    <a:pt x="0" y="0"/>
                  </a:moveTo>
                  <a:lnTo>
                    <a:pt x="10820400" y="0"/>
                  </a:lnTo>
                </a:path>
              </a:pathLst>
            </a:custGeom>
            <a:noFill/>
            <a:ln w="19050">
              <a:solidFill>
                <a:srgbClr val="CBD5E1"/>
              </a:solidFill>
            </a:ln>
          </p:spPr>
        </p:sp>
        <p:sp>
          <p:nvSpPr>
            <p:cNvPr id="9" name="Line 9"/>
            <p:cNvSpPr/>
            <p:nvPr/>
          </p:nvSpPr>
          <p:spPr>
            <a:xfrm>
              <a:off x="685800" y="2971800"/>
              <a:ext cx="10820400" cy="9525"/>
            </a:xfrm>
            <a:custGeom>
              <a:avLst/>
              <a:gdLst/>
              <a:ahLst/>
              <a:cxnLst/>
              <a:rect l="l" t="t" r="r" b="b"/>
              <a:pathLst>
                <a:path w="10820400" h="9525">
                  <a:moveTo>
                    <a:pt x="0" y="0"/>
                  </a:moveTo>
                  <a:lnTo>
                    <a:pt x="10820400" y="0"/>
                  </a:lnTo>
                </a:path>
              </a:pathLst>
            </a:custGeom>
            <a:noFill/>
            <a:ln w="19050">
              <a:solidFill>
                <a:srgbClr val="CBD5E1"/>
              </a:solidFill>
            </a:ln>
          </p:spPr>
        </p:sp>
        <p:sp>
          <p:nvSpPr>
            <p:cNvPr id="10" name="Line 10"/>
            <p:cNvSpPr/>
            <p:nvPr/>
          </p:nvSpPr>
          <p:spPr>
            <a:xfrm>
              <a:off x="685800" y="470535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15" name="Group 15"/>
          <p:cNvGrpSpPr/>
          <p:nvPr/>
        </p:nvGrpSpPr>
        <p:grpSpPr>
          <a:xfrm>
            <a:off x="859155" y="1225868"/>
            <a:ext cx="6563963" cy="274320"/>
            <a:chOff x="859155" y="1225868"/>
            <a:chExt cx="6563963" cy="274320"/>
          </a:xfrm>
        </p:grpSpPr>
        <p:sp>
          <p:nvSpPr>
            <p:cNvPr id="12" name="TextBox 12"/>
            <p:cNvSpPr txBox="1"/>
            <p:nvPr/>
          </p:nvSpPr>
          <p:spPr>
            <a:xfrm>
              <a:off x="859155" y="1225868"/>
              <a:ext cx="148347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Semibold" panose="020B0702040204020203"/>
                  <a:ea typeface="微软雅黑" panose="020B0503020204020204" charset="-122"/>
                  <a:cs typeface="Segoe UI Semibold" panose="020B0702040204020203"/>
                </a:rPr>
                <a:t>Current variable</a:t>
              </a:r>
              <a:endParaRPr lang="zh-CN" sz="1350" dirty="0">
                <a:solidFill>
                  <a:srgbClr val="FFFFFF"/>
                </a:solidFill>
                <a:latin typeface="Segoe UI Semibold" panose="020B0702040204020203"/>
                <a:ea typeface="微软雅黑" panose="020B0503020204020204" charset="-122"/>
                <a:cs typeface="Segoe UI Semibold" panose="020B0702040204020203"/>
              </a:endParaRPr>
            </a:p>
          </p:txBody>
        </p:sp>
        <p:sp>
          <p:nvSpPr>
            <p:cNvPr id="13" name="TextBox 13"/>
            <p:cNvSpPr txBox="1"/>
            <p:nvPr/>
          </p:nvSpPr>
          <p:spPr>
            <a:xfrm>
              <a:off x="3335655" y="1225868"/>
              <a:ext cx="2221563"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Semibold" panose="020B0702040204020203"/>
                  <a:ea typeface="微软雅黑" panose="020B0503020204020204" charset="-122"/>
                  <a:cs typeface="Segoe UI Semibold" panose="020B0702040204020203"/>
                </a:rPr>
                <a:t>Corresponding construct</a:t>
              </a:r>
              <a:endParaRPr lang="zh-CN" sz="1350" dirty="0">
                <a:solidFill>
                  <a:srgbClr val="FFFFFF"/>
                </a:solidFill>
                <a:latin typeface="Segoe UI Semibold" panose="020B0702040204020203"/>
                <a:ea typeface="微软雅黑" panose="020B0503020204020204" charset="-122"/>
                <a:cs typeface="Segoe UI Semibold" panose="020B0702040204020203"/>
              </a:endParaRPr>
            </a:p>
          </p:txBody>
        </p:sp>
        <p:sp>
          <p:nvSpPr>
            <p:cNvPr id="14" name="TextBox 14"/>
            <p:cNvSpPr txBox="1"/>
            <p:nvPr/>
          </p:nvSpPr>
          <p:spPr>
            <a:xfrm>
              <a:off x="6002655" y="1225868"/>
              <a:ext cx="1420463"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Segoe UI Semibold" panose="020B0702040204020203"/>
                  <a:ea typeface="微软雅黑" panose="020B0503020204020204" charset="-122"/>
                  <a:cs typeface="Segoe UI Semibold" panose="020B0702040204020203"/>
                </a:rPr>
                <a:t>Precise meaning</a:t>
              </a:r>
              <a:endParaRPr lang="zh-CN" sz="1350" dirty="0">
                <a:solidFill>
                  <a:srgbClr val="FFFFFF"/>
                </a:solidFill>
                <a:latin typeface="Segoe UI Semibold" panose="020B0702040204020203"/>
                <a:ea typeface="微软雅黑" panose="020B0503020204020204" charset="-122"/>
                <a:cs typeface="Segoe UI Semibold" panose="020B0702040204020203"/>
              </a:endParaRPr>
            </a:p>
          </p:txBody>
        </p:sp>
      </p:grpSp>
      <p:grpSp>
        <p:nvGrpSpPr>
          <p:cNvPr id="22" name="Group 22"/>
          <p:cNvGrpSpPr/>
          <p:nvPr/>
        </p:nvGrpSpPr>
        <p:grpSpPr>
          <a:xfrm>
            <a:off x="861060" y="1832610"/>
            <a:ext cx="9790557" cy="739140"/>
            <a:chOff x="861060" y="1832610"/>
            <a:chExt cx="9790557" cy="739140"/>
          </a:xfrm>
        </p:grpSpPr>
        <p:sp>
          <p:nvSpPr>
            <p:cNvPr id="16" name="TextBox 16"/>
            <p:cNvSpPr txBox="1"/>
            <p:nvPr/>
          </p:nvSpPr>
          <p:spPr>
            <a:xfrm>
              <a:off x="861060" y="1889760"/>
              <a:ext cx="174269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Trust in AI reliability,</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861060" y="2108835"/>
              <a:ext cx="119062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capability, and</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861060" y="2327910"/>
              <a:ext cx="103060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performance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3337560" y="1889760"/>
              <a:ext cx="1518666"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Performance trust</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20" name="TextBox 20"/>
            <p:cNvSpPr txBox="1"/>
            <p:nvPr/>
          </p:nvSpPr>
          <p:spPr>
            <a:xfrm>
              <a:off x="6004560" y="1832610"/>
              <a:ext cx="464705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Content concerns reliability, capability, and performance,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6004560" y="2051685"/>
              <a:ext cx="224675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rather than moral qualities.</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861060" y="3204210"/>
            <a:ext cx="10342626" cy="681990"/>
            <a:chOff x="861060" y="3204210"/>
            <a:chExt cx="10342626" cy="681990"/>
          </a:xfrm>
        </p:grpSpPr>
        <p:sp>
          <p:nvSpPr>
            <p:cNvPr id="23" name="TextBox 23"/>
            <p:cNvSpPr txBox="1"/>
            <p:nvPr/>
          </p:nvSpPr>
          <p:spPr>
            <a:xfrm>
              <a:off x="861060" y="3318510"/>
              <a:ext cx="145465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Actual adoption of</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861060" y="3537585"/>
              <a:ext cx="70256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AI advice</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3337560" y="3318510"/>
              <a:ext cx="1494663"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Adoption behaviour</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26" name="TextBox 26"/>
            <p:cNvSpPr txBox="1"/>
            <p:nvPr/>
          </p:nvSpPr>
          <p:spPr>
            <a:xfrm>
              <a:off x="6004560" y="3204210"/>
              <a:ext cx="489508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With an adoption reward, this may be a payoff response and is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004560" y="3423285"/>
              <a:ext cx="4687062"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not automatically trusting behaviour. Only if it is shown to</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6004560" y="3642360"/>
              <a:ext cx="519912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reflect a trust attitude can it operationalize trusting behaviour.</a:t>
              </a:r>
              <a:endParaRPr lang="zh-CN" sz="1200" dirty="0">
                <a:solidFill>
                  <a:srgbClr val="1F2933"/>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861060" y="4975860"/>
            <a:ext cx="10326624" cy="462915"/>
            <a:chOff x="861060" y="4975860"/>
            <a:chExt cx="10326624" cy="462915"/>
          </a:xfrm>
        </p:grpSpPr>
        <p:sp>
          <p:nvSpPr>
            <p:cNvPr id="30" name="TextBox 30"/>
            <p:cNvSpPr txBox="1"/>
            <p:nvPr/>
          </p:nvSpPr>
          <p:spPr>
            <a:xfrm>
              <a:off x="861060" y="5090160"/>
              <a:ext cx="654558"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Consolas" panose="020B0609020204030204"/>
                  <a:ea typeface="微软雅黑" panose="020B0503020204020204" charset="-122"/>
                  <a:cs typeface="Consolas" panose="020B0609020204030204"/>
                </a:rPr>
                <a:t>qhat − q</a:t>
              </a:r>
              <a:endParaRPr lang="zh-CN" sz="1200" dirty="0">
                <a:solidFill>
                  <a:srgbClr val="1F2933"/>
                </a:solidFill>
                <a:latin typeface="Consolas" panose="020B0609020204030204"/>
                <a:ea typeface="微软雅黑" panose="020B0503020204020204" charset="-122"/>
                <a:cs typeface="Consolas" panose="020B0609020204030204"/>
              </a:endParaRPr>
            </a:p>
          </p:txBody>
        </p:sp>
        <p:sp>
          <p:nvSpPr>
            <p:cNvPr id="31" name="TextBox 31"/>
            <p:cNvSpPr txBox="1"/>
            <p:nvPr/>
          </p:nvSpPr>
          <p:spPr>
            <a:xfrm>
              <a:off x="3337560" y="4975860"/>
              <a:ext cx="2182749"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Perceived-trustworthiness</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32" name="TextBox 32"/>
            <p:cNvSpPr txBox="1"/>
            <p:nvPr/>
          </p:nvSpPr>
          <p:spPr>
            <a:xfrm>
              <a:off x="3337560" y="5194935"/>
              <a:ext cx="1366647" cy="243840"/>
            </a:xfrm>
            <a:prstGeom prst="rect">
              <a:avLst/>
            </a:prstGeom>
            <a:noFill/>
            <a:ln>
              <a:noFill/>
            </a:ln>
          </p:spPr>
          <p:txBody>
            <a:bodyPr wrap="none" lIns="0" tIns="0" rIns="0" bIns="0" anchor="t" anchorCtr="0">
              <a:spAutoFit/>
            </a:bodyPr>
            <a:lstStyle/>
            <a:p>
              <a:pPr algn="l"/>
              <a:r>
                <a:rPr lang="zh-CN" sz="1200" dirty="0">
                  <a:solidFill>
                    <a:srgbClr val="173B57"/>
                  </a:solidFill>
                  <a:latin typeface="Segoe UI Semibold" panose="020B0702040204020203"/>
                  <a:ea typeface="微软雅黑" panose="020B0503020204020204" charset="-122"/>
                  <a:cs typeface="Segoe UI Semibold" panose="020B0702040204020203"/>
                </a:rPr>
                <a:t>calibration error</a:t>
              </a:r>
              <a:endParaRPr lang="zh-CN" sz="1200" dirty="0">
                <a:solidFill>
                  <a:srgbClr val="173B57"/>
                </a:solidFill>
                <a:latin typeface="Segoe UI Semibold" panose="020B0702040204020203"/>
                <a:ea typeface="微软雅黑" panose="020B0503020204020204" charset="-122"/>
                <a:cs typeface="Segoe UI Semibold" panose="020B0702040204020203"/>
              </a:endParaRPr>
            </a:p>
          </p:txBody>
        </p:sp>
        <p:sp>
          <p:nvSpPr>
            <p:cNvPr id="33" name="TextBox 33"/>
            <p:cNvSpPr txBox="1"/>
            <p:nvPr/>
          </p:nvSpPr>
          <p:spPr>
            <a:xfrm>
              <a:off x="6004560" y="4975860"/>
              <a:ext cx="5183124"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Measures the gap between perceived and actual trustworthiness;</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6004560" y="5194935"/>
              <a:ext cx="373494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it is not calibrated trust as defined by Nature.</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14</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15278"/>
            <a:ext cx="10852785" cy="518160"/>
            <a:chOff x="653415" y="315278"/>
            <a:chExt cx="10852785" cy="518160"/>
          </a:xfrm>
        </p:grpSpPr>
        <p:sp>
          <p:nvSpPr>
            <p:cNvPr id="3" name="TextBox 3"/>
            <p:cNvSpPr txBox="1"/>
            <p:nvPr/>
          </p:nvSpPr>
          <p:spPr>
            <a:xfrm>
              <a:off x="653415" y="315278"/>
              <a:ext cx="1028790"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Model</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Line 4"/>
            <p:cNvSpPr/>
            <p:nvPr/>
          </p:nvSpPr>
          <p:spPr>
            <a:xfrm>
              <a:off x="685800" y="80010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9" name="Group 9"/>
          <p:cNvGrpSpPr/>
          <p:nvPr/>
        </p:nvGrpSpPr>
        <p:grpSpPr>
          <a:xfrm>
            <a:off x="685800" y="1104900"/>
            <a:ext cx="10820400" cy="1257300"/>
            <a:chOff x="685800" y="1104900"/>
            <a:chExt cx="10820400" cy="1257300"/>
          </a:xfrm>
        </p:grpSpPr>
        <p:sp>
          <p:nvSpPr>
            <p:cNvPr id="6" name="Freeform 6"/>
            <p:cNvSpPr/>
            <p:nvPr/>
          </p:nvSpPr>
          <p:spPr>
            <a:xfrm>
              <a:off x="685800" y="1104900"/>
              <a:ext cx="10820400" cy="1257300"/>
            </a:xfrm>
            <a:custGeom>
              <a:avLst/>
              <a:gdLst/>
              <a:ahLst/>
              <a:cxnLst/>
              <a:rect l="l" t="t" r="r" b="b"/>
              <a:pathLst>
                <a:path w="10820400" h="1257300">
                  <a:moveTo>
                    <a:pt x="95250" y="0"/>
                  </a:moveTo>
                  <a:lnTo>
                    <a:pt x="10725150" y="0"/>
                  </a:lnTo>
                  <a:cubicBezTo>
                    <a:pt x="10777755" y="0"/>
                    <a:pt x="10820400" y="42645"/>
                    <a:pt x="10820400" y="95250"/>
                  </a:cubicBezTo>
                  <a:lnTo>
                    <a:pt x="10820400" y="1162050"/>
                  </a:lnTo>
                  <a:cubicBezTo>
                    <a:pt x="10820400" y="1214655"/>
                    <a:pt x="10777755" y="1257300"/>
                    <a:pt x="10725150" y="1257300"/>
                  </a:cubicBezTo>
                  <a:lnTo>
                    <a:pt x="95250" y="1257300"/>
                  </a:lnTo>
                  <a:cubicBezTo>
                    <a:pt x="42645" y="1257300"/>
                    <a:pt x="0" y="1214655"/>
                    <a:pt x="0" y="1162050"/>
                  </a:cubicBezTo>
                  <a:lnTo>
                    <a:pt x="0" y="95250"/>
                  </a:lnTo>
                  <a:cubicBezTo>
                    <a:pt x="0" y="42645"/>
                    <a:pt x="42645" y="0"/>
                    <a:pt x="95250" y="0"/>
                  </a:cubicBezTo>
                  <a:close/>
                </a:path>
              </a:pathLst>
            </a:custGeom>
            <a:solidFill>
              <a:srgbClr val="FFFFFF"/>
            </a:solidFill>
            <a:ln w="19050">
              <a:solidFill>
                <a:srgbClr val="CBD5E1"/>
              </a:solidFill>
            </a:ln>
          </p:spPr>
        </p:sp>
        <p:sp>
          <p:nvSpPr>
            <p:cNvPr id="7" name="TextBox 7"/>
            <p:cNvSpPr txBox="1"/>
            <p:nvPr/>
          </p:nvSpPr>
          <p:spPr>
            <a:xfrm>
              <a:off x="933450" y="1285875"/>
              <a:ext cx="2688431" cy="304800"/>
            </a:xfrm>
            <a:prstGeom prst="rect">
              <a:avLst/>
            </a:prstGeom>
            <a:noFill/>
            <a:ln>
              <a:noFill/>
            </a:ln>
          </p:spPr>
          <p:txBody>
            <a:bodyPr wrap="none" lIns="0" tIns="0" rIns="0" bIns="0" anchor="t" anchorCtr="0">
              <a:spAutoFit/>
            </a:bodyPr>
            <a:lstStyle/>
            <a:p>
              <a:pPr algn="l"/>
              <a:r>
                <a:rPr lang="zh-CN" sz="1500" dirty="0">
                  <a:solidFill>
                    <a:srgbClr val="173B57"/>
                  </a:solidFill>
                  <a:latin typeface="Segoe UI Semibold" panose="020B0702040204020203"/>
                  <a:ea typeface="微软雅黑" panose="020B0503020204020204" charset="-122"/>
                  <a:cs typeface="Segoe UI Semibold" panose="020B0702040204020203"/>
                </a:rPr>
                <a:t>Primary dependent variable</a:t>
              </a:r>
              <a:endParaRPr lang="zh-CN" sz="1500" dirty="0">
                <a:solidFill>
                  <a:srgbClr val="173B57"/>
                </a:solidFill>
                <a:latin typeface="Segoe UI Semibold" panose="020B0702040204020203"/>
                <a:ea typeface="微软雅黑" panose="020B0503020204020204" charset="-122"/>
                <a:cs typeface="Segoe UI Semibold" panose="020B0702040204020203"/>
              </a:endParaRPr>
            </a:p>
          </p:txBody>
        </p:sp>
        <p:pic>
          <p:nvPicPr>
            <p:cNvPr id="8" name="Image 8"/>
            <p:cNvPicPr>
              <a:picLocks noChangeAspect="1"/>
            </p:cNvPicPr>
            <p:nvPr/>
          </p:nvPicPr>
          <p:blipFill>
            <a:blip r:embed="rId1"/>
            <a:stretch>
              <a:fillRect/>
            </a:stretch>
          </p:blipFill>
          <p:spPr>
            <a:xfrm>
              <a:off x="3429000" y="1536192"/>
              <a:ext cx="5334000" cy="318421"/>
            </a:xfrm>
            <a:prstGeom prst="rect">
              <a:avLst/>
            </a:prstGeom>
          </p:spPr>
        </p:pic>
      </p:grpSp>
      <p:grpSp>
        <p:nvGrpSpPr>
          <p:cNvPr id="14" name="Group 14"/>
          <p:cNvGrpSpPr/>
          <p:nvPr/>
        </p:nvGrpSpPr>
        <p:grpSpPr>
          <a:xfrm>
            <a:off x="664845" y="2603182"/>
            <a:ext cx="10841355" cy="3188018"/>
            <a:chOff x="664845" y="2603182"/>
            <a:chExt cx="10841355" cy="3188018"/>
          </a:xfrm>
        </p:grpSpPr>
        <p:sp>
          <p:nvSpPr>
            <p:cNvPr id="10" name="TextBox 10"/>
            <p:cNvSpPr txBox="1"/>
            <p:nvPr/>
          </p:nvSpPr>
          <p:spPr>
            <a:xfrm>
              <a:off x="664845" y="2603182"/>
              <a:ext cx="3584353" cy="335280"/>
            </a:xfrm>
            <a:prstGeom prst="rect">
              <a:avLst/>
            </a:prstGeom>
            <a:noFill/>
            <a:ln>
              <a:noFill/>
            </a:ln>
          </p:spPr>
          <p:txBody>
            <a:bodyPr wrap="none" lIns="0" tIns="0" rIns="0" bIns="0" anchor="t" anchorCtr="0">
              <a:spAutoFit/>
            </a:bodyPr>
            <a:lstStyle/>
            <a:p>
              <a:pPr algn="l"/>
              <a:r>
                <a:rPr lang="zh-CN" sz="1650" dirty="0">
                  <a:solidFill>
                    <a:srgbClr val="173B57"/>
                  </a:solidFill>
                  <a:latin typeface="Segoe UI Semibold" panose="020B0702040204020203"/>
                  <a:ea typeface="微软雅黑" panose="020B0503020204020204" charset="-122"/>
                  <a:cs typeface="Segoe UI Semibold" panose="020B0702040204020203"/>
                </a:rPr>
                <a:t>Three core explanatory variables</a:t>
              </a:r>
              <a:endParaRPr lang="zh-CN" sz="1650" dirty="0">
                <a:solidFill>
                  <a:srgbClr val="173B57"/>
                </a:solidFill>
                <a:latin typeface="Segoe UI Semibold" panose="020B0702040204020203"/>
                <a:ea typeface="微软雅黑" panose="020B0503020204020204" charset="-122"/>
                <a:cs typeface="Segoe UI Semibold" panose="020B0702040204020203"/>
              </a:endParaRPr>
            </a:p>
          </p:txBody>
        </p:sp>
        <p:sp>
          <p:nvSpPr>
            <p:cNvPr id="11" name="Freeform 11"/>
            <p:cNvSpPr/>
            <p:nvPr/>
          </p:nvSpPr>
          <p:spPr>
            <a:xfrm>
              <a:off x="685800" y="3028950"/>
              <a:ext cx="3333750" cy="2762250"/>
            </a:xfrm>
            <a:custGeom>
              <a:avLst/>
              <a:gdLst/>
              <a:ahLst/>
              <a:cxnLst/>
              <a:rect l="l" t="t" r="r" b="b"/>
              <a:pathLst>
                <a:path w="3333750" h="2762250">
                  <a:moveTo>
                    <a:pt x="95250" y="0"/>
                  </a:moveTo>
                  <a:lnTo>
                    <a:pt x="3238500" y="0"/>
                  </a:lnTo>
                  <a:cubicBezTo>
                    <a:pt x="3291105" y="0"/>
                    <a:pt x="3333750" y="42645"/>
                    <a:pt x="3333750" y="95250"/>
                  </a:cubicBezTo>
                  <a:lnTo>
                    <a:pt x="3333750" y="2667000"/>
                  </a:lnTo>
                  <a:cubicBezTo>
                    <a:pt x="3333750" y="2719605"/>
                    <a:pt x="3291105" y="2762250"/>
                    <a:pt x="3238500" y="2762250"/>
                  </a:cubicBezTo>
                  <a:lnTo>
                    <a:pt x="95250" y="2762250"/>
                  </a:lnTo>
                  <a:cubicBezTo>
                    <a:pt x="42645" y="2762250"/>
                    <a:pt x="0" y="2719605"/>
                    <a:pt x="0" y="2667000"/>
                  </a:cubicBezTo>
                  <a:lnTo>
                    <a:pt x="0" y="95250"/>
                  </a:lnTo>
                  <a:cubicBezTo>
                    <a:pt x="0" y="42645"/>
                    <a:pt x="42645" y="0"/>
                    <a:pt x="95250" y="0"/>
                  </a:cubicBezTo>
                  <a:close/>
                </a:path>
              </a:pathLst>
            </a:custGeom>
            <a:solidFill>
              <a:srgbClr val="FFFFFF"/>
            </a:solidFill>
            <a:ln w="19050">
              <a:solidFill>
                <a:srgbClr val="CBD5E1"/>
              </a:solidFill>
            </a:ln>
          </p:spPr>
        </p:sp>
        <p:sp>
          <p:nvSpPr>
            <p:cNvPr id="12" name="Freeform 12"/>
            <p:cNvSpPr/>
            <p:nvPr/>
          </p:nvSpPr>
          <p:spPr>
            <a:xfrm>
              <a:off x="4248150" y="3028950"/>
              <a:ext cx="3333750" cy="2762250"/>
            </a:xfrm>
            <a:custGeom>
              <a:avLst/>
              <a:gdLst/>
              <a:ahLst/>
              <a:cxnLst/>
              <a:rect l="l" t="t" r="r" b="b"/>
              <a:pathLst>
                <a:path w="3333750" h="2762250">
                  <a:moveTo>
                    <a:pt x="95250" y="0"/>
                  </a:moveTo>
                  <a:lnTo>
                    <a:pt x="3238500" y="0"/>
                  </a:lnTo>
                  <a:cubicBezTo>
                    <a:pt x="3291105" y="0"/>
                    <a:pt x="3333750" y="42645"/>
                    <a:pt x="3333750" y="95250"/>
                  </a:cubicBezTo>
                  <a:lnTo>
                    <a:pt x="3333750" y="2667000"/>
                  </a:lnTo>
                  <a:cubicBezTo>
                    <a:pt x="3333750" y="2719605"/>
                    <a:pt x="3291105" y="2762250"/>
                    <a:pt x="3238500" y="2762250"/>
                  </a:cubicBezTo>
                  <a:lnTo>
                    <a:pt x="95250" y="2762250"/>
                  </a:lnTo>
                  <a:cubicBezTo>
                    <a:pt x="42645" y="2762250"/>
                    <a:pt x="0" y="2719605"/>
                    <a:pt x="0" y="2667000"/>
                  </a:cubicBezTo>
                  <a:lnTo>
                    <a:pt x="0" y="95250"/>
                  </a:lnTo>
                  <a:cubicBezTo>
                    <a:pt x="0" y="42645"/>
                    <a:pt x="42645" y="0"/>
                    <a:pt x="95250" y="0"/>
                  </a:cubicBezTo>
                  <a:close/>
                </a:path>
              </a:pathLst>
            </a:custGeom>
            <a:solidFill>
              <a:srgbClr val="FFFFFF"/>
            </a:solidFill>
            <a:ln w="19050">
              <a:solidFill>
                <a:srgbClr val="CBD5E1"/>
              </a:solidFill>
            </a:ln>
          </p:spPr>
        </p:sp>
        <p:sp>
          <p:nvSpPr>
            <p:cNvPr id="13" name="Freeform 13"/>
            <p:cNvSpPr/>
            <p:nvPr/>
          </p:nvSpPr>
          <p:spPr>
            <a:xfrm>
              <a:off x="7810500" y="3028950"/>
              <a:ext cx="3695700" cy="2762250"/>
            </a:xfrm>
            <a:custGeom>
              <a:avLst/>
              <a:gdLst/>
              <a:ahLst/>
              <a:cxnLst/>
              <a:rect l="l" t="t" r="r" b="b"/>
              <a:pathLst>
                <a:path w="3695700" h="2762250">
                  <a:moveTo>
                    <a:pt x="95250" y="0"/>
                  </a:moveTo>
                  <a:lnTo>
                    <a:pt x="3600450" y="0"/>
                  </a:lnTo>
                  <a:cubicBezTo>
                    <a:pt x="3653055" y="0"/>
                    <a:pt x="3695700" y="42645"/>
                    <a:pt x="3695700" y="95250"/>
                  </a:cubicBezTo>
                  <a:lnTo>
                    <a:pt x="3695700" y="2667000"/>
                  </a:lnTo>
                  <a:cubicBezTo>
                    <a:pt x="3695700" y="2719605"/>
                    <a:pt x="3653055" y="2762250"/>
                    <a:pt x="3600450" y="2762250"/>
                  </a:cubicBezTo>
                  <a:lnTo>
                    <a:pt x="95250" y="2762250"/>
                  </a:lnTo>
                  <a:cubicBezTo>
                    <a:pt x="42645" y="2762250"/>
                    <a:pt x="0" y="2719605"/>
                    <a:pt x="0" y="2667000"/>
                  </a:cubicBezTo>
                  <a:lnTo>
                    <a:pt x="0" y="95250"/>
                  </a:lnTo>
                  <a:cubicBezTo>
                    <a:pt x="0" y="42645"/>
                    <a:pt x="42645" y="0"/>
                    <a:pt x="95250" y="0"/>
                  </a:cubicBezTo>
                  <a:close/>
                </a:path>
              </a:pathLst>
            </a:custGeom>
            <a:solidFill>
              <a:srgbClr val="FFFFFF"/>
            </a:solidFill>
            <a:ln w="19050">
              <a:solidFill>
                <a:srgbClr val="CBD5E1"/>
              </a:solidFill>
            </a:ln>
          </p:spPr>
        </p:sp>
      </p:grpSp>
      <p:grpSp>
        <p:nvGrpSpPr>
          <p:cNvPr id="20" name="Group 20"/>
          <p:cNvGrpSpPr/>
          <p:nvPr/>
        </p:nvGrpSpPr>
        <p:grpSpPr>
          <a:xfrm>
            <a:off x="954405" y="3333750"/>
            <a:ext cx="2779395" cy="1785938"/>
            <a:chOff x="954405" y="3333750"/>
            <a:chExt cx="2779395" cy="1785938"/>
          </a:xfrm>
        </p:grpSpPr>
        <p:pic>
          <p:nvPicPr>
            <p:cNvPr id="15" name="Image 15"/>
            <p:cNvPicPr>
              <a:picLocks noChangeAspect="1"/>
            </p:cNvPicPr>
            <p:nvPr/>
          </p:nvPicPr>
          <p:blipFill>
            <a:blip r:embed="rId2"/>
            <a:stretch>
              <a:fillRect/>
            </a:stretch>
          </p:blipFill>
          <p:spPr>
            <a:xfrm>
              <a:off x="1935480" y="3333750"/>
              <a:ext cx="834390" cy="571500"/>
            </a:xfrm>
            <a:prstGeom prst="rect">
              <a:avLst/>
            </a:prstGeom>
          </p:spPr>
        </p:pic>
        <p:sp>
          <p:nvSpPr>
            <p:cNvPr id="16" name="Line 16"/>
            <p:cNvSpPr/>
            <p:nvPr/>
          </p:nvSpPr>
          <p:spPr>
            <a:xfrm>
              <a:off x="971550" y="4095750"/>
              <a:ext cx="2762250" cy="9525"/>
            </a:xfrm>
            <a:custGeom>
              <a:avLst/>
              <a:gdLst/>
              <a:ahLst/>
              <a:cxnLst/>
              <a:rect l="l" t="t" r="r" b="b"/>
              <a:pathLst>
                <a:path w="2762250" h="9525">
                  <a:moveTo>
                    <a:pt x="0" y="0"/>
                  </a:moveTo>
                  <a:lnTo>
                    <a:pt x="2762250" y="0"/>
                  </a:lnTo>
                </a:path>
              </a:pathLst>
            </a:custGeom>
            <a:noFill/>
            <a:ln w="19050">
              <a:solidFill>
                <a:srgbClr val="E3E8EF"/>
              </a:solidFill>
            </a:ln>
          </p:spPr>
        </p:sp>
        <p:sp>
          <p:nvSpPr>
            <p:cNvPr id="17" name="TextBox 17"/>
            <p:cNvSpPr txBox="1"/>
            <p:nvPr/>
          </p:nvSpPr>
          <p:spPr>
            <a:xfrm>
              <a:off x="954405" y="4311968"/>
              <a:ext cx="2473595"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Post-incentive estimated AI</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54405" y="4578668"/>
              <a:ext cx="2473595"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accuracy, corresponding to</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954405" y="4845368"/>
              <a:ext cx="250959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perceived trustworthiness.</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26" name="Group 26"/>
          <p:cNvGrpSpPr/>
          <p:nvPr/>
        </p:nvGrpSpPr>
        <p:grpSpPr>
          <a:xfrm>
            <a:off x="4516755" y="3333750"/>
            <a:ext cx="2779395" cy="1785938"/>
            <a:chOff x="4516755" y="3333750"/>
            <a:chExt cx="2779395" cy="1785938"/>
          </a:xfrm>
        </p:grpSpPr>
        <p:pic>
          <p:nvPicPr>
            <p:cNvPr id="21" name="Image 21"/>
            <p:cNvPicPr>
              <a:picLocks noChangeAspect="1"/>
            </p:cNvPicPr>
            <p:nvPr/>
          </p:nvPicPr>
          <p:blipFill>
            <a:blip r:embed="rId3"/>
            <a:stretch>
              <a:fillRect/>
            </a:stretch>
          </p:blipFill>
          <p:spPr>
            <a:xfrm>
              <a:off x="5591461" y="3333750"/>
              <a:ext cx="647128" cy="571500"/>
            </a:xfrm>
            <a:prstGeom prst="rect">
              <a:avLst/>
            </a:prstGeom>
          </p:spPr>
        </p:pic>
        <p:sp>
          <p:nvSpPr>
            <p:cNvPr id="22" name="Line 22"/>
            <p:cNvSpPr/>
            <p:nvPr/>
          </p:nvSpPr>
          <p:spPr>
            <a:xfrm>
              <a:off x="4533900" y="4095750"/>
              <a:ext cx="2762250" cy="9525"/>
            </a:xfrm>
            <a:custGeom>
              <a:avLst/>
              <a:gdLst/>
              <a:ahLst/>
              <a:cxnLst/>
              <a:rect l="l" t="t" r="r" b="b"/>
              <a:pathLst>
                <a:path w="2762250" h="9525">
                  <a:moveTo>
                    <a:pt x="0" y="0"/>
                  </a:moveTo>
                  <a:lnTo>
                    <a:pt x="2762250" y="0"/>
                  </a:lnTo>
                </a:path>
              </a:pathLst>
            </a:custGeom>
            <a:noFill/>
            <a:ln w="19050">
              <a:solidFill>
                <a:srgbClr val="E3E8EF"/>
              </a:solidFill>
            </a:ln>
          </p:spPr>
        </p:sp>
        <p:sp>
          <p:nvSpPr>
            <p:cNvPr id="23" name="TextBox 23"/>
            <p:cNvSpPr txBox="1"/>
            <p:nvPr/>
          </p:nvSpPr>
          <p:spPr>
            <a:xfrm>
              <a:off x="4516755" y="4311968"/>
              <a:ext cx="1735503"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Actual AI accuracy,</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516755" y="4578668"/>
              <a:ext cx="2131552"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corresponding to actual</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516755" y="4845368"/>
              <a:ext cx="1609487"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trustworthiness.</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8078152" y="3256121"/>
            <a:ext cx="3256693" cy="1882617"/>
            <a:chOff x="8078152" y="3256121"/>
            <a:chExt cx="3256693" cy="1882617"/>
          </a:xfrm>
        </p:grpSpPr>
        <p:sp>
          <p:nvSpPr>
            <p:cNvPr id="27" name="TextBox 27"/>
            <p:cNvSpPr txBox="1"/>
            <p:nvPr/>
          </p:nvSpPr>
          <p:spPr>
            <a:xfrm>
              <a:off x="8078152" y="3256121"/>
              <a:ext cx="2221468" cy="289560"/>
            </a:xfrm>
            <a:prstGeom prst="rect">
              <a:avLst/>
            </a:prstGeom>
            <a:noFill/>
            <a:ln>
              <a:noFill/>
            </a:ln>
          </p:spPr>
          <p:txBody>
            <a:bodyPr wrap="none" lIns="0" tIns="0" rIns="0" bIns="0" anchor="t" anchorCtr="0">
              <a:spAutoFit/>
            </a:bodyPr>
            <a:lstStyle/>
            <a:p>
              <a:pPr algn="l"/>
              <a:r>
                <a:rPr lang="zh-CN" sz="1425" dirty="0">
                  <a:solidFill>
                    <a:srgbClr val="173B57"/>
                  </a:solidFill>
                  <a:latin typeface="Segoe UI Semibold" panose="020B0702040204020203"/>
                  <a:ea typeface="微软雅黑" panose="020B0503020204020204" charset="-122"/>
                  <a:cs typeface="Segoe UI Semibold" panose="020B0702040204020203"/>
                </a:rPr>
                <a:t>Initial calibration state</a:t>
              </a:r>
              <a:endParaRPr lang="zh-CN" sz="1425" dirty="0">
                <a:solidFill>
                  <a:srgbClr val="173B57"/>
                </a:solidFill>
                <a:latin typeface="Segoe UI Semibold" panose="020B0702040204020203"/>
                <a:ea typeface="微软雅黑" panose="020B0503020204020204" charset="-122"/>
                <a:cs typeface="Segoe UI Semibold" panose="020B0702040204020203"/>
              </a:endParaRPr>
            </a:p>
          </p:txBody>
        </p:sp>
        <p:pic>
          <p:nvPicPr>
            <p:cNvPr id="28" name="Image 28"/>
            <p:cNvPicPr>
              <a:picLocks noChangeAspect="1"/>
            </p:cNvPicPr>
            <p:nvPr/>
          </p:nvPicPr>
          <p:blipFill>
            <a:blip r:embed="rId4"/>
            <a:stretch>
              <a:fillRect/>
            </a:stretch>
          </p:blipFill>
          <p:spPr>
            <a:xfrm>
              <a:off x="8096250" y="3793617"/>
              <a:ext cx="1524000" cy="337566"/>
            </a:xfrm>
            <a:prstGeom prst="rect">
              <a:avLst/>
            </a:prstGeom>
          </p:spPr>
        </p:pic>
        <p:sp>
          <p:nvSpPr>
            <p:cNvPr id="29" name="TextBox 29"/>
            <p:cNvSpPr txBox="1"/>
            <p:nvPr/>
          </p:nvSpPr>
          <p:spPr>
            <a:xfrm>
              <a:off x="9698355" y="3892868"/>
              <a:ext cx="163649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perceived &gt; actual</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30" name="Line 30"/>
            <p:cNvSpPr/>
            <p:nvPr/>
          </p:nvSpPr>
          <p:spPr>
            <a:xfrm>
              <a:off x="8096250" y="4438650"/>
              <a:ext cx="3124200" cy="9525"/>
            </a:xfrm>
            <a:custGeom>
              <a:avLst/>
              <a:gdLst/>
              <a:ahLst/>
              <a:cxnLst/>
              <a:rect l="l" t="t" r="r" b="b"/>
              <a:pathLst>
                <a:path w="3124200" h="9525">
                  <a:moveTo>
                    <a:pt x="0" y="0"/>
                  </a:moveTo>
                  <a:lnTo>
                    <a:pt x="3124200" y="0"/>
                  </a:lnTo>
                </a:path>
              </a:pathLst>
            </a:custGeom>
            <a:noFill/>
            <a:ln w="19050">
              <a:solidFill>
                <a:srgbClr val="E3E8EF"/>
              </a:solidFill>
            </a:ln>
          </p:spPr>
        </p:sp>
        <p:pic>
          <p:nvPicPr>
            <p:cNvPr id="31" name="Image 31"/>
            <p:cNvPicPr>
              <a:picLocks noChangeAspect="1"/>
            </p:cNvPicPr>
            <p:nvPr/>
          </p:nvPicPr>
          <p:blipFill>
            <a:blip r:embed="rId5"/>
            <a:stretch>
              <a:fillRect/>
            </a:stretch>
          </p:blipFill>
          <p:spPr>
            <a:xfrm>
              <a:off x="8096250" y="4765167"/>
              <a:ext cx="1524000" cy="337566"/>
            </a:xfrm>
            <a:prstGeom prst="rect">
              <a:avLst/>
            </a:prstGeom>
          </p:spPr>
        </p:pic>
        <p:sp>
          <p:nvSpPr>
            <p:cNvPr id="32" name="TextBox 32"/>
            <p:cNvSpPr txBox="1"/>
            <p:nvPr/>
          </p:nvSpPr>
          <p:spPr>
            <a:xfrm>
              <a:off x="9698355" y="4864418"/>
              <a:ext cx="163649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perceived &lt; actual</a:t>
              </a:r>
              <a:endParaRPr lang="zh-CN" sz="1350" dirty="0">
                <a:solidFill>
                  <a:srgbClr val="1F2933"/>
                </a:solidFill>
                <a:latin typeface="Segoe UI" panose="020B0502040204020203"/>
                <a:ea typeface="微软雅黑" panose="020B0503020204020204" charset="-122"/>
                <a:cs typeface="Segoe UI" panose="020B0502040204020203"/>
              </a:endParaRPr>
            </a:p>
          </p:txBody>
        </p:sp>
      </p:grpSp>
      <p:sp>
        <p:nvSpPr>
          <p:cNvPr id="34" name="TextBox 34"/>
          <p:cNvSpPr txBox="1"/>
          <p:nvPr/>
        </p:nvSpPr>
        <p:spPr>
          <a:xfrm>
            <a:off x="671512" y="6031706"/>
            <a:ext cx="6366867" cy="228600"/>
          </a:xfrm>
          <a:prstGeom prst="rect">
            <a:avLst/>
          </a:prstGeom>
          <a:noFill/>
          <a:ln>
            <a:noFill/>
          </a:ln>
        </p:spPr>
        <p:txBody>
          <a:bodyPr wrap="none" lIns="0" tIns="0" rIns="0" bIns="0" anchor="t" anchorCtr="0">
            <a:spAutoFit/>
          </a:bodyPr>
          <a:lstStyle/>
          <a:p>
            <a:pPr algn="l"/>
            <a:r>
              <a:rPr lang="zh-CN" sz="1125" dirty="0">
                <a:solidFill>
                  <a:srgbClr val="52606D"/>
                </a:solidFill>
                <a:latin typeface="Segoe UI" panose="020B0502040204020203"/>
                <a:ea typeface="微软雅黑" panose="020B0503020204020204" charset="-122"/>
                <a:cs typeface="Segoe UI" panose="020B0502040204020203"/>
              </a:rPr>
              <a:t>The sign of the pre-incentive gap identifies initial overestimation or underestimation.</a:t>
            </a:r>
            <a:endParaRPr lang="zh-CN" sz="1125" dirty="0">
              <a:solidFill>
                <a:srgbClr val="52606D"/>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15</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15278"/>
            <a:ext cx="10852785" cy="518160"/>
            <a:chOff x="653415" y="315278"/>
            <a:chExt cx="10852785" cy="518160"/>
          </a:xfrm>
        </p:grpSpPr>
        <p:sp>
          <p:nvSpPr>
            <p:cNvPr id="3" name="TextBox 3"/>
            <p:cNvSpPr txBox="1"/>
            <p:nvPr/>
          </p:nvSpPr>
          <p:spPr>
            <a:xfrm>
              <a:off x="653415" y="315278"/>
              <a:ext cx="1903550"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Main Model</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Line 4"/>
            <p:cNvSpPr/>
            <p:nvPr/>
          </p:nvSpPr>
          <p:spPr>
            <a:xfrm>
              <a:off x="685800" y="80010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8" name="Group 8"/>
          <p:cNvGrpSpPr/>
          <p:nvPr/>
        </p:nvGrpSpPr>
        <p:grpSpPr>
          <a:xfrm>
            <a:off x="685800" y="1066800"/>
            <a:ext cx="10820400" cy="1466850"/>
            <a:chOff x="685800" y="1066800"/>
            <a:chExt cx="10820400" cy="1466850"/>
          </a:xfrm>
        </p:grpSpPr>
        <p:sp>
          <p:nvSpPr>
            <p:cNvPr id="6" name="Freeform 6"/>
            <p:cNvSpPr/>
            <p:nvPr/>
          </p:nvSpPr>
          <p:spPr>
            <a:xfrm>
              <a:off x="685800" y="1066800"/>
              <a:ext cx="10820400" cy="1466850"/>
            </a:xfrm>
            <a:custGeom>
              <a:avLst/>
              <a:gdLst/>
              <a:ahLst/>
              <a:cxnLst/>
              <a:rect l="l" t="t" r="r" b="b"/>
              <a:pathLst>
                <a:path w="10820400" h="1466850">
                  <a:moveTo>
                    <a:pt x="95250" y="0"/>
                  </a:moveTo>
                  <a:lnTo>
                    <a:pt x="10725150" y="0"/>
                  </a:lnTo>
                  <a:cubicBezTo>
                    <a:pt x="10777755" y="0"/>
                    <a:pt x="10820400" y="42645"/>
                    <a:pt x="10820400" y="95250"/>
                  </a:cubicBezTo>
                  <a:lnTo>
                    <a:pt x="10820400" y="1371600"/>
                  </a:lnTo>
                  <a:cubicBezTo>
                    <a:pt x="10820400" y="1424205"/>
                    <a:pt x="10777755" y="1466850"/>
                    <a:pt x="10725150" y="1466850"/>
                  </a:cubicBezTo>
                  <a:lnTo>
                    <a:pt x="95250" y="1466850"/>
                  </a:lnTo>
                  <a:cubicBezTo>
                    <a:pt x="42645" y="1466850"/>
                    <a:pt x="0" y="1424205"/>
                    <a:pt x="0" y="1371600"/>
                  </a:cubicBezTo>
                  <a:lnTo>
                    <a:pt x="0" y="95250"/>
                  </a:lnTo>
                  <a:cubicBezTo>
                    <a:pt x="0" y="42645"/>
                    <a:pt x="42645" y="0"/>
                    <a:pt x="95250" y="0"/>
                  </a:cubicBezTo>
                  <a:close/>
                </a:path>
              </a:pathLst>
            </a:custGeom>
            <a:solidFill>
              <a:srgbClr val="FFFFFF"/>
            </a:solidFill>
            <a:ln w="19050">
              <a:solidFill>
                <a:srgbClr val="CBD5E1"/>
              </a:solidFill>
            </a:ln>
          </p:spPr>
        </p:sp>
        <p:pic>
          <p:nvPicPr>
            <p:cNvPr id="7" name="Image 7"/>
            <p:cNvPicPr>
              <a:picLocks noChangeAspect="1"/>
            </p:cNvPicPr>
            <p:nvPr/>
          </p:nvPicPr>
          <p:blipFill>
            <a:blip r:embed="rId1"/>
            <a:stretch>
              <a:fillRect/>
            </a:stretch>
          </p:blipFill>
          <p:spPr>
            <a:xfrm>
              <a:off x="3112960" y="1333500"/>
              <a:ext cx="5966079" cy="933450"/>
            </a:xfrm>
            <a:prstGeom prst="rect">
              <a:avLst/>
            </a:prstGeom>
          </p:spPr>
        </p:pic>
      </p:grpSp>
      <p:grpSp>
        <p:nvGrpSpPr>
          <p:cNvPr id="13" name="Group 13"/>
          <p:cNvGrpSpPr/>
          <p:nvPr/>
        </p:nvGrpSpPr>
        <p:grpSpPr>
          <a:xfrm>
            <a:off x="685800" y="2819400"/>
            <a:ext cx="5219700" cy="1257300"/>
            <a:chOff x="685800" y="2819400"/>
            <a:chExt cx="5219700" cy="1257300"/>
          </a:xfrm>
        </p:grpSpPr>
        <p:sp>
          <p:nvSpPr>
            <p:cNvPr id="9" name="Freeform 9"/>
            <p:cNvSpPr/>
            <p:nvPr/>
          </p:nvSpPr>
          <p:spPr>
            <a:xfrm>
              <a:off x="685800" y="2819400"/>
              <a:ext cx="5219700" cy="1257300"/>
            </a:xfrm>
            <a:custGeom>
              <a:avLst/>
              <a:gdLst/>
              <a:ahLst/>
              <a:cxnLst/>
              <a:rect l="l" t="t" r="r" b="b"/>
              <a:pathLst>
                <a:path w="5219700" h="1257300">
                  <a:moveTo>
                    <a:pt x="95250" y="0"/>
                  </a:moveTo>
                  <a:lnTo>
                    <a:pt x="5124450" y="0"/>
                  </a:lnTo>
                  <a:cubicBezTo>
                    <a:pt x="5177055" y="0"/>
                    <a:pt x="5219700" y="42645"/>
                    <a:pt x="5219700" y="95250"/>
                  </a:cubicBezTo>
                  <a:lnTo>
                    <a:pt x="5219700" y="1162050"/>
                  </a:lnTo>
                  <a:cubicBezTo>
                    <a:pt x="5219700" y="1214655"/>
                    <a:pt x="5177055" y="1257300"/>
                    <a:pt x="5124450" y="1257300"/>
                  </a:cubicBezTo>
                  <a:lnTo>
                    <a:pt x="95250" y="1257300"/>
                  </a:lnTo>
                  <a:cubicBezTo>
                    <a:pt x="42645" y="1257300"/>
                    <a:pt x="0" y="1214655"/>
                    <a:pt x="0" y="1162050"/>
                  </a:cubicBezTo>
                  <a:lnTo>
                    <a:pt x="0" y="95250"/>
                  </a:lnTo>
                  <a:cubicBezTo>
                    <a:pt x="0" y="42645"/>
                    <a:pt x="42645" y="0"/>
                    <a:pt x="95250" y="0"/>
                  </a:cubicBezTo>
                  <a:close/>
                </a:path>
              </a:pathLst>
            </a:custGeom>
            <a:solidFill>
              <a:srgbClr val="FFFFFF"/>
            </a:solidFill>
            <a:ln w="19050">
              <a:solidFill>
                <a:srgbClr val="CBD5E1"/>
              </a:solidFill>
            </a:ln>
          </p:spPr>
        </p:sp>
        <p:pic>
          <p:nvPicPr>
            <p:cNvPr id="10" name="Image 10"/>
            <p:cNvPicPr>
              <a:picLocks noChangeAspect="1"/>
            </p:cNvPicPr>
            <p:nvPr/>
          </p:nvPicPr>
          <p:blipFill>
            <a:blip r:embed="rId2"/>
            <a:stretch>
              <a:fillRect/>
            </a:stretch>
          </p:blipFill>
          <p:spPr>
            <a:xfrm>
              <a:off x="1010793" y="3105150"/>
              <a:ext cx="416814" cy="457200"/>
            </a:xfrm>
            <a:prstGeom prst="rect">
              <a:avLst/>
            </a:prstGeom>
          </p:spPr>
        </p:pic>
        <p:sp>
          <p:nvSpPr>
            <p:cNvPr id="11" name="TextBox 11"/>
            <p:cNvSpPr txBox="1"/>
            <p:nvPr/>
          </p:nvSpPr>
          <p:spPr>
            <a:xfrm>
              <a:off x="1697355" y="3092768"/>
              <a:ext cx="3283696"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Persistence of the pre-incentive gap</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697355" y="3359468"/>
              <a:ext cx="1834515"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after the incentive.</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6286500" y="2819400"/>
            <a:ext cx="5219700" cy="1257300"/>
            <a:chOff x="6286500" y="2819400"/>
            <a:chExt cx="5219700" cy="1257300"/>
          </a:xfrm>
        </p:grpSpPr>
        <p:sp>
          <p:nvSpPr>
            <p:cNvPr id="14" name="Freeform 14"/>
            <p:cNvSpPr/>
            <p:nvPr/>
          </p:nvSpPr>
          <p:spPr>
            <a:xfrm>
              <a:off x="6286500" y="2819400"/>
              <a:ext cx="5219700" cy="1257300"/>
            </a:xfrm>
            <a:custGeom>
              <a:avLst/>
              <a:gdLst/>
              <a:ahLst/>
              <a:cxnLst/>
              <a:rect l="l" t="t" r="r" b="b"/>
              <a:pathLst>
                <a:path w="5219700" h="1257300">
                  <a:moveTo>
                    <a:pt x="95250" y="0"/>
                  </a:moveTo>
                  <a:lnTo>
                    <a:pt x="5124450" y="0"/>
                  </a:lnTo>
                  <a:cubicBezTo>
                    <a:pt x="5177055" y="0"/>
                    <a:pt x="5219700" y="42645"/>
                    <a:pt x="5219700" y="95250"/>
                  </a:cubicBezTo>
                  <a:lnTo>
                    <a:pt x="5219700" y="1162050"/>
                  </a:lnTo>
                  <a:cubicBezTo>
                    <a:pt x="5219700" y="1214655"/>
                    <a:pt x="5177055" y="1257300"/>
                    <a:pt x="5124450" y="1257300"/>
                  </a:cubicBezTo>
                  <a:lnTo>
                    <a:pt x="95250" y="1257300"/>
                  </a:lnTo>
                  <a:cubicBezTo>
                    <a:pt x="42645" y="1257300"/>
                    <a:pt x="0" y="1214655"/>
                    <a:pt x="0" y="1162050"/>
                  </a:cubicBezTo>
                  <a:lnTo>
                    <a:pt x="0" y="95250"/>
                  </a:lnTo>
                  <a:cubicBezTo>
                    <a:pt x="0" y="42645"/>
                    <a:pt x="42645" y="0"/>
                    <a:pt x="95250" y="0"/>
                  </a:cubicBezTo>
                  <a:close/>
                </a:path>
              </a:pathLst>
            </a:custGeom>
            <a:solidFill>
              <a:srgbClr val="FFFFFF"/>
            </a:solidFill>
            <a:ln w="19050">
              <a:solidFill>
                <a:srgbClr val="CBD5E1"/>
              </a:solidFill>
            </a:ln>
          </p:spPr>
        </p:sp>
        <p:pic>
          <p:nvPicPr>
            <p:cNvPr id="15" name="Image 15"/>
            <p:cNvPicPr>
              <a:picLocks noChangeAspect="1"/>
            </p:cNvPicPr>
            <p:nvPr/>
          </p:nvPicPr>
          <p:blipFill>
            <a:blip r:embed="rId3"/>
            <a:stretch>
              <a:fillRect/>
            </a:stretch>
          </p:blipFill>
          <p:spPr>
            <a:xfrm>
              <a:off x="6610160" y="3105150"/>
              <a:ext cx="495776" cy="457200"/>
            </a:xfrm>
            <a:prstGeom prst="rect">
              <a:avLst/>
            </a:prstGeom>
          </p:spPr>
        </p:pic>
        <p:sp>
          <p:nvSpPr>
            <p:cNvPr id="16" name="TextBox 16"/>
            <p:cNvSpPr txBox="1"/>
            <p:nvPr/>
          </p:nvSpPr>
          <p:spPr>
            <a:xfrm>
              <a:off x="7375208" y="2967514"/>
              <a:ext cx="3670840"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Incentive effect. Because the incentive has</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375208" y="3205639"/>
              <a:ext cx="360283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three levels, the formal estimate contains</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7375208" y="3443764"/>
              <a:ext cx="3806857"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two between-group comparison coefficients.</a:t>
              </a:r>
              <a:endParaRPr lang="zh-CN" sz="1275" dirty="0">
                <a:solidFill>
                  <a:srgbClr val="1F2933"/>
                </a:solidFill>
                <a:latin typeface="Segoe UI" panose="020B0502040204020203"/>
                <a:ea typeface="微软雅黑" panose="020B0503020204020204" charset="-122"/>
                <a:cs typeface="Segoe UI" panose="020B0502040204020203"/>
              </a:endParaRPr>
            </a:p>
          </p:txBody>
        </p:sp>
      </p:grpSp>
      <p:grpSp>
        <p:nvGrpSpPr>
          <p:cNvPr id="24" name="Group 24"/>
          <p:cNvGrpSpPr/>
          <p:nvPr/>
        </p:nvGrpSpPr>
        <p:grpSpPr>
          <a:xfrm>
            <a:off x="685800" y="4362450"/>
            <a:ext cx="5219700" cy="1257300"/>
            <a:chOff x="685800" y="4362450"/>
            <a:chExt cx="5219700" cy="1257300"/>
          </a:xfrm>
        </p:grpSpPr>
        <p:sp>
          <p:nvSpPr>
            <p:cNvPr id="20" name="Freeform 20"/>
            <p:cNvSpPr/>
            <p:nvPr/>
          </p:nvSpPr>
          <p:spPr>
            <a:xfrm>
              <a:off x="685800" y="4362450"/>
              <a:ext cx="5219700" cy="1257300"/>
            </a:xfrm>
            <a:custGeom>
              <a:avLst/>
              <a:gdLst/>
              <a:ahLst/>
              <a:cxnLst/>
              <a:rect l="l" t="t" r="r" b="b"/>
              <a:pathLst>
                <a:path w="5219700" h="1257300">
                  <a:moveTo>
                    <a:pt x="95250" y="0"/>
                  </a:moveTo>
                  <a:lnTo>
                    <a:pt x="5124450" y="0"/>
                  </a:lnTo>
                  <a:cubicBezTo>
                    <a:pt x="5177055" y="0"/>
                    <a:pt x="5219700" y="42645"/>
                    <a:pt x="5219700" y="95250"/>
                  </a:cubicBezTo>
                  <a:lnTo>
                    <a:pt x="5219700" y="1162050"/>
                  </a:lnTo>
                  <a:cubicBezTo>
                    <a:pt x="5219700" y="1214655"/>
                    <a:pt x="5177055" y="1257300"/>
                    <a:pt x="5124450" y="1257300"/>
                  </a:cubicBezTo>
                  <a:lnTo>
                    <a:pt x="95250" y="1257300"/>
                  </a:lnTo>
                  <a:cubicBezTo>
                    <a:pt x="42645" y="1257300"/>
                    <a:pt x="0" y="1214655"/>
                    <a:pt x="0" y="1162050"/>
                  </a:cubicBezTo>
                  <a:lnTo>
                    <a:pt x="0" y="95250"/>
                  </a:lnTo>
                  <a:cubicBezTo>
                    <a:pt x="0" y="42645"/>
                    <a:pt x="42645" y="0"/>
                    <a:pt x="95250" y="0"/>
                  </a:cubicBezTo>
                  <a:close/>
                </a:path>
              </a:pathLst>
            </a:custGeom>
            <a:solidFill>
              <a:srgbClr val="FFFFFF"/>
            </a:solidFill>
            <a:ln w="19050">
              <a:solidFill>
                <a:srgbClr val="CBD5E1"/>
              </a:solidFill>
            </a:ln>
          </p:spPr>
        </p:sp>
        <p:pic>
          <p:nvPicPr>
            <p:cNvPr id="21" name="Image 21"/>
            <p:cNvPicPr>
              <a:picLocks noChangeAspect="1"/>
            </p:cNvPicPr>
            <p:nvPr/>
          </p:nvPicPr>
          <p:blipFill>
            <a:blip r:embed="rId4"/>
            <a:stretch>
              <a:fillRect/>
            </a:stretch>
          </p:blipFill>
          <p:spPr>
            <a:xfrm>
              <a:off x="1009460" y="4648200"/>
              <a:ext cx="495776" cy="457200"/>
            </a:xfrm>
            <a:prstGeom prst="rect">
              <a:avLst/>
            </a:prstGeom>
          </p:spPr>
        </p:pic>
        <p:sp>
          <p:nvSpPr>
            <p:cNvPr id="22" name="TextBox 22"/>
            <p:cNvSpPr txBox="1"/>
            <p:nvPr/>
          </p:nvSpPr>
          <p:spPr>
            <a:xfrm>
              <a:off x="1773555" y="4635818"/>
              <a:ext cx="3364706"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Effect of the actual trustworthiness</a:t>
              </a:r>
              <a:endParaRPr lang="zh-CN" sz="1350" dirty="0">
                <a:solidFill>
                  <a:srgbClr val="1F293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1773555" y="4902518"/>
              <a:ext cx="538353"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level.</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30" name="Group 30"/>
          <p:cNvGrpSpPr/>
          <p:nvPr/>
        </p:nvGrpSpPr>
        <p:grpSpPr>
          <a:xfrm>
            <a:off x="6286500" y="4362450"/>
            <a:ext cx="5219700" cy="1257300"/>
            <a:chOff x="6286500" y="4362450"/>
            <a:chExt cx="5219700" cy="1257300"/>
          </a:xfrm>
        </p:grpSpPr>
        <p:sp>
          <p:nvSpPr>
            <p:cNvPr id="25" name="Freeform 25"/>
            <p:cNvSpPr/>
            <p:nvPr/>
          </p:nvSpPr>
          <p:spPr>
            <a:xfrm>
              <a:off x="6286500" y="4362450"/>
              <a:ext cx="5219700" cy="1257300"/>
            </a:xfrm>
            <a:custGeom>
              <a:avLst/>
              <a:gdLst/>
              <a:ahLst/>
              <a:cxnLst/>
              <a:rect l="l" t="t" r="r" b="b"/>
              <a:pathLst>
                <a:path w="5219700" h="1257300">
                  <a:moveTo>
                    <a:pt x="95250" y="0"/>
                  </a:moveTo>
                  <a:lnTo>
                    <a:pt x="5124450" y="0"/>
                  </a:lnTo>
                  <a:cubicBezTo>
                    <a:pt x="5177055" y="0"/>
                    <a:pt x="5219700" y="42645"/>
                    <a:pt x="5219700" y="95250"/>
                  </a:cubicBezTo>
                  <a:lnTo>
                    <a:pt x="5219700" y="1162050"/>
                  </a:lnTo>
                  <a:cubicBezTo>
                    <a:pt x="5219700" y="1214655"/>
                    <a:pt x="5177055" y="1257300"/>
                    <a:pt x="5124450" y="1257300"/>
                  </a:cubicBezTo>
                  <a:lnTo>
                    <a:pt x="95250" y="1257300"/>
                  </a:lnTo>
                  <a:cubicBezTo>
                    <a:pt x="42645" y="1257300"/>
                    <a:pt x="0" y="1214655"/>
                    <a:pt x="0" y="1162050"/>
                  </a:cubicBezTo>
                  <a:lnTo>
                    <a:pt x="0" y="95250"/>
                  </a:lnTo>
                  <a:cubicBezTo>
                    <a:pt x="0" y="42645"/>
                    <a:pt x="42645" y="0"/>
                    <a:pt x="95250" y="0"/>
                  </a:cubicBezTo>
                  <a:close/>
                </a:path>
              </a:pathLst>
            </a:custGeom>
            <a:solidFill>
              <a:srgbClr val="FFFFFF"/>
            </a:solidFill>
            <a:ln w="19050">
              <a:solidFill>
                <a:srgbClr val="CBD5E1"/>
              </a:solidFill>
            </a:ln>
          </p:spPr>
        </p:sp>
        <p:pic>
          <p:nvPicPr>
            <p:cNvPr id="26" name="Image 26"/>
            <p:cNvPicPr>
              <a:picLocks noChangeAspect="1"/>
            </p:cNvPicPr>
            <p:nvPr/>
          </p:nvPicPr>
          <p:blipFill>
            <a:blip r:embed="rId5"/>
            <a:stretch>
              <a:fillRect/>
            </a:stretch>
          </p:blipFill>
          <p:spPr>
            <a:xfrm>
              <a:off x="6610160" y="4648200"/>
              <a:ext cx="495776" cy="457200"/>
            </a:xfrm>
            <a:prstGeom prst="rect">
              <a:avLst/>
            </a:prstGeom>
          </p:spPr>
        </p:pic>
        <p:sp>
          <p:nvSpPr>
            <p:cNvPr id="27" name="TextBox 27"/>
            <p:cNvSpPr txBox="1"/>
            <p:nvPr/>
          </p:nvSpPr>
          <p:spPr>
            <a:xfrm>
              <a:off x="7375208" y="4510564"/>
              <a:ext cx="345831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Whether the incentive effect varies with</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7375208" y="4748689"/>
              <a:ext cx="374734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actual trustworthiness; this also yields two</a:t>
              </a:r>
              <a:endParaRPr lang="zh-CN" sz="1275" dirty="0">
                <a:solidFill>
                  <a:srgbClr val="1F2933"/>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7375208" y="4986814"/>
              <a:ext cx="215765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Segoe UI" panose="020B0502040204020203"/>
                  <a:ea typeface="微软雅黑" panose="020B0503020204020204" charset="-122"/>
                  <a:cs typeface="Segoe UI" panose="020B0502040204020203"/>
                </a:rPr>
                <a:t>interaction coefficients.</a:t>
              </a:r>
              <a:endParaRPr lang="zh-CN" sz="1275" dirty="0">
                <a:solidFill>
                  <a:srgbClr val="1F2933"/>
                </a:solidFill>
                <a:latin typeface="Segoe UI" panose="020B0502040204020203"/>
                <a:ea typeface="微软雅黑" panose="020B0503020204020204" charset="-122"/>
                <a:cs typeface="Segoe UI" panose="020B0502040204020203"/>
              </a:endParaRPr>
            </a:p>
          </p:txBody>
        </p:sp>
      </p:grpSp>
      <p:sp>
        <p:nvSpPr>
          <p:cNvPr id="31" name="TextBox 31"/>
          <p:cNvSpPr txBox="1"/>
          <p:nvPr/>
        </p:nvSpPr>
        <p:spPr>
          <a:xfrm>
            <a:off x="671512" y="5898356"/>
            <a:ext cx="5699284" cy="228600"/>
          </a:xfrm>
          <a:prstGeom prst="rect">
            <a:avLst/>
          </a:prstGeom>
          <a:noFill/>
          <a:ln>
            <a:noFill/>
          </a:ln>
        </p:spPr>
        <p:txBody>
          <a:bodyPr wrap="none" lIns="0" tIns="0" rIns="0" bIns="0" anchor="t" anchorCtr="0">
            <a:spAutoFit/>
          </a:bodyPr>
          <a:lstStyle/>
          <a:p>
            <a:pPr algn="l"/>
            <a:r>
              <a:rPr lang="zh-CN" sz="1125" dirty="0">
                <a:solidFill>
                  <a:srgbClr val="52606D"/>
                </a:solidFill>
                <a:latin typeface="Segoe UI" panose="020B0502040204020203"/>
                <a:ea typeface="微软雅黑" panose="020B0503020204020204" charset="-122"/>
                <a:cs typeface="Segoe UI" panose="020B0502040204020203"/>
              </a:rPr>
              <a:t>The coefficient definitions follow the model specification in the source deck.</a:t>
            </a:r>
            <a:endParaRPr lang="zh-CN" sz="1125" dirty="0">
              <a:solidFill>
                <a:srgbClr val="52606D"/>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16</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15278"/>
            <a:ext cx="10852785" cy="518160"/>
            <a:chOff x="653415" y="315278"/>
            <a:chExt cx="10852785" cy="518160"/>
          </a:xfrm>
        </p:grpSpPr>
        <p:sp>
          <p:nvSpPr>
            <p:cNvPr id="3" name="TextBox 3"/>
            <p:cNvSpPr txBox="1"/>
            <p:nvPr/>
          </p:nvSpPr>
          <p:spPr>
            <a:xfrm>
              <a:off x="653415" y="315278"/>
              <a:ext cx="6455869"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Main Model: Key Heterogeneity Tests</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Line 4"/>
            <p:cNvSpPr/>
            <p:nvPr/>
          </p:nvSpPr>
          <p:spPr>
            <a:xfrm>
              <a:off x="685800" y="800100"/>
              <a:ext cx="10820400" cy="9525"/>
            </a:xfrm>
            <a:custGeom>
              <a:avLst/>
              <a:gdLst/>
              <a:ahLst/>
              <a:cxnLst/>
              <a:rect l="l" t="t" r="r" b="b"/>
              <a:pathLst>
                <a:path w="10820400" h="9525">
                  <a:moveTo>
                    <a:pt x="0" y="0"/>
                  </a:moveTo>
                  <a:lnTo>
                    <a:pt x="10820400" y="0"/>
                  </a:lnTo>
                </a:path>
              </a:pathLst>
            </a:custGeom>
            <a:noFill/>
            <a:ln w="19050">
              <a:solidFill>
                <a:srgbClr val="CBD5E1"/>
              </a:solidFill>
            </a:ln>
          </p:spPr>
        </p:sp>
      </p:grpSp>
      <p:grpSp>
        <p:nvGrpSpPr>
          <p:cNvPr id="7" name="Group 7"/>
          <p:cNvGrpSpPr/>
          <p:nvPr/>
        </p:nvGrpSpPr>
        <p:grpSpPr>
          <a:xfrm>
            <a:off x="1352550" y="1581150"/>
            <a:ext cx="9525" cy="2857500"/>
            <a:chOff x="1352550" y="1581150"/>
            <a:chExt cx="9525" cy="2857500"/>
          </a:xfrm>
        </p:grpSpPr>
        <p:sp>
          <p:nvSpPr>
            <p:cNvPr id="6" name="Line 6"/>
            <p:cNvSpPr/>
            <p:nvPr/>
          </p:nvSpPr>
          <p:spPr>
            <a:xfrm>
              <a:off x="1352550" y="1581150"/>
              <a:ext cx="9525" cy="2857500"/>
            </a:xfrm>
            <a:custGeom>
              <a:avLst/>
              <a:gdLst/>
              <a:ahLst/>
              <a:cxnLst/>
              <a:rect l="l" t="t" r="r" b="b"/>
              <a:pathLst>
                <a:path w="9525" h="2857500">
                  <a:moveTo>
                    <a:pt x="0" y="0"/>
                  </a:moveTo>
                  <a:lnTo>
                    <a:pt x="0" y="2857500"/>
                  </a:lnTo>
                </a:path>
              </a:pathLst>
            </a:custGeom>
            <a:noFill/>
            <a:ln w="28575">
              <a:solidFill>
                <a:srgbClr val="CBD5E1"/>
              </a:solidFill>
            </a:ln>
          </p:spPr>
        </p:sp>
      </p:grpSp>
      <p:grpSp>
        <p:nvGrpSpPr>
          <p:cNvPr id="13" name="Group 13"/>
          <p:cNvGrpSpPr/>
          <p:nvPr/>
        </p:nvGrpSpPr>
        <p:grpSpPr>
          <a:xfrm>
            <a:off x="1028700" y="1181100"/>
            <a:ext cx="10477500" cy="1028700"/>
            <a:chOff x="1028700" y="1181100"/>
            <a:chExt cx="10477500" cy="1028700"/>
          </a:xfrm>
        </p:grpSpPr>
        <p:sp>
          <p:nvSpPr>
            <p:cNvPr id="8" name="Ellipse 8"/>
            <p:cNvSpPr/>
            <p:nvPr/>
          </p:nvSpPr>
          <p:spPr>
            <a:xfrm>
              <a:off x="1028700" y="1371600"/>
              <a:ext cx="647700" cy="647700"/>
            </a:xfrm>
            <a:prstGeom prst="ellipse">
              <a:avLst/>
            </a:prstGeom>
            <a:solidFill>
              <a:srgbClr val="FFFFFF"/>
            </a:solidFill>
            <a:ln w="38100">
              <a:solidFill>
                <a:srgbClr val="173B57"/>
              </a:solidFill>
            </a:ln>
          </p:spPr>
        </p:sp>
        <p:pic>
          <p:nvPicPr>
            <p:cNvPr id="9" name="Image 9"/>
            <p:cNvPicPr>
              <a:picLocks noChangeAspect="1"/>
            </p:cNvPicPr>
            <p:nvPr/>
          </p:nvPicPr>
          <p:blipFill>
            <a:blip r:embed="rId1"/>
            <a:stretch>
              <a:fillRect/>
            </a:stretch>
          </p:blipFill>
          <p:spPr>
            <a:xfrm>
              <a:off x="1125284" y="1485900"/>
              <a:ext cx="454438" cy="419100"/>
            </a:xfrm>
            <a:prstGeom prst="rect">
              <a:avLst/>
            </a:prstGeom>
          </p:spPr>
        </p:pic>
        <p:sp>
          <p:nvSpPr>
            <p:cNvPr id="10" name="Freeform 10"/>
            <p:cNvSpPr/>
            <p:nvPr/>
          </p:nvSpPr>
          <p:spPr>
            <a:xfrm>
              <a:off x="1981200" y="1181100"/>
              <a:ext cx="9525000" cy="1028700"/>
            </a:xfrm>
            <a:custGeom>
              <a:avLst/>
              <a:gdLst/>
              <a:ahLst/>
              <a:cxnLst/>
              <a:rect l="l" t="t" r="r" b="b"/>
              <a:pathLst>
                <a:path w="9525000" h="1028700">
                  <a:moveTo>
                    <a:pt x="95250" y="0"/>
                  </a:moveTo>
                  <a:lnTo>
                    <a:pt x="9429750" y="0"/>
                  </a:lnTo>
                  <a:cubicBezTo>
                    <a:pt x="9482355" y="0"/>
                    <a:pt x="9525000" y="42645"/>
                    <a:pt x="9525000" y="95250"/>
                  </a:cubicBezTo>
                  <a:lnTo>
                    <a:pt x="9525000" y="933450"/>
                  </a:lnTo>
                  <a:cubicBezTo>
                    <a:pt x="9525000" y="986055"/>
                    <a:pt x="9482355" y="1028700"/>
                    <a:pt x="9429750" y="1028700"/>
                  </a:cubicBezTo>
                  <a:lnTo>
                    <a:pt x="95250" y="1028700"/>
                  </a:lnTo>
                  <a:cubicBezTo>
                    <a:pt x="42645" y="1028700"/>
                    <a:pt x="0" y="986055"/>
                    <a:pt x="0" y="933450"/>
                  </a:cubicBezTo>
                  <a:lnTo>
                    <a:pt x="0" y="95250"/>
                  </a:lnTo>
                  <a:cubicBezTo>
                    <a:pt x="0" y="42645"/>
                    <a:pt x="42645" y="0"/>
                    <a:pt x="95250" y="0"/>
                  </a:cubicBezTo>
                  <a:close/>
                </a:path>
              </a:pathLst>
            </a:custGeom>
            <a:solidFill>
              <a:srgbClr val="FFFFFF"/>
            </a:solidFill>
            <a:ln w="19050">
              <a:solidFill>
                <a:srgbClr val="CBD5E1"/>
              </a:solidFill>
            </a:ln>
          </p:spPr>
        </p:sp>
        <p:sp>
          <p:nvSpPr>
            <p:cNvPr id="11" name="TextBox 11"/>
            <p:cNvSpPr txBox="1"/>
            <p:nvPr/>
          </p:nvSpPr>
          <p:spPr>
            <a:xfrm>
              <a:off x="2247900" y="1419225"/>
              <a:ext cx="3788569" cy="304800"/>
            </a:xfrm>
            <a:prstGeom prst="rect">
              <a:avLst/>
            </a:prstGeom>
            <a:noFill/>
            <a:ln>
              <a:noFill/>
            </a:ln>
          </p:spPr>
          <p:txBody>
            <a:bodyPr wrap="none" lIns="0" tIns="0" rIns="0" bIns="0" anchor="t" anchorCtr="0">
              <a:spAutoFit/>
            </a:bodyPr>
            <a:lstStyle/>
            <a:p>
              <a:pPr algn="l"/>
              <a:r>
                <a:rPr lang="zh-CN" sz="1500" dirty="0">
                  <a:solidFill>
                    <a:srgbClr val="173B57"/>
                  </a:solidFill>
                  <a:latin typeface="Segoe UI Semibold" panose="020B0702040204020203"/>
                  <a:ea typeface="微软雅黑" panose="020B0503020204020204" charset="-122"/>
                  <a:cs typeface="Segoe UI Semibold" panose="020B0702040204020203"/>
                </a:rPr>
                <a:t>Actual trustworthiness heterogeneity</a:t>
              </a:r>
              <a:endParaRPr lang="zh-CN" sz="1500" dirty="0">
                <a:solidFill>
                  <a:srgbClr val="173B57"/>
                </a:solidFill>
                <a:latin typeface="Segoe UI Semibold" panose="020B0702040204020203"/>
                <a:ea typeface="微软雅黑" panose="020B0503020204020204" charset="-122"/>
                <a:cs typeface="Segoe UI Semibold" panose="020B0702040204020203"/>
              </a:endParaRPr>
            </a:p>
          </p:txBody>
        </p:sp>
        <p:sp>
          <p:nvSpPr>
            <p:cNvPr id="12" name="TextBox 12"/>
            <p:cNvSpPr txBox="1"/>
            <p:nvPr/>
          </p:nvSpPr>
          <p:spPr>
            <a:xfrm>
              <a:off x="2249805" y="1759268"/>
              <a:ext cx="5804011"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Whether actual AI trustworthiness changes the incentive effect.</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1028700" y="2609850"/>
            <a:ext cx="10477500" cy="1028700"/>
            <a:chOff x="1028700" y="2609850"/>
            <a:chExt cx="10477500" cy="1028700"/>
          </a:xfrm>
        </p:grpSpPr>
        <p:sp>
          <p:nvSpPr>
            <p:cNvPr id="14" name="Ellipse 14"/>
            <p:cNvSpPr/>
            <p:nvPr/>
          </p:nvSpPr>
          <p:spPr>
            <a:xfrm>
              <a:off x="1028700" y="2800350"/>
              <a:ext cx="647700" cy="647700"/>
            </a:xfrm>
            <a:prstGeom prst="ellipse">
              <a:avLst/>
            </a:prstGeom>
            <a:solidFill>
              <a:srgbClr val="FFFFFF"/>
            </a:solidFill>
            <a:ln w="38100">
              <a:solidFill>
                <a:srgbClr val="5B7C91"/>
              </a:solidFill>
            </a:ln>
          </p:spPr>
        </p:sp>
        <p:pic>
          <p:nvPicPr>
            <p:cNvPr id="15" name="Image 15"/>
            <p:cNvPicPr>
              <a:picLocks noChangeAspect="1"/>
            </p:cNvPicPr>
            <p:nvPr/>
          </p:nvPicPr>
          <p:blipFill>
            <a:blip r:embed="rId2"/>
            <a:stretch>
              <a:fillRect/>
            </a:stretch>
          </p:blipFill>
          <p:spPr>
            <a:xfrm>
              <a:off x="1125284" y="2914650"/>
              <a:ext cx="454438" cy="419100"/>
            </a:xfrm>
            <a:prstGeom prst="rect">
              <a:avLst/>
            </a:prstGeom>
          </p:spPr>
        </p:pic>
        <p:sp>
          <p:nvSpPr>
            <p:cNvPr id="16" name="Freeform 16"/>
            <p:cNvSpPr/>
            <p:nvPr/>
          </p:nvSpPr>
          <p:spPr>
            <a:xfrm>
              <a:off x="1981200" y="2609850"/>
              <a:ext cx="9525000" cy="1028700"/>
            </a:xfrm>
            <a:custGeom>
              <a:avLst/>
              <a:gdLst/>
              <a:ahLst/>
              <a:cxnLst/>
              <a:rect l="l" t="t" r="r" b="b"/>
              <a:pathLst>
                <a:path w="9525000" h="1028700">
                  <a:moveTo>
                    <a:pt x="95250" y="0"/>
                  </a:moveTo>
                  <a:lnTo>
                    <a:pt x="9429750" y="0"/>
                  </a:lnTo>
                  <a:cubicBezTo>
                    <a:pt x="9482355" y="0"/>
                    <a:pt x="9525000" y="42645"/>
                    <a:pt x="9525000" y="95250"/>
                  </a:cubicBezTo>
                  <a:lnTo>
                    <a:pt x="9525000" y="933450"/>
                  </a:lnTo>
                  <a:cubicBezTo>
                    <a:pt x="9525000" y="986055"/>
                    <a:pt x="9482355" y="1028700"/>
                    <a:pt x="9429750" y="1028700"/>
                  </a:cubicBezTo>
                  <a:lnTo>
                    <a:pt x="95250" y="1028700"/>
                  </a:lnTo>
                  <a:cubicBezTo>
                    <a:pt x="42645" y="1028700"/>
                    <a:pt x="0" y="986055"/>
                    <a:pt x="0" y="933450"/>
                  </a:cubicBezTo>
                  <a:lnTo>
                    <a:pt x="0" y="95250"/>
                  </a:lnTo>
                  <a:cubicBezTo>
                    <a:pt x="0" y="42645"/>
                    <a:pt x="42645" y="0"/>
                    <a:pt x="95250" y="0"/>
                  </a:cubicBezTo>
                  <a:close/>
                </a:path>
              </a:pathLst>
            </a:custGeom>
            <a:solidFill>
              <a:srgbClr val="FFFFFF"/>
            </a:solidFill>
            <a:ln w="19050">
              <a:solidFill>
                <a:srgbClr val="CBD5E1"/>
              </a:solidFill>
            </a:ln>
          </p:spPr>
        </p:sp>
        <p:sp>
          <p:nvSpPr>
            <p:cNvPr id="17" name="TextBox 17"/>
            <p:cNvSpPr txBox="1"/>
            <p:nvPr/>
          </p:nvSpPr>
          <p:spPr>
            <a:xfrm>
              <a:off x="2247900" y="2847975"/>
              <a:ext cx="3168491" cy="304800"/>
            </a:xfrm>
            <a:prstGeom prst="rect">
              <a:avLst/>
            </a:prstGeom>
            <a:noFill/>
            <a:ln>
              <a:noFill/>
            </a:ln>
          </p:spPr>
          <p:txBody>
            <a:bodyPr wrap="none" lIns="0" tIns="0" rIns="0" bIns="0" anchor="t" anchorCtr="0">
              <a:spAutoFit/>
            </a:bodyPr>
            <a:lstStyle/>
            <a:p>
              <a:pPr algn="l"/>
              <a:r>
                <a:rPr lang="zh-CN" sz="1500" dirty="0">
                  <a:solidFill>
                    <a:srgbClr val="173B57"/>
                  </a:solidFill>
                  <a:latin typeface="Segoe UI Semibold" panose="020B0702040204020203"/>
                  <a:ea typeface="微软雅黑" panose="020B0503020204020204" charset="-122"/>
                  <a:cs typeface="Segoe UI Semibold" panose="020B0702040204020203"/>
                </a:rPr>
                <a:t>Initial calibration heterogeneity</a:t>
              </a:r>
              <a:endParaRPr lang="zh-CN" sz="1500" dirty="0">
                <a:solidFill>
                  <a:srgbClr val="173B57"/>
                </a:solidFill>
                <a:latin typeface="Segoe UI Semibold" panose="020B0702040204020203"/>
                <a:ea typeface="微软雅黑" panose="020B0503020204020204" charset="-122"/>
                <a:cs typeface="Segoe UI Semibold" panose="020B0702040204020203"/>
              </a:endParaRPr>
            </a:p>
          </p:txBody>
        </p:sp>
        <p:sp>
          <p:nvSpPr>
            <p:cNvPr id="18" name="TextBox 18"/>
            <p:cNvSpPr txBox="1"/>
            <p:nvPr/>
          </p:nvSpPr>
          <p:spPr>
            <a:xfrm>
              <a:off x="2249805" y="3188018"/>
              <a:ext cx="715418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Whether initial overestimation or underestimation changes the incentive effect.</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1028700" y="4038600"/>
            <a:ext cx="10477500" cy="1028700"/>
            <a:chOff x="1028700" y="4038600"/>
            <a:chExt cx="10477500" cy="1028700"/>
          </a:xfrm>
        </p:grpSpPr>
        <p:sp>
          <p:nvSpPr>
            <p:cNvPr id="20" name="Ellipse 20"/>
            <p:cNvSpPr/>
            <p:nvPr/>
          </p:nvSpPr>
          <p:spPr>
            <a:xfrm>
              <a:off x="1028700" y="4229100"/>
              <a:ext cx="647700" cy="647700"/>
            </a:xfrm>
            <a:prstGeom prst="ellipse">
              <a:avLst/>
            </a:prstGeom>
            <a:solidFill>
              <a:srgbClr val="FFFFFF"/>
            </a:solidFill>
            <a:ln w="38100">
              <a:solidFill>
                <a:srgbClr val="B42318"/>
              </a:solidFill>
            </a:ln>
          </p:spPr>
        </p:sp>
        <p:pic>
          <p:nvPicPr>
            <p:cNvPr id="21" name="Image 21"/>
            <p:cNvPicPr>
              <a:picLocks noChangeAspect="1"/>
            </p:cNvPicPr>
            <p:nvPr/>
          </p:nvPicPr>
          <p:blipFill>
            <a:blip r:embed="rId3"/>
            <a:stretch>
              <a:fillRect/>
            </a:stretch>
          </p:blipFill>
          <p:spPr>
            <a:xfrm>
              <a:off x="1125284" y="4343400"/>
              <a:ext cx="454438" cy="419100"/>
            </a:xfrm>
            <a:prstGeom prst="rect">
              <a:avLst/>
            </a:prstGeom>
          </p:spPr>
        </p:pic>
        <p:sp>
          <p:nvSpPr>
            <p:cNvPr id="22" name="Freeform 22"/>
            <p:cNvSpPr/>
            <p:nvPr/>
          </p:nvSpPr>
          <p:spPr>
            <a:xfrm>
              <a:off x="1981200" y="4038600"/>
              <a:ext cx="9525000" cy="1028700"/>
            </a:xfrm>
            <a:custGeom>
              <a:avLst/>
              <a:gdLst/>
              <a:ahLst/>
              <a:cxnLst/>
              <a:rect l="l" t="t" r="r" b="b"/>
              <a:pathLst>
                <a:path w="9525000" h="1028700">
                  <a:moveTo>
                    <a:pt x="95250" y="0"/>
                  </a:moveTo>
                  <a:lnTo>
                    <a:pt x="9429750" y="0"/>
                  </a:lnTo>
                  <a:cubicBezTo>
                    <a:pt x="9482355" y="0"/>
                    <a:pt x="9525000" y="42645"/>
                    <a:pt x="9525000" y="95250"/>
                  </a:cubicBezTo>
                  <a:lnTo>
                    <a:pt x="9525000" y="933450"/>
                  </a:lnTo>
                  <a:cubicBezTo>
                    <a:pt x="9525000" y="986055"/>
                    <a:pt x="9482355" y="1028700"/>
                    <a:pt x="9429750" y="1028700"/>
                  </a:cubicBezTo>
                  <a:lnTo>
                    <a:pt x="95250" y="1028700"/>
                  </a:lnTo>
                  <a:cubicBezTo>
                    <a:pt x="42645" y="1028700"/>
                    <a:pt x="0" y="986055"/>
                    <a:pt x="0" y="933450"/>
                  </a:cubicBezTo>
                  <a:lnTo>
                    <a:pt x="0" y="95250"/>
                  </a:lnTo>
                  <a:cubicBezTo>
                    <a:pt x="0" y="42645"/>
                    <a:pt x="42645" y="0"/>
                    <a:pt x="95250" y="0"/>
                  </a:cubicBezTo>
                  <a:close/>
                </a:path>
              </a:pathLst>
            </a:custGeom>
            <a:solidFill>
              <a:srgbClr val="FFFFFF"/>
            </a:solidFill>
            <a:ln w="19050">
              <a:solidFill>
                <a:srgbClr val="B42318"/>
              </a:solidFill>
            </a:ln>
          </p:spPr>
        </p:sp>
        <p:sp>
          <p:nvSpPr>
            <p:cNvPr id="23" name="TextBox 23"/>
            <p:cNvSpPr txBox="1"/>
            <p:nvPr/>
          </p:nvSpPr>
          <p:spPr>
            <a:xfrm>
              <a:off x="2247900" y="4276725"/>
              <a:ext cx="4228624" cy="304800"/>
            </a:xfrm>
            <a:prstGeom prst="rect">
              <a:avLst/>
            </a:prstGeom>
            <a:noFill/>
            <a:ln>
              <a:noFill/>
            </a:ln>
          </p:spPr>
          <p:txBody>
            <a:bodyPr wrap="none" lIns="0" tIns="0" rIns="0" bIns="0" anchor="t" anchorCtr="0">
              <a:spAutoFit/>
            </a:bodyPr>
            <a:lstStyle/>
            <a:p>
              <a:pPr algn="l"/>
              <a:r>
                <a:rPr lang="zh-CN" sz="1500" dirty="0">
                  <a:solidFill>
                    <a:srgbClr val="B42318"/>
                  </a:solidFill>
                  <a:latin typeface="Segoe UI Semibold" panose="020B0702040204020203"/>
                  <a:ea typeface="微软雅黑" panose="020B0503020204020204" charset="-122"/>
                  <a:cs typeface="Segoe UI Semibold" panose="020B0702040204020203"/>
                </a:rPr>
                <a:t>Joint heterogeneity — most important test</a:t>
              </a:r>
              <a:endParaRPr lang="zh-CN" sz="1500" dirty="0">
                <a:solidFill>
                  <a:srgbClr val="B42318"/>
                </a:solidFill>
                <a:latin typeface="Segoe UI Semibold" panose="020B0702040204020203"/>
                <a:ea typeface="微软雅黑" panose="020B0503020204020204" charset="-122"/>
                <a:cs typeface="Segoe UI Semibold" panose="020B0702040204020203"/>
              </a:endParaRPr>
            </a:p>
          </p:txBody>
        </p:sp>
        <p:sp>
          <p:nvSpPr>
            <p:cNvPr id="24" name="TextBox 24"/>
            <p:cNvSpPr txBox="1"/>
            <p:nvPr/>
          </p:nvSpPr>
          <p:spPr>
            <a:xfrm>
              <a:off x="2249805" y="4616768"/>
              <a:ext cx="8684371"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Segoe UI" panose="020B0502040204020203"/>
                  <a:ea typeface="微软雅黑" panose="020B0503020204020204" charset="-122"/>
                  <a:cs typeface="Segoe UI" panose="020B0502040204020203"/>
                </a:rPr>
                <a:t>Joint effect of incentive level, actual AI trustworthiness, and initial perceived trustworthiness.</a:t>
              </a:r>
              <a:endParaRPr lang="zh-CN" sz="1350" dirty="0">
                <a:solidFill>
                  <a:srgbClr val="1F2933"/>
                </a:solidFill>
                <a:latin typeface="Segoe UI" panose="020B0502040204020203"/>
                <a:ea typeface="微软雅黑" panose="020B0503020204020204" charset="-122"/>
                <a:cs typeface="Segoe UI" panose="020B0502040204020203"/>
              </a:endParaRPr>
            </a:p>
          </p:txBody>
        </p:sp>
      </p:grpSp>
      <p:grpSp>
        <p:nvGrpSpPr>
          <p:cNvPr id="30" name="Group 30"/>
          <p:cNvGrpSpPr/>
          <p:nvPr/>
        </p:nvGrpSpPr>
        <p:grpSpPr>
          <a:xfrm>
            <a:off x="685800" y="5448300"/>
            <a:ext cx="10820400" cy="742950"/>
            <a:chOff x="685800" y="5448300"/>
            <a:chExt cx="10820400" cy="742950"/>
          </a:xfrm>
        </p:grpSpPr>
        <p:sp>
          <p:nvSpPr>
            <p:cNvPr id="26" name="Freeform 26"/>
            <p:cNvSpPr/>
            <p:nvPr/>
          </p:nvSpPr>
          <p:spPr>
            <a:xfrm>
              <a:off x="685800" y="5448300"/>
              <a:ext cx="10820400" cy="742950"/>
            </a:xfrm>
            <a:custGeom>
              <a:avLst/>
              <a:gdLst/>
              <a:ahLst/>
              <a:cxnLst/>
              <a:rect l="l" t="t" r="r" b="b"/>
              <a:pathLst>
                <a:path w="10820400" h="742950">
                  <a:moveTo>
                    <a:pt x="95250" y="0"/>
                  </a:moveTo>
                  <a:lnTo>
                    <a:pt x="10725150" y="0"/>
                  </a:lnTo>
                  <a:cubicBezTo>
                    <a:pt x="10777755" y="0"/>
                    <a:pt x="10820400" y="42645"/>
                    <a:pt x="10820400" y="95250"/>
                  </a:cubicBezTo>
                  <a:lnTo>
                    <a:pt x="10820400" y="647700"/>
                  </a:lnTo>
                  <a:cubicBezTo>
                    <a:pt x="10820400" y="700305"/>
                    <a:pt x="10777755" y="742950"/>
                    <a:pt x="10725150" y="742950"/>
                  </a:cubicBezTo>
                  <a:lnTo>
                    <a:pt x="95250" y="742950"/>
                  </a:lnTo>
                  <a:cubicBezTo>
                    <a:pt x="42645" y="742950"/>
                    <a:pt x="0" y="700305"/>
                    <a:pt x="0" y="647700"/>
                  </a:cubicBezTo>
                  <a:lnTo>
                    <a:pt x="0" y="95250"/>
                  </a:lnTo>
                  <a:cubicBezTo>
                    <a:pt x="0" y="42645"/>
                    <a:pt x="42645" y="0"/>
                    <a:pt x="95250" y="0"/>
                  </a:cubicBezTo>
                  <a:close/>
                </a:path>
              </a:pathLst>
            </a:custGeom>
            <a:solidFill>
              <a:srgbClr val="EDF2F7"/>
            </a:solidFill>
            <a:ln w="19050">
              <a:solidFill>
                <a:srgbClr val="CBD5E1"/>
              </a:solidFill>
            </a:ln>
          </p:spPr>
        </p:sp>
        <p:sp>
          <p:nvSpPr>
            <p:cNvPr id="27" name="TextBox 27"/>
            <p:cNvSpPr txBox="1"/>
            <p:nvPr/>
          </p:nvSpPr>
          <p:spPr>
            <a:xfrm>
              <a:off x="897255" y="5616892"/>
              <a:ext cx="1672495" cy="274320"/>
            </a:xfrm>
            <a:prstGeom prst="rect">
              <a:avLst/>
            </a:prstGeom>
            <a:noFill/>
            <a:ln>
              <a:noFill/>
            </a:ln>
          </p:spPr>
          <p:txBody>
            <a:bodyPr wrap="none" lIns="0" tIns="0" rIns="0" bIns="0" anchor="t" anchorCtr="0">
              <a:spAutoFit/>
            </a:bodyPr>
            <a:lstStyle/>
            <a:p>
              <a:pPr algn="l"/>
              <a:r>
                <a:rPr lang="zh-CN" sz="1350" dirty="0">
                  <a:solidFill>
                    <a:srgbClr val="173B57"/>
                  </a:solidFill>
                  <a:latin typeface="Segoe UI Semibold" panose="020B0702040204020203"/>
                  <a:ea typeface="微软雅黑" panose="020B0503020204020204" charset="-122"/>
                  <a:cs typeface="Segoe UI Semibold" panose="020B0702040204020203"/>
                </a:rPr>
                <a:t>Auxiliary outcomes</a:t>
              </a:r>
              <a:endParaRPr lang="zh-CN" sz="1350" dirty="0">
                <a:solidFill>
                  <a:srgbClr val="173B57"/>
                </a:solidFill>
                <a:latin typeface="Segoe UI Semibold" panose="020B0702040204020203"/>
                <a:ea typeface="微软雅黑" panose="020B0503020204020204" charset="-122"/>
                <a:cs typeface="Segoe UI Semibold" panose="020B0702040204020203"/>
              </a:endParaRPr>
            </a:p>
          </p:txBody>
        </p:sp>
        <p:sp>
          <p:nvSpPr>
            <p:cNvPr id="28" name="TextBox 28"/>
            <p:cNvSpPr txBox="1"/>
            <p:nvPr/>
          </p:nvSpPr>
          <p:spPr>
            <a:xfrm>
              <a:off x="2632710" y="5633085"/>
              <a:ext cx="8191500"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Attitudinal trust, performance trust, and adoption behaviour are reported separately and do not enter</a:t>
              </a:r>
              <a:endParaRPr lang="zh-CN" sz="1200" dirty="0">
                <a:solidFill>
                  <a:srgbClr val="1F2933"/>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2632710" y="5852160"/>
              <a:ext cx="3510915"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Segoe UI" panose="020B0502040204020203"/>
                  <a:ea typeface="微软雅黑" panose="020B0503020204020204" charset="-122"/>
                  <a:cs typeface="Segoe UI" panose="020B0502040204020203"/>
                </a:rPr>
                <a:t>the calculation of the calibration gap above.</a:t>
              </a:r>
              <a:endParaRPr lang="zh-CN" sz="1200" dirty="0">
                <a:solidFill>
                  <a:srgbClr val="1F2933"/>
                </a:solidFill>
                <a:latin typeface="Segoe UI" panose="020B0502040204020203"/>
                <a:ea typeface="微软雅黑" panose="020B0503020204020204" charset="-122"/>
                <a:cs typeface="Segoe UI" panose="020B0502040204020203"/>
              </a:endParaRPr>
            </a:p>
          </p:txBody>
        </p:sp>
      </p:grpSp>
      <p:sp>
        <p:nvSpPr>
          <p:cNvPr id="31" name="TextBox 31"/>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17</a:t>
            </a:r>
            <a:endParaRPr lang="zh-CN" sz="825"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53378"/>
            <a:ext cx="3920852" cy="686752"/>
            <a:chOff x="653415" y="353378"/>
            <a:chExt cx="3920852" cy="686752"/>
          </a:xfrm>
        </p:grpSpPr>
        <p:sp>
          <p:nvSpPr>
            <p:cNvPr id="3" name="TextBox 3"/>
            <p:cNvSpPr txBox="1"/>
            <p:nvPr/>
          </p:nvSpPr>
          <p:spPr>
            <a:xfrm>
              <a:off x="653415" y="353378"/>
              <a:ext cx="3920852"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Expected Contribution</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666750" y="809625"/>
              <a:ext cx="127000" cy="230505"/>
            </a:xfrm>
            <a:prstGeom prst="rect">
              <a:avLst/>
            </a:prstGeom>
            <a:noFill/>
            <a:ln>
              <a:noFill/>
            </a:ln>
          </p:spPr>
          <p:txBody>
            <a:bodyPr wrap="none" lIns="0" tIns="0" rIns="0" bIns="0" anchor="t" anchorCtr="0">
              <a:spAutoFit/>
            </a:bodyPr>
            <a:lstStyle/>
            <a:p>
              <a:pPr algn="l"/>
              <a:endParaRPr lang="zh-CN" sz="1500" dirty="0">
                <a:solidFill>
                  <a:srgbClr val="52606D"/>
                </a:solidFill>
                <a:latin typeface="Segoe UI" panose="020B0502040204020203"/>
                <a:ea typeface="微软雅黑" panose="020B0503020204020204" charset="-122"/>
                <a:cs typeface="Segoe UI" panose="020B0502040204020203"/>
              </a:endParaRPr>
            </a:p>
          </p:txBody>
        </p:sp>
      </p:grpSp>
      <p:grpSp>
        <p:nvGrpSpPr>
          <p:cNvPr id="10" name="Group 10"/>
          <p:cNvGrpSpPr/>
          <p:nvPr/>
        </p:nvGrpSpPr>
        <p:grpSpPr>
          <a:xfrm>
            <a:off x="685800" y="1371600"/>
            <a:ext cx="9988550" cy="4149725"/>
            <a:chOff x="685800" y="1371600"/>
            <a:chExt cx="10820400" cy="1409700"/>
          </a:xfrm>
        </p:grpSpPr>
        <p:sp>
          <p:nvSpPr>
            <p:cNvPr id="6" name="Freeform 6"/>
            <p:cNvSpPr/>
            <p:nvPr/>
          </p:nvSpPr>
          <p:spPr>
            <a:xfrm>
              <a:off x="685800" y="1371600"/>
              <a:ext cx="10820400" cy="1409700"/>
            </a:xfrm>
            <a:custGeom>
              <a:avLst/>
              <a:gdLst/>
              <a:ahLst/>
              <a:cxnLst/>
              <a:rect l="l" t="t" r="r" b="b"/>
              <a:pathLst>
                <a:path w="10820400" h="1409700">
                  <a:moveTo>
                    <a:pt x="95250" y="0"/>
                  </a:moveTo>
                  <a:lnTo>
                    <a:pt x="10725150" y="0"/>
                  </a:lnTo>
                  <a:cubicBezTo>
                    <a:pt x="10777755" y="0"/>
                    <a:pt x="10820400" y="42645"/>
                    <a:pt x="10820400" y="95250"/>
                  </a:cubicBezTo>
                  <a:lnTo>
                    <a:pt x="10820400" y="1314450"/>
                  </a:lnTo>
                  <a:cubicBezTo>
                    <a:pt x="10820400" y="1367055"/>
                    <a:pt x="10777755" y="1409700"/>
                    <a:pt x="10725150" y="1409700"/>
                  </a:cubicBezTo>
                  <a:lnTo>
                    <a:pt x="95250" y="1409700"/>
                  </a:lnTo>
                  <a:cubicBezTo>
                    <a:pt x="42645" y="1409700"/>
                    <a:pt x="0" y="1367055"/>
                    <a:pt x="0" y="1314450"/>
                  </a:cubicBezTo>
                  <a:lnTo>
                    <a:pt x="0" y="95250"/>
                  </a:lnTo>
                  <a:cubicBezTo>
                    <a:pt x="0" y="42645"/>
                    <a:pt x="42645" y="0"/>
                    <a:pt x="95250" y="0"/>
                  </a:cubicBezTo>
                  <a:close/>
                </a:path>
              </a:pathLst>
            </a:custGeom>
            <a:solidFill>
              <a:srgbClr val="EDF2F7"/>
            </a:solidFill>
            <a:ln w="19050">
              <a:solidFill>
                <a:srgbClr val="CBD5E1"/>
              </a:solidFill>
            </a:ln>
          </p:spPr>
          <p:txBody>
            <a:bodyPr/>
            <a:p>
              <a:endParaRPr lang="zh-CN" altLang="en-US"/>
            </a:p>
          </p:txBody>
        </p:sp>
        <p:sp>
          <p:nvSpPr>
            <p:cNvPr id="7" name="TextBox 7"/>
            <p:cNvSpPr txBox="1"/>
            <p:nvPr/>
          </p:nvSpPr>
          <p:spPr>
            <a:xfrm>
              <a:off x="1791421" y="1371600"/>
              <a:ext cx="7541662" cy="153158"/>
            </a:xfrm>
            <a:prstGeom prst="rect">
              <a:avLst/>
            </a:prstGeom>
            <a:noFill/>
            <a:ln>
              <a:noFill/>
            </a:ln>
          </p:spPr>
          <p:txBody>
            <a:bodyPr wrap="square" lIns="0" tIns="0" rIns="0" bIns="0" anchor="t" anchorCtr="0">
              <a:noAutofit/>
            </a:bodyPr>
            <a:lstStyle/>
            <a:p>
              <a:pPr algn="ctr"/>
              <a:r>
                <a:rPr lang="en-US" altLang="zh-CN" sz="2400" b="1" dirty="0">
                  <a:solidFill>
                    <a:srgbClr val="173B57"/>
                  </a:solidFill>
                  <a:latin typeface="Segoe UI Semibold" panose="020B0702040204020203"/>
                  <a:ea typeface="微软雅黑" panose="020B0503020204020204" charset="-122"/>
                  <a:cs typeface="Segoe UI Semibold" panose="020B0702040204020203"/>
                </a:rPr>
                <a:t>Contribution to Management Theory</a:t>
              </a:r>
              <a:endParaRPr lang="en-US" altLang="zh-CN" sz="2400" b="1" dirty="0">
                <a:solidFill>
                  <a:srgbClr val="173B57"/>
                </a:solidFill>
                <a:latin typeface="Segoe UI Semibold" panose="020B0702040204020203"/>
                <a:ea typeface="微软雅黑" panose="020B0503020204020204" charset="-122"/>
                <a:cs typeface="Segoe UI Semibold" panose="020B0702040204020203"/>
              </a:endParaRPr>
            </a:p>
          </p:txBody>
        </p:sp>
      </p:grpSp>
      <p:sp>
        <p:nvSpPr>
          <p:cNvPr id="27" name="TextBox 27"/>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18</a:t>
            </a:r>
            <a:endParaRPr lang="zh-CN" sz="825" dirty="0">
              <a:solidFill>
                <a:srgbClr val="7B8794"/>
              </a:solidFill>
              <a:latin typeface="Segoe UI" panose="020B0502040204020203"/>
              <a:ea typeface="微软雅黑" panose="020B0503020204020204" charset="-122"/>
              <a:cs typeface="Segoe UI" panose="020B0502040204020203"/>
            </a:endParaRPr>
          </a:p>
        </p:txBody>
      </p:sp>
      <p:sp>
        <p:nvSpPr>
          <p:cNvPr id="28" name="TextBox 7"/>
          <p:cNvSpPr txBox="1"/>
          <p:nvPr/>
        </p:nvSpPr>
        <p:spPr>
          <a:xfrm>
            <a:off x="1310005" y="2103120"/>
            <a:ext cx="8136255" cy="2788920"/>
          </a:xfrm>
          <a:prstGeom prst="rect">
            <a:avLst/>
          </a:prstGeom>
          <a:noFill/>
          <a:ln>
            <a:noFill/>
          </a:ln>
        </p:spPr>
        <p:txBody>
          <a:bodyPr wrap="square" lIns="0" tIns="0" rIns="0" bIns="0" anchor="t" anchorCtr="0">
            <a:noAutofit/>
          </a:bodyPr>
          <a:lstStyle/>
          <a:p>
            <a:pPr algn="l"/>
            <a:r>
              <a:rPr lang="en-US" altLang="zh-CN" sz="1575" dirty="0">
                <a:solidFill>
                  <a:srgbClr val="173B57"/>
                </a:solidFill>
                <a:latin typeface="Segoe UI Semibold" panose="020B0702040204020203"/>
                <a:ea typeface="微软雅黑" panose="020B0503020204020204" charset="-122"/>
                <a:cs typeface="Segoe UI Semibold" panose="020B0702040204020203"/>
              </a:rPr>
              <a:t>Research on incentive contracting and performance measurement emphasizes potential misalignment between rewarded behaviour and organizational objectives (Kerr, 1975; Baker, 1992). This study further examines whether rewarding AI adoption affects employees’ judgments of AI capability.</a:t>
            </a:r>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r>
              <a:rPr lang="en-US" altLang="zh-CN" sz="1575" dirty="0">
                <a:solidFill>
                  <a:srgbClr val="173B57"/>
                </a:solidFill>
                <a:latin typeface="Segoe UI Semibold" panose="020B0702040204020203"/>
                <a:ea typeface="微软雅黑" panose="020B0503020204020204" charset="-122"/>
                <a:cs typeface="Segoe UI Semibold" panose="020B0702040204020203"/>
              </a:rPr>
              <a:t>The study distinguishes two competing predictions. Expected-utility reasoning predicts changes in AI adoption, whereas motivated reasoning and payoff-based belief distortion predict additional changes in perceived trustworthiness (Kunda, 1990; Jiao, 2020).</a:t>
            </a:r>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r>
              <a:rPr lang="en-US" altLang="zh-CN" sz="1575" dirty="0">
                <a:solidFill>
                  <a:srgbClr val="173B57"/>
                </a:solidFill>
                <a:latin typeface="Segoe UI Semibold" panose="020B0702040204020203"/>
                <a:ea typeface="微软雅黑" panose="020B0503020204020204" charset="-122"/>
                <a:cs typeface="Segoe UI Semibold" panose="020B0702040204020203"/>
              </a:rPr>
              <a:t>The findings will show how AI incentive policies should be evaluated jointly through adoption, capability judgments, and decision quality.</a:t>
            </a:r>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653415" y="353378"/>
            <a:ext cx="3920852" cy="686752"/>
            <a:chOff x="653415" y="353378"/>
            <a:chExt cx="3920852" cy="686752"/>
          </a:xfrm>
        </p:grpSpPr>
        <p:sp>
          <p:nvSpPr>
            <p:cNvPr id="3" name="TextBox 3"/>
            <p:cNvSpPr txBox="1"/>
            <p:nvPr/>
          </p:nvSpPr>
          <p:spPr>
            <a:xfrm>
              <a:off x="653415" y="353378"/>
              <a:ext cx="3920852" cy="518160"/>
            </a:xfrm>
            <a:prstGeom prst="rect">
              <a:avLst/>
            </a:prstGeom>
            <a:noFill/>
            <a:ln>
              <a:noFill/>
            </a:ln>
          </p:spPr>
          <p:txBody>
            <a:bodyPr wrap="none" lIns="0" tIns="0" rIns="0" bIns="0" anchor="t" anchorCtr="0">
              <a:spAutoFit/>
            </a:bodyPr>
            <a:lstStyle/>
            <a:p>
              <a:pPr algn="l"/>
              <a:r>
                <a:rPr lang="zh-CN" sz="2550" b="1" dirty="0">
                  <a:solidFill>
                    <a:srgbClr val="173B57"/>
                  </a:solidFill>
                  <a:latin typeface="Segoe UI" panose="020B0502040204020203"/>
                  <a:ea typeface="微软雅黑" panose="020B0503020204020204" charset="-122"/>
                  <a:cs typeface="Segoe UI" panose="020B0502040204020203"/>
                </a:rPr>
                <a:t>Expected Contribution</a:t>
              </a:r>
              <a:endParaRPr lang="zh-CN" sz="2550" b="1" dirty="0">
                <a:solidFill>
                  <a:srgbClr val="173B57"/>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666750" y="809625"/>
              <a:ext cx="127000" cy="230505"/>
            </a:xfrm>
            <a:prstGeom prst="rect">
              <a:avLst/>
            </a:prstGeom>
            <a:noFill/>
            <a:ln>
              <a:noFill/>
            </a:ln>
          </p:spPr>
          <p:txBody>
            <a:bodyPr wrap="none" lIns="0" tIns="0" rIns="0" bIns="0" anchor="t" anchorCtr="0">
              <a:spAutoFit/>
            </a:bodyPr>
            <a:lstStyle/>
            <a:p>
              <a:pPr algn="l"/>
              <a:endParaRPr lang="zh-CN" sz="1500" dirty="0">
                <a:solidFill>
                  <a:srgbClr val="52606D"/>
                </a:solidFill>
                <a:latin typeface="Segoe UI" panose="020B0502040204020203"/>
                <a:ea typeface="微软雅黑" panose="020B0503020204020204" charset="-122"/>
                <a:cs typeface="Segoe UI" panose="020B0502040204020203"/>
              </a:endParaRPr>
            </a:p>
          </p:txBody>
        </p:sp>
      </p:grpSp>
      <p:grpSp>
        <p:nvGrpSpPr>
          <p:cNvPr id="10" name="Group 10"/>
          <p:cNvGrpSpPr/>
          <p:nvPr/>
        </p:nvGrpSpPr>
        <p:grpSpPr>
          <a:xfrm>
            <a:off x="685800" y="1371600"/>
            <a:ext cx="9988550" cy="4149725"/>
            <a:chOff x="685800" y="1371600"/>
            <a:chExt cx="10820400" cy="1409700"/>
          </a:xfrm>
        </p:grpSpPr>
        <p:sp>
          <p:nvSpPr>
            <p:cNvPr id="6" name="Freeform 6"/>
            <p:cNvSpPr/>
            <p:nvPr/>
          </p:nvSpPr>
          <p:spPr>
            <a:xfrm>
              <a:off x="685800" y="1371600"/>
              <a:ext cx="10820400" cy="1409700"/>
            </a:xfrm>
            <a:custGeom>
              <a:avLst/>
              <a:gdLst/>
              <a:ahLst/>
              <a:cxnLst/>
              <a:rect l="l" t="t" r="r" b="b"/>
              <a:pathLst>
                <a:path w="10820400" h="1409700">
                  <a:moveTo>
                    <a:pt x="95250" y="0"/>
                  </a:moveTo>
                  <a:lnTo>
                    <a:pt x="10725150" y="0"/>
                  </a:lnTo>
                  <a:cubicBezTo>
                    <a:pt x="10777755" y="0"/>
                    <a:pt x="10820400" y="42645"/>
                    <a:pt x="10820400" y="95250"/>
                  </a:cubicBezTo>
                  <a:lnTo>
                    <a:pt x="10820400" y="1314450"/>
                  </a:lnTo>
                  <a:cubicBezTo>
                    <a:pt x="10820400" y="1367055"/>
                    <a:pt x="10777755" y="1409700"/>
                    <a:pt x="10725150" y="1409700"/>
                  </a:cubicBezTo>
                  <a:lnTo>
                    <a:pt x="95250" y="1409700"/>
                  </a:lnTo>
                  <a:cubicBezTo>
                    <a:pt x="42645" y="1409700"/>
                    <a:pt x="0" y="1367055"/>
                    <a:pt x="0" y="1314450"/>
                  </a:cubicBezTo>
                  <a:lnTo>
                    <a:pt x="0" y="95250"/>
                  </a:lnTo>
                  <a:cubicBezTo>
                    <a:pt x="0" y="42645"/>
                    <a:pt x="42645" y="0"/>
                    <a:pt x="95250" y="0"/>
                  </a:cubicBezTo>
                  <a:close/>
                </a:path>
              </a:pathLst>
            </a:custGeom>
            <a:solidFill>
              <a:srgbClr val="EDF2F7"/>
            </a:solidFill>
            <a:ln w="19050">
              <a:solidFill>
                <a:srgbClr val="CBD5E1"/>
              </a:solidFill>
            </a:ln>
          </p:spPr>
          <p:txBody>
            <a:bodyPr/>
            <a:p>
              <a:endParaRPr lang="zh-CN" altLang="en-US"/>
            </a:p>
          </p:txBody>
        </p:sp>
        <p:sp>
          <p:nvSpPr>
            <p:cNvPr id="7" name="TextBox 7"/>
            <p:cNvSpPr txBox="1"/>
            <p:nvPr/>
          </p:nvSpPr>
          <p:spPr>
            <a:xfrm>
              <a:off x="1791421" y="1371600"/>
              <a:ext cx="7541662" cy="153158"/>
            </a:xfrm>
            <a:prstGeom prst="rect">
              <a:avLst/>
            </a:prstGeom>
            <a:noFill/>
            <a:ln>
              <a:noFill/>
            </a:ln>
          </p:spPr>
          <p:txBody>
            <a:bodyPr wrap="square" lIns="0" tIns="0" rIns="0" bIns="0" anchor="t" anchorCtr="0">
              <a:noAutofit/>
            </a:bodyPr>
            <a:lstStyle/>
            <a:p>
              <a:pPr algn="ctr"/>
              <a:r>
                <a:rPr lang="en-US" altLang="zh-CN" sz="2400" b="1" dirty="0">
                  <a:solidFill>
                    <a:srgbClr val="173B57"/>
                  </a:solidFill>
                  <a:latin typeface="Segoe UI Semibold" panose="020B0702040204020203"/>
                  <a:ea typeface="微软雅黑" panose="020B0503020204020204" charset="-122"/>
                  <a:cs typeface="Segoe UI Semibold" panose="020B0702040204020203"/>
                </a:rPr>
                <a:t>Contribution to AI Trust Theory</a:t>
              </a:r>
              <a:endParaRPr lang="en-US" altLang="zh-CN" sz="2400" b="1" dirty="0">
                <a:solidFill>
                  <a:srgbClr val="173B57"/>
                </a:solidFill>
                <a:latin typeface="Segoe UI Semibold" panose="020B0702040204020203"/>
                <a:ea typeface="微软雅黑" panose="020B0503020204020204" charset="-122"/>
                <a:cs typeface="Segoe UI Semibold" panose="020B0702040204020203"/>
              </a:endParaRPr>
            </a:p>
          </p:txBody>
        </p:sp>
      </p:grpSp>
      <p:sp>
        <p:nvSpPr>
          <p:cNvPr id="27" name="TextBox 27"/>
          <p:cNvSpPr txBox="1"/>
          <p:nvPr/>
        </p:nvSpPr>
        <p:spPr>
          <a:xfrm>
            <a:off x="11374707" y="6426041"/>
            <a:ext cx="141970" cy="167640"/>
          </a:xfrm>
          <a:prstGeom prst="rect">
            <a:avLst/>
          </a:prstGeom>
          <a:noFill/>
          <a:ln>
            <a:noFill/>
          </a:ln>
        </p:spPr>
        <p:txBody>
          <a:bodyPr wrap="none" lIns="0" tIns="0" rIns="0" bIns="0" anchor="t" anchorCtr="0">
            <a:spAutoFit/>
          </a:bodyPr>
          <a:lstStyle/>
          <a:p>
            <a:pPr algn="r"/>
            <a:r>
              <a:rPr lang="zh-CN" sz="825" dirty="0">
                <a:solidFill>
                  <a:srgbClr val="7B8794"/>
                </a:solidFill>
                <a:latin typeface="Segoe UI" panose="020B0502040204020203"/>
                <a:ea typeface="微软雅黑" panose="020B0503020204020204" charset="-122"/>
                <a:cs typeface="Segoe UI" panose="020B0502040204020203"/>
              </a:rPr>
              <a:t>18</a:t>
            </a:r>
            <a:endParaRPr lang="zh-CN" sz="825" dirty="0">
              <a:solidFill>
                <a:srgbClr val="7B8794"/>
              </a:solidFill>
              <a:latin typeface="Segoe UI" panose="020B0502040204020203"/>
              <a:ea typeface="微软雅黑" panose="020B0503020204020204" charset="-122"/>
              <a:cs typeface="Segoe UI" panose="020B0502040204020203"/>
            </a:endParaRPr>
          </a:p>
        </p:txBody>
      </p:sp>
      <p:sp>
        <p:nvSpPr>
          <p:cNvPr id="28" name="TextBox 7"/>
          <p:cNvSpPr txBox="1"/>
          <p:nvPr/>
        </p:nvSpPr>
        <p:spPr>
          <a:xfrm>
            <a:off x="1310005" y="2103120"/>
            <a:ext cx="8136255" cy="2788920"/>
          </a:xfrm>
          <a:prstGeom prst="rect">
            <a:avLst/>
          </a:prstGeom>
          <a:noFill/>
          <a:ln>
            <a:noFill/>
          </a:ln>
        </p:spPr>
        <p:txBody>
          <a:bodyPr wrap="square" lIns="0" tIns="0" rIns="0" bIns="0" anchor="t" anchorCtr="0">
            <a:noAutofit/>
          </a:bodyPr>
          <a:lstStyle/>
          <a:p>
            <a:pPr algn="l"/>
            <a:r>
              <a:rPr lang="en-US" altLang="zh-CN" sz="1575" dirty="0">
                <a:solidFill>
                  <a:srgbClr val="173B57"/>
                </a:solidFill>
                <a:latin typeface="Segoe UI Semibold" panose="020B0702040204020203"/>
                <a:ea typeface="微软雅黑" panose="020B0503020204020204" charset="-122"/>
                <a:cs typeface="Segoe UI Semibold" panose="020B0702040204020203"/>
              </a:rPr>
              <a:t>It separately measures actual trustworthiness, perceived trustworthiness, performance trust, and adoption behaviour to identify where economic interests enter the AI trust process (Everett et al., 2026).</a:t>
            </a:r>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r>
              <a:rPr lang="en-US" altLang="zh-CN" sz="1575" dirty="0">
                <a:solidFill>
                  <a:srgbClr val="173B57"/>
                </a:solidFill>
                <a:latin typeface="Segoe UI Semibold" panose="020B0702040204020203"/>
                <a:ea typeface="微软雅黑" panose="020B0503020204020204" charset="-122"/>
                <a:cs typeface="Segoe UI Semibold" panose="020B0702040204020203"/>
              </a:rPr>
              <a:t>It examines whether increased AI adoption arises from changes in economic payoffs, perceived trustworthiness, or trust attitudes.</a:t>
            </a:r>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a:p>
            <a:pPr algn="l"/>
            <a:r>
              <a:rPr lang="en-US" altLang="zh-CN" sz="1575" dirty="0">
                <a:solidFill>
                  <a:srgbClr val="173B57"/>
                </a:solidFill>
                <a:latin typeface="Segoe UI Semibold" panose="020B0702040204020203"/>
                <a:ea typeface="微软雅黑" panose="020B0503020204020204" charset="-122"/>
                <a:cs typeface="Segoe UI Semibold" panose="020B0702040204020203"/>
              </a:rPr>
              <a:t>By comparing perceived trustworthiness with actual trustworthiness, the study determines whether incentives correct an underestimation of AI capability or amplify an overestimation.</a:t>
            </a:r>
            <a:endParaRPr lang="en-US" altLang="zh-CN" sz="1575" dirty="0">
              <a:solidFill>
                <a:srgbClr val="173B57"/>
              </a:solidFill>
              <a:latin typeface="Segoe UI Semibold" panose="020B0702040204020203"/>
              <a:ea typeface="微软雅黑" panose="020B0503020204020204" charset="-122"/>
              <a:cs typeface="Segoe UI Semibold" panose="020B07020402040202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11819</Words>
  <Application>WPS 演示</Application>
  <PresentationFormat>On-screen Show (16:9)</PresentationFormat>
  <Paragraphs>660</Paragraphs>
  <Slides>19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宋体</vt:lpstr>
      <vt:lpstr>Wingdings</vt:lpstr>
      <vt:lpstr>Arial</vt:lpstr>
      <vt:lpstr>Segoe UI</vt:lpstr>
      <vt:lpstr>微软雅黑</vt:lpstr>
      <vt:lpstr>Segoe UI Semibold</vt:lpstr>
      <vt:lpstr>Consolas</vt:lpstr>
      <vt:lpstr>Arial Unicode MS</vt:lpstr>
      <vt:lpstr>Calibri</vt:lpstr>
      <vt:lpstr>Consolas</vt:lpstr>
      <vt:lpstr>Segoe UI</vt:lpstr>
      <vt:lpstr>Segoe UI Semibold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汉克克克克克克克</cp:lastModifiedBy>
  <cp:revision>2</cp:revision>
  <dcterms:created xsi:type="dcterms:W3CDTF">2026-08-05T17:32:00Z</dcterms:created>
  <dcterms:modified xsi:type="dcterms:W3CDTF">2026-08-06T02:50:02Z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982BCC358BC444A2880D9AEB58DCAF2C_12</vt:lpwstr>
  </property>
</Properties>
</file>