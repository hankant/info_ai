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9f1ef9b2c74474" /><Relationship Type="http://schemas.openxmlformats.org/officeDocument/2006/relationships/extended-properties" Target="/docProps/app.xml" Id="R340e64885eae436f" /><Relationship Type="http://schemas.openxmlformats.org/officeDocument/2006/relationships/officeDocument" Target="/ppt/presentation.xml" Id="R9390082ba89a4a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880d1790a44963"/>
  </p:sldMasterIdLst>
  <p:notesMasterIdLst>
    <p:notesMasterId xmlns:r="http://schemas.openxmlformats.org/officeDocument/2006/relationships" r:id="Re4628f38767047f0"/>
  </p:notesMasterIdLst>
  <p:sldIdLst>
    <p:sldId xmlns:r="http://schemas.openxmlformats.org/officeDocument/2006/relationships" id="256" r:id="R0c595e1456ba4f05"/>
    <p:sldId xmlns:r="http://schemas.openxmlformats.org/officeDocument/2006/relationships" id="257" r:id="R8cfacceab4ec41f9"/>
    <p:sldId xmlns:r="http://schemas.openxmlformats.org/officeDocument/2006/relationships" id="258" r:id="Ra5b43059df1f4f7b"/>
    <p:sldId xmlns:r="http://schemas.openxmlformats.org/officeDocument/2006/relationships" id="259" r:id="R9443d7f6511b4569"/>
    <p:sldId xmlns:r="http://schemas.openxmlformats.org/officeDocument/2006/relationships" id="260" r:id="R1b07464fc61b4e73"/>
    <p:sldId xmlns:r="http://schemas.openxmlformats.org/officeDocument/2006/relationships" id="261" r:id="R939334a77b6b41f8"/>
    <p:sldId xmlns:r="http://schemas.openxmlformats.org/officeDocument/2006/relationships" id="262" r:id="R0c6408bbcd314935"/>
    <p:sldId xmlns:r="http://schemas.openxmlformats.org/officeDocument/2006/relationships" id="263" r:id="R843c18ecf8f9407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d70464ec1b4f4f" /><Relationship Type="http://schemas.openxmlformats.org/officeDocument/2006/relationships/slideMaster" Target="/ppt/slideMasters/slideMaster1.xml" Id="R0b880d1790a44963" /><Relationship Type="http://schemas.openxmlformats.org/officeDocument/2006/relationships/notesMaster" Target="/ppt/notesMasters/notesMaster1.xml" Id="Re4628f38767047f0" /><Relationship Type="http://schemas.openxmlformats.org/officeDocument/2006/relationships/presProps" Target="/ppt/presProps.xml" Id="R954b6a168c654a5c" /><Relationship Type="http://schemas.openxmlformats.org/officeDocument/2006/relationships/tableStyles" Target="/ppt/tableStyles.xml" Id="Rbd104f40c1f64368" /><Relationship Type="http://schemas.openxmlformats.org/officeDocument/2006/relationships/slide" Target="/ppt/slides/slide1.xml" Id="R0c595e1456ba4f05" /><Relationship Type="http://schemas.openxmlformats.org/officeDocument/2006/relationships/slide" Target="/ppt/slides/slide2.xml" Id="R8cfacceab4ec41f9" /><Relationship Type="http://schemas.openxmlformats.org/officeDocument/2006/relationships/slide" Target="/ppt/slides/slide3.xml" Id="Ra5b43059df1f4f7b" /><Relationship Type="http://schemas.openxmlformats.org/officeDocument/2006/relationships/slide" Target="/ppt/slides/slide4.xml" Id="R9443d7f6511b4569" /><Relationship Type="http://schemas.openxmlformats.org/officeDocument/2006/relationships/slide" Target="/ppt/slides/slide5.xml" Id="R1b07464fc61b4e73" /><Relationship Type="http://schemas.openxmlformats.org/officeDocument/2006/relationships/slide" Target="/ppt/slides/slide6.xml" Id="R939334a77b6b41f8" /><Relationship Type="http://schemas.openxmlformats.org/officeDocument/2006/relationships/slide" Target="/ppt/slides/slide7.xml" Id="R0c6408bbcd314935" /><Relationship Type="http://schemas.openxmlformats.org/officeDocument/2006/relationships/slide" Target="/ppt/slides/slide8.xml" Id="R843c18ecf8f940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febc80d95a4b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8e28776d084809" /><Relationship Type="http://schemas.openxmlformats.org/officeDocument/2006/relationships/notesMaster" Target="/ppt/notesMasters/notesMaster1.xml" Id="R4e00856305e346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e09886ebba4394" /><Relationship Type="http://schemas.openxmlformats.org/officeDocument/2006/relationships/notesMaster" Target="/ppt/notesMasters/notesMaster1.xml" Id="R7d540ec6506f4c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49bf140f604347" /><Relationship Type="http://schemas.openxmlformats.org/officeDocument/2006/relationships/notesMaster" Target="/ppt/notesMasters/notesMaster1.xml" Id="Re89278b8b04644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e3df8eefc74b59" /><Relationship Type="http://schemas.openxmlformats.org/officeDocument/2006/relationships/notesMaster" Target="/ppt/notesMasters/notesMaster1.xml" Id="R81984e59a00943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b8737ced634dd8" /><Relationship Type="http://schemas.openxmlformats.org/officeDocument/2006/relationships/notesMaster" Target="/ppt/notesMasters/notesMaster1.xml" Id="R8febad106d854a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32703fa448412a" /><Relationship Type="http://schemas.openxmlformats.org/officeDocument/2006/relationships/notesMaster" Target="/ppt/notesMasters/notesMaster1.xml" Id="R4ceb51d22c7b4d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550e0abe2144e3" /><Relationship Type="http://schemas.openxmlformats.org/officeDocument/2006/relationships/notesMaster" Target="/ppt/notesMasters/notesMaster1.xml" Id="Rc289b42901de48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34d55d70744e6f" /><Relationship Type="http://schemas.openxmlformats.org/officeDocument/2006/relationships/notesMaster" Target="/ppt/notesMasters/notesMaster1.xml" Id="R18966c8c22b54d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want to begin with the broader puzzle rather than with the framework term itself.</a:t>
            </a:r>
          </a:p>
          <a:p xmlns:a="http://schemas.openxmlformats.org/drawingml/2006/main">
            <a:r>
              <a:t>Today, AI is entering more real decision settings, including crisis judgment, organizational governance, public administration, healthcare, and other high-risk contexts.</a:t>
            </a:r>
          </a:p>
          <a:p xmlns:a="http://schemas.openxmlformats.org/drawingml/2006/main">
            <a:r>
              <a:t>That means AI is no longer only a laboratory system or a stand-alone tool. It is increasingly embedded in real organizational and institutional decision chains.</a:t>
            </a:r>
          </a:p>
          <a:p xmlns:a="http://schemas.openxmlformats.org/drawingml/2006/main">
            <a:r>
              <a:t>So the opening question is how that broader shift changes human judgment once AI becomes part of the process.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Existing research usually approaches AI in decision-making from three familiar questions.</a:t>
            </a:r>
          </a:p>
          <a:p xmlns:a="http://schemas.openxmlformats.org/drawingml/2006/main">
            <a:r>
              <a:t>The first is whether AI improves judgment quality or performance.</a:t>
            </a:r>
          </a:p>
          <a:p xmlns:a="http://schemas.openxmlformats.org/drawingml/2006/main">
            <a:r>
              <a:t>The second is whether people trust, adopt, or rely on AI advice.</a:t>
            </a:r>
          </a:p>
          <a:p xmlns:a="http://schemas.openxmlformats.org/drawingml/2006/main">
            <a:r>
              <a:t>The third is how responsibility should be assigned once AI is involved in decision-making.</a:t>
            </a:r>
          </a:p>
          <a:p xmlns:a="http://schemas.openxmlformats.org/drawingml/2006/main">
            <a:r>
              <a:t>These questions are important, but they still tend to treat AI as an external tool.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where the gap becomes visible.</a:t>
            </a:r>
          </a:p>
          <a:p xmlns:a="http://schemas.openxmlformats.org/drawingml/2006/main">
            <a:r>
              <a:t>We do have important literatures on judgment quality, on trust and reliance, and on responsibility after AI-assisted outcomes.</a:t>
            </a:r>
          </a:p>
          <a:p xmlns:a="http://schemas.openxmlformats.org/drawingml/2006/main">
            <a:r>
              <a:t>But these streams are usually treated separately.</a:t>
            </a:r>
          </a:p>
          <a:p xmlns:a="http://schemas.openxmlformats.org/drawingml/2006/main">
            <a:r>
              <a:t>What remains underexplained is the process itself: how belief formation, reliance calibration, and responsibility attribution unfold inside one connected decision process.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matters because people increasingly use AI in a different way from traditional tools.</a:t>
            </a:r>
          </a:p>
          <a:p xmlns:a="http://schemas.openxmlformats.org/drawingml/2006/main">
            <a:r>
              <a:t>They do not use it only as a search engine, calculator, or automation device.</a:t>
            </a:r>
          </a:p>
          <a:p xmlns:a="http://schemas.openxmlformats.org/drawingml/2006/main">
            <a:r>
              <a:t>They consult it, discuss with it, confirm with it, and sometimes rely on it as a source of judgment.</a:t>
            </a:r>
          </a:p>
          <a:p xmlns:a="http://schemas.openxmlformats.org/drawingml/2006/main">
            <a:r>
              <a:t>In these interactions, AI is not simply giving an answer. It also shapes how users understand the problem itself.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change is closely related to the technical foundation and interaction form of large language models.</a:t>
            </a:r>
          </a:p>
          <a:p xmlns:a="http://schemas.openxmlformats.org/drawingml/2006/main">
            <a:r>
              <a:t>LLMs are not simply larger versions of traditional algorithms.</a:t>
            </a:r>
          </a:p>
          <a:p xmlns:a="http://schemas.openxmlformats.org/drawingml/2006/main">
            <a:r>
              <a:t>Their Transformer architecture supports contextual integration, and later tuning makes them able to explain, respond, and interact continuously with users.</a:t>
            </a:r>
          </a:p>
          <a:p xmlns:a="http://schemas.openxmlformats.org/drawingml/2006/main">
            <a:r>
              <a:t>So the difference is not only output accuracy. The form of output and the mode of interaction also change.</a:t>
            </a:r>
          </a:p>
          <a:p xmlns:a="http://schemas.openxmlformats.org/drawingml/2006/main">
            <a:r>
              <a:t>That is why users can be influenced by explanation, tone, and narrative framing, not only by the answer itself.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 this sense, the impact of AI should not be understood only as whether people adopt AI advice.</a:t>
            </a:r>
          </a:p>
          <a:p xmlns:a="http://schemas.openxmlformats.org/drawingml/2006/main">
            <a:r>
              <a:t>It should be understood as how AI reorganizes the decision-making process itself.</a:t>
            </a:r>
          </a:p>
          <a:p xmlns:a="http://schemas.openxmlformats.org/drawingml/2006/main">
            <a:r>
              <a:t>AI can change how information is presented, how cognitive burden is distributed, how action thresholds are adjusted, and how responsibility is understood after action.</a:t>
            </a:r>
          </a:p>
          <a:p xmlns:a="http://schemas.openxmlformats.org/drawingml/2006/main">
            <a:r>
              <a:t>That is why I treat belief formation, reliance calibration, and responsibility attribution as linked stages of one AI-mediated decision process.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dissertation then narrows that broader problem into a more specific theoretical object: AI as decision architecture.</a:t>
            </a:r>
          </a:p>
          <a:p xmlns:a="http://schemas.openxmlformats.org/drawingml/2006/main">
            <a:r>
              <a:t>I use this as an integrative analytical framework, not as a claim that the theory is already fully settled.</a:t>
            </a:r>
          </a:p>
          <a:p xmlns:a="http://schemas.openxmlformats.org/drawingml/2006/main">
            <a:r>
              <a:t>The framework highlights four things AI can restructure: information flow, cognitive burden, action thresholds, and responsibility relations.</a:t>
            </a:r>
          </a:p>
          <a:p xmlns:a="http://schemas.openxmlformats.org/drawingml/2006/main">
            <a:r>
              <a:t>In other words, AI matters not only because it produces content, but because it reorganizes how consequential human decisions are reached.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where the three papers fit together.</a:t>
            </a:r>
          </a:p>
          <a:p xmlns:a="http://schemas.openxmlformats.org/drawingml/2006/main">
            <a:r>
              <a:t>Paper 1 studies the mapping from evidence to belief.</a:t>
            </a:r>
          </a:p>
          <a:p xmlns:a="http://schemas.openxmlformats.org/drawingml/2006/main">
            <a:r>
              <a:t>Paper 2 studies how belief and feedback recalibrate action thresholds and reliance under repeated interaction.</a:t>
            </a:r>
          </a:p>
          <a:p xmlns:a="http://schemas.openxmlformats.org/drawingml/2006/main">
            <a:r>
              <a:t>Paper 3 studies how action connects to responsibility attribution once AI-assisted outcomes occur.</a:t>
            </a:r>
          </a:p>
          <a:p xmlns:a="http://schemas.openxmlformats.org/drawingml/2006/main">
            <a:r>
              <a:t>This also explains why I begin with Paper 1.</a:t>
            </a:r>
          </a:p>
          <a:p xmlns:a="http://schemas.openxmlformats.org/drawingml/2006/main">
            <a:r>
              <a:t>If the evidence-to-belief mapping is already reshaped by answer-first AI, later reliance and responsibility are built on that altered base.</a:t>
            </a:r>
          </a:p>
          <a:p xmlns:a="http://schemas.openxmlformats.org/drawingml/2006/main">
            <a:r>
              <a:t>So the first paper is the natural starting point for the dissertation's empirical analysis.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42776dcbc144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ed364b775e4326" /><Relationship Type="http://schemas.openxmlformats.org/officeDocument/2006/relationships/slideLayout" Target="/ppt/slideLayouts/slideLayout1.xml" Id="R72a9c4ba87fc4c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a9c4ba87fc4c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548335545a4439" /><Relationship Type="http://schemas.openxmlformats.org/officeDocument/2006/relationships/notesSlide" Target="/ppt/notesSlides/notesSlide1.xml" Id="R5e23b71ff1c243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a2253357d4157" /><Relationship Type="http://schemas.openxmlformats.org/officeDocument/2006/relationships/notesSlide" Target="/ppt/notesSlides/notesSlide2.xml" Id="R9bb221cc450941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ba3fbdb214c3d" /><Relationship Type="http://schemas.openxmlformats.org/officeDocument/2006/relationships/notesSlide" Target="/ppt/notesSlides/notesSlide3.xml" Id="R71466793a8be45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d6d7923a97497c" /><Relationship Type="http://schemas.openxmlformats.org/officeDocument/2006/relationships/notesSlide" Target="/ppt/notesSlides/notesSlide4.xml" Id="Rbd5bc82a97d243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9ce2f6d4f4ff4" /><Relationship Type="http://schemas.openxmlformats.org/officeDocument/2006/relationships/notesSlide" Target="/ppt/notesSlides/notesSlide5.xml" Id="Re7c6bef7466e4b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1d4748671841cf" /><Relationship Type="http://schemas.openxmlformats.org/officeDocument/2006/relationships/notesSlide" Target="/ppt/notesSlides/notesSlide6.xml" Id="Raeb7c8d5d45440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13d6239d0a4210" /><Relationship Type="http://schemas.openxmlformats.org/officeDocument/2006/relationships/notesSlide" Target="/ppt/notesSlides/notesSlide7.xml" Id="Rf0f73e801ea343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2caea203364931" /><Relationship Type="http://schemas.openxmlformats.org/officeDocument/2006/relationships/notesSlide" Target="/ppt/notesSlides/notesSlide8.xml" Id="R6963ba6955a545e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CC204B-3179-44D8-81E7-FEAB9CD5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44"/>
          </a:solidFill>
          <a:ln xmlns:a="http://schemas.openxmlformats.org/drawingml/2006/main" w="0">
            <a:solidFill>
              <a:srgbClr val="1F2A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737A29-86EF-4A74-8CA8-A69E3647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4062"/>
          </a:solidFill>
          <a:ln xmlns:a="http://schemas.openxmlformats.org/drawingml/2006/main" w="0">
            <a:solidFill>
              <a:srgbClr val="31406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D96497-882C-4AF6-8BA4-F01DE5F1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554"/>
          </a:solidFill>
          <a:ln xmlns:a="http://schemas.openxmlformats.org/drawingml/2006/main" w="0">
            <a:solidFill>
              <a:srgbClr val="27355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1DC890-D599-49A0-8FE6-67D1CCA3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EFDAA85-D395-4DE1-98D7-873FCD92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79C07FF-7E19-4104-BF41-50865A70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rPr>
              <a:t>DOCTORAL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7CFF7-BFDF-478D-B3F2-B4058F0F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23950"/>
            <a:ext cx="6096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The Puzzle That Motivates the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CA5DD-ABAC-468E-8D1E-A5AFDD41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5905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8DDE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D8DDE7"/>
                </a:solidFill>
                <a:latin typeface="Times New Roman"/>
                <a:ea typeface="Times New Roman"/>
                <a:cs typeface="Times New Roman"/>
              </a:rPr>
              <a:t>AI is entering more real decision settings, and the key question is how human judgment changes once AI becomes part of the decision 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FF7BC5-2FD6-4ACB-B366-05200135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rPr>
              <a:t>Xu | Doctoral Project Intro | July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B911F2-DFFC-4047-8D5E-1BF8C1E0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123950"/>
            <a:ext cx="304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654"/>
          </a:solidFill>
          <a:ln xmlns:a="http://schemas.openxmlformats.org/drawingml/2006/main" w="9525">
            <a:solidFill>
              <a:srgbClr val="43507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16E328-5B26-4BFC-9065-3C8A799D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12395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CDB497-1322-46F4-9FAB-49DCD4A5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27635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rPr>
              <a:t>REAL SETTINGS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054B6D-4CBC-4BA3-8748-198E3629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44780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Where AI is entering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3112DA-5C4B-40D6-B599-619F832B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88595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8DCE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D8DCE6"/>
                </a:solidFill>
                <a:latin typeface="Times New Roman"/>
                <a:ea typeface="Times New Roman"/>
                <a:cs typeface="Times New Roman"/>
              </a:rPr>
              <a:t>Crisis judgment, organizational governance, public administration, healthcare, and other high-risk settings.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C76047-05A3-4996-9D4E-774241E0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52700"/>
            <a:ext cx="304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654"/>
          </a:solidFill>
          <a:ln xmlns:a="http://schemas.openxmlformats.org/drawingml/2006/main" w="9525">
            <a:solidFill>
              <a:srgbClr val="43507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88571E-12B6-45F9-9B1E-92DC7E5E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5270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B5516C-F448-49BC-8642-A0CFBC0B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0510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rPr>
              <a:t>WHAT CHANGES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2658D2-68D2-405C-B0A2-69AAFDD2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Embedded decision chains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5EF8D6-EA3D-48DE-8BC5-56DEFFEC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1470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8DCE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D8DCE6"/>
                </a:solidFill>
                <a:latin typeface="Times New Roman"/>
                <a:ea typeface="Times New Roman"/>
                <a:cs typeface="Times New Roman"/>
              </a:rPr>
              <a:t>AI is no longer only a lab system or a stand-alone tool. It is becoming part of real organizational and institutional processes.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35BD51-27D3-4547-A140-05BC1569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81450"/>
            <a:ext cx="304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654"/>
          </a:solidFill>
          <a:ln xmlns:a="http://schemas.openxmlformats.org/drawingml/2006/main" w="9525">
            <a:solidFill>
              <a:srgbClr val="43507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18C82F-B218-49F6-A5E6-74D3E21A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8145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14FFA7-7B17-4112-B63B-124E393E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3385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rPr>
              <a:t>WHY THIS MATTERS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431015-7C78-4200-AC34-8E97670A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30530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Why study the human side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64030D-34E5-4E98-BC05-4A8E687C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74345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8DCE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D8DCE6"/>
                </a:solidFill>
                <a:latin typeface="Times New Roman"/>
                <a:ea typeface="Times New Roman"/>
                <a:cs typeface="Times New Roman"/>
              </a:rPr>
              <a:t>Once AI enters consequential decision chains, we need to understand what happens to people as they interpret, rely on, and act with AI.</a:t>
            </a:r>
          </a:p>
        </p:txBody>
      </p:sp>
      <p:cxnSp>
        <p:nvCxnSpPr>
          <p:cNvPr id="79" name=""/>
          <p:cNvCxnSpPr>
            <a:stCxn xmlns:a="http://schemas.openxmlformats.org/drawingml/2006/main" id="10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9144000" y="2171700"/>
            <a:ext cx="571500" cy="381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89B4A"/>
            </a:solidFill>
            <a:prstDash val="solid"/>
            <a:headEnd type="arrow" w="med" len="med"/>
          </a:ln>
        </p:spPr>
      </p:cxnSp>
      <p:cxnSp>
        <p:nvCxnSpPr>
          <p:cNvPr id="80" name=""/>
          <p:cNvCxnSpPr>
            <a:stCxn xmlns:a="http://schemas.openxmlformats.org/drawingml/2006/main" id="15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9144000" y="3600450"/>
            <a:ext cx="571500" cy="381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89B4A"/>
            </a:solidFill>
            <a:prstDash val="solid"/>
            <a:head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9D0981-74B2-474B-BBC5-CDD361AA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D7DCE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D7DCE7"/>
                </a:solidFill>
                <a:latin typeface="Times New Roman"/>
                <a:ea typeface="Times New Roman"/>
                <a:cs typeface="Times New Roman"/>
              </a:rPr>
              <a:t>The dissertation starts from that broader shift.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617D40-2546-45E1-B5EF-1B71676B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C89B4A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7906033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A8DCD4-B3A9-43A9-9636-63016480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BE1FE3-3025-4189-ABD5-70DD71FE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EDE1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74B50C-AA6A-4AF1-918F-ABDC2835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4406DD-4C17-467F-A888-3DE46489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5ED8AC3-5B34-40FA-994E-891DCFBE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6634ED8-D3EA-49E9-BBEA-98737AC9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CURRENT RESEARCH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285B24-C435-404E-9859-EF3CBE34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666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Existing research usually asks three separate questions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340841-F33B-4F60-A7DB-4BD19550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B7F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7B7F88"/>
                </a:solidFill>
                <a:latin typeface="Times New Roman"/>
                <a:ea typeface="Times New Roman"/>
                <a:cs typeface="Times New Roman"/>
              </a:rPr>
              <a:t>Does AI improve judgment quality? Do people trust and rely on AI? How is responsibility assigned after AI-assisted decisions?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B1982E-BCBD-4F34-A9C2-610D8E43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38B511-A69D-4108-BA0E-1D6DCF4D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28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FACBB-8ECA-4AAE-A3E9-78952C39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38400"/>
            <a:ext cx="533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The first question is whether AI improves human judgment quality or performance.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F2EDA6-59F5-49AE-9B0B-AEBB4A6A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228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2D2272-86A5-48D4-8C1F-630C7A04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19450"/>
            <a:ext cx="533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The second is whether people trust, adopt, or rely on AI advice.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81E046-AA38-4284-AA6B-8F3E1B27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228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185529-8CB3-4DDC-9B83-0A823D3E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00500"/>
            <a:ext cx="533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The third is how responsibility should be allocated once AI is involved in decision-making.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A29D49-83B2-492F-9A36-C6988EAA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71700"/>
            <a:ext cx="34290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85C835-8862-466B-9549-8D694E0F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71700"/>
            <a:ext cx="571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91829A-5E76-48CB-B589-B3426000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24100"/>
            <a:ext cx="300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THREE STREAMS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840875-1A42-43C0-84C3-85E102E3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95550"/>
            <a:ext cx="300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What they ask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817304-94AA-4AD0-AB49-4B1F6555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62250"/>
            <a:ext cx="2476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94F557-BD78-4306-AF40-3364D71F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90825"/>
            <a:ext cx="2247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Judgment quality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5CF72C-0B05-4899-B130-DD62B7A4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52800"/>
            <a:ext cx="2476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9DDCB"/>
          </a:solidFill>
          <a:ln xmlns:a="http://schemas.openxmlformats.org/drawingml/2006/main" w="0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4C5ECB-3ADF-431F-8E94-99CDBACA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81375"/>
            <a:ext cx="2247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Trust / reliance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E9C01C-CA3E-42E3-BEA4-B1D27B43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43350"/>
            <a:ext cx="2476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E0D4"/>
          </a:solidFill>
          <a:ln xmlns:a="http://schemas.openxmlformats.org/drawingml/2006/main" w="0">
            <a:solidFill>
              <a:srgbClr val="E6E0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88EC10-EBD0-40A8-80FE-2A51AC9E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71925"/>
            <a:ext cx="2247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Responsibility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78FF79-CD46-45DB-98A3-BF020AAD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971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These questions are important, but they still tend to treat AI as an external tool.</a:t>
            </a:r>
          </a:p>
        </p:txBody>
      </p:sp>
    </p:spTree>
    <p:extLst>
      <p:ext uri="{BB962C8B-B14F-4D97-AF65-F5344CB8AC3E}">
        <p14:creationId xmlns:p14="http://schemas.microsoft.com/office/powerpoint/2010/main" val="2990278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BAA6DC-0A3F-4A0A-92B4-BA0F34D3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82403-E887-43FB-83EA-DB4457C8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EDE1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38DA2-B957-4A3C-82FD-2DE6CD4E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1D2913-3A1F-45AD-BFCB-4FF13DDB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0954E1A-7423-4892-8495-56FA1881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60E9CF0-3CE7-4F3E-866B-4A58DF7D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RESEARCH GAP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E459D-4D7E-4F6F-8463-4CCF3B6D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723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These literatures are important, but they still leave the process itself underexplained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047445-2287-4552-AFC7-2C7FF02F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B7F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7B7F88"/>
                </a:solidFill>
                <a:latin typeface="Times New Roman"/>
                <a:ea typeface="Times New Roman"/>
                <a:cs typeface="Times New Roman"/>
              </a:rPr>
              <a:t>They are analytically useful, but they rarely show how belief formation, reliance calibration, and responsibility unfold inside one connected decision process.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90A81-00FF-408D-875D-30888C78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BC392D-CC58-42B5-9FDE-337AF7F0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4076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321BBA-3882-466F-8589-8A07F624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5D0D9D-AA3A-49C9-BF32-0C10E99D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Decision quality / calibration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6AA9D4-3CF3-4FEB-964A-ACB91C9C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6700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Zhang et al., 2020; Ma et al., 2023; Vaccaro et al., 2024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CA554-105E-4B63-86E8-B06F9C83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365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Research here asks whether AI improves joint judgment quality and calibration.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395D2B-01BB-4540-AE2E-6CCD1532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43150"/>
            <a:ext cx="4076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899B27-3BC4-4B29-889D-AA7BA3A2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4315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BC0984-4EAE-4789-BFC6-FC920CD5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9555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Trust / reliance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73C395-EDFA-4ABF-8F2A-5ADEF5B0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66700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Lee &amp; See, 2004; Dietvorst et al., 2015; Logg et al., 2019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4CACEB-AC25-49ED-9971-D1A20F35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05150"/>
            <a:ext cx="365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This stream studies appropriate reliance, algorithm aversion, and algorithm appreciation.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EEE24A-54AC-4D04-BC9B-B45F95C7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4076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56CA49-7978-4E65-BCA5-5F3D91A2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FEDF29-299C-40D9-94C3-FEBC3C20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5290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Responsibility / ownership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56E2BB-D340-4117-9CCE-DF05C1C6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2435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Kirchkamp &amp; Strobel, 2019; Kobis et al., 2025; Chevrier &amp; Teixeira, 2024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9C7ECA-4258-4C86-981A-EBAF4839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0"/>
            <a:ext cx="365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This stream asks how responsibility is shared or reassigned after AI-assisted action.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D24D6A-FCD9-4551-8EBE-79CA4337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000500"/>
            <a:ext cx="4076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A4A393-3DFA-48AF-A635-0FFDFA91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00050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119CFB-0A1E-4FDA-92AC-B00D63CF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15290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What is still missing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3AB15C-07F1-476D-B2BA-A04344EF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32435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Kidd &amp; Birhane, 2023; Harvey &amp; Fischer, 1997; Lee &amp; See, 2004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3310E3-1BD9-411D-BFAA-BC0C2E6C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762500"/>
            <a:ext cx="365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What is still missing is a process-level account of how these stages connect.</a:t>
            </a:r>
          </a:p>
        </p:txBody>
      </p:sp>
    </p:spTree>
    <p:extLst>
      <p:ext uri="{BB962C8B-B14F-4D97-AF65-F5344CB8AC3E}">
        <p14:creationId xmlns:p14="http://schemas.microsoft.com/office/powerpoint/2010/main" val="16948842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B1EB7C-52B2-440D-9936-DCB450FE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A9D56D-D635-4A98-A6BA-E50774BC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EDE1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FF709-8614-4ABF-AAFE-878C7596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08123F-0F5A-4B2D-AA3B-0850D3E3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18C6C39-218E-4CD0-9844-4542C3B5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19417DA-8928-4764-984B-668CB0C9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WHY GENERATIVE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FF673A-CE72-4FCE-B814-A964A1A4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723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People increasingly treat AI as a source of judgment, not just a tool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12CCEA-62DD-4924-8AF7-A52200A2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B7F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7B7F88"/>
                </a:solidFill>
                <a:latin typeface="Times New Roman"/>
                <a:ea typeface="Times New Roman"/>
                <a:cs typeface="Times New Roman"/>
              </a:rPr>
              <a:t>In these interactions, AI does not simply give an answer. It shapes how people understand the problem itself.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567B5C-42FF-43B0-A315-32CD1B90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E46DA4-C44F-4A1F-B9E7-3EA74E5B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Using AI as a tool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136D5E-67A0-40D4-A787-4A1BA553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304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Using AI as a judgment source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AEE045-D2BA-4108-8F3D-881149D2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52700"/>
            <a:ext cx="304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B6CCEE-8000-426A-8EE9-025AD978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52700"/>
            <a:ext cx="57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4554DC-DAB8-4F96-9AF7-1A27045F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Search, calculate,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or automate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80291B-927A-4FC9-83D5-3EBA0ACF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304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E1BF14-0592-4A58-871B-18F2B967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57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72FC73-3F5D-4D9C-8F46-64B214DA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0045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Interpret the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result yourself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972AC8-B088-41FD-824E-071CCA15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05300"/>
            <a:ext cx="304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0EFD8D-5772-4946-83D3-1627ACE6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05300"/>
            <a:ext cx="57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60352C-DC15-41AB-A3D6-ADEF84B0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7675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The tool stays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outside the judgment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B21A67-A17E-4F25-B9B8-147C16DA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52700"/>
            <a:ext cx="342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A75357-147E-4EA8-8CAB-78AB5790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52700"/>
            <a:ext cx="57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FCD336-0E93-42B9-B4CB-460E250F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24150"/>
            <a:ext cx="300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Consult, discuss,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or confirm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13167C-4798-480B-9FA7-1C09B728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342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D7E310-2938-4CB1-982B-540B67A4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57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B1B8BD-E27B-40FD-BAFB-DCE5E52E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00450"/>
            <a:ext cx="300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Use AI to interpret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complex situations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206845-DFA2-4F1E-A49F-AD4053C9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05300"/>
            <a:ext cx="342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648FA0-C43E-48B4-8EC9-42F6E603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05300"/>
            <a:ext cx="57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18278E-E92B-406D-B9B6-93CBEA09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76750"/>
            <a:ext cx="300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Rely on its explanation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and framing</a:t>
            </a:r>
          </a:p>
        </p:txBody>
      </p:sp>
      <p:cxnSp>
        <p:nvCxnSpPr>
          <p:cNvPr id="101" name=""/>
          <p:cNvCxnSpPr>
            <a:stCxn xmlns:a="http://schemas.openxmlformats.org/drawingml/2006/main" id="12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2667000" y="318135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561"/>
            </a:solidFill>
            <a:prstDash val="solid"/>
            <a:headEnd type="arrow" w="med" len="med"/>
          </a:ln>
        </p:spPr>
      </p:cxnSp>
      <p:cxnSp>
        <p:nvCxnSpPr>
          <p:cNvPr id="102" name=""/>
          <p:cNvCxnSpPr>
            <a:stCxn xmlns:a="http://schemas.openxmlformats.org/drawingml/2006/main" id="15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2667000" y="405765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561"/>
            </a:solidFill>
            <a:prstDash val="solid"/>
            <a:headEnd type="arrow" w="med" len="med"/>
          </a:ln>
        </p:spPr>
      </p:cxnSp>
      <p:cxnSp>
        <p:nvCxnSpPr>
          <p:cNvPr id="103" name=""/>
          <p:cNvCxnSpPr>
            <a:stCxn xmlns:a="http://schemas.openxmlformats.org/drawingml/2006/main" id="21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8286750" y="318135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A3C"/>
            </a:solidFill>
            <a:prstDash val="solid"/>
            <a:headEnd type="arrow" w="med" len="med"/>
          </a:ln>
        </p:spPr>
      </p:cxnSp>
      <p:cxnSp>
        <p:nvCxnSpPr>
          <p:cNvPr id="104" name=""/>
          <p:cNvCxnSpPr>
            <a:stCxn xmlns:a="http://schemas.openxmlformats.org/drawingml/2006/main" id="24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8286750" y="405765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5A3C"/>
            </a:solidFill>
            <a:prstDash val="solid"/>
            <a:headEnd type="arrow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2425C9-BC31-4F0C-AD15-37C0C3E3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67050"/>
            <a:ext cx="17335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9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2B7927-93BC-410D-AC1C-E81F2F36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670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1A6C79-8FFC-4B4E-9806-A38849BD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19450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C89B4A"/>
                </a:solidFill>
                <a:latin typeface="Aptos"/>
                <a:ea typeface="Aptos"/>
                <a:cs typeface="Aptos"/>
              </a:rPr>
              <a:t>SHIFT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EC1616-2DE6-4617-A4D2-D8BD1920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90900"/>
            <a:ext cx="1314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From tool use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to judgment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interaction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89F1DC-ADED-4684-B76D-DF7A8EFB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More and more users do not use AI only to search, calculate, or automate. They consult it, discuss with it, confirm with it, and sometimes rely on it.</a:t>
            </a:r>
          </a:p>
        </p:txBody>
      </p:sp>
    </p:spTree>
    <p:extLst>
      <p:ext uri="{BB962C8B-B14F-4D97-AF65-F5344CB8AC3E}">
        <p14:creationId xmlns:p14="http://schemas.microsoft.com/office/powerpoint/2010/main" val="134629281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A8DCD4-B3A9-43A9-9636-63016480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BE1FE3-3025-4189-ABD5-70DD71FE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EDE1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74B50C-AA6A-4AF1-918F-ABDC2835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4406DD-4C17-467F-A888-3DE46489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5ED8AC3-5B34-40FA-994E-891DCFBE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6634ED8-D3EA-49E9-BBEA-98737AC9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WHY LLMs FEEL DIFFERENT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285B24-C435-404E-9859-EF3CBE34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666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Large language models change interaction through language, explanation, and narrative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340841-F33B-4F60-A7DB-4BD19550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B7F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7B7F88"/>
                </a:solidFill>
                <a:latin typeface="Times New Roman"/>
                <a:ea typeface="Times New Roman"/>
                <a:cs typeface="Times New Roman"/>
              </a:rPr>
              <a:t>Their Transformer architecture supports contextual integration, and later tuning makes them able to explain, respond, and interact continuously with users.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B1982E-BCBD-4F34-A9C2-610D8E43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38B511-A69D-4108-BA0E-1D6DCF4D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28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FACBB-8ECA-4AAE-A3E9-78952C39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38400"/>
            <a:ext cx="533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This means the difference is not only more accurate output.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F2EDA6-59F5-49AE-9B0B-AEBB4A6A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228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2D2272-86A5-48D4-8C1F-630C7A04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19450"/>
            <a:ext cx="533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The form of output and the mode of interaction also change.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81E046-AA38-4284-AA6B-8F3E1B27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228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185529-8CB3-4DDC-9B83-0A823D3E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00500"/>
            <a:ext cx="533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LLMs enter the cognitive process through natural language, explanation, and narrative framing.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A29D49-83B2-492F-9A36-C6988EAA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71700"/>
            <a:ext cx="34290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85C835-8862-466B-9549-8D694E0F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71700"/>
            <a:ext cx="571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91829A-5E76-48CB-B589-B3426000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24100"/>
            <a:ext cx="300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WHAT THIS ENABLES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840875-1A42-43C0-84C3-85E102E3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95550"/>
            <a:ext cx="300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Why it matters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817304-94AA-4AD0-AB49-4B1F6555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62250"/>
            <a:ext cx="2476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94F557-BD78-4306-AF40-3364D71F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90825"/>
            <a:ext cx="2247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Context integration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5CF72C-0B05-4899-B130-DD62B7A4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52800"/>
            <a:ext cx="2476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9DDCB"/>
          </a:solidFill>
          <a:ln xmlns:a="http://schemas.openxmlformats.org/drawingml/2006/main" w="0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4C5ECB-3ADF-431F-8E94-99CDBACA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81375"/>
            <a:ext cx="2247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Continuous explanation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E9C01C-CA3E-42E3-BEA4-B1D27B43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43350"/>
            <a:ext cx="2476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E0D4"/>
          </a:solidFill>
          <a:ln xmlns:a="http://schemas.openxmlformats.org/drawingml/2006/main" w="0">
            <a:solidFill>
              <a:srgbClr val="E6E0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88EC10-EBD0-40A8-80FE-2A51AC9E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71925"/>
            <a:ext cx="2247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Narrative influence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78FF79-CD46-45DB-98A3-BF020AAD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971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That is why people can be influenced not only by answers, but by the way answers are framed.</a:t>
            </a:r>
          </a:p>
        </p:txBody>
      </p:sp>
    </p:spTree>
    <p:extLst>
      <p:ext uri="{BB962C8B-B14F-4D97-AF65-F5344CB8AC3E}">
        <p14:creationId xmlns:p14="http://schemas.microsoft.com/office/powerpoint/2010/main" val="2990278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50B490-F503-4348-8B85-ABC6868B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CDD532-520B-4FA3-A150-B0726C45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EDE1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B2CFD-2CA2-49DC-ADC9-0EC550FC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E1879-730D-446E-A681-5200E119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F3E2A9B-A207-46C6-932C-1D7A34A7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5AD13DF-8328-4108-8536-78DE4AE0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SHARED PROCESS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BA439-45F1-4AC3-B4A6-912461C3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8191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The key question is how AI reorganizes the decision-making process itself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D7F08D-0A37-4E3E-8D4E-3B8CC885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B7F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7B7F88"/>
                </a:solidFill>
                <a:latin typeface="Times New Roman"/>
                <a:ea typeface="Times New Roman"/>
                <a:cs typeface="Times New Roman"/>
              </a:rPr>
              <a:t>Belief Formation -&gt; Risk Appraisal / Reliance Calibration -&gt; Responsibility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A54A5-6AE4-4CD9-BA49-9F6F2914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E05D0A-D15A-4B18-AE34-F4777E0F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31432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BBD551-3543-4A54-B6C7-8C10B1E1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571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B2FB1B-FAD5-44A7-9AA6-A9CA9D00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1935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STAGE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E7F4DF-FE0B-4EA2-A277-0769B4B8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9080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Belief formation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14F90E-477F-4FE3-8C31-2D9B560D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908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8A1044-8F37-43A7-9572-735DFDD1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718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information -&gt; belief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C2C7F7-C882-4711-ACB6-7412EA7D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766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E8E49D-6A06-4751-B27E-54A37664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576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How is information presented and interpreted before people form a judgment?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2D1B18-855A-44E7-8FC6-FF0F0FC7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8DBA94-3785-4DAC-ADEB-937FEC7D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434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AI can shape what feels sufficient, relevant, or already processed.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48094C-2003-4BEE-89F1-B0352219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This is where beliefs are formed.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5EBA97-5994-4F1D-91D2-354C1BFC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66950"/>
            <a:ext cx="31432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18CE64-4F1F-4917-9536-3A1F1007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66950"/>
            <a:ext cx="571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1F40BC-79C6-4E57-A66B-83E25CA1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1935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STAGE 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99F7CB-0813-4F95-96E3-B10C45B8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9080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Reliance /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F5312F-76D1-409A-8A01-64D2502B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908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EA1277-C91F-4AC7-A2F4-B08F55D1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718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belief / feedback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-&gt; action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8B8AC7-F07C-4D4C-AFB4-A301E55A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766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E1FD0A-02DD-412B-889B-C8E414F7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576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How are cognitive burden, risk perception, and action thresholds adjusted?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B11C56-1D95-471B-B830-3B030A0C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624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8B617C-0AEF-466A-A187-F61F883E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3434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People may rely, defer, or act differently once AI enters the process.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F4902D-7F0D-4B30-B813-392A5DE4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10150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This is where reliance and action are recalibrated.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6B56D3-4A38-4C8D-83BC-F2CD169B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66950"/>
            <a:ext cx="31432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4499CE-5F78-426B-8EC0-70A07C51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66950"/>
            <a:ext cx="571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BC5510-7182-4C6E-A31E-3CF4B88E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1935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STAGE 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E947F6-A9CD-425F-8C5E-7695ADE3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9080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Responsibility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C1D993-2EF9-48EE-B140-1CF4C38F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59BA36-73F0-4D88-AA45-B58BD5F9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718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action -&gt; consequence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CDBB11-5167-450A-A4DB-3D772240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766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300760-3BED-445F-A2B2-609BBD80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576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How are decision authority, ownership, and consequences understood after action?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62EBC5-E7B6-41D5-8F3C-74FC6940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624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DAD32CB-CB15-4A12-A134-64A2049F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434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AI can also reshape how responsibility is assigned once outcomes occur.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A99488E-876D-420E-B5B3-732150BB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010150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This is where responsibility is interpreted.</a:t>
            </a:r>
          </a:p>
        </p:txBody>
      </p:sp>
    </p:spTree>
    <p:extLst>
      <p:ext uri="{BB962C8B-B14F-4D97-AF65-F5344CB8AC3E}">
        <p14:creationId xmlns:p14="http://schemas.microsoft.com/office/powerpoint/2010/main" val="208279919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BAA6DC-0A3F-4A0A-92B4-BA0F34D3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82403-E887-43FB-83EA-DB4457C8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EDE1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38DA2-B957-4A3C-82FD-2DE6CD4E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1D2913-3A1F-45AD-BFCB-4FF13DDB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0954E1A-7423-4892-8495-56FA1881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60E9CF0-3CE7-4F3E-866B-4A58DF7D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DECISION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E459D-4D7E-4F6F-8463-4CCF3B6D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723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This dissertation narrows the broader problem into AI as decision 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047445-2287-4552-AFC7-2C7FF02F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B7F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7B7F88"/>
                </a:solidFill>
                <a:latin typeface="Times New Roman"/>
                <a:ea typeface="Times New Roman"/>
                <a:cs typeface="Times New Roman"/>
              </a:rPr>
              <a:t>Decision architecture is used here as an integrative framework, not as a fully settled theory.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90A81-00FF-408D-875D-30888C78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BC392D-CC58-42B5-9FDE-337AF7F0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4076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321BBA-3882-466F-8589-8A07F624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5D0D9D-AA3A-49C9-BF32-0C10E99D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INFORMATION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6AA9D4-3CF3-4FEB-964A-ACB91C9C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6700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What reaches the person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CA554-105E-4B63-86E8-B06F9C83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365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AI can reorder evidence, summary, explanation, and verification.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395D2B-01BB-4540-AE2E-6CCD1532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43150"/>
            <a:ext cx="4076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899B27-3BC4-4B29-889D-AA7BA3A2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4315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BC0984-4EAE-4789-BFC6-FC920CD5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9555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COGNITIVE BURDEN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73C395-EDFA-4ABF-8F2A-5ADEF5B0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66700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What must be processed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4CACEB-AC25-49ED-9971-D1A20F35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05150"/>
            <a:ext cx="365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It changes what people feel they need to inspect, infer, or own themselves.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EEE24A-54AC-4D04-BC9B-B45F95C7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4076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56CA49-7978-4E65-BCA5-5F3D91A2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FEDF29-299C-40D9-94C3-FEBC3C20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5290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ACTION THRESHOLDS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56E2BB-D340-4117-9CCE-DF05C1C6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2435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When action is triggered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9C7ECA-4258-4C86-981A-EBAF4839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0"/>
            <a:ext cx="365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It recalibrates reliance, delegation, and the point at which people act.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D24D6A-FCD9-4551-8EBE-79CA4337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000500"/>
            <a:ext cx="4076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A4A393-3DFA-48AF-A635-0FFDFA91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00050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119CFB-0A1E-4FDA-92AC-B00D63CF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15290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RESPONSIBILITY RELATIONS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3AB15C-07F1-476D-B2BA-A04344EF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32435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Who bears consequences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3310E3-1BD9-411D-BFAA-BC0C2E6C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762500"/>
            <a:ext cx="365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It reshapes ownership, accountability, and responsibility sharing after action.</a:t>
            </a:r>
          </a:p>
        </p:txBody>
      </p:sp>
    </p:spTree>
    <p:extLst>
      <p:ext uri="{BB962C8B-B14F-4D97-AF65-F5344CB8AC3E}">
        <p14:creationId xmlns:p14="http://schemas.microsoft.com/office/powerpoint/2010/main" val="16948842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BAA6DC-0A3F-4A0A-92B4-BA0F34D3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82403-E887-43FB-83EA-DB4457C8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EDE1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38DA2-B957-4A3C-82FD-2DE6CD4E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1D2913-3A1F-45AD-BFCB-4FF13DDB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0954E1A-7423-4892-8495-56FA1881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60E9CF0-3CE7-4F3E-866B-4A58DF7D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PAPER 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E459D-4D7E-4F6F-8463-4CCF3B6D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723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The three papers isolate different mappings within the same decision process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047445-2287-4552-AFC7-2C7FF02F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B7F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7B7F88"/>
                </a:solidFill>
                <a:latin typeface="Times New Roman"/>
                <a:ea typeface="Times New Roman"/>
                <a:cs typeface="Times New Roman"/>
              </a:rPr>
              <a:t>Unity comes from one process; independence comes from different mechanisms, tasks, and outcomes.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90A81-00FF-408D-875D-30888C78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BC392D-CC58-42B5-9FDE-337AF7F0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4076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321BBA-3882-466F-8589-8A07F624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5D0D9D-AA3A-49C9-BF32-0C10E99D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PAPER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6AA9D4-3CF3-4FEB-964A-ACB91C9C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6700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evidence -&gt; belief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CA554-105E-4B63-86E8-B06F9C83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365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How answer-first AI changes evidence search, Bayesian updating, and subjective mastery.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395D2B-01BB-4540-AE2E-6CCD1532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43150"/>
            <a:ext cx="4076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899B27-3BC4-4B29-889D-AA7BA3A2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4315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BC0984-4EAE-4789-BFC6-FC920CD5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9555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PAPER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73C395-EDFA-4ABF-8F2A-5ADEF5B0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66700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belief / feedback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-&gt; action threshold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4CACEB-AC25-49ED-9971-D1A20F35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05150"/>
            <a:ext cx="365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How early AI error recalibrates reliance under repeated feedback.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EEE24A-54AC-4D04-BC9B-B45F95C7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4076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56CA49-7978-4E65-BCA5-5F3D91A2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FEDF29-299C-40D9-94C3-FEBC3C20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5290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PAPER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56E2BB-D340-4117-9CCE-DF05C1C6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2435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action -&gt; responsibility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9C7ECA-4258-4C86-981A-EBAF4839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0"/>
            <a:ext cx="365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How AI-assisted action redistributes ownership and responsibility attribution.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D24D6A-FCD9-4551-8EBE-79CA4337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000500"/>
            <a:ext cx="4076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A4A393-3DFA-48AF-A635-0FFDFA91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00050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119CFB-0A1E-4FDA-92AC-B00D63CF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15290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NEXT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3AB15C-07F1-476D-B2BA-A04344EF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32435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Why begin with Paper 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3310E3-1BD9-411D-BFAA-BC0C2E6C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762500"/>
            <a:ext cx="365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Later reliance and responsibility rest on a belief base AI may already have reshaped.</a:t>
            </a:r>
          </a:p>
        </p:txBody>
      </p:sp>
    </p:spTree>
    <p:extLst>
      <p:ext uri="{BB962C8B-B14F-4D97-AF65-F5344CB8AC3E}">
        <p14:creationId xmlns:p14="http://schemas.microsoft.com/office/powerpoint/2010/main" val="1694884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2026-07-05T13:44:29.9700000Z</dcterms:created>
  <dcterms:modified xsi:type="dcterms:W3CDTF">2026-07-05T13:44:29.9700000Z</dcterms:modified>
</coreProperties>
</file>