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fb79f0a3984fcd" /><Relationship Type="http://schemas.openxmlformats.org/officeDocument/2006/relationships/extended-properties" Target="/docProps/app.xml" Id="R3bde4e84094440bb" /><Relationship Type="http://schemas.openxmlformats.org/officeDocument/2006/relationships/officeDocument" Target="/ppt/presentation.xml" Id="Rfbd6d504a2144197" /></Relationships>
</file>

<file path=ppt/presentation.xml><?xml version="1.0" encoding="utf-8"?>
<p:presentation xmlns:p="http://schemas.openxmlformats.org/presentationml/2006/main">
  <p:sldMasterIdLst>
    <p:sldMasterId xmlns:r="http://schemas.openxmlformats.org/officeDocument/2006/relationships" id="2147483648" r:id="Rc93da8a513cc466c"/>
  </p:sldMasterIdLst>
  <p:notesMasterIdLst>
    <p:notesMasterId xmlns:r="http://schemas.openxmlformats.org/officeDocument/2006/relationships" r:id="R9aefbf36b1f34632"/>
  </p:notesMasterIdLst>
  <p:sldIdLst>
    <p:sldId xmlns:r="http://schemas.openxmlformats.org/officeDocument/2006/relationships" id="256" r:id="R3b13c6bb3fa641a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ca6a65edba4685" /><Relationship Type="http://schemas.openxmlformats.org/officeDocument/2006/relationships/slideMaster" Target="/ppt/slideMasters/slideMaster1.xml" Id="Rc93da8a513cc466c" /><Relationship Type="http://schemas.openxmlformats.org/officeDocument/2006/relationships/notesMaster" Target="/ppt/notesMasters/notesMaster1.xml" Id="R9aefbf36b1f34632" /><Relationship Type="http://schemas.openxmlformats.org/officeDocument/2006/relationships/presProps" Target="/ppt/presProps.xml" Id="R5364c2dd2b534f02" /><Relationship Type="http://schemas.openxmlformats.org/officeDocument/2006/relationships/tableStyles" Target="/ppt/tableStyles.xml" Id="R74ee2f9072234bb5" /><Relationship Type="http://schemas.openxmlformats.org/officeDocument/2006/relationships/slide" Target="/ppt/slides/slide1.xml" Id="R3b13c6bb3fa641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a7a5810a5d49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4a1cf32b604fd9" /><Relationship Type="http://schemas.openxmlformats.org/officeDocument/2006/relationships/notesMaster" Target="/ppt/notesMasters/notesMaster1.xml" Id="Reeefed51171e47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first introduce the experiment at the level of the participant's actual screen, because the design is easier to understand once the task is concrete.</a:t>
            </a:r>
          </a:p>
          <a:p xmlns:a="http://schemas.openxmlformats.org/drawingml/2006/main">
            <a:r>
              <a:t>The task is like an abstract slot-machine or multi-channel allocation problem. Participants do not see a finance, medical, hiring, or market label. They see three abstract channels, alpha, beta, and gamma. In each round, they use recent payoff histories to allocate 100 points across the three channels.</a:t>
            </a:r>
          </a:p>
          <a:p xmlns:a="http://schemas.openxmlformats.org/drawingml/2006/main">
            <a:r>
              <a:t>The key is that the channels are not pure random draws. Their payoffs follow a noisy dynamic process, so history is informative but imperfect. This prevents the task from becoming either pure guessing or something participants can solve after a few rounds.</a:t>
            </a:r>
          </a:p>
          <a:p xmlns:a="http://schemas.openxmlformats.org/drawingml/2006/main">
            <a:r>
              <a:t>After participants make their own allocation, Agent-AI provides an alternative allocation for the same round. The participant then chooses whether to submit the self plan or the AI plan. After the round, the experiment shows full feedback: both the payoff of the chosen option and the counterfactual payoff of the unchosen option.</a:t>
            </a:r>
          </a:p>
          <a:p xmlns:a="http://schemas.openxmlformats.org/drawingml/2006/main">
            <a:r>
              <a:t>This loop repeats for about 20 rounds. The treatment does not change the basic interface. It changes the timing and clustering of AI errors, while keeping overall performance as comparable as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be60c3e4cf47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17f43d6e3d49d7" /><Relationship Type="http://schemas.openxmlformats.org/officeDocument/2006/relationships/slideLayout" Target="/ppt/slideLayouts/slideLayout1.xml" Id="R364fac737eea43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fac737eea43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34201f047e4eda" /><Relationship Type="http://schemas.openxmlformats.org/officeDocument/2006/relationships/notesSlide" Target="/ppt/notesSlides/notesSlide1.xml" Id="R20eaf016ebd24e6d"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CCDFDA-9709-4BAB-BCDC-80A8B9A03068}"/>
              </a:ext>
            </a:extLst>
          </p:cNvPr>
          <p:cNvSpPr>
            <a:spLocks xmlns:a="http://schemas.openxmlformats.org/drawingml/2006/main" noGrp="1"/>
          </p:cNvSpPr>
          <p:nvPr/>
        </p:nvSpPr>
        <p:spPr>
          <a:xfrm xmlns:a="http://schemas.openxmlformats.org/drawingml/2006/main">
            <a:off x="552450" y="457200"/>
            <a:ext cx="0" cy="5943600"/>
          </a:xfrm>
          <a:prstGeom xmlns:a="http://schemas.openxmlformats.org/drawingml/2006/main" prst="line">
            <a:avLst/>
          </a:prstGeom>
          <a:ln xmlns:a="http://schemas.openxmlformats.org/drawingml/2006/main" w="9525">
            <a:solidFill>
              <a:srgbClr val="D8CCBB"/>
            </a:solidFill>
            <a:prstDash val="solid"/>
          </a:ln>
        </p:spPr>
      </p:sp>
      <p:sp>
        <p:nvSpPr>
          <p:cNvPr id="2" name="">
            <a:extLst xmlns:a="http://schemas.openxmlformats.org/drawingml/2006/main">
              <a:ext uri="{FF2B5EF4-FFF2-40B4-BE49-F238E27FC236}">
                <a16:creationId xmlns:a16="http://schemas.microsoft.com/office/drawing/2014/main" id="{C2F01A94-0BE6-4494-AAB3-CCB02CC2497A}"/>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ellipse">
            <a:avLst/>
          </a:prstGeom>
          <a:solidFill xmlns:a="http://schemas.openxmlformats.org/drawingml/2006/main">
            <a:srgbClr val="B77845"/>
          </a:solidFill>
          <a:ln xmlns:a="http://schemas.openxmlformats.org/drawingml/2006/main" w="9525">
            <a:solidFill>
              <a:srgbClr val="B77845"/>
            </a:solidFill>
            <a:prstDash val="solid"/>
          </a:ln>
        </p:spPr>
      </p:sp>
      <p:sp>
        <p:nvSpPr>
          <p:cNvPr id="3" name="">
            <a:extLst xmlns:a="http://schemas.openxmlformats.org/drawingml/2006/main">
              <a:ext uri="{FF2B5EF4-FFF2-40B4-BE49-F238E27FC236}">
                <a16:creationId xmlns:a16="http://schemas.microsoft.com/office/drawing/2014/main" id="{F2317384-CC50-4D34-8370-5CC50476D481}"/>
              </a:ext>
            </a:extLst>
          </p:cNvPr>
          <p:cNvSpPr>
            <a:spLocks xmlns:a="http://schemas.openxmlformats.org/drawingml/2006/main" noGrp="1"/>
          </p:cNvSpPr>
          <p:nvPr/>
        </p:nvSpPr>
        <p:spPr>
          <a:xfrm xmlns:a="http://schemas.openxmlformats.org/drawingml/2006/main">
            <a:off x="12192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B77845"/>
                </a:solidFill>
                <a:latin typeface="Times New Roman"/>
                <a:ea typeface="Times New Roman"/>
                <a:cs typeface="Times New Roman"/>
              </a:defRPr>
            </a:pPr>
            <a:r>
              <a:rPr sz="900" b="1" i="0">
                <a:solidFill>
                  <a:srgbClr val="B77845"/>
                </a:solidFill>
                <a:latin typeface="Times New Roman"/>
                <a:ea typeface="Times New Roman"/>
                <a:cs typeface="Times New Roman"/>
              </a:rPr>
              <a:t>EXPERIMENTAL TASK</a:t>
            </a:r>
          </a:p>
        </p:txBody>
      </p:sp>
      <p:sp>
        <p:nvSpPr>
          <p:cNvPr id="4" name="">
            <a:extLst xmlns:a="http://schemas.openxmlformats.org/drawingml/2006/main">
              <a:ext uri="{FF2B5EF4-FFF2-40B4-BE49-F238E27FC236}">
                <a16:creationId xmlns:a16="http://schemas.microsoft.com/office/drawing/2014/main" id="{931632B8-37F7-437E-BF1E-6E7E3507C4B8}"/>
              </a:ext>
            </a:extLst>
          </p:cNvPr>
          <p:cNvSpPr>
            <a:spLocks xmlns:a="http://schemas.openxmlformats.org/drawingml/2006/main" noGrp="1"/>
          </p:cNvSpPr>
          <p:nvPr/>
        </p:nvSpPr>
        <p:spPr>
          <a:xfrm xmlns:a="http://schemas.openxmlformats.org/drawingml/2006/main">
            <a:off x="914400" y="95250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850" b="1" i="0">
                <a:solidFill>
                  <a:srgbClr val="231D17"/>
                </a:solidFill>
                <a:latin typeface="Times New Roman"/>
                <a:ea typeface="Times New Roman"/>
                <a:cs typeface="Times New Roman"/>
              </a:defRPr>
            </a:pPr>
            <a:r>
              <a:rPr sz="2850" b="1" i="0">
                <a:solidFill>
                  <a:srgbClr val="231D17"/>
                </a:solidFill>
                <a:latin typeface="Times New Roman"/>
                <a:ea typeface="Times New Roman"/>
                <a:cs typeface="Times New Roman"/>
              </a:rPr>
              <a:t>A Slot-Machine-Like Allocation Task</a:t>
            </a:r>
          </a:p>
        </p:txBody>
      </p:sp>
      <p:sp>
        <p:nvSpPr>
          <p:cNvPr id="5" name="">
            <a:extLst xmlns:a="http://schemas.openxmlformats.org/drawingml/2006/main">
              <a:ext uri="{FF2B5EF4-FFF2-40B4-BE49-F238E27FC236}">
                <a16:creationId xmlns:a16="http://schemas.microsoft.com/office/drawing/2014/main" id="{3576797D-BD2F-4A4F-8B07-A82696BC8E12}"/>
              </a:ext>
            </a:extLst>
          </p:cNvPr>
          <p:cNvSpPr>
            <a:spLocks xmlns:a="http://schemas.openxmlformats.org/drawingml/2006/main" noGrp="1"/>
          </p:cNvSpPr>
          <p:nvPr/>
        </p:nvSpPr>
        <p:spPr>
          <a:xfrm xmlns:a="http://schemas.openxmlformats.org/drawingml/2006/main">
            <a:off x="914400" y="1466850"/>
            <a:ext cx="971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64"/>
          </a:bodyPr>
          <a:lstStyle xmlns:a="http://schemas.openxmlformats.org/drawingml/2006/main"/>
          <a:p xmlns:a="http://schemas.openxmlformats.org/drawingml/2006/main">
            <a:pPr algn="l">
              <a:lnSpc>
                <a:spcPct val="104000"/>
              </a:lnSpc>
              <a:buNone/>
              <a:defRPr sz="1350" b="0" i="0">
                <a:solidFill>
                  <a:srgbClr val="6F665C"/>
                </a:solidFill>
                <a:latin typeface="Times New Roman"/>
                <a:ea typeface="Times New Roman"/>
                <a:cs typeface="Times New Roman"/>
              </a:defRPr>
            </a:pPr>
            <a:r>
              <a:rPr sz="1350" b="0" i="0">
                <a:solidFill>
                  <a:srgbClr val="6F665C"/>
                </a:solidFill>
                <a:latin typeface="Times New Roman"/>
                <a:ea typeface="Times New Roman"/>
                <a:cs typeface="Times New Roman"/>
              </a:rPr>
              <a:t>Participants repeatedly allocate 100 points across three abstract channels, then choose between their own allocation and Agent-AI's allocation.</a:t>
            </a:r>
          </a:p>
        </p:txBody>
      </p:sp>
      <p:sp>
        <p:nvSpPr>
          <p:cNvPr id="6" name="">
            <a:extLst xmlns:a="http://schemas.openxmlformats.org/drawingml/2006/main">
              <a:ext uri="{FF2B5EF4-FFF2-40B4-BE49-F238E27FC236}">
                <a16:creationId xmlns:a16="http://schemas.microsoft.com/office/drawing/2014/main" id="{0732BE53-69BF-43D6-9A35-5C55CF5965D3}"/>
              </a:ext>
            </a:extLst>
          </p:cNvPr>
          <p:cNvSpPr>
            <a:spLocks xmlns:a="http://schemas.openxmlformats.org/drawingml/2006/main" noGrp="1"/>
          </p:cNvSpPr>
          <p:nvPr/>
        </p:nvSpPr>
        <p:spPr>
          <a:xfrm xmlns:a="http://schemas.openxmlformats.org/drawingml/2006/main">
            <a:off x="914400" y="2057400"/>
            <a:ext cx="6858000" cy="3714750"/>
          </a:xfrm>
          <a:prstGeom xmlns:a="http://schemas.openxmlformats.org/drawingml/2006/main" prst="roundRect">
            <a:avLst>
              <a:gd name="adj" fmla="val 3077"/>
            </a:avLst>
          </a:prstGeom>
          <a:solidFill xmlns:a="http://schemas.openxmlformats.org/drawingml/2006/main">
            <a:srgbClr val="FBF7F0"/>
          </a:solidFill>
          <a:ln xmlns:a="http://schemas.openxmlformats.org/drawingml/2006/main" w="9525">
            <a:solidFill>
              <a:srgbClr val="D8CCBB"/>
            </a:solidFill>
            <a:prstDash val="solid"/>
          </a:ln>
        </p:spPr>
      </p:sp>
      <p:sp>
        <p:nvSpPr>
          <p:cNvPr id="7" name="">
            <a:extLst xmlns:a="http://schemas.openxmlformats.org/drawingml/2006/main">
              <a:ext uri="{FF2B5EF4-FFF2-40B4-BE49-F238E27FC236}">
                <a16:creationId xmlns:a16="http://schemas.microsoft.com/office/drawing/2014/main" id="{7BD1CB5C-180C-43E8-9687-F4678C65ED2D}"/>
              </a:ext>
            </a:extLst>
          </p:cNvPr>
          <p:cNvSpPr>
            <a:spLocks xmlns:a="http://schemas.openxmlformats.org/drawingml/2006/main" noGrp="1"/>
          </p:cNvSpPr>
          <p:nvPr/>
        </p:nvSpPr>
        <p:spPr>
          <a:xfrm xmlns:a="http://schemas.openxmlformats.org/drawingml/2006/main">
            <a:off x="1181100" y="22479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547"/>
          </a:bodyPr>
          <a:lstStyle xmlns:a="http://schemas.openxmlformats.org/drawingml/2006/main"/>
          <a:p xmlns:a="http://schemas.openxmlformats.org/drawingml/2006/main">
            <a:pPr algn="l">
              <a:lnSpc>
                <a:spcPct val="104000"/>
              </a:lnSpc>
              <a:buNone/>
              <a:defRPr sz="1725" b="1" i="0">
                <a:solidFill>
                  <a:srgbClr val="B77845"/>
                </a:solidFill>
                <a:latin typeface="Times New Roman"/>
                <a:ea typeface="Times New Roman"/>
                <a:cs typeface="Times New Roman"/>
              </a:defRPr>
            </a:pPr>
            <a:r>
              <a:rPr sz="1725" b="1" i="0">
                <a:solidFill>
                  <a:srgbClr val="B77845"/>
                </a:solidFill>
                <a:latin typeface="Times New Roman"/>
                <a:ea typeface="Times New Roman"/>
                <a:cs typeface="Times New Roman"/>
              </a:rPr>
              <a:t>Mock participant screen: Round t</a:t>
            </a:r>
          </a:p>
        </p:txBody>
      </p:sp>
      <p:sp>
        <p:nvSpPr>
          <p:cNvPr id="8" name="">
            <a:extLst xmlns:a="http://schemas.openxmlformats.org/drawingml/2006/main">
              <a:ext uri="{FF2B5EF4-FFF2-40B4-BE49-F238E27FC236}">
                <a16:creationId xmlns:a16="http://schemas.microsoft.com/office/drawing/2014/main" id="{DB46F0FA-DABF-45B3-B888-5B6458E60A14}"/>
              </a:ext>
            </a:extLst>
          </p:cNvPr>
          <p:cNvSpPr>
            <a:spLocks xmlns:a="http://schemas.openxmlformats.org/drawingml/2006/main" noGrp="1"/>
          </p:cNvSpPr>
          <p:nvPr/>
        </p:nvSpPr>
        <p:spPr>
          <a:xfrm xmlns:a="http://schemas.openxmlformats.org/drawingml/2006/main">
            <a:off x="5314950" y="22860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1050" b="1" i="0">
                <a:solidFill>
                  <a:srgbClr val="23384A"/>
                </a:solidFill>
                <a:latin typeface="Times New Roman"/>
                <a:ea typeface="Times New Roman"/>
                <a:cs typeface="Times New Roman"/>
              </a:defRPr>
            </a:pPr>
            <a:r>
              <a:rPr sz="1050" b="1" i="0">
                <a:solidFill>
                  <a:srgbClr val="23384A"/>
                </a:solidFill>
                <a:latin typeface="Times New Roman"/>
                <a:ea typeface="Times New Roman"/>
                <a:cs typeface="Times New Roman"/>
              </a:rPr>
              <a:t>No real-world label</a:t>
            </a:r>
          </a:p>
        </p:txBody>
      </p:sp>
      <p:sp>
        <p:nvSpPr>
          <p:cNvPr id="9" name="">
            <a:extLst xmlns:a="http://schemas.openxmlformats.org/drawingml/2006/main">
              <a:ext uri="{FF2B5EF4-FFF2-40B4-BE49-F238E27FC236}">
                <a16:creationId xmlns:a16="http://schemas.microsoft.com/office/drawing/2014/main" id="{4C0C4614-3676-4360-91D2-3D53EE370647}"/>
              </a:ext>
            </a:extLst>
          </p:cNvPr>
          <p:cNvSpPr>
            <a:spLocks xmlns:a="http://schemas.openxmlformats.org/drawingml/2006/main" noGrp="1"/>
          </p:cNvSpPr>
          <p:nvPr/>
        </p:nvSpPr>
        <p:spPr>
          <a:xfrm xmlns:a="http://schemas.openxmlformats.org/drawingml/2006/main">
            <a:off x="1200150" y="2686050"/>
            <a:ext cx="14859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CCBB"/>
            </a:solidFill>
            <a:prstDash val="solid"/>
          </a:ln>
        </p:spPr>
      </p:sp>
      <p:sp>
        <p:nvSpPr>
          <p:cNvPr id="10" name="">
            <a:extLst xmlns:a="http://schemas.openxmlformats.org/drawingml/2006/main">
              <a:ext uri="{FF2B5EF4-FFF2-40B4-BE49-F238E27FC236}">
                <a16:creationId xmlns:a16="http://schemas.microsoft.com/office/drawing/2014/main" id="{2FBF4DBF-9BA8-42EB-A536-B01AA9D85E35}"/>
              </a:ext>
            </a:extLst>
          </p:cNvPr>
          <p:cNvSpPr>
            <a:spLocks xmlns:a="http://schemas.openxmlformats.org/drawingml/2006/main" noGrp="1"/>
          </p:cNvSpPr>
          <p:nvPr/>
        </p:nvSpPr>
        <p:spPr>
          <a:xfrm xmlns:a="http://schemas.openxmlformats.org/drawingml/2006/main">
            <a:off x="1333500" y="2800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13"/>
          </a:bodyPr>
          <a:lstStyle xmlns:a="http://schemas.openxmlformats.org/drawingml/2006/main"/>
          <a:p xmlns:a="http://schemas.openxmlformats.org/drawingml/2006/main">
            <a:pPr algn="l">
              <a:lnSpc>
                <a:spcPct val="104000"/>
              </a:lnSpc>
              <a:buNone/>
              <a:defRPr sz="1650" b="1" i="0">
                <a:solidFill>
                  <a:srgbClr val="B77845"/>
                </a:solidFill>
                <a:latin typeface="Times New Roman"/>
                <a:ea typeface="Times New Roman"/>
                <a:cs typeface="Times New Roman"/>
              </a:defRPr>
            </a:pPr>
            <a:r>
              <a:rPr sz="1650" b="1" i="0">
                <a:solidFill>
                  <a:srgbClr val="B77845"/>
                </a:solidFill>
                <a:latin typeface="Times New Roman"/>
                <a:ea typeface="Times New Roman"/>
                <a:cs typeface="Times New Roman"/>
              </a:rPr>
              <a:t>α</a:t>
            </a:r>
          </a:p>
        </p:txBody>
      </p:sp>
      <p:sp>
        <p:nvSpPr>
          <p:cNvPr id="11" name="">
            <a:extLst xmlns:a="http://schemas.openxmlformats.org/drawingml/2006/main">
              <a:ext uri="{FF2B5EF4-FFF2-40B4-BE49-F238E27FC236}">
                <a16:creationId xmlns:a16="http://schemas.microsoft.com/office/drawing/2014/main" id="{50A057EA-8AE9-455B-812A-5B05DA036393}"/>
              </a:ext>
            </a:extLst>
          </p:cNvPr>
          <p:cNvSpPr>
            <a:spLocks xmlns:a="http://schemas.openxmlformats.org/drawingml/2006/main" noGrp="1"/>
          </p:cNvSpPr>
          <p:nvPr/>
        </p:nvSpPr>
        <p:spPr>
          <a:xfrm xmlns:a="http://schemas.openxmlformats.org/drawingml/2006/main">
            <a:off x="1866900" y="28384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825" b="0" i="0">
                <a:solidFill>
                  <a:srgbClr val="6F665C"/>
                </a:solidFill>
                <a:latin typeface="Times New Roman"/>
                <a:ea typeface="Times New Roman"/>
                <a:cs typeface="Times New Roman"/>
              </a:defRPr>
            </a:pPr>
            <a:r>
              <a:rPr sz="825" b="0" i="0">
                <a:solidFill>
                  <a:srgbClr val="6F665C"/>
                </a:solidFill>
                <a:latin typeface="Times New Roman"/>
                <a:ea typeface="Times New Roman"/>
                <a:cs typeface="Times New Roman"/>
              </a:rPr>
              <a:t>recent payoff</a:t>
            </a:r>
          </a:p>
        </p:txBody>
      </p:sp>
      <p:sp>
        <p:nvSpPr>
          <p:cNvPr id="12" name="">
            <a:extLst xmlns:a="http://schemas.openxmlformats.org/drawingml/2006/main">
              <a:ext uri="{FF2B5EF4-FFF2-40B4-BE49-F238E27FC236}">
                <a16:creationId xmlns:a16="http://schemas.microsoft.com/office/drawing/2014/main" id="{7DA19169-D8A1-45F5-8CAF-4AA4536D7BCD}"/>
              </a:ext>
            </a:extLst>
          </p:cNvPr>
          <p:cNvSpPr>
            <a:spLocks xmlns:a="http://schemas.openxmlformats.org/drawingml/2006/main" noGrp="1"/>
          </p:cNvSpPr>
          <p:nvPr/>
        </p:nvSpPr>
        <p:spPr>
          <a:xfrm xmlns:a="http://schemas.openxmlformats.org/drawingml/2006/main">
            <a:off x="1371600" y="3226320"/>
            <a:ext cx="76200" cy="259830"/>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13" name="">
            <a:extLst xmlns:a="http://schemas.openxmlformats.org/drawingml/2006/main">
              <a:ext uri="{FF2B5EF4-FFF2-40B4-BE49-F238E27FC236}">
                <a16:creationId xmlns:a16="http://schemas.microsoft.com/office/drawing/2014/main" id="{0EBCF0FC-37C9-483B-B853-BFD01C1F2A0E}"/>
              </a:ext>
            </a:extLst>
          </p:cNvPr>
          <p:cNvSpPr>
            <a:spLocks xmlns:a="http://schemas.openxmlformats.org/drawingml/2006/main" noGrp="1"/>
          </p:cNvSpPr>
          <p:nvPr/>
        </p:nvSpPr>
        <p:spPr>
          <a:xfrm xmlns:a="http://schemas.openxmlformats.org/drawingml/2006/main">
            <a:off x="1495425" y="3204460"/>
            <a:ext cx="76200" cy="281690"/>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14" name="">
            <a:extLst xmlns:a="http://schemas.openxmlformats.org/drawingml/2006/main">
              <a:ext uri="{FF2B5EF4-FFF2-40B4-BE49-F238E27FC236}">
                <a16:creationId xmlns:a16="http://schemas.microsoft.com/office/drawing/2014/main" id="{D0E56569-5DC3-48BD-A80F-8EFAFF1DD432}"/>
              </a:ext>
            </a:extLst>
          </p:cNvPr>
          <p:cNvSpPr>
            <a:spLocks xmlns:a="http://schemas.openxmlformats.org/drawingml/2006/main" noGrp="1"/>
          </p:cNvSpPr>
          <p:nvPr/>
        </p:nvSpPr>
        <p:spPr>
          <a:xfrm xmlns:a="http://schemas.openxmlformats.org/drawingml/2006/main">
            <a:off x="1619250" y="3178227"/>
            <a:ext cx="76200" cy="307923"/>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15" name="">
            <a:extLst xmlns:a="http://schemas.openxmlformats.org/drawingml/2006/main">
              <a:ext uri="{FF2B5EF4-FFF2-40B4-BE49-F238E27FC236}">
                <a16:creationId xmlns:a16="http://schemas.microsoft.com/office/drawing/2014/main" id="{289D4A82-1156-40D1-8191-CC243D39282E}"/>
              </a:ext>
            </a:extLst>
          </p:cNvPr>
          <p:cNvSpPr>
            <a:spLocks xmlns:a="http://schemas.openxmlformats.org/drawingml/2006/main" noGrp="1"/>
          </p:cNvSpPr>
          <p:nvPr/>
        </p:nvSpPr>
        <p:spPr>
          <a:xfrm xmlns:a="http://schemas.openxmlformats.org/drawingml/2006/main">
            <a:off x="1743075" y="3160739"/>
            <a:ext cx="76200" cy="325411"/>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16" name="">
            <a:extLst xmlns:a="http://schemas.openxmlformats.org/drawingml/2006/main">
              <a:ext uri="{FF2B5EF4-FFF2-40B4-BE49-F238E27FC236}">
                <a16:creationId xmlns:a16="http://schemas.microsoft.com/office/drawing/2014/main" id="{E32958B6-CB43-4212-AB75-DA0C02AFB930}"/>
              </a:ext>
            </a:extLst>
          </p:cNvPr>
          <p:cNvSpPr>
            <a:spLocks xmlns:a="http://schemas.openxmlformats.org/drawingml/2006/main" noGrp="1"/>
          </p:cNvSpPr>
          <p:nvPr/>
        </p:nvSpPr>
        <p:spPr>
          <a:xfrm xmlns:a="http://schemas.openxmlformats.org/drawingml/2006/main">
            <a:off x="1866900" y="3143250"/>
            <a:ext cx="76200" cy="342900"/>
          </a:xfrm>
          <a:prstGeom xmlns:a="http://schemas.openxmlformats.org/drawingml/2006/main" prst="rect">
            <a:avLst/>
          </a:prstGeom>
          <a:solidFill xmlns:a="http://schemas.openxmlformats.org/drawingml/2006/main">
            <a:srgbClr val="B77845"/>
          </a:solidFill>
          <a:ln xmlns:a="http://schemas.openxmlformats.org/drawingml/2006/main" w="0">
            <a:solidFill>
              <a:srgbClr val="B77845"/>
            </a:solidFill>
            <a:prstDash val="solid"/>
          </a:ln>
        </p:spPr>
      </p:sp>
      <p:sp>
        <p:nvSpPr>
          <p:cNvPr id="17" name="">
            <a:extLst xmlns:a="http://schemas.openxmlformats.org/drawingml/2006/main">
              <a:ext uri="{FF2B5EF4-FFF2-40B4-BE49-F238E27FC236}">
                <a16:creationId xmlns:a16="http://schemas.microsoft.com/office/drawing/2014/main" id="{0EEA4DBD-1143-4BF8-B03E-77A4CBE944B5}"/>
              </a:ext>
            </a:extLst>
          </p:cNvPr>
          <p:cNvSpPr>
            <a:spLocks xmlns:a="http://schemas.openxmlformats.org/drawingml/2006/main" noGrp="1"/>
          </p:cNvSpPr>
          <p:nvPr/>
        </p:nvSpPr>
        <p:spPr>
          <a:xfrm xmlns:a="http://schemas.openxmlformats.org/drawingml/2006/main">
            <a:off x="1371600" y="3467100"/>
            <a:ext cx="1143000" cy="114300"/>
          </a:xfrm>
          <a:prstGeom xmlns:a="http://schemas.openxmlformats.org/drawingml/2006/main" prst="roundRect">
            <a:avLst>
              <a:gd name="adj" fmla="val 16667"/>
            </a:avLst>
          </a:prstGeom>
          <a:solidFill xmlns:a="http://schemas.openxmlformats.org/drawingml/2006/main">
            <a:srgbClr val="EFE6D8"/>
          </a:solidFill>
          <a:ln xmlns:a="http://schemas.openxmlformats.org/drawingml/2006/main" w="0">
            <a:solidFill>
              <a:srgbClr val="EFE6D8"/>
            </a:solidFill>
            <a:prstDash val="solid"/>
          </a:ln>
        </p:spPr>
      </p:sp>
      <p:sp>
        <p:nvSpPr>
          <p:cNvPr id="18" name="">
            <a:extLst xmlns:a="http://schemas.openxmlformats.org/drawingml/2006/main">
              <a:ext uri="{FF2B5EF4-FFF2-40B4-BE49-F238E27FC236}">
                <a16:creationId xmlns:a16="http://schemas.microsoft.com/office/drawing/2014/main" id="{0AB0BC54-B87B-4941-85B3-28A09D9DCCFA}"/>
              </a:ext>
            </a:extLst>
          </p:cNvPr>
          <p:cNvSpPr>
            <a:spLocks xmlns:a="http://schemas.openxmlformats.org/drawingml/2006/main" noGrp="1"/>
          </p:cNvSpPr>
          <p:nvPr/>
        </p:nvSpPr>
        <p:spPr>
          <a:xfrm xmlns:a="http://schemas.openxmlformats.org/drawingml/2006/main">
            <a:off x="1371600" y="3467100"/>
            <a:ext cx="457200" cy="114300"/>
          </a:xfrm>
          <a:prstGeom xmlns:a="http://schemas.openxmlformats.org/drawingml/2006/main" prst="roundRect">
            <a:avLst>
              <a:gd name="adj" fmla="val 16667"/>
            </a:avLst>
          </a:prstGeom>
          <a:solidFill xmlns:a="http://schemas.openxmlformats.org/drawingml/2006/main">
            <a:srgbClr val="B77845"/>
          </a:solidFill>
          <a:ln xmlns:a="http://schemas.openxmlformats.org/drawingml/2006/main" w="0">
            <a:solidFill>
              <a:srgbClr val="B77845"/>
            </a:solidFill>
            <a:prstDash val="solid"/>
          </a:ln>
        </p:spPr>
      </p:sp>
      <p:sp>
        <p:nvSpPr>
          <p:cNvPr id="19" name="">
            <a:extLst xmlns:a="http://schemas.openxmlformats.org/drawingml/2006/main">
              <a:ext uri="{FF2B5EF4-FFF2-40B4-BE49-F238E27FC236}">
                <a16:creationId xmlns:a16="http://schemas.microsoft.com/office/drawing/2014/main" id="{4D0E9E3A-64AF-407F-8C3E-901881A73D8D}"/>
              </a:ext>
            </a:extLst>
          </p:cNvPr>
          <p:cNvSpPr>
            <a:spLocks xmlns:a="http://schemas.openxmlformats.org/drawingml/2006/main" noGrp="1"/>
          </p:cNvSpPr>
          <p:nvPr/>
        </p:nvSpPr>
        <p:spPr>
          <a:xfrm xmlns:a="http://schemas.openxmlformats.org/drawingml/2006/main">
            <a:off x="1371600" y="3619500"/>
            <a:ext cx="1143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83"/>
          </a:bodyPr>
          <a:lstStyle xmlns:a="http://schemas.openxmlformats.org/drawingml/2006/main"/>
          <a:p xmlns:a="http://schemas.openxmlformats.org/drawingml/2006/main">
            <a:pPr algn="ctr">
              <a:lnSpc>
                <a:spcPct val="104000"/>
              </a:lnSpc>
              <a:buNone/>
              <a:defRPr sz="900" b="1" i="0">
                <a:solidFill>
                  <a:srgbClr val="231D17"/>
                </a:solidFill>
                <a:latin typeface="Times New Roman"/>
                <a:ea typeface="Times New Roman"/>
                <a:cs typeface="Times New Roman"/>
              </a:defRPr>
            </a:pPr>
            <a:r>
              <a:rPr sz="900" b="1" i="0">
                <a:solidFill>
                  <a:srgbClr val="231D17"/>
                </a:solidFill>
                <a:latin typeface="Times New Roman"/>
                <a:ea typeface="Times New Roman"/>
                <a:cs typeface="Times New Roman"/>
              </a:rPr>
              <a:t>40 points</a:t>
            </a:r>
          </a:p>
        </p:txBody>
      </p:sp>
      <p:sp>
        <p:nvSpPr>
          <p:cNvPr id="20" name="">
            <a:extLst xmlns:a="http://schemas.openxmlformats.org/drawingml/2006/main">
              <a:ext uri="{FF2B5EF4-FFF2-40B4-BE49-F238E27FC236}">
                <a16:creationId xmlns:a16="http://schemas.microsoft.com/office/drawing/2014/main" id="{142307ED-BC8F-44B0-9845-19C41C3C25E2}"/>
              </a:ext>
            </a:extLst>
          </p:cNvPr>
          <p:cNvSpPr>
            <a:spLocks xmlns:a="http://schemas.openxmlformats.org/drawingml/2006/main" noGrp="1"/>
          </p:cNvSpPr>
          <p:nvPr/>
        </p:nvSpPr>
        <p:spPr>
          <a:xfrm xmlns:a="http://schemas.openxmlformats.org/drawingml/2006/main">
            <a:off x="2876550" y="2686050"/>
            <a:ext cx="14859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CCBB"/>
            </a:solidFill>
            <a:prstDash val="solid"/>
          </a:ln>
        </p:spPr>
      </p:sp>
      <p:sp>
        <p:nvSpPr>
          <p:cNvPr id="21" name="">
            <a:extLst xmlns:a="http://schemas.openxmlformats.org/drawingml/2006/main">
              <a:ext uri="{FF2B5EF4-FFF2-40B4-BE49-F238E27FC236}">
                <a16:creationId xmlns:a16="http://schemas.microsoft.com/office/drawing/2014/main" id="{3CF52889-AD1A-472F-ABB6-88141AEC44CA}"/>
              </a:ext>
            </a:extLst>
          </p:cNvPr>
          <p:cNvSpPr>
            <a:spLocks xmlns:a="http://schemas.openxmlformats.org/drawingml/2006/main" noGrp="1"/>
          </p:cNvSpPr>
          <p:nvPr/>
        </p:nvSpPr>
        <p:spPr>
          <a:xfrm xmlns:a="http://schemas.openxmlformats.org/drawingml/2006/main">
            <a:off x="3009900" y="2800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13"/>
          </a:bodyPr>
          <a:lstStyle xmlns:a="http://schemas.openxmlformats.org/drawingml/2006/main"/>
          <a:p xmlns:a="http://schemas.openxmlformats.org/drawingml/2006/main">
            <a:pPr algn="l">
              <a:lnSpc>
                <a:spcPct val="104000"/>
              </a:lnSpc>
              <a:buNone/>
              <a:defRPr sz="1650" b="1" i="0">
                <a:solidFill>
                  <a:srgbClr val="818A68"/>
                </a:solidFill>
                <a:latin typeface="Times New Roman"/>
                <a:ea typeface="Times New Roman"/>
                <a:cs typeface="Times New Roman"/>
              </a:defRPr>
            </a:pPr>
            <a:r>
              <a:rPr sz="1650" b="1" i="0">
                <a:solidFill>
                  <a:srgbClr val="818A68"/>
                </a:solidFill>
                <a:latin typeface="Times New Roman"/>
                <a:ea typeface="Times New Roman"/>
                <a:cs typeface="Times New Roman"/>
              </a:rPr>
              <a:t>β</a:t>
            </a:r>
          </a:p>
        </p:txBody>
      </p:sp>
      <p:sp>
        <p:nvSpPr>
          <p:cNvPr id="22" name="">
            <a:extLst xmlns:a="http://schemas.openxmlformats.org/drawingml/2006/main">
              <a:ext uri="{FF2B5EF4-FFF2-40B4-BE49-F238E27FC236}">
                <a16:creationId xmlns:a16="http://schemas.microsoft.com/office/drawing/2014/main" id="{C3768AF7-2797-401F-B1A1-110696C04F65}"/>
              </a:ext>
            </a:extLst>
          </p:cNvPr>
          <p:cNvSpPr>
            <a:spLocks xmlns:a="http://schemas.openxmlformats.org/drawingml/2006/main" noGrp="1"/>
          </p:cNvSpPr>
          <p:nvPr/>
        </p:nvSpPr>
        <p:spPr>
          <a:xfrm xmlns:a="http://schemas.openxmlformats.org/drawingml/2006/main">
            <a:off x="3543300" y="28384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825" b="0" i="0">
                <a:solidFill>
                  <a:srgbClr val="6F665C"/>
                </a:solidFill>
                <a:latin typeface="Times New Roman"/>
                <a:ea typeface="Times New Roman"/>
                <a:cs typeface="Times New Roman"/>
              </a:defRPr>
            </a:pPr>
            <a:r>
              <a:rPr sz="825" b="0" i="0">
                <a:solidFill>
                  <a:srgbClr val="6F665C"/>
                </a:solidFill>
                <a:latin typeface="Times New Roman"/>
                <a:ea typeface="Times New Roman"/>
                <a:cs typeface="Times New Roman"/>
              </a:rPr>
              <a:t>recent payoff</a:t>
            </a:r>
          </a:p>
        </p:txBody>
      </p:sp>
      <p:sp>
        <p:nvSpPr>
          <p:cNvPr id="23" name="">
            <a:extLst xmlns:a="http://schemas.openxmlformats.org/drawingml/2006/main">
              <a:ext uri="{FF2B5EF4-FFF2-40B4-BE49-F238E27FC236}">
                <a16:creationId xmlns:a16="http://schemas.microsoft.com/office/drawing/2014/main" id="{6137B22D-6066-45AC-B2FE-7FCF783FF542}"/>
              </a:ext>
            </a:extLst>
          </p:cNvPr>
          <p:cNvSpPr>
            <a:spLocks xmlns:a="http://schemas.openxmlformats.org/drawingml/2006/main" noGrp="1"/>
          </p:cNvSpPr>
          <p:nvPr/>
        </p:nvSpPr>
        <p:spPr>
          <a:xfrm xmlns:a="http://schemas.openxmlformats.org/drawingml/2006/main">
            <a:off x="3048000" y="3143250"/>
            <a:ext cx="76200" cy="342900"/>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24" name="">
            <a:extLst xmlns:a="http://schemas.openxmlformats.org/drawingml/2006/main">
              <a:ext uri="{FF2B5EF4-FFF2-40B4-BE49-F238E27FC236}">
                <a16:creationId xmlns:a16="http://schemas.microsoft.com/office/drawing/2014/main" id="{62DF6EEA-4B5F-44BF-88B8-EA8A713B62F6}"/>
              </a:ext>
            </a:extLst>
          </p:cNvPr>
          <p:cNvSpPr>
            <a:spLocks xmlns:a="http://schemas.openxmlformats.org/drawingml/2006/main" noGrp="1"/>
          </p:cNvSpPr>
          <p:nvPr/>
        </p:nvSpPr>
        <p:spPr>
          <a:xfrm xmlns:a="http://schemas.openxmlformats.org/drawingml/2006/main">
            <a:off x="3171825" y="3153918"/>
            <a:ext cx="76200" cy="332232"/>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25" name="">
            <a:extLst xmlns:a="http://schemas.openxmlformats.org/drawingml/2006/main">
              <a:ext uri="{FF2B5EF4-FFF2-40B4-BE49-F238E27FC236}">
                <a16:creationId xmlns:a16="http://schemas.microsoft.com/office/drawing/2014/main" id="{3BBE7809-6FCB-46D4-B08F-D3926D9978A9}"/>
              </a:ext>
            </a:extLst>
          </p:cNvPr>
          <p:cNvSpPr>
            <a:spLocks xmlns:a="http://schemas.openxmlformats.org/drawingml/2006/main" noGrp="1"/>
          </p:cNvSpPr>
          <p:nvPr/>
        </p:nvSpPr>
        <p:spPr>
          <a:xfrm xmlns:a="http://schemas.openxmlformats.org/drawingml/2006/main">
            <a:off x="3295650" y="3168142"/>
            <a:ext cx="76200" cy="318008"/>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26" name="">
            <a:extLst xmlns:a="http://schemas.openxmlformats.org/drawingml/2006/main">
              <a:ext uri="{FF2B5EF4-FFF2-40B4-BE49-F238E27FC236}">
                <a16:creationId xmlns:a16="http://schemas.microsoft.com/office/drawing/2014/main" id="{6C473DDF-4903-4684-83F4-6DB3F3FC82FD}"/>
              </a:ext>
            </a:extLst>
          </p:cNvPr>
          <p:cNvSpPr>
            <a:spLocks xmlns:a="http://schemas.openxmlformats.org/drawingml/2006/main" noGrp="1"/>
          </p:cNvSpPr>
          <p:nvPr/>
        </p:nvSpPr>
        <p:spPr>
          <a:xfrm xmlns:a="http://schemas.openxmlformats.org/drawingml/2006/main">
            <a:off x="3419475" y="3185922"/>
            <a:ext cx="76200" cy="300228"/>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27" name="">
            <a:extLst xmlns:a="http://schemas.openxmlformats.org/drawingml/2006/main">
              <a:ext uri="{FF2B5EF4-FFF2-40B4-BE49-F238E27FC236}">
                <a16:creationId xmlns:a16="http://schemas.microsoft.com/office/drawing/2014/main" id="{6BBC47EB-B032-41ED-978A-7013590E4B21}"/>
              </a:ext>
            </a:extLst>
          </p:cNvPr>
          <p:cNvSpPr>
            <a:spLocks xmlns:a="http://schemas.openxmlformats.org/drawingml/2006/main" noGrp="1"/>
          </p:cNvSpPr>
          <p:nvPr/>
        </p:nvSpPr>
        <p:spPr>
          <a:xfrm xmlns:a="http://schemas.openxmlformats.org/drawingml/2006/main">
            <a:off x="3543300" y="3200146"/>
            <a:ext cx="76200" cy="286004"/>
          </a:xfrm>
          <a:prstGeom xmlns:a="http://schemas.openxmlformats.org/drawingml/2006/main" prst="rect">
            <a:avLst/>
          </a:prstGeom>
          <a:solidFill xmlns:a="http://schemas.openxmlformats.org/drawingml/2006/main">
            <a:srgbClr val="818A68"/>
          </a:solidFill>
          <a:ln xmlns:a="http://schemas.openxmlformats.org/drawingml/2006/main" w="0">
            <a:solidFill>
              <a:srgbClr val="818A68"/>
            </a:solidFill>
            <a:prstDash val="solid"/>
          </a:ln>
        </p:spPr>
      </p:sp>
      <p:sp>
        <p:nvSpPr>
          <p:cNvPr id="28" name="">
            <a:extLst xmlns:a="http://schemas.openxmlformats.org/drawingml/2006/main">
              <a:ext uri="{FF2B5EF4-FFF2-40B4-BE49-F238E27FC236}">
                <a16:creationId xmlns:a16="http://schemas.microsoft.com/office/drawing/2014/main" id="{37B1A32E-60A9-40A8-9D93-268E8147B153}"/>
              </a:ext>
            </a:extLst>
          </p:cNvPr>
          <p:cNvSpPr>
            <a:spLocks xmlns:a="http://schemas.openxmlformats.org/drawingml/2006/main" noGrp="1"/>
          </p:cNvSpPr>
          <p:nvPr/>
        </p:nvSpPr>
        <p:spPr>
          <a:xfrm xmlns:a="http://schemas.openxmlformats.org/drawingml/2006/main">
            <a:off x="3048000" y="3467100"/>
            <a:ext cx="1143000" cy="114300"/>
          </a:xfrm>
          <a:prstGeom xmlns:a="http://schemas.openxmlformats.org/drawingml/2006/main" prst="roundRect">
            <a:avLst>
              <a:gd name="adj" fmla="val 16667"/>
            </a:avLst>
          </a:prstGeom>
          <a:solidFill xmlns:a="http://schemas.openxmlformats.org/drawingml/2006/main">
            <a:srgbClr val="EFE6D8"/>
          </a:solidFill>
          <a:ln xmlns:a="http://schemas.openxmlformats.org/drawingml/2006/main" w="0">
            <a:solidFill>
              <a:srgbClr val="EFE6D8"/>
            </a:solidFill>
            <a:prstDash val="solid"/>
          </a:ln>
        </p:spPr>
      </p:sp>
      <p:sp>
        <p:nvSpPr>
          <p:cNvPr id="29" name="">
            <a:extLst xmlns:a="http://schemas.openxmlformats.org/drawingml/2006/main">
              <a:ext uri="{FF2B5EF4-FFF2-40B4-BE49-F238E27FC236}">
                <a16:creationId xmlns:a16="http://schemas.microsoft.com/office/drawing/2014/main" id="{209827FE-4C42-4106-8999-CEFC67CB84DA}"/>
              </a:ext>
            </a:extLst>
          </p:cNvPr>
          <p:cNvSpPr>
            <a:spLocks xmlns:a="http://schemas.openxmlformats.org/drawingml/2006/main" noGrp="1"/>
          </p:cNvSpPr>
          <p:nvPr/>
        </p:nvSpPr>
        <p:spPr>
          <a:xfrm xmlns:a="http://schemas.openxmlformats.org/drawingml/2006/main">
            <a:off x="3048000" y="3467100"/>
            <a:ext cx="400050" cy="114300"/>
          </a:xfrm>
          <a:prstGeom xmlns:a="http://schemas.openxmlformats.org/drawingml/2006/main" prst="roundRect">
            <a:avLst>
              <a:gd name="adj" fmla="val 16667"/>
            </a:avLst>
          </a:prstGeom>
          <a:solidFill xmlns:a="http://schemas.openxmlformats.org/drawingml/2006/main">
            <a:srgbClr val="818A68"/>
          </a:solidFill>
          <a:ln xmlns:a="http://schemas.openxmlformats.org/drawingml/2006/main" w="0">
            <a:solidFill>
              <a:srgbClr val="818A68"/>
            </a:solidFill>
            <a:prstDash val="solid"/>
          </a:ln>
        </p:spPr>
      </p:sp>
      <p:sp>
        <p:nvSpPr>
          <p:cNvPr id="30" name="">
            <a:extLst xmlns:a="http://schemas.openxmlformats.org/drawingml/2006/main">
              <a:ext uri="{FF2B5EF4-FFF2-40B4-BE49-F238E27FC236}">
                <a16:creationId xmlns:a16="http://schemas.microsoft.com/office/drawing/2014/main" id="{413C7746-0F78-4F2A-8F3F-5082DC4C46BE}"/>
              </a:ext>
            </a:extLst>
          </p:cNvPr>
          <p:cNvSpPr>
            <a:spLocks xmlns:a="http://schemas.openxmlformats.org/drawingml/2006/main" noGrp="1"/>
          </p:cNvSpPr>
          <p:nvPr/>
        </p:nvSpPr>
        <p:spPr>
          <a:xfrm xmlns:a="http://schemas.openxmlformats.org/drawingml/2006/main">
            <a:off x="3048000" y="3619500"/>
            <a:ext cx="1143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83"/>
          </a:bodyPr>
          <a:lstStyle xmlns:a="http://schemas.openxmlformats.org/drawingml/2006/main"/>
          <a:p xmlns:a="http://schemas.openxmlformats.org/drawingml/2006/main">
            <a:pPr algn="ctr">
              <a:lnSpc>
                <a:spcPct val="104000"/>
              </a:lnSpc>
              <a:buNone/>
              <a:defRPr sz="900" b="1" i="0">
                <a:solidFill>
                  <a:srgbClr val="231D17"/>
                </a:solidFill>
                <a:latin typeface="Times New Roman"/>
                <a:ea typeface="Times New Roman"/>
                <a:cs typeface="Times New Roman"/>
              </a:defRPr>
            </a:pPr>
            <a:r>
              <a:rPr sz="900" b="1" i="0">
                <a:solidFill>
                  <a:srgbClr val="231D17"/>
                </a:solidFill>
                <a:latin typeface="Times New Roman"/>
                <a:ea typeface="Times New Roman"/>
                <a:cs typeface="Times New Roman"/>
              </a:rPr>
              <a:t>35 points</a:t>
            </a:r>
          </a:p>
        </p:txBody>
      </p:sp>
      <p:sp>
        <p:nvSpPr>
          <p:cNvPr id="31" name="">
            <a:extLst xmlns:a="http://schemas.openxmlformats.org/drawingml/2006/main">
              <a:ext uri="{FF2B5EF4-FFF2-40B4-BE49-F238E27FC236}">
                <a16:creationId xmlns:a16="http://schemas.microsoft.com/office/drawing/2014/main" id="{929CF235-1D7B-464E-A66B-A66426F14ABD}"/>
              </a:ext>
            </a:extLst>
          </p:cNvPr>
          <p:cNvSpPr>
            <a:spLocks xmlns:a="http://schemas.openxmlformats.org/drawingml/2006/main" noGrp="1"/>
          </p:cNvSpPr>
          <p:nvPr/>
        </p:nvSpPr>
        <p:spPr>
          <a:xfrm xmlns:a="http://schemas.openxmlformats.org/drawingml/2006/main">
            <a:off x="4552950" y="2686050"/>
            <a:ext cx="14859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CCBB"/>
            </a:solidFill>
            <a:prstDash val="solid"/>
          </a:ln>
        </p:spPr>
      </p:sp>
      <p:sp>
        <p:nvSpPr>
          <p:cNvPr id="32" name="">
            <a:extLst xmlns:a="http://schemas.openxmlformats.org/drawingml/2006/main">
              <a:ext uri="{FF2B5EF4-FFF2-40B4-BE49-F238E27FC236}">
                <a16:creationId xmlns:a16="http://schemas.microsoft.com/office/drawing/2014/main" id="{636B8066-4B42-4415-A991-EFEF2F80950D}"/>
              </a:ext>
            </a:extLst>
          </p:cNvPr>
          <p:cNvSpPr>
            <a:spLocks xmlns:a="http://schemas.openxmlformats.org/drawingml/2006/main" noGrp="1"/>
          </p:cNvSpPr>
          <p:nvPr/>
        </p:nvSpPr>
        <p:spPr>
          <a:xfrm xmlns:a="http://schemas.openxmlformats.org/drawingml/2006/main">
            <a:off x="4686300" y="28003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13"/>
          </a:bodyPr>
          <a:lstStyle xmlns:a="http://schemas.openxmlformats.org/drawingml/2006/main"/>
          <a:p xmlns:a="http://schemas.openxmlformats.org/drawingml/2006/main">
            <a:pPr algn="l">
              <a:lnSpc>
                <a:spcPct val="104000"/>
              </a:lnSpc>
              <a:buNone/>
              <a:defRPr sz="1650" b="1" i="0">
                <a:solidFill>
                  <a:srgbClr val="23384A"/>
                </a:solidFill>
                <a:latin typeface="Times New Roman"/>
                <a:ea typeface="Times New Roman"/>
                <a:cs typeface="Times New Roman"/>
              </a:defRPr>
            </a:pPr>
            <a:r>
              <a:rPr sz="1650" b="1" i="0">
                <a:solidFill>
                  <a:srgbClr val="23384A"/>
                </a:solidFill>
                <a:latin typeface="Times New Roman"/>
                <a:ea typeface="Times New Roman"/>
                <a:cs typeface="Times New Roman"/>
              </a:rPr>
              <a:t>γ</a:t>
            </a:r>
          </a:p>
        </p:txBody>
      </p:sp>
      <p:sp>
        <p:nvSpPr>
          <p:cNvPr id="33" name="">
            <a:extLst xmlns:a="http://schemas.openxmlformats.org/drawingml/2006/main">
              <a:ext uri="{FF2B5EF4-FFF2-40B4-BE49-F238E27FC236}">
                <a16:creationId xmlns:a16="http://schemas.microsoft.com/office/drawing/2014/main" id="{96BDE804-24F3-4188-B84A-5D9E0963E68E}"/>
              </a:ext>
            </a:extLst>
          </p:cNvPr>
          <p:cNvSpPr>
            <a:spLocks xmlns:a="http://schemas.openxmlformats.org/drawingml/2006/main" noGrp="1"/>
          </p:cNvSpPr>
          <p:nvPr/>
        </p:nvSpPr>
        <p:spPr>
          <a:xfrm xmlns:a="http://schemas.openxmlformats.org/drawingml/2006/main">
            <a:off x="5219700" y="2838450"/>
            <a:ext cx="666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825" b="0" i="0">
                <a:solidFill>
                  <a:srgbClr val="6F665C"/>
                </a:solidFill>
                <a:latin typeface="Times New Roman"/>
                <a:ea typeface="Times New Roman"/>
                <a:cs typeface="Times New Roman"/>
              </a:defRPr>
            </a:pPr>
            <a:r>
              <a:rPr sz="825" b="0" i="0">
                <a:solidFill>
                  <a:srgbClr val="6F665C"/>
                </a:solidFill>
                <a:latin typeface="Times New Roman"/>
                <a:ea typeface="Times New Roman"/>
                <a:cs typeface="Times New Roman"/>
              </a:rPr>
              <a:t>recent payoff</a:t>
            </a:r>
          </a:p>
        </p:txBody>
      </p:sp>
      <p:sp>
        <p:nvSpPr>
          <p:cNvPr id="34" name="">
            <a:extLst xmlns:a="http://schemas.openxmlformats.org/drawingml/2006/main">
              <a:ext uri="{FF2B5EF4-FFF2-40B4-BE49-F238E27FC236}">
                <a16:creationId xmlns:a16="http://schemas.microsoft.com/office/drawing/2014/main" id="{28EC2513-8941-4885-9034-5A620568932E}"/>
              </a:ext>
            </a:extLst>
          </p:cNvPr>
          <p:cNvSpPr>
            <a:spLocks xmlns:a="http://schemas.openxmlformats.org/drawingml/2006/main" noGrp="1"/>
          </p:cNvSpPr>
          <p:nvPr/>
        </p:nvSpPr>
        <p:spPr>
          <a:xfrm xmlns:a="http://schemas.openxmlformats.org/drawingml/2006/main">
            <a:off x="4724400" y="3259628"/>
            <a:ext cx="76200" cy="226522"/>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35" name="">
            <a:extLst xmlns:a="http://schemas.openxmlformats.org/drawingml/2006/main">
              <a:ext uri="{FF2B5EF4-FFF2-40B4-BE49-F238E27FC236}">
                <a16:creationId xmlns:a16="http://schemas.microsoft.com/office/drawing/2014/main" id="{A2E384AF-4CF2-43F3-BC1C-EEE2A7A0B77D}"/>
              </a:ext>
            </a:extLst>
          </p:cNvPr>
          <p:cNvSpPr>
            <a:spLocks xmlns:a="http://schemas.openxmlformats.org/drawingml/2006/main" noGrp="1"/>
          </p:cNvSpPr>
          <p:nvPr/>
        </p:nvSpPr>
        <p:spPr>
          <a:xfrm xmlns:a="http://schemas.openxmlformats.org/drawingml/2006/main">
            <a:off x="4848225" y="3225685"/>
            <a:ext cx="76200" cy="260465"/>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36" name="">
            <a:extLst xmlns:a="http://schemas.openxmlformats.org/drawingml/2006/main">
              <a:ext uri="{FF2B5EF4-FFF2-40B4-BE49-F238E27FC236}">
                <a16:creationId xmlns:a16="http://schemas.microsoft.com/office/drawing/2014/main" id="{FE73A956-BD72-453D-ACF6-C6382D2F7757}"/>
              </a:ext>
            </a:extLst>
          </p:cNvPr>
          <p:cNvSpPr>
            <a:spLocks xmlns:a="http://schemas.openxmlformats.org/drawingml/2006/main" noGrp="1"/>
          </p:cNvSpPr>
          <p:nvPr/>
        </p:nvSpPr>
        <p:spPr>
          <a:xfrm xmlns:a="http://schemas.openxmlformats.org/drawingml/2006/main">
            <a:off x="4972050" y="3196590"/>
            <a:ext cx="76200" cy="289560"/>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37" name="">
            <a:extLst xmlns:a="http://schemas.openxmlformats.org/drawingml/2006/main">
              <a:ext uri="{FF2B5EF4-FFF2-40B4-BE49-F238E27FC236}">
                <a16:creationId xmlns:a16="http://schemas.microsoft.com/office/drawing/2014/main" id="{87737F39-33B7-4F9F-ADDB-9119F1E3D381}"/>
              </a:ext>
            </a:extLst>
          </p:cNvPr>
          <p:cNvSpPr>
            <a:spLocks xmlns:a="http://schemas.openxmlformats.org/drawingml/2006/main" noGrp="1"/>
          </p:cNvSpPr>
          <p:nvPr/>
        </p:nvSpPr>
        <p:spPr>
          <a:xfrm xmlns:a="http://schemas.openxmlformats.org/drawingml/2006/main">
            <a:off x="5095875" y="3172345"/>
            <a:ext cx="76200" cy="313805"/>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38" name="">
            <a:extLst xmlns:a="http://schemas.openxmlformats.org/drawingml/2006/main">
              <a:ext uri="{FF2B5EF4-FFF2-40B4-BE49-F238E27FC236}">
                <a16:creationId xmlns:a16="http://schemas.microsoft.com/office/drawing/2014/main" id="{B4945575-AE50-4854-9E65-3FBAE7089716}"/>
              </a:ext>
            </a:extLst>
          </p:cNvPr>
          <p:cNvSpPr>
            <a:spLocks xmlns:a="http://schemas.openxmlformats.org/drawingml/2006/main" noGrp="1"/>
          </p:cNvSpPr>
          <p:nvPr/>
        </p:nvSpPr>
        <p:spPr>
          <a:xfrm xmlns:a="http://schemas.openxmlformats.org/drawingml/2006/main">
            <a:off x="5219700" y="3143250"/>
            <a:ext cx="76200" cy="342900"/>
          </a:xfrm>
          <a:prstGeom xmlns:a="http://schemas.openxmlformats.org/drawingml/2006/main" prst="rect">
            <a:avLst/>
          </a:prstGeom>
          <a:solidFill xmlns:a="http://schemas.openxmlformats.org/drawingml/2006/main">
            <a:srgbClr val="23384A"/>
          </a:solidFill>
          <a:ln xmlns:a="http://schemas.openxmlformats.org/drawingml/2006/main" w="0">
            <a:solidFill>
              <a:srgbClr val="23384A"/>
            </a:solidFill>
            <a:prstDash val="solid"/>
          </a:ln>
        </p:spPr>
      </p:sp>
      <p:sp>
        <p:nvSpPr>
          <p:cNvPr id="39" name="">
            <a:extLst xmlns:a="http://schemas.openxmlformats.org/drawingml/2006/main">
              <a:ext uri="{FF2B5EF4-FFF2-40B4-BE49-F238E27FC236}">
                <a16:creationId xmlns:a16="http://schemas.microsoft.com/office/drawing/2014/main" id="{DE0BBF7D-1B6A-4E5B-84D1-389166A21ED5}"/>
              </a:ext>
            </a:extLst>
          </p:cNvPr>
          <p:cNvSpPr>
            <a:spLocks xmlns:a="http://schemas.openxmlformats.org/drawingml/2006/main" noGrp="1"/>
          </p:cNvSpPr>
          <p:nvPr/>
        </p:nvSpPr>
        <p:spPr>
          <a:xfrm xmlns:a="http://schemas.openxmlformats.org/drawingml/2006/main">
            <a:off x="4724400" y="3467100"/>
            <a:ext cx="1143000" cy="114300"/>
          </a:xfrm>
          <a:prstGeom xmlns:a="http://schemas.openxmlformats.org/drawingml/2006/main" prst="roundRect">
            <a:avLst>
              <a:gd name="adj" fmla="val 16667"/>
            </a:avLst>
          </a:prstGeom>
          <a:solidFill xmlns:a="http://schemas.openxmlformats.org/drawingml/2006/main">
            <a:srgbClr val="EFE6D8"/>
          </a:solidFill>
          <a:ln xmlns:a="http://schemas.openxmlformats.org/drawingml/2006/main" w="0">
            <a:solidFill>
              <a:srgbClr val="EFE6D8"/>
            </a:solidFill>
            <a:prstDash val="solid"/>
          </a:ln>
        </p:spPr>
      </p:sp>
      <p:sp>
        <p:nvSpPr>
          <p:cNvPr id="40" name="">
            <a:extLst xmlns:a="http://schemas.openxmlformats.org/drawingml/2006/main">
              <a:ext uri="{FF2B5EF4-FFF2-40B4-BE49-F238E27FC236}">
                <a16:creationId xmlns:a16="http://schemas.microsoft.com/office/drawing/2014/main" id="{FF2420D4-8DF4-4E51-B6EA-6182B5047EC1}"/>
              </a:ext>
            </a:extLst>
          </p:cNvPr>
          <p:cNvSpPr>
            <a:spLocks xmlns:a="http://schemas.openxmlformats.org/drawingml/2006/main" noGrp="1"/>
          </p:cNvSpPr>
          <p:nvPr/>
        </p:nvSpPr>
        <p:spPr>
          <a:xfrm xmlns:a="http://schemas.openxmlformats.org/drawingml/2006/main">
            <a:off x="4724400" y="3467100"/>
            <a:ext cx="285750" cy="114300"/>
          </a:xfrm>
          <a:prstGeom xmlns:a="http://schemas.openxmlformats.org/drawingml/2006/main" prst="roundRect">
            <a:avLst>
              <a:gd name="adj" fmla="val 16667"/>
            </a:avLst>
          </a:prstGeom>
          <a:solidFill xmlns:a="http://schemas.openxmlformats.org/drawingml/2006/main">
            <a:srgbClr val="23384A"/>
          </a:solidFill>
          <a:ln xmlns:a="http://schemas.openxmlformats.org/drawingml/2006/main" w="0">
            <a:solidFill>
              <a:srgbClr val="23384A"/>
            </a:solidFill>
            <a:prstDash val="solid"/>
          </a:ln>
        </p:spPr>
      </p:sp>
      <p:sp>
        <p:nvSpPr>
          <p:cNvPr id="41" name="">
            <a:extLst xmlns:a="http://schemas.openxmlformats.org/drawingml/2006/main">
              <a:ext uri="{FF2B5EF4-FFF2-40B4-BE49-F238E27FC236}">
                <a16:creationId xmlns:a16="http://schemas.microsoft.com/office/drawing/2014/main" id="{80771FAC-AA67-4E01-A75A-A564C1F1CD7C}"/>
              </a:ext>
            </a:extLst>
          </p:cNvPr>
          <p:cNvSpPr>
            <a:spLocks xmlns:a="http://schemas.openxmlformats.org/drawingml/2006/main" noGrp="1"/>
          </p:cNvSpPr>
          <p:nvPr/>
        </p:nvSpPr>
        <p:spPr>
          <a:xfrm xmlns:a="http://schemas.openxmlformats.org/drawingml/2006/main">
            <a:off x="4724400" y="3619500"/>
            <a:ext cx="1143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83"/>
          </a:bodyPr>
          <a:lstStyle xmlns:a="http://schemas.openxmlformats.org/drawingml/2006/main"/>
          <a:p xmlns:a="http://schemas.openxmlformats.org/drawingml/2006/main">
            <a:pPr algn="ctr">
              <a:lnSpc>
                <a:spcPct val="104000"/>
              </a:lnSpc>
              <a:buNone/>
              <a:defRPr sz="900" b="1" i="0">
                <a:solidFill>
                  <a:srgbClr val="231D17"/>
                </a:solidFill>
                <a:latin typeface="Times New Roman"/>
                <a:ea typeface="Times New Roman"/>
                <a:cs typeface="Times New Roman"/>
              </a:defRPr>
            </a:pPr>
            <a:r>
              <a:rPr sz="900" b="1" i="0">
                <a:solidFill>
                  <a:srgbClr val="231D17"/>
                </a:solidFill>
                <a:latin typeface="Times New Roman"/>
                <a:ea typeface="Times New Roman"/>
                <a:cs typeface="Times New Roman"/>
              </a:rPr>
              <a:t>25 points</a:t>
            </a:r>
          </a:p>
        </p:txBody>
      </p:sp>
      <p:sp>
        <p:nvSpPr>
          <p:cNvPr id="42" name="">
            <a:extLst xmlns:a="http://schemas.openxmlformats.org/drawingml/2006/main">
              <a:ext uri="{FF2B5EF4-FFF2-40B4-BE49-F238E27FC236}">
                <a16:creationId xmlns:a16="http://schemas.microsoft.com/office/drawing/2014/main" id="{1C9F8FC0-938C-4109-BF93-FD3D9C15BF84}"/>
              </a:ext>
            </a:extLst>
          </p:cNvPr>
          <p:cNvSpPr>
            <a:spLocks xmlns:a="http://schemas.openxmlformats.org/drawingml/2006/main" noGrp="1"/>
          </p:cNvSpPr>
          <p:nvPr/>
        </p:nvSpPr>
        <p:spPr>
          <a:xfrm xmlns:a="http://schemas.openxmlformats.org/drawingml/2006/main">
            <a:off x="1200150" y="3943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231D17"/>
                </a:solidFill>
                <a:latin typeface="Times New Roman"/>
                <a:ea typeface="Times New Roman"/>
                <a:cs typeface="Times New Roman"/>
              </a:defRPr>
            </a:pPr>
            <a:r>
              <a:rPr sz="1275" b="1" i="0">
                <a:solidFill>
                  <a:srgbClr val="231D17"/>
                </a:solidFill>
                <a:latin typeface="Times New Roman"/>
                <a:ea typeface="Times New Roman"/>
                <a:cs typeface="Times New Roman"/>
              </a:rPr>
              <a:t>Self allocation</a:t>
            </a:r>
          </a:p>
        </p:txBody>
      </p:sp>
      <p:sp>
        <p:nvSpPr>
          <p:cNvPr id="43" name="">
            <a:extLst xmlns:a="http://schemas.openxmlformats.org/drawingml/2006/main">
              <a:ext uri="{FF2B5EF4-FFF2-40B4-BE49-F238E27FC236}">
                <a16:creationId xmlns:a16="http://schemas.microsoft.com/office/drawing/2014/main" id="{3CE23618-006D-4DB4-B324-D94317C01123}"/>
              </a:ext>
            </a:extLst>
          </p:cNvPr>
          <p:cNvSpPr>
            <a:spLocks xmlns:a="http://schemas.openxmlformats.org/drawingml/2006/main" noGrp="1"/>
          </p:cNvSpPr>
          <p:nvPr/>
        </p:nvSpPr>
        <p:spPr>
          <a:xfrm xmlns:a="http://schemas.openxmlformats.org/drawingml/2006/main">
            <a:off x="2876550" y="39433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231D17"/>
                </a:solidFill>
                <a:latin typeface="Times New Roman"/>
                <a:ea typeface="Times New Roman"/>
                <a:cs typeface="Times New Roman"/>
              </a:defRPr>
            </a:pPr>
            <a:r>
              <a:rPr sz="1275" b="1" i="0">
                <a:solidFill>
                  <a:srgbClr val="231D17"/>
                </a:solidFill>
                <a:latin typeface="Times New Roman"/>
                <a:ea typeface="Times New Roman"/>
                <a:cs typeface="Times New Roman"/>
              </a:rPr>
              <a:t>Agent-AI recommendation</a:t>
            </a:r>
          </a:p>
        </p:txBody>
      </p:sp>
      <p:sp>
        <p:nvSpPr>
          <p:cNvPr id="44" name="">
            <a:extLst xmlns:a="http://schemas.openxmlformats.org/drawingml/2006/main">
              <a:ext uri="{FF2B5EF4-FFF2-40B4-BE49-F238E27FC236}">
                <a16:creationId xmlns:a16="http://schemas.microsoft.com/office/drawing/2014/main" id="{4A11B8F5-2571-4BF2-BECD-C2821A0B7EE8}"/>
              </a:ext>
            </a:extLst>
          </p:cNvPr>
          <p:cNvSpPr>
            <a:spLocks xmlns:a="http://schemas.openxmlformats.org/drawingml/2006/main" noGrp="1"/>
          </p:cNvSpPr>
          <p:nvPr/>
        </p:nvSpPr>
        <p:spPr>
          <a:xfrm xmlns:a="http://schemas.openxmlformats.org/drawingml/2006/main">
            <a:off x="1200150" y="4248150"/>
            <a:ext cx="211455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D8CCBB"/>
            </a:solidFill>
            <a:prstDash val="solid"/>
          </a:ln>
        </p:spPr>
      </p:sp>
      <p:sp>
        <p:nvSpPr>
          <p:cNvPr id="45" name="">
            <a:extLst xmlns:a="http://schemas.openxmlformats.org/drawingml/2006/main">
              <a:ext uri="{FF2B5EF4-FFF2-40B4-BE49-F238E27FC236}">
                <a16:creationId xmlns:a16="http://schemas.microsoft.com/office/drawing/2014/main" id="{AD3C4106-BFAF-46F1-9C93-02F3B4C6E0D2}"/>
              </a:ext>
            </a:extLst>
          </p:cNvPr>
          <p:cNvSpPr>
            <a:spLocks xmlns:a="http://schemas.openxmlformats.org/drawingml/2006/main" noGrp="1"/>
          </p:cNvSpPr>
          <p:nvPr/>
        </p:nvSpPr>
        <p:spPr>
          <a:xfrm xmlns:a="http://schemas.openxmlformats.org/drawingml/2006/main">
            <a:off x="1381125" y="4362450"/>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4"/>
          </a:bodyPr>
          <a:lstStyle xmlns:a="http://schemas.openxmlformats.org/drawingml/2006/main"/>
          <a:p xmlns:a="http://schemas.openxmlformats.org/drawingml/2006/main">
            <a:pPr algn="ctr">
              <a:lnSpc>
                <a:spcPct val="104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Self: 40 / 35 / 25</a:t>
            </a:r>
          </a:p>
        </p:txBody>
      </p:sp>
      <p:sp>
        <p:nvSpPr>
          <p:cNvPr id="46" name="">
            <a:extLst xmlns:a="http://schemas.openxmlformats.org/drawingml/2006/main">
              <a:ext uri="{FF2B5EF4-FFF2-40B4-BE49-F238E27FC236}">
                <a16:creationId xmlns:a16="http://schemas.microsoft.com/office/drawing/2014/main" id="{ECBA6D04-D32C-4E9D-98A2-EFB4774FD8CD}"/>
              </a:ext>
            </a:extLst>
          </p:cNvPr>
          <p:cNvSpPr>
            <a:spLocks xmlns:a="http://schemas.openxmlformats.org/drawingml/2006/main" noGrp="1"/>
          </p:cNvSpPr>
          <p:nvPr/>
        </p:nvSpPr>
        <p:spPr>
          <a:xfrm xmlns:a="http://schemas.openxmlformats.org/drawingml/2006/main">
            <a:off x="3657600" y="4248150"/>
            <a:ext cx="2114550" cy="400050"/>
          </a:xfrm>
          <a:prstGeom xmlns:a="http://schemas.openxmlformats.org/drawingml/2006/main" prst="roundRect">
            <a:avLst>
              <a:gd name="adj" fmla="val 19048"/>
            </a:avLst>
          </a:prstGeom>
          <a:solidFill xmlns:a="http://schemas.openxmlformats.org/drawingml/2006/main">
            <a:srgbClr val="F0E2D4"/>
          </a:solidFill>
          <a:ln xmlns:a="http://schemas.openxmlformats.org/drawingml/2006/main" w="9525">
            <a:solidFill>
              <a:srgbClr val="E7D4C3"/>
            </a:solidFill>
            <a:prstDash val="solid"/>
          </a:ln>
        </p:spPr>
      </p:sp>
      <p:sp>
        <p:nvSpPr>
          <p:cNvPr id="47" name="">
            <a:extLst xmlns:a="http://schemas.openxmlformats.org/drawingml/2006/main">
              <a:ext uri="{FF2B5EF4-FFF2-40B4-BE49-F238E27FC236}">
                <a16:creationId xmlns:a16="http://schemas.microsoft.com/office/drawing/2014/main" id="{5C78A566-6DD4-498D-A020-28D20006A81F}"/>
              </a:ext>
            </a:extLst>
          </p:cNvPr>
          <p:cNvSpPr>
            <a:spLocks xmlns:a="http://schemas.openxmlformats.org/drawingml/2006/main" noGrp="1"/>
          </p:cNvSpPr>
          <p:nvPr/>
        </p:nvSpPr>
        <p:spPr>
          <a:xfrm xmlns:a="http://schemas.openxmlformats.org/drawingml/2006/main">
            <a:off x="3838575" y="4362450"/>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4"/>
          </a:bodyPr>
          <a:lstStyle xmlns:a="http://schemas.openxmlformats.org/drawingml/2006/main"/>
          <a:p xmlns:a="http://schemas.openxmlformats.org/drawingml/2006/main">
            <a:pPr algn="ctr">
              <a:lnSpc>
                <a:spcPct val="104000"/>
              </a:lnSpc>
              <a:buNone/>
              <a:defRPr sz="1200" b="1" i="0">
                <a:solidFill>
                  <a:srgbClr val="231D17"/>
                </a:solidFill>
                <a:latin typeface="Times New Roman"/>
                <a:ea typeface="Times New Roman"/>
                <a:cs typeface="Times New Roman"/>
              </a:defRPr>
            </a:pPr>
            <a:r>
              <a:rPr sz="1200" b="1" i="0">
                <a:solidFill>
                  <a:srgbClr val="231D17"/>
                </a:solidFill>
                <a:latin typeface="Times New Roman"/>
                <a:ea typeface="Times New Roman"/>
                <a:cs typeface="Times New Roman"/>
              </a:rPr>
              <a:t>AI: 25 / 50 / 25</a:t>
            </a:r>
          </a:p>
        </p:txBody>
      </p:sp>
      <p:sp>
        <p:nvSpPr>
          <p:cNvPr id="48" name="">
            <a:extLst xmlns:a="http://schemas.openxmlformats.org/drawingml/2006/main">
              <a:ext uri="{FF2B5EF4-FFF2-40B4-BE49-F238E27FC236}">
                <a16:creationId xmlns:a16="http://schemas.microsoft.com/office/drawing/2014/main" id="{14D1D4FC-7A10-4A23-8F8D-BC4C694AF9D4}"/>
              </a:ext>
            </a:extLst>
          </p:cNvPr>
          <p:cNvSpPr>
            <a:spLocks xmlns:a="http://schemas.openxmlformats.org/drawingml/2006/main" noGrp="1"/>
          </p:cNvSpPr>
          <p:nvPr/>
        </p:nvSpPr>
        <p:spPr>
          <a:xfrm xmlns:a="http://schemas.openxmlformats.org/drawingml/2006/main">
            <a:off x="3333750" y="4448175"/>
            <a:ext cx="304800" cy="0"/>
          </a:xfrm>
          <a:prstGeom xmlns:a="http://schemas.openxmlformats.org/drawingml/2006/main" prst="line">
            <a:avLst/>
          </a:prstGeom>
          <a:ln xmlns:a="http://schemas.openxmlformats.org/drawingml/2006/main" w="14288">
            <a:solidFill>
              <a:srgbClr val="B77845"/>
            </a:solidFill>
            <a:prstDash val="solid"/>
          </a:ln>
        </p:spPr>
      </p:sp>
      <p:sp>
        <p:nvSpPr>
          <p:cNvPr id="49" name="">
            <a:extLst xmlns:a="http://schemas.openxmlformats.org/drawingml/2006/main">
              <a:ext uri="{FF2B5EF4-FFF2-40B4-BE49-F238E27FC236}">
                <a16:creationId xmlns:a16="http://schemas.microsoft.com/office/drawing/2014/main" id="{10F21580-33F6-4E43-A285-918F62BB5D0D}"/>
              </a:ext>
            </a:extLst>
          </p:cNvPr>
          <p:cNvSpPr>
            <a:spLocks xmlns:a="http://schemas.openxmlformats.org/drawingml/2006/main" noGrp="1"/>
          </p:cNvSpPr>
          <p:nvPr/>
        </p:nvSpPr>
        <p:spPr>
          <a:xfrm xmlns:a="http://schemas.openxmlformats.org/drawingml/2006/main">
            <a:off x="1200150" y="4895850"/>
            <a:ext cx="2095500" cy="476250"/>
          </a:xfrm>
          <a:prstGeom xmlns:a="http://schemas.openxmlformats.org/drawingml/2006/main" prst="roundRect">
            <a:avLst>
              <a:gd name="adj" fmla="val 16000"/>
            </a:avLst>
          </a:prstGeom>
          <a:solidFill xmlns:a="http://schemas.openxmlformats.org/drawingml/2006/main">
            <a:srgbClr val="23384A"/>
          </a:solidFill>
          <a:ln xmlns:a="http://schemas.openxmlformats.org/drawingml/2006/main" w="9525">
            <a:solidFill>
              <a:srgbClr val="23384A"/>
            </a:solidFill>
            <a:prstDash val="solid"/>
          </a:ln>
        </p:spPr>
      </p:sp>
      <p:sp>
        <p:nvSpPr>
          <p:cNvPr id="50" name="">
            <a:extLst xmlns:a="http://schemas.openxmlformats.org/drawingml/2006/main">
              <a:ext uri="{FF2B5EF4-FFF2-40B4-BE49-F238E27FC236}">
                <a16:creationId xmlns:a16="http://schemas.microsoft.com/office/drawing/2014/main" id="{CC691E72-C293-41D8-A3E6-423800083CB7}"/>
              </a:ext>
            </a:extLst>
          </p:cNvPr>
          <p:cNvSpPr>
            <a:spLocks xmlns:a="http://schemas.openxmlformats.org/drawingml/2006/main" noGrp="1"/>
          </p:cNvSpPr>
          <p:nvPr/>
        </p:nvSpPr>
        <p:spPr>
          <a:xfrm xmlns:a="http://schemas.openxmlformats.org/drawingml/2006/main">
            <a:off x="1371600" y="503872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4"/>
          </a:bodyPr>
          <a:lstStyle xmlns:a="http://schemas.openxmlformats.org/drawingml/2006/main"/>
          <a:p xmlns:a="http://schemas.openxmlformats.org/drawingml/2006/main">
            <a:pPr algn="ctr">
              <a:lnSpc>
                <a:spcPct val="104000"/>
              </a:lnSpc>
              <a:buNone/>
              <a:defRPr sz="1200" b="1" i="0">
                <a:solidFill>
                  <a:srgbClr val="F5F0E6"/>
                </a:solidFill>
                <a:latin typeface="Times New Roman"/>
                <a:ea typeface="Times New Roman"/>
                <a:cs typeface="Times New Roman"/>
              </a:defRPr>
            </a:pPr>
            <a:r>
              <a:rPr sz="1200" b="1" i="0">
                <a:solidFill>
                  <a:srgbClr val="F5F0E6"/>
                </a:solidFill>
                <a:latin typeface="Times New Roman"/>
                <a:ea typeface="Times New Roman"/>
                <a:cs typeface="Times New Roman"/>
              </a:rPr>
              <a:t>Submit self plan</a:t>
            </a:r>
          </a:p>
        </p:txBody>
      </p:sp>
      <p:sp>
        <p:nvSpPr>
          <p:cNvPr id="51" name="">
            <a:extLst xmlns:a="http://schemas.openxmlformats.org/drawingml/2006/main">
              <a:ext uri="{FF2B5EF4-FFF2-40B4-BE49-F238E27FC236}">
                <a16:creationId xmlns:a16="http://schemas.microsoft.com/office/drawing/2014/main" id="{B0BA9E14-758D-430F-B7F7-88141A37CAEB}"/>
              </a:ext>
            </a:extLst>
          </p:cNvPr>
          <p:cNvSpPr>
            <a:spLocks xmlns:a="http://schemas.openxmlformats.org/drawingml/2006/main" noGrp="1"/>
          </p:cNvSpPr>
          <p:nvPr/>
        </p:nvSpPr>
        <p:spPr>
          <a:xfrm xmlns:a="http://schemas.openxmlformats.org/drawingml/2006/main">
            <a:off x="3676650" y="4895850"/>
            <a:ext cx="2095500" cy="476250"/>
          </a:xfrm>
          <a:prstGeom xmlns:a="http://schemas.openxmlformats.org/drawingml/2006/main" prst="roundRect">
            <a:avLst>
              <a:gd name="adj" fmla="val 16000"/>
            </a:avLst>
          </a:prstGeom>
          <a:solidFill xmlns:a="http://schemas.openxmlformats.org/drawingml/2006/main">
            <a:srgbClr val="B77845"/>
          </a:solidFill>
          <a:ln xmlns:a="http://schemas.openxmlformats.org/drawingml/2006/main" w="9525">
            <a:solidFill>
              <a:srgbClr val="B77845"/>
            </a:solidFill>
            <a:prstDash val="solid"/>
          </a:ln>
        </p:spPr>
      </p:sp>
      <p:sp>
        <p:nvSpPr>
          <p:cNvPr id="52" name="">
            <a:extLst xmlns:a="http://schemas.openxmlformats.org/drawingml/2006/main">
              <a:ext uri="{FF2B5EF4-FFF2-40B4-BE49-F238E27FC236}">
                <a16:creationId xmlns:a16="http://schemas.microsoft.com/office/drawing/2014/main" id="{2A4F21D3-50A7-4EFC-90E2-7922111E8A7D}"/>
              </a:ext>
            </a:extLst>
          </p:cNvPr>
          <p:cNvSpPr>
            <a:spLocks xmlns:a="http://schemas.openxmlformats.org/drawingml/2006/main" noGrp="1"/>
          </p:cNvSpPr>
          <p:nvPr/>
        </p:nvSpPr>
        <p:spPr>
          <a:xfrm xmlns:a="http://schemas.openxmlformats.org/drawingml/2006/main">
            <a:off x="3848100" y="5038725"/>
            <a:ext cx="1752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4"/>
          </a:bodyPr>
          <a:lstStyle xmlns:a="http://schemas.openxmlformats.org/drawingml/2006/main"/>
          <a:p xmlns:a="http://schemas.openxmlformats.org/drawingml/2006/main">
            <a:pPr algn="ctr">
              <a:lnSpc>
                <a:spcPct val="104000"/>
              </a:lnSpc>
              <a:buNone/>
              <a:defRPr sz="1200" b="1" i="0">
                <a:solidFill>
                  <a:srgbClr val="F5F0E6"/>
                </a:solidFill>
                <a:latin typeface="Times New Roman"/>
                <a:ea typeface="Times New Roman"/>
                <a:cs typeface="Times New Roman"/>
              </a:defRPr>
            </a:pPr>
            <a:r>
              <a:rPr sz="1200" b="1" i="0">
                <a:solidFill>
                  <a:srgbClr val="F5F0E6"/>
                </a:solidFill>
                <a:latin typeface="Times New Roman"/>
                <a:ea typeface="Times New Roman"/>
                <a:cs typeface="Times New Roman"/>
              </a:rPr>
              <a:t>Submit AI plan</a:t>
            </a:r>
          </a:p>
        </p:txBody>
      </p:sp>
      <p:sp>
        <p:nvSpPr>
          <p:cNvPr id="53" name="">
            <a:extLst xmlns:a="http://schemas.openxmlformats.org/drawingml/2006/main">
              <a:ext uri="{FF2B5EF4-FFF2-40B4-BE49-F238E27FC236}">
                <a16:creationId xmlns:a16="http://schemas.microsoft.com/office/drawing/2014/main" id="{427F9E06-77F1-4761-91AB-F8AEC01EC004}"/>
              </a:ext>
            </a:extLst>
          </p:cNvPr>
          <p:cNvSpPr>
            <a:spLocks xmlns:a="http://schemas.openxmlformats.org/drawingml/2006/main" noGrp="1"/>
          </p:cNvSpPr>
          <p:nvPr/>
        </p:nvSpPr>
        <p:spPr>
          <a:xfrm xmlns:a="http://schemas.openxmlformats.org/drawingml/2006/main">
            <a:off x="5962650" y="4248150"/>
            <a:ext cx="14668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CCBB"/>
            </a:solidFill>
            <a:prstDash val="solid"/>
          </a:ln>
        </p:spPr>
      </p:sp>
      <p:sp>
        <p:nvSpPr>
          <p:cNvPr id="54" name="">
            <a:extLst xmlns:a="http://schemas.openxmlformats.org/drawingml/2006/main">
              <a:ext uri="{FF2B5EF4-FFF2-40B4-BE49-F238E27FC236}">
                <a16:creationId xmlns:a16="http://schemas.microsoft.com/office/drawing/2014/main" id="{C0B57CB1-89FF-4E5E-BA68-9904E7CD8227}"/>
              </a:ext>
            </a:extLst>
          </p:cNvPr>
          <p:cNvSpPr>
            <a:spLocks xmlns:a="http://schemas.openxmlformats.org/drawingml/2006/main" noGrp="1"/>
          </p:cNvSpPr>
          <p:nvPr/>
        </p:nvSpPr>
        <p:spPr>
          <a:xfrm xmlns:a="http://schemas.openxmlformats.org/drawingml/2006/main">
            <a:off x="6153150" y="440055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ctr">
              <a:lnSpc>
                <a:spcPct val="104000"/>
              </a:lnSpc>
              <a:buNone/>
              <a:defRPr sz="1275" b="1" i="0">
                <a:solidFill>
                  <a:srgbClr val="818A68"/>
                </a:solidFill>
                <a:latin typeface="Times New Roman"/>
                <a:ea typeface="Times New Roman"/>
                <a:cs typeface="Times New Roman"/>
              </a:defRPr>
            </a:pPr>
            <a:r>
              <a:rPr sz="1275" b="1" i="0">
                <a:solidFill>
                  <a:srgbClr val="818A68"/>
                </a:solidFill>
                <a:latin typeface="Times New Roman"/>
                <a:ea typeface="Times New Roman"/>
                <a:cs typeface="Times New Roman"/>
              </a:rPr>
              <a:t>Full feedback</a:t>
            </a:r>
          </a:p>
        </p:txBody>
      </p:sp>
      <p:sp>
        <p:nvSpPr>
          <p:cNvPr id="55" name="">
            <a:extLst xmlns:a="http://schemas.openxmlformats.org/drawingml/2006/main">
              <a:ext uri="{FF2B5EF4-FFF2-40B4-BE49-F238E27FC236}">
                <a16:creationId xmlns:a16="http://schemas.microsoft.com/office/drawing/2014/main" id="{6643CCF8-1FAC-4803-97AC-3B2499646555}"/>
              </a:ext>
            </a:extLst>
          </p:cNvPr>
          <p:cNvSpPr>
            <a:spLocks xmlns:a="http://schemas.openxmlformats.org/drawingml/2006/main" noGrp="1"/>
          </p:cNvSpPr>
          <p:nvPr/>
        </p:nvSpPr>
        <p:spPr>
          <a:xfrm xmlns:a="http://schemas.openxmlformats.org/drawingml/2006/main">
            <a:off x="6153150" y="4705350"/>
            <a:ext cx="1085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699"/>
          </a:bodyPr>
          <a:lstStyle xmlns:a="http://schemas.openxmlformats.org/drawingml/2006/main"/>
          <a:p xmlns:a="http://schemas.openxmlformats.org/drawingml/2006/main">
            <a:pPr algn="ctr">
              <a:lnSpc>
                <a:spcPct val="105000"/>
              </a:lnSpc>
              <a:buNone/>
              <a:defRPr sz="960" b="0" i="0">
                <a:solidFill>
                  <a:srgbClr val="6F665C"/>
                </a:solidFill>
                <a:latin typeface="Times New Roman"/>
                <a:ea typeface="Times New Roman"/>
                <a:cs typeface="Times New Roman"/>
              </a:defRPr>
            </a:pPr>
            <a:r>
              <a:rPr sz="960" b="0" i="0">
                <a:solidFill>
                  <a:srgbClr val="6F665C"/>
                </a:solidFill>
                <a:latin typeface="Times New Roman"/>
                <a:ea typeface="Times New Roman"/>
                <a:cs typeface="Times New Roman"/>
              </a:rPr>
              <a:t>Both chosen and unchosen payoffs are shown after each round.</a:t>
            </a:r>
          </a:p>
        </p:txBody>
      </p:sp>
      <p:sp>
        <p:nvSpPr>
          <p:cNvPr id="56" name="">
            <a:extLst xmlns:a="http://schemas.openxmlformats.org/drawingml/2006/main">
              <a:ext uri="{FF2B5EF4-FFF2-40B4-BE49-F238E27FC236}">
                <a16:creationId xmlns:a16="http://schemas.microsoft.com/office/drawing/2014/main" id="{0B5C94BB-4451-4360-AC4D-28BB7F6909DA}"/>
              </a:ext>
            </a:extLst>
          </p:cNvPr>
          <p:cNvSpPr>
            <a:spLocks xmlns:a="http://schemas.openxmlformats.org/drawingml/2006/main" noGrp="1"/>
          </p:cNvSpPr>
          <p:nvPr/>
        </p:nvSpPr>
        <p:spPr>
          <a:xfrm xmlns:a="http://schemas.openxmlformats.org/drawingml/2006/main">
            <a:off x="8096250" y="215265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CCBB"/>
            </a:solidFill>
            <a:prstDash val="solid"/>
          </a:ln>
        </p:spPr>
      </p:sp>
      <p:sp>
        <p:nvSpPr>
          <p:cNvPr id="57" name="">
            <a:extLst xmlns:a="http://schemas.openxmlformats.org/drawingml/2006/main">
              <a:ext uri="{FF2B5EF4-FFF2-40B4-BE49-F238E27FC236}">
                <a16:creationId xmlns:a16="http://schemas.microsoft.com/office/drawing/2014/main" id="{8B10E18E-1BC9-4ED8-B340-262D728A71A5}"/>
              </a:ext>
            </a:extLst>
          </p:cNvPr>
          <p:cNvSpPr>
            <a:spLocks xmlns:a="http://schemas.openxmlformats.org/drawingml/2006/main" noGrp="1"/>
          </p:cNvSpPr>
          <p:nvPr/>
        </p:nvSpPr>
        <p:spPr>
          <a:xfrm xmlns:a="http://schemas.openxmlformats.org/drawingml/2006/main">
            <a:off x="8096250" y="2152650"/>
            <a:ext cx="47625" cy="1104900"/>
          </a:xfrm>
          <a:prstGeom xmlns:a="http://schemas.openxmlformats.org/drawingml/2006/main" prst="roundRect">
            <a:avLst>
              <a:gd name="adj" fmla="val 40000"/>
            </a:avLst>
          </a:prstGeom>
          <a:solidFill xmlns:a="http://schemas.openxmlformats.org/drawingml/2006/main">
            <a:srgbClr val="B77845"/>
          </a:solidFill>
          <a:ln xmlns:a="http://schemas.openxmlformats.org/drawingml/2006/main" w="9525">
            <a:solidFill>
              <a:srgbClr val="B77845"/>
            </a:solidFill>
            <a:prstDash val="solid"/>
          </a:ln>
        </p:spPr>
      </p:sp>
      <p:sp>
        <p:nvSpPr>
          <p:cNvPr id="58" name="">
            <a:extLst xmlns:a="http://schemas.openxmlformats.org/drawingml/2006/main">
              <a:ext uri="{FF2B5EF4-FFF2-40B4-BE49-F238E27FC236}">
                <a16:creationId xmlns:a16="http://schemas.microsoft.com/office/drawing/2014/main" id="{B523FBDD-C054-43F5-9415-2BF76A641820}"/>
              </a:ext>
            </a:extLst>
          </p:cNvPr>
          <p:cNvSpPr>
            <a:spLocks xmlns:a="http://schemas.openxmlformats.org/drawingml/2006/main" noGrp="1"/>
          </p:cNvSpPr>
          <p:nvPr/>
        </p:nvSpPr>
        <p:spPr>
          <a:xfrm xmlns:a="http://schemas.openxmlformats.org/drawingml/2006/main">
            <a:off x="8305800" y="230505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1" i="0">
                <a:solidFill>
                  <a:srgbClr val="B77845"/>
                </a:solidFill>
                <a:latin typeface="Times New Roman"/>
                <a:ea typeface="Times New Roman"/>
                <a:cs typeface="Times New Roman"/>
              </a:defRPr>
            </a:pPr>
            <a:r>
              <a:rPr sz="1350" b="1" i="0">
                <a:solidFill>
                  <a:srgbClr val="B77845"/>
                </a:solidFill>
                <a:latin typeface="Times New Roman"/>
                <a:ea typeface="Times New Roman"/>
                <a:cs typeface="Times New Roman"/>
              </a:rPr>
              <a:t>What the task is</a:t>
            </a:r>
          </a:p>
        </p:txBody>
      </p:sp>
      <p:sp>
        <p:nvSpPr>
          <p:cNvPr id="59" name="">
            <a:extLst xmlns:a="http://schemas.openxmlformats.org/drawingml/2006/main">
              <a:ext uri="{FF2B5EF4-FFF2-40B4-BE49-F238E27FC236}">
                <a16:creationId xmlns:a16="http://schemas.microsoft.com/office/drawing/2014/main" id="{FF1B8F1E-20A6-4EFE-A5F9-466163D30F7E}"/>
              </a:ext>
            </a:extLst>
          </p:cNvPr>
          <p:cNvSpPr>
            <a:spLocks xmlns:a="http://schemas.openxmlformats.org/drawingml/2006/main" noGrp="1"/>
          </p:cNvSpPr>
          <p:nvPr/>
        </p:nvSpPr>
        <p:spPr>
          <a:xfrm xmlns:a="http://schemas.openxmlformats.org/drawingml/2006/main">
            <a:off x="8305800" y="2609850"/>
            <a:ext cx="2724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1050" b="0" i="0">
                <a:solidFill>
                  <a:srgbClr val="6F665C"/>
                </a:solidFill>
                <a:latin typeface="Times New Roman"/>
                <a:ea typeface="Times New Roman"/>
                <a:cs typeface="Times New Roman"/>
              </a:defRPr>
            </a:pPr>
            <a:r>
              <a:rPr sz="1050" b="0" i="0">
                <a:solidFill>
                  <a:srgbClr val="6F665C"/>
                </a:solidFill>
                <a:latin typeface="Times New Roman"/>
                <a:ea typeface="Times New Roman"/>
                <a:cs typeface="Times New Roman"/>
              </a:rPr>
              <a:t>A repeated, abstract, slot-machine-like allocation problem with three channels: alpha, beta, and gamma.</a:t>
            </a:r>
          </a:p>
        </p:txBody>
      </p:sp>
      <p:sp>
        <p:nvSpPr>
          <p:cNvPr id="60" name="">
            <a:extLst xmlns:a="http://schemas.openxmlformats.org/drawingml/2006/main">
              <a:ext uri="{FF2B5EF4-FFF2-40B4-BE49-F238E27FC236}">
                <a16:creationId xmlns:a16="http://schemas.microsoft.com/office/drawing/2014/main" id="{82DB87BA-C45C-45E9-80A0-B88CC33D33BF}"/>
              </a:ext>
            </a:extLst>
          </p:cNvPr>
          <p:cNvSpPr>
            <a:spLocks xmlns:a="http://schemas.openxmlformats.org/drawingml/2006/main" noGrp="1"/>
          </p:cNvSpPr>
          <p:nvPr/>
        </p:nvSpPr>
        <p:spPr>
          <a:xfrm xmlns:a="http://schemas.openxmlformats.org/drawingml/2006/main">
            <a:off x="8096250" y="344805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CCBB"/>
            </a:solidFill>
            <a:prstDash val="solid"/>
          </a:ln>
        </p:spPr>
      </p:sp>
      <p:sp>
        <p:nvSpPr>
          <p:cNvPr id="61" name="">
            <a:extLst xmlns:a="http://schemas.openxmlformats.org/drawingml/2006/main">
              <a:ext uri="{FF2B5EF4-FFF2-40B4-BE49-F238E27FC236}">
                <a16:creationId xmlns:a16="http://schemas.microsoft.com/office/drawing/2014/main" id="{D9C8A77E-35A9-49B9-9745-77E96A173D3C}"/>
              </a:ext>
            </a:extLst>
          </p:cNvPr>
          <p:cNvSpPr>
            <a:spLocks xmlns:a="http://schemas.openxmlformats.org/drawingml/2006/main" noGrp="1"/>
          </p:cNvSpPr>
          <p:nvPr/>
        </p:nvSpPr>
        <p:spPr>
          <a:xfrm xmlns:a="http://schemas.openxmlformats.org/drawingml/2006/main">
            <a:off x="8096250" y="3448050"/>
            <a:ext cx="47625" cy="1104900"/>
          </a:xfrm>
          <a:prstGeom xmlns:a="http://schemas.openxmlformats.org/drawingml/2006/main" prst="roundRect">
            <a:avLst>
              <a:gd name="adj" fmla="val 40000"/>
            </a:avLst>
          </a:prstGeom>
          <a:solidFill xmlns:a="http://schemas.openxmlformats.org/drawingml/2006/main">
            <a:srgbClr val="818A68"/>
          </a:solidFill>
          <a:ln xmlns:a="http://schemas.openxmlformats.org/drawingml/2006/main" w="9525">
            <a:solidFill>
              <a:srgbClr val="818A68"/>
            </a:solidFill>
            <a:prstDash val="solid"/>
          </a:ln>
        </p:spPr>
      </p:sp>
      <p:sp>
        <p:nvSpPr>
          <p:cNvPr id="62" name="">
            <a:extLst xmlns:a="http://schemas.openxmlformats.org/drawingml/2006/main">
              <a:ext uri="{FF2B5EF4-FFF2-40B4-BE49-F238E27FC236}">
                <a16:creationId xmlns:a16="http://schemas.microsoft.com/office/drawing/2014/main" id="{52879291-1BEC-40DF-A3AE-D177B1400E12}"/>
              </a:ext>
            </a:extLst>
          </p:cNvPr>
          <p:cNvSpPr>
            <a:spLocks xmlns:a="http://schemas.openxmlformats.org/drawingml/2006/main" noGrp="1"/>
          </p:cNvSpPr>
          <p:nvPr/>
        </p:nvSpPr>
        <p:spPr>
          <a:xfrm xmlns:a="http://schemas.openxmlformats.org/drawingml/2006/main">
            <a:off x="8305800" y="360045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1" i="0">
                <a:solidFill>
                  <a:srgbClr val="818A68"/>
                </a:solidFill>
                <a:latin typeface="Times New Roman"/>
                <a:ea typeface="Times New Roman"/>
                <a:cs typeface="Times New Roman"/>
              </a:defRPr>
            </a:pPr>
            <a:r>
              <a:rPr sz="1350" b="1" i="0">
                <a:solidFill>
                  <a:srgbClr val="818A68"/>
                </a:solidFill>
                <a:latin typeface="Times New Roman"/>
                <a:ea typeface="Times New Roman"/>
                <a:cs typeface="Times New Roman"/>
              </a:rPr>
              <a:t>Why history matters</a:t>
            </a:r>
          </a:p>
        </p:txBody>
      </p:sp>
      <p:sp>
        <p:nvSpPr>
          <p:cNvPr id="63" name="">
            <a:extLst xmlns:a="http://schemas.openxmlformats.org/drawingml/2006/main">
              <a:ext uri="{FF2B5EF4-FFF2-40B4-BE49-F238E27FC236}">
                <a16:creationId xmlns:a16="http://schemas.microsoft.com/office/drawing/2014/main" id="{315D23C8-92CD-4BC3-878B-F928F30BBDE1}"/>
              </a:ext>
            </a:extLst>
          </p:cNvPr>
          <p:cNvSpPr>
            <a:spLocks xmlns:a="http://schemas.openxmlformats.org/drawingml/2006/main" noGrp="1"/>
          </p:cNvSpPr>
          <p:nvPr/>
        </p:nvSpPr>
        <p:spPr>
          <a:xfrm xmlns:a="http://schemas.openxmlformats.org/drawingml/2006/main">
            <a:off x="8305800" y="3905250"/>
            <a:ext cx="2724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1050" b="0" i="0">
                <a:solidFill>
                  <a:srgbClr val="6F665C"/>
                </a:solidFill>
                <a:latin typeface="Times New Roman"/>
                <a:ea typeface="Times New Roman"/>
                <a:cs typeface="Times New Roman"/>
              </a:defRPr>
            </a:pPr>
            <a:r>
              <a:rPr sz="1050" b="0" i="0">
                <a:solidFill>
                  <a:srgbClr val="6F665C"/>
                </a:solidFill>
                <a:latin typeface="Times New Roman"/>
                <a:ea typeface="Times New Roman"/>
                <a:cs typeface="Times New Roman"/>
              </a:rPr>
              <a:t>Payoffs are noisy but structured: short trends, state shifts, mean reversion, and random shocks all matter.</a:t>
            </a:r>
          </a:p>
        </p:txBody>
      </p:sp>
      <p:sp>
        <p:nvSpPr>
          <p:cNvPr id="64" name="">
            <a:extLst xmlns:a="http://schemas.openxmlformats.org/drawingml/2006/main">
              <a:ext uri="{FF2B5EF4-FFF2-40B4-BE49-F238E27FC236}">
                <a16:creationId xmlns:a16="http://schemas.microsoft.com/office/drawing/2014/main" id="{4A22BECF-2420-4E61-A85A-3FFB9D84092C}"/>
              </a:ext>
            </a:extLst>
          </p:cNvPr>
          <p:cNvSpPr>
            <a:spLocks xmlns:a="http://schemas.openxmlformats.org/drawingml/2006/main" noGrp="1"/>
          </p:cNvSpPr>
          <p:nvPr/>
        </p:nvSpPr>
        <p:spPr>
          <a:xfrm xmlns:a="http://schemas.openxmlformats.org/drawingml/2006/main">
            <a:off x="8096250" y="474345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CCBB"/>
            </a:solidFill>
            <a:prstDash val="solid"/>
          </a:ln>
        </p:spPr>
      </p:sp>
      <p:sp>
        <p:nvSpPr>
          <p:cNvPr id="65" name="">
            <a:extLst xmlns:a="http://schemas.openxmlformats.org/drawingml/2006/main">
              <a:ext uri="{FF2B5EF4-FFF2-40B4-BE49-F238E27FC236}">
                <a16:creationId xmlns:a16="http://schemas.microsoft.com/office/drawing/2014/main" id="{D0222451-7BC1-4E1B-9CCE-901E27923E77}"/>
              </a:ext>
            </a:extLst>
          </p:cNvPr>
          <p:cNvSpPr>
            <a:spLocks xmlns:a="http://schemas.openxmlformats.org/drawingml/2006/main" noGrp="1"/>
          </p:cNvSpPr>
          <p:nvPr/>
        </p:nvSpPr>
        <p:spPr>
          <a:xfrm xmlns:a="http://schemas.openxmlformats.org/drawingml/2006/main">
            <a:off x="8096250" y="4743450"/>
            <a:ext cx="47625" cy="1104900"/>
          </a:xfrm>
          <a:prstGeom xmlns:a="http://schemas.openxmlformats.org/drawingml/2006/main" prst="roundRect">
            <a:avLst>
              <a:gd name="adj" fmla="val 40000"/>
            </a:avLst>
          </a:prstGeom>
          <a:solidFill xmlns:a="http://schemas.openxmlformats.org/drawingml/2006/main">
            <a:srgbClr val="23384A"/>
          </a:solidFill>
          <a:ln xmlns:a="http://schemas.openxmlformats.org/drawingml/2006/main" w="9525">
            <a:solidFill>
              <a:srgbClr val="23384A"/>
            </a:solidFill>
            <a:prstDash val="solid"/>
          </a:ln>
        </p:spPr>
      </p:sp>
      <p:sp>
        <p:nvSpPr>
          <p:cNvPr id="66" name="">
            <a:extLst xmlns:a="http://schemas.openxmlformats.org/drawingml/2006/main">
              <a:ext uri="{FF2B5EF4-FFF2-40B4-BE49-F238E27FC236}">
                <a16:creationId xmlns:a16="http://schemas.microsoft.com/office/drawing/2014/main" id="{1EC91479-262F-4767-8F57-9EBB229CC555}"/>
              </a:ext>
            </a:extLst>
          </p:cNvPr>
          <p:cNvSpPr>
            <a:spLocks xmlns:a="http://schemas.openxmlformats.org/drawingml/2006/main" noGrp="1"/>
          </p:cNvSpPr>
          <p:nvPr/>
        </p:nvSpPr>
        <p:spPr>
          <a:xfrm xmlns:a="http://schemas.openxmlformats.org/drawingml/2006/main">
            <a:off x="8305800" y="4895850"/>
            <a:ext cx="2724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34"/>
          </a:bodyPr>
          <a:lstStyle xmlns:a="http://schemas.openxmlformats.org/drawingml/2006/main"/>
          <a:p xmlns:a="http://schemas.openxmlformats.org/drawingml/2006/main">
            <a:pPr algn="l">
              <a:lnSpc>
                <a:spcPct val="104000"/>
              </a:lnSpc>
              <a:buNone/>
              <a:defRPr sz="1350" b="1" i="0">
                <a:solidFill>
                  <a:srgbClr val="23384A"/>
                </a:solidFill>
                <a:latin typeface="Times New Roman"/>
                <a:ea typeface="Times New Roman"/>
                <a:cs typeface="Times New Roman"/>
              </a:defRPr>
            </a:pPr>
            <a:r>
              <a:rPr sz="1350" b="1" i="0">
                <a:solidFill>
                  <a:srgbClr val="23384A"/>
                </a:solidFill>
                <a:latin typeface="Times New Roman"/>
                <a:ea typeface="Times New Roman"/>
                <a:cs typeface="Times New Roman"/>
              </a:rPr>
              <a:t>What is manipulated</a:t>
            </a:r>
          </a:p>
        </p:txBody>
      </p:sp>
      <p:sp>
        <p:nvSpPr>
          <p:cNvPr id="67" name="">
            <a:extLst xmlns:a="http://schemas.openxmlformats.org/drawingml/2006/main">
              <a:ext uri="{FF2B5EF4-FFF2-40B4-BE49-F238E27FC236}">
                <a16:creationId xmlns:a16="http://schemas.microsoft.com/office/drawing/2014/main" id="{B3EA70B3-46D2-4A42-8FA8-86A3814FF2B3}"/>
              </a:ext>
            </a:extLst>
          </p:cNvPr>
          <p:cNvSpPr>
            <a:spLocks xmlns:a="http://schemas.openxmlformats.org/drawingml/2006/main" noGrp="1"/>
          </p:cNvSpPr>
          <p:nvPr/>
        </p:nvSpPr>
        <p:spPr>
          <a:xfrm xmlns:a="http://schemas.openxmlformats.org/drawingml/2006/main">
            <a:off x="8305800" y="5200650"/>
            <a:ext cx="2724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1050" b="0" i="0">
                <a:solidFill>
                  <a:srgbClr val="6F665C"/>
                </a:solidFill>
                <a:latin typeface="Times New Roman"/>
                <a:ea typeface="Times New Roman"/>
                <a:cs typeface="Times New Roman"/>
              </a:defRPr>
            </a:pPr>
            <a:r>
              <a:rPr sz="1050" b="0" i="0">
                <a:solidFill>
                  <a:srgbClr val="6F665C"/>
                </a:solidFill>
                <a:latin typeface="Times New Roman"/>
                <a:ea typeface="Times New Roman"/>
                <a:cs typeface="Times New Roman"/>
              </a:rPr>
              <a:t>The interface stays the same. Treatments change when AI errors cluster and whether performance later recovers.</a:t>
            </a:r>
          </a:p>
        </p:txBody>
      </p:sp>
      <p:sp>
        <p:nvSpPr>
          <p:cNvPr id="68" name="">
            <a:extLst xmlns:a="http://schemas.openxmlformats.org/drawingml/2006/main">
              <a:ext uri="{FF2B5EF4-FFF2-40B4-BE49-F238E27FC236}">
                <a16:creationId xmlns:a16="http://schemas.microsoft.com/office/drawing/2014/main" id="{066F78AD-B97F-4166-8E1C-523A74FB527D}"/>
              </a:ext>
            </a:extLst>
          </p:cNvPr>
          <p:cNvSpPr>
            <a:spLocks xmlns:a="http://schemas.openxmlformats.org/drawingml/2006/main" noGrp="1"/>
          </p:cNvSpPr>
          <p:nvPr/>
        </p:nvSpPr>
        <p:spPr>
          <a:xfrm xmlns:a="http://schemas.openxmlformats.org/drawingml/2006/main">
            <a:off x="914400" y="6076950"/>
            <a:ext cx="10325100" cy="419100"/>
          </a:xfrm>
          <a:prstGeom xmlns:a="http://schemas.openxmlformats.org/drawingml/2006/main" prst="roundRect">
            <a:avLst>
              <a:gd name="adj" fmla="val 18182"/>
            </a:avLst>
          </a:prstGeom>
          <a:solidFill xmlns:a="http://schemas.openxmlformats.org/drawingml/2006/main">
            <a:srgbClr val="23384A"/>
          </a:solidFill>
          <a:ln xmlns:a="http://schemas.openxmlformats.org/drawingml/2006/main" w="9525">
            <a:solidFill>
              <a:srgbClr val="23384A"/>
            </a:solidFill>
            <a:prstDash val="solid"/>
          </a:ln>
        </p:spPr>
      </p:sp>
      <p:sp>
        <p:nvSpPr>
          <p:cNvPr id="69" name="">
            <a:extLst xmlns:a="http://schemas.openxmlformats.org/drawingml/2006/main">
              <a:ext uri="{FF2B5EF4-FFF2-40B4-BE49-F238E27FC236}">
                <a16:creationId xmlns:a16="http://schemas.microsoft.com/office/drawing/2014/main" id="{2EA979C8-9E78-4EFE-90BC-BDF29FF69E43}"/>
              </a:ext>
            </a:extLst>
          </p:cNvPr>
          <p:cNvSpPr>
            <a:spLocks xmlns:a="http://schemas.openxmlformats.org/drawingml/2006/main" noGrp="1"/>
          </p:cNvSpPr>
          <p:nvPr/>
        </p:nvSpPr>
        <p:spPr>
          <a:xfrm xmlns:a="http://schemas.openxmlformats.org/drawingml/2006/main">
            <a:off x="1219200" y="6191250"/>
            <a:ext cx="9696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4"/>
          </a:bodyPr>
          <a:lstStyle xmlns:a="http://schemas.openxmlformats.org/drawingml/2006/main"/>
          <a:p xmlns:a="http://schemas.openxmlformats.org/drawingml/2006/main">
            <a:pPr algn="ctr">
              <a:lnSpc>
                <a:spcPct val="104000"/>
              </a:lnSpc>
              <a:buNone/>
              <a:defRPr sz="1200" b="1" i="0">
                <a:solidFill>
                  <a:srgbClr val="F5F0E6"/>
                </a:solidFill>
                <a:latin typeface="Times New Roman"/>
                <a:ea typeface="Times New Roman"/>
                <a:cs typeface="Times New Roman"/>
              </a:defRPr>
            </a:pPr>
            <a:r>
              <a:rPr sz="1200" b="1" i="0">
                <a:solidFill>
                  <a:srgbClr val="F5F0E6"/>
                </a:solidFill>
                <a:latin typeface="Times New Roman"/>
                <a:ea typeface="Times New Roman"/>
                <a:cs typeface="Times New Roman"/>
              </a:rPr>
              <a:t>Repeated loop: history -&gt; self allocation -&gt; AI recommendation -&gt; final choice -&gt; full feedback -&gt; next-round reliance.</a:t>
            </a:r>
          </a:p>
        </p:txBody>
      </p:sp>
    </p:spTree>
    <p:extLst>
      <p:ext uri="{BB962C8B-B14F-4D97-AF65-F5344CB8AC3E}">
        <p14:creationId xmlns:p14="http://schemas.microsoft.com/office/powerpoint/2010/main" val="1714534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2026-07-06T10:35:53.7400000Z</dcterms:created>
  <dcterms:modified xsi:type="dcterms:W3CDTF">2026-07-06T10:35:53.7400000Z</dcterms:modified>
</coreProperties>
</file>