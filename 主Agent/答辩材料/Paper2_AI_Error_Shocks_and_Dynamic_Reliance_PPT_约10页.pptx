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43f8c2610b4151" /><Relationship Type="http://schemas.openxmlformats.org/officeDocument/2006/relationships/extended-properties" Target="/docProps/app.xml" Id="Rf5dbc2b0a8354772" /><Relationship Type="http://schemas.openxmlformats.org/officeDocument/2006/relationships/officeDocument" Target="/ppt/presentation.xml" Id="Rdd5c25d9e79146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7ccd07630455c"/>
  </p:sldMasterIdLst>
  <p:notesMasterIdLst>
    <p:notesMasterId xmlns:r="http://schemas.openxmlformats.org/officeDocument/2006/relationships" r:id="Rbaabf86f1ed94c28"/>
  </p:notesMasterIdLst>
  <p:sldIdLst>
    <p:sldId xmlns:r="http://schemas.openxmlformats.org/officeDocument/2006/relationships" id="256" r:id="R77a03a81e93b4dc2"/>
    <p:sldId xmlns:r="http://schemas.openxmlformats.org/officeDocument/2006/relationships" id="257" r:id="Rf3f2dba1417e41d4"/>
    <p:sldId xmlns:r="http://schemas.openxmlformats.org/officeDocument/2006/relationships" id="258" r:id="Rda6bf6eda9214fa0"/>
    <p:sldId xmlns:r="http://schemas.openxmlformats.org/officeDocument/2006/relationships" id="259" r:id="Rec209c2e9cc34232"/>
    <p:sldId xmlns:r="http://schemas.openxmlformats.org/officeDocument/2006/relationships" id="260" r:id="R6a9155dba36348dc"/>
    <p:sldId xmlns:r="http://schemas.openxmlformats.org/officeDocument/2006/relationships" id="261" r:id="R3e14d2ff220e4d44"/>
    <p:sldId xmlns:r="http://schemas.openxmlformats.org/officeDocument/2006/relationships" id="262" r:id="Rb50ed00185ea43e7"/>
    <p:sldId xmlns:r="http://schemas.openxmlformats.org/officeDocument/2006/relationships" id="263" r:id="Rf1855a79c6884dd3"/>
    <p:sldId xmlns:r="http://schemas.openxmlformats.org/officeDocument/2006/relationships" id="264" r:id="Rb9991c67b3914b52"/>
    <p:sldId xmlns:r="http://schemas.openxmlformats.org/officeDocument/2006/relationships" id="265" r:id="Rbcd514d4a1b246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cd22e3e8184c01" /><Relationship Type="http://schemas.openxmlformats.org/officeDocument/2006/relationships/slideMaster" Target="/ppt/slideMasters/slideMaster1.xml" Id="R8817ccd07630455c" /><Relationship Type="http://schemas.openxmlformats.org/officeDocument/2006/relationships/notesMaster" Target="/ppt/notesMasters/notesMaster1.xml" Id="Rbaabf86f1ed94c28" /><Relationship Type="http://schemas.openxmlformats.org/officeDocument/2006/relationships/presProps" Target="/ppt/presProps.xml" Id="Re940f6209a2340eb" /><Relationship Type="http://schemas.openxmlformats.org/officeDocument/2006/relationships/tableStyles" Target="/ppt/tableStyles.xml" Id="Ra4b2b3b0a0b64c74" /><Relationship Type="http://schemas.openxmlformats.org/officeDocument/2006/relationships/slide" Target="/ppt/slides/slide1.xml" Id="R77a03a81e93b4dc2" /><Relationship Type="http://schemas.openxmlformats.org/officeDocument/2006/relationships/slide" Target="/ppt/slides/slide2.xml" Id="Rf3f2dba1417e41d4" /><Relationship Type="http://schemas.openxmlformats.org/officeDocument/2006/relationships/slide" Target="/ppt/slides/slide3.xml" Id="Rda6bf6eda9214fa0" /><Relationship Type="http://schemas.openxmlformats.org/officeDocument/2006/relationships/slide" Target="/ppt/slides/slide4.xml" Id="Rec209c2e9cc34232" /><Relationship Type="http://schemas.openxmlformats.org/officeDocument/2006/relationships/slide" Target="/ppt/slides/slide5.xml" Id="R6a9155dba36348dc" /><Relationship Type="http://schemas.openxmlformats.org/officeDocument/2006/relationships/slide" Target="/ppt/slides/slide6.xml" Id="R3e14d2ff220e4d44" /><Relationship Type="http://schemas.openxmlformats.org/officeDocument/2006/relationships/slide" Target="/ppt/slides/slide7.xml" Id="Rb50ed00185ea43e7" /><Relationship Type="http://schemas.openxmlformats.org/officeDocument/2006/relationships/slide" Target="/ppt/slides/slide8.xml" Id="Rf1855a79c6884dd3" /><Relationship Type="http://schemas.openxmlformats.org/officeDocument/2006/relationships/slide" Target="/ppt/slides/slide9.xml" Id="Rb9991c67b3914b52" /><Relationship Type="http://schemas.openxmlformats.org/officeDocument/2006/relationships/slide" Target="/ppt/slides/slide10.xml" Id="Rbcd514d4a1b246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28c6e06794c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28476305c041a0" /><Relationship Type="http://schemas.openxmlformats.org/officeDocument/2006/relationships/notesMaster" Target="/ppt/notesMasters/notesMaster1.xml" Id="R826ffdb14bd1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e330d1cffd4c31" /><Relationship Type="http://schemas.openxmlformats.org/officeDocument/2006/relationships/notesMaster" Target="/ppt/notesMasters/notesMaster1.xml" Id="Re9e2a81b173c44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5daf02b73147e8" /><Relationship Type="http://schemas.openxmlformats.org/officeDocument/2006/relationships/notesMaster" Target="/ppt/notesMasters/notesMaster1.xml" Id="R871c2e82b0fd4c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13fe075a324730" /><Relationship Type="http://schemas.openxmlformats.org/officeDocument/2006/relationships/notesMaster" Target="/ppt/notesMasters/notesMaster1.xml" Id="Reab8b316eae24e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79a0e06d404a65" /><Relationship Type="http://schemas.openxmlformats.org/officeDocument/2006/relationships/notesMaster" Target="/ppt/notesMasters/notesMaster1.xml" Id="Rf83f7fb6deae40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47d648fab4af9" /><Relationship Type="http://schemas.openxmlformats.org/officeDocument/2006/relationships/notesMaster" Target="/ppt/notesMasters/notesMaster1.xml" Id="R24d91bc6d2ab42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165490b7d34c1c" /><Relationship Type="http://schemas.openxmlformats.org/officeDocument/2006/relationships/notesMaster" Target="/ppt/notesMasters/notesMaster1.xml" Id="Re6f4048a296c4d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d7661e717d4190" /><Relationship Type="http://schemas.openxmlformats.org/officeDocument/2006/relationships/notesMaster" Target="/ppt/notesMasters/notesMaster1.xml" Id="R8b8b9e83b2ee4f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404f406f8f4f11" /><Relationship Type="http://schemas.openxmlformats.org/officeDocument/2006/relationships/notesMaster" Target="/ppt/notesMasters/notesMaster1.xml" Id="Rcf3151cc08fe4a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aacd7415bd4b91" /><Relationship Type="http://schemas.openxmlformats.org/officeDocument/2006/relationships/notesMaster" Target="/ppt/notesMasters/notesMaster1.xml" Id="R909460e1cd1e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e34b7cc9e42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5d13325564c32" /><Relationship Type="http://schemas.openxmlformats.org/officeDocument/2006/relationships/slideLayout" Target="/ppt/slideLayouts/slideLayout1.xml" Id="R957040afe85246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7040afe852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a1999cc474a28" /><Relationship Type="http://schemas.openxmlformats.org/officeDocument/2006/relationships/notesSlide" Target="/ppt/notesSlides/notesSlide1.xml" Id="Rb16dba448540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e7f97fbca48c7" /><Relationship Type="http://schemas.openxmlformats.org/officeDocument/2006/relationships/notesSlide" Target="/ppt/notesSlides/notesSlide2.xml" Id="Re7c1bb4b34434d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5df2802841ff" /><Relationship Type="http://schemas.openxmlformats.org/officeDocument/2006/relationships/notesSlide" Target="/ppt/notesSlides/notesSlide3.xml" Id="R79678acc670e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7c769ff454b58" /><Relationship Type="http://schemas.openxmlformats.org/officeDocument/2006/relationships/notesSlide" Target="/ppt/notesSlides/notesSlide4.xml" Id="R19a4565537624c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0dc6da81546a2" /><Relationship Type="http://schemas.openxmlformats.org/officeDocument/2006/relationships/notesSlide" Target="/ppt/notesSlides/notesSlide5.xml" Id="Rb2bebda9035945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0ee1a5a1943f8" /><Relationship Type="http://schemas.openxmlformats.org/officeDocument/2006/relationships/notesSlide" Target="/ppt/notesSlides/notesSlide6.xml" Id="R78659fbb2ab545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72ad4627a43a5" /><Relationship Type="http://schemas.openxmlformats.org/officeDocument/2006/relationships/notesSlide" Target="/ppt/notesSlides/notesSlide7.xml" Id="R9eeabd4df9d64c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075bf279b44f3" /><Relationship Type="http://schemas.openxmlformats.org/officeDocument/2006/relationships/notesSlide" Target="/ppt/notesSlides/notesSlide8.xml" Id="R600420d5a40640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951812a72444c" /><Relationship Type="http://schemas.openxmlformats.org/officeDocument/2006/relationships/notesSlide" Target="/ppt/notesSlides/notesSlide9.xml" Id="Re14f3c01ca9443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54bd4ca20428c" /><Relationship Type="http://schemas.openxmlformats.org/officeDocument/2006/relationships/notesSlide" Target="/ppt/notesSlides/notesSlide10.xml" Id="R87d0b6cf3710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29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D26A7-62A7-4B5A-A727-4AE6D2D5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-1524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4A"/>
          </a:solidFill>
          <a:ln xmlns:a="http://schemas.openxmlformats.org/drawingml/2006/main" w="0">
            <a:solidFill>
              <a:srgbClr val="303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44F16-4CC6-48C0-B6E7-D5BE4939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4476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241"/>
          </a:solidFill>
          <a:ln xmlns:a="http://schemas.openxmlformats.org/drawingml/2006/main" w="0">
            <a:solidFill>
              <a:srgbClr val="2B324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C7BD1-0A04-4F4F-BBEF-5ABDCD23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F0ADF-FDDD-49C0-B32D-1C64BB26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067"/>
          </a:solidFill>
          <a:ln xmlns:a="http://schemas.openxmlformats.org/drawingml/2006/main" w="0">
            <a:solidFill>
              <a:srgbClr val="4650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16F3C-8C50-46E3-A450-37E40516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A79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7A792"/>
                </a:solidFill>
                <a:latin typeface="Times New Roman"/>
                <a:ea typeface="Times New Roman"/>
                <a:cs typeface="Times New Roman"/>
              </a:rPr>
              <a:t>PAPER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09584-4FA1-4018-BE40-6528E19E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287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rPr>
              <a:t>AI Error Shocks and Dynamic Reliance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5CB6A-E251-419B-8F26-38A1FC15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479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Repeated human-AI decision tasks with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01BCF-5D4C-40A3-8AA4-C7BE2F1C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38481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2E364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43A5F-59C9-43F3-BCE8-97A27958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F15D1-8388-48E3-B5C6-40CC2453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rPr>
              <a:t>Dissertation 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70A0C-196F-4140-9086-BC3D4AAD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67150"/>
            <a:ext cx="3562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Paper 2 isolates the step from belief and feedback to reliance calibration and action threshold.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2B276-3E26-4F98-B541-7B729085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6769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2E364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F7FEF-85A3-429E-8A32-4C3FBA9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D9A90-0663-4944-AE0E-4A0053C0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43300"/>
            <a:ext cx="539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rPr>
              <a:t>Core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2C063-74F2-46C5-A030-1973A1ED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67150"/>
            <a:ext cx="539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The target is not one-shot trust. It is the path of AI adoption after local failure, feedback, and recovery.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328C5-86FC-48CD-A41D-B4A21C8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76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CDD3D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CDD3DF"/>
                </a:solidFill>
                <a:latin typeface="Times New Roman"/>
                <a:ea typeface="Times New Roman"/>
                <a:cs typeface="Times New Roman"/>
              </a:rPr>
              <a:t>Belief formation -&gt; reliance calibration / action threshold -&gt;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867570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10CA14-7A31-4B84-98D2-F78125F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76122-A027-443D-89A2-DE00F05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54F9B-DC58-47DD-AA63-65DD97F8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32C1C-AC70-4DFE-B582-C51EE31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A960B-8BF2-4B45-968E-98CCA2E1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2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ABCA1-61BB-4A34-98AD-6E7AF18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Repeated reliance is different from one-time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8247F-7897-4363-9CEA-DB163530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This paper asks how people re-allocate reliance across rounds after feedback, local failure, and recovery.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27EA5-2573-459D-97C5-1AC73833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9908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A3BB6-9FA7-4D71-A6A5-C171DCA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571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1F967-26F8-45D2-9FE9-B972E3EF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Most prior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B9795-7A22-45DF-808B-409F7824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2705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One-shot advice taking</a:t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Short trust adjustment</a:t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Local error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03DC5-D561-4900-8F61-CE4D24AD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29908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47BAE-0905-41C9-BBBA-0F1C463F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571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8FE3D-01B8-4D66-B0BB-B0F3D4B7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This paper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796AA-4766-49B3-A23D-6FB79000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705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Repeated self-versus-AI choice</a:t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Full feedback every round</a:t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Dynamic adoption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7EB41-55C2-4F2D-8F36-512B42EB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34671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BB900-346C-459B-AE62-D09030B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571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64F4F-6020-4D7C-BC1B-EFFCE55E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key 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DF886-1D8D-403B-A6F5-509B204A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31813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If AI fails locally and then recovers, do people re-calibrate? Or do they stay in self-reliance and miss later AI gains?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47D9C-D052-4D1C-87FA-0E150B9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6EC1E-F1AD-4DFD-811C-88225D6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The unit of analysis is the reliance path, not a single acceptance decision.</a:t>
            </a:r>
          </a:p>
        </p:txBody>
      </p:sp>
    </p:spTree>
    <p:extLst>
      <p:ext uri="{BB962C8B-B14F-4D97-AF65-F5344CB8AC3E}">
        <p14:creationId xmlns:p14="http://schemas.microsoft.com/office/powerpoint/2010/main" val="484745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7E6FE6-A71F-4598-B009-143DE5DD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51081-5F2C-42ED-AB4B-F6542B45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EC882-96E1-49AA-B9E9-49051EE7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6B8EC-E3E2-459B-8C91-B0601E36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92542-AEE5-4CFB-9958-781CB4DC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IDENTIFICATION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F6C87-ED8B-42A4-ADEE-DFBDFDAA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Average AI accuracy is not the identification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7FCDC-35E0-48A4-A20C-38FBB74C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Without parity control, lower AI adoption could always be explained as lower AI 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F78F3-2F42-4829-8B2E-66C5C89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381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F2FC0-0698-4E09-A6B3-32EB62C0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74EAB-AEAE-4076-B3E0-387B337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Wrong 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531C6-B49B-43F2-A017-D589C7B1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4095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If the shock condition simply has a worse AI, lower later adoption tells us nothing about path dependence.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0219E-4A82-4313-A08E-E7EA8FE2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3340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5EEF9-F200-47CC-BBAC-05506696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EE295-5560-42D0-A658-0396DD1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Target inference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B8522-1D1B-4914-9DC1-5CE4AC2F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5048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When overall AI performance is matched, a post-shock adoption gap points to reliance updating rather than lower AI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B68BA-07DF-458F-91E0-C0D33EC3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Performance parity standard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7EC81-EA66-44E1-983B-CE25640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2362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BED38-5E4D-44C0-B73A-6A9E7FE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5073E-F1D3-4881-82F2-7ADAC940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Total payoff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2469A-3706-475D-B935-EEAA1C7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matched across conditions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0C638B-7484-4030-99B3-DCD0BFBF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14900"/>
            <a:ext cx="2362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E7E65-ABF6-49D2-ACB1-E3159D7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149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7DF7D-2A84-4AB9-96D4-E172CADE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29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Mean payoff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2D6EA-E135-4B1F-B896-A1BAAB6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5305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matched across conditions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C755B-9A91-4C46-916C-7E60DCF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2362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5558B-794F-4F6E-90DC-55490F0D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F0AD6D-4A09-46B8-9A2C-581505B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29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Error count and severity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D7BB1-349E-4019-B40A-66803AC9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matched across conditions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E841D-52E4-4966-9348-CE972E51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2362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A21DA-9F54-4100-91CB-52CD912B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1B166-184E-4817-9ED6-C8FC346A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292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Recovery performance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5B7BC-4F85-42AC-B4C4-81CDE8C4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5305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matched after the shock block</a:t>
            </a:r>
          </a:p>
        </p:txBody>
      </p:sp>
    </p:spTree>
    <p:extLst>
      <p:ext uri="{BB962C8B-B14F-4D97-AF65-F5344CB8AC3E}">
        <p14:creationId xmlns:p14="http://schemas.microsoft.com/office/powerpoint/2010/main" val="1520517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870AA-C341-4896-BD83-B838B44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48A6E-B20F-429A-A053-B139B3C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9087F-2045-4B58-B5C0-8CE2751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7D24E-BBA2-45DA-97E6-7D97C3A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21016-9BCC-46EA-B895-D10F30A1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63612-3F20-4882-98C9-3CA693F5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 local AI failure can become a calibration shock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D4D05-EA1E-4617-A1BC-DFC7ECBC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mechanism is path dependent: one local failure can change how later feedback is interpreted.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EAC53-EF00-4D46-9127-FC7103AD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4945-19BF-4F80-81FF-CA8A2AEE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2D719-E0A2-4088-A2B9-CE6D331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Local AI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CEB98-FCBD-4C59-9042-6B699A94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 visible miss in a pre-registered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1AF90-59F6-475B-A34B-5823F4C1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05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70658-C0B8-4439-9BAC-4E0CF043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DF7FD-9E78-45EB-A374-192B2983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D6D15-33F4-4D10-84B2-F225873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Negative AI updating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92FFC-A10E-4DE9-AA25-FCE30E07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AI attraction falls faster than it recovers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A69B4-920A-42A1-ACA8-B6FE7ADC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7ECD6-1F44-4D1C-844D-41090CBB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4EAD1-40DC-483C-BEC2-19D3FFC2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ABAFD-825A-48B9-99D4-B547750D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Lower later adoption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49D17-9290-4A33-9EDE-DA1AC8A7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Participants choose self more often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3AE21-3406-423C-BCF7-334D93B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C5BEF-6E1D-4E3B-834B-0C65CEC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2181A-6CBC-429C-97B5-BE63CCBB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4249A6-B29F-48EE-8BCD-BCCC16D4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Persistent under-reliance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065F6-83F0-490A-BCE7-21F4F560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AI recovery does not fully repair the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A4851-C357-41C1-9129-5014C56D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6863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402F5-2FBF-4C00-82BC-1B1CF60E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61084-28D8-4DA0-AF05-4B6D78BB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Timing heterogeneity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FAE89-AEE4-44B7-9ABB-DA48EB2A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Early shock can anchor the first reliability impression. Mid shock can break an already formed reliance pattern.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BFF40B-8843-4831-BBFC-D5ADCE59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6863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CEB8ED-3593-4B53-9D01-A3CEB442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C6960-2E55-4C97-AF81-3FE905C5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38650"/>
            <a:ext cx="440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Source asymmetry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D4763F-F43E-4BC2-A987-24E4A98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62500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mechanism asks whether AI errors receive heavier negative learning weights than comparable self errors.</a:t>
            </a:r>
          </a:p>
        </p:txBody>
      </p:sp>
    </p:spTree>
    <p:extLst>
      <p:ext uri="{BB962C8B-B14F-4D97-AF65-F5344CB8AC3E}">
        <p14:creationId xmlns:p14="http://schemas.microsoft.com/office/powerpoint/2010/main" val="1931219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16C9B-1816-4AA1-9A83-BB02A15C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B1FF6-2294-4536-AF3E-B2FDC452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B7B02-B483-4012-AFF5-1BAFB30F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793F9-F157-4F3A-BC0C-8E452BA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50801-A9D3-4F17-8C53-795BD482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RQ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3A688-6449-41BE-9E41-DD0F6AC7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Hypotheses, manipulations, and comparisons align cleanly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1A7B4-E000-4F47-87BD-26A6982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table keeps the deck focused on identification rather than on hypothesis prose.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74DD9-176E-4045-982F-F703F02B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64792-5AA2-41B6-947E-7CD2034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RQ /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F963A-B1CD-4376-AA88-89D0E991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621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87CDF-0A56-4C7A-80A5-2DCE33F5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574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Experimental manipulation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4044D-7CE5-4DDD-9BDD-889DC7E4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621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A5C79-59A4-437A-8815-E5E3B22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574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Key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27BB7-A4E9-44EB-8BF3-9D7A1D85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24CEB-7BB6-42A2-957D-661C58FE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574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Parity standard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14004-E980-41A8-9F69-2F4FCE07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62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1F28C-4097-44F1-94CB-D13336D4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What the comparison identifies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27E1B-9AED-4C27-B964-0985124A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61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D7296-22F7-4250-84BE-CD34769B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Dynamic updating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137B3-027C-4D37-825F-0E4745E7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384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FCFF2-B41A-48BA-80A2-3D04AEBA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336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Repeated self-versus-AI choice with full feedback every round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1E777-70BD-400A-AB39-88CFC722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0C984-F75F-4F26-9981-BEA63ED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Rounds after AI outperforms self versus rounds after AI underperforms self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DA7AC-4845-4FC5-A7AD-A4732818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2A072-0FB8-4113-B4DD-05D97B1F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336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task, same interface, same feedback rule for all participants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4F0C3B-AD10-4C7F-9F47-4B42B715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3840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3F04D-0ABA-48DB-A648-0242E36D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reliance tracks relative performance at 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F88AF-5F58-46E1-8110-3015CD1A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5FC27-ABC7-4D6F-9A83-D9C6C379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390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H2-H3</a:t>
            </a:r>
          </a:p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Shock and recovery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A95D0-FC0B-4980-BAC2-7706D15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3375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DB819-F477-4D99-864D-774C1074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2900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Concentrated AI errors followed by recovery versus balanced AI errors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222958-BAB5-40AE-84DC-5618BC7D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337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B49D47-1EAA-47CF-918A-AE61CCF2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2900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Shock versus Balanced in post-shock rounds and in recovery rounds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A142B-526D-4D16-860B-0BE94E5B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773415-39E8-427A-9F18-F78D9072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Matched total payoff, mean payoff, error count, severity, and later recovery performance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BAC080-E37C-4B90-8CD8-F2283B43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681B8C-3DCE-4BC0-8E8B-83A6DDC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247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a local failure lowers later adoption even after AI ability recovers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8AE1B9-9421-45D8-97D9-5384CD8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61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2D7F9A-DD14-46E7-ACB8-20F65CC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139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H4</a:t>
            </a:r>
          </a:p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Timing heterogeneity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FF87F7-9361-41F0-83CC-16648BA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434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1C4CEF-98D2-4606-AF13-2E3D3172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386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Move the concentrated shock to an early block or a mid block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48574E-65A7-4F25-B124-5FF9F53F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434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0FC8F3-AAAA-4C8A-AFE9-D80607D8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3865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Early Shock versus Mid Shock versus Balanced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DC96E8-2D07-4D10-B2A2-0F2C26B0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21D548-4369-438C-8E67-FF381BDF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386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Matched AI performance and matched shock intensity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7F726A-6847-4019-8E7D-48C85715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247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33DB04-7AE6-449E-9D2C-3AA1597C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8650"/>
            <a:ext cx="2247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first impressions differ from the breakdown of an established reliance pattern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B71C2D-3519-4C68-9459-18FB285E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619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CF080E-FEAB-4DFD-AE29-1F5CDB7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1390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H5-H6</a:t>
            </a:r>
          </a:p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Asymmetry and architecture shift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72A74D-502A-4556-9F1E-C99D4D0C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3875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5ED82D-4F56-4C34-B84D-50FEE7D4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34000"/>
            <a:ext cx="2057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Record reactions to AI versus self failures and measure block-level architecture preference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031FE1-0F95-485F-A101-2C4AD3B3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387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BC4310-4443-4EA5-91F7-AD0CA37D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34000"/>
            <a:ext cx="1752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loss versus self loss; post-shock architecture preferences across conditions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0A98DF-3B13-48CA-B09B-ED51608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38750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E13100-CD81-4F13-96B3-0548D3A2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counterfactual feedback and same preference schedule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E5D66D-A6A2-45FA-902F-EC84C601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3875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99B059-F3C3-4F1E-BDAF-AC59FC2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34000"/>
            <a:ext cx="2247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AI errors receive heavier learning weights and shift the preferred decision architecture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A9FD2C-4EF3-46D6-A7C1-B5A697E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All rows are readable only because performance parity is treated as a design requirement rather than an afterthought.</a:t>
            </a:r>
          </a:p>
        </p:txBody>
      </p:sp>
    </p:spTree>
    <p:extLst>
      <p:ext uri="{BB962C8B-B14F-4D97-AF65-F5344CB8AC3E}">
        <p14:creationId xmlns:p14="http://schemas.microsoft.com/office/powerpoint/2010/main" val="298962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BB6C0-39A9-4478-8040-49E210DA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02937-0B0C-4E6E-AC01-23ADBD37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887E3-12C0-48D8-AA1C-357EC5CD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10C9E-7587-483E-AE61-CD10ABE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B9B33-67AC-41C3-92DE-902BA576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97070-6508-4960-AD58-B40F13F2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We vary error timing, not average AI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D7643-9845-4E44-BD0B-AABDFC6D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treatment is the time structure of AI failure, not the amount of AI 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A335C-35ED-4E3A-82D4-A3F0DF0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276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9037B-9883-4777-B953-159BBF29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97765-4A48-4EDF-A5D8-1BD55E63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Balanced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641F3-C340-42B1-8E2F-D8BC1125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Errors are distributed across the experiment.</a:t>
            </a:r>
          </a:p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No single block delivers a concentrated shock.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3B113-F44E-4A99-B9A6-D8BC2D4C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6 blocks / 30 rounds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88808-957A-46FA-91F5-CBC8ED28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83512-7233-464B-8264-0C9269E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FD5AD-8C19-4525-9BA6-5085561C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378CF-B9D2-4315-ACA4-D654460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A49C0-759C-439C-BF80-BEFDC736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952AA-518D-4D89-BC4D-EE24E7CB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D1EDE-43DC-4D14-B5E0-476348E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043DD-F920-44E4-AAD7-E30DB2B6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E7134-7995-48C5-8CF5-07D3FE1A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F2B35-6E7A-416A-BE2A-A8779B7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A5512-24A7-4843-891D-357D48B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31AFE-8E22-4EFE-BCCD-13860465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2EBBA-8B8A-4158-B207-C89B9F2D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3276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DD8DF-E2BD-4F7A-B9E1-E99529A0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57AE2-82F6-4059-A2C8-25DC6544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Early Shock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9AEC1-9A6B-4FA6-B58B-1EADE97A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Three to four noticeable AI errors are concentrated in an early block, then AI recovers.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F3506-9CC1-4689-B560-05475F39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71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6 blocks / 30 rounds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0907E-8ED1-4E85-B934-D12F1D0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C1E84F-9C42-4EB5-9F23-9B606C75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5DDE1-3E21-4346-BF08-BECA2A80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5F4D63-2A13-4FA3-900A-B7B07E3F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A1FE66-3CCA-4C09-BD5B-6C06F6DC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415A87-4170-43F1-A830-31048EB3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E0A4A8-79D8-4C16-97AD-9EC96FF8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E34060-3ABA-461D-ABCD-F3EBE1A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ABAF35-F2EE-441C-8564-D481AAB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E3ECC-59EF-41EB-8935-DE7DC435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5D63AD-04FA-4104-9B0E-936BD196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2155A1-4BDC-4C44-AC64-A1088231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F3122E-8058-4D7B-BB6B-7B936F97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2766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5C623C-4CD5-4DF5-BF5F-4D07E611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F9D728-DCB3-489C-B4C9-86B1F73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Mid Shock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41F3EC-B8E0-4EBB-9886-D4E4C9AE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990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same concentrated shock is moved to a middle block after some reliance has already formed.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939E4A-877A-4422-98B0-07372D7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6 blocks / 30 rounds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2235DB-64A6-424C-A3CE-3A6569C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467654-3064-4BE6-B885-C52B35C9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CC59E6-8B64-4FF1-8DED-87CBFAC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CEE55F-3144-47B1-8648-638D29D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5EDA15-8B05-4442-8C55-4549E8A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CD3C51-C2F6-481D-AB52-40AB7245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5B0876-3689-4824-9848-4A626D18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022C24-8CE7-472C-A94D-C5BA1380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BD59AA-F1F2-44BD-B5E1-BEA8B636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40B4C5-2D5E-4470-B72D-A5142E2B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847AA6-7FC1-4CB7-B8A3-D02AB90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3855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8E4211-004F-49C1-B47E-20185EC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6576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25F806-1685-46F5-A887-00919624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Parity-matched across conditions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14B19E-B88A-4D61-B348-973BC755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BF1C82-E4B8-40FF-A8BE-F23C264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56DB71-3D4E-4460-A2E5-26D3E520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total payoff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08D36A-E62B-4C5B-A7D7-5B072B2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held constant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4CEFC2-4B33-4124-B753-D8FEF557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292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2DA9FE-4FDE-4849-8D47-536056A2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29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62D544-EBA3-4971-B77F-09BA2F9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mean payoff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A300812-ED8D-4AE9-BBE7-9458BD6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673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held constant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CBFE56-74A7-4C8A-B071-6EB85B19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0048BB-A5AE-4214-899D-CAC7E67D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29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9CEAF3-2B67-4C6E-A665-972B6B6D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43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error count and severity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120939-182B-4898-BD1D-6A2BA8F1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673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held constant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FF54C3-CC19-4BE0-B223-807FBE54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29200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B21471-749F-4A8E-A1A3-31C9781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29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0CE7A8-8498-484F-A2E9-43135D12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post-shock recovery performance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B836C5-BE01-4106-8E4A-02B3276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673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held constant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9B68A3-E5EB-4305-A14E-B54D32F2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29200"/>
            <a:ext cx="2781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F0C0172-779C-4981-968B-023F87DF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292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95FD918-9345-4083-A3F0-4ACF3551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435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true payoff sequence and visible history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E811EA-3368-44EE-B2C0-B98D422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673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held constant</a:t>
            </a:r>
          </a:p>
        </p:txBody>
      </p:sp>
    </p:spTree>
    <p:extLst>
      <p:ext uri="{BB962C8B-B14F-4D97-AF65-F5344CB8AC3E}">
        <p14:creationId xmlns:p14="http://schemas.microsoft.com/office/powerpoint/2010/main" val="1638314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B10F2-0AD9-4962-9399-A1978E4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F4A3E-B60C-4F01-B654-77B0DABE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64724-E78F-4208-B623-6BB290FC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EAE2D-BB41-4ECD-9AA8-D9F67727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3F9BC-2DFE-4449-8E62-6A6B194A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95E86-C223-4B86-AD53-912BD62B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19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Each participant repeatedly chooses between self and AI</a:t>
            </a:r>
          </a:p>
          <a:p xmlns:a="http://schemas.openxmlformats.org/drawingml/2006/main">
            <a:pPr algn="l">
              <a:defRPr sz="24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under full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8F3D4-B409-4B51-AFA9-9D752F6B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visual has two layers: condition logic across the study and the repeated choice cycle within each round.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0FCBD-9974-4BF8-B9D3-8EEEBB8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1. Overall study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60441-98E9-4853-A47C-D7F8CE3D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048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A6248-EA39-4472-A69A-C8414222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6139C-91F0-4958-A508-56937B0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Practice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34A9F-6A31-40B1-8278-C47979D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3 to 5 no-AI rounds</a:t>
            </a:r>
          </a:p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learn the dynamic 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92EA6-97C0-4814-AE5B-BC19E30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47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B6ECC-AE67-4643-A682-DA1CB11A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3048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FDA37-7B0F-46C2-9985-5DDFC16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D871A-FA4B-4985-8027-D0070C6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Formal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DD231-68B6-404B-B075-BCACF876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30 rounds / 6 blocks</a:t>
            </a:r>
          </a:p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assigned to one condition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861D6-19E8-48D3-9CA2-D2CDD529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47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81360-9F2B-476A-8D93-4D485AE2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048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40853-C834-4508-B7DA-55C04615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1EE5B-E1B5-44C6-B52C-2D113D85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Block measure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1EE86-13A1-4041-BD9F-912B9773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after each block</a:t>
            </a:r>
          </a:p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record architecture preference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D13A6-6716-41F4-8D57-6DC5E244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2. One round experience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AA0F2-CD95-4E48-B764-B87548B9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600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D3F57-B531-4CE2-AAB3-45DE0881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1261E-8FD2-495E-A37D-DC5453FA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See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5C8EA-A804-4324-AD7D-FDC6FF8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View the recent channel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BEC55-C71B-4E89-85CC-684D6DF0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14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AC83C-F6ED-410A-84CD-6B105155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1600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AAB81-7D81-4E0A-837F-A804B249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80AF7-70EB-484A-AD98-C7809557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291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Self allocation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5C3F78-725C-473F-A838-7E657A9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Submit a 100-point self allocation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8107A-FE84-4C0E-BF75-1A2E5B19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14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218012-2177-4C23-9B9B-8CBC045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1600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FA273-DAA0-4891-866D-8A92C639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2C39EE-8562-4C21-A054-065A588F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allocation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D10049-EA0A-4582-A625-DE011A47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See the Agent-AI recommendation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DE86CC-2092-4080-BB1F-012B8DF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14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3567A7-1F56-45B5-9279-700A8E0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1600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696644-506D-4D79-B8D4-79108DB8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CF62A7-4C77-4CCB-8F9F-3BED037A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Choose source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2F27F7-671F-4BCE-83FA-C9A76A02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Adopt self or adopt 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0F4A65-A575-4747-A090-BEC06DB1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2BDACE-D14D-4053-9D7E-EDF65199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1600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62B2A6-CFB9-41B5-BD4A-3DA71622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4A5089-1AA6-4FF8-A03D-0984856A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Full feedback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75BA72-5C9F-40AA-A2E0-14D4B38F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Observe actual and counterfactual payoffs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45DD47-7F0C-4A46-ACEA-42E1CA85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14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-&gt;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91DB62-1A98-4507-90EF-5542DD9B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14800"/>
            <a:ext cx="1600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163E99-7DA8-41E5-9DA5-6FEE2E2C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148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FA229C-0A79-4CCC-B062-5D7A2777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291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01F82E-1B34-4521-AA61-A78E6A2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Carry the new reliance state into the next round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669ADD-8F6C-4EAD-B1A7-485307F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counterfactual payoff is the key design feature because participants always see how both sources would have performed.</a:t>
            </a:r>
          </a:p>
        </p:txBody>
      </p:sp>
    </p:spTree>
    <p:extLst>
      <p:ext uri="{BB962C8B-B14F-4D97-AF65-F5344CB8AC3E}">
        <p14:creationId xmlns:p14="http://schemas.microsoft.com/office/powerpoint/2010/main" val="678433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30A9C-20CF-45B0-984A-66495B41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9CED5-1E1A-4336-814D-A019F11A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BC84C-8609-46E4-ADED-AEEE8466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D2D4F-7B91-44DA-844F-3E2F2671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44362-4EF6-4550-8687-9C799F36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84300-BCD2-4C4B-BB5D-EEED7EEC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Visible paths come first and EWA comes second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65B01-58B6-46FA-88A9-91236FEA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hierarchy is deliberate: first show the path, then identify the effect, and only then explain the mechanism.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46674-3803-431E-89C7-BC4FC349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30861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FF2A2-9063-48A7-A6F5-2F43A46F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571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5D2C9-A73E-435F-996F-51948028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Visible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1780E-ADD3-489C-AED7-4694CE4A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28003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Start with the adoption trajectory itself.</a:t>
            </a:r>
          </a:p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Question: do the groups separate after the shock and do they recover later?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82FAF-07E9-4FFD-B92E-82CA7538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0861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E0BC4-ED92-406B-BF9B-9D37E10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571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A5F35-3FD7-4170-AF3D-E82B9F0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Reduced-form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F73F8-5FA9-4D54-B302-E82D2BA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003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Use Shock x PostShock and Shock x Recovery to show that the path difference is a treatment effect, not just a descriptive pattern.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82B44-ED64-4007-B7A3-A48966F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0861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F21BC-2A0F-4978-9ED8-E61786F2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F9FF6-9C53-4611-BEE9-4F31BC2D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479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EWA-inspired mechanism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8BA0C-3B4E-42B6-A5C7-2985F0E9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28003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Only after the path is visible do we ask why recovery is incomplete and why AI errors may receive heavier weights.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0FD28-3CE9-4107-B62E-F704E97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BD626-86EE-4F2E-B404-0FCBB9C7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B17B4-305B-4A7C-BD99-7BE0682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Practical presentation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3D5E2-D2FE-40B9-A2EB-BA7DA9B1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91200"/>
            <a:ext cx="1000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In a 10-minute defense, the most important visual is the adoption path. The EWA model should explain that path,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1141430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666F94-3F59-4DD1-AD75-B5CF99EF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37F59-2FD6-4460-A0DC-A25FEA2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F6537-953F-4C76-B050-985E551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F1F5-6D66-4EEF-ADFB-E7C332C7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E226A-EDFC-4298-8324-B6839347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EXPECTED 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FA855-9C75-4F33-A086-BAB7B10F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Expected paths separate shock effects from lower AI 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FD117-024F-45BC-AB12-802A8BF2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Because parity is matched, a persistent post-shock gap points to path-dependent updating rather than weaker 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12E92-7481-439B-8128-4C719255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B34DE-2D88-478C-99C9-B39043DA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Schematic adoption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A661F-2B1D-446C-AB2D-B490D00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CFBE0-8FDD-4268-A635-00B9C186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47950"/>
            <a:ext cx="190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2C4"/>
          </a:solidFill>
          <a:ln xmlns:a="http://schemas.openxmlformats.org/drawingml/2006/main" w="0">
            <a:solidFill>
              <a:srgbClr val="DA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223CD-7CD9-4434-BA14-657D8D9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0B4AB-2B97-4FF7-907D-36F6D928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01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DBCDA-49A6-4142-874E-F1882AA6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Pre-shock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CE8DB-1A16-4E38-A73F-25B6007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48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Shock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10EF5-D8E6-4213-97DB-F5969578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48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2054A-2785-4D41-8C31-E318B8FD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6220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E8DC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2D098-D774-46C9-91FA-17914827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B"/>
          </a:solidFill>
          <a:ln xmlns:a="http://schemas.openxmlformats.org/drawingml/2006/main" w="0">
            <a:solidFill>
              <a:srgbClr val="E8DC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0FE92-9DAC-4246-A713-4DC1A9E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1371600" cy="-381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788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58CAB9-CACC-4E76-AAAD-9D569395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24200"/>
            <a:ext cx="1752600" cy="762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7883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9EC7F-4205-420C-B645-02B570B7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0400"/>
            <a:ext cx="1600200" cy="-190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788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46637D-8358-4EC3-B431-6F5BCA2A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1371600" cy="190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89B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CDFA5-E8B7-47F3-A484-4BF0ECDD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1752600" cy="8763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89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89B3D-B97B-4A3E-8009-E071818C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1600200" cy="-3238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89B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E4461B-1C87-4D73-8547-974C1865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76600"/>
            <a:ext cx="1371600" cy="-190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A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B31584-AB37-4DA3-9620-966A68CC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1752600" cy="11811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9D1A7-5190-4ECF-9E4D-0E0A2A61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38650"/>
            <a:ext cx="1600200" cy="-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A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DAD3E-7E7F-4D81-A716-E510EE4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88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78836A"/>
                </a:solidFill>
                <a:latin typeface="Times New Roman"/>
                <a:ea typeface="Times New Roman"/>
                <a:cs typeface="Times New Roman"/>
              </a:rPr>
              <a:t>Balanced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530B0-ABDC-4E06-A5F5-921AC50F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Early Shock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7CF9A-1258-48B7-825E-78FBB467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Mid Shock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6F59D-B42F-4D45-A9D7-F81C7523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38350"/>
            <a:ext cx="38481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E570D-D257-4564-87D3-D1CDB87D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38350"/>
            <a:ext cx="571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3D59E4-34F7-4B76-888B-126C915F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What the divergences mean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4C487F-BB2A-4848-8C85-27941406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5623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Post-shock gap -&gt; H2</a:t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Persistent recovery gap -&gt; H3</a:t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Early versus mid divergence -&gt; H4</a:t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Architecture shift after the shock -&gt; H6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71A95A-80F0-4B93-B0E8-7E1D505A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 visible post-shock adoption gap is meaningful only because the treatment does not lower overall AI quality.</a:t>
            </a:r>
          </a:p>
        </p:txBody>
      </p:sp>
    </p:spTree>
    <p:extLst>
      <p:ext uri="{BB962C8B-B14F-4D97-AF65-F5344CB8AC3E}">
        <p14:creationId xmlns:p14="http://schemas.microsoft.com/office/powerpoint/2010/main" val="867176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CB8AB-832F-4F96-B402-DE8F4D2E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CA99C-E818-4AB8-91AA-2630240C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31B10-064C-47F8-A8B8-DDC545D4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71458-3463-4E62-97DB-ED05FD0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6719D-59D3-41BF-9EE3-0635AA59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TAKEAWAY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CB53E-8878-43C4-888F-C2C53709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contribution is to identify path-dependent under-reliance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E0729-B2C6-4340-BFC8-F0B6183C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Paper 2 shows how local AI failure can alter later decision architecture even when AI performance returns.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61F20-BD15-4ABA-8306-9A2556E1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086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F5D61-AAD1-4851-B09A-EC1283F1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CEC34-7608-440B-86C3-8D9F6D79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DD148-6AB5-47D2-ACCE-650DD75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28003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Move from one-shot algorithm aversion to dynamic reliance updating under repeated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D9828-3457-4700-B26F-E0335CC5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3086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2F028-FC40-4359-AAB8-01C29652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7C7B9-8906-490D-B560-368CAF6F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D39BE-CEF9-4DE6-8B59-7703961F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28003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Use parity-controlled shock timing to isolate path effects instead of average performance gaps.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EE10C-40E3-426A-AA6D-6C4257C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3086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FE5D3-E0F7-4A6F-B005-62DB17D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C5FA3-5E1C-4525-8231-0268C22F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Mechanism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94C53-6837-43A3-A3CC-A748E42D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28003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Connect reduced-form adoption paths to source-specific and asymmetric learning weights.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40A15-CBCF-45E6-92D2-679F42A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FFA06-D159-48C1-AED1-EBBF3D3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A4E01-4B42-482A-95EB-92466641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Why this matters for the dissertation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3F1E2-7C05-4F3A-A3B5-C8A556C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483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Paper 1 showed how AI changes belief formation. Paper 2 shows how later feedback reshapes reliance calibration and action threshold.</a:t>
            </a:r>
          </a:p>
        </p:txBody>
      </p:sp>
    </p:spTree>
    <p:extLst>
      <p:ext uri="{BB962C8B-B14F-4D97-AF65-F5344CB8AC3E}">
        <p14:creationId xmlns:p14="http://schemas.microsoft.com/office/powerpoint/2010/main" val="172244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2026-07-04T18:42:56.2530000Z</dcterms:created>
  <dcterms:modified xsi:type="dcterms:W3CDTF">2026-07-04T18:42:56.2530000Z</dcterms:modified>
</coreProperties>
</file>