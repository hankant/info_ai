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0d436c503740d8" /><Relationship Type="http://schemas.openxmlformats.org/officeDocument/2006/relationships/extended-properties" Target="/docProps/app.xml" Id="R2629850ab6604435" /><Relationship Type="http://schemas.openxmlformats.org/officeDocument/2006/relationships/officeDocument" Target="/ppt/presentation.xml" Id="Rc9e63b773b05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39fa5e8a5b4966"/>
  </p:sldMasterIdLst>
  <p:notesMasterIdLst>
    <p:notesMasterId xmlns:r="http://schemas.openxmlformats.org/officeDocument/2006/relationships" r:id="R36273014a0184313"/>
  </p:notesMasterIdLst>
  <p:sldIdLst>
    <p:sldId xmlns:r="http://schemas.openxmlformats.org/officeDocument/2006/relationships" id="256" r:id="R3dc0ee6c7ae14fa7"/>
    <p:sldId xmlns:r="http://schemas.openxmlformats.org/officeDocument/2006/relationships" id="257" r:id="R5289ad301f2d41a7"/>
    <p:sldId xmlns:r="http://schemas.openxmlformats.org/officeDocument/2006/relationships" id="258" r:id="R916d511efdcc48e7"/>
    <p:sldId xmlns:r="http://schemas.openxmlformats.org/officeDocument/2006/relationships" id="259" r:id="Rb5c0234c2172496c"/>
    <p:sldId xmlns:r="http://schemas.openxmlformats.org/officeDocument/2006/relationships" id="260" r:id="Rc8fbe8c8c14d462a"/>
    <p:sldId xmlns:r="http://schemas.openxmlformats.org/officeDocument/2006/relationships" id="261" r:id="Rc51faaf94db54517"/>
    <p:sldId xmlns:r="http://schemas.openxmlformats.org/officeDocument/2006/relationships" id="262" r:id="Rd0d77661eb944fdd"/>
    <p:sldId xmlns:r="http://schemas.openxmlformats.org/officeDocument/2006/relationships" id="263" r:id="Rc0bab482375b4775"/>
    <p:sldId xmlns:r="http://schemas.openxmlformats.org/officeDocument/2006/relationships" id="264" r:id="Rf8bd457a65ae41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0935b3985140f3" /><Relationship Type="http://schemas.openxmlformats.org/officeDocument/2006/relationships/slideMaster" Target="/ppt/slideMasters/slideMaster1.xml" Id="Ra339fa5e8a5b4966" /><Relationship Type="http://schemas.openxmlformats.org/officeDocument/2006/relationships/notesMaster" Target="/ppt/notesMasters/notesMaster1.xml" Id="R36273014a0184313" /><Relationship Type="http://schemas.openxmlformats.org/officeDocument/2006/relationships/presProps" Target="/ppt/presProps.xml" Id="R4528f4c90a4d4354" /><Relationship Type="http://schemas.openxmlformats.org/officeDocument/2006/relationships/tableStyles" Target="/ppt/tableStyles.xml" Id="R0c6679b9485c479d" /><Relationship Type="http://schemas.openxmlformats.org/officeDocument/2006/relationships/slide" Target="/ppt/slides/slide1.xml" Id="R3dc0ee6c7ae14fa7" /><Relationship Type="http://schemas.openxmlformats.org/officeDocument/2006/relationships/slide" Target="/ppt/slides/slide2.xml" Id="R5289ad301f2d41a7" /><Relationship Type="http://schemas.openxmlformats.org/officeDocument/2006/relationships/slide" Target="/ppt/slides/slide3.xml" Id="R916d511efdcc48e7" /><Relationship Type="http://schemas.openxmlformats.org/officeDocument/2006/relationships/slide" Target="/ppt/slides/slide4.xml" Id="Rb5c0234c2172496c" /><Relationship Type="http://schemas.openxmlformats.org/officeDocument/2006/relationships/slide" Target="/ppt/slides/slide5.xml" Id="Rc8fbe8c8c14d462a" /><Relationship Type="http://schemas.openxmlformats.org/officeDocument/2006/relationships/slide" Target="/ppt/slides/slide6.xml" Id="Rc51faaf94db54517" /><Relationship Type="http://schemas.openxmlformats.org/officeDocument/2006/relationships/slide" Target="/ppt/slides/slide7.xml" Id="Rd0d77661eb944fdd" /><Relationship Type="http://schemas.openxmlformats.org/officeDocument/2006/relationships/slide" Target="/ppt/slides/slide8.xml" Id="Rc0bab482375b4775" /><Relationship Type="http://schemas.openxmlformats.org/officeDocument/2006/relationships/slide" Target="/ppt/slides/slide9.xml" Id="Rf8bd457a65ae41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bccdf43c8940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cdcf54290942a1" /><Relationship Type="http://schemas.openxmlformats.org/officeDocument/2006/relationships/notesMaster" Target="/ppt/notesMasters/notesMaster1.xml" Id="R685e49046ee949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146d5a9c3849f9" /><Relationship Type="http://schemas.openxmlformats.org/officeDocument/2006/relationships/notesMaster" Target="/ppt/notesMasters/notesMaster1.xml" Id="R1c99074c5f0341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6420478b6643bb" /><Relationship Type="http://schemas.openxmlformats.org/officeDocument/2006/relationships/notesMaster" Target="/ppt/notesMasters/notesMaster1.xml" Id="R027c4f52151c41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9fac0274264d57" /><Relationship Type="http://schemas.openxmlformats.org/officeDocument/2006/relationships/notesMaster" Target="/ppt/notesMasters/notesMaster1.xml" Id="R329b8c3a31d44e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3bd2b75e874a04" /><Relationship Type="http://schemas.openxmlformats.org/officeDocument/2006/relationships/notesMaster" Target="/ppt/notesMasters/notesMaster1.xml" Id="R580391e52f0948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52260d124243a9" /><Relationship Type="http://schemas.openxmlformats.org/officeDocument/2006/relationships/notesMaster" Target="/ppt/notesMasters/notesMaster1.xml" Id="R5c9bbce0e24442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a8b8ab087a4fb4" /><Relationship Type="http://schemas.openxmlformats.org/officeDocument/2006/relationships/notesMaster" Target="/ppt/notesMasters/notesMaster1.xml" Id="Rffd540c53bcf4d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c6e99206054e2e" /><Relationship Type="http://schemas.openxmlformats.org/officeDocument/2006/relationships/notesMaster" Target="/ppt/notesMasters/notesMaster1.xml" Id="Rd087dfb4905c46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3f9b5ee28442eb" /><Relationship Type="http://schemas.openxmlformats.org/officeDocument/2006/relationships/notesMaster" Target="/ppt/notesMasters/notesMaster1.xml" Id="Re5cf667bc53c49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the current era, AI governance must be more closely connected with behavioral science.</a:t>
            </a:r>
          </a:p>
          <a:p xmlns:a="http://schemas.openxmlformats.org/drawingml/2006/main">
            <a:r>
              <a:t>The core object of governance is not only the model itself, but the human-AI decision system that emerges once AI is embedded in organizations, institutions, and high-risk settings.</a:t>
            </a:r>
          </a:p>
          <a:p xmlns:a="http://schemas.openxmlformats.org/drawingml/2006/main">
            <a:r>
              <a:t>That is the broader framing for this dissertation.</a:t>
            </a:r>
          </a:p>
          <a:p xmlns:a="http://schemas.openxmlformats.org/drawingml/2006/main">
            <a:r>
              <a:t>I use the term AI as decision architecture to capture how AI restructures what people see first, how they interpret evidence, and how later decisions are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move is to shift the governance lens.</a:t>
            </a:r>
          </a:p>
          <a:p xmlns:a="http://schemas.openxmlformats.org/drawingml/2006/main">
            <a:r>
              <a:t>A strong model can still produce governance failure once it enters a real decision environment, because people do not respond to outputs in a vacuum.</a:t>
            </a:r>
          </a:p>
          <a:p xmlns:a="http://schemas.openxmlformats.org/drawingml/2006/main">
            <a:r>
              <a:t>Organizational procedure, incentives, and decision stakes shape what the same AI output does in practice.</a:t>
            </a:r>
          </a:p>
          <a:p xmlns:a="http://schemas.openxmlformats.org/drawingml/2006/main">
            <a:r>
              <a:t>So if we only study model performance, we miss the actual object that governance must regulate: the decision system around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also why the existing literature is not yet enough for the question I want to ask.</a:t>
            </a:r>
          </a:p>
          <a:p xmlns:a="http://schemas.openxmlformats.org/drawingml/2006/main">
            <a:r>
              <a:t>A large body of work studies whether AI improves prediction or judgment accuracy.</a:t>
            </a:r>
          </a:p>
          <a:p xmlns:a="http://schemas.openxmlformats.org/drawingml/2006/main">
            <a:r>
              <a:t>Another stream studies trust, advice taking, adoption, or delegation.</a:t>
            </a:r>
          </a:p>
          <a:p xmlns:a="http://schemas.openxmlformats.org/drawingml/2006/main">
            <a:r>
              <a:t>A third stream studies blame and responsibility after AI-assisted outcomes.</a:t>
            </a:r>
          </a:p>
          <a:p xmlns:a="http://schemas.openxmlformats.org/drawingml/2006/main">
            <a:r>
              <a:t>These are important contributions, but governance needs to understand how these mechanisms connect inside one behavioral process rather than treating them as separate problems.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second motivation is that generative AI should not be treated as only a stronger version of traditional algorithmic tools.</a:t>
            </a:r>
          </a:p>
          <a:p xmlns:a="http://schemas.openxmlformats.org/drawingml/2006/main">
            <a:r>
              <a:t>Traditional systems often provide an output that people then interpret before acting.</a:t>
            </a:r>
          </a:p>
          <a:p xmlns:a="http://schemas.openxmlformats.org/drawingml/2006/main">
            <a:r>
              <a:t>Generative AI more often presents an answer first, often together with a natural-language rationale, while verification becomes optional and delayed.</a:t>
            </a:r>
          </a:p>
          <a:p xmlns:a="http://schemas.openxmlformats.org/drawingml/2006/main">
            <a:r>
              <a:t>So the key difference is not only the source of output; it is the sequence of judgment.</a:t>
            </a:r>
          </a:p>
          <a:p xmlns:a="http://schemas.openxmlformats.org/drawingml/2006/main">
            <a:r>
              <a:t>That is why the governance problem begins earlier, at the point where explanation and verification are reorganized by the interface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Once we take that sequence seriously, behavioral science becomes foundational rather than optional.</a:t>
            </a:r>
          </a:p>
          <a:p xmlns:a="http://schemas.openxmlformats.org/drawingml/2006/main">
            <a:r>
              <a:t>Governance failure may come from people forming incorrect beliefs after interacting with AI.</a:t>
            </a:r>
          </a:p>
          <a:p xmlns:a="http://schemas.openxmlformats.org/drawingml/2006/main">
            <a:r>
              <a:t>It may come from shifted risk judgments and inappropriate reliance.</a:t>
            </a:r>
          </a:p>
          <a:p xmlns:a="http://schemas.openxmlformats.org/drawingml/2006/main">
            <a:r>
              <a:t>It may also come from responsibility being reassigned once AI participates in action.</a:t>
            </a:r>
          </a:p>
          <a:p xmlns:a="http://schemas.openxmlformats.org/drawingml/2006/main">
            <a:r>
              <a:t>Technical error is therefore only one failure path; behavioral distortion is another.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leads to the shared process that organizes the dissertation.</a:t>
            </a:r>
          </a:p>
          <a:p xmlns:a="http://schemas.openxmlformats.org/drawingml/2006/main">
            <a:r>
              <a:t>First, there is belief formation: what do people come to believe after interacting with AI?</a:t>
            </a:r>
          </a:p>
          <a:p xmlns:a="http://schemas.openxmlformats.org/drawingml/2006/main">
            <a:r>
              <a:t>Second, there is risk appraisal and reliance calibration: given those beliefs and later feedback, when do people rely, delegate, or act?</a:t>
            </a:r>
          </a:p>
          <a:p xmlns:a="http://schemas.openxmlformats.org/drawingml/2006/main">
            <a:r>
              <a:t>Third, there is responsibility: once action occurs, how are ownership, blame, and accountability assigned?</a:t>
            </a:r>
          </a:p>
          <a:p xmlns:a="http://schemas.openxmlformats.org/drawingml/2006/main">
            <a:r>
              <a:t>The point is that these are not isolated topics. They are connected stages of one AI-mediated high-risk decision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dissertation narrows that broader governance problem into a more specific theoretical object: AI as decision architecture.</a:t>
            </a:r>
          </a:p>
          <a:p xmlns:a="http://schemas.openxmlformats.org/drawingml/2006/main">
            <a:r>
              <a:t>I use this as an integrative analytical framework, not as a claim that the theory is already fully settled.</a:t>
            </a:r>
          </a:p>
          <a:p xmlns:a="http://schemas.openxmlformats.org/drawingml/2006/main">
            <a:r>
              <a:t>The framework highlights four things AI can restructure: information flow, cognitive burden, action thresholds, and responsibility relations.</a:t>
            </a:r>
          </a:p>
          <a:p xmlns:a="http://schemas.openxmlformats.org/drawingml/2006/main">
            <a:r>
              <a:t>In other words, AI matters not only because it produces content, but because it reorganizes how consequential human decisions are reached.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three papers fit together.</a:t>
            </a:r>
          </a:p>
          <a:p xmlns:a="http://schemas.openxmlformats.org/drawingml/2006/main">
            <a:r>
              <a:t>Paper 1 studies the mapping from evidence to belief.</a:t>
            </a:r>
          </a:p>
          <a:p xmlns:a="http://schemas.openxmlformats.org/drawingml/2006/main">
            <a:r>
              <a:t>Paper 2 studies how belief and feedback recalibrate action thresholds and reliance under repeated interaction.</a:t>
            </a:r>
          </a:p>
          <a:p xmlns:a="http://schemas.openxmlformats.org/drawingml/2006/main">
            <a:r>
              <a:t>Paper 3 studies how action connects to responsibility attribution once AI-assisted outcomes occur.</a:t>
            </a:r>
          </a:p>
          <a:p xmlns:a="http://schemas.openxmlformats.org/drawingml/2006/main">
            <a:r>
              <a:t>So the unity comes from one process, while the independence comes from different mechanisms, tasks, and outcome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also explains the order of presentation.</a:t>
            </a:r>
          </a:p>
          <a:p xmlns:a="http://schemas.openxmlformats.org/drawingml/2006/main">
            <a:r>
              <a:t>I begin with Paper 1 because if the evidence-to-belief mapping is already reshaped by answer-first AI, later reliance and responsibility are built on that altered base.</a:t>
            </a:r>
          </a:p>
          <a:p xmlns:a="http://schemas.openxmlformats.org/drawingml/2006/main">
            <a:r>
              <a:t>So the first paper asks whether answer-first AI distorts information search and Bayesian updating before the later stages even begin.</a:t>
            </a:r>
          </a:p>
          <a:p xmlns:a="http://schemas.openxmlformats.org/drawingml/2006/main">
            <a:r>
              <a:t>That is the starting point for the dissertation's empirical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d6ce15c5944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7e4a67d64846a5" /><Relationship Type="http://schemas.openxmlformats.org/officeDocument/2006/relationships/slideLayout" Target="/ppt/slideLayouts/slideLayout1.xml" Id="R026e4319ea7a42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e4319ea7a42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17b3cfd6848be" /><Relationship Type="http://schemas.openxmlformats.org/officeDocument/2006/relationships/notesSlide" Target="/ppt/notesSlides/notesSlide1.xml" Id="Rc5775af1995843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1da0c91b34a3f" /><Relationship Type="http://schemas.openxmlformats.org/officeDocument/2006/relationships/notesSlide" Target="/ppt/notesSlides/notesSlide2.xml" Id="Rf3884740d9894e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563f4069745e4" /><Relationship Type="http://schemas.openxmlformats.org/officeDocument/2006/relationships/notesSlide" Target="/ppt/notesSlides/notesSlide3.xml" Id="Rd0da316469c749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dd0e7eaf8471c" /><Relationship Type="http://schemas.openxmlformats.org/officeDocument/2006/relationships/notesSlide" Target="/ppt/notesSlides/notesSlide4.xml" Id="Rf1408cb287fb49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67c5ca68741ff" /><Relationship Type="http://schemas.openxmlformats.org/officeDocument/2006/relationships/notesSlide" Target="/ppt/notesSlides/notesSlide5.xml" Id="Ra1a0d128567842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0fbf115a24d9d" /><Relationship Type="http://schemas.openxmlformats.org/officeDocument/2006/relationships/notesSlide" Target="/ppt/notesSlides/notesSlide6.xml" Id="Racf5c6a05dfd4c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bd8a57edb4917" /><Relationship Type="http://schemas.openxmlformats.org/officeDocument/2006/relationships/notesSlide" Target="/ppt/notesSlides/notesSlide7.xml" Id="Rd6c76e53a77541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a1ba3f91e49fd" /><Relationship Type="http://schemas.openxmlformats.org/officeDocument/2006/relationships/notesSlide" Target="/ppt/notesSlides/notesSlide8.xml" Id="R936728a22c7041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f85cb12244ce6" /><Relationship Type="http://schemas.openxmlformats.org/officeDocument/2006/relationships/notesSlide" Target="/ppt/notesSlides/notesSlide9.xml" Id="Rf8fa63fcb92b41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C204B-3179-44D8-81E7-FEAB9CD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37A29-86EF-4A74-8CA8-A69E364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4062"/>
          </a:solidFill>
          <a:ln xmlns:a="http://schemas.openxmlformats.org/drawingml/2006/main" w="0">
            <a:solidFill>
              <a:srgbClr val="3140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6497-882C-4AF6-8BA4-F01DE5F1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554"/>
          </a:solidFill>
          <a:ln xmlns:a="http://schemas.openxmlformats.org/drawingml/2006/main" w="0">
            <a:solidFill>
              <a:srgbClr val="2735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DC890-D599-49A0-8FE6-67D1CCA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FDAA85-D395-4DE1-98D7-873FCD92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9C07FF-7E19-4104-BF41-50865A70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DOCTORAL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CFF7-BFDF-478D-B3F2-B4058F0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AI as Decision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CA5DD-ABAC-468E-8D1E-A5AFDD4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DDE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D8DDE7"/>
                </a:solidFill>
                <a:latin typeface="Times New Roman"/>
                <a:ea typeface="Times New Roman"/>
                <a:cs typeface="Times New Roman"/>
              </a:rPr>
              <a:t>Why AI governance needs behavioral science once AI is embedded in human decision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7BC5-2FD6-4ACB-B366-0520013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Xu | Doctoral Project Intro | July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1F2-DFFC-4047-8D5E-1BF8C1E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6E328-5B26-4BFC-9065-3C8A799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DB497-1322-46F4-9FAB-49DCD4A5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763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OLD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4B6D-4CBC-4BA3-8748-198E362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478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Model-centered 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112DA-5C4B-40D6-B599-619F832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Focuses on model accuracy, robustness, and technical error.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76047-05A3-4996-9D4E-774241E0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8571E-12B6-45F9-9B1E-92DC7E5E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5516C-F448-49BC-8642-A0CFBC0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NEW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658D2-68D2-405C-B0A2-69AAFDD2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Human-AI decision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EF8D6-EA3D-48DE-8BC5-56DEFFE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Governance also depends on how people judge, rely, and act with 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5BD51-27D3-4547-A140-05BC156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8C82F-B218-49F6-A5E6-74D3E21A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4FFA7-7B17-4112-B63B-124E393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338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CORE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31015-7C78-4200-AC34-8E97670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053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Why one dissertation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4030D-34E5-4E98-BC05-4A8E687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Because the three papers identify one behavioral governance problem in stages.</a:t>
            </a:r>
          </a:p>
        </p:txBody>
      </p:sp>
      <p:cxnSp>
        <p:nvCxnSpPr>
          <p:cNvPr id="79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144000" y="217170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144000" y="360045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D0981-74B2-474B-BBC5-CDD361A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D7DCE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D7DCE7"/>
                </a:solidFill>
                <a:latin typeface="Times New Roman"/>
                <a:ea typeface="Times New Roman"/>
                <a:cs typeface="Times New Roman"/>
              </a:rPr>
              <a:t>A behavioral governance framing for the dissertation as a whole.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17D40-2546-45E1-B5EF-1B71676B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90603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DCD4-B3A9-43A9-9636-6301648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1FE3-3025-4189-ABD5-70DD71F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B50C-AA6A-4AF1-918F-ABDC283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06DD-4C17-467F-A888-3DE4648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D8AC3-5B34-40FA-994E-891DCFB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634ED8-D3EA-49E9-BBEA-98737AC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GOVERNANCE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5B24-C435-404E-9859-EF3CBE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AI governance must study the human-AI decision system, not only the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0841-F33B-4F60-A7DB-4BD1955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Once AI is embedded in organizations, institutions, and high-risk settings, the relevant object is a human-AI decision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982E-BCBD-4F34-A9C2-610D8E4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B511-A69D-4108-BA0E-1D6DCF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ACBB-8ECA-4AAE-A3E9-78952C3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core governance object is no longer only the model but the decision system that surrounds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EDA6-59F5-49AE-9B0B-AEBB4A6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2272-86A5-48D4-8C1F-630C7A0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Organizational procedure, incentives, and decision stakes shape what the same AI output does in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1E046-AA38-4284-AA6B-8F3E1B2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85529-8CB3-4DDC-9B83-0A823D3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In high-risk settings, governance has to explain behavior inside the system, not just model quality.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9D49-83B2-492F-9A36-C6988EA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C835-8862-466B-9549-8D694E0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829A-5E76-48CB-B589-B34260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SYSTEM SHIFT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40875-1A42-43C0-84C3-85E10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17304-94AA-4AD0-AB49-4B1F655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F557-BD78-4306-AF40-3364D71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908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Decision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CF72C-0B05-4899-B130-DD62B7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5ECB-3ADF-431F-8E94-99CDBA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Human judgment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C01C-CA3E-42E3-BEA4-B1D27B4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D4"/>
          </a:solidFill>
          <a:ln xmlns:a="http://schemas.openxmlformats.org/drawingml/2006/main" w="0">
            <a:solidFill>
              <a:srgbClr val="E6E0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8EC10-EBD0-40A8-80FE-2A51AC9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Institutional 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FF79-CD46-45DB-98A3-BF020A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 model can be technically strong and still produce governance failure once it enters real decision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9902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CURRENT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Existing research often studies accuracy, reliance, and blame separately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That separation is analytically useful, but incomplete for governance once those mechanisms interact inside one decision process.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Better prediction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Many studies ask whether AI improves judgment quality or forecast accuracy.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RELIANCE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Adoption and 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Another stream asks whether people accept, follow, or delegate to AI advice.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RESPONSIBILITY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Blame after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 third stream asks who should be blamed or credited after AI-assisted outcomes.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MISSING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One connected process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What is often missing is how belief formation, reliance calibration, and responsibility attribution unfold together.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1EB7C-52B2-440D-9936-DCB450FE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D56D-D635-4A98-A6BA-E50774BC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FF709-8614-4ABF-AAFE-878C7596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8123F-0F5A-4B2D-AA3B-0850D3E3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8C6C39-218E-4CD0-9844-4542C3B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9417DA-8928-4764-984B-668CB0C9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WHY GENERATIVE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673A-CE72-4FCE-B814-A964A1A4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Generative AI changes the sequence of judgment, not only the source of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2CCEA-62DD-4924-8AF7-A52200A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This is why generative AI cannot be treated as only a stronger version of earlier algorithmic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67B5C-42FF-43B0-A315-32CD1B90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46DA4-C44F-4A1F-B9E7-3EA74E5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Traditional algorithms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36D5E-67A0-40D4-A787-4A1BA55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Generative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EE045-D2BA-4108-8F3D-881149D2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6CCEE-8000-426A-8EE9-025AD97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554DC-DAB8-4F96-9AF7-1A27045F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Model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0291B-927A-4FC9-83D5-3EBA0ACF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1BF14-0592-4A58-871B-18F2B967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2FC73-3F5D-4D9C-8F46-64B214DA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User 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72AC8-B088-41FD-824E-071CCA1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EFD8D-5772-4946-83D3-1627ACE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0352C-DC15-41AB-A3D6-ADEF84B0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Final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21A67-A17E-4F25-B9B8-147C16D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75357-147E-4EA8-8CAB-78AB5790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CD336-0E93-42B9-B4CB-460E250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Answer-first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3167C-4798-480B-9FA7-1C09B728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7E310-2938-4CB1-982B-540B67A4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1B8BD-E27B-40FD-BAFB-DCE5E52E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004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Natural-language rationale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06845-DFA2-4F1E-A49F-AD4053C9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48FA0-C43E-48B4-8EC9-42F6E603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8278E-E92B-406D-B9B6-93CBEA09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Optional verification</a:t>
            </a:r>
          </a:p>
        </p:txBody>
      </p:sp>
      <p:cxnSp>
        <p:nvCxnSpPr>
          <p:cNvPr id="101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667000" y="3181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667000" y="4057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286750" y="3181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286750" y="4057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425C9-BC31-4F0C-AD15-37C0C3E3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1733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9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2B7927-93BC-410D-AC1C-E81F2F36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A6C79-8FFC-4B4E-9806-A38849B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SHIFT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C1616-2DE6-4617-A4D2-D8BD1920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From tool-like outputs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to conversational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mediation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89F1DC-ADED-4684-B76D-DF7A8EFB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 governance problem begins when explanation and verification are reorganized by an answer-first interface.</a:t>
            </a:r>
          </a:p>
        </p:txBody>
      </p:sp>
    </p:spTree>
    <p:extLst>
      <p:ext uri="{BB962C8B-B14F-4D97-AF65-F5344CB8AC3E}">
        <p14:creationId xmlns:p14="http://schemas.microsoft.com/office/powerpoint/2010/main" val="13462928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DCD4-B3A9-43A9-9636-6301648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1FE3-3025-4189-ABD5-70DD71F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B50C-AA6A-4AF1-918F-ABDC283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06DD-4C17-467F-A888-3DE4648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D8AC3-5B34-40FA-994E-891DCFB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634ED8-D3EA-49E9-BBEA-98737AC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BEHAVIORAL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5B24-C435-404E-9859-EF3CBE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Behavioral science explains how the same model can produce different governance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0841-F33B-4F60-A7DB-4BD1955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Different users can form different beliefs, thresholds, and responsibility intuitions from the same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982E-BCBD-4F34-A9C2-610D8E4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B511-A69D-4108-BA0E-1D6DCF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ACBB-8ECA-4AAE-A3E9-78952C3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Governance failure may come from incorrect beliefs formed after interacting with AI.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EDA6-59F5-49AE-9B0B-AEBB4A6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2272-86A5-48D4-8C1F-630C7A0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It may come from shifted risk judgments and inappropriate reliance.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1E046-AA38-4284-AA6B-8F3E1B2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85529-8CB3-4DDC-9B83-0A823D3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It may also come from responsibility being reassigned once AI participates in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9D49-83B2-492F-9A36-C6988EA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C835-8862-466B-9549-8D694E0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829A-5E76-48CB-B589-B34260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FAILURE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40875-1A42-43C0-84C3-85E10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must be explained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17304-94AA-4AD0-AB49-4B1F655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F557-BD78-4306-AF40-3364D71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908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formation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CF72C-0B05-4899-B130-DD62B7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5ECB-3ADF-431F-8E94-99CDBA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Reliance calibration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C01C-CA3E-42E3-BEA4-B1D27B4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D4"/>
          </a:solidFill>
          <a:ln xmlns:a="http://schemas.openxmlformats.org/drawingml/2006/main" w="0">
            <a:solidFill>
              <a:srgbClr val="E6E0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8EC10-EBD0-40A8-80FE-2A51AC9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Responsibility attribution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FF79-CD46-45DB-98A3-BF020A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Technical error is only one governance failure path; behavioral distortion is another.</a:t>
            </a:r>
          </a:p>
        </p:txBody>
      </p:sp>
    </p:spTree>
    <p:extLst>
      <p:ext uri="{BB962C8B-B14F-4D97-AF65-F5344CB8AC3E}">
        <p14:creationId xmlns:p14="http://schemas.microsoft.com/office/powerpoint/2010/main" val="299027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0B490-F503-4348-8B85-ABC6868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DD532-520B-4FA3-A150-B0726C4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B2CFD-2CA2-49DC-ADC9-0EC550F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E1879-730D-446E-A681-5200E119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3E2A9B-A207-46C6-932C-1D7A34A7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AD13DF-8328-4108-8536-78DE4AE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SHARED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BA439-45F1-4AC3-B4A6-912461C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Governance failure can emerge at three stages of one behavioral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7F08D-0A37-4E3E-8D4E-3B8CC88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Belief Formation -&gt; Risk Appraisal / Reliance Calibration -&gt; Responsibility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54A5-6AE4-4CD9-BA49-9F6F2914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05D0A-D15A-4B18-AE34-F4777E0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BD551-3543-4A54-B6C7-8C10B1E1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2FB1B-FAD5-44A7-9AA6-A9CA9D00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STAGE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7F4DF-FE0B-4EA2-A277-0769B4B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F90E-477F-4FE3-8C31-2D9B560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A1044-8F37-43A7-9572-735DFDD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evidence -&gt; belief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2C7F7-C882-4711-ACB6-7412EA7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8E49D-6A06-4751-B27E-54A3766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do people come to believe after interacting with AI?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D1B18-855A-44E7-8FC6-FF0F0FC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DBA94-3785-4DAC-ADEB-937FEC7D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Incorrect beliefs can arise before anyone acts.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8094C-2003-4BEE-89F1-B035221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is where AI first enters the decision architecture.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EBA97-5994-4F1D-91D2-354C1BF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8CE64-4F1F-4917-9536-3A1F1007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F40BC-79C6-4E57-A66B-83E25CA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STAGE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9F7CB-0813-4F95-96E3-B10C45B8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Risk Appraisal /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Reliance Calibration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5312F-76D1-409A-8A01-64D2502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A1277-C91F-4AC7-A2F4-B08F55D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/ feedback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-&gt; action threshold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B8AC7-F07C-4D4C-AFB4-A301E55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1FD0A-02DD-412B-889B-C8E414F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How do beliefs and feedback change delegation and action?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11C56-1D95-471B-B830-3B030A0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B617C-0AEF-466A-A187-F61F883E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Reliance can become too high, too low, or too sticky.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4902D-7F0D-4B30-B813-392A5DE4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is where people recalibrate under repetition and consequence.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B56D3-4A38-4C8D-83BC-F2CD169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499CE-5F78-426B-8EC0-70A07C51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C5510-7182-4C6E-A31E-3CF4B88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STAGE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E947F6-A9CD-425F-8C5E-7695ADE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Responsibility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C1D993-2EF9-48EE-B140-1CF4C38F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9BA36-73F0-4D88-AA45-B58BD5F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action -&gt; responsibility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CDBB11-5167-450A-A4DB-3D7722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00760-3BED-445F-A2B2-609BBD8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Who owns outcomes once AI participates in action?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2EBC5-E7B6-41D5-8F3C-74FC6940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D32CB-CB15-4A12-A134-64A2049F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Credit, blame, and accountability no longer map cleanly onto one actor.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9488E-876D-420E-B5B3-732150B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Governance must explain not only decisions but also consequence-bearing.</a:t>
            </a:r>
          </a:p>
        </p:txBody>
      </p:sp>
    </p:spTree>
    <p:extLst>
      <p:ext uri="{BB962C8B-B14F-4D97-AF65-F5344CB8AC3E}">
        <p14:creationId xmlns:p14="http://schemas.microsoft.com/office/powerpoint/2010/main" val="20827991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DECISION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This dissertation narrows the governance problem into AI as decision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Decision architecture is used here as an integrative framework, not as a fully settled theory.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INFORMATION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reaches the person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AI can reorder evidence, summary, explanation, and verification.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COGNITIVE BURDEN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must be processed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It changes what people feel they need to inspect, infer, or own themselves.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ACTION THRESHOLDS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When action is triggered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It recalibrates reliance, delegation, and the point at which people act.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RESPONSIBILITY RELATIONS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Who bears consequences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It reshapes ownership, accountability, and responsibility sharing after action.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three papers isolate different mappings within the same decision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Unity comes from one process; independence comes from different mechanisms, tasks, and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evidence -&gt; belief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How answer-first AI changes evidence search, Bayesian updating, and subjective mastery.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/ feedback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-&gt; action threshold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How early AI error recalibrates reliance under repeated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action -&gt; responsibility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How AI-assisted action redistributes ownership and responsibility attribution.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UNITY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One process, layered identification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These are not loose experiments but linked studies of one AI-mediated high-risk decision process.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1AFAC-A811-4506-9EE6-ED6A2F4B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0868E-2E4A-4755-B655-3776EF5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DCDA0-B520-4C6E-BA0A-E5C09B32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33631-AFA0-432E-B55D-1EB695C8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ACD987-1F0A-42D1-9961-3024CD8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BA5193-3942-47C1-9EB6-448E4D9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BRIDGE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6174C-9EAE-4F18-B203-FC84E7A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 therefore begin with Paper 1, where AI first changes what people come to believe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06241-72EE-4F09-9A44-2BFACD15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If the evidence-to-belief mapping is already reshaped, later reliance and responsibility are built on that altered 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4BF8E-884E-4856-9F94-33636F9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4AB93-355B-44B4-B9A5-2846659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6DF73-638F-419D-9BA9-D58A2707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EC75C-94F4-46B5-AD41-B1EEE30D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3F307-9F94-48E4-A1A5-A1BFF18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formation comes first.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6B0F5-DE73-433E-8E49-4C3F6667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8148-829A-4CF8-A848-A82B583E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5EC26-BBB2-41ED-898D-A4B72018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2A9A1-3CD2-4807-BF33-6479DDC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Later calibration depends on earlier beliefs.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FABD5-B9C3-49DC-8315-FBEC63F3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2EA11-D077-4409-BCE7-6D7E431C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A6919-BCFB-483C-B8D4-D5DE5283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AC472-23C9-4C3B-B76F-5459D7C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Responsibility judgments depend on later 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1EF7A-55D7-4ACC-95D8-EBE847E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937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0FD9E-642F-4BB3-96D0-46C13BA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29717-9624-470E-B2B7-46F868F1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NEXT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03A13-9322-4627-B297-6483987C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Paper 1 asks whether answer-first AI distorts information search and Bayesian updating before later stages even begin.</a:t>
            </a:r>
          </a:p>
        </p:txBody>
      </p:sp>
    </p:spTree>
    <p:extLst>
      <p:ext uri="{BB962C8B-B14F-4D97-AF65-F5344CB8AC3E}">
        <p14:creationId xmlns:p14="http://schemas.microsoft.com/office/powerpoint/2010/main" val="1237911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2026-07-04T11:03:42.5240000Z</dcterms:created>
  <dcterms:modified xsi:type="dcterms:W3CDTF">2026-07-04T11:03:42.5240000Z</dcterms:modified>
</coreProperties>
</file>