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e4d55aaec4e44ab" /><Relationship Type="http://schemas.openxmlformats.org/officeDocument/2006/relationships/extended-properties" Target="/docProps/app.xml" Id="R650660c36ba74b95" /><Relationship Type="http://schemas.openxmlformats.org/officeDocument/2006/relationships/officeDocument" Target="/ppt/presentation.xml" Id="Rbf331587d447487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ebc656e25e4e9e"/>
  </p:sldMasterIdLst>
  <p:notesMasterIdLst>
    <p:notesMasterId xmlns:r="http://schemas.openxmlformats.org/officeDocument/2006/relationships" r:id="R095c80f0da674963"/>
  </p:notesMasterIdLst>
  <p:sldIdLst>
    <p:sldId xmlns:r="http://schemas.openxmlformats.org/officeDocument/2006/relationships" id="256" r:id="R1e4e23029a664ad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af825502654df4" /><Relationship Type="http://schemas.openxmlformats.org/officeDocument/2006/relationships/slideMaster" Target="/ppt/slideMasters/slideMaster1.xml" Id="Refebc656e25e4e9e" /><Relationship Type="http://schemas.openxmlformats.org/officeDocument/2006/relationships/notesMaster" Target="/ppt/notesMasters/notesMaster1.xml" Id="R095c80f0da674963" /><Relationship Type="http://schemas.openxmlformats.org/officeDocument/2006/relationships/presProps" Target="/ppt/presProps.xml" Id="R1fcf1c24dd884e45" /><Relationship Type="http://schemas.openxmlformats.org/officeDocument/2006/relationships/tableStyles" Target="/ppt/tableStyles.xml" Id="R6d8795c23b034031" /><Relationship Type="http://schemas.openxmlformats.org/officeDocument/2006/relationships/slide" Target="/ppt/slides/slide1.xml" Id="R1e4e23029a664a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a0f014dbd94e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3d6c0059524c72" /><Relationship Type="http://schemas.openxmlformats.org/officeDocument/2006/relationships/notesMaster" Target="/ppt/notesMasters/notesMaster1.xml" Id="Red0b8b00d72a432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explains why I use an EWA-inspired model rather than treating EWA as a decorative add-on.</a:t>
            </a:r>
          </a:p>
          <a:p xmlns:a="http://schemas.openxmlformats.org/drawingml/2006/main">
            <a:r>
              <a:t>EWA fits the experiment because participants repeatedly choose between self judgment and AI judgment, then observe both actual and counterfactual feedback. That is exactly a learning environment with evolving source attractions.</a:t>
            </a:r>
          </a:p>
          <a:p xmlns:a="http://schemas.openxmlformats.org/drawingml/2006/main">
            <a:r>
              <a:t>The reduced-form comparisons remain the main identification strategy. The EWA layer asks whether the observed path differences are consistent with asymmetric updating of AI attraction, especially after early AI errors.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16fcd0d8f441f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0aab1d4c684faa" /><Relationship Type="http://schemas.openxmlformats.org/officeDocument/2006/relationships/slideLayout" Target="/ppt/slideLayouts/slideLayout1.xml" Id="R495f287b5e0e45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5f287b5e0e45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ce09e2921646a6" /><Relationship Type="http://schemas.openxmlformats.org/officeDocument/2006/relationships/notesSlide" Target="/ppt/notesSlides/notesSlide1.xml" Id="R44abc96efcde45d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21337C-E268-4246-8668-8B769334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59436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CCB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4D26A6-6A0B-4E55-AB5D-DD1F9F96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72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845"/>
          </a:solidFill>
          <a:ln xmlns:a="http://schemas.openxmlformats.org/drawingml/2006/main" w="9525">
            <a:solidFill>
              <a:srgbClr val="B7784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4C05AD-EF46-4D5B-8B73-B382A6F99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905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 i="0">
                <a:solidFill>
                  <a:srgbClr val="B7784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B77845"/>
                </a:solidFill>
                <a:latin typeface="Times New Roman"/>
                <a:ea typeface="Times New Roman"/>
                <a:cs typeface="Times New Roman"/>
              </a:rPr>
              <a:t>EWA MECHANISM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F7E62A-43C2-4E41-8FC1-DFA3A47A1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525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625" b="1" i="0">
                <a:solidFill>
                  <a:srgbClr val="231D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1" i="0">
                <a:solidFill>
                  <a:srgbClr val="231D17"/>
                </a:solidFill>
                <a:latin typeface="Times New Roman"/>
                <a:ea typeface="Times New Roman"/>
                <a:cs typeface="Times New Roman"/>
              </a:rPr>
              <a:t>Why an EWA-Inspired Model Fits This Study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5184F8-A286-48D8-A1C5-890E4229F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04950"/>
            <a:ext cx="981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 i="0">
                <a:solidFill>
                  <a:srgbClr val="6F665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6F665C"/>
                </a:solidFill>
                <a:latin typeface="Times New Roman"/>
                <a:ea typeface="Times New Roman"/>
                <a:cs typeface="Times New Roman"/>
              </a:rPr>
              <a:t>EWA is useful because the experiment creates repeated self-versus-AI choices with actual and counterfactual feedback.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2A0FBD-EC5A-4F47-BC17-02889D6A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4057650" cy="2819400"/>
          </a:xfrm>
          <a:prstGeom xmlns:a="http://schemas.openxmlformats.org/drawingml/2006/main" prst="roundRect">
            <a:avLst>
              <a:gd name="adj" fmla="val 40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DF6481-541C-45A2-BFB4-BD0BD3E1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57150" cy="28194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B77845"/>
          </a:solidFill>
          <a:ln xmlns:a="http://schemas.openxmlformats.org/drawingml/2006/main" w="9525">
            <a:solidFill>
              <a:srgbClr val="B7784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3248A0-4BE2-4366-9951-47FFE16D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860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 i="0">
                <a:solidFill>
                  <a:srgbClr val="B7784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B77845"/>
                </a:solidFill>
                <a:latin typeface="Times New Roman"/>
                <a:ea typeface="Times New Roman"/>
                <a:cs typeface="Times New Roman"/>
              </a:rPr>
              <a:t>What EWA captures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B7E129-C8C1-4CCE-84AD-0D0A4675F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24150"/>
            <a:ext cx="33718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2" algn="l">
              <a:lnSpc>
                <a:spcPct val="106000"/>
              </a:lnSpc>
              <a:spcAft>
                <a:spcPts val="6"/>
              </a:spcAft>
              <a:buNone/>
              <a:defRPr sz="1200" b="0" i="0">
                <a:solidFill>
                  <a:srgbClr val="231D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31D17"/>
                </a:solidFill>
                <a:latin typeface="Times New Roman"/>
                <a:ea typeface="Times New Roman"/>
                <a:cs typeface="Times New Roman"/>
              </a:rPr>
              <a:t>Repeated learning over rounds, not one-shot trust.</a:t>
            </a:r>
          </a:p>
          <a:p xmlns:a="http://schemas.openxmlformats.org/drawingml/2006/main">
            <a:pPr marL="22" indent="-12" algn="l">
              <a:lnSpc>
                <a:spcPct val="106000"/>
              </a:lnSpc>
              <a:spcAft>
                <a:spcPts val="6"/>
              </a:spcAft>
              <a:buNone/>
              <a:defRPr sz="1200" b="0" i="0">
                <a:solidFill>
                  <a:srgbClr val="231D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31D17"/>
                </a:solidFill>
                <a:latin typeface="Times New Roman"/>
                <a:ea typeface="Times New Roman"/>
                <a:cs typeface="Times New Roman"/>
              </a:rPr>
              <a:t>Accumulated attraction toward AI versus self judgment.</a:t>
            </a:r>
          </a:p>
          <a:p xmlns:a="http://schemas.openxmlformats.org/drawingml/2006/main">
            <a:pPr marL="22" indent="-12" algn="l">
              <a:lnSpc>
                <a:spcPct val="106000"/>
              </a:lnSpc>
              <a:spcAft>
                <a:spcPts val="6"/>
              </a:spcAft>
              <a:buNone/>
              <a:defRPr sz="1200" b="0" i="0">
                <a:solidFill>
                  <a:srgbClr val="231D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31D17"/>
                </a:solidFill>
                <a:latin typeface="Times New Roman"/>
                <a:ea typeface="Times New Roman"/>
                <a:cs typeface="Times New Roman"/>
              </a:rPr>
              <a:t>Updating from both chosen and foregone payoffs.</a:t>
            </a:r>
          </a:p>
          <a:p xmlns:a="http://schemas.openxmlformats.org/drawingml/2006/main">
            <a:pPr marL="22" indent="-12" algn="l">
              <a:lnSpc>
                <a:spcPct val="106000"/>
              </a:lnSpc>
              <a:spcAft>
                <a:spcPts val="6"/>
              </a:spcAft>
              <a:buNone/>
              <a:defRPr sz="1200" b="0" i="0">
                <a:solidFill>
                  <a:srgbClr val="231D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31D17"/>
                </a:solidFill>
                <a:latin typeface="Times New Roman"/>
                <a:ea typeface="Times New Roman"/>
                <a:cs typeface="Times New Roman"/>
              </a:rPr>
              <a:t>Path dependence: early feedback enters later attraction.</a:t>
            </a:r>
          </a:p>
          <a:p xmlns:a="http://schemas.openxmlformats.org/drawingml/2006/main">
            <a:pPr marL="22" indent="-12" algn="l">
              <a:lnSpc>
                <a:spcPct val="106000"/>
              </a:lnSpc>
              <a:spcAft>
                <a:spcPts val="6"/>
              </a:spcAft>
              <a:buNone/>
              <a:defRPr sz="1200" b="0" i="0">
                <a:solidFill>
                  <a:srgbClr val="231D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231D17"/>
                </a:solidFill>
                <a:latin typeface="Times New Roman"/>
                <a:ea typeface="Times New Roman"/>
                <a:cs typeface="Times New Roman"/>
              </a:rPr>
              <a:t>Possible asymmetry in how AI and self errors are weighted.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9E0439-3E81-4D19-81B0-DE916B8FB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00550"/>
            <a:ext cx="33528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1E8DA"/>
          </a:solidFill>
          <a:ln xmlns:a="http://schemas.openxmlformats.org/drawingml/2006/main" w="9525">
            <a:solidFill>
              <a:srgbClr val="E7D4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9388E4-9836-45E0-977D-6D3A0EAD4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76750"/>
            <a:ext cx="3086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446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 i="0">
                <a:solidFill>
                  <a:srgbClr val="231D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231D17"/>
                </a:solidFill>
                <a:latin typeface="Times New Roman"/>
                <a:ea typeface="Times New Roman"/>
                <a:cs typeface="Times New Roman"/>
              </a:rPr>
              <a:t>Use EWA to model learning, not to replace the experimental comparison.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DDBFCB-B20C-411F-93EF-210C68D8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076450"/>
            <a:ext cx="6000750" cy="2819400"/>
          </a:xfrm>
          <a:prstGeom xmlns:a="http://schemas.openxmlformats.org/drawingml/2006/main" prst="roundRect">
            <a:avLst>
              <a:gd name="adj" fmla="val 40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F2E0CD-FD2B-45CF-A03C-6B508F1BD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2860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 i="0">
                <a:solidFill>
                  <a:srgbClr val="818A6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818A68"/>
                </a:solidFill>
                <a:latin typeface="Times New Roman"/>
                <a:ea typeface="Times New Roman"/>
                <a:cs typeface="Times New Roman"/>
              </a:rPr>
              <a:t>Which RQ/H can EWA help test?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DE8D3F-46DB-410F-BCDE-6009F55F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724150"/>
            <a:ext cx="1695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D8"/>
          </a:solidFill>
          <a:ln xmlns:a="http://schemas.openxmlformats.org/drawingml/2006/main" w="9525">
            <a:solidFill>
              <a:srgbClr val="D8CCB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E103CE-07A5-4013-9E61-DD549F7EE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800350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08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125" b="1" i="0">
                <a:solidFill>
                  <a:srgbClr val="231D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231D17"/>
                </a:solidFill>
                <a:latin typeface="Times New Roman"/>
                <a:ea typeface="Times New Roman"/>
                <a:cs typeface="Times New Roman"/>
              </a:rPr>
              <a:t>Paper 2 RQ / 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9AC421-1FB9-4A2E-B0FA-789A5887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724150"/>
            <a:ext cx="3600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5D8"/>
          </a:solidFill>
          <a:ln xmlns:a="http://schemas.openxmlformats.org/drawingml/2006/main" w="9525">
            <a:solidFill>
              <a:srgbClr val="D8CCB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8355F8-B4B0-4FBB-A48F-BD9222F06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800350"/>
            <a:ext cx="3409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08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3000"/>
              </a:lnSpc>
              <a:buNone/>
              <a:defRPr sz="1125" b="1" i="0">
                <a:solidFill>
                  <a:srgbClr val="231D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231D17"/>
                </a:solidFill>
                <a:latin typeface="Times New Roman"/>
                <a:ea typeface="Times New Roman"/>
                <a:cs typeface="Times New Roman"/>
              </a:rPr>
              <a:t>EWA model readout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D6D0C7-2BED-41B9-930B-6CB1C8EA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048000"/>
            <a:ext cx="1695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7F40F4-E466-4BED-BED2-42A2F8E26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12420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050" b="1" i="0">
                <a:solidFill>
                  <a:srgbClr val="231D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231D17"/>
                </a:solidFill>
                <a:latin typeface="Times New Roman"/>
                <a:ea typeface="Times New Roman"/>
                <a:cs typeface="Times New Roman"/>
              </a:rPr>
              <a:t>H1 Dynamic updating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6A8E7B-3A95-4274-A6AA-EE2263AFE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600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63C9AC-8D39-45EC-828B-81EBF4136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124200"/>
            <a:ext cx="3409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050" b="0" i="0">
                <a:solidFill>
                  <a:srgbClr val="231D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231D17"/>
                </a:solidFill>
                <a:latin typeface="Times New Roman"/>
                <a:ea typeface="Times New Roman"/>
                <a:cs typeface="Times New Roman"/>
              </a:rPr>
              <a:t>Do AI and self attractions track relative performance?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4736A9-53F3-4084-99C2-E0296849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409950"/>
            <a:ext cx="1695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EF"/>
          </a:solidFill>
          <a:ln xmlns:a="http://schemas.openxmlformats.org/drawingml/2006/main" w="9525">
            <a:solidFill>
              <a:srgbClr val="D8CCB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E9329D-E744-491E-928C-1A55C653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48615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050" b="1" i="0">
                <a:solidFill>
                  <a:srgbClr val="231D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231D17"/>
                </a:solidFill>
                <a:latin typeface="Times New Roman"/>
                <a:ea typeface="Times New Roman"/>
                <a:cs typeface="Times New Roman"/>
              </a:rPr>
              <a:t>H2 Shock penalty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680D1A-9153-4F64-A672-35893C173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409950"/>
            <a:ext cx="3600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EF"/>
          </a:solidFill>
          <a:ln xmlns:a="http://schemas.openxmlformats.org/drawingml/2006/main" w="9525">
            <a:solidFill>
              <a:srgbClr val="D8CCB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DF31FF-67D4-40B4-9AEF-562472C5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486150"/>
            <a:ext cx="3409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050" b="0" i="0">
                <a:solidFill>
                  <a:srgbClr val="231D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231D17"/>
                </a:solidFill>
                <a:latin typeface="Times New Roman"/>
                <a:ea typeface="Times New Roman"/>
                <a:cs typeface="Times New Roman"/>
              </a:rPr>
              <a:t>Does clustered AI failure create extra AI-attraction loss?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6EC7A6-DB4C-45B5-ACC6-7F9F1D9E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771900"/>
            <a:ext cx="1695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2E82E9-D5AE-4D22-BD78-79B618AB7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84810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050" b="1" i="0">
                <a:solidFill>
                  <a:srgbClr val="231D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231D17"/>
                </a:solidFill>
                <a:latin typeface="Times New Roman"/>
                <a:ea typeface="Times New Roman"/>
                <a:cs typeface="Times New Roman"/>
              </a:rPr>
              <a:t>H3 Recovery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39C169-0B63-403E-B8CC-B28F5025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71900"/>
            <a:ext cx="3600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1601A6-FDCB-428B-9087-5ABF9537C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848100"/>
            <a:ext cx="3409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050" b="0" i="0">
                <a:solidFill>
                  <a:srgbClr val="231D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231D17"/>
                </a:solidFill>
                <a:latin typeface="Times New Roman"/>
                <a:ea typeface="Times New Roman"/>
                <a:cs typeface="Times New Roman"/>
              </a:rPr>
              <a:t>Does attraction remain below the balanced path after recovery?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2BC25A-2B5C-4001-AE72-254C5CE0E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133850"/>
            <a:ext cx="1695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EF"/>
          </a:solidFill>
          <a:ln xmlns:a="http://schemas.openxmlformats.org/drawingml/2006/main" w="9525">
            <a:solidFill>
              <a:srgbClr val="D8CCB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7FD13A-DB97-477C-B1A6-C269B8F77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21005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050" b="1" i="0">
                <a:solidFill>
                  <a:srgbClr val="231D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231D17"/>
                </a:solidFill>
                <a:latin typeface="Times New Roman"/>
                <a:ea typeface="Times New Roman"/>
                <a:cs typeface="Times New Roman"/>
              </a:rPr>
              <a:t>H4 Timing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E71E08-B04E-44FC-BA97-91A2EBF62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133850"/>
            <a:ext cx="3600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6EF"/>
          </a:solidFill>
          <a:ln xmlns:a="http://schemas.openxmlformats.org/drawingml/2006/main" w="9525">
            <a:solidFill>
              <a:srgbClr val="D8CCB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825BB7-6B42-480B-BDBD-CF4D49FEF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210050"/>
            <a:ext cx="3409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050" b="0" i="0">
                <a:solidFill>
                  <a:srgbClr val="231D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231D17"/>
                </a:solidFill>
                <a:latin typeface="Times New Roman"/>
                <a:ea typeface="Times New Roman"/>
                <a:cs typeface="Times New Roman"/>
              </a:rPr>
              <a:t>Is early shock harder to repair than mid shock?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BC098B-9179-4ADF-B2D6-3EDFF944F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495800"/>
            <a:ext cx="1695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91B2631-1486-49BD-8B44-8AA1FC20C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57200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050" b="1" i="0">
                <a:solidFill>
                  <a:srgbClr val="231D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231D17"/>
                </a:solidFill>
                <a:latin typeface="Times New Roman"/>
                <a:ea typeface="Times New Roman"/>
                <a:cs typeface="Times New Roman"/>
              </a:rPr>
              <a:t>H5 Source asymmetry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89B8135-F9B7-4F98-937A-49079F61E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95800"/>
            <a:ext cx="3600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CC72DA3-D4D6-4157-B442-4E175158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572000"/>
            <a:ext cx="3409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050" b="0" i="0">
                <a:solidFill>
                  <a:srgbClr val="231D1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231D17"/>
                </a:solidFill>
                <a:latin typeface="Times New Roman"/>
                <a:ea typeface="Times New Roman"/>
                <a:cs typeface="Times New Roman"/>
              </a:rPr>
              <a:t>Is negative updating stronger after AI misses than self misses?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16D9858-6E15-4A2A-9BC6-917368DF8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103251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23384A"/>
          </a:solidFill>
          <a:ln xmlns:a="http://schemas.openxmlformats.org/drawingml/2006/main" w="9525">
            <a:solidFill>
              <a:srgbClr val="23384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B139EDF-61EF-4BB6-87C6-CBB5FA70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3340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4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1" i="0">
                <a:solidFill>
                  <a:srgbClr val="E7D4C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E7D4C3"/>
                </a:solidFill>
                <a:latin typeface="Times New Roman"/>
                <a:ea typeface="Times New Roman"/>
                <a:cs typeface="Times New Roman"/>
              </a:rPr>
              <a:t>Minimal model intuition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87D526C-8AAA-42BA-A7F7-7C1C34511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6007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1" i="0">
                <a:solidFill>
                  <a:srgbClr val="F5F0E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F5F0E6"/>
                </a:solidFill>
                <a:latin typeface="Times New Roman"/>
                <a:ea typeface="Times New Roman"/>
                <a:cs typeface="Times New Roman"/>
              </a:rPr>
              <a:t>P(choose AI)t = f(AI attractiont - Self attractiont)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7D2723B-4572-434F-B1FE-AA47FF9F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334000"/>
            <a:ext cx="5105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2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 i="0">
                <a:solidFill>
                  <a:srgbClr val="F5F0E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F5F0E6"/>
                </a:solidFill>
                <a:latin typeface="Times New Roman"/>
                <a:ea typeface="Times New Roman"/>
                <a:cs typeface="Times New Roman"/>
              </a:rPr>
              <a:t>Reduced-form comparisons show whether reliance paths differ. EWA-inspired estimation tests whether the difference comes from asymmetric updating of source attraction.</a:t>
            </a:r>
          </a:p>
        </p:txBody>
      </p:sp>
    </p:spTree>
    <p:extLst>
      <p:ext uri="{BB962C8B-B14F-4D97-AF65-F5344CB8AC3E}">
        <p14:creationId xmlns:p14="http://schemas.microsoft.com/office/powerpoint/2010/main" val="13187200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2026-07-06T08:56:21.7340000Z</dcterms:created>
  <dcterms:modified xsi:type="dcterms:W3CDTF">2026-07-06T08:56:21.7340000Z</dcterms:modified>
</coreProperties>
</file>