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Now I will move to the first paper of my dissertation.</a:t>
            </a:r>
            <a:endParaRPr lang="en-US">
              <a:latin typeface="Times New Roman" panose="02020603050405020304" pitchFamily="18" charset="0"/>
            </a:endParaRPr>
          </a:p>
          <a:p>
            <a:r>
              <a:rPr lang="en-US">
                <a:latin typeface="Times New Roman" panose="02020603050405020304" pitchFamily="18" charset="0"/>
              </a:rPr>
              <a:t>This paper focuses how people move from evidence to belief.</a:t>
            </a:r>
            <a:endParaRPr lang="en-US">
              <a:latin typeface="Times New Roman" panose="02020603050405020304" pitchFamily="18" charset="0"/>
            </a:endParaRPr>
          </a:p>
          <a:p>
            <a:r>
              <a:rPr lang="en-US">
                <a:latin typeface="Times New Roman" panose="02020603050405020304" pitchFamily="18" charset="0"/>
              </a:rPr>
              <a:t>The basic idea is simple.</a:t>
            </a:r>
            <a:endParaRPr lang="en-US">
              <a:latin typeface="Times New Roman" panose="02020603050405020304" pitchFamily="18" charset="0"/>
            </a:endParaRPr>
          </a:p>
          <a:p>
            <a:r>
              <a:rPr lang="en-US">
                <a:latin typeface="Times New Roman" panose="02020603050405020304" pitchFamily="18" charset="0"/>
              </a:rPr>
              <a:t>Generative AI does not only give people an answer faster.</a:t>
            </a:r>
            <a:endParaRPr lang="en-US">
              <a:latin typeface="Times New Roman" panose="02020603050405020304" pitchFamily="18" charset="0"/>
            </a:endParaRPr>
          </a:p>
          <a:p>
            <a:r>
              <a:rPr lang="en-US">
                <a:latin typeface="Times New Roman" panose="02020603050405020304" pitchFamily="18" charset="0"/>
              </a:rPr>
              <a:t>It may also change when people feel they have already seen enough evidence.</a:t>
            </a:r>
            <a:endParaRPr lang="en-US">
              <a:latin typeface="Times New Roman" panose="02020603050405020304" pitchFamily="18" charset="0"/>
            </a:endParaRPr>
          </a:p>
          <a:p>
            <a:r>
              <a:rPr lang="en-US">
                <a:latin typeface="Times New Roman" panose="02020603050405020304" pitchFamily="18" charset="0"/>
              </a:rPr>
              <a:t>The key question is: does AI change the point at which people stop looking for more information?</a:t>
            </a:r>
            <a:endParaRPr lang="en-US">
              <a:latin typeface="Times New Roman" panose="02020603050405020304" pitchFamily="18" charset="0"/>
            </a:endParaRPr>
          </a:p>
          <a:p>
            <a:r>
              <a:rPr lang="en-US">
                <a:latin typeface="Times New Roman" panose="02020603050405020304" pitchFamily="18" charset="0"/>
              </a:rPr>
              <a:t>and if it does ，is that change beneficial or harmful?</a:t>
            </a:r>
            <a:endParaRPr lang="en-US">
              <a:latin typeface="Times New Roman" panose="02020603050405020304" pitchFamily="18" charset="0"/>
            </a:endParaRPr>
          </a:p>
          <a:p>
            <a:r>
              <a:rPr lang="en-US">
                <a:latin typeface="Times New Roman" panose="02020603050405020304" pitchFamily="18" charset="0"/>
              </a:rPr>
              <a:t>That is why this paper focuses on information calibration.</a:t>
            </a:r>
            <a:endParaRPr lang="en-US">
              <a:latin typeface="Times New Roman" panose="02020603050405020304" pitchFamily="18" charset="0"/>
            </a:endParaRPr>
          </a:p>
          <a:p>
            <a:r>
              <a:rPr lang="en-US">
                <a:latin typeface="Times New Roman" panose="02020603050405020304" pitchFamily="18" charset="0"/>
              </a:rPr>
              <a:t>By information calibration, I mean whether people can correctly judge whether the current evidence is already enough, or whether more evidence is still worth searching for.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Let me start with a simple contrast.</a:t>
            </a:r>
            <a:endParaRPr lang="en-US">
              <a:latin typeface="Times New Roman" panose="02020603050405020304" pitchFamily="18" charset="0"/>
            </a:endParaRPr>
          </a:p>
          <a:p>
            <a:r>
              <a:rPr lang="en-US">
                <a:latin typeface="Times New Roman" panose="02020603050405020304" pitchFamily="18" charset="0"/>
              </a:rPr>
              <a:t>When we use a search engine, we usually see evidence first.</a:t>
            </a:r>
            <a:endParaRPr lang="en-US">
              <a:latin typeface="Times New Roman" panose="02020603050405020304" pitchFamily="18" charset="0"/>
            </a:endParaRPr>
          </a:p>
          <a:p>
            <a:r>
              <a:rPr lang="en-US">
                <a:latin typeface="Times New Roman" panose="02020603050405020304" pitchFamily="18" charset="0"/>
              </a:rPr>
              <a:t>We open different links.</a:t>
            </a:r>
            <a:endParaRPr lang="en-US">
              <a:latin typeface="Times New Roman" panose="02020603050405020304" pitchFamily="18" charset="0"/>
            </a:endParaRPr>
          </a:p>
          <a:p>
            <a:r>
              <a:rPr lang="en-US">
                <a:latin typeface="Times New Roman" panose="02020603050405020304" pitchFamily="18" charset="0"/>
              </a:rPr>
              <a:t>We compare sources.</a:t>
            </a:r>
            <a:endParaRPr lang="en-US">
              <a:latin typeface="Times New Roman" panose="02020603050405020304" pitchFamily="18" charset="0"/>
            </a:endParaRPr>
          </a:p>
          <a:p>
            <a:r>
              <a:rPr lang="en-US">
                <a:latin typeface="Times New Roman" panose="02020603050405020304" pitchFamily="18" charset="0"/>
              </a:rPr>
              <a:t>We notice disagreement.</a:t>
            </a:r>
            <a:endParaRPr lang="en-US">
              <a:latin typeface="Times New Roman" panose="02020603050405020304" pitchFamily="18" charset="0"/>
            </a:endParaRPr>
          </a:p>
          <a:p>
            <a:r>
              <a:rPr lang="en-US">
                <a:latin typeface="Times New Roman" panose="02020603050405020304" pitchFamily="18" charset="0"/>
              </a:rPr>
              <a:t>Then we slowly form our own judgment.</a:t>
            </a:r>
            <a:endParaRPr lang="en-US">
              <a:latin typeface="Times New Roman" panose="02020603050405020304" pitchFamily="18" charset="0"/>
            </a:endParaRPr>
          </a:p>
          <a:p>
            <a:r>
              <a:rPr lang="en-US">
                <a:latin typeface="Times New Roman" panose="02020603050405020304" pitchFamily="18" charset="0"/>
              </a:rPr>
              <a:t>But when we use an AI assistant, the order is often reversed.</a:t>
            </a:r>
            <a:endParaRPr lang="en-US">
              <a:latin typeface="Times New Roman" panose="02020603050405020304" pitchFamily="18" charset="0"/>
            </a:endParaRPr>
          </a:p>
          <a:p>
            <a:r>
              <a:rPr lang="en-US">
                <a:latin typeface="Times New Roman" panose="02020603050405020304" pitchFamily="18" charset="0"/>
              </a:rPr>
              <a:t>We first receive a summarized answer.</a:t>
            </a:r>
            <a:endParaRPr lang="en-US">
              <a:latin typeface="Times New Roman" panose="02020603050405020304" pitchFamily="18" charset="0"/>
            </a:endParaRPr>
          </a:p>
          <a:p>
            <a:r>
              <a:rPr lang="en-US">
                <a:latin typeface="Times New Roman" panose="02020603050405020304" pitchFamily="18" charset="0"/>
              </a:rPr>
              <a:t>The answer may already include an explanation, an example, and a conclusion.</a:t>
            </a:r>
            <a:endParaRPr lang="en-US">
              <a:latin typeface="Times New Roman" panose="02020603050405020304" pitchFamily="18" charset="0"/>
            </a:endParaRPr>
          </a:p>
          <a:p>
            <a:r>
              <a:rPr lang="en-US">
                <a:latin typeface="Times New Roman" panose="02020603050405020304" pitchFamily="18" charset="0"/>
              </a:rPr>
              <a:t>Only after that do we decide whether we want to verify it.</a:t>
            </a:r>
            <a:endParaRPr lang="en-US">
              <a:latin typeface="Times New Roman" panose="02020603050405020304" pitchFamily="18" charset="0"/>
            </a:endParaRPr>
          </a:p>
          <a:p>
            <a:r>
              <a:rPr lang="en-US">
                <a:latin typeface="Times New Roman" panose="02020603050405020304" pitchFamily="18" charset="0"/>
              </a:rPr>
              <a:t>So the difference is not only speed.</a:t>
            </a:r>
            <a:endParaRPr lang="en-US">
              <a:latin typeface="Times New Roman" panose="02020603050405020304" pitchFamily="18" charset="0"/>
            </a:endParaRPr>
          </a:p>
          <a:p>
            <a:r>
              <a:rPr lang="en-US">
                <a:latin typeface="Times New Roman" panose="02020603050405020304" pitchFamily="18" charset="0"/>
              </a:rPr>
              <a:t>The deeper difference is the order of the process.</a:t>
            </a:r>
            <a:endParaRPr lang="en-US">
              <a:latin typeface="Times New Roman" panose="02020603050405020304" pitchFamily="18" charset="0"/>
            </a:endParaRPr>
          </a:p>
          <a:p>
            <a:r>
              <a:rPr lang="en-US">
                <a:latin typeface="Times New Roman" panose="02020603050405020304" pitchFamily="18" charset="0"/>
              </a:rPr>
              <a:t>With search engines, the user moves from evidence to interpretation.</a:t>
            </a:r>
            <a:endParaRPr lang="en-US">
              <a:latin typeface="Times New Roman" panose="02020603050405020304" pitchFamily="18" charset="0"/>
            </a:endParaRPr>
          </a:p>
          <a:p>
            <a:r>
              <a:rPr lang="en-US">
                <a:latin typeface="Times New Roman" panose="02020603050405020304" pitchFamily="18" charset="0"/>
              </a:rPr>
              <a:t>With AI assistants, the user often receives an </a:t>
            </a:r>
            <a:r>
              <a:rPr lang="en-US">
                <a:latin typeface="Times New Roman" panose="02020603050405020304" pitchFamily="18" charset="0"/>
              </a:rPr>
              <a:t>conclusion first, and verification becomes optional.</a:t>
            </a:r>
            <a:endParaRPr lang="en-US">
              <a:latin typeface="Times New Roman" panose="02020603050405020304" pitchFamily="18" charset="0"/>
            </a:endParaRPr>
          </a:p>
          <a:p>
            <a:r>
              <a:rPr lang="en-US">
                <a:latin typeface="Times New Roman" panose="02020603050405020304" pitchFamily="18" charset="0"/>
              </a:rPr>
              <a:t>This reversal is the starting intuition of the paper.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creates an important problem.</a:t>
            </a:r>
            <a:endParaRPr lang="en-US">
              <a:latin typeface="Times New Roman" panose="02020603050405020304" pitchFamily="18" charset="0"/>
            </a:endParaRPr>
          </a:p>
          <a:p>
            <a:r>
              <a:rPr lang="en-US">
                <a:latin typeface="Times New Roman" panose="02020603050405020304" pitchFamily="18" charset="0"/>
              </a:rPr>
              <a:t>If people search less after seeing an AI answer, should we worry?</a:t>
            </a:r>
            <a:endParaRPr lang="en-US">
              <a:latin typeface="Times New Roman" panose="02020603050405020304" pitchFamily="18" charset="0"/>
            </a:endParaRPr>
          </a:p>
          <a:p>
            <a:r>
              <a:rPr lang="en-US">
                <a:latin typeface="Times New Roman" panose="02020603050405020304" pitchFamily="18" charset="0"/>
              </a:rPr>
              <a:t>Not necessarily.</a:t>
            </a:r>
            <a:endParaRPr lang="en-US">
              <a:latin typeface="Times New Roman" panose="02020603050405020304" pitchFamily="18" charset="0"/>
            </a:endParaRPr>
          </a:p>
          <a:p>
            <a:r>
              <a:rPr lang="en-US">
                <a:latin typeface="Times New Roman" panose="02020603050405020304" pitchFamily="18" charset="0"/>
              </a:rPr>
              <a:t>Less search can mean two very different things.</a:t>
            </a:r>
            <a:endParaRPr lang="en-US">
              <a:latin typeface="Times New Roman" panose="02020603050405020304" pitchFamily="18" charset="0"/>
            </a:endParaRPr>
          </a:p>
          <a:p>
            <a:r>
              <a:rPr lang="en-US">
                <a:latin typeface="Times New Roman" panose="02020603050405020304" pitchFamily="18" charset="0"/>
              </a:rPr>
              <a:t>In the first case, AI has already compressed useful evidence well.</a:t>
            </a:r>
            <a:endParaRPr lang="en-US">
              <a:latin typeface="Times New Roman" panose="02020603050405020304" pitchFamily="18" charset="0"/>
            </a:endParaRPr>
          </a:p>
          <a:p>
            <a:r>
              <a:rPr lang="en-US">
                <a:latin typeface="Times New Roman" panose="02020603050405020304" pitchFamily="18" charset="0"/>
              </a:rPr>
              <a:t>Then the user searches less, but the final judgment does not become worse.</a:t>
            </a:r>
            <a:endParaRPr lang="en-US">
              <a:latin typeface="Times New Roman" panose="02020603050405020304" pitchFamily="18" charset="0"/>
            </a:endParaRPr>
          </a:p>
          <a:p>
            <a:r>
              <a:rPr lang="en-US">
                <a:latin typeface="Times New Roman" panose="02020603050405020304" pitchFamily="18" charset="0"/>
              </a:rPr>
              <a:t>That is efficient compression.</a:t>
            </a:r>
            <a:endParaRPr lang="en-US">
              <a:latin typeface="Times New Roman" panose="02020603050405020304" pitchFamily="18" charset="0"/>
            </a:endParaRPr>
          </a:p>
          <a:p>
            <a:r>
              <a:rPr lang="en-US">
                <a:latin typeface="Times New Roman" panose="02020603050405020304" pitchFamily="18" charset="0"/>
              </a:rPr>
              <a:t>But in the second case, the user searches less because the AI answer makes the evidence feel more complete than it really is.</a:t>
            </a:r>
            <a:endParaRPr lang="en-US">
              <a:latin typeface="Times New Roman" panose="02020603050405020304" pitchFamily="18" charset="0"/>
            </a:endParaRPr>
          </a:p>
          <a:p>
            <a:r>
              <a:rPr lang="en-US">
                <a:latin typeface="Times New Roman" panose="02020603050405020304" pitchFamily="18" charset="0"/>
              </a:rPr>
              <a:t>Then the user may stop too early, and the final judgment may become worse.</a:t>
            </a:r>
            <a:endParaRPr lang="en-US">
              <a:latin typeface="Times New Roman" panose="02020603050405020304" pitchFamily="18" charset="0"/>
            </a:endParaRPr>
          </a:p>
          <a:p>
            <a:r>
              <a:rPr lang="en-US">
                <a:latin typeface="Times New Roman" panose="02020603050405020304" pitchFamily="18" charset="0"/>
              </a:rPr>
              <a:t>That is harmful under-search.</a:t>
            </a:r>
            <a:endParaRPr lang="en-US">
              <a:latin typeface="Times New Roman" panose="02020603050405020304" pitchFamily="18" charset="0"/>
            </a:endParaRPr>
          </a:p>
          <a:p>
            <a:r>
              <a:rPr lang="en-US">
                <a:latin typeface="Times New Roman" panose="02020603050405020304" pitchFamily="18" charset="0"/>
              </a:rPr>
              <a:t>So we dont  simply ask whether AI reduces search.</a:t>
            </a:r>
            <a:endParaRPr lang="en-US">
              <a:latin typeface="Times New Roman" panose="02020603050405020304" pitchFamily="18" charset="0"/>
            </a:endParaRPr>
          </a:p>
          <a:p>
            <a:r>
              <a:rPr lang="en-US">
                <a:latin typeface="Times New Roman" panose="02020603050405020304" pitchFamily="18" charset="0"/>
              </a:rPr>
              <a:t>we should asks whether reduced search is justified.</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Here I want to anchor the paper in the existing literature more concretely.</a:t>
            </a:r>
            <a:endParaRPr lang="en-US">
              <a:latin typeface="Times New Roman" panose="02020603050405020304" pitchFamily="18" charset="0"/>
            </a:endParaRPr>
          </a:p>
          <a:p>
            <a:r>
              <a:rPr lang="en-US">
                <a:latin typeface="Times New Roman" panose="02020603050405020304" pitchFamily="18" charset="0"/>
              </a:rPr>
              <a:t>The image summarizes the closest literature targets on automation bias, reduced search, and verification. These papers are valuable, but they often move too quickly from less search to worse judgment, or they treat verification intensity as the key mechanism.</a:t>
            </a:r>
            <a:endParaRPr lang="en-US">
              <a:latin typeface="Times New Roman" panose="02020603050405020304" pitchFamily="18" charset="0"/>
            </a:endParaRPr>
          </a:p>
          <a:p>
            <a:r>
              <a:rPr lang="en-US">
                <a:latin typeface="Times New Roman" panose="02020603050405020304" pitchFamily="18" charset="0"/>
              </a:rPr>
              <a:t>So my paper separates three things.</a:t>
            </a:r>
            <a:endParaRPr lang="en-US">
              <a:latin typeface="Times New Roman" panose="02020603050405020304" pitchFamily="18" charset="0"/>
            </a:endParaRPr>
          </a:p>
          <a:p>
            <a:r>
              <a:rPr lang="en-US">
                <a:latin typeface="Times New Roman" panose="02020603050405020304" pitchFamily="18" charset="0"/>
              </a:rPr>
              <a:t>How much people search.</a:t>
            </a:r>
            <a:endParaRPr lang="en-US">
              <a:latin typeface="Times New Roman" panose="02020603050405020304" pitchFamily="18" charset="0"/>
            </a:endParaRPr>
          </a:p>
          <a:p>
            <a:r>
              <a:rPr lang="en-US">
                <a:latin typeface="Times New Roman" panose="02020603050405020304" pitchFamily="18" charset="0"/>
              </a:rPr>
              <a:t>Whether their final belief is close to the evidence.</a:t>
            </a:r>
            <a:endParaRPr lang="en-US">
              <a:latin typeface="Times New Roman" panose="02020603050405020304" pitchFamily="18" charset="0"/>
            </a:endParaRPr>
          </a:p>
          <a:p>
            <a:r>
              <a:rPr lang="en-US">
                <a:latin typeface="Times New Roman" panose="02020603050405020304" pitchFamily="18" charset="0"/>
              </a:rPr>
              <a:t>And how much they feel they understand the issue.</a:t>
            </a:r>
            <a:endParaRPr lang="en-US">
              <a:latin typeface="Times New Roman" panose="02020603050405020304" pitchFamily="18" charset="0"/>
            </a:endParaRPr>
          </a:p>
          <a:p>
            <a:r>
              <a:rPr lang="en-US">
                <a:latin typeface="Times New Roman" panose="02020603050405020304" pitchFamily="18" charset="0"/>
              </a:rPr>
              <a:t>This is why I frame the paper around information calibration.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People should not search forever.</a:t>
            </a:r>
            <a:endParaRPr lang="en-US">
              <a:latin typeface="Times New Roman" panose="02020603050405020304" pitchFamily="18" charset="0"/>
            </a:endParaRPr>
          </a:p>
          <a:p>
            <a:r>
              <a:rPr lang="en-US">
                <a:latin typeface="Times New Roman" panose="02020603050405020304" pitchFamily="18" charset="0"/>
              </a:rPr>
              <a:t>They should continue searching only when the expected value of more evidence is larger than the cost of getting it.</a:t>
            </a:r>
            <a:endParaRPr lang="en-US">
              <a:latin typeface="Times New Roman" panose="02020603050405020304" pitchFamily="18" charset="0"/>
            </a:endParaRPr>
          </a:p>
          <a:p>
            <a:r>
              <a:rPr lang="en-US">
                <a:latin typeface="Times New Roman" panose="02020603050405020304" pitchFamily="18" charset="0"/>
              </a:rPr>
              <a:t>So stopping early is not automatically irrational.</a:t>
            </a:r>
            <a:endParaRPr lang="en-US">
              <a:latin typeface="Times New Roman" panose="02020603050405020304" pitchFamily="18" charset="0"/>
            </a:endParaRPr>
          </a:p>
          <a:p>
            <a:r>
              <a:rPr lang="en-US">
                <a:latin typeface="Times New Roman" panose="02020603050405020304" pitchFamily="18" charset="0"/>
              </a:rPr>
              <a:t>If the current evidence is already strong enough, then stopping can be reasonable.</a:t>
            </a:r>
            <a:endParaRPr lang="en-US">
              <a:latin typeface="Times New Roman" panose="02020603050405020304" pitchFamily="18" charset="0"/>
            </a:endParaRPr>
          </a:p>
          <a:p>
            <a:r>
              <a:rPr lang="en-US">
                <a:latin typeface="Times New Roman" panose="02020603050405020304" pitchFamily="18" charset="0"/>
              </a:rPr>
              <a:t>The problem appears when people stop too early.</a:t>
            </a:r>
            <a:endParaRPr lang="en-US">
              <a:latin typeface="Times New Roman" panose="02020603050405020304" pitchFamily="18" charset="0"/>
            </a:endParaRPr>
          </a:p>
          <a:p>
            <a:r>
              <a:rPr lang="en-US">
                <a:latin typeface="Times New Roman" panose="02020603050405020304" pitchFamily="18" charset="0"/>
              </a:rPr>
              <a:t>That means they believe the evidence is already sufficient, but more evidence would still meaningfully change the posterior judgment.</a:t>
            </a:r>
            <a:endParaRPr lang="en-US">
              <a:latin typeface="Times New Roman" panose="02020603050405020304" pitchFamily="18" charset="0"/>
            </a:endParaRPr>
          </a:p>
          <a:p>
            <a:r>
              <a:rPr lang="en-US">
                <a:latin typeface="Times New Roman" panose="02020603050405020304" pitchFamily="18" charset="0"/>
              </a:rPr>
              <a:t>So the key issue is not search depth by itself.</a:t>
            </a:r>
            <a:endParaRPr lang="en-US">
              <a:latin typeface="Times New Roman" panose="02020603050405020304" pitchFamily="18" charset="0"/>
            </a:endParaRPr>
          </a:p>
          <a:p>
            <a:r>
              <a:rPr lang="en-US">
                <a:latin typeface="Times New Roman" panose="02020603050405020304" pitchFamily="18" charset="0"/>
              </a:rPr>
              <a:t>The key issue is whether AI changes the stopping rule in a justified way.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is the gap that motivates the paper.</a:t>
            </a:r>
            <a:endParaRPr lang="en-US">
              <a:latin typeface="Times New Roman" panose="02020603050405020304" pitchFamily="18" charset="0"/>
            </a:endParaRPr>
          </a:p>
          <a:p>
            <a:r>
              <a:rPr lang="en-US">
                <a:latin typeface="Times New Roman" panose="02020603050405020304" pitchFamily="18" charset="0"/>
              </a:rPr>
              <a:t>The unresolved question is not merely whether AI reduces search. It is whether an AI answer changes the user's judgment that the current evidence is already enough.</a:t>
            </a:r>
            <a:endParaRPr lang="en-US">
              <a:latin typeface="Times New Roman" panose="02020603050405020304" pitchFamily="18" charset="0"/>
            </a:endParaRPr>
          </a:p>
          <a:p>
            <a:r>
              <a:rPr lang="en-US">
                <a:latin typeface="Times New Roman" panose="02020603050405020304" pitchFamily="18" charset="0"/>
              </a:rPr>
              <a:t>That matters because a shift in perceived sufficiency can affect later evidence acquisition, later Bayesian updating, and the user's own sense of how much they really know.</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At this point I can state the paper's analytical framing directly.
The paper is not about generic AI trust.
It is about information calibration: whether users correctly assess if more evidence is still worth acquiring after they receive an answer-first summary.
Algorithmic authority matters here because the AI label can change what users infer about how much searching and integration has already happened behind the scenes.
The paper's mechanism is not that users merely read a conclusion and obey it.
They infer a hidden signal structure behind the summary: that more searching has already occurred, that conflict has already been resolved, and that counterevidence has already been processed.
If those inferences are too strong, then the perceived value of additional evidence can fall too quickly, and that is where harmful under-search becomes possible.</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The three research questions are deliberately ordered.</a:t>
            </a:r>
            <a:endParaRPr lang="en-US">
              <a:latin typeface="Times New Roman" panose="02020603050405020304" pitchFamily="18" charset="0"/>
            </a:endParaRPr>
          </a:p>
          <a:p>
            <a:r>
              <a:rPr lang="en-US">
                <a:latin typeface="Times New Roman" panose="02020603050405020304" pitchFamily="18" charset="0"/>
              </a:rP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endParaRPr lang="en-US">
              <a:latin typeface="Times New Roman" panose="02020603050405020304" pitchFamily="18" charset="0"/>
            </a:endParaRPr>
          </a:p>
          <a:p>
            <a:r>
              <a:rPr lang="en-US">
                <a:latin typeface="Times New Roman" panose="02020603050405020304" pitchFamily="18" charset="0"/>
              </a:rPr>
              <a:t>That sequence is what allows the paper to move from what users do, to whether it is justified, to whether they recognize their own informational position 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Before moving to the full design, I want to explain what kind of experiment this is.
Its Bayesian prototype is the classic urn-drawing or bookbag-and-poker-chip belief-updating task.
The innovation is to contextualize that prototype as a company-risk judgment task, introduce summary-first presentation, and then let participants decide whether to inspect additional evidence under a common search cost.</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is an important correction relative to the older six-cell description.</a:t>
            </a:r>
            <a:endParaRPr lang="en-US">
              <a:latin typeface="Times New Roman" panose="02020603050405020304" pitchFamily="18" charset="0"/>
            </a:endParaRPr>
          </a:p>
          <a:p>
            <a:r>
              <a:rPr lang="en-US">
                <a:latin typeface="Times New Roman" panose="02020603050405020304" pitchFamily="18" charset="0"/>
              </a:rPr>
              <a:t>The current design has five groups. There is one no-summary baseline that enters the shared full evidence pool directly, and then four summary groups produced by completeness crossed with source label.</a:t>
            </a:r>
            <a:endParaRPr lang="en-US">
              <a:latin typeface="Times New Roman" panose="02020603050405020304" pitchFamily="18" charset="0"/>
            </a:endParaRPr>
          </a:p>
          <a:p>
            <a:r>
              <a:rPr lang="en-US">
                <a:latin typeface="Times New Roman" panose="02020603050405020304" pitchFamily="18" charset="0"/>
              </a:rPr>
              <a:t>The baseline does not need to be split in two, because the baseline always faces the same full pool rather than a separate summary condition.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captures the cleanest identification logic in the design.</a:t>
            </a:r>
            <a:endParaRPr lang="en-US">
              <a:latin typeface="Times New Roman" panose="02020603050405020304" pitchFamily="18" charset="0"/>
            </a:endParaRPr>
          </a:p>
          <a:p>
            <a:r>
              <a:rPr lang="en-US">
                <a:latin typeface="Times New Roman" panose="02020603050405020304" pitchFamily="18" charset="0"/>
              </a:rPr>
              <a:t>The unlabeled-summary and AI-labeled-summary groups read exactly the same summary text. The only difference is whether the source is explicitly marked as AI.</a:t>
            </a:r>
            <a:endParaRPr lang="en-US">
              <a:latin typeface="Times New Roman" panose="02020603050405020304" pitchFamily="18" charset="0"/>
            </a:endParaRPr>
          </a:p>
          <a:p>
            <a:r>
              <a:rPr lang="en-US">
                <a:latin typeface="Times New Roman" panose="02020603050405020304" pitchFamily="18" charset="0"/>
              </a:rPr>
              <a:t>So if their later search, posterior, or mastery judgments diverge, that difference cannot be attributed to content. It has to come from the source label and the authority inferences it triggers.</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This page explains how different result patterns would count as support for different hypotheses.</a:t>
            </a:r>
            <a:endParaRPr>
              <a:latin typeface="Times New Roman" panose="02020603050405020304" pitchFamily="18" charset="0"/>
            </a:endParaRPr>
          </a:p>
          <a:p>
            <a:r>
              <a:rPr>
                <a:latin typeface="Times New Roman" panose="02020603050405020304" pitchFamily="18" charset="0"/>
              </a:rPr>
              <a:t>First, RQ1 is supported if the AI label lowers the stopping threshold relative to the unlabeled summary.</a:t>
            </a:r>
            <a:endParaRPr>
              <a:latin typeface="Times New Roman" panose="02020603050405020304" pitchFamily="18" charset="0"/>
            </a:endParaRPr>
          </a:p>
          <a:p>
            <a:r>
              <a:rPr>
                <a:latin typeface="Times New Roman" panose="02020603050405020304" pitchFamily="18" charset="0"/>
              </a:rPr>
              <a:t>Second, RQ2 splits into two possibilities: representative summaries can reveal efficient compression, while incomplete summaries can reveal harmful under-search.</a:t>
            </a:r>
            <a:endParaRPr>
              <a:latin typeface="Times New Roman" panose="02020603050405020304" pitchFamily="18" charset="0"/>
            </a:endParaRPr>
          </a:p>
          <a:p>
            <a:r>
              <a:rPr>
                <a:latin typeface="Times New Roman" panose="02020603050405020304" pitchFamily="18" charset="0"/>
              </a:rPr>
              <a:t>Third, RQ3 is supported if objective posterior quality and subjective mastery move apart after summary-based interaction.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I would close the paper by emphasizing three contributions.</a:t>
            </a:r>
            <a:endParaRPr>
              <a:latin typeface="Times New Roman" panose="02020603050405020304" pitchFamily="18" charset="0"/>
            </a:endParaRPr>
          </a:p>
          <a:p>
            <a:r>
              <a:rPr>
                <a:latin typeface="Times New Roman" panose="02020603050405020304" pitchFamily="18" charset="0"/>
              </a:rPr>
              <a:t>The first is theoretical: the move from generic trust to information calibration as an evidence-to-belief mechanism.</a:t>
            </a:r>
            <a:endParaRPr>
              <a:latin typeface="Times New Roman" panose="02020603050405020304" pitchFamily="18" charset="0"/>
            </a:endParaRPr>
          </a:p>
          <a:p>
            <a:r>
              <a:rPr>
                <a:latin typeface="Times New Roman" panose="02020603050405020304" pitchFamily="18" charset="0"/>
              </a:rPr>
              <a:t>The second is methodological: the paper adapts a classical Bayesian updating paradigm and adds summary-first presentation, extra search, and same-summary source-label identification.</a:t>
            </a:r>
            <a:endParaRPr>
              <a:latin typeface="Times New Roman" panose="02020603050405020304" pitchFamily="18" charset="0"/>
            </a:endParaRPr>
          </a:p>
          <a:p>
            <a:r>
              <a:rPr>
                <a:latin typeface="Times New Roman" panose="02020603050405020304" pitchFamily="18" charset="0"/>
              </a:rPr>
              <a:t>The third is substantive: it separates efficient compression, harmful under-search, and subjective-objective calibration mismatch.</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937"/>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2" name="椭圆 1"/>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3" name="矩形 2"/>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4" name="矩形 3"/>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5" name="矩形 4"/>
          <p:cNvSpPr>
            <a:spLocks noGrp="1"/>
          </p:cNvSpPr>
          <p:nvPr/>
        </p:nvSpPr>
        <p:spPr>
          <a:xfrm>
            <a:off x="1219200" y="781050"/>
            <a:ext cx="2476500" cy="228600"/>
          </a:xfrm>
          <a:prstGeom prst="rect">
            <a:avLst/>
          </a:prstGeom>
          <a:noFill/>
          <a:ln w="0">
            <a:noFill/>
            <a:prstDash val="solid"/>
          </a:ln>
        </p:spPr>
        <p:txBody>
          <a:bodyPr/>
          <a:lstStyle/>
          <a:p>
            <a:pPr algn="l">
              <a:buNone/>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pitchFamily="18" charset="0"/>
                <a:ea typeface="Times New Roman" panose="02020603050405020304"/>
                <a:cs typeface="Times New Roman" panose="02020603050405020304"/>
              </a:rPr>
              <a:t>PAPER 1</a:t>
            </a:r>
            <a:endParaRPr sz="1125" b="1" i="0">
              <a:solidFill>
                <a:srgbClr val="D7A792"/>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1219200" y="1371600"/>
            <a:ext cx="9334500" cy="723900"/>
          </a:xfrm>
          <a:prstGeom prst="rect">
            <a:avLst/>
          </a:prstGeom>
          <a:noFill/>
          <a:ln w="0">
            <a:noFill/>
            <a:prstDash val="solid"/>
          </a:ln>
        </p:spPr>
        <p:txBody>
          <a:bodyPr/>
          <a:lstStyle/>
          <a:p>
            <a:pPr algn="l">
              <a:buNone/>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pitchFamily="18" charset="0"/>
                <a:ea typeface="Times New Roman" panose="02020603050405020304"/>
                <a:cs typeface="Times New Roman" panose="02020603050405020304"/>
              </a:rPr>
              <a:t>Algorithmic Authority and Information Calibration</a:t>
            </a:r>
            <a:endParaRPr sz="3000" b="1" i="0">
              <a:solidFill>
                <a:srgbClr val="F8F2E9"/>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1219200" y="2190750"/>
            <a:ext cx="8191500" cy="533400"/>
          </a:xfrm>
          <a:prstGeom prst="rect">
            <a:avLst/>
          </a:prstGeom>
          <a:noFill/>
          <a:ln w="0">
            <a:noFill/>
            <a:prstDash val="solid"/>
          </a:ln>
        </p:spPr>
        <p:txBody>
          <a:bodyPr/>
          <a:lstStyle/>
          <a:p>
            <a:pPr algn="l">
              <a:buNone/>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pitchFamily="18" charset="0"/>
                <a:ea typeface="Times New Roman" panose="02020603050405020304"/>
                <a:cs typeface="Times New Roman" panose="02020603050405020304"/>
              </a:rPr>
              <a:t>How generative AI changes additional search and belief updating under uncertainty</a:t>
            </a:r>
            <a:endParaRPr sz="1650" b="0" i="0">
              <a:solidFill>
                <a:srgbClr val="D8DCE6"/>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9" name="矩形 8"/>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0" name="矩形 9"/>
          <p:cNvSpPr>
            <a:spLocks noGrp="1"/>
          </p:cNvSpPr>
          <p:nvPr/>
        </p:nvSpPr>
        <p:spPr>
          <a:xfrm>
            <a:off x="1390650" y="3505200"/>
            <a:ext cx="37528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Problem shift</a:t>
            </a:r>
            <a:endParaRPr sz="1650" b="1" i="0">
              <a:solidFill>
                <a:srgbClr val="F8F2E9"/>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390650" y="3848100"/>
            <a:ext cx="37528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The question is not only what answer AI gives. The question is whether AI changes when people feel ready to stop looking for more evidence.</a:t>
            </a:r>
            <a:endParaRPr sz="1275" b="0" i="0">
              <a:solidFill>
                <a:srgbClr val="D8DCE6"/>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3" name="矩形 12"/>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4" name="矩形 13"/>
          <p:cNvSpPr>
            <a:spLocks noGrp="1"/>
          </p:cNvSpPr>
          <p:nvPr/>
        </p:nvSpPr>
        <p:spPr>
          <a:xfrm>
            <a:off x="5715000" y="3505200"/>
            <a:ext cx="52006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Dissertation position</a:t>
            </a:r>
            <a:endParaRPr sz="1650" b="1" i="0">
              <a:solidFill>
                <a:srgbClr val="F8F2E9"/>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5715000" y="3848100"/>
            <a:ext cx="52006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Paper 1 studies the first link in the broader chain: how AI reshapes the move from evidence to belief.</a:t>
            </a:r>
            <a:endParaRPr sz="1275" b="0" i="0">
              <a:solidFill>
                <a:srgbClr val="D8DCE6"/>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1257300" y="6153150"/>
            <a:ext cx="9334500" cy="171450"/>
          </a:xfrm>
          <a:prstGeom prst="rect">
            <a:avLst/>
          </a:prstGeom>
          <a:noFill/>
          <a:ln w="0">
            <a:noFill/>
            <a:prstDash val="solid"/>
          </a:ln>
        </p:spPr>
        <p:txBody>
          <a:bodyPr/>
          <a:lstStyle/>
          <a:p>
            <a:pPr algn="l">
              <a:buNone/>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pitchFamily="18" charset="0"/>
                <a:ea typeface="Times New Roman" panose="02020603050405020304"/>
                <a:cs typeface="Times New Roman" panose="02020603050405020304"/>
              </a:rPr>
              <a:t>Belief formation -&gt; reliance calibration -&gt; responsibility</a:t>
            </a:r>
            <a:endParaRPr sz="1125" b="0" i="1">
              <a:solidFill>
                <a:srgbClr val="D8DCE6"/>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CONCRETE EXAMPLE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10287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Search engines ask for evidence first, but AI assistants answer first</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basic reversal is not only about speed. It changes the user's sense of whether more search is still worth doing.</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9" name="矩形 8"/>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05050"/>
            <a:ext cx="44767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Search engine logic</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647950"/>
            <a:ext cx="4476750" cy="247650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1</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2</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3</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4</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user opens links, compares sources, notices conflict, and then forms a judgment.</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Evidence first -&gt; interpretation later</a:t>
            </a:r>
            <a:endParaRPr sz="14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3" name="矩形 12"/>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05050"/>
            <a:ext cx="44386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AI assistant logic</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48450" y="2647950"/>
            <a:ext cx="4438650" cy="24765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summarized definition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coherent explanation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worked example</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ready-made conclusion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user first receives an interpreted answer and only later decides whether to verify it.</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Interpreted answer first -&gt; optional verification later</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1200150" y="5638800"/>
            <a:ext cx="9791700" cy="247650"/>
          </a:xfrm>
          <a:prstGeom prst="rect">
            <a:avLst/>
          </a:prstGeom>
          <a:noFill/>
          <a:ln w="0">
            <a:noFill/>
            <a:prstDash val="solid"/>
          </a:ln>
        </p:spPr>
        <p:txBody>
          <a:bodyPr/>
          <a:lstStyle/>
          <a:p>
            <a:pPr algn="ctr">
              <a:buNone/>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pitchFamily="18" charset="0"/>
                <a:ea typeface="Times New Roman" panose="02020603050405020304"/>
                <a:cs typeface="Times New Roman" panose="02020603050405020304"/>
              </a:rPr>
              <a:t>The reversal matters because the user may now judge the value of additional evidence through the AI's summary rather than through raw search alone.</a:t>
            </a:r>
            <a:endParaRPr sz="1425" b="0" i="1">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1" name="椭圆 2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CORE PROBLEM</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144000" cy="704850"/>
          </a:xfrm>
          <a:prstGeom prst="rect">
            <a:avLst/>
          </a:prstGeom>
          <a:noFill/>
          <a:ln w="0">
            <a:noFill/>
            <a:prstDash val="solid"/>
          </a:ln>
        </p:spPr>
        <p:txBody>
          <a:bodyPr/>
          <a:lstStyle/>
          <a:p>
            <a:pPr algn="l">
              <a:buNone/>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pitchFamily="18" charset="0"/>
                <a:ea typeface="Times New Roman" panose="02020603050405020304"/>
                <a:cs typeface="Times New Roman" panose="02020603050405020304"/>
              </a:rPr>
              <a:t>Less search can mean efficiency or harmful under-search</a:t>
            </a:r>
            <a:endParaRPr sz="26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key is not whether search declines. The key is whether judgment quality declines once search declines.</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6573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Efficient compression</a:t>
            </a:r>
            <a:endParaRPr sz="19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6573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 summary has already compressed informative evidence.</a:t>
            </a:r>
            <a:endParaRPr sz="1575" b="0" i="0">
              <a:solidFill>
                <a:srgbClr val="5E6675"/>
              </a:solidFill>
              <a:latin typeface="Times New Roman" panose="02020603050405020304" pitchFamily="18" charset="0"/>
              <a:ea typeface="Times New Roman" panose="02020603050405020304"/>
              <a:cs typeface="Times New Roman" panose="02020603050405020304"/>
            </a:endParaRP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posterior quality does not deteriorate.</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4" name="矩形 13"/>
          <p:cNvSpPr>
            <a:spLocks noGrp="1"/>
          </p:cNvSpPr>
          <p:nvPr/>
        </p:nvSpPr>
        <p:spPr>
          <a:xfrm>
            <a:off x="68770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Harmful under-search</a:t>
            </a:r>
            <a:endParaRPr sz="19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8770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they overestimate how complete the summary already is.</a:t>
            </a:r>
            <a:endParaRPr sz="1575" b="0" i="0">
              <a:solidFill>
                <a:srgbClr val="5E6675"/>
              </a:solidFill>
              <a:latin typeface="Times New Roman" panose="02020603050405020304" pitchFamily="18" charset="0"/>
              <a:ea typeface="Times New Roman" panose="02020603050405020304"/>
              <a:cs typeface="Times New Roman" panose="02020603050405020304"/>
            </a:endParaRP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judgment moves further away from the full-information benchmark.</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5734050" y="3333750"/>
            <a:ext cx="762000" cy="247650"/>
          </a:xfrm>
          <a:prstGeom prst="rect">
            <a:avLst/>
          </a:prstGeom>
          <a:noFill/>
          <a:ln w="0">
            <a:noFill/>
            <a:prstDash val="solid"/>
          </a:ln>
        </p:spPr>
        <p:txBody>
          <a:bodyPr/>
          <a:lstStyle/>
          <a:p>
            <a:pPr algn="ctr">
              <a:buNone/>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pitchFamily="18" charset="0"/>
                <a:ea typeface="Times New Roman" panose="02020603050405020304"/>
                <a:cs typeface="Times New Roman" panose="02020603050405020304"/>
              </a:rPr>
              <a:t>vs</a:t>
            </a:r>
            <a:endParaRPr sz="1800" b="1" i="0">
              <a:solidFill>
                <a:srgbClr val="C89B4A"/>
              </a:solidFill>
              <a:latin typeface="Times New Roman" panose="02020603050405020304" pitchFamily="18" charset="0"/>
              <a:ea typeface="Times New Roman" panose="02020603050405020304"/>
              <a:cs typeface="Times New Roman" panose="02020603050405020304"/>
            </a:endParaRPr>
          </a:p>
        </p:txBody>
      </p:sp>
      <p:sp>
        <p:nvSpPr>
          <p:cNvPr id="17" name="矩形: 圆角 16"/>
          <p:cNvSpPr>
            <a:spLocks noGrp="1"/>
          </p:cNvSpPr>
          <p:nvPr/>
        </p:nvSpPr>
        <p:spPr>
          <a:xfrm>
            <a:off x="1714500" y="5219700"/>
            <a:ext cx="8763000" cy="781050"/>
          </a:xfrm>
          <a:prstGeom prst="roundRect">
            <a:avLst>
              <a:gd name="adj" fmla="val 9756"/>
            </a:avLst>
          </a:prstGeom>
          <a:solidFill>
            <a:srgbClr val="FFF9F0"/>
          </a:solidFill>
          <a:ln w="9525">
            <a:solidFill>
              <a:srgbClr val="E8DCCB"/>
            </a:solidFill>
            <a:prstDash val="solid"/>
          </a:ln>
        </p:spPr>
      </p:sp>
      <p:sp>
        <p:nvSpPr>
          <p:cNvPr id="18" name="矩形 17"/>
          <p:cNvSpPr>
            <a:spLocks noGrp="1"/>
          </p:cNvSpPr>
          <p:nvPr/>
        </p:nvSpPr>
        <p:spPr>
          <a:xfrm>
            <a:off x="1714500" y="5219700"/>
            <a:ext cx="57150" cy="781050"/>
          </a:xfrm>
          <a:prstGeom prst="rect">
            <a:avLst/>
          </a:prstGeom>
          <a:solidFill>
            <a:srgbClr val="C89B4A"/>
          </a:solidFill>
          <a:ln w="0">
            <a:solidFill>
              <a:srgbClr val="C89B4A"/>
            </a:solidFill>
            <a:prstDash val="solid"/>
          </a:ln>
        </p:spPr>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buNone/>
              <a:defRPr sz="1575" b="1" i="0">
                <a:solidFill>
                  <a:srgbClr val="1E2433"/>
                </a:solidFill>
                <a:latin typeface="Times New Roman" panose="02020603050405020304"/>
                <a:ea typeface="Times New Roman" panose="02020603050405020304"/>
                <a:cs typeface="Times New Roman" panose="02020603050405020304"/>
              </a:defRPr>
            </a:pPr>
            <a:r>
              <a:rPr sz="1575" b="1" i="0">
                <a:solidFill>
                  <a:srgbClr val="1E2433"/>
                </a:solidFill>
                <a:latin typeface="Times New Roman" panose="02020603050405020304" pitchFamily="18" charset="0"/>
                <a:ea typeface="Times New Roman" panose="02020603050405020304"/>
                <a:cs typeface="Times New Roman" panose="02020603050405020304"/>
              </a:rPr>
              <a:t>What this slide does</a:t>
            </a:r>
            <a:endParaRPr sz="15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0" name="矩形 19"/>
          <p:cNvSpPr>
            <a:spLocks noGrp="1"/>
          </p:cNvSpPr>
          <p:nvPr/>
        </p:nvSpPr>
        <p:spPr>
          <a:xfrm>
            <a:off x="1885950" y="5676900"/>
            <a:ext cx="8477250" cy="20955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sz="1275" b="0" i="0">
                <a:solidFill>
                  <a:srgbClr val="5E6675"/>
                </a:solidFill>
                <a:latin typeface="Times New Roman" panose="02020603050405020304" pitchFamily="18" charset="0"/>
                <a:ea typeface="Times New Roman" panose="02020603050405020304"/>
                <a:cs typeface="Times New Roman" panose="02020603050405020304"/>
              </a:rPr>
              <a:t>It separates the behavioral fact of reduced search from the normative question of whether reduced search actually harms posterior judgment.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9" name="椭圆 8"/>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EXISTING WORK</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10096500" cy="704850"/>
          </a:xfrm>
          <a:prstGeom prst="rect">
            <a:avLst/>
          </a:prstGeom>
          <a:noFill/>
          <a:ln w="0">
            <a:noFill/>
            <a:prstDash val="solid"/>
          </a:ln>
        </p:spPr>
        <p:txBody>
          <a:bodyPr/>
          <a:lstStyle/>
          <a:p>
            <a:pPr algn="l">
              <a:buNone/>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pitchFamily="18" charset="0"/>
                <a:ea typeface="Times New Roman" panose="02020603050405020304"/>
                <a:cs typeface="Times New Roman" panose="02020603050405020304"/>
              </a:rPr>
              <a:t>The literature gives us reduced search and automation bias, but not a direct account of information calibration</a:t>
            </a:r>
            <a:endParaRPr sz="22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1"/>
          <a:stretch>
            <a:fillRect/>
          </a:stretch>
        </p:blipFill>
        <p:spPr>
          <a:xfrm>
            <a:off x="1445462" y="2286000"/>
            <a:ext cx="9224876" cy="3905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3" name="椭圆 22"/>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TRADITIONAL BENCHMARK</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10001250" cy="704850"/>
          </a:xfrm>
          <a:prstGeom prst="rect">
            <a:avLst/>
          </a:prstGeom>
          <a:noFill/>
          <a:ln w="0">
            <a:noFill/>
            <a:prstDash val="solid"/>
          </a:ln>
        </p:spPr>
        <p:txBody>
          <a:bodyPr/>
          <a:lstStyle/>
          <a:p>
            <a:pPr algn="l">
              <a:buNone/>
              <a:defRPr sz="2325" b="1" i="0">
                <a:solidFill>
                  <a:srgbClr val="1E2433"/>
                </a:solidFill>
                <a:latin typeface="Times New Roman" panose="02020603050405020304"/>
                <a:ea typeface="Times New Roman" panose="02020603050405020304"/>
                <a:cs typeface="Times New Roman" panose="02020603050405020304"/>
              </a:defRPr>
            </a:pPr>
            <a:r>
              <a:rPr sz="2325" b="1" i="0">
                <a:solidFill>
                  <a:srgbClr val="1E2433"/>
                </a:solidFill>
                <a:latin typeface="Times New Roman" panose="02020603050405020304" pitchFamily="18" charset="0"/>
                <a:ea typeface="Times New Roman" panose="02020603050405020304"/>
                <a:cs typeface="Times New Roman" panose="02020603050405020304"/>
              </a:rPr>
              <a:t>The standard benchmark says people should stop when extra evidence is no longer worth its cost</a:t>
            </a:r>
            <a:endParaRPr sz="23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Under a rational search view, less search is not itself a failure. It becomes a problem only when people stop too early.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343150"/>
            <a:ext cx="30861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914400" y="234315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57450"/>
            <a:ext cx="28003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Step 1</a:t>
            </a:r>
            <a:endParaRPr sz="18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800350"/>
            <a:ext cx="2800350" cy="1790700"/>
          </a:xfrm>
          <a:prstGeom prst="rect">
            <a:avLst/>
          </a:prstGeom>
          <a:noFill/>
          <a:ln w="0">
            <a:noFill/>
            <a:prstDash val="solid"/>
          </a:ln>
        </p:spPr>
        <p:txBody>
          <a:bodyPr/>
          <a:lstStyle/>
          <a:p>
            <a:pPr algn="l">
              <a:buNone/>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pitchFamily="18" charset="0"/>
                <a:ea typeface="Times New Roman" panose="02020603050405020304"/>
                <a:cs typeface="Times New Roman" panose="02020603050405020304"/>
              </a:rPr>
              <a:t>Users weigh the expected value of additional evidence against the cost of getting it.</a:t>
            </a:r>
            <a:endParaRPr sz="150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4552950" y="2343150"/>
            <a:ext cx="30861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4552950" y="2343150"/>
            <a:ext cx="57150" cy="23622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457450"/>
            <a:ext cx="28003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Step 2</a:t>
            </a:r>
            <a:endParaRPr sz="18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4724400" y="2800350"/>
            <a:ext cx="2800350" cy="1790700"/>
          </a:xfrm>
          <a:prstGeom prst="rect">
            <a:avLst/>
          </a:prstGeom>
          <a:noFill/>
          <a:ln w="0">
            <a:noFill/>
            <a:prstDash val="solid"/>
          </a:ln>
        </p:spPr>
        <p:txBody>
          <a:bodyPr/>
          <a:lstStyle/>
          <a:p>
            <a:pPr algn="l">
              <a:buNone/>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pitchFamily="18" charset="0"/>
                <a:ea typeface="Times New Roman" panose="02020603050405020304"/>
                <a:cs typeface="Times New Roman" panose="02020603050405020304"/>
              </a:rPr>
              <a:t>They continue searching if more evidence is still likely to change the posterior enough to matter.</a:t>
            </a:r>
            <a:endParaRPr sz="150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8191500" y="2343150"/>
            <a:ext cx="3009900" cy="2362200"/>
          </a:xfrm>
          <a:prstGeom prst="roundRect">
            <a:avLst>
              <a:gd name="adj" fmla="val 3226"/>
            </a:avLst>
          </a:prstGeom>
          <a:solidFill>
            <a:srgbClr val="FFF9F0"/>
          </a:solidFill>
          <a:ln w="9525">
            <a:solidFill>
              <a:srgbClr val="E8DCCB"/>
            </a:solidFill>
            <a:prstDash val="solid"/>
          </a:ln>
        </p:spPr>
      </p:sp>
      <p:sp>
        <p:nvSpPr>
          <p:cNvPr id="17" name="矩形 16"/>
          <p:cNvSpPr>
            <a:spLocks noGrp="1"/>
          </p:cNvSpPr>
          <p:nvPr/>
        </p:nvSpPr>
        <p:spPr>
          <a:xfrm>
            <a:off x="8191500" y="2343150"/>
            <a:ext cx="57150" cy="2362200"/>
          </a:xfrm>
          <a:prstGeom prst="rect">
            <a:avLst/>
          </a:prstGeom>
          <a:solidFill>
            <a:srgbClr val="B45A3C"/>
          </a:solidFill>
          <a:ln w="0">
            <a:solidFill>
              <a:srgbClr val="B45A3C"/>
            </a:solidFill>
            <a:prstDash val="solid"/>
          </a:ln>
        </p:spPr>
      </p:sp>
      <p:sp>
        <p:nvSpPr>
          <p:cNvPr id="18" name="矩形 17"/>
          <p:cNvSpPr>
            <a:spLocks noGrp="1"/>
          </p:cNvSpPr>
          <p:nvPr/>
        </p:nvSpPr>
        <p:spPr>
          <a:xfrm>
            <a:off x="8362950" y="2457450"/>
            <a:ext cx="27241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Implication</a:t>
            </a:r>
            <a:endParaRPr sz="18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8362950" y="2800350"/>
            <a:ext cx="2724150" cy="1790700"/>
          </a:xfrm>
          <a:prstGeom prst="rect">
            <a:avLst/>
          </a:prstGeom>
          <a:noFill/>
          <a:ln w="0">
            <a:noFill/>
            <a:prstDash val="solid"/>
          </a:ln>
        </p:spPr>
        <p:txBody>
          <a:bodyPr/>
          <a:lstStyle/>
          <a:p>
            <a:pPr algn="l">
              <a:buNone/>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pitchFamily="18" charset="0"/>
                <a:ea typeface="Times New Roman" panose="02020603050405020304"/>
                <a:cs typeface="Times New Roman" panose="02020603050405020304"/>
              </a:rPr>
              <a:t>Reduced search is rational when information has already been efficiently compressed, but not when sufficiency is overestimated.</a:t>
            </a:r>
            <a:endParaRPr sz="150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19"/>
          <p:cNvSpPr>
            <a:spLocks noGrp="1"/>
          </p:cNvSpPr>
          <p:nvPr/>
        </p:nvSpPr>
        <p:spPr>
          <a:xfrm>
            <a:off x="4095750" y="3352800"/>
            <a:ext cx="457200" cy="228600"/>
          </a:xfrm>
          <a:prstGeom prst="rect">
            <a:avLst/>
          </a:prstGeom>
          <a:noFill/>
          <a:ln w="0">
            <a:noFill/>
            <a:prstDash val="solid"/>
          </a:ln>
        </p:spPr>
        <p:txBody>
          <a:bodyPr/>
          <a:lstStyle/>
          <a:p>
            <a:pPr algn="ctr">
              <a:buNone/>
              <a:defRPr sz="1800" b="1" i="0">
                <a:solidFill>
                  <a:srgbClr val="5E6675"/>
                </a:solidFill>
                <a:latin typeface="Times New Roman" panose="02020603050405020304"/>
                <a:ea typeface="Times New Roman" panose="02020603050405020304"/>
                <a:cs typeface="Times New Roman" panose="02020603050405020304"/>
              </a:defRPr>
            </a:pPr>
            <a:r>
              <a:rPr sz="1800" b="1" i="0">
                <a:solidFill>
                  <a:srgbClr val="5E6675"/>
                </a:solidFill>
                <a:latin typeface="Times New Roman" panose="02020603050405020304" pitchFamily="18" charset="0"/>
                <a:ea typeface="Times New Roman" panose="02020603050405020304"/>
                <a:cs typeface="Times New Roman" panose="02020603050405020304"/>
              </a:rPr>
              <a:t>→</a:t>
            </a:r>
            <a:endParaRPr sz="1800" b="1"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1" name="矩形 20"/>
          <p:cNvSpPr>
            <a:spLocks noGrp="1"/>
          </p:cNvSpPr>
          <p:nvPr/>
        </p:nvSpPr>
        <p:spPr>
          <a:xfrm>
            <a:off x="7734300" y="3352800"/>
            <a:ext cx="457200" cy="228600"/>
          </a:xfrm>
          <a:prstGeom prst="rect">
            <a:avLst/>
          </a:prstGeom>
          <a:noFill/>
          <a:ln w="0">
            <a:noFill/>
            <a:prstDash val="solid"/>
          </a:ln>
        </p:spPr>
        <p:txBody>
          <a:bodyPr/>
          <a:lstStyle/>
          <a:p>
            <a:pPr algn="ctr">
              <a:buNone/>
              <a:defRPr sz="1800" b="1" i="0">
                <a:solidFill>
                  <a:srgbClr val="5E6675"/>
                </a:solidFill>
                <a:latin typeface="Times New Roman" panose="02020603050405020304"/>
                <a:ea typeface="Times New Roman" panose="02020603050405020304"/>
                <a:cs typeface="Times New Roman" panose="02020603050405020304"/>
              </a:defRPr>
            </a:pPr>
            <a:r>
              <a:rPr sz="1800" b="1" i="0">
                <a:solidFill>
                  <a:srgbClr val="5E6675"/>
                </a:solidFill>
                <a:latin typeface="Times New Roman" panose="02020603050405020304" pitchFamily="18" charset="0"/>
                <a:ea typeface="Times New Roman" panose="02020603050405020304"/>
                <a:cs typeface="Times New Roman" panose="02020603050405020304"/>
              </a:rPr>
              <a:t>→</a:t>
            </a:r>
            <a:endParaRPr sz="1800" b="1"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2" name="矩形 21"/>
          <p:cNvSpPr>
            <a:spLocks noGrp="1"/>
          </p:cNvSpPr>
          <p:nvPr/>
        </p:nvSpPr>
        <p:spPr>
          <a:xfrm>
            <a:off x="1581150" y="5219700"/>
            <a:ext cx="9029700" cy="457200"/>
          </a:xfrm>
          <a:prstGeom prst="rect">
            <a:avLst/>
          </a:prstGeom>
          <a:noFill/>
          <a:ln w="0">
            <a:noFill/>
            <a:prstDash val="solid"/>
          </a:ln>
        </p:spPr>
        <p:txBody>
          <a:bodyPr/>
          <a:lstStyle/>
          <a:p>
            <a:pPr algn="ctr">
              <a:buNone/>
              <a:defRPr sz="1650" b="1" i="0">
                <a:solidFill>
                  <a:srgbClr val="B45A3C"/>
                </a:solidFill>
                <a:latin typeface="Times New Roman" panose="02020603050405020304"/>
                <a:ea typeface="Times New Roman" panose="02020603050405020304"/>
                <a:cs typeface="Times New Roman" panose="02020603050405020304"/>
              </a:defRPr>
            </a:pPr>
            <a:r>
              <a:rPr sz="1650" b="1" i="0">
                <a:solidFill>
                  <a:srgbClr val="B45A3C"/>
                </a:solidFill>
                <a:latin typeface="Times New Roman" panose="02020603050405020304" pitchFamily="18" charset="0"/>
                <a:ea typeface="Times New Roman" panose="02020603050405020304"/>
                <a:cs typeface="Times New Roman" panose="02020603050405020304"/>
              </a:rPr>
              <a:t>This is why the main question is not whether AI reduces search, but whether it changes the stopping rule in a way that remains normatively justified.</a:t>
            </a:r>
            <a:endParaRPr sz="1650" b="1" i="0">
              <a:solidFill>
                <a:srgbClr val="B45A3C"/>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GAP</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00" b="1" i="0">
                <a:solidFill>
                  <a:srgbClr val="1E2433"/>
                </a:solidFill>
                <a:latin typeface="Times New Roman" panose="02020603050405020304"/>
                <a:ea typeface="Times New Roman" panose="02020603050405020304"/>
                <a:cs typeface="Times New Roman" panose="02020603050405020304"/>
              </a:defRPr>
            </a:pPr>
            <a:r>
              <a:rPr sz="2400" b="1" i="0">
                <a:solidFill>
                  <a:srgbClr val="1E2433"/>
                </a:solidFill>
                <a:latin typeface="Times New Roman" panose="02020603050405020304" pitchFamily="18" charset="0"/>
                <a:ea typeface="Times New Roman" panose="02020603050405020304"/>
                <a:cs typeface="Times New Roman" panose="02020603050405020304"/>
              </a:rPr>
              <a:t>What is still missing is the judgment of evidentiary sufficiency after an AI answer</a:t>
            </a:r>
            <a:endParaRPr sz="24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unresolved issue is not simply search depth. It is whether answer-first systems change how complete the current evidence feels.</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47900"/>
            <a:ext cx="10287000" cy="1009650"/>
          </a:xfrm>
          <a:prstGeom prst="roundRect">
            <a:avLst>
              <a:gd name="adj" fmla="val 7547"/>
            </a:avLst>
          </a:prstGeom>
          <a:solidFill>
            <a:srgbClr val="FFF9F0"/>
          </a:solidFill>
          <a:ln w="9525">
            <a:solidFill>
              <a:srgbClr val="E8DCCB"/>
            </a:solidFill>
            <a:prstDash val="solid"/>
          </a:ln>
        </p:spPr>
      </p:sp>
      <p:sp>
        <p:nvSpPr>
          <p:cNvPr id="9" name="矩形 8"/>
          <p:cNvSpPr>
            <a:spLocks noGrp="1"/>
          </p:cNvSpPr>
          <p:nvPr/>
        </p:nvSpPr>
        <p:spPr>
          <a:xfrm>
            <a:off x="914400" y="2247900"/>
            <a:ext cx="57150" cy="10096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62200"/>
            <a:ext cx="100012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What has been shown</a:t>
            </a:r>
            <a:endParaRPr sz="18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05100"/>
            <a:ext cx="10001250" cy="4381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AI can reduce search behavior, and algorithmic labels can shape later responses.</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914400" y="3429000"/>
            <a:ext cx="10287000" cy="1009650"/>
          </a:xfrm>
          <a:prstGeom prst="roundRect">
            <a:avLst>
              <a:gd name="adj" fmla="val 7547"/>
            </a:avLst>
          </a:prstGeom>
          <a:solidFill>
            <a:srgbClr val="FFF9F0"/>
          </a:solidFill>
          <a:ln w="9525">
            <a:solidFill>
              <a:srgbClr val="E8DCCB"/>
            </a:solidFill>
            <a:prstDash val="solid"/>
          </a:ln>
        </p:spPr>
      </p:sp>
      <p:sp>
        <p:nvSpPr>
          <p:cNvPr id="13" name="矩形 12"/>
          <p:cNvSpPr>
            <a:spLocks noGrp="1"/>
          </p:cNvSpPr>
          <p:nvPr/>
        </p:nvSpPr>
        <p:spPr>
          <a:xfrm>
            <a:off x="914400" y="3429000"/>
            <a:ext cx="57150" cy="1009650"/>
          </a:xfrm>
          <a:prstGeom prst="rect">
            <a:avLst/>
          </a:prstGeom>
          <a:solidFill>
            <a:srgbClr val="B45A3C"/>
          </a:solidFill>
          <a:ln w="0">
            <a:solidFill>
              <a:srgbClr val="B45A3C"/>
            </a:solidFill>
            <a:prstDash val="solid"/>
          </a:ln>
        </p:spPr>
      </p:sp>
      <p:sp>
        <p:nvSpPr>
          <p:cNvPr id="14" name="矩形 13"/>
          <p:cNvSpPr>
            <a:spLocks noGrp="1"/>
          </p:cNvSpPr>
          <p:nvPr/>
        </p:nvSpPr>
        <p:spPr>
          <a:xfrm>
            <a:off x="1085850" y="3543300"/>
            <a:ext cx="100012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What remains unresolved</a:t>
            </a:r>
            <a:endParaRPr sz="18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1085850" y="3886200"/>
            <a:ext cx="10001250" cy="4381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We still do not know whether an AI summary changes users' judgment that the available evidence is already sufficient.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4610100"/>
            <a:ext cx="10287000" cy="1009650"/>
          </a:xfrm>
          <a:prstGeom prst="roundRect">
            <a:avLst>
              <a:gd name="adj" fmla="val 7547"/>
            </a:avLst>
          </a:prstGeom>
          <a:solidFill>
            <a:srgbClr val="FFF9F0"/>
          </a:solidFill>
          <a:ln w="9525">
            <a:solidFill>
              <a:srgbClr val="E8DCCB"/>
            </a:solidFill>
            <a:prstDash val="solid"/>
          </a:ln>
        </p:spPr>
      </p:sp>
      <p:sp>
        <p:nvSpPr>
          <p:cNvPr id="17" name="矩形 16"/>
          <p:cNvSpPr>
            <a:spLocks noGrp="1"/>
          </p:cNvSpPr>
          <p:nvPr/>
        </p:nvSpPr>
        <p:spPr>
          <a:xfrm>
            <a:off x="914400" y="4610100"/>
            <a:ext cx="57150" cy="1009650"/>
          </a:xfrm>
          <a:prstGeom prst="rect">
            <a:avLst/>
          </a:prstGeom>
          <a:solidFill>
            <a:srgbClr val="C89B4A"/>
          </a:solidFill>
          <a:ln w="0">
            <a:solidFill>
              <a:srgbClr val="C89B4A"/>
            </a:solidFill>
            <a:prstDash val="solid"/>
          </a:ln>
        </p:spPr>
      </p:sp>
      <p:sp>
        <p:nvSpPr>
          <p:cNvPr id="18" name="矩形 17"/>
          <p:cNvSpPr>
            <a:spLocks noGrp="1"/>
          </p:cNvSpPr>
          <p:nvPr/>
        </p:nvSpPr>
        <p:spPr>
          <a:xfrm>
            <a:off x="1085850" y="4724400"/>
            <a:ext cx="100012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Why that matters</a:t>
            </a:r>
            <a:endParaRPr sz="18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5067300"/>
            <a:ext cx="10001250" cy="4381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If the sufficiency judgment shifts, then AI can alter later evidence acquisition, posterior beliefs, and subjective mastery at the same time.</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5" name="椭圆 24"/>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CORE QUESTION</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10096500" cy="9525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Core question: How do generative AI answers change users' stopping thresholds, Bayesian posterior quality, and subjective information mastery?</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962150"/>
            <a:ext cx="10096500" cy="51435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does not treat reduced raw-evidence viewing as search laziness. It reevaluates that behavior inside a Bayesian belief-updating framework.</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571750"/>
            <a:ext cx="3810000" cy="2381250"/>
          </a:xfrm>
          <a:prstGeom prst="roundRect">
            <a:avLst>
              <a:gd name="adj" fmla="val 4800"/>
            </a:avLst>
          </a:prstGeom>
          <a:solidFill>
            <a:srgbClr val="FEFCF8"/>
          </a:solidFill>
          <a:ln w="9525">
            <a:solidFill>
              <a:srgbClr val="F0E2D1"/>
            </a:solidFill>
            <a:prstDash val="solid"/>
          </a:ln>
        </p:spPr>
      </p:sp>
      <p:sp>
        <p:nvSpPr>
          <p:cNvPr id="9" name="矩形 8"/>
          <p:cNvSpPr>
            <a:spLocks noGrp="1"/>
          </p:cNvSpPr>
          <p:nvPr/>
        </p:nvSpPr>
        <p:spPr>
          <a:xfrm>
            <a:off x="914400" y="2571750"/>
            <a:ext cx="57150" cy="23812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743200"/>
            <a:ext cx="33528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Framing</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3124200"/>
            <a:ext cx="3352800" cy="16764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 Reduced raw-evidence viewing is not assumed to be lazy by default.</a:t>
            </a:r>
            <a:endParaRPr sz="1275">
              <a:solidFill>
                <a:srgbClr val="667085"/>
              </a:solidFill>
              <a:latin typeface="Times New Roman" panose="02020603050405020304" pitchFamily="18" charset="0"/>
            </a:endParaRP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The key question is whether AI changes how sufficient the current evidence feels.</a:t>
            </a:r>
            <a:endParaRPr sz="1275">
              <a:solidFill>
                <a:srgbClr val="667085"/>
              </a:solidFill>
              <a:latin typeface="Times New Roman" panose="02020603050405020304" pitchFamily="18" charset="0"/>
            </a:endParaRP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Information calibration asks whether perceived sufficiency stays aligned with the real value of further evidence.</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5048250" y="2571750"/>
            <a:ext cx="6153150" cy="2381250"/>
          </a:xfrm>
          <a:prstGeom prst="roundRect">
            <a:avLst>
              <a:gd name="adj" fmla="val 4800"/>
            </a:avLst>
          </a:prstGeom>
          <a:solidFill>
            <a:srgbClr val="FEFCF8"/>
          </a:solidFill>
          <a:ln w="9525">
            <a:solidFill>
              <a:srgbClr val="F0E2D1"/>
            </a:solidFill>
            <a:prstDash val="solid"/>
          </a:ln>
        </p:spPr>
      </p:sp>
      <p:sp>
        <p:nvSpPr>
          <p:cNvPr id="13" name="矩形 12"/>
          <p:cNvSpPr>
            <a:spLocks noGrp="1"/>
          </p:cNvSpPr>
          <p:nvPr/>
        </p:nvSpPr>
        <p:spPr>
          <a:xfrm>
            <a:off x="5048250" y="2571750"/>
            <a:ext cx="57150" cy="2381250"/>
          </a:xfrm>
          <a:prstGeom prst="rect">
            <a:avLst/>
          </a:prstGeom>
          <a:solidFill>
            <a:srgbClr val="D1A63A"/>
          </a:solidFill>
          <a:ln w="0">
            <a:solidFill>
              <a:srgbClr val="D1A63A"/>
            </a:solidFill>
            <a:prstDash val="solid"/>
          </a:ln>
        </p:spPr>
      </p:sp>
      <p:sp>
        <p:nvSpPr>
          <p:cNvPr id="14" name="矩形 13"/>
          <p:cNvSpPr>
            <a:spLocks noGrp="1"/>
          </p:cNvSpPr>
          <p:nvPr/>
        </p:nvSpPr>
        <p:spPr>
          <a:xfrm>
            <a:off x="5314950" y="2743200"/>
            <a:ext cx="558165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Mechanism in one line</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5638800" y="3105150"/>
            <a:ext cx="4953000" cy="228600"/>
          </a:xfrm>
          <a:prstGeom prst="rect">
            <a:avLst/>
          </a:prstGeom>
          <a:noFill/>
          <a:ln w="0">
            <a:noFill/>
            <a:prstDash val="solid"/>
          </a:ln>
        </p:spPr>
        <p:txBody>
          <a:bodyPr/>
          <a:lstStyle/>
          <a:p>
            <a:pPr algn="ctr">
              <a:defRPr sz="1275" b="1">
                <a:solidFill>
                  <a:srgbClr val="667085"/>
                </a:solidFill>
              </a:defRPr>
            </a:pPr>
            <a:r>
              <a:rPr sz="1275" b="1">
                <a:solidFill>
                  <a:srgbClr val="667085"/>
                </a:solidFill>
                <a:latin typeface="Times New Roman" panose="02020603050405020304" pitchFamily="18" charset="0"/>
              </a:rPr>
              <a:t>AI answer / AI label</a:t>
            </a:r>
            <a:endParaRPr sz="1275" b="1">
              <a:solidFill>
                <a:srgbClr val="667085"/>
              </a:solidFill>
              <a:latin typeface="Times New Roman" panose="02020603050405020304" pitchFamily="18" charset="0"/>
            </a:endParaRPr>
          </a:p>
        </p:txBody>
      </p:sp>
      <p:sp>
        <p:nvSpPr>
          <p:cNvPr id="16" name="矩形 15"/>
          <p:cNvSpPr>
            <a:spLocks noGrp="1"/>
          </p:cNvSpPr>
          <p:nvPr/>
        </p:nvSpPr>
        <p:spPr>
          <a:xfrm>
            <a:off x="7829550" y="32956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17" name="矩形 16"/>
          <p:cNvSpPr>
            <a:spLocks noGrp="1"/>
          </p:cNvSpPr>
          <p:nvPr/>
        </p:nvSpPr>
        <p:spPr>
          <a:xfrm>
            <a:off x="5638800" y="34099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inferred hidden search-and-integration process</a:t>
            </a:r>
            <a:endParaRPr sz="1275" b="0">
              <a:solidFill>
                <a:srgbClr val="667085"/>
              </a:solidFill>
              <a:latin typeface="Times New Roman" panose="02020603050405020304" pitchFamily="18" charset="0"/>
            </a:endParaRPr>
          </a:p>
        </p:txBody>
      </p:sp>
      <p:sp>
        <p:nvSpPr>
          <p:cNvPr id="18" name="矩形 17"/>
          <p:cNvSpPr>
            <a:spLocks noGrp="1"/>
          </p:cNvSpPr>
          <p:nvPr/>
        </p:nvSpPr>
        <p:spPr>
          <a:xfrm>
            <a:off x="7829550" y="36004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19" name="矩形 18"/>
          <p:cNvSpPr>
            <a:spLocks noGrp="1"/>
          </p:cNvSpPr>
          <p:nvPr/>
        </p:nvSpPr>
        <p:spPr>
          <a:xfrm>
            <a:off x="5638800" y="37147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perceived evidentiary sufficiency rises</a:t>
            </a:r>
            <a:endParaRPr sz="1275" b="0">
              <a:solidFill>
                <a:srgbClr val="667085"/>
              </a:solidFill>
              <a:latin typeface="Times New Roman" panose="02020603050405020304" pitchFamily="18" charset="0"/>
            </a:endParaRPr>
          </a:p>
        </p:txBody>
      </p:sp>
      <p:sp>
        <p:nvSpPr>
          <p:cNvPr id="20" name="矩形 19"/>
          <p:cNvSpPr>
            <a:spLocks noGrp="1"/>
          </p:cNvSpPr>
          <p:nvPr/>
        </p:nvSpPr>
        <p:spPr>
          <a:xfrm>
            <a:off x="7829550" y="39052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21" name="矩形 20"/>
          <p:cNvSpPr>
            <a:spLocks noGrp="1"/>
          </p:cNvSpPr>
          <p:nvPr/>
        </p:nvSpPr>
        <p:spPr>
          <a:xfrm>
            <a:off x="5638800" y="40195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the value of additional evidence falls</a:t>
            </a:r>
            <a:endParaRPr sz="1275" b="0">
              <a:solidFill>
                <a:srgbClr val="667085"/>
              </a:solidFill>
              <a:latin typeface="Times New Roman" panose="02020603050405020304" pitchFamily="18" charset="0"/>
            </a:endParaRPr>
          </a:p>
        </p:txBody>
      </p:sp>
      <p:sp>
        <p:nvSpPr>
          <p:cNvPr id="22" name="矩形 21"/>
          <p:cNvSpPr>
            <a:spLocks noGrp="1"/>
          </p:cNvSpPr>
          <p:nvPr/>
        </p:nvSpPr>
        <p:spPr>
          <a:xfrm>
            <a:off x="7829550" y="42100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23" name="矩形 22"/>
          <p:cNvSpPr>
            <a:spLocks noGrp="1"/>
          </p:cNvSpPr>
          <p:nvPr/>
        </p:nvSpPr>
        <p:spPr>
          <a:xfrm>
            <a:off x="5638800" y="4324350"/>
            <a:ext cx="4953000" cy="228600"/>
          </a:xfrm>
          <a:prstGeom prst="rect">
            <a:avLst/>
          </a:prstGeom>
          <a:noFill/>
          <a:ln w="0">
            <a:noFill/>
            <a:prstDash val="solid"/>
          </a:ln>
        </p:spPr>
        <p:txBody>
          <a:bodyPr/>
          <a:lstStyle/>
          <a:p>
            <a:pPr algn="ctr">
              <a:defRPr sz="1350" b="1">
                <a:solidFill>
                  <a:srgbClr val="BE643F"/>
                </a:solidFill>
              </a:defRPr>
            </a:pPr>
            <a:r>
              <a:rPr sz="1350" b="1">
                <a:solidFill>
                  <a:srgbClr val="BE643F"/>
                </a:solidFill>
                <a:latin typeface="Times New Roman" panose="02020603050405020304" pitchFamily="18" charset="0"/>
              </a:rPr>
              <a:t>the stopping threshold shifts forward</a:t>
            </a:r>
            <a:endParaRPr sz="1350" b="1">
              <a:solidFill>
                <a:srgbClr val="BE643F"/>
              </a:solidFill>
              <a:latin typeface="Times New Roman" panose="02020603050405020304" pitchFamily="18" charset="0"/>
            </a:endParaRPr>
          </a:p>
        </p:txBody>
      </p:sp>
      <p:sp>
        <p:nvSpPr>
          <p:cNvPr id="24" name="矩形 23"/>
          <p:cNvSpPr>
            <a:spLocks noGrp="1"/>
          </p:cNvSpPr>
          <p:nvPr/>
        </p:nvSpPr>
        <p:spPr>
          <a:xfrm>
            <a:off x="1676400" y="5429250"/>
            <a:ext cx="8763000" cy="419100"/>
          </a:xfrm>
          <a:prstGeom prst="rect">
            <a:avLst/>
          </a:prstGeom>
          <a:noFill/>
          <a:ln w="0">
            <a:noFill/>
            <a:prstDash val="solid"/>
          </a:ln>
        </p:spPr>
        <p:txBody>
          <a:bodyPr/>
          <a:lstStyle/>
          <a:p>
            <a:pPr algn="ctr">
              <a:defRPr sz="1275" i="1">
                <a:solidFill>
                  <a:srgbClr val="667085"/>
                </a:solidFill>
              </a:defRPr>
            </a:pPr>
            <a:r>
              <a:rPr sz="1275" i="1">
                <a:solidFill>
                  <a:srgbClr val="667085"/>
                </a:solidFill>
                <a:latin typeface="Times New Roman" panose="02020603050405020304" pitchFamily="18" charset="0"/>
              </a:rPr>
              <a:t>The paper therefore studies whether AI shifts the stopping rule by changing perceived evidentiary sufficiency.</a:t>
            </a:r>
            <a:endParaRPr sz="1275" i="1">
              <a:solidFill>
                <a:srgbClr val="667085"/>
              </a:solidFill>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RESEARCH QUESTIONS</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8191500" cy="704850"/>
          </a:xfrm>
          <a:prstGeom prst="rect">
            <a:avLst/>
          </a:prstGeom>
          <a:noFill/>
          <a:ln w="0">
            <a:noFill/>
            <a:prstDash val="solid"/>
          </a:ln>
        </p:spPr>
        <p:txBody>
          <a:bodyPr/>
          <a:lstStyle/>
          <a:p>
            <a:pPr algn="l">
              <a:buNone/>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pitchFamily="18" charset="0"/>
                <a:ea typeface="Times New Roman" panose="02020603050405020304"/>
                <a:cs typeface="Times New Roman" panose="02020603050405020304"/>
              </a:rPr>
              <a:t>The study asks three linked questions</a:t>
            </a:r>
            <a:endParaRPr sz="27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sequence runs from behavior, to normative evaluation, to metacognitive calibration.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9" name="矩形 8"/>
          <p:cNvSpPr>
            <a:spLocks noGrp="1"/>
          </p:cNvSpPr>
          <p:nvPr/>
        </p:nvSpPr>
        <p:spPr>
          <a:xfrm>
            <a:off x="914400" y="2266950"/>
            <a:ext cx="57150" cy="28194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RQ1</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2800350" cy="2247900"/>
          </a:xfrm>
          <a:prstGeom prst="rect">
            <a:avLst/>
          </a:prstGeom>
          <a:noFill/>
          <a:ln w="0">
            <a:noFill/>
            <a:prstDash val="solid"/>
          </a:ln>
        </p:spPr>
        <p:txBody>
          <a:bodyPr/>
          <a:lstStyle/>
          <a:p>
            <a:pPr algn="l">
              <a:buNone/>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pitchFamily="18" charset="0"/>
                <a:ea typeface="Times New Roman" panose="02020603050405020304"/>
                <a:cs typeface="Times New Roman" panose="02020603050405020304"/>
              </a:rPr>
              <a:t>Does an AI-labeled summary lower the stopping threshold for additional search?</a:t>
            </a:r>
            <a:endParaRPr sz="16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3" name="矩形 12"/>
          <p:cNvSpPr>
            <a:spLocks noGrp="1"/>
          </p:cNvSpPr>
          <p:nvPr/>
        </p:nvSpPr>
        <p:spPr>
          <a:xfrm>
            <a:off x="4552950" y="2266950"/>
            <a:ext cx="57150" cy="28194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RQ2</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4724400" y="2724150"/>
            <a:ext cx="28003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When search falls, is that rational information compression or harmful information-acquisition deviation?</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7" name="矩形 16"/>
          <p:cNvSpPr>
            <a:spLocks noGrp="1"/>
          </p:cNvSpPr>
          <p:nvPr/>
        </p:nvSpPr>
        <p:spPr>
          <a:xfrm>
            <a:off x="8191500" y="2266950"/>
            <a:ext cx="57150" cy="2819400"/>
          </a:xfrm>
          <a:prstGeom prst="rect">
            <a:avLst/>
          </a:prstGeom>
          <a:solidFill>
            <a:srgbClr val="78836A"/>
          </a:solidFill>
          <a:ln w="0">
            <a:solidFill>
              <a:srgbClr val="78836A"/>
            </a:solidFill>
            <a:prstDash val="solid"/>
          </a:ln>
        </p:spPr>
      </p:sp>
      <p:sp>
        <p:nvSpPr>
          <p:cNvPr id="18" name="矩形 17"/>
          <p:cNvSpPr>
            <a:spLocks noGrp="1"/>
          </p:cNvSpPr>
          <p:nvPr/>
        </p:nvSpPr>
        <p:spPr>
          <a:xfrm>
            <a:off x="8362950" y="2381250"/>
            <a:ext cx="27241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RQ3</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8362950" y="2724150"/>
            <a:ext cx="27241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Does subjective information mastery become misaligned with objective judgment quality?</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lang="en-US" sz="1050" b="1" i="0">
                <a:solidFill>
                  <a:srgbClr val="B45A3C"/>
                </a:solidFill>
                <a:latin typeface="Times New Roman" panose="02020603050405020304" pitchFamily="18" charset="0"/>
                <a:ea typeface="Times New Roman" panose="02020603050405020304"/>
                <a:cs typeface="Times New Roman" panose="02020603050405020304"/>
              </a:rPr>
              <a:t>TASK PROTOTYPE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525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lang="en-US" sz="2475"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b="0" i="0">
                <a:solidFill>
                  <a:srgbClr val="5E6675"/>
                </a:solidFill>
                <a:latin typeface="Times New Roman" panose="02020603050405020304" pitchFamily="18" charset="0"/>
                <a:ea typeface="Times New Roman" panose="02020603050405020304"/>
                <a:cs typeface="Times New Roman" panose="02020603050405020304"/>
              </a:rPr>
              <a:t>The task adapts a classic urn-drawing / bookbag-and-poker-chip belief-updating paradigm to a company-risk setting. Participants either enter the full evidence pool directly or begin with a summary-first answer, then decide whether to inspect additional evidence under the same search cost.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9" name="矩形 8"/>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Classical Bayesian prototype</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 fixed evidence environment allows posterior judgments to be benchmarked against a normative updating rule.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3" name="矩形 12"/>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4" name="矩形 13"/>
          <p:cNvSpPr>
            <a:spLocks noGrp="1"/>
          </p:cNvSpPr>
          <p:nvPr/>
        </p:nvSpPr>
        <p:spPr>
          <a:xfrm>
            <a:off x="66103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Company-risk contextualization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103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The abstract belief-updating task is reframed as judging whether a focal company faces substantial hidden risk.</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7" name="矩形 16"/>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8" name="矩形 17"/>
          <p:cNvSpPr>
            <a:spLocks noGrp="1"/>
          </p:cNvSpPr>
          <p:nvPr/>
        </p:nvSpPr>
        <p:spPr>
          <a:xfrm>
            <a:off x="10858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Summary-first presentation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Some participants receive an initial answer before they see raw evidence, recreating a generative-AI interaction sequence.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1" name="矩形 20"/>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2" name="矩形 21"/>
          <p:cNvSpPr>
            <a:spLocks noGrp="1"/>
          </p:cNvSpPr>
          <p:nvPr/>
        </p:nvSpPr>
        <p:spPr>
          <a:xfrm>
            <a:off x="66103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Common follow-on search</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66103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All groups can inspect additional evidence from the same full pool at the same marginal search cost.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32" name="椭圆 3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DESIGN</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The experiment has five groups built on one shared evidence pool</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One baseline enters the full evidence pool directly, and four summary groups vary completeness and source label.</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9" name="矩形 8"/>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95550"/>
            <a:ext cx="1619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Baseline</a:t>
            </a:r>
            <a:endParaRPr sz="16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838450"/>
            <a:ext cx="161925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No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Direct entry to the evidence pool</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4" name="矩形 13"/>
          <p:cNvSpPr>
            <a:spLocks noGrp="1"/>
          </p:cNvSpPr>
          <p:nvPr/>
        </p:nvSpPr>
        <p:spPr>
          <a:xfrm>
            <a:off x="32194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endParaRPr sz="1350" b="1" i="0">
              <a:solidFill>
                <a:srgbClr val="1E2433"/>
              </a:solidFill>
              <a:latin typeface="Times New Roman" panose="02020603050405020304" pitchFamily="18" charset="0"/>
              <a:ea typeface="Times New Roman" panose="02020603050405020304"/>
              <a:cs typeface="Times New Roman" panose="02020603050405020304"/>
            </a:endParaRP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No label</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32194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7" name="矩形 16"/>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8" name="矩形 17"/>
          <p:cNvSpPr>
            <a:spLocks noGrp="1"/>
          </p:cNvSpPr>
          <p:nvPr/>
        </p:nvSpPr>
        <p:spPr>
          <a:xfrm>
            <a:off x="53911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endParaRPr sz="1350" b="1" i="0">
              <a:solidFill>
                <a:srgbClr val="1E2433"/>
              </a:solidFill>
              <a:latin typeface="Times New Roman" panose="02020603050405020304" pitchFamily="18" charset="0"/>
              <a:ea typeface="Times New Roman" panose="02020603050405020304"/>
              <a:cs typeface="Times New Roman" panose="02020603050405020304"/>
            </a:endParaRP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53911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sp>
      <p:sp>
        <p:nvSpPr>
          <p:cNvPr id="21" name="矩形 20"/>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2" name="矩形 21"/>
          <p:cNvSpPr>
            <a:spLocks noGrp="1"/>
          </p:cNvSpPr>
          <p:nvPr/>
        </p:nvSpPr>
        <p:spPr>
          <a:xfrm>
            <a:off x="75628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75628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design adapts a classic urn-drawing / bookbag-and-poker-chip belief-updating task and adds summary-first presentation plus follow-on evidence search.</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4" name="矩形: 圆角 23"/>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5" name="矩形 24"/>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6" name="矩形 25"/>
          <p:cNvSpPr>
            <a:spLocks noGrp="1"/>
          </p:cNvSpPr>
          <p:nvPr/>
        </p:nvSpPr>
        <p:spPr>
          <a:xfrm>
            <a:off x="97345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Incomplete</a:t>
            </a:r>
            <a:endParaRPr sz="1350" b="1" i="0">
              <a:solidFill>
                <a:srgbClr val="1E2433"/>
              </a:solidFill>
              <a:latin typeface="Times New Roman" panose="02020603050405020304" pitchFamily="18" charset="0"/>
              <a:ea typeface="Times New Roman" panose="02020603050405020304"/>
              <a:cs typeface="Times New Roman" panose="02020603050405020304"/>
            </a:endParaRP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7" name="矩形 26"/>
          <p:cNvSpPr>
            <a:spLocks noGrp="1"/>
          </p:cNvSpPr>
          <p:nvPr/>
        </p:nvSpPr>
        <p:spPr>
          <a:xfrm>
            <a:off x="97345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Incomplete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8" name="矩形: 圆角 27"/>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29" name="矩形 28"/>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0" name="矩形 29"/>
          <p:cNvSpPr>
            <a:spLocks noGrp="1"/>
          </p:cNvSpPr>
          <p:nvPr/>
        </p:nvSpPr>
        <p:spPr>
          <a:xfrm>
            <a:off x="1885950" y="5067300"/>
            <a:ext cx="8477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Why five groups instead of a full six-cell matrix</a:t>
            </a:r>
            <a:endParaRPr sz="16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31" name="矩形 30"/>
          <p:cNvSpPr>
            <a:spLocks noGrp="1"/>
          </p:cNvSpPr>
          <p:nvPr/>
        </p:nvSpPr>
        <p:spPr>
          <a:xfrm>
            <a:off x="1885950" y="5410200"/>
            <a:ext cx="8477250" cy="3048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41" name="椭圆 4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IDENTIFICATION</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334500" cy="704850"/>
          </a:xfrm>
          <a:prstGeom prst="rect">
            <a:avLst/>
          </a:prstGeom>
          <a:noFill/>
          <a:ln w="0">
            <a:noFill/>
            <a:prstDash val="solid"/>
          </a:ln>
        </p:spPr>
        <p:txBody>
          <a:bodyPr/>
          <a:lstStyle/>
          <a:p>
            <a:pPr algn="l">
              <a:buNone/>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pitchFamily="18" charset="0"/>
                <a:ea typeface="Times New Roman" panose="02020603050405020304"/>
                <a:cs typeface="Times New Roman" panose="02020603050405020304"/>
              </a:rPr>
              <a:t>The same summary text isolates the AI label effect</a:t>
            </a:r>
            <a:endParaRPr sz="25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content stays the same while the label changes, and every participant then moves through the same additional-search sequence.</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9" name="矩形 8"/>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0" name="矩形 9"/>
          <p:cNvSpPr>
            <a:spLocks noGrp="1"/>
          </p:cNvSpPr>
          <p:nvPr/>
        </p:nvSpPr>
        <p:spPr>
          <a:xfrm>
            <a:off x="1085850" y="2362200"/>
            <a:ext cx="44767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Unlabeled summary</a:t>
            </a:r>
            <a:endParaRPr sz="18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05100"/>
            <a:ext cx="44767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a summary of the exact same initial evidence, but the source is not identified as AI.</a:t>
            </a:r>
            <a:endParaRPr sz="14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62200"/>
            <a:ext cx="44386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AI-labeled summary</a:t>
            </a:r>
            <a:endParaRPr sz="18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48450" y="2705100"/>
            <a:ext cx="44386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the very same summary text, but now the system explicitly says the summary was generated by AI.</a:t>
            </a:r>
            <a:endParaRPr sz="14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914400" y="4629150"/>
            <a:ext cx="2476500" cy="228600"/>
          </a:xfrm>
          <a:prstGeom prst="rect">
            <a:avLst/>
          </a:prstGeom>
          <a:noFill/>
          <a:ln w="0">
            <a:noFill/>
            <a:prstDash val="solid"/>
          </a:ln>
        </p:spPr>
        <p:txBody>
          <a:bodyPr/>
          <a:lstStyle/>
          <a:p>
            <a:pPr algn="l">
              <a:buNone/>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pitchFamily="18" charset="0"/>
                <a:ea typeface="Times New Roman" panose="02020603050405020304"/>
                <a:cs typeface="Times New Roman" panose="02020603050405020304"/>
              </a:rPr>
              <a:t>Participant sequence</a:t>
            </a:r>
            <a:endParaRPr sz="1575"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17" name="矩形: 圆角 16"/>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8" name="矩形 17"/>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See prior</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0" name="矩形 19"/>
          <p:cNvSpPr>
            <a:spLocks noGrp="1"/>
          </p:cNvSpPr>
          <p:nvPr/>
        </p:nvSpPr>
        <p:spPr>
          <a:xfrm>
            <a:off x="10858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Start from the same prior</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1" name="矩形 20"/>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2" name="矩形: 圆角 21"/>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3" name="矩形 22"/>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4" name="矩形 23"/>
          <p:cNvSpPr>
            <a:spLocks noGrp="1"/>
          </p:cNvSpPr>
          <p:nvPr/>
        </p:nvSpPr>
        <p:spPr>
          <a:xfrm>
            <a:off x="31432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Read summary</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5" name="矩形 24"/>
          <p:cNvSpPr>
            <a:spLocks noGrp="1"/>
          </p:cNvSpPr>
          <p:nvPr/>
        </p:nvSpPr>
        <p:spPr>
          <a:xfrm>
            <a:off x="31432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Or skip summary in baseline</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6" name="矩形 25"/>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7" name="矩形: 圆角 26"/>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8" name="矩形 27"/>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29" name="矩形 28"/>
          <p:cNvSpPr>
            <a:spLocks noGrp="1"/>
          </p:cNvSpPr>
          <p:nvPr/>
        </p:nvSpPr>
        <p:spPr>
          <a:xfrm>
            <a:off x="52006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Choose search</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30" name="矩形 29"/>
          <p:cNvSpPr>
            <a:spLocks noGrp="1"/>
          </p:cNvSpPr>
          <p:nvPr/>
        </p:nvSpPr>
        <p:spPr>
          <a:xfrm>
            <a:off x="52006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Open more evidence or stop</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31" name="矩形 30"/>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2" name="矩形: 圆角 31"/>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3" name="矩形 32"/>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4" name="矩形 33"/>
          <p:cNvSpPr>
            <a:spLocks noGrp="1"/>
          </p:cNvSpPr>
          <p:nvPr/>
        </p:nvSpPr>
        <p:spPr>
          <a:xfrm>
            <a:off x="72580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Report posterior</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35" name="矩形 34"/>
          <p:cNvSpPr>
            <a:spLocks noGrp="1"/>
          </p:cNvSpPr>
          <p:nvPr/>
        </p:nvSpPr>
        <p:spPr>
          <a:xfrm>
            <a:off x="72580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Give the final probability</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36" name="矩形 35"/>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7" name="矩形: 圆角 36"/>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8" name="矩形 37"/>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39" name="矩形 38"/>
          <p:cNvSpPr>
            <a:spLocks noGrp="1"/>
          </p:cNvSpPr>
          <p:nvPr/>
        </p:nvSpPr>
        <p:spPr>
          <a:xfrm>
            <a:off x="93154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Rate mastery</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40" name="矩形 39"/>
          <p:cNvSpPr>
            <a:spLocks noGrp="1"/>
          </p:cNvSpPr>
          <p:nvPr/>
        </p:nvSpPr>
        <p:spPr>
          <a:xfrm>
            <a:off x="93154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Report confidence and ownership</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RESULT PATTERNS</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Different result patterns would support different hypotheses</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Once the experiment is in place, the key issue is how the observed result pattern maps onto the three research questions.</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RQ1: stopping-threshold effect</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the AI-labeled summary group searches less, stops earlier, or is willing to pay less for extra evidence than the unlabeled-summary group, that supports the claim that the AI label shifts the search stopping threshold.</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efficient compression</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falls under representative summaries without worse full-information performance, the reduction in search is consistent with efficient information compression rather than harmful under-search.</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harmful under-search</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still falls under incomplete summaries and full-information deviation grows, the result supports harmful information-acquisition deviation caused by overestimated sufficiency.</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RQ3: calibration mismatch</a:t>
            </a:r>
            <a:endParaRPr sz="1650" b="1">
              <a:solidFill>
                <a:srgbClr val="232B3A"/>
              </a:solidFill>
              <a:latin typeface="Times New Roman" panose="02020603050405020304" pitchFamily="18" charset="0"/>
            </a:endParaRP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AI-summary users show better posterior quality but lower subjective mastery or epistemic ownership, the result supports a mismatch between objective updating quality and subjective information mastery.</a:t>
            </a:r>
            <a:endParaRPr sz="1275">
              <a:solidFill>
                <a:srgbClr val="667085"/>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3" name="椭圆 22"/>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EXPECTED CONTRIBUTIONS</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144000" cy="6858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Expected contributions</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contributes by identifying where AI changes additional search, posterior updating, and subjective information mastery.</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400300"/>
            <a:ext cx="3238500" cy="2533650"/>
          </a:xfrm>
          <a:prstGeom prst="roundRect">
            <a:avLst>
              <a:gd name="adj" fmla="val 4511"/>
            </a:avLst>
          </a:prstGeom>
          <a:solidFill>
            <a:srgbClr val="FEFCF8"/>
          </a:solidFill>
          <a:ln w="9525">
            <a:solidFill>
              <a:srgbClr val="F0E2D1"/>
            </a:solidFill>
            <a:prstDash val="solid"/>
          </a:ln>
        </p:spPr>
      </p:sp>
      <p:sp>
        <p:nvSpPr>
          <p:cNvPr id="9" name="矩形 8"/>
          <p:cNvSpPr>
            <a:spLocks noGrp="1"/>
          </p:cNvSpPr>
          <p:nvPr/>
        </p:nvSpPr>
        <p:spPr>
          <a:xfrm>
            <a:off x="914400" y="2400300"/>
            <a:ext cx="57150" cy="25336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Theoretical move</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shifts the focus from generic trust and automation bias to an evidence-to-belief mechanism: how AI changes users' judgments of evidentiary sufficiency and the stopping rule for further search.</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4476750" y="2400300"/>
            <a:ext cx="3238500" cy="2533650"/>
          </a:xfrm>
          <a:prstGeom prst="roundRect">
            <a:avLst>
              <a:gd name="adj" fmla="val 4511"/>
            </a:avLst>
          </a:prstGeom>
          <a:solidFill>
            <a:srgbClr val="FEFCF8"/>
          </a:solidFill>
          <a:ln w="9525">
            <a:solidFill>
              <a:srgbClr val="F0E2D1"/>
            </a:solidFill>
            <a:prstDash val="solid"/>
          </a:ln>
        </p:spPr>
      </p:sp>
      <p:sp>
        <p:nvSpPr>
          <p:cNvPr id="13" name="矩形 12"/>
          <p:cNvSpPr>
            <a:spLocks noGrp="1"/>
          </p:cNvSpPr>
          <p:nvPr/>
        </p:nvSpPr>
        <p:spPr>
          <a:xfrm>
            <a:off x="4476750" y="2400300"/>
            <a:ext cx="57150" cy="2533650"/>
          </a:xfrm>
          <a:prstGeom prst="rect">
            <a:avLst/>
          </a:prstGeom>
          <a:solidFill>
            <a:srgbClr val="D1A63A"/>
          </a:solidFill>
          <a:ln w="0">
            <a:solidFill>
              <a:srgbClr val="D1A63A"/>
            </a:solidFill>
            <a:prstDash val="solid"/>
          </a:ln>
        </p:spPr>
      </p:sp>
      <p:sp>
        <p:nvSpPr>
          <p:cNvPr id="14" name="矩形 13"/>
          <p:cNvSpPr>
            <a:spLocks noGrp="1"/>
          </p:cNvSpPr>
          <p:nvPr/>
        </p:nvSpPr>
        <p:spPr>
          <a:xfrm>
            <a:off x="474345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Method contribution</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474345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It extends a classic Bayesian belief-updating paradigm into a company-risk task with summary-first presentation, follow-on evidence search, and same-summary source-label identification.</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8039100" y="2400300"/>
            <a:ext cx="3162300" cy="2533650"/>
          </a:xfrm>
          <a:prstGeom prst="roundRect">
            <a:avLst>
              <a:gd name="adj" fmla="val 4511"/>
            </a:avLst>
          </a:prstGeom>
          <a:solidFill>
            <a:srgbClr val="FEFCF8"/>
          </a:solidFill>
          <a:ln w="9525">
            <a:solidFill>
              <a:srgbClr val="F0E2D1"/>
            </a:solidFill>
            <a:prstDash val="solid"/>
          </a:ln>
        </p:spPr>
      </p:sp>
      <p:sp>
        <p:nvSpPr>
          <p:cNvPr id="17" name="矩形 16"/>
          <p:cNvSpPr>
            <a:spLocks noGrp="1"/>
          </p:cNvSpPr>
          <p:nvPr/>
        </p:nvSpPr>
        <p:spPr>
          <a:xfrm>
            <a:off x="8039100" y="2400300"/>
            <a:ext cx="57150" cy="2533650"/>
          </a:xfrm>
          <a:prstGeom prst="rect">
            <a:avLst/>
          </a:prstGeom>
          <a:solidFill>
            <a:srgbClr val="7A8A68"/>
          </a:solidFill>
          <a:ln w="0">
            <a:solidFill>
              <a:srgbClr val="7A8A68"/>
            </a:solidFill>
            <a:prstDash val="solid"/>
          </a:ln>
        </p:spPr>
      </p:sp>
      <p:sp>
        <p:nvSpPr>
          <p:cNvPr id="18" name="矩形 17"/>
          <p:cNvSpPr>
            <a:spLocks noGrp="1"/>
          </p:cNvSpPr>
          <p:nvPr/>
        </p:nvSpPr>
        <p:spPr>
          <a:xfrm>
            <a:off x="8305800" y="2571750"/>
            <a:ext cx="27051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Substantive contribution</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8305800" y="2952750"/>
            <a:ext cx="27051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distinguishes efficient compression from harmful under-search and shows how objective posterior quality can separate from subjective mastery and epistemic ownership.</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1638300" y="5276850"/>
            <a:ext cx="8839200" cy="704850"/>
          </a:xfrm>
          <a:prstGeom prst="roundRect">
            <a:avLst>
              <a:gd name="adj" fmla="val 16216"/>
            </a:avLst>
          </a:prstGeom>
          <a:solidFill>
            <a:srgbClr val="FCFAF6"/>
          </a:solidFill>
          <a:ln w="9525">
            <a:solidFill>
              <a:srgbClr val="F0E2D1"/>
            </a:solidFill>
            <a:prstDash val="solid"/>
          </a:ln>
        </p:spPr>
      </p:sp>
      <p:sp>
        <p:nvSpPr>
          <p:cNvPr id="21" name="矩形 20"/>
          <p:cNvSpPr>
            <a:spLocks noGrp="1"/>
          </p:cNvSpPr>
          <p:nvPr/>
        </p:nvSpPr>
        <p:spPr>
          <a:xfrm>
            <a:off x="1638300" y="5276850"/>
            <a:ext cx="57150" cy="704850"/>
          </a:xfrm>
          <a:prstGeom prst="rect">
            <a:avLst/>
          </a:prstGeom>
          <a:solidFill>
            <a:srgbClr val="BE643F"/>
          </a:solidFill>
          <a:ln w="0">
            <a:solidFill>
              <a:srgbClr val="BE643F"/>
            </a:solidFill>
            <a:prstDash val="solid"/>
          </a:ln>
        </p:spPr>
      </p:sp>
      <p:sp>
        <p:nvSpPr>
          <p:cNvPr id="22" name="矩形 21"/>
          <p:cNvSpPr>
            <a:spLocks noGrp="1"/>
          </p:cNvSpPr>
          <p:nvPr/>
        </p:nvSpPr>
        <p:spPr>
          <a:xfrm>
            <a:off x="1924050" y="5448300"/>
            <a:ext cx="8286750" cy="342900"/>
          </a:xfrm>
          <a:prstGeom prst="rect">
            <a:avLst/>
          </a:prstGeom>
          <a:noFill/>
          <a:ln w="0">
            <a:noFill/>
            <a:prstDash val="solid"/>
          </a:ln>
        </p:spPr>
        <p:txBody>
          <a:bodyPr/>
          <a:lstStyle/>
          <a:p>
            <a:pPr algn="ctr">
              <a:defRPr sz="1350" i="1">
                <a:solidFill>
                  <a:srgbClr val="667085"/>
                </a:solidFill>
              </a:defRPr>
            </a:pPr>
            <a:r>
              <a:rPr sz="1350" i="1">
                <a:solidFill>
                  <a:srgbClr val="667085"/>
                </a:solidFill>
                <a:latin typeface="Times New Roman" panose="02020603050405020304" pitchFamily="18" charset="0"/>
              </a:rPr>
              <a:t>Taken together, the paper asks not only whether AI reduces search, but whether it changes when users feel they have already seen enough.</a:t>
            </a:r>
            <a:endParaRPr sz="1350" i="1">
              <a:solidFill>
                <a:srgbClr val="667085"/>
              </a:solidFill>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9234</Words>
  <Application>WPS 演示</Application>
  <PresentationFormat>宽屏</PresentationFormat>
  <Paragraphs>306</Paragraphs>
  <Slides>13</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宋体</vt:lpstr>
      <vt:lpstr>Wingdings</vt:lpstr>
      <vt:lpstr>Times New Roman</vt:lpstr>
      <vt:lpstr>Times New Roman</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汉克克克克克克克</cp:lastModifiedBy>
  <cp:revision>4</cp:revision>
  <dcterms:created xsi:type="dcterms:W3CDTF">2026-07-06T06:02:00Z</dcterms:created>
  <dcterms:modified xsi:type="dcterms:W3CDTF">2026-07-06T06:59:31Z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E2795E8A0ADB45B4ABD05B24C1A19A28_12</vt:lpwstr>
  </property>
</Properties>
</file>