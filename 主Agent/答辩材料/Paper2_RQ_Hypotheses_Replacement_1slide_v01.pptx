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e84d403177a4c4d" /><Relationship Type="http://schemas.openxmlformats.org/officeDocument/2006/relationships/extended-properties" Target="/docProps/app.xml" Id="Redc41999f8824247" /><Relationship Type="http://schemas.openxmlformats.org/officeDocument/2006/relationships/officeDocument" Target="/ppt/presentation.xml" Id="R7241503accb94bf8" /></Relationships>
</file>

<file path=ppt/presentation.xml><?xml version="1.0" encoding="utf-8"?>
<p:presentation xmlns:p="http://schemas.openxmlformats.org/presentationml/2006/main">
  <p:sldMasterIdLst>
    <p:sldMasterId xmlns:r="http://schemas.openxmlformats.org/officeDocument/2006/relationships" id="2147483648" r:id="Rc9ba483a3bad4557"/>
  </p:sldMasterIdLst>
  <p:notesMasterIdLst>
    <p:notesMasterId xmlns:r="http://schemas.openxmlformats.org/officeDocument/2006/relationships" r:id="R6484aaa03d1d4aca"/>
  </p:notesMasterIdLst>
  <p:sldIdLst>
    <p:sldId xmlns:r="http://schemas.openxmlformats.org/officeDocument/2006/relationships" id="256" r:id="Rdf8b65c383354af7"/>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7fe250db6594b38" /><Relationship Type="http://schemas.openxmlformats.org/officeDocument/2006/relationships/slideMaster" Target="/ppt/slideMasters/slideMaster1.xml" Id="Rc9ba483a3bad4557" /><Relationship Type="http://schemas.openxmlformats.org/officeDocument/2006/relationships/notesMaster" Target="/ppt/notesMasters/notesMaster1.xml" Id="R6484aaa03d1d4aca" /><Relationship Type="http://schemas.openxmlformats.org/officeDocument/2006/relationships/presProps" Target="/ppt/presProps.xml" Id="Reb6c1f1b9b8b4207" /><Relationship Type="http://schemas.openxmlformats.org/officeDocument/2006/relationships/tableStyles" Target="/ppt/tableStyles.xml" Id="Rd3a0186ece6b4457" /><Relationship Type="http://schemas.openxmlformats.org/officeDocument/2006/relationships/slide" Target="/ppt/slides/slide1.xml" Id="Rdf8b65c383354af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e09599f0be4b2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494033b57b445c" /><Relationship Type="http://schemas.openxmlformats.org/officeDocument/2006/relationships/notesMaster" Target="/ppt/notesMasters/notesMaster1.xml" Id="R2f60eca065f541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 want to make the questions explicit before moving into the treatment map.</a:t>
            </a:r>
          </a:p>
          <a:p xmlns:a="http://schemas.openxmlformats.org/drawingml/2006/main">
            <a:r>
              <a:t>The overall question is how participants learn between self and AI in a repeated feedback environment. Every round gives them information about both sides, so the key outcome is not a one-time attitude. It is the reliance path.</a:t>
            </a:r>
          </a:p>
          <a:p xmlns:a="http://schemas.openxmlformats.org/drawingml/2006/main">
            <a:r>
              <a:t>H1 asks whether people update reliance based on relative performance. If AI repeatedly performs better than self, AI adoption should rise. If self performs better, AI adoption should fall.</a:t>
            </a:r>
          </a:p>
          <a:p xmlns:a="http://schemas.openxmlformats.org/drawingml/2006/main">
            <a:r>
              <a:t>H2 then introduces the shock: if AI errors are concentrated in one stage rather than spread out, do people reduce later AI adoption even when overall performance is matched?</a:t>
            </a:r>
          </a:p>
          <a:p xmlns:a="http://schemas.openxmlformats.org/drawingml/2006/main">
            <a:r>
              <a:t>H3 asks what happens after the shock is over. If people recalibrate fully, reliance should recover when AI performance recovers. If there is path dependence or trust lag, reliance may stay low.</a:t>
            </a:r>
          </a:p>
          <a:p xmlns:a="http://schemas.openxmlformats.org/drawingml/2006/main">
            <a:r>
              <a:t>H4 asks whether timing matters. Early shocks can shape initial calibration, while mid shocks can break a reliance relationship that has already started to form.</a:t>
            </a:r>
          </a:p>
          <a:p xmlns:a="http://schemas.openxmlformats.org/drawingml/2006/main">
            <a:r>
              <a:t>H5 is the source-asymmetry test. It is not only whether AI is punished more immediately. It is whether AI is forgiven more slowly than self after comparable errors.</a:t>
            </a:r>
          </a:p>
          <a:p xmlns:a="http://schemas.openxmlformats.org/drawingml/2006/main">
            <a:r>
              <a:t>So the central test is whether equal performance histories lead to equal recovery, or whether AI errors leave a longer shadow.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977d2652b8a49f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e12eeb0bd84b58" /><Relationship Type="http://schemas.openxmlformats.org/officeDocument/2006/relationships/slideLayout" Target="/ppt/slideLayouts/slideLayout1.xml" Id="R2ee9c141106c4a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e9c141106c4a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4c67fada58a4196" /><Relationship Type="http://schemas.openxmlformats.org/officeDocument/2006/relationships/notesSlide" Target="/ppt/notesSlides/notesSlide1.xml" Id="Re8c015fd952b4a11" /></Relationships>
</file>

<file path=ppt/slides/slide1.xml><?xml version="1.0" encoding="utf-8"?>
<p:sld xmlns:p="http://schemas.openxmlformats.org/presentationml/2006/main">
  <p:cSld>
    <p:bg>
      <p:bgPr>
        <a:solidFill xmlns:a="http://schemas.openxmlformats.org/drawingml/2006/main">
          <a:srgbClr val="F5F0E6"/>
        </a:solidFill>
      </p:bgPr>
    </p:bg>
    <p:spTree>
      <p:nvGrpSpPr>
        <p:cNvPr id="1" name=""/>
        <p:cNvGrpSpPr/>
        <p:nvPr/>
      </p:nvGrpSpPr>
      <p:grpSpPr>
        <a:xfrm xmlns:a="http://schemas.openxmlformats.org/drawingml/2006/main"/>
      </p:grpSpPr>
      <p:sp>
        <p:nvSpPr>
          <p:cNvPr id="1" name="left-rail">
            <a:extLst xmlns:a="http://schemas.openxmlformats.org/drawingml/2006/main">
              <a:ext uri="{FF2B5EF4-FFF2-40B4-BE49-F238E27FC236}">
                <a16:creationId xmlns:a16="http://schemas.microsoft.com/office/drawing/2014/main" id="{A073DCA2-0451-460A-A1A7-2559201892E2}"/>
              </a:ext>
            </a:extLst>
          </p:cNvPr>
          <p:cNvSpPr>
            <a:spLocks xmlns:a="http://schemas.openxmlformats.org/drawingml/2006/main" noGrp="1"/>
          </p:cNvSpPr>
          <p:nvPr/>
        </p:nvSpPr>
        <p:spPr>
          <a:xfrm xmlns:a="http://schemas.openxmlformats.org/drawingml/2006/main">
            <a:off x="552450" y="457200"/>
            <a:ext cx="19050" cy="5943600"/>
          </a:xfrm>
          <a:prstGeom xmlns:a="http://schemas.openxmlformats.org/drawingml/2006/main" prst="rect">
            <a:avLst/>
          </a:prstGeom>
          <a:solidFill xmlns:a="http://schemas.openxmlformats.org/drawingml/2006/main">
            <a:srgbClr val="777F5D"/>
          </a:solidFill>
          <a:ln xmlns:a="http://schemas.openxmlformats.org/drawingml/2006/main" w="9525">
            <a:solidFill>
              <a:srgbClr val="777F5D"/>
            </a:solidFill>
            <a:prstDash val="solid"/>
          </a:ln>
        </p:spPr>
      </p:sp>
      <p:sp>
        <p:nvSpPr>
          <p:cNvPr id="2" name="eyebrow">
            <a:extLst xmlns:a="http://schemas.openxmlformats.org/drawingml/2006/main">
              <a:ext uri="{FF2B5EF4-FFF2-40B4-BE49-F238E27FC236}">
                <a16:creationId xmlns:a16="http://schemas.microsoft.com/office/drawing/2014/main" id="{883C4944-320C-496B-A43C-B53E6DC9F669}"/>
              </a:ext>
            </a:extLst>
          </p:cNvPr>
          <p:cNvSpPr>
            <a:spLocks xmlns:a="http://schemas.openxmlformats.org/drawingml/2006/main" noGrp="1"/>
          </p:cNvSpPr>
          <p:nvPr/>
        </p:nvSpPr>
        <p:spPr>
          <a:xfrm xmlns:a="http://schemas.openxmlformats.org/drawingml/2006/main">
            <a:off x="914400" y="5905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4B563E"/>
                </a:solidFill>
                <a:latin typeface="Times New Roman"/>
                <a:ea typeface="Times New Roman"/>
                <a:cs typeface="Times New Roman"/>
              </a:defRPr>
            </a:pPr>
            <a:r>
              <a:rPr sz="975" b="1" i="0">
                <a:solidFill>
                  <a:srgbClr val="4B563E"/>
                </a:solidFill>
                <a:latin typeface="Times New Roman"/>
                <a:ea typeface="Times New Roman"/>
                <a:cs typeface="Times New Roman"/>
              </a:rPr>
              <a:t>PAPER 2 · REPLACEMENT SLIDE</a:t>
            </a:r>
          </a:p>
        </p:txBody>
      </p:sp>
      <p:sp>
        <p:nvSpPr>
          <p:cNvPr id="3" name="title">
            <a:extLst xmlns:a="http://schemas.openxmlformats.org/drawingml/2006/main">
              <a:ext uri="{FF2B5EF4-FFF2-40B4-BE49-F238E27FC236}">
                <a16:creationId xmlns:a16="http://schemas.microsoft.com/office/drawing/2014/main" id="{EC0EC1CA-FE1D-4A9F-82D1-13D6FCFB7E0A}"/>
              </a:ext>
            </a:extLst>
          </p:cNvPr>
          <p:cNvSpPr>
            <a:spLocks xmlns:a="http://schemas.openxmlformats.org/drawingml/2006/main" noGrp="1"/>
          </p:cNvSpPr>
          <p:nvPr/>
        </p:nvSpPr>
        <p:spPr>
          <a:xfrm xmlns:a="http://schemas.openxmlformats.org/drawingml/2006/main">
            <a:off x="914400" y="914400"/>
            <a:ext cx="7429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8231C"/>
                </a:solidFill>
                <a:latin typeface="Times New Roman"/>
                <a:ea typeface="Times New Roman"/>
                <a:cs typeface="Times New Roman"/>
              </a:defRPr>
            </a:pPr>
            <a:r>
              <a:rPr sz="2700" b="1" i="0">
                <a:solidFill>
                  <a:srgbClr val="18231C"/>
                </a:solidFill>
                <a:latin typeface="Times New Roman"/>
                <a:ea typeface="Times New Roman"/>
                <a:cs typeface="Times New Roman"/>
              </a:rPr>
              <a:t>Research Questions and Hypotheses</a:t>
            </a:r>
          </a:p>
        </p:txBody>
      </p:sp>
      <p:sp>
        <p:nvSpPr>
          <p:cNvPr id="4" name="subtitle">
            <a:extLst xmlns:a="http://schemas.openxmlformats.org/drawingml/2006/main">
              <a:ext uri="{FF2B5EF4-FFF2-40B4-BE49-F238E27FC236}">
                <a16:creationId xmlns:a16="http://schemas.microsoft.com/office/drawing/2014/main" id="{17B362F7-A6A5-4C8C-921A-AFA735143DEC}"/>
              </a:ext>
            </a:extLst>
          </p:cNvPr>
          <p:cNvSpPr>
            <a:spLocks xmlns:a="http://schemas.openxmlformats.org/drawingml/2006/main" noGrp="1"/>
          </p:cNvSpPr>
          <p:nvPr/>
        </p:nvSpPr>
        <p:spPr>
          <a:xfrm xmlns:a="http://schemas.openxmlformats.org/drawingml/2006/main">
            <a:off x="914400" y="1352550"/>
            <a:ext cx="962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E6556"/>
                </a:solidFill>
                <a:latin typeface="Times New Roman"/>
                <a:ea typeface="Times New Roman"/>
                <a:cs typeface="Times New Roman"/>
              </a:defRPr>
            </a:pPr>
            <a:r>
              <a:rPr sz="1350" b="0" i="0">
                <a:solidFill>
                  <a:srgbClr val="5E6556"/>
                </a:solidFill>
                <a:latin typeface="Times New Roman"/>
                <a:ea typeface="Times New Roman"/>
                <a:cs typeface="Times New Roman"/>
              </a:rPr>
              <a:t>The design compares how reliance changes after matched feedback, local AI shocks, and later recovery.</a:t>
            </a:r>
          </a:p>
        </p:txBody>
      </p:sp>
      <p:sp>
        <p:nvSpPr>
          <p:cNvPr id="5" name="rq-card">
            <a:extLst xmlns:a="http://schemas.openxmlformats.org/drawingml/2006/main">
              <a:ext uri="{FF2B5EF4-FFF2-40B4-BE49-F238E27FC236}">
                <a16:creationId xmlns:a16="http://schemas.microsoft.com/office/drawing/2014/main" id="{676BA2C9-20E1-40DA-87D9-6FBA44AB50E5}"/>
              </a:ext>
            </a:extLst>
          </p:cNvPr>
          <p:cNvSpPr>
            <a:spLocks xmlns:a="http://schemas.openxmlformats.org/drawingml/2006/main" noGrp="1"/>
          </p:cNvSpPr>
          <p:nvPr/>
        </p:nvSpPr>
        <p:spPr>
          <a:xfrm xmlns:a="http://schemas.openxmlformats.org/drawingml/2006/main">
            <a:off x="914400" y="1790700"/>
            <a:ext cx="10287000" cy="819150"/>
          </a:xfrm>
          <a:prstGeom xmlns:a="http://schemas.openxmlformats.org/drawingml/2006/main" prst="roundRect">
            <a:avLst>
              <a:gd name="adj" fmla="val 13953"/>
            </a:avLst>
          </a:prstGeom>
          <a:solidFill xmlns:a="http://schemas.openxmlformats.org/drawingml/2006/main">
            <a:srgbClr val="FFFDF6"/>
          </a:solidFill>
          <a:ln xmlns:a="http://schemas.openxmlformats.org/drawingml/2006/main" w="9525">
            <a:solidFill>
              <a:srgbClr val="D8CEBD"/>
            </a:solidFill>
            <a:prstDash val="solid"/>
          </a:ln>
        </p:spPr>
      </p:sp>
      <p:sp>
        <p:nvSpPr>
          <p:cNvPr id="6" name="rq-accent">
            <a:extLst xmlns:a="http://schemas.openxmlformats.org/drawingml/2006/main">
              <a:ext uri="{FF2B5EF4-FFF2-40B4-BE49-F238E27FC236}">
                <a16:creationId xmlns:a16="http://schemas.microsoft.com/office/drawing/2014/main" id="{65F37EB3-7F02-4AC1-AE93-0100CA6B8182}"/>
              </a:ext>
            </a:extLst>
          </p:cNvPr>
          <p:cNvSpPr>
            <a:spLocks xmlns:a="http://schemas.openxmlformats.org/drawingml/2006/main" noGrp="1"/>
          </p:cNvSpPr>
          <p:nvPr/>
        </p:nvSpPr>
        <p:spPr>
          <a:xfrm xmlns:a="http://schemas.openxmlformats.org/drawingml/2006/main">
            <a:off x="914400" y="1790700"/>
            <a:ext cx="76200" cy="819150"/>
          </a:xfrm>
          <a:prstGeom xmlns:a="http://schemas.openxmlformats.org/drawingml/2006/main" prst="rect">
            <a:avLst/>
          </a:prstGeom>
          <a:solidFill xmlns:a="http://schemas.openxmlformats.org/drawingml/2006/main">
            <a:srgbClr val="A9653B"/>
          </a:solidFill>
          <a:ln xmlns:a="http://schemas.openxmlformats.org/drawingml/2006/main" w="9525">
            <a:solidFill>
              <a:srgbClr val="A9653B"/>
            </a:solidFill>
            <a:prstDash val="solid"/>
          </a:ln>
        </p:spPr>
      </p:sp>
      <p:sp>
        <p:nvSpPr>
          <p:cNvPr id="7" name="rq-label">
            <a:extLst xmlns:a="http://schemas.openxmlformats.org/drawingml/2006/main">
              <a:ext uri="{FF2B5EF4-FFF2-40B4-BE49-F238E27FC236}">
                <a16:creationId xmlns:a16="http://schemas.microsoft.com/office/drawing/2014/main" id="{114410EF-780D-4A83-B23F-C3B483DDCF6F}"/>
              </a:ext>
            </a:extLst>
          </p:cNvPr>
          <p:cNvSpPr>
            <a:spLocks xmlns:a="http://schemas.openxmlformats.org/drawingml/2006/main" noGrp="1"/>
          </p:cNvSpPr>
          <p:nvPr/>
        </p:nvSpPr>
        <p:spPr>
          <a:xfrm xmlns:a="http://schemas.openxmlformats.org/drawingml/2006/main">
            <a:off x="1143000" y="1952625"/>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A9653B"/>
                </a:solidFill>
                <a:latin typeface="Times New Roman"/>
                <a:ea typeface="Times New Roman"/>
                <a:cs typeface="Times New Roman"/>
              </a:defRPr>
            </a:pPr>
            <a:r>
              <a:rPr sz="1350" b="1" i="0">
                <a:solidFill>
                  <a:srgbClr val="A9653B"/>
                </a:solidFill>
                <a:latin typeface="Times New Roman"/>
                <a:ea typeface="Times New Roman"/>
                <a:cs typeface="Times New Roman"/>
              </a:rPr>
              <a:t>Overall RQ</a:t>
            </a:r>
          </a:p>
        </p:txBody>
      </p:sp>
      <p:sp>
        <p:nvSpPr>
          <p:cNvPr id="8" name="rq-text">
            <a:extLst xmlns:a="http://schemas.openxmlformats.org/drawingml/2006/main">
              <a:ext uri="{FF2B5EF4-FFF2-40B4-BE49-F238E27FC236}">
                <a16:creationId xmlns:a16="http://schemas.microsoft.com/office/drawing/2014/main" id="{65B06349-BA8D-42DE-A355-6FD61837AA76}"/>
              </a:ext>
            </a:extLst>
          </p:cNvPr>
          <p:cNvSpPr>
            <a:spLocks xmlns:a="http://schemas.openxmlformats.org/drawingml/2006/main" noGrp="1"/>
          </p:cNvSpPr>
          <p:nvPr/>
        </p:nvSpPr>
        <p:spPr>
          <a:xfrm xmlns:a="http://schemas.openxmlformats.org/drawingml/2006/main">
            <a:off x="2857500" y="1905000"/>
            <a:ext cx="781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18231C"/>
                </a:solidFill>
                <a:latin typeface="Times New Roman"/>
                <a:ea typeface="Times New Roman"/>
                <a:cs typeface="Times New Roman"/>
              </a:defRPr>
            </a:pPr>
            <a:r>
              <a:rPr sz="1500" b="0" i="0">
                <a:solidFill>
                  <a:srgbClr val="18231C"/>
                </a:solidFill>
                <a:latin typeface="Times New Roman"/>
                <a:ea typeface="Times New Roman"/>
                <a:cs typeface="Times New Roman"/>
              </a:rPr>
              <a:t>How do participants dynamically calibrate reliance on self vs. AI in repeated human-AI decisions, and how does a localized AI error shock reshape that reliance path?</a:t>
            </a:r>
          </a:p>
        </p:txBody>
      </p:sp>
      <p:sp>
        <p:nvSpPr>
          <p:cNvPr id="9" name="H1-card">
            <a:extLst xmlns:a="http://schemas.openxmlformats.org/drawingml/2006/main">
              <a:ext uri="{FF2B5EF4-FFF2-40B4-BE49-F238E27FC236}">
                <a16:creationId xmlns:a16="http://schemas.microsoft.com/office/drawing/2014/main" id="{E3DF02DF-66B0-495B-9F5A-B56052807AD7}"/>
              </a:ext>
            </a:extLst>
          </p:cNvPr>
          <p:cNvSpPr>
            <a:spLocks xmlns:a="http://schemas.openxmlformats.org/drawingml/2006/main" noGrp="1"/>
          </p:cNvSpPr>
          <p:nvPr/>
        </p:nvSpPr>
        <p:spPr>
          <a:xfrm xmlns:a="http://schemas.openxmlformats.org/drawingml/2006/main">
            <a:off x="914400" y="2876550"/>
            <a:ext cx="3200400" cy="1123950"/>
          </a:xfrm>
          <a:prstGeom xmlns:a="http://schemas.openxmlformats.org/drawingml/2006/main" prst="roundRect">
            <a:avLst>
              <a:gd name="adj" fmla="val 10169"/>
            </a:avLst>
          </a:prstGeom>
          <a:solidFill xmlns:a="http://schemas.openxmlformats.org/drawingml/2006/main">
            <a:srgbClr val="FFFDF6"/>
          </a:solidFill>
          <a:ln xmlns:a="http://schemas.openxmlformats.org/drawingml/2006/main" w="9525">
            <a:solidFill>
              <a:srgbClr val="D8CEBD"/>
            </a:solidFill>
            <a:prstDash val="solid"/>
          </a:ln>
        </p:spPr>
      </p:sp>
      <p:sp>
        <p:nvSpPr>
          <p:cNvPr id="10" name="H1-stripe">
            <a:extLst xmlns:a="http://schemas.openxmlformats.org/drawingml/2006/main">
              <a:ext uri="{FF2B5EF4-FFF2-40B4-BE49-F238E27FC236}">
                <a16:creationId xmlns:a16="http://schemas.microsoft.com/office/drawing/2014/main" id="{856089EB-BE6C-439B-8ABD-64FEE7691692}"/>
              </a:ext>
            </a:extLst>
          </p:cNvPr>
          <p:cNvSpPr>
            <a:spLocks xmlns:a="http://schemas.openxmlformats.org/drawingml/2006/main" noGrp="1"/>
          </p:cNvSpPr>
          <p:nvPr/>
        </p:nvSpPr>
        <p:spPr>
          <a:xfrm xmlns:a="http://schemas.openxmlformats.org/drawingml/2006/main">
            <a:off x="914400" y="2876550"/>
            <a:ext cx="57150" cy="1123950"/>
          </a:xfrm>
          <a:prstGeom xmlns:a="http://schemas.openxmlformats.org/drawingml/2006/main" prst="rect">
            <a:avLst/>
          </a:prstGeom>
          <a:solidFill xmlns:a="http://schemas.openxmlformats.org/drawingml/2006/main">
            <a:srgbClr val="777F5D"/>
          </a:solidFill>
          <a:ln xmlns:a="http://schemas.openxmlformats.org/drawingml/2006/main" w="9525">
            <a:solidFill>
              <a:srgbClr val="777F5D"/>
            </a:solidFill>
            <a:prstDash val="solid"/>
          </a:ln>
        </p:spPr>
      </p:sp>
      <p:sp>
        <p:nvSpPr>
          <p:cNvPr id="11" name="H1-label">
            <a:extLst xmlns:a="http://schemas.openxmlformats.org/drawingml/2006/main">
              <a:ext uri="{FF2B5EF4-FFF2-40B4-BE49-F238E27FC236}">
                <a16:creationId xmlns:a16="http://schemas.microsoft.com/office/drawing/2014/main" id="{E8150F30-DACF-4B85-959B-6D22C31703D5}"/>
              </a:ext>
            </a:extLst>
          </p:cNvPr>
          <p:cNvSpPr>
            <a:spLocks xmlns:a="http://schemas.openxmlformats.org/drawingml/2006/main" noGrp="1"/>
          </p:cNvSpPr>
          <p:nvPr/>
        </p:nvSpPr>
        <p:spPr>
          <a:xfrm xmlns:a="http://schemas.openxmlformats.org/drawingml/2006/main">
            <a:off x="1085850" y="30194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777F5D"/>
                </a:solidFill>
                <a:latin typeface="Times New Roman"/>
                <a:ea typeface="Times New Roman"/>
                <a:cs typeface="Times New Roman"/>
              </a:defRPr>
            </a:pPr>
            <a:r>
              <a:rPr sz="975" b="1" i="0">
                <a:solidFill>
                  <a:srgbClr val="777F5D"/>
                </a:solidFill>
                <a:latin typeface="Times New Roman"/>
                <a:ea typeface="Times New Roman"/>
                <a:cs typeface="Times New Roman"/>
              </a:rPr>
              <a:t>H1</a:t>
            </a:r>
          </a:p>
        </p:txBody>
      </p:sp>
      <p:sp>
        <p:nvSpPr>
          <p:cNvPr id="12" name="H1-title">
            <a:extLst xmlns:a="http://schemas.openxmlformats.org/drawingml/2006/main">
              <a:ext uri="{FF2B5EF4-FFF2-40B4-BE49-F238E27FC236}">
                <a16:creationId xmlns:a16="http://schemas.microsoft.com/office/drawing/2014/main" id="{FFA53167-AB84-4718-AD35-D14FDBDB1F46}"/>
              </a:ext>
            </a:extLst>
          </p:cNvPr>
          <p:cNvSpPr>
            <a:spLocks xmlns:a="http://schemas.openxmlformats.org/drawingml/2006/main" noGrp="1"/>
          </p:cNvSpPr>
          <p:nvPr/>
        </p:nvSpPr>
        <p:spPr>
          <a:xfrm xmlns:a="http://schemas.openxmlformats.org/drawingml/2006/main">
            <a:off x="1638300" y="29908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8231C"/>
                </a:solidFill>
                <a:latin typeface="Times New Roman"/>
                <a:ea typeface="Times New Roman"/>
                <a:cs typeface="Times New Roman"/>
              </a:defRPr>
            </a:pPr>
            <a:r>
              <a:rPr sz="1500" b="1" i="0">
                <a:solidFill>
                  <a:srgbClr val="18231C"/>
                </a:solidFill>
                <a:latin typeface="Times New Roman"/>
                <a:ea typeface="Times New Roman"/>
                <a:cs typeface="Times New Roman"/>
              </a:rPr>
              <a:t>Dynamic calibration</a:t>
            </a:r>
          </a:p>
        </p:txBody>
      </p:sp>
      <p:sp>
        <p:nvSpPr>
          <p:cNvPr id="13" name="H1-body">
            <a:extLst xmlns:a="http://schemas.openxmlformats.org/drawingml/2006/main">
              <a:ext uri="{FF2B5EF4-FFF2-40B4-BE49-F238E27FC236}">
                <a16:creationId xmlns:a16="http://schemas.microsoft.com/office/drawing/2014/main" id="{573C1E26-CA2A-47A0-9690-97C8B2842873}"/>
              </a:ext>
            </a:extLst>
          </p:cNvPr>
          <p:cNvSpPr>
            <a:spLocks xmlns:a="http://schemas.openxmlformats.org/drawingml/2006/main" noGrp="1"/>
          </p:cNvSpPr>
          <p:nvPr/>
        </p:nvSpPr>
        <p:spPr>
          <a:xfrm xmlns:a="http://schemas.openxmlformats.org/drawingml/2006/main">
            <a:off x="1085850" y="3333750"/>
            <a:ext cx="2876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E6556"/>
                </a:solidFill>
                <a:latin typeface="Times New Roman"/>
                <a:ea typeface="Times New Roman"/>
                <a:cs typeface="Times New Roman"/>
              </a:defRPr>
            </a:pPr>
            <a:r>
              <a:rPr sz="1200" b="0" i="0">
                <a:solidFill>
                  <a:srgbClr val="5E6556"/>
                </a:solidFill>
                <a:latin typeface="Times New Roman"/>
                <a:ea typeface="Times New Roman"/>
                <a:cs typeface="Times New Roman"/>
              </a:rPr>
              <a:t>Reliance should follow repeated feedback about relative self-AI performance.</a:t>
            </a:r>
          </a:p>
        </p:txBody>
      </p:sp>
      <p:sp>
        <p:nvSpPr>
          <p:cNvPr id="14" name="H2-card">
            <a:extLst xmlns:a="http://schemas.openxmlformats.org/drawingml/2006/main">
              <a:ext uri="{FF2B5EF4-FFF2-40B4-BE49-F238E27FC236}">
                <a16:creationId xmlns:a16="http://schemas.microsoft.com/office/drawing/2014/main" id="{149684C7-211E-445E-BA1E-0E8987ED9848}"/>
              </a:ext>
            </a:extLst>
          </p:cNvPr>
          <p:cNvSpPr>
            <a:spLocks xmlns:a="http://schemas.openxmlformats.org/drawingml/2006/main" noGrp="1"/>
          </p:cNvSpPr>
          <p:nvPr/>
        </p:nvSpPr>
        <p:spPr>
          <a:xfrm xmlns:a="http://schemas.openxmlformats.org/drawingml/2006/main">
            <a:off x="4381500" y="2876550"/>
            <a:ext cx="3200400" cy="1123950"/>
          </a:xfrm>
          <a:prstGeom xmlns:a="http://schemas.openxmlformats.org/drawingml/2006/main" prst="roundRect">
            <a:avLst>
              <a:gd name="adj" fmla="val 10169"/>
            </a:avLst>
          </a:prstGeom>
          <a:solidFill xmlns:a="http://schemas.openxmlformats.org/drawingml/2006/main">
            <a:srgbClr val="FFFDF6"/>
          </a:solidFill>
          <a:ln xmlns:a="http://schemas.openxmlformats.org/drawingml/2006/main" w="9525">
            <a:solidFill>
              <a:srgbClr val="D8CEBD"/>
            </a:solidFill>
            <a:prstDash val="solid"/>
          </a:ln>
        </p:spPr>
      </p:sp>
      <p:sp>
        <p:nvSpPr>
          <p:cNvPr id="15" name="H2-stripe">
            <a:extLst xmlns:a="http://schemas.openxmlformats.org/drawingml/2006/main">
              <a:ext uri="{FF2B5EF4-FFF2-40B4-BE49-F238E27FC236}">
                <a16:creationId xmlns:a16="http://schemas.microsoft.com/office/drawing/2014/main" id="{6AD32397-857D-4C24-B358-817D09A019B9}"/>
              </a:ext>
            </a:extLst>
          </p:cNvPr>
          <p:cNvSpPr>
            <a:spLocks xmlns:a="http://schemas.openxmlformats.org/drawingml/2006/main" noGrp="1"/>
          </p:cNvSpPr>
          <p:nvPr/>
        </p:nvSpPr>
        <p:spPr>
          <a:xfrm xmlns:a="http://schemas.openxmlformats.org/drawingml/2006/main">
            <a:off x="4381500" y="2876550"/>
            <a:ext cx="57150" cy="1123950"/>
          </a:xfrm>
          <a:prstGeom xmlns:a="http://schemas.openxmlformats.org/drawingml/2006/main" prst="rect">
            <a:avLst/>
          </a:prstGeom>
          <a:solidFill xmlns:a="http://schemas.openxmlformats.org/drawingml/2006/main">
            <a:srgbClr val="A9653B"/>
          </a:solidFill>
          <a:ln xmlns:a="http://schemas.openxmlformats.org/drawingml/2006/main" w="9525">
            <a:solidFill>
              <a:srgbClr val="A9653B"/>
            </a:solidFill>
            <a:prstDash val="solid"/>
          </a:ln>
        </p:spPr>
      </p:sp>
      <p:sp>
        <p:nvSpPr>
          <p:cNvPr id="16" name="H2-label">
            <a:extLst xmlns:a="http://schemas.openxmlformats.org/drawingml/2006/main">
              <a:ext uri="{FF2B5EF4-FFF2-40B4-BE49-F238E27FC236}">
                <a16:creationId xmlns:a16="http://schemas.microsoft.com/office/drawing/2014/main" id="{C9336D80-ADD5-4D00-8809-C05FF348F4CF}"/>
              </a:ext>
            </a:extLst>
          </p:cNvPr>
          <p:cNvSpPr>
            <a:spLocks xmlns:a="http://schemas.openxmlformats.org/drawingml/2006/main" noGrp="1"/>
          </p:cNvSpPr>
          <p:nvPr/>
        </p:nvSpPr>
        <p:spPr>
          <a:xfrm xmlns:a="http://schemas.openxmlformats.org/drawingml/2006/main">
            <a:off x="4552950" y="30194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A9653B"/>
                </a:solidFill>
                <a:latin typeface="Times New Roman"/>
                <a:ea typeface="Times New Roman"/>
                <a:cs typeface="Times New Roman"/>
              </a:defRPr>
            </a:pPr>
            <a:r>
              <a:rPr sz="975" b="1" i="0">
                <a:solidFill>
                  <a:srgbClr val="A9653B"/>
                </a:solidFill>
                <a:latin typeface="Times New Roman"/>
                <a:ea typeface="Times New Roman"/>
                <a:cs typeface="Times New Roman"/>
              </a:rPr>
              <a:t>H2</a:t>
            </a:r>
          </a:p>
        </p:txBody>
      </p:sp>
      <p:sp>
        <p:nvSpPr>
          <p:cNvPr id="17" name="H2-title">
            <a:extLst xmlns:a="http://schemas.openxmlformats.org/drawingml/2006/main">
              <a:ext uri="{FF2B5EF4-FFF2-40B4-BE49-F238E27FC236}">
                <a16:creationId xmlns:a16="http://schemas.microsoft.com/office/drawing/2014/main" id="{7E5A38AE-9B6F-40BD-9F9C-4FAED104B0FF}"/>
              </a:ext>
            </a:extLst>
          </p:cNvPr>
          <p:cNvSpPr>
            <a:spLocks xmlns:a="http://schemas.openxmlformats.org/drawingml/2006/main" noGrp="1"/>
          </p:cNvSpPr>
          <p:nvPr/>
        </p:nvSpPr>
        <p:spPr>
          <a:xfrm xmlns:a="http://schemas.openxmlformats.org/drawingml/2006/main">
            <a:off x="5105400" y="29908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8231C"/>
                </a:solidFill>
                <a:latin typeface="Times New Roman"/>
                <a:ea typeface="Times New Roman"/>
                <a:cs typeface="Times New Roman"/>
              </a:defRPr>
            </a:pPr>
            <a:r>
              <a:rPr sz="1500" b="1" i="0">
                <a:solidFill>
                  <a:srgbClr val="18231C"/>
                </a:solidFill>
                <a:latin typeface="Times New Roman"/>
                <a:ea typeface="Times New Roman"/>
                <a:cs typeface="Times New Roman"/>
              </a:rPr>
              <a:t>AI shock penalty</a:t>
            </a:r>
          </a:p>
        </p:txBody>
      </p:sp>
      <p:sp>
        <p:nvSpPr>
          <p:cNvPr id="18" name="H2-body">
            <a:extLst xmlns:a="http://schemas.openxmlformats.org/drawingml/2006/main">
              <a:ext uri="{FF2B5EF4-FFF2-40B4-BE49-F238E27FC236}">
                <a16:creationId xmlns:a16="http://schemas.microsoft.com/office/drawing/2014/main" id="{67EDF009-E75F-4378-8051-AF6C71647133}"/>
              </a:ext>
            </a:extLst>
          </p:cNvPr>
          <p:cNvSpPr>
            <a:spLocks xmlns:a="http://schemas.openxmlformats.org/drawingml/2006/main" noGrp="1"/>
          </p:cNvSpPr>
          <p:nvPr/>
        </p:nvSpPr>
        <p:spPr>
          <a:xfrm xmlns:a="http://schemas.openxmlformats.org/drawingml/2006/main">
            <a:off x="4552950" y="3333750"/>
            <a:ext cx="2876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E6556"/>
                </a:solidFill>
                <a:latin typeface="Times New Roman"/>
                <a:ea typeface="Times New Roman"/>
                <a:cs typeface="Times New Roman"/>
              </a:defRPr>
            </a:pPr>
            <a:r>
              <a:rPr sz="1200" b="0" i="0">
                <a:solidFill>
                  <a:srgbClr val="5E6556"/>
                </a:solidFill>
                <a:latin typeface="Times New Roman"/>
                <a:ea typeface="Times New Roman"/>
                <a:cs typeface="Times New Roman"/>
              </a:rPr>
              <a:t>Concentrated AI errors should reduce later AI adoption compared with balanced errors.</a:t>
            </a:r>
          </a:p>
        </p:txBody>
      </p:sp>
      <p:sp>
        <p:nvSpPr>
          <p:cNvPr id="19" name="H3-card">
            <a:extLst xmlns:a="http://schemas.openxmlformats.org/drawingml/2006/main">
              <a:ext uri="{FF2B5EF4-FFF2-40B4-BE49-F238E27FC236}">
                <a16:creationId xmlns:a16="http://schemas.microsoft.com/office/drawing/2014/main" id="{DC0BAE1C-F75A-48B6-9C6F-27A086413D60}"/>
              </a:ext>
            </a:extLst>
          </p:cNvPr>
          <p:cNvSpPr>
            <a:spLocks xmlns:a="http://schemas.openxmlformats.org/drawingml/2006/main" noGrp="1"/>
          </p:cNvSpPr>
          <p:nvPr/>
        </p:nvSpPr>
        <p:spPr>
          <a:xfrm xmlns:a="http://schemas.openxmlformats.org/drawingml/2006/main">
            <a:off x="7848600" y="2876550"/>
            <a:ext cx="3200400" cy="1123950"/>
          </a:xfrm>
          <a:prstGeom xmlns:a="http://schemas.openxmlformats.org/drawingml/2006/main" prst="roundRect">
            <a:avLst>
              <a:gd name="adj" fmla="val 10169"/>
            </a:avLst>
          </a:prstGeom>
          <a:solidFill xmlns:a="http://schemas.openxmlformats.org/drawingml/2006/main">
            <a:srgbClr val="FFFDF6"/>
          </a:solidFill>
          <a:ln xmlns:a="http://schemas.openxmlformats.org/drawingml/2006/main" w="9525">
            <a:solidFill>
              <a:srgbClr val="D8CEBD"/>
            </a:solidFill>
            <a:prstDash val="solid"/>
          </a:ln>
        </p:spPr>
      </p:sp>
      <p:sp>
        <p:nvSpPr>
          <p:cNvPr id="20" name="H3-stripe">
            <a:extLst xmlns:a="http://schemas.openxmlformats.org/drawingml/2006/main">
              <a:ext uri="{FF2B5EF4-FFF2-40B4-BE49-F238E27FC236}">
                <a16:creationId xmlns:a16="http://schemas.microsoft.com/office/drawing/2014/main" id="{BB9A8EB6-F640-4DE1-9580-7E10712533BE}"/>
              </a:ext>
            </a:extLst>
          </p:cNvPr>
          <p:cNvSpPr>
            <a:spLocks xmlns:a="http://schemas.openxmlformats.org/drawingml/2006/main" noGrp="1"/>
          </p:cNvSpPr>
          <p:nvPr/>
        </p:nvSpPr>
        <p:spPr>
          <a:xfrm xmlns:a="http://schemas.openxmlformats.org/drawingml/2006/main">
            <a:off x="7848600" y="2876550"/>
            <a:ext cx="57150" cy="1123950"/>
          </a:xfrm>
          <a:prstGeom xmlns:a="http://schemas.openxmlformats.org/drawingml/2006/main" prst="rect">
            <a:avLst/>
          </a:prstGeom>
          <a:solidFill xmlns:a="http://schemas.openxmlformats.org/drawingml/2006/main">
            <a:srgbClr val="777F5D"/>
          </a:solidFill>
          <a:ln xmlns:a="http://schemas.openxmlformats.org/drawingml/2006/main" w="9525">
            <a:solidFill>
              <a:srgbClr val="777F5D"/>
            </a:solidFill>
            <a:prstDash val="solid"/>
          </a:ln>
        </p:spPr>
      </p:sp>
      <p:sp>
        <p:nvSpPr>
          <p:cNvPr id="21" name="H3-label">
            <a:extLst xmlns:a="http://schemas.openxmlformats.org/drawingml/2006/main">
              <a:ext uri="{FF2B5EF4-FFF2-40B4-BE49-F238E27FC236}">
                <a16:creationId xmlns:a16="http://schemas.microsoft.com/office/drawing/2014/main" id="{403E294A-1349-4DF0-A16C-9E90AA7E20F0}"/>
              </a:ext>
            </a:extLst>
          </p:cNvPr>
          <p:cNvSpPr>
            <a:spLocks xmlns:a="http://schemas.openxmlformats.org/drawingml/2006/main" noGrp="1"/>
          </p:cNvSpPr>
          <p:nvPr/>
        </p:nvSpPr>
        <p:spPr>
          <a:xfrm xmlns:a="http://schemas.openxmlformats.org/drawingml/2006/main">
            <a:off x="8020050" y="301942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777F5D"/>
                </a:solidFill>
                <a:latin typeface="Times New Roman"/>
                <a:ea typeface="Times New Roman"/>
                <a:cs typeface="Times New Roman"/>
              </a:defRPr>
            </a:pPr>
            <a:r>
              <a:rPr sz="975" b="1" i="0">
                <a:solidFill>
                  <a:srgbClr val="777F5D"/>
                </a:solidFill>
                <a:latin typeface="Times New Roman"/>
                <a:ea typeface="Times New Roman"/>
                <a:cs typeface="Times New Roman"/>
              </a:rPr>
              <a:t>H3</a:t>
            </a:r>
          </a:p>
        </p:txBody>
      </p:sp>
      <p:sp>
        <p:nvSpPr>
          <p:cNvPr id="22" name="H3-title">
            <a:extLst xmlns:a="http://schemas.openxmlformats.org/drawingml/2006/main">
              <a:ext uri="{FF2B5EF4-FFF2-40B4-BE49-F238E27FC236}">
                <a16:creationId xmlns:a16="http://schemas.microsoft.com/office/drawing/2014/main" id="{462B30F1-756B-49D7-A93A-9F3620708FA1}"/>
              </a:ext>
            </a:extLst>
          </p:cNvPr>
          <p:cNvSpPr>
            <a:spLocks xmlns:a="http://schemas.openxmlformats.org/drawingml/2006/main" noGrp="1"/>
          </p:cNvSpPr>
          <p:nvPr/>
        </p:nvSpPr>
        <p:spPr>
          <a:xfrm xmlns:a="http://schemas.openxmlformats.org/drawingml/2006/main">
            <a:off x="8572500" y="29908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8231C"/>
                </a:solidFill>
                <a:latin typeface="Times New Roman"/>
                <a:ea typeface="Times New Roman"/>
                <a:cs typeface="Times New Roman"/>
              </a:defRPr>
            </a:pPr>
            <a:r>
              <a:rPr sz="1500" b="1" i="0">
                <a:solidFill>
                  <a:srgbClr val="18231C"/>
                </a:solidFill>
                <a:latin typeface="Times New Roman"/>
                <a:ea typeface="Times New Roman"/>
                <a:cs typeface="Times New Roman"/>
              </a:rPr>
              <a:t>Post-shock recovery</a:t>
            </a:r>
          </a:p>
        </p:txBody>
      </p:sp>
      <p:sp>
        <p:nvSpPr>
          <p:cNvPr id="23" name="H3-body">
            <a:extLst xmlns:a="http://schemas.openxmlformats.org/drawingml/2006/main">
              <a:ext uri="{FF2B5EF4-FFF2-40B4-BE49-F238E27FC236}">
                <a16:creationId xmlns:a16="http://schemas.microsoft.com/office/drawing/2014/main" id="{48375AA4-ECFB-4A7F-AD34-959422FFF240}"/>
              </a:ext>
            </a:extLst>
          </p:cNvPr>
          <p:cNvSpPr>
            <a:spLocks xmlns:a="http://schemas.openxmlformats.org/drawingml/2006/main" noGrp="1"/>
          </p:cNvSpPr>
          <p:nvPr/>
        </p:nvSpPr>
        <p:spPr>
          <a:xfrm xmlns:a="http://schemas.openxmlformats.org/drawingml/2006/main">
            <a:off x="8020050" y="3333750"/>
            <a:ext cx="2876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E6556"/>
                </a:solidFill>
                <a:latin typeface="Times New Roman"/>
                <a:ea typeface="Times New Roman"/>
                <a:cs typeface="Times New Roman"/>
              </a:defRPr>
            </a:pPr>
            <a:r>
              <a:rPr sz="1200" b="0" i="0">
                <a:solidFill>
                  <a:srgbClr val="5E6556"/>
                </a:solidFill>
                <a:latin typeface="Times New Roman"/>
                <a:ea typeface="Times New Roman"/>
                <a:cs typeface="Times New Roman"/>
              </a:rPr>
              <a:t>After AI performance recovers, reliance may rebound or remain persistently low.</a:t>
            </a:r>
          </a:p>
        </p:txBody>
      </p:sp>
      <p:sp>
        <p:nvSpPr>
          <p:cNvPr id="24" name="H4-card">
            <a:extLst xmlns:a="http://schemas.openxmlformats.org/drawingml/2006/main">
              <a:ext uri="{FF2B5EF4-FFF2-40B4-BE49-F238E27FC236}">
                <a16:creationId xmlns:a16="http://schemas.microsoft.com/office/drawing/2014/main" id="{119D641C-AD25-490B-A207-429815650D96}"/>
              </a:ext>
            </a:extLst>
          </p:cNvPr>
          <p:cNvSpPr>
            <a:spLocks xmlns:a="http://schemas.openxmlformats.org/drawingml/2006/main" noGrp="1"/>
          </p:cNvSpPr>
          <p:nvPr/>
        </p:nvSpPr>
        <p:spPr>
          <a:xfrm xmlns:a="http://schemas.openxmlformats.org/drawingml/2006/main">
            <a:off x="914400" y="4267200"/>
            <a:ext cx="4953000" cy="1123950"/>
          </a:xfrm>
          <a:prstGeom xmlns:a="http://schemas.openxmlformats.org/drawingml/2006/main" prst="roundRect">
            <a:avLst>
              <a:gd name="adj" fmla="val 10169"/>
            </a:avLst>
          </a:prstGeom>
          <a:solidFill xmlns:a="http://schemas.openxmlformats.org/drawingml/2006/main">
            <a:srgbClr val="FFFDF6"/>
          </a:solidFill>
          <a:ln xmlns:a="http://schemas.openxmlformats.org/drawingml/2006/main" w="9525">
            <a:solidFill>
              <a:srgbClr val="D8CEBD"/>
            </a:solidFill>
            <a:prstDash val="solid"/>
          </a:ln>
        </p:spPr>
      </p:sp>
      <p:sp>
        <p:nvSpPr>
          <p:cNvPr id="25" name="H4-stripe">
            <a:extLst xmlns:a="http://schemas.openxmlformats.org/drawingml/2006/main">
              <a:ext uri="{FF2B5EF4-FFF2-40B4-BE49-F238E27FC236}">
                <a16:creationId xmlns:a16="http://schemas.microsoft.com/office/drawing/2014/main" id="{AABE934D-8DB4-4BB9-8DFA-D39974677AC6}"/>
              </a:ext>
            </a:extLst>
          </p:cNvPr>
          <p:cNvSpPr>
            <a:spLocks xmlns:a="http://schemas.openxmlformats.org/drawingml/2006/main" noGrp="1"/>
          </p:cNvSpPr>
          <p:nvPr/>
        </p:nvSpPr>
        <p:spPr>
          <a:xfrm xmlns:a="http://schemas.openxmlformats.org/drawingml/2006/main">
            <a:off x="914400" y="4267200"/>
            <a:ext cx="57150" cy="1123950"/>
          </a:xfrm>
          <a:prstGeom xmlns:a="http://schemas.openxmlformats.org/drawingml/2006/main" prst="rect">
            <a:avLst/>
          </a:prstGeom>
          <a:solidFill xmlns:a="http://schemas.openxmlformats.org/drawingml/2006/main">
            <a:srgbClr val="777F5D"/>
          </a:solidFill>
          <a:ln xmlns:a="http://schemas.openxmlformats.org/drawingml/2006/main" w="9525">
            <a:solidFill>
              <a:srgbClr val="777F5D"/>
            </a:solidFill>
            <a:prstDash val="solid"/>
          </a:ln>
        </p:spPr>
      </p:sp>
      <p:sp>
        <p:nvSpPr>
          <p:cNvPr id="26" name="H4-label">
            <a:extLst xmlns:a="http://schemas.openxmlformats.org/drawingml/2006/main">
              <a:ext uri="{FF2B5EF4-FFF2-40B4-BE49-F238E27FC236}">
                <a16:creationId xmlns:a16="http://schemas.microsoft.com/office/drawing/2014/main" id="{4E8A301A-5FA0-4356-AFC9-182B827A6DD0}"/>
              </a:ext>
            </a:extLst>
          </p:cNvPr>
          <p:cNvSpPr>
            <a:spLocks xmlns:a="http://schemas.openxmlformats.org/drawingml/2006/main" noGrp="1"/>
          </p:cNvSpPr>
          <p:nvPr/>
        </p:nvSpPr>
        <p:spPr>
          <a:xfrm xmlns:a="http://schemas.openxmlformats.org/drawingml/2006/main">
            <a:off x="1085850" y="44100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777F5D"/>
                </a:solidFill>
                <a:latin typeface="Times New Roman"/>
                <a:ea typeface="Times New Roman"/>
                <a:cs typeface="Times New Roman"/>
              </a:defRPr>
            </a:pPr>
            <a:r>
              <a:rPr sz="975" b="1" i="0">
                <a:solidFill>
                  <a:srgbClr val="777F5D"/>
                </a:solidFill>
                <a:latin typeface="Times New Roman"/>
                <a:ea typeface="Times New Roman"/>
                <a:cs typeface="Times New Roman"/>
              </a:rPr>
              <a:t>H4</a:t>
            </a:r>
          </a:p>
        </p:txBody>
      </p:sp>
      <p:sp>
        <p:nvSpPr>
          <p:cNvPr id="27" name="H4-title">
            <a:extLst xmlns:a="http://schemas.openxmlformats.org/drawingml/2006/main">
              <a:ext uri="{FF2B5EF4-FFF2-40B4-BE49-F238E27FC236}">
                <a16:creationId xmlns:a16="http://schemas.microsoft.com/office/drawing/2014/main" id="{FAE6A32D-E700-4F21-A3C3-E3F60EC7BC10}"/>
              </a:ext>
            </a:extLst>
          </p:cNvPr>
          <p:cNvSpPr>
            <a:spLocks xmlns:a="http://schemas.openxmlformats.org/drawingml/2006/main" noGrp="1"/>
          </p:cNvSpPr>
          <p:nvPr/>
        </p:nvSpPr>
        <p:spPr>
          <a:xfrm xmlns:a="http://schemas.openxmlformats.org/drawingml/2006/main">
            <a:off x="1638300" y="4381500"/>
            <a:ext cx="403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8231C"/>
                </a:solidFill>
                <a:latin typeface="Times New Roman"/>
                <a:ea typeface="Times New Roman"/>
                <a:cs typeface="Times New Roman"/>
              </a:defRPr>
            </a:pPr>
            <a:r>
              <a:rPr sz="1500" b="1" i="0">
                <a:solidFill>
                  <a:srgbClr val="18231C"/>
                </a:solidFill>
                <a:latin typeface="Times New Roman"/>
                <a:ea typeface="Times New Roman"/>
                <a:cs typeface="Times New Roman"/>
              </a:rPr>
              <a:t>Shock timing heterogeneity</a:t>
            </a:r>
          </a:p>
        </p:txBody>
      </p:sp>
      <p:sp>
        <p:nvSpPr>
          <p:cNvPr id="28" name="H4-body">
            <a:extLst xmlns:a="http://schemas.openxmlformats.org/drawingml/2006/main">
              <a:ext uri="{FF2B5EF4-FFF2-40B4-BE49-F238E27FC236}">
                <a16:creationId xmlns:a16="http://schemas.microsoft.com/office/drawing/2014/main" id="{03BBE91F-CB79-45BE-B67C-E6ACB416014C}"/>
              </a:ext>
            </a:extLst>
          </p:cNvPr>
          <p:cNvSpPr>
            <a:spLocks xmlns:a="http://schemas.openxmlformats.org/drawingml/2006/main" noGrp="1"/>
          </p:cNvSpPr>
          <p:nvPr/>
        </p:nvSpPr>
        <p:spPr>
          <a:xfrm xmlns:a="http://schemas.openxmlformats.org/drawingml/2006/main">
            <a:off x="1085850" y="4724400"/>
            <a:ext cx="4629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E6556"/>
                </a:solidFill>
                <a:latin typeface="Times New Roman"/>
                <a:ea typeface="Times New Roman"/>
                <a:cs typeface="Times New Roman"/>
              </a:defRPr>
            </a:pPr>
            <a:r>
              <a:rPr sz="1200" b="0" i="0">
                <a:solidFill>
                  <a:srgbClr val="5E6556"/>
                </a:solidFill>
                <a:latin typeface="Times New Roman"/>
                <a:ea typeface="Times New Roman"/>
                <a:cs typeface="Times New Roman"/>
              </a:rPr>
              <a:t>Early shocks affect initial calibration; mid shocks disrupt reliance after experience has formed.</a:t>
            </a:r>
          </a:p>
        </p:txBody>
      </p:sp>
      <p:sp>
        <p:nvSpPr>
          <p:cNvPr id="29" name="H5-card">
            <a:extLst xmlns:a="http://schemas.openxmlformats.org/drawingml/2006/main">
              <a:ext uri="{FF2B5EF4-FFF2-40B4-BE49-F238E27FC236}">
                <a16:creationId xmlns:a16="http://schemas.microsoft.com/office/drawing/2014/main" id="{41C6D110-3D2B-4EF1-A7EF-2E7263948FAE}"/>
              </a:ext>
            </a:extLst>
          </p:cNvPr>
          <p:cNvSpPr>
            <a:spLocks xmlns:a="http://schemas.openxmlformats.org/drawingml/2006/main" noGrp="1"/>
          </p:cNvSpPr>
          <p:nvPr/>
        </p:nvSpPr>
        <p:spPr>
          <a:xfrm xmlns:a="http://schemas.openxmlformats.org/drawingml/2006/main">
            <a:off x="6248400" y="4267200"/>
            <a:ext cx="4953000" cy="1123950"/>
          </a:xfrm>
          <a:prstGeom xmlns:a="http://schemas.openxmlformats.org/drawingml/2006/main" prst="roundRect">
            <a:avLst>
              <a:gd name="adj" fmla="val 10169"/>
            </a:avLst>
          </a:prstGeom>
          <a:solidFill xmlns:a="http://schemas.openxmlformats.org/drawingml/2006/main">
            <a:srgbClr val="F8EFE4"/>
          </a:solidFill>
          <a:ln xmlns:a="http://schemas.openxmlformats.org/drawingml/2006/main" w="9525">
            <a:solidFill>
              <a:srgbClr val="D8CEBD"/>
            </a:solidFill>
            <a:prstDash val="solid"/>
          </a:ln>
        </p:spPr>
      </p:sp>
      <p:sp>
        <p:nvSpPr>
          <p:cNvPr id="30" name="H5-stripe">
            <a:extLst xmlns:a="http://schemas.openxmlformats.org/drawingml/2006/main">
              <a:ext uri="{FF2B5EF4-FFF2-40B4-BE49-F238E27FC236}">
                <a16:creationId xmlns:a16="http://schemas.microsoft.com/office/drawing/2014/main" id="{D3FAE9F0-5145-40DE-992D-B6BE5C617A6B}"/>
              </a:ext>
            </a:extLst>
          </p:cNvPr>
          <p:cNvSpPr>
            <a:spLocks xmlns:a="http://schemas.openxmlformats.org/drawingml/2006/main" noGrp="1"/>
          </p:cNvSpPr>
          <p:nvPr/>
        </p:nvSpPr>
        <p:spPr>
          <a:xfrm xmlns:a="http://schemas.openxmlformats.org/drawingml/2006/main">
            <a:off x="6248400" y="4267200"/>
            <a:ext cx="57150" cy="1123950"/>
          </a:xfrm>
          <a:prstGeom xmlns:a="http://schemas.openxmlformats.org/drawingml/2006/main" prst="rect">
            <a:avLst/>
          </a:prstGeom>
          <a:solidFill xmlns:a="http://schemas.openxmlformats.org/drawingml/2006/main">
            <a:srgbClr val="A9653B"/>
          </a:solidFill>
          <a:ln xmlns:a="http://schemas.openxmlformats.org/drawingml/2006/main" w="9525">
            <a:solidFill>
              <a:srgbClr val="A9653B"/>
            </a:solidFill>
            <a:prstDash val="solid"/>
          </a:ln>
        </p:spPr>
      </p:sp>
      <p:sp>
        <p:nvSpPr>
          <p:cNvPr id="31" name="H5-label">
            <a:extLst xmlns:a="http://schemas.openxmlformats.org/drawingml/2006/main">
              <a:ext uri="{FF2B5EF4-FFF2-40B4-BE49-F238E27FC236}">
                <a16:creationId xmlns:a16="http://schemas.microsoft.com/office/drawing/2014/main" id="{F73DD9FA-2744-4AC5-835C-5231272D6CDC}"/>
              </a:ext>
            </a:extLst>
          </p:cNvPr>
          <p:cNvSpPr>
            <a:spLocks xmlns:a="http://schemas.openxmlformats.org/drawingml/2006/main" noGrp="1"/>
          </p:cNvSpPr>
          <p:nvPr/>
        </p:nvSpPr>
        <p:spPr>
          <a:xfrm xmlns:a="http://schemas.openxmlformats.org/drawingml/2006/main">
            <a:off x="6419850" y="44100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A9653B"/>
                </a:solidFill>
                <a:latin typeface="Times New Roman"/>
                <a:ea typeface="Times New Roman"/>
                <a:cs typeface="Times New Roman"/>
              </a:defRPr>
            </a:pPr>
            <a:r>
              <a:rPr sz="975" b="1" i="0">
                <a:solidFill>
                  <a:srgbClr val="A9653B"/>
                </a:solidFill>
                <a:latin typeface="Times New Roman"/>
                <a:ea typeface="Times New Roman"/>
                <a:cs typeface="Times New Roman"/>
              </a:rPr>
              <a:t>H5</a:t>
            </a:r>
          </a:p>
        </p:txBody>
      </p:sp>
      <p:sp>
        <p:nvSpPr>
          <p:cNvPr id="32" name="H5-title">
            <a:extLst xmlns:a="http://schemas.openxmlformats.org/drawingml/2006/main">
              <a:ext uri="{FF2B5EF4-FFF2-40B4-BE49-F238E27FC236}">
                <a16:creationId xmlns:a16="http://schemas.microsoft.com/office/drawing/2014/main" id="{DB32522A-3904-45D4-A371-1CEE20B82819}"/>
              </a:ext>
            </a:extLst>
          </p:cNvPr>
          <p:cNvSpPr>
            <a:spLocks xmlns:a="http://schemas.openxmlformats.org/drawingml/2006/main" noGrp="1"/>
          </p:cNvSpPr>
          <p:nvPr/>
        </p:nvSpPr>
        <p:spPr>
          <a:xfrm xmlns:a="http://schemas.openxmlformats.org/drawingml/2006/main">
            <a:off x="6972300" y="4381500"/>
            <a:ext cx="403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8231C"/>
                </a:solidFill>
                <a:latin typeface="Times New Roman"/>
                <a:ea typeface="Times New Roman"/>
                <a:cs typeface="Times New Roman"/>
              </a:defRPr>
            </a:pPr>
            <a:r>
              <a:rPr sz="1500" b="1" i="0">
                <a:solidFill>
                  <a:srgbClr val="18231C"/>
                </a:solidFill>
                <a:latin typeface="Times New Roman"/>
                <a:ea typeface="Times New Roman"/>
                <a:cs typeface="Times New Roman"/>
              </a:rPr>
              <a:t>AI-self asymmetric recovery</a:t>
            </a:r>
          </a:p>
        </p:txBody>
      </p:sp>
      <p:sp>
        <p:nvSpPr>
          <p:cNvPr id="33" name="H5-body">
            <a:extLst xmlns:a="http://schemas.openxmlformats.org/drawingml/2006/main">
              <a:ext uri="{FF2B5EF4-FFF2-40B4-BE49-F238E27FC236}">
                <a16:creationId xmlns:a16="http://schemas.microsoft.com/office/drawing/2014/main" id="{A1188064-35D8-4516-9CCA-126A43EC7DBB}"/>
              </a:ext>
            </a:extLst>
          </p:cNvPr>
          <p:cNvSpPr>
            <a:spLocks xmlns:a="http://schemas.openxmlformats.org/drawingml/2006/main" noGrp="1"/>
          </p:cNvSpPr>
          <p:nvPr/>
        </p:nvSpPr>
        <p:spPr>
          <a:xfrm xmlns:a="http://schemas.openxmlformats.org/drawingml/2006/main">
            <a:off x="6419850" y="4724400"/>
            <a:ext cx="4629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E6556"/>
                </a:solidFill>
                <a:latin typeface="Times New Roman"/>
                <a:ea typeface="Times New Roman"/>
                <a:cs typeface="Times New Roman"/>
              </a:defRPr>
            </a:pPr>
            <a:r>
              <a:rPr sz="1200" b="0" i="0">
                <a:solidFill>
                  <a:srgbClr val="5E6556"/>
                </a:solidFill>
                <a:latin typeface="Times New Roman"/>
                <a:ea typeface="Times New Roman"/>
                <a:cs typeface="Times New Roman"/>
              </a:rPr>
              <a:t>After comparable errors, AI reliance recovers more slowly than self reliance: AI is forgiven more slowly than self.</a:t>
            </a:r>
          </a:p>
        </p:txBody>
      </p:sp>
      <p:sp>
        <p:nvSpPr>
          <p:cNvPr id="34" name="bottom-band">
            <a:extLst xmlns:a="http://schemas.openxmlformats.org/drawingml/2006/main">
              <a:ext uri="{FF2B5EF4-FFF2-40B4-BE49-F238E27FC236}">
                <a16:creationId xmlns:a16="http://schemas.microsoft.com/office/drawing/2014/main" id="{E1431B06-ADC6-4D24-BF2F-D05F48015A07}"/>
              </a:ext>
            </a:extLst>
          </p:cNvPr>
          <p:cNvSpPr>
            <a:spLocks xmlns:a="http://schemas.openxmlformats.org/drawingml/2006/main" noGrp="1"/>
          </p:cNvSpPr>
          <p:nvPr/>
        </p:nvSpPr>
        <p:spPr>
          <a:xfrm xmlns:a="http://schemas.openxmlformats.org/drawingml/2006/main">
            <a:off x="914400" y="5676900"/>
            <a:ext cx="10287000" cy="514350"/>
          </a:xfrm>
          <a:prstGeom xmlns:a="http://schemas.openxmlformats.org/drawingml/2006/main" prst="roundRect">
            <a:avLst>
              <a:gd name="adj" fmla="val 22222"/>
            </a:avLst>
          </a:prstGeom>
          <a:solidFill xmlns:a="http://schemas.openxmlformats.org/drawingml/2006/main">
            <a:srgbClr val="EDE4D4"/>
          </a:solidFill>
          <a:ln xmlns:a="http://schemas.openxmlformats.org/drawingml/2006/main" w="9525">
            <a:solidFill>
              <a:srgbClr val="D8CEBD"/>
            </a:solidFill>
            <a:prstDash val="solid"/>
          </a:ln>
        </p:spPr>
      </p:sp>
      <p:sp>
        <p:nvSpPr>
          <p:cNvPr id="35" name="central-label">
            <a:extLst xmlns:a="http://schemas.openxmlformats.org/drawingml/2006/main">
              <a:ext uri="{FF2B5EF4-FFF2-40B4-BE49-F238E27FC236}">
                <a16:creationId xmlns:a16="http://schemas.microsoft.com/office/drawing/2014/main" id="{AFAFC0A9-DE39-4CC5-955E-73BF4E8C9BF7}"/>
              </a:ext>
            </a:extLst>
          </p:cNvPr>
          <p:cNvSpPr>
            <a:spLocks xmlns:a="http://schemas.openxmlformats.org/drawingml/2006/main" noGrp="1"/>
          </p:cNvSpPr>
          <p:nvPr/>
        </p:nvSpPr>
        <p:spPr>
          <a:xfrm xmlns:a="http://schemas.openxmlformats.org/drawingml/2006/main">
            <a:off x="1143000" y="58293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A9653B"/>
                </a:solidFill>
                <a:latin typeface="Times New Roman"/>
                <a:ea typeface="Times New Roman"/>
                <a:cs typeface="Times New Roman"/>
              </a:defRPr>
            </a:pPr>
            <a:r>
              <a:rPr sz="1350" b="1" i="0">
                <a:solidFill>
                  <a:srgbClr val="A9653B"/>
                </a:solidFill>
                <a:latin typeface="Times New Roman"/>
                <a:ea typeface="Times New Roman"/>
                <a:cs typeface="Times New Roman"/>
              </a:rPr>
              <a:t>Central test</a:t>
            </a:r>
          </a:p>
        </p:txBody>
      </p:sp>
      <p:sp>
        <p:nvSpPr>
          <p:cNvPr id="36" name="central-text">
            <a:extLst xmlns:a="http://schemas.openxmlformats.org/drawingml/2006/main">
              <a:ext uri="{FF2B5EF4-FFF2-40B4-BE49-F238E27FC236}">
                <a16:creationId xmlns:a16="http://schemas.microsoft.com/office/drawing/2014/main" id="{5ED5D055-F33A-4B65-B647-32CBA640EFDB}"/>
              </a:ext>
            </a:extLst>
          </p:cNvPr>
          <p:cNvSpPr>
            <a:spLocks xmlns:a="http://schemas.openxmlformats.org/drawingml/2006/main" noGrp="1"/>
          </p:cNvSpPr>
          <p:nvPr/>
        </p:nvSpPr>
        <p:spPr>
          <a:xfrm xmlns:a="http://schemas.openxmlformats.org/drawingml/2006/main">
            <a:off x="2781300" y="5810250"/>
            <a:ext cx="790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8231C"/>
                </a:solidFill>
                <a:latin typeface="Times New Roman"/>
                <a:ea typeface="Times New Roman"/>
                <a:cs typeface="Times New Roman"/>
              </a:defRPr>
            </a:pPr>
            <a:r>
              <a:rPr sz="1500" b="1" i="0">
                <a:solidFill>
                  <a:srgbClr val="18231C"/>
                </a:solidFill>
                <a:latin typeface="Times New Roman"/>
                <a:ea typeface="Times New Roman"/>
                <a:cs typeface="Times New Roman"/>
              </a:rPr>
              <a:t>Do equal performance histories produce equal reliance recovery, or do AI errors leave a longer shadow?</a:t>
            </a:r>
          </a:p>
        </p:txBody>
      </p:sp>
    </p:spTree>
    <p:extLst>
      <p:ext uri="{BB962C8B-B14F-4D97-AF65-F5344CB8AC3E}">
        <p14:creationId xmlns:p14="http://schemas.microsoft.com/office/powerpoint/2010/main" val="118422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2026-07-06T12:24:34.3390000Z</dcterms:created>
  <dcterms:modified xsi:type="dcterms:W3CDTF">2026-07-06T12:24:34.3390000Z</dcterms:modified>
</coreProperties>
</file>