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r>
              <a:rPr lang="en-US">
                <a:latin typeface="Times New Roman" panose="02020603050405020304" pitchFamily="18" charset="0"/>
              </a:rPr>
              <a:t>The key question is: does AI change the point at which people stop looking for more information?</a:t>
            </a:r>
          </a:p>
          <a:p>
            <a:r>
              <a:rPr lang="en-US">
                <a:latin typeface="Times New Roman" panose="02020603050405020304" pitchFamily="18" charset="0"/>
              </a:rPr>
              <a:t>and if it does ，is that change beneficial or harmful?</a:t>
            </a:r>
          </a:p>
          <a:p>
            <a:r>
              <a:rPr lang="en-US">
                <a:latin typeface="Times New Roman" panose="02020603050405020304" pitchFamily="18" charset="0"/>
              </a:rPr>
              <a:t>That is why this paper focuses on information calibration.</a:t>
            </a:r>
          </a:p>
          <a:p>
            <a:r>
              <a:rPr lang="en-US">
                <a:latin typeface="Times New Roman" panose="02020603050405020304" pitchFamily="18" charset="0"/>
              </a:rPr>
              <a:t>By information calibration, I mean whether people can correctly judge whether the current evidence is already enough, or whether more evidence is still worth searching for.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With search engines, the user moves from evidence to interpretation.</a:t>
            </a:r>
          </a:p>
          <a:p>
            <a:r>
              <a:rPr lang="en-US">
                <a:latin typeface="Times New Roman" panose="02020603050405020304" pitchFamily="18" charset="0"/>
              </a:rPr>
              <a:t>With AI assistants, the user often receives an conclusion first, and verification becomes optional.</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That is efficient compression.</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So we dont  simply ask whether AI reduces 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around information calibration.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People should not search forever.</a:t>
            </a:r>
          </a:p>
          <a:p>
            <a:r>
              <a:rPr lang="en-US">
                <a:latin typeface="Times New Roman" panose="02020603050405020304" pitchFamily="18" charset="0"/>
              </a:rPr>
              <a:t>They should continue searching only when the expected value of more evidence is larger than the cost of getting it.</a:t>
            </a:r>
          </a:p>
          <a:p>
            <a:r>
              <a:rPr lang="en-US">
                <a:latin typeface="Times New Roman" panose="02020603050405020304" pitchFamily="18" charset="0"/>
              </a:rPr>
              <a:t>So stopping early is not automatically irrational.</a:t>
            </a:r>
          </a:p>
          <a:p>
            <a:r>
              <a:rPr lang="en-US">
                <a:latin typeface="Times New Roman" panose="02020603050405020304" pitchFamily="18" charset="0"/>
              </a:rPr>
              <a:t>If the current evidence is already strong enough, then stopping can be reasonable.</a:t>
            </a:r>
          </a:p>
          <a:p>
            <a:r>
              <a:rPr lang="en-US">
                <a:latin typeface="Times New Roman" panose="02020603050405020304" pitchFamily="18" charset="0"/>
              </a:rPr>
              <a:t>The problem appears when people stop too early.</a:t>
            </a:r>
          </a:p>
          <a:p>
            <a:r>
              <a:rPr lang="en-US">
                <a:latin typeface="Times New Roman" panose="02020603050405020304" pitchFamily="18" charset="0"/>
              </a:rPr>
              <a:t>That means they believe the evidence is already sufficient, but more evidence would still meaningfully change the posterior judgment.</a:t>
            </a:r>
          </a:p>
          <a:p>
            <a:r>
              <a:rPr lang="en-US">
                <a:latin typeface="Times New Roman" panose="02020603050405020304" pitchFamily="18" charset="0"/>
              </a:rPr>
              <a:t>So the key issue is not search depth by itself.</a:t>
            </a:r>
          </a:p>
          <a:p>
            <a:r>
              <a:rPr lang="en-US">
                <a:latin typeface="Times New Roman" panose="02020603050405020304" pitchFamily="18" charset="0"/>
              </a:rPr>
              <a:t>The key issue is whether AI changes the stopping rule in a justified way.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At this point I can state the paper's analytical framing directly.
The paper is not about generic AI trust.
It is about information calibration: whether users correctly assess if more evidence is still worth acquiring after they receive an answer-first summary.
Algorithmic authority matters here because the AI label can change what users infer about how much searching and integration has already happened behind the scenes.
The paper's mechanism is not that users merely read a conclusion and obey it.
They infer a hidden signal structure behind the summary: that more searching has already occurred, that conflict has already been resolved, and that counterevidence has already been processed.
If those inferences are too strong, then the perceived value of additional evidence can fall too quickly, and that is where harmful under-search becomes possible.</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32937"/>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7" name="矩形: 圆角 16"/>
          <p:cNvSpPr>
            <a:spLocks noGrp="1"/>
          </p:cNvSpPr>
          <p:nvPr/>
        </p:nvSpPr>
        <p:spPr>
          <a:xfrm>
            <a:off x="1714500" y="5219700"/>
            <a:ext cx="8763000" cy="781050"/>
          </a:xfrm>
          <a:prstGeom prst="roundRect">
            <a:avLst>
              <a:gd name="adj" fmla="val 9756"/>
            </a:avLst>
          </a:prstGeom>
          <a:solidFill>
            <a:srgbClr val="FFF9F0"/>
          </a:solidFill>
          <a:ln w="9525">
            <a:solidFill>
              <a:srgbClr val="E8DCCB"/>
            </a:solidFill>
            <a:prstDash val="solid"/>
          </a:ln>
        </p:spPr>
      </p:sp>
      <p:sp>
        <p:nvSpPr>
          <p:cNvPr id="18" name="矩形 17"/>
          <p:cNvSpPr>
            <a:spLocks noGrp="1"/>
          </p:cNvSpPr>
          <p:nvPr/>
        </p:nvSpPr>
        <p:spPr>
          <a:xfrm>
            <a:off x="1714500" y="5219700"/>
            <a:ext cx="57150" cy="781050"/>
          </a:xfrm>
          <a:prstGeom prst="rect">
            <a:avLst/>
          </a:prstGeom>
          <a:solidFill>
            <a:srgbClr val="C89B4A"/>
          </a:solidFill>
          <a:ln w="0">
            <a:solidFill>
              <a:srgbClr val="C89B4A"/>
            </a:solidFill>
            <a:prstDash val="solid"/>
          </a:ln>
        </p:spPr>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r>
              <a:rPr sz="1575" b="1" i="0">
                <a:solidFill>
                  <a:srgbClr val="1E2433"/>
                </a:solidFill>
                <a:latin typeface="Times New Roman" panose="02020603050405020304" pitchFamily="18" charset="0"/>
                <a:ea typeface="Times New Roman" panose="02020603050405020304"/>
                <a:cs typeface="Times New Roman" panose="02020603050405020304"/>
              </a:rPr>
              <a:t>What this slide does</a:t>
            </a:r>
          </a:p>
        </p:txBody>
      </p:sp>
      <p:sp>
        <p:nvSpPr>
          <p:cNvPr id="20" name="矩形 19"/>
          <p:cNvSpPr>
            <a:spLocks noGrp="1"/>
          </p:cNvSpPr>
          <p:nvPr/>
        </p:nvSpPr>
        <p:spPr>
          <a:xfrm>
            <a:off x="1885950" y="5676900"/>
            <a:ext cx="8477250" cy="20955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sz="1275" b="0" i="0">
                <a:solidFill>
                  <a:srgbClr val="5E6675"/>
                </a:solidFill>
                <a:latin typeface="Times New Roman" panose="02020603050405020304" pitchFamily="18" charset="0"/>
                <a:ea typeface="Times New Roman" panose="02020603050405020304"/>
                <a:cs typeface="Times New Roman" panose="02020603050405020304"/>
              </a:rPr>
              <a:t>It separates the behavioral fact of reduced search from the normative question of whether reduced search actually harms posterior judgment.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TRADITIONAL BENCHMARK</a:t>
            </a:r>
          </a:p>
        </p:txBody>
      </p:sp>
      <p:sp>
        <p:nvSpPr>
          <p:cNvPr id="6" name="矩形 5"/>
          <p:cNvSpPr>
            <a:spLocks noGrp="1"/>
          </p:cNvSpPr>
          <p:nvPr/>
        </p:nvSpPr>
        <p:spPr>
          <a:xfrm>
            <a:off x="914400" y="914400"/>
            <a:ext cx="10001250" cy="704850"/>
          </a:xfrm>
          <a:prstGeom prst="rect">
            <a:avLst/>
          </a:prstGeom>
          <a:noFill/>
          <a:ln w="0">
            <a:noFill/>
            <a:prstDash val="solid"/>
          </a:ln>
        </p:spPr>
        <p:txBody>
          <a:bodyPr/>
          <a:lstStyle/>
          <a:p>
            <a:pPr algn="l">
              <a:buNone/>
              <a:defRPr sz="2325" b="1" i="0">
                <a:solidFill>
                  <a:srgbClr val="1E2433"/>
                </a:solidFill>
                <a:latin typeface="Times New Roman" panose="02020603050405020304"/>
                <a:ea typeface="Times New Roman" panose="02020603050405020304"/>
                <a:cs typeface="Times New Roman" panose="02020603050405020304"/>
              </a:defRPr>
            </a:pPr>
            <a:r>
              <a:rPr sz="2325" b="1" i="0">
                <a:solidFill>
                  <a:srgbClr val="1E2433"/>
                </a:solidFill>
                <a:latin typeface="Times New Roman" panose="02020603050405020304" pitchFamily="18" charset="0"/>
                <a:ea typeface="Times New Roman" panose="02020603050405020304"/>
                <a:cs typeface="Times New Roman" panose="02020603050405020304"/>
              </a:rPr>
              <a:t>The standard benchmark says people should stop when extra evidence is no longer worth its cost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Under a rational search view, less search is not itself a failure. It becomes a problem only when people stop too early.</a:t>
            </a:r>
          </a:p>
        </p:txBody>
      </p:sp>
      <p:sp>
        <p:nvSpPr>
          <p:cNvPr id="8" name="矩形: 圆角 7"/>
          <p:cNvSpPr>
            <a:spLocks noGrp="1"/>
          </p:cNvSpPr>
          <p:nvPr/>
        </p:nvSpPr>
        <p:spPr>
          <a:xfrm>
            <a:off x="914400" y="2343150"/>
            <a:ext cx="30861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914400" y="234315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1</a:t>
            </a:r>
          </a:p>
        </p:txBody>
      </p:sp>
      <p:sp>
        <p:nvSpPr>
          <p:cNvPr id="11" name="矩形 10"/>
          <p:cNvSpPr>
            <a:spLocks noGrp="1"/>
          </p:cNvSpPr>
          <p:nvPr/>
        </p:nvSpPr>
        <p:spPr>
          <a:xfrm>
            <a:off x="108585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Users weigh the expected value of additional evidence against the cost of getting it.</a:t>
            </a:r>
          </a:p>
        </p:txBody>
      </p:sp>
      <p:sp>
        <p:nvSpPr>
          <p:cNvPr id="12" name="矩形: 圆角 11"/>
          <p:cNvSpPr>
            <a:spLocks noGrp="1"/>
          </p:cNvSpPr>
          <p:nvPr/>
        </p:nvSpPr>
        <p:spPr>
          <a:xfrm>
            <a:off x="4552950" y="2343150"/>
            <a:ext cx="30861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4552950" y="2343150"/>
            <a:ext cx="57150" cy="23622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457450"/>
            <a:ext cx="28003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Step 2</a:t>
            </a:r>
          </a:p>
        </p:txBody>
      </p:sp>
      <p:sp>
        <p:nvSpPr>
          <p:cNvPr id="15" name="矩形 14"/>
          <p:cNvSpPr>
            <a:spLocks noGrp="1"/>
          </p:cNvSpPr>
          <p:nvPr/>
        </p:nvSpPr>
        <p:spPr>
          <a:xfrm>
            <a:off x="4724400" y="2800350"/>
            <a:ext cx="28003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They continue searching if more evidence is still likely to change the posterior enough to matter.</a:t>
            </a:r>
          </a:p>
        </p:txBody>
      </p:sp>
      <p:sp>
        <p:nvSpPr>
          <p:cNvPr id="16" name="矩形: 圆角 15"/>
          <p:cNvSpPr>
            <a:spLocks noGrp="1"/>
          </p:cNvSpPr>
          <p:nvPr/>
        </p:nvSpPr>
        <p:spPr>
          <a:xfrm>
            <a:off x="8191500" y="2343150"/>
            <a:ext cx="3009900" cy="2362200"/>
          </a:xfrm>
          <a:prstGeom prst="roundRect">
            <a:avLst>
              <a:gd name="adj" fmla="val 3226"/>
            </a:avLst>
          </a:prstGeom>
          <a:solidFill>
            <a:srgbClr val="FFF9F0"/>
          </a:solidFill>
          <a:ln w="9525">
            <a:solidFill>
              <a:srgbClr val="E8DCCB"/>
            </a:solidFill>
            <a:prstDash val="solid"/>
          </a:ln>
        </p:spPr>
      </p:sp>
      <p:sp>
        <p:nvSpPr>
          <p:cNvPr id="17" name="矩形 16"/>
          <p:cNvSpPr>
            <a:spLocks noGrp="1"/>
          </p:cNvSpPr>
          <p:nvPr/>
        </p:nvSpPr>
        <p:spPr>
          <a:xfrm>
            <a:off x="8191500" y="2343150"/>
            <a:ext cx="57150" cy="2362200"/>
          </a:xfrm>
          <a:prstGeom prst="rect">
            <a:avLst/>
          </a:prstGeom>
          <a:solidFill>
            <a:srgbClr val="B45A3C"/>
          </a:solidFill>
          <a:ln w="0">
            <a:solidFill>
              <a:srgbClr val="B45A3C"/>
            </a:solidFill>
            <a:prstDash val="solid"/>
          </a:ln>
        </p:spPr>
      </p:sp>
      <p:sp>
        <p:nvSpPr>
          <p:cNvPr id="18" name="矩形 17"/>
          <p:cNvSpPr>
            <a:spLocks noGrp="1"/>
          </p:cNvSpPr>
          <p:nvPr/>
        </p:nvSpPr>
        <p:spPr>
          <a:xfrm>
            <a:off x="8362950" y="2457450"/>
            <a:ext cx="2724150" cy="285750"/>
          </a:xfrm>
          <a:prstGeom prst="rect">
            <a:avLst/>
          </a:prstGeom>
          <a:noFill/>
          <a:ln w="0">
            <a:noFill/>
            <a:prstDash val="solid"/>
          </a:ln>
        </p:spPr>
        <p:txBody>
          <a:bodyPr/>
          <a:lstStyle/>
          <a:p>
            <a:pPr algn="l">
              <a:buNone/>
              <a:defRPr sz="1800" b="1" i="0">
                <a:solidFill>
                  <a:srgbClr val="1E2433"/>
                </a:solidFill>
                <a:latin typeface="Times New Roman" panose="02020603050405020304"/>
                <a:ea typeface="Times New Roman" panose="02020603050405020304"/>
                <a:cs typeface="Times New Roman" panose="02020603050405020304"/>
              </a:defRPr>
            </a:pPr>
            <a:r>
              <a:rPr sz="1800" b="1" i="0">
                <a:solidFill>
                  <a:srgbClr val="1E2433"/>
                </a:solidFill>
                <a:latin typeface="Times New Roman" panose="02020603050405020304" pitchFamily="18" charset="0"/>
                <a:ea typeface="Times New Roman" panose="02020603050405020304"/>
                <a:cs typeface="Times New Roman" panose="02020603050405020304"/>
              </a:rPr>
              <a:t>Implication</a:t>
            </a:r>
          </a:p>
        </p:txBody>
      </p:sp>
      <p:sp>
        <p:nvSpPr>
          <p:cNvPr id="19" name="矩形 18"/>
          <p:cNvSpPr>
            <a:spLocks noGrp="1"/>
          </p:cNvSpPr>
          <p:nvPr/>
        </p:nvSpPr>
        <p:spPr>
          <a:xfrm>
            <a:off x="8362950" y="2800350"/>
            <a:ext cx="2724150" cy="1790700"/>
          </a:xfrm>
          <a:prstGeom prst="rect">
            <a:avLst/>
          </a:prstGeom>
          <a:noFill/>
          <a:ln w="0">
            <a:noFill/>
            <a:prstDash val="solid"/>
          </a:ln>
        </p:spPr>
        <p:txBody>
          <a:bodyPr/>
          <a:lstStyle/>
          <a:p>
            <a:pPr algn="l">
              <a:buNone/>
              <a:defRPr sz="1500" b="0" i="0">
                <a:solidFill>
                  <a:srgbClr val="5E6675"/>
                </a:solidFill>
                <a:latin typeface="Times New Roman" panose="02020603050405020304"/>
                <a:ea typeface="Times New Roman" panose="02020603050405020304"/>
                <a:cs typeface="Times New Roman" panose="02020603050405020304"/>
              </a:defRPr>
            </a:pPr>
            <a:r>
              <a:rPr sz="1500" b="0" i="0">
                <a:solidFill>
                  <a:srgbClr val="5E6675"/>
                </a:solidFill>
                <a:latin typeface="Times New Roman" panose="02020603050405020304" pitchFamily="18" charset="0"/>
                <a:ea typeface="Times New Roman" panose="02020603050405020304"/>
                <a:cs typeface="Times New Roman" panose="02020603050405020304"/>
              </a:rPr>
              <a:t>Reduced search is rational when information has already been efficiently compressed, but not when sufficiency is overestimated.</a:t>
            </a:r>
          </a:p>
        </p:txBody>
      </p:sp>
      <p:sp>
        <p:nvSpPr>
          <p:cNvPr id="20" name="矩形 19"/>
          <p:cNvSpPr>
            <a:spLocks noGrp="1"/>
          </p:cNvSpPr>
          <p:nvPr/>
        </p:nvSpPr>
        <p:spPr>
          <a:xfrm>
            <a:off x="409575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p>
        </p:txBody>
      </p:sp>
      <p:sp>
        <p:nvSpPr>
          <p:cNvPr id="21" name="矩形 20"/>
          <p:cNvSpPr>
            <a:spLocks noGrp="1"/>
          </p:cNvSpPr>
          <p:nvPr/>
        </p:nvSpPr>
        <p:spPr>
          <a:xfrm>
            <a:off x="7734300" y="3352800"/>
            <a:ext cx="457200" cy="228600"/>
          </a:xfrm>
          <a:prstGeom prst="rect">
            <a:avLst/>
          </a:prstGeom>
          <a:noFill/>
          <a:ln w="0">
            <a:noFill/>
            <a:prstDash val="solid"/>
          </a:ln>
        </p:spPr>
        <p:txBody>
          <a:bodyPr/>
          <a:lstStyle/>
          <a:p>
            <a:pPr algn="ctr">
              <a:buNone/>
              <a:defRPr sz="1800" b="1" i="0">
                <a:solidFill>
                  <a:srgbClr val="5E6675"/>
                </a:solidFill>
                <a:latin typeface="Times New Roman" panose="02020603050405020304"/>
                <a:ea typeface="Times New Roman" panose="02020603050405020304"/>
                <a:cs typeface="Times New Roman" panose="02020603050405020304"/>
              </a:defRPr>
            </a:pPr>
            <a:r>
              <a:rPr sz="1800" b="1" i="0">
                <a:solidFill>
                  <a:srgbClr val="5E6675"/>
                </a:solidFill>
                <a:latin typeface="Times New Roman" panose="02020603050405020304" pitchFamily="18" charset="0"/>
                <a:ea typeface="Times New Roman" panose="02020603050405020304"/>
                <a:cs typeface="Times New Roman" panose="02020603050405020304"/>
              </a:rPr>
              <a:t>→</a:t>
            </a:r>
          </a:p>
        </p:txBody>
      </p:sp>
      <p:sp>
        <p:nvSpPr>
          <p:cNvPr id="22" name="矩形 21"/>
          <p:cNvSpPr>
            <a:spLocks noGrp="1"/>
          </p:cNvSpPr>
          <p:nvPr/>
        </p:nvSpPr>
        <p:spPr>
          <a:xfrm>
            <a:off x="1581150" y="5219700"/>
            <a:ext cx="9029700" cy="457200"/>
          </a:xfrm>
          <a:prstGeom prst="rect">
            <a:avLst/>
          </a:prstGeom>
          <a:noFill/>
          <a:ln w="0">
            <a:noFill/>
            <a:prstDash val="solid"/>
          </a:ln>
        </p:spPr>
        <p:txBody>
          <a:bodyPr/>
          <a:lstStyle/>
          <a:p>
            <a:pPr algn="ctr">
              <a:buNone/>
              <a:defRPr sz="1650" b="1" i="0">
                <a:solidFill>
                  <a:srgbClr val="B45A3C"/>
                </a:solidFill>
                <a:latin typeface="Times New Roman" panose="02020603050405020304"/>
                <a:ea typeface="Times New Roman" panose="02020603050405020304"/>
                <a:cs typeface="Times New Roman" panose="02020603050405020304"/>
              </a:defRPr>
            </a:pPr>
            <a:r>
              <a:rPr sz="1650" b="1" i="0">
                <a:solidFill>
                  <a:srgbClr val="B45A3C"/>
                </a:solidFill>
                <a:latin typeface="Times New Roman" panose="02020603050405020304" pitchFamily="18" charset="0"/>
                <a:ea typeface="Times New Roman" panose="02020603050405020304"/>
                <a:cs typeface="Times New Roman" panose="02020603050405020304"/>
              </a:rPr>
              <a:t>This is why the main question is not whether AI reduces search, but whether it changes the stopping rule in a way that remains normatively justified.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8"/>
        </a:solidFill>
        <a:effectLst/>
      </p:bgPr>
    </p:bg>
    <p:spTree>
      <p:nvGrpSpPr>
        <p:cNvPr id="1" name=""/>
        <p:cNvGrpSpPr/>
        <p:nvPr/>
      </p:nvGrpSpPr>
      <p:grpSpPr>
        <a:xfrm>
          <a:off x="0" y="0"/>
          <a:ext cx="0" cy="0"/>
          <a:chOff x="0" y="0"/>
          <a:chExt cx="0" cy="0"/>
        </a:xfrm>
      </p:grpSpPr>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1E8"/>
        </a:solidFill>
        <a:effectLst/>
      </p:bgPr>
    </p:bg>
    <p:spTree>
      <p:nvGrpSpPr>
        <p:cNvPr id="1" name=""/>
        <p:cNvGrpSpPr/>
        <p:nvPr/>
      </p:nvGrpSpPr>
      <p:grpSpPr>
        <a:xfrm>
          <a:off x="0" y="0"/>
          <a:ext cx="0" cy="0"/>
          <a:chOff x="0" y="0"/>
          <a:chExt cx="0" cy="0"/>
        </a:xfrm>
      </p:grpSpPr>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2561</Words>
  <Application>Microsoft Office PowerPoint</Application>
  <PresentationFormat>宽屏</PresentationFormat>
  <Paragraphs>227</Paragraphs>
  <Slides>12</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12</vt:i4>
      </vt:variant>
    </vt:vector>
  </HeadingPairs>
  <TitlesOfParts>
    <vt:vector size="15" baseType="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5</cp:revision>
  <dcterms:created xsi:type="dcterms:W3CDTF">2026-07-06T06:02:00Z</dcterms:created>
  <dcterms:modified xsi:type="dcterms:W3CDTF">2026-07-06T07:16:42Z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E2795E8A0ADB45B4ABD05B24C1A19A28_12</vt:lpwstr>
  </property>
</Properties>
</file>