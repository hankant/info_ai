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de0958cb854923" /><Relationship Type="http://schemas.openxmlformats.org/officeDocument/2006/relationships/extended-properties" Target="/docProps/app.xml" Id="Re119bc2ea570474a" /><Relationship Type="http://schemas.openxmlformats.org/officeDocument/2006/relationships/officeDocument" Target="/ppt/presentation.xml" Id="Raa52428abff949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0933720b25448b"/>
  </p:sldMasterIdLst>
  <p:notesMasterIdLst>
    <p:notesMasterId xmlns:r="http://schemas.openxmlformats.org/officeDocument/2006/relationships" r:id="R61001b7243974f75"/>
  </p:notesMasterIdLst>
  <p:sldIdLst>
    <p:sldId xmlns:r="http://schemas.openxmlformats.org/officeDocument/2006/relationships" id="256" r:id="R78639d65d1ee4296"/>
    <p:sldId xmlns:r="http://schemas.openxmlformats.org/officeDocument/2006/relationships" id="257" r:id="R7543b61544504b11"/>
    <p:sldId xmlns:r="http://schemas.openxmlformats.org/officeDocument/2006/relationships" id="258" r:id="R2d6f44384a354b2c"/>
    <p:sldId xmlns:r="http://schemas.openxmlformats.org/officeDocument/2006/relationships" id="259" r:id="Rb5f52ca1ecc0463b"/>
    <p:sldId xmlns:r="http://schemas.openxmlformats.org/officeDocument/2006/relationships" id="260" r:id="Rc9fc114b2d7b4c89"/>
    <p:sldId xmlns:r="http://schemas.openxmlformats.org/officeDocument/2006/relationships" id="261" r:id="R12a2ebc2d8534ed0"/>
    <p:sldId xmlns:r="http://schemas.openxmlformats.org/officeDocument/2006/relationships" id="262" r:id="R9649bf33e8a043a0"/>
    <p:sldId xmlns:r="http://schemas.openxmlformats.org/officeDocument/2006/relationships" id="263" r:id="R5d691569cc5d4ea0"/>
    <p:sldId xmlns:r="http://schemas.openxmlformats.org/officeDocument/2006/relationships" id="264" r:id="Re536a354c7114a85"/>
    <p:sldId xmlns:r="http://schemas.openxmlformats.org/officeDocument/2006/relationships" id="265" r:id="R9bddd7b88f3f40ff"/>
    <p:sldId xmlns:r="http://schemas.openxmlformats.org/officeDocument/2006/relationships" id="266" r:id="Ra1ec882b9dd34518"/>
    <p:sldId xmlns:r="http://schemas.openxmlformats.org/officeDocument/2006/relationships" id="267" r:id="R5b00e624f17244ec"/>
    <p:sldId xmlns:r="http://schemas.openxmlformats.org/officeDocument/2006/relationships" id="268" r:id="R756ddafb9ea3485a"/>
    <p:sldId xmlns:r="http://schemas.openxmlformats.org/officeDocument/2006/relationships" id="269" r:id="Re7b7f8bca7d64967"/>
    <p:sldId xmlns:r="http://schemas.openxmlformats.org/officeDocument/2006/relationships" id="270" r:id="Rfd9f82b4224d46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08678c876149fc" /><Relationship Type="http://schemas.openxmlformats.org/officeDocument/2006/relationships/slideMaster" Target="/ppt/slideMasters/slideMaster1.xml" Id="R5e0933720b25448b" /><Relationship Type="http://schemas.openxmlformats.org/officeDocument/2006/relationships/notesMaster" Target="/ppt/notesMasters/notesMaster1.xml" Id="R61001b7243974f75" /><Relationship Type="http://schemas.openxmlformats.org/officeDocument/2006/relationships/presProps" Target="/ppt/presProps.xml" Id="R94894a2e68bb43e8" /><Relationship Type="http://schemas.openxmlformats.org/officeDocument/2006/relationships/tableStyles" Target="/ppt/tableStyles.xml" Id="Ra203b1bf2d0944d8" /><Relationship Type="http://schemas.openxmlformats.org/officeDocument/2006/relationships/slide" Target="/ppt/slides/slide1.xml" Id="R78639d65d1ee4296" /><Relationship Type="http://schemas.openxmlformats.org/officeDocument/2006/relationships/slide" Target="/ppt/slides/slide2.xml" Id="R7543b61544504b11" /><Relationship Type="http://schemas.openxmlformats.org/officeDocument/2006/relationships/slide" Target="/ppt/slides/slide3.xml" Id="R2d6f44384a354b2c" /><Relationship Type="http://schemas.openxmlformats.org/officeDocument/2006/relationships/slide" Target="/ppt/slides/slide4.xml" Id="Rb5f52ca1ecc0463b" /><Relationship Type="http://schemas.openxmlformats.org/officeDocument/2006/relationships/slide" Target="/ppt/slides/slide5.xml" Id="Rc9fc114b2d7b4c89" /><Relationship Type="http://schemas.openxmlformats.org/officeDocument/2006/relationships/slide" Target="/ppt/slides/slide6.xml" Id="R12a2ebc2d8534ed0" /><Relationship Type="http://schemas.openxmlformats.org/officeDocument/2006/relationships/slide" Target="/ppt/slides/slide7.xml" Id="R9649bf33e8a043a0" /><Relationship Type="http://schemas.openxmlformats.org/officeDocument/2006/relationships/slide" Target="/ppt/slides/slide8.xml" Id="R5d691569cc5d4ea0" /><Relationship Type="http://schemas.openxmlformats.org/officeDocument/2006/relationships/slide" Target="/ppt/slides/slide9.xml" Id="Re536a354c7114a85" /><Relationship Type="http://schemas.openxmlformats.org/officeDocument/2006/relationships/slide" Target="/ppt/slides/slide10.xml" Id="R9bddd7b88f3f40ff" /><Relationship Type="http://schemas.openxmlformats.org/officeDocument/2006/relationships/slide" Target="/ppt/slides/slide11.xml" Id="Ra1ec882b9dd34518" /><Relationship Type="http://schemas.openxmlformats.org/officeDocument/2006/relationships/slide" Target="/ppt/slides/slide12.xml" Id="R5b00e624f17244ec" /><Relationship Type="http://schemas.openxmlformats.org/officeDocument/2006/relationships/slide" Target="/ppt/slides/slide13.xml" Id="R756ddafb9ea3485a" /><Relationship Type="http://schemas.openxmlformats.org/officeDocument/2006/relationships/slide" Target="/ppt/slides/slide14.xml" Id="Re7b7f8bca7d64967" /><Relationship Type="http://schemas.openxmlformats.org/officeDocument/2006/relationships/slide" Target="/ppt/slides/slide15.xml" Id="Rfd9f82b4224d46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0ccb44d5204f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fd74824fb48d1" /><Relationship Type="http://schemas.openxmlformats.org/officeDocument/2006/relationships/notesMaster" Target="/ppt/notesMasters/notesMaster1.xml" Id="Rab913ffd2fff4c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f7bbad0ab348e4" /><Relationship Type="http://schemas.openxmlformats.org/officeDocument/2006/relationships/notesMaster" Target="/ppt/notesMasters/notesMaster1.xml" Id="Rb9d0485f96f746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3072678e274001" /><Relationship Type="http://schemas.openxmlformats.org/officeDocument/2006/relationships/notesMaster" Target="/ppt/notesMasters/notesMaster1.xml" Id="Ra5b9fd579e2544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53e4e6f59046eb" /><Relationship Type="http://schemas.openxmlformats.org/officeDocument/2006/relationships/notesMaster" Target="/ppt/notesMasters/notesMaster1.xml" Id="R91ad79cff9ce47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f149ada9264496" /><Relationship Type="http://schemas.openxmlformats.org/officeDocument/2006/relationships/notesMaster" Target="/ppt/notesMasters/notesMaster1.xml" Id="R1afacc5231094d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b61963a6fd40ca" /><Relationship Type="http://schemas.openxmlformats.org/officeDocument/2006/relationships/notesMaster" Target="/ppt/notesMasters/notesMaster1.xml" Id="Rafd8fbb09bf84e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0c5156855c4ec6" /><Relationship Type="http://schemas.openxmlformats.org/officeDocument/2006/relationships/notesMaster" Target="/ppt/notesMasters/notesMaster1.xml" Id="Ra66d7efc04c84b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238eea77eb423b" /><Relationship Type="http://schemas.openxmlformats.org/officeDocument/2006/relationships/notesMaster" Target="/ppt/notesMasters/notesMaster1.xml" Id="R53ae85d1a71b4d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3d5a496d7740c5" /><Relationship Type="http://schemas.openxmlformats.org/officeDocument/2006/relationships/notesMaster" Target="/ppt/notesMasters/notesMaster1.xml" Id="R6ce8dbe05c9145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834e36c6d54896" /><Relationship Type="http://schemas.openxmlformats.org/officeDocument/2006/relationships/notesMaster" Target="/ppt/notesMasters/notesMaster1.xml" Id="Rd9791c54f9d649d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4fba994f26449f" /><Relationship Type="http://schemas.openxmlformats.org/officeDocument/2006/relationships/notesMaster" Target="/ppt/notesMasters/notesMaster1.xml" Id="R5781ca8bb92646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d1f4c283d34f3f" /><Relationship Type="http://schemas.openxmlformats.org/officeDocument/2006/relationships/notesMaster" Target="/ppt/notesMasters/notesMaster1.xml" Id="R3ad05d13493a47c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f721aa1ac14637" /><Relationship Type="http://schemas.openxmlformats.org/officeDocument/2006/relationships/notesMaster" Target="/ppt/notesMasters/notesMaster1.xml" Id="R24a84a546feb44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31538d969f341bc" /><Relationship Type="http://schemas.openxmlformats.org/officeDocument/2006/relationships/notesMaster" Target="/ppt/notesMasters/notesMaster1.xml" Id="Reaeee97967104a0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cc9265b27b4008" /><Relationship Type="http://schemas.openxmlformats.org/officeDocument/2006/relationships/notesMaster" Target="/ppt/notesMasters/notesMaster1.xml" Id="Raafbf6212bec43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这一部分是 dissertation 的第二篇。前一篇讨论的是 AI 如何改变 belief formation，这一篇往后走一步，讨论人在看到反馈以后，后续到底还会不会继续依赖 AI。</a:t>
            </a:r>
          </a:p>
          <a:p xmlns:a="http://schemas.openxmlformats.org/drawingml/2006/main">
            <a:r>
              <a:t>所以这里的核心对象不是泛泛的 trust，也不是单次是否采纳建议，而是 repeated interaction 里面 reliance path 会不会被局部错误改写。</a:t>
            </a:r>
          </a:p>
          <a:p xmlns:a="http://schemas.openxmlformats.org/drawingml/2006/main">
            <a:r>
              <a:t>老师可以先带着一个最简单的问题进入后面几页：如果 AI 前面错过几次，后面即使恢复，人还会不会像之前那样继续用它？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这页我先把 paper 的问题对象钉住。我们研究的不是 AI 能不能一次性说服人，而是人在和 AI 反复互动、反复看到结果以后，后续的采用路径会怎么变。</a:t>
            </a:r>
          </a:p>
          <a:p xmlns:a="http://schemas.openxmlformats.org/drawingml/2006/main">
            <a:r>
              <a:t>换句话说，这篇不是在测一个静态 trust level，而是在看 feedback 之后 reliance 有没有发生系统性的重校准。</a:t>
            </a:r>
          </a:p>
          <a:p xmlns:a="http://schemas.openxmlformats.org/drawingml/2006/main">
            <a:r>
              <a:t>这也是为什么后面的方法设计都围绕 repeated task 展开，而不是做一个单轮 vignette。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这里我想先说明，今天的 generative AI 和传统 algorithmic aid 在行为上并不是一回事。</a:t>
            </a:r>
          </a:p>
          <a:p xmlns:a="http://schemas.openxmlformats.org/drawingml/2006/main">
            <a:r>
              <a:t>传统算法很多时候给的是一个 score、ranking，或者一个 recommendation；用户还需要自己解释这个信号到底意味着什么。</a:t>
            </a:r>
          </a:p>
          <a:p xmlns:a="http://schemas.openxmlformats.org/drawingml/2006/main">
            <a:r>
              <a:t>但生成式 AI 往往直接给出一个组织好的答案，所以它影响人的方式，不只是提供信息，还在提供一种 ready-made interpretation。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我特别想保留这一页，是因为 transformer-based generative AI 的特殊性，不应该在这个 paper 里被抹掉。</a:t>
            </a:r>
          </a:p>
          <a:p xmlns:a="http://schemas.openxmlformats.org/drawingml/2006/main">
            <a:r>
              <a:t>它的关键不只是模型架构本身，而是这种架构使得输出经常表现为连贯语言、组织好的理由，以及一种 apparent completeness。</a:t>
            </a:r>
          </a:p>
          <a:p xmlns:a="http://schemas.openxmlformats.org/drawingml/2006/main">
            <a:r>
              <a:t>行为含义是，AI 可能先通过 narrative coherence 建立 authority；而一旦它后面出现明显错误，这种 authority 的破裂也可能带来更强的 reliance recalibration。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这页我用一个最直观的例子来说明问题，不先讲理论。</a:t>
            </a:r>
          </a:p>
          <a:p xmlns:a="http://schemas.openxmlformats.org/drawingml/2006/main">
            <a:r>
              <a:t>一个人在前几轮觉得 AI 说得很像那么回事，也愿意采用；但如果早期连续看到几次明显错误，后面即使 AI 客观表现恢复，他也可能已经不太愿意再继续用。</a:t>
            </a:r>
          </a:p>
          <a:p xmlns:a="http://schemas.openxmlformats.org/drawingml/2006/main">
            <a:r>
              <a:t>所以我们关心的不是单次 error effect，而是 early miss 会不会把 later adoption path 整体往下拉。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现有文献给了我们很多重要碎片，比如 algorithm aversion、advice taking，以及 trust in automation。</a:t>
            </a:r>
          </a:p>
          <a:p xmlns:a="http://schemas.openxmlformats.org/drawingml/2006/main">
            <a:r>
              <a:t>但这些研究通常停在 one-shot acceptance，或者停在错误发生当下的反应。</a:t>
            </a:r>
          </a:p>
          <a:p xmlns:a="http://schemas.openxmlformats.org/drawingml/2006/main">
            <a:r>
              <a:t>它们很少继续追踪同一个人在 repeated feedback 里面，经过 error、recovery 之后，后续 reliance 会不会发生持续性的变化。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传统 benchmark 其实并不复杂。如果人能持续观察 self 和 AI 的相对表现，那么 AI 后面一旦重新表现更好，依赖就应该回升。</a:t>
            </a:r>
          </a:p>
          <a:p xmlns:a="http://schemas.openxmlformats.org/drawingml/2006/main">
            <a:r>
              <a:t>也就是说，标准预测是 recovery，而不是长期停留在低采用状态。</a:t>
            </a:r>
          </a:p>
          <a:p xmlns:a="http://schemas.openxmlformats.org/drawingml/2006/main">
            <a:r>
              <a:t>正因为标准预测是 recovery，如果我们后来观察到 incomplete recovery 或 persistent under-reliance，这才构成真正值得解释的现象。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因此这里真正的 gap 不是一句笼统的‘研究还不够多’，而是一个很具体的动态缺口。</a:t>
            </a:r>
          </a:p>
          <a:p xmlns:a="http://schemas.openxmlformats.org/drawingml/2006/main">
            <a:r>
              <a:t>我们已经知道局部错误会影响当下采纳，但还不知道 repeated feedback 之下，这种局部错误会不会改写后面的 reliance path；更不知道这种改写会不会在 AI 恢复之后仍然留下痕迹。</a:t>
            </a:r>
          </a:p>
          <a:p xmlns:a="http://schemas.openxmlformats.org/drawingml/2006/main">
            <a:r>
              <a:t>如果答案是会，那 AI error 的治理含义就不只是减少当期损失，而是要防止后续 decision architecture 被扭转。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基于前面的 gap，这篇 paper 提出三组连在一起的问题。</a:t>
            </a:r>
          </a:p>
          <a:p xmlns:a="http://schemas.openxmlformats.org/drawingml/2006/main">
            <a:r>
              <a:t>第一，reliance 会不会随着相对表现动态更新；第二，集中式的 AI error shock 会不会把后续 adoption 拉低，而且恢复不完全；第三，这个效应会不会受到 shock timing 和 source asymmetry 的影响。</a:t>
            </a:r>
          </a:p>
          <a:p xmlns:a="http://schemas.openxmlformats.org/drawingml/2006/main">
            <a:r>
              <a:t>这里的 framing 也要讲清楚：我们研究的不是 generic trust，而是 repeated-feedback environment 里的 dynamic reliance。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机制上，我把它写成一个两阶段再加后果的过程。</a:t>
            </a:r>
          </a:p>
          <a:p xmlns:a="http://schemas.openxmlformats.org/drawingml/2006/main">
            <a:r>
              <a:t>第一阶段，generative AI 通过 coherent output 建立初始 authority；第二阶段，一旦出现显著错误，就可能触发一次比普通 signal 更强的负向重校准。</a:t>
            </a:r>
          </a:p>
          <a:p xmlns:a="http://schemas.openxmlformats.org/drawingml/2006/main">
            <a:r>
              <a:t>最终的经验后果就是，哪怕 AI 后面客观恢复，adoption 也可能只恢复一部分。这也是 timing heterogeneity 和 source asymmetry 要进入机制讨论的原因。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在具体设计之前，我先解释为什么实验原型必须长这个样子。</a:t>
            </a:r>
          </a:p>
          <a:p xmlns:a="http://schemas.openxmlformats.org/drawingml/2006/main">
            <a:r>
              <a:t>如果没有 repeated rounds，我们看不到 path；如果没有 full counterfactual feedback，我们不知道参与者到底看到了什么相对表现；如果没有 parity-controlled usefulness，我们又无法排除 AI 本来就更差这个更简单的解释。</a:t>
            </a:r>
          </a:p>
          <a:p xmlns:a="http://schemas.openxmlformats.org/drawingml/2006/main">
            <a:r>
              <a:t>所以这页是在说明，这个 task prototype 不是任意的，它是在为后面的识别服务。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这页开始进入具体 task，但我还是尽量把它讲得直观。</a:t>
            </a:r>
          </a:p>
          <a:p xmlns:a="http://schemas.openxmlformats.org/drawingml/2006/main">
            <a:r>
              <a:t>每一轮里，受试者先看历史，再给出自己的 allocation，然后看到 AI allocation，最后在 self 和 AI 之间做选择，并立即看到 actual 和 counterfactual payoffs。</a:t>
            </a:r>
          </a:p>
          <a:p xmlns:a="http://schemas.openxmlformats.org/drawingml/2006/main">
            <a:r>
              <a:t>这个结构的好处是，reliance 不再是一个抽象态度，而是每一轮都能被直接观察到的 adopt self or adopt AI 行为。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这里是最核心的 design logic。真正变化的是 error 出现的时间结构，而不是 AI 总体有用性。</a:t>
            </a:r>
          </a:p>
          <a:p xmlns:a="http://schemas.openxmlformats.org/drawingml/2006/main">
            <a:r>
              <a:t>Balanced、Early Shock 和 Mid Shock 的区别，只在于 concentrated error 出现在什么时候；但 total payoff、mean payoff、error count 和 recovery level 都要匹配。</a:t>
            </a:r>
          </a:p>
          <a:p xmlns:a="http://schemas.openxmlformats.org/drawingml/2006/main">
            <a:r>
              <a:t>所以 parity 在这里不是一个普通控制项，而是 identification prerequisite。只有这样，我们才能把后续 adoption gap 解释成 timing-driven path effect。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这张表的作用是把整个 paper 压缩成一条很清楚的识别链。</a:t>
            </a:r>
          </a:p>
          <a:p xmlns:a="http://schemas.openxmlformats.org/drawingml/2006/main">
            <a:r>
              <a:t>也就是从 RQ 或 hypothesis，走到具体 manipulation，再走到 key comparison，接着说明 parity standard，最后告诉老师这个比较到底识别什么。</a:t>
            </a:r>
          </a:p>
          <a:p xmlns:a="http://schemas.openxmlformats.org/drawingml/2006/main">
            <a:r>
              <a:t>如果老师后面只记住一张方法页，我希望就是这张，因为它能最快说明这不是一个复杂但混乱的实验，而是一个结构上很清楚的设计。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最后这页先讲 expected pattern，再讲 analysis hierarchy。</a:t>
            </a:r>
          </a:p>
          <a:p xmlns:a="http://schemas.openxmlformats.org/drawingml/2006/main">
            <a:r>
              <a:t>第一步是先把 visible adoption path 画出来，看 concentrated error 之后是否真的出现 later reliance gap；第二步是用 reduced-form comparison 去证明这个 gap 是 causal treatment effect；第三步才让 EWA-inspired mechanism 进入，解释为什么 recovery 不完全。</a:t>
            </a:r>
          </a:p>
          <a:p xmlns:a="http://schemas.openxmlformats.org/drawingml/2006/main">
            <a:r>
              <a:t>所以整篇 paper 的贡献，不是单纯说 AI 会出错，而是识别什么时候一个局部 AI failure 会变成 path-dependent under-reliance。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fb708387d418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f0781655374853" /><Relationship Type="http://schemas.openxmlformats.org/officeDocument/2006/relationships/slideLayout" Target="/ppt/slideLayouts/slideLayout1.xml" Id="R7e632e5717904f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632e5717904f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160542ad541f1" /><Relationship Type="http://schemas.openxmlformats.org/officeDocument/2006/relationships/notesSlide" Target="/ppt/notesSlides/notesSlide1.xml" Id="R52a4e0ba5aa34a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f1771835a4c86" /><Relationship Type="http://schemas.openxmlformats.org/officeDocument/2006/relationships/notesSlide" Target="/ppt/notesSlides/notesSlide2.xml" Id="R93863b536d6344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ff5dd10475487a" /><Relationship Type="http://schemas.openxmlformats.org/officeDocument/2006/relationships/notesSlide" Target="/ppt/notesSlides/notesSlide3.xml" Id="Raa9a96b265034a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d32c4b546e42c6" /><Relationship Type="http://schemas.openxmlformats.org/officeDocument/2006/relationships/notesSlide" Target="/ppt/notesSlides/notesSlide4.xml" Id="Rb6f4d5e2501646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a3b883dbd44d7" /><Relationship Type="http://schemas.openxmlformats.org/officeDocument/2006/relationships/notesSlide" Target="/ppt/notesSlides/notesSlide5.xml" Id="R98d81c651cf94b4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bc350f0c744aa5" /><Relationship Type="http://schemas.openxmlformats.org/officeDocument/2006/relationships/notesSlide" Target="/ppt/notesSlides/notesSlide6.xml" Id="R63092be9d07549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c4d8679ed34fb2" /><Relationship Type="http://schemas.openxmlformats.org/officeDocument/2006/relationships/notesSlide" Target="/ppt/notesSlides/notesSlide7.xml" Id="R4699ed810c76471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b918e31e3478f" /><Relationship Type="http://schemas.openxmlformats.org/officeDocument/2006/relationships/notesSlide" Target="/ppt/notesSlides/notesSlide8.xml" Id="R6c28f038d4ae48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654c71bb4c4963" /><Relationship Type="http://schemas.openxmlformats.org/officeDocument/2006/relationships/notesSlide" Target="/ppt/notesSlides/notesSlide9.xml" Id="Rba42cf9b152a4c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a8392248bf47f4" /><Relationship Type="http://schemas.openxmlformats.org/officeDocument/2006/relationships/notesSlide" Target="/ppt/notesSlides/notesSlide10.xml" Id="R7be82d7ce18941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c3991606e4a0d" /><Relationship Type="http://schemas.openxmlformats.org/officeDocument/2006/relationships/notesSlide" Target="/ppt/notesSlides/notesSlide11.xml" Id="Rad00710a101744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50c7f1d6340b9" /><Relationship Type="http://schemas.openxmlformats.org/officeDocument/2006/relationships/notesSlide" Target="/ppt/notesSlides/notesSlide12.xml" Id="Rccbc47f8c62a42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e4efdc4ac4f68" /><Relationship Type="http://schemas.openxmlformats.org/officeDocument/2006/relationships/notesSlide" Target="/ppt/notesSlides/notesSlide13.xml" Id="R21dfaace4f0e441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418ea2de04ae0" /><Relationship Type="http://schemas.openxmlformats.org/officeDocument/2006/relationships/notesSlide" Target="/ppt/notesSlides/notesSlide14.xml" Id="Ra95d177a0a3444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56c12bcbe4072" /><Relationship Type="http://schemas.openxmlformats.org/officeDocument/2006/relationships/notesSlide" Target="/ppt/notesSlides/notesSlide15.xml" Id="Rc7df3f26247348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293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CE32EF-0155-41BD-A067-7EEA96BD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-1524000"/>
            <a:ext cx="4191000" cy="419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384A"/>
          </a:solidFill>
          <a:ln xmlns:a="http://schemas.openxmlformats.org/drawingml/2006/main" w="0">
            <a:solidFill>
              <a:srgbClr val="30384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0EB86-F856-482E-AB74-16ABBF8E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4476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3241"/>
          </a:solidFill>
          <a:ln xmlns:a="http://schemas.openxmlformats.org/drawingml/2006/main" w="0">
            <a:solidFill>
              <a:srgbClr val="2B324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152C4-0FD2-4A58-9D83-1CC9E712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616B8-0068-4455-8BC1-772504F4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626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5067"/>
          </a:solidFill>
          <a:ln xmlns:a="http://schemas.openxmlformats.org/drawingml/2006/main" w="0">
            <a:solidFill>
              <a:srgbClr val="46506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694C2-3586-4E5D-B024-A043C5C6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810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7A79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D7A792"/>
                </a:solidFill>
                <a:latin typeface="Times New Roman"/>
                <a:ea typeface="Times New Roman"/>
                <a:cs typeface="Times New Roman"/>
              </a:rPr>
              <a:t>PAPER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578C2-06E9-4AB3-8E01-DD419DC6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4287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1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rPr>
              <a:t>AI Error Shocks and Dynamic Reliance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DE1BB0-B593-42F7-8D22-95D04153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479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Repeated human-AI decision tasks with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08387-430E-44B5-A358-CE81730B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38481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364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415667-41E5-40EC-AE71-EF033B6A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11229-6288-4FF3-92AE-E7CBA2B5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3562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rPr>
              <a:t>Dissertation position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D5FE2-D48E-46D7-B26D-957FB22F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86200"/>
            <a:ext cx="3562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Paper 2 isolates the step from feedback and belief to reliance calibration and action threshold.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DAC5C-3793-4ADD-A990-B0BF36B94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676900" cy="12954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2E364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AF650-D980-432D-9DBC-78ED6DD6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571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5BB50-AC1D-4A65-8899-52EEB669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43300"/>
            <a:ext cx="539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F8F2E9"/>
                </a:solidFill>
                <a:latin typeface="Times New Roman"/>
                <a:ea typeface="Times New Roman"/>
                <a:cs typeface="Times New Roman"/>
              </a:rPr>
              <a:t>Core object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D3D36F-85BE-4752-B2AC-1EF7D4B5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886200"/>
            <a:ext cx="53911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The paper is not about generic trust. It asks how local AI failure changes later reliance in a repeated decision system.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2E09AE-DB51-495A-BC1D-90CE5FE4B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153150"/>
            <a:ext cx="933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0" i="1">
                <a:solidFill>
                  <a:srgbClr val="D8DCE6"/>
                </a:solidFill>
                <a:latin typeface="Times New Roman"/>
                <a:ea typeface="Times New Roman"/>
                <a:cs typeface="Times New Roman"/>
              </a:rPr>
              <a:t>Belief formation -&gt; reliance calibration -&gt;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18616116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C85CB4-54DD-4233-B8EC-77A2AE39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92E2F-7065-472F-9C0B-93998EFB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67492E-7461-4D53-A776-D6C847CE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2D81A-7781-4286-B889-C507184D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7221E-D3A6-4CD8-8079-F20D848D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THE PUZZLE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8D733-13E3-426C-84BA-2B96B986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The puzzle is not whether people dislike errors, but how they learn from them over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31E51-C733-49BE-B246-3A095609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In high-risk settings, one AI miss can carry more weight than one human miss even when later performance looks similar.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EE0F6-35B4-4C3E-9755-E59AC9CE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7625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941CA-D819-4746-BB85-4CE254E8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57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21B43-E545-4EEE-A47E-2E5A4A61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AI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61448-81EA-46C4-8F13-92A81191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44767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 clinician or supervisor sees one visible AI miss and may read it as evidence that the source itself is unreliable.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reaction is not only to the mistake, but to what the mistake seems to reveal about the source.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047EC-B9A5-4B54-88B3-97053A97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5105400" cy="240030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2BFED-23C4-4D0A-B57D-EADC5B45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57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0503BE-899D-4754-B960-574992D4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Human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62A6C4-8BA6-4399-ABB4-16036858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81965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same miss from a human colleague may be read more as a local mistake that can still be corrected through later interaction and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That creates a possible asymmetry in later updating.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85B092-8FE7-4006-B357-88DBD23B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922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B2410F-22C7-4093-B5AD-2B11E797D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694594-F93A-4396-B77C-DC3F750A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893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What matters is the later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C307B-4D3E-4FDD-A148-2DBE825E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24500"/>
            <a:ext cx="893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key question is whether reliance recovers after later feedback, or whether early AI error keeps depressing adoption even when objective performance improves again.</a:t>
            </a:r>
          </a:p>
        </p:txBody>
      </p:sp>
    </p:spTree>
    <p:extLst>
      <p:ext uri="{BB962C8B-B14F-4D97-AF65-F5344CB8AC3E}">
        <p14:creationId xmlns:p14="http://schemas.microsoft.com/office/powerpoint/2010/main" val="789045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40FE8F-67DE-4EE2-85C0-D1CD972C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35631-1A33-4437-A88A-13DE52AD1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18261-95B2-4510-9EBD-22521CA9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35018-7E8F-4D9F-BFF5-39E7EE22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A8204-B283-490C-A07F-2574FF89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EXISTING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E9E79-60A1-48FC-A77E-C09624F1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81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Most existing work is still built around one-shot trust or one-shot advice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DF13E-FD4C-4396-8BC9-CCA33D06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We know a great deal about immediate reactions to advice, but much less about how reliance evolves across repeated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9D8ABA-834D-47E5-9176-52BE8C52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30861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22237-164A-46D0-B89E-9C1DF69A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24100"/>
            <a:ext cx="571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4E591D-8A31-434D-9ECE-AB84D59F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38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Algorithm aversion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31827-3FFB-4B9B-9197-533CCBC2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81300"/>
            <a:ext cx="2800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How visible algorithmic failure lowers immediate willingness to adopt advice.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54260-CA3E-4279-88CC-45393DF7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30861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B1FDD-D3BC-49B9-A690-11633DF4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24100"/>
            <a:ext cx="571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F29E49-142B-4C16-9375-0F8FBBF7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38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Advice taking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FFC1C7-4050-46ED-87AA-E6BC49A8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2800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How people weight their own judgment against an external recommendation.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431E73-1FD0-4762-BE80-2B46E39B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24100"/>
            <a:ext cx="308610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EF7B36-7A14-4155-AF5C-D00FECF8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24100"/>
            <a:ext cx="5715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2593ED-5747-4503-8543-3F7DF2DA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384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Trust in automation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D0CCD9-668C-46F9-888A-2BCC101B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81300"/>
            <a:ext cx="28003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How confidence, explanation, and transparency affect acceptance of machine advice.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902FA-B096-4977-BD6C-4496F6FA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9220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DB7288-D966-4D7B-B445-2C062287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6730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8CFA2C-5EE9-4ED0-B33E-0EEB5398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81600"/>
            <a:ext cx="893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What this literature still leaves thin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4FC6CB-6D25-4264-90ED-64789D573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24500"/>
            <a:ext cx="893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same participant is rarely followed through error, feedback, recovery, and later adoption in a clearly repeated task.</a:t>
            </a:r>
          </a:p>
        </p:txBody>
      </p:sp>
    </p:spTree>
    <p:extLst>
      <p:ext uri="{BB962C8B-B14F-4D97-AF65-F5344CB8AC3E}">
        <p14:creationId xmlns:p14="http://schemas.microsoft.com/office/powerpoint/2010/main" val="2061115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075A36-FC86-431C-9378-F1D8BAB6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46CDB-FC46-47CE-879E-B0ECC368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DE54D-945F-4DCE-B584-EE15F1AA5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6B276-7617-474F-ABA7-9F46CC9F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820E76-7F96-4184-A6DE-37DA6AC7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TRADITIONAL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7D99B-0681-42CA-8D10-85B23C8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 symmetric learning view would predict similar updating from similar errors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87C79-D892-4904-B20E-691567B7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If AI and human sources perform equally well overall, similar misses should produce similar later reliance updates.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5D92F-1375-4146-B842-D610DEF7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30861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383B3A-1ECC-4816-B709-994BD831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8F040C-A759-41A4-9921-2B9FCE20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03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Benchmark step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17D62A-005F-44E9-AE5E-5281A3FE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28003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Observe how AI and human sources perform in the same environment.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4C4CBC-9BF5-46AA-AD3E-FABB1050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0861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A75ED-3158-4A25-8C30-4CF9E428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37249-F3A4-4F13-A00C-E4803632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003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Benchmark step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798D4-3927-4AE0-A9FB-B6F4B532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8003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Use later relative feedback to update which source is currently more useful.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EA3E3-96DD-4890-81B7-F6498B489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30861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7DC68-AF60-4811-AD10-30C36E4A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8600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FD581D-D327-4D6A-AFAB-BF2920F9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003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Benchmark implication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B1B3F2-1880-4463-B4D8-E144C646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43200"/>
            <a:ext cx="28003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Once later performance improves again, reliance should recover rather than remain persistently depressed.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ED2635-6296-48BA-84C9-8B9F161A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876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4AFD6B-3286-453F-A785-38CB33DC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23E262-30ED-4E56-8785-DBDEBAFD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Why this benchmark matters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AA9E5-94F9-48CD-9052-160E6C01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626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Persistent AI-specific under-reliance is interesting only because a symmetric-learning benchmark would expect similar later recovery from similar errors.</a:t>
            </a:r>
          </a:p>
        </p:txBody>
      </p:sp>
    </p:spTree>
    <p:extLst>
      <p:ext uri="{BB962C8B-B14F-4D97-AF65-F5344CB8AC3E}">
        <p14:creationId xmlns:p14="http://schemas.microsoft.com/office/powerpoint/2010/main" val="5320805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55CEC4-7BED-4088-8685-E906EA37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58FC7-A9B1-484F-A94D-A121F092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DB636-BDDA-4251-8299-AC36EE0F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D10962-7DBF-4957-A527-A98826B3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7B6E52-0F0C-49BC-87A3-CB57FE71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CE20B-EBEB-4714-8893-00C4352B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The gap has two parts: existing work is rarely multi-round, and it rarely isolates AI-specific diagnostic asymmetry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0292A-BAB9-4091-A1B0-7035E2D4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unresolved issue is not only whether errors matter, but whether AI errors matter differently over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AEA8F-B8C6-4928-A7B4-E772A236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7625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163DC-2BDC-4073-9DA1-F8C074BB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8BB893-091F-426D-8D5D-F8A23C7C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Gap 1  Multi-round gap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6E995-12E8-42B1-A682-F023F663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4476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Many studies are not designed to track the same participant through early error, later recovery, and the full adoption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That makes dynamic updating hard to observe directly.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6EF8B-F776-4690-B205-F7E0318D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5105400" cy="24574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B56CC-E754-4A0A-B520-76BF0D68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57150" cy="2457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F55E0-2708-4111-BABA-16B6E3A5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6220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Gap 2  Asymmetry gap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0CA3E4-9DFB-4BE9-A861-74A97379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48196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Even fewer designs compare AI error with human error under equal overall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Without that comparison, we cannot tell whether AI misses carry a special diagnostic penalty.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3D78F-0B1C-4B93-8856-ADD0B0E9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92202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DA3A6-26DE-4E08-A2B5-9D75E74B2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48250"/>
            <a:ext cx="571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16C72-1742-4255-A2E7-6BBEF9AD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893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Punchline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65A166-B6D7-49E2-A517-9B1E1535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05450"/>
            <a:ext cx="893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paper is therefore not about generic distrust. It is about dynamic asymmetry under repeated feedback.</a:t>
            </a:r>
          </a:p>
        </p:txBody>
      </p:sp>
    </p:spTree>
    <p:extLst>
      <p:ext uri="{BB962C8B-B14F-4D97-AF65-F5344CB8AC3E}">
        <p14:creationId xmlns:p14="http://schemas.microsoft.com/office/powerpoint/2010/main" val="12959171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6D3036-494A-4D98-9258-6F960EC8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4CF65-C8FD-4455-A167-31FE89DE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C7947-75AA-4DE1-9647-316CCFC0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4CF39-44B2-49D7-ABE8-54DE8117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FD0AE-4E2F-43EC-95C4-0A246275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RQ AND FRAMING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D2432-C599-4917-A2E5-6932ECA6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The gap leads to linked questions and one analytical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36E493-5506-4566-8B8B-1F1FF66A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paper asks about dynamic reliance updating after source-specific error shocks, not about a generic trust score.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1D6775-0A51-4B6D-9BEA-48109CFA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6096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09C2D-34A3-435A-AE6D-5EE01FE4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B97AB-BB40-4DC4-AA59-9B75EDD0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Research questions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595D8C-FCCA-4A66-8B1F-B9FF0BFC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86050"/>
            <a:ext cx="5810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RQ1  Does reliance track relative performance over time?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RQ2  Do early AI errors depress later adoption even after later performance recovers?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RQ3  Do timing and source asymmetry change how strong that later reliance shock becomes?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80A3A-22C4-48B3-9177-5209308D2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28850"/>
            <a:ext cx="37909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0691AE-E604-47F6-A278-82341D06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2885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6C599-B847-408C-A15A-85E17288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43150"/>
            <a:ext cx="3505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Framing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005DC-FE8C-449B-AB09-45B51262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86050"/>
            <a:ext cx="35052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Not generic trust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Not one-shot persuasion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Not average accuracy alone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object is dynamic reliance under repeated feedback.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AC3A2-2E94-460E-93A8-118FE509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95950"/>
            <a:ext cx="925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This framing lets the paper connect AI authority, error experience, and later action threshold in one sequence.</a:t>
            </a:r>
          </a:p>
        </p:txBody>
      </p:sp>
    </p:spTree>
    <p:extLst>
      <p:ext uri="{BB962C8B-B14F-4D97-AF65-F5344CB8AC3E}">
        <p14:creationId xmlns:p14="http://schemas.microsoft.com/office/powerpoint/2010/main" val="17886191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30D6D9-930E-4897-BCA9-D43FE970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A36D6E-3737-4614-AC46-BEE79B47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D9AEF-C2EC-467B-A7CC-EB8BD0F8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76490-511A-4FA7-9C30-CE6418A6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2EC6F-923C-4217-B9AD-7965ECF1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AI DISTINCTIVENESS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BCE04-6A03-4534-9101-2FC9D1FB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Generative AI advice is not just another score or 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6C040-3820-43B6-B847-8FECCA80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Its behavioral distinctiveness comes from how the signal arrives, not only from whether it is right.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A744D-0F03-4455-8F31-3A1A2F8C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46672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DC5CD-A4E6-4C58-9CF6-A650C216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571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951FD-6D90-4F3C-9D60-6FDE4D8C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Traditional algorithmic aid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80839A-294E-4307-8758-04A815B6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47950"/>
            <a:ext cx="4381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Often appears as a score, ranking, probability, or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user still has to interpret what the signal means and how much weight it deserves.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152E1-5888-49A4-A3D9-CEF483D15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62915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4958DB-3785-4204-ADBC-46FD2805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571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D0AD6D-4F4B-4813-BB96-36C0A235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34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Generative AI advice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2FF078-7738-49ED-89FF-C75FB03C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47950"/>
            <a:ext cx="43434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Often arrives as a coherent answer with organized reasons, compressed ambiguity, and a ready-made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That changes the felt authority of the advice before formal performance is even observed.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EF300-B7FF-4BD5-B8F7-7D9E855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That difference creates conditions under which AI errors may become more diagnostic than comparable human errors.</a:t>
            </a:r>
          </a:p>
        </p:txBody>
      </p:sp>
    </p:spTree>
    <p:extLst>
      <p:ext uri="{BB962C8B-B14F-4D97-AF65-F5344CB8AC3E}">
        <p14:creationId xmlns:p14="http://schemas.microsoft.com/office/powerpoint/2010/main" val="1368651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410E77-3F50-4090-95E2-5E835314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C4799B-A3DE-4B7F-8E78-73AEDF8A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72C01F-D3DD-45B3-9258-96FCD357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7632A-794C-474F-8779-4B6A3BF6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F4DE8-1BE5-414C-B736-93F66809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NARRATIVE AUTHORITY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B3A23-866D-43AD-AD64-BF71C249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Transformer-style outputs can make AI advice feel more settled than the evidence itself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E3B181-6571-4E69-BC8C-56314607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Coherent language can create interpretive authority before formal performance is even observed.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B187B-28DD-4A52-AF1C-496D5159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1028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6879A-B3D0-46EF-9735-9F0082BF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9ECB7-255B-4298-986B-B3F67A045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Organized reasons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43203-3196-4A87-A442-EDEBE14B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advice comes packaged with explanations rather than as an isolated score.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AE44F-621B-4817-B391-874B496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028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55D12-80AD-4CC1-AF92-EA2203FD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0CCE4C-F193-47C7-B3C3-E7E7B8A2B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Compressed ambiguity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09DA45-DEDB-4C28-B9D1-859FBA31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Conflicting cues are often folded into one fluent account instead of remaining visibly unresolved.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21056-140E-4E5B-B283-BD1782D1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10287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3B422-FF68-4880-AFAE-CB8B5F05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571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6EAF4-A5F6-45C3-A3BA-1A5344B4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Apparent completeness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1A646-E729-4258-AB17-391F037C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2920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user can feel that the system has already done the hard interpretive work.</a:t>
            </a:r>
          </a:p>
        </p:txBody>
      </p:sp>
    </p:spTree>
    <p:extLst>
      <p:ext uri="{BB962C8B-B14F-4D97-AF65-F5344CB8AC3E}">
        <p14:creationId xmlns:p14="http://schemas.microsoft.com/office/powerpoint/2010/main" val="12388978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80E5BE-1F9C-4478-9A3E-A42F0A1A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81764-B08D-4F30-8544-18583A9C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577D2-A22C-49F6-A48A-1B83A3A0D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7F645-1C0F-4EED-A51F-44229E42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7AA3A0-6501-49B1-84A2-30B3C1F2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KEY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D2D70-D675-41BF-B7D2-2A4C5CBA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09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The key comparison is AI error versus human error under equal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D177E-7928-4F4B-8AAD-C8A03F71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Without performance parity, lower reliance could always be dismissed as a simple response to lower quality.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F2886-119F-4C66-AEAD-19D290DD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30861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BCA86-E246-4C13-B326-71F96DD1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E94F0-F943-44B6-AB23-2645C753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Match performance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A98948-24E7-4A8E-88C3-AC439806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28003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AI and human sources must remain equally useful overall.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F1F0-C899-468B-B147-1BC9CDB2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30861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9FA368-5622-4604-8ACE-03EA9205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864D3-2732-40D7-BF79-DD035BA4A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8125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Vary error source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8F63F3-4331-43B8-8A71-5D450654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24150"/>
            <a:ext cx="28003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Ask whether an early AI miss carries a heavier later penalty than an early human miss.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18195-A643-47F2-A7C8-9797E12A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3009900" cy="2438400"/>
          </a:xfrm>
          <a:prstGeom xmlns:a="http://schemas.openxmlformats.org/drawingml/2006/main" prst="roundRect">
            <a:avLst>
              <a:gd name="adj" fmla="val 312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0BEDCD-FA01-4F1C-9FBB-29021A8B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66950"/>
            <a:ext cx="571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96194-2C0E-4689-921C-8AD4257F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Observe later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507198-D208-4574-BF11-04029051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24150"/>
            <a:ext cx="27241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outcome is the later reliance trajectory after further feedback arrives.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F8D6F2-F5AF-4F64-A55B-306C4C61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922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91DBFB-7A16-4946-8613-C2960027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57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2AEED8-2B95-4B2B-8D30-9F76C77E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219700"/>
            <a:ext cx="893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Why parity matters before design details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15360B-BD34-47A9-A26C-4802A2F0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562600"/>
            <a:ext cx="893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Performance parity is an identification premise. Only then can a larger penalty on AI error be interpreted as source-specific diagnostic asymmetry.</a:t>
            </a:r>
          </a:p>
        </p:txBody>
      </p:sp>
    </p:spTree>
    <p:extLst>
      <p:ext uri="{BB962C8B-B14F-4D97-AF65-F5344CB8AC3E}">
        <p14:creationId xmlns:p14="http://schemas.microsoft.com/office/powerpoint/2010/main" val="19813234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4902843-71D1-4811-9F96-5F6BCA21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DAF98-0FAF-4091-928E-F414ED23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6EEF90-FF6D-4365-A070-509B1E14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B2D6C-DBEA-4B0F-81D5-A6F68D05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47E828-D621-47F8-AB30-8D43F5E7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MECHANISM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A492A6-2B0E-4D4C-AA7D-187823AA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 local failure can become a calibration shock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B4DFA3-9A2E-4C21-8CB9-2608DBFD6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proposed path is early authority, then a source-specific miss, then incomplete reliance recovery.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48943F-845C-479D-9DA4-FADE66DE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30861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9CC78-3BDB-4A31-8948-2D2B79DA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3BECB5-3E1E-4406-9973-1FADC022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765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Stage 1  Initial 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42160-1284-4787-A407-05AFA8DC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800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Coherent AI output can establish interpretive authority and make adoption initially attractive.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F9135-5B69-41CB-A1EC-5407B7CF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52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582778-ABBD-4F5F-84FD-78DC3516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30861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BC1FE-9727-4842-A581-F92A9ECE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E041B2-3C50-45EA-95C1-A5EEBA95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5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Stage 2  Diagnostic miss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5D355-51EC-4565-B27E-D418493D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19400"/>
            <a:ext cx="2800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 salient AI error can trigger a stronger negative update when the miss is read as evidence about the source itself.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1866BE-D9A2-473A-A882-98EB0854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14629-8D85-47D5-B9B5-914E8623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30861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09FE96-D9EF-4016-B2B9-7CB5EAFC1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571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16D565-B8FA-4F95-961E-206747E1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Stage 3  Partial recovery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959677-C820-4D59-AC76-EB266CCB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19400"/>
            <a:ext cx="28003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Even when AI later recovers, adoption may recover only partially and under-reliance can persist.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AA69A3-729E-470B-8728-5E29C05E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876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9DB54E-D7FE-4EF3-870F-49A9F9296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054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2CB3C-42EB-4996-95AA-D56182CF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19700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Two mechanism modifiers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19605E-F771-455E-8B62-B4EBAEB0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562600"/>
            <a:ext cx="847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Timing heterogeneity asks whether early shocks matter more than later ones. Source asymmetry asks whether AI errors receive heavier negative learning weights than comparable human errors.</a:t>
            </a:r>
          </a:p>
        </p:txBody>
      </p:sp>
    </p:spTree>
    <p:extLst>
      <p:ext uri="{BB962C8B-B14F-4D97-AF65-F5344CB8AC3E}">
        <p14:creationId xmlns:p14="http://schemas.microsoft.com/office/powerpoint/2010/main" val="12916454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90DD06-C42B-4CDE-B2E5-7CA119AF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B4C79-5DF7-4E1F-8A1B-5BCC8BD6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D1278-2F9F-463C-B417-A212AD90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6B7C0-6938-436F-866F-379245EF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53550-D8AF-4141-A08B-C9B446D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PROTOTYPE REQUIREMENTS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88206-EEBD-4EA0-B85A-B670FDEE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The prototype has to satisfy five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F0632-0789-4616-969B-7ED71697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Before treatment details matter, the task has to make the target behavior observable and interpretable.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07DD3F-2DB9-427E-8399-B7AB817C2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3162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4AC26-98D0-4DD6-8A88-C4C0DC00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E2F9D-A1D8-4C87-B4B2-34D70CEA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860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Repeated rounds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8F16A-6B0D-4C8C-80C4-D9FBF7A3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task must show decline, recovery, and persistence over time.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907DE-9E9E-4FF8-A1FB-82913A44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3162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3D905-AAFD-4941-80A1-29CBDC419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717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39D04-13B6-4F4A-8A78-945F7700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860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Learning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307D5-5CAD-4E34-8B58-31DE848A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6289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environment must stay learnable without becoming trivial after a few trials.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D2468C-7BCB-42F3-9261-289254B8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31623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3676DA-84DB-492D-99A3-083866E3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71700"/>
            <a:ext cx="571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51C37D-3617-4BA4-8940-B0B65983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287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Full feedback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A0C601-8548-42F7-BAF3-EE5DF44A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2876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Participants must see actual and counterfactual outcomes every round.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FB539E-9C5A-42E6-90DF-F6B075BA4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4914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7998E-F6B1-4600-B346-2AA36FF5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9F87D2-8D72-42D6-BAD6-E4715EE6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338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Abstract setting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D12A7D-7256-4364-97CE-DECF1313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462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task must avoid outside domain attitudes and prior labels.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FDB23A-91EA-42A1-B1C9-15279B84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49149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22EA3-735A-45D2-B6A7-443D635A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19500"/>
            <a:ext cx="57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6D536F-7AA9-41A8-BB02-0E181C76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33800"/>
            <a:ext cx="462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Parity-controlled AI usefulness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E74E5-D88C-4140-8F7B-3A8624F0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76700"/>
            <a:ext cx="462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AI must remain useful overall so under-reliance cannot be reduced to lower ability.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EA16D-C319-4A02-AE2E-7A48EC82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34000"/>
            <a:ext cx="981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1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Only after these requirements are clear does the concrete treatment design become persuasive.</a:t>
            </a:r>
          </a:p>
        </p:txBody>
      </p:sp>
    </p:spTree>
    <p:extLst>
      <p:ext uri="{BB962C8B-B14F-4D97-AF65-F5344CB8AC3E}">
        <p14:creationId xmlns:p14="http://schemas.microsoft.com/office/powerpoint/2010/main" val="3043188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32EF82-22AA-4AEE-95A0-AFE0DEF5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9B0FE-F0EE-4D3D-916E-C673A1F3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B5511-5103-46D4-B24C-2ECD04A5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2DA9D-EEC3-4BD0-A3B5-F388307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58085-A473-4E51-BA39-D29E5A9B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TASK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E0846-20ED-46EF-B207-8BAD7C7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04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The task makes reliance visible round by round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97D6E-FF4D-4F3D-8F98-F3F28FA0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Participants repeatedly allocate points, compare self with AI, and then observe full feedback.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A23CB-50E6-43F8-B038-10325FF4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552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92FF6D-1A0E-4981-9662-847A5A550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71FDBE-4FFD-44B2-8E18-14C7CE2C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Decision 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340671-9EF0-4275-AD1B-1DB8A2B4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67000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Allocate 100 points across three channels with uncertain returns.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B1E91A-DF22-4DBF-95D3-D0C1B63B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09800"/>
            <a:ext cx="2552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DB54F-97C9-428F-BABF-7674E2A1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098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E477A-ADC4-49E4-A34E-416FBF71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AI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CFD7A-7BB9-412B-9FC7-1AF5175D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67000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See the Agent-AI allocation after making a self allocation.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8F9EB7-BACD-4513-82FD-611BF4B9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25527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C3B6A6-8A58-4BC8-9BC4-FCEFD72F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098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714DE-A43D-4068-8119-BC1A1069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Behavioral choice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C24871-0223-4954-8286-AB3B1FE3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22669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Adopt self or adopt AI on every round.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E3B0BE-FA6D-45EA-AF49-47E738FA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9800"/>
            <a:ext cx="2000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ABB889-A417-4FFD-A4FC-E16612C3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20980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8B8356-548A-4146-869F-DB585FCE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241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C766A9-E609-4F70-B76E-F043CAE5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714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Observe actual and counterfactual payoffs immediately.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57AFE9-B685-431B-BEB1-24637415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One participant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0B4F5D-6348-4A83-A4DD-466B720E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6658CD-FF4D-4B10-8E77-5006165B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166FA-CD34-47B4-8A61-5BF45960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876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See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F3EF2D-F2EB-47DC-9C84-D4B3CA54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1970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Recent channel values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B98946-FBA5-4DC7-8A32-7197646E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36257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225856-D3E9-476B-AC49-D76CD144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6AE408-A3BD-4864-8829-D4B25933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62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141208A-BB61-4113-918F-9823FF14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76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Self allocation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F3F70D-0613-4245-B8DE-162CB236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1970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100-point choice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5028AE-E691-4EE2-9F24-56DEFAAA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36257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87B923-78E8-42F0-A014-46947C5F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C3B82CE-23DC-4810-BA3D-008E0B5B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62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0B6085-AC9F-4558-9ED7-E01CC434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76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AI allocation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19589A-697D-45BF-AD94-7A936B71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Agent-AI suggestion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5739D5-E1C8-40B5-8292-B00C6434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6257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0BC9DA-CB59-47C6-B779-956596D4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6250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7CD688-7F7A-4DF5-A0DA-098298F4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62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FB93BF-898F-4969-A1BB-7DDD41E9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Choose source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97E729C-BB8C-4EEF-BA70-E5B19282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Adopt self or AI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19E9F28-9570-4DCF-B672-5ECFD2F2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6257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BD4D76A-5596-4327-8D82-0833E3D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BABE689-3760-49F6-B591-AE83AAD4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62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7E0938-D097-4FDC-A7E3-DCDFDE2F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76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Full feedback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BC4BD2-A35C-4A80-BAF7-F8B29C9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Actual and counterfactual payoffs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EC8A92-33FD-4362-B725-C6EBF1239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362575"/>
            <a:ext cx="133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D9A56D-E754-4F70-976E-7920025A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62500"/>
            <a:ext cx="1562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A0A1A8-9F70-41E7-8093-EB8F9D85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762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8859CC-F3FF-4117-A0DF-5B2623A0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768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Update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A1790D-1FAF-46C2-AF4E-6CDAFB9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219700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Carry the reliance state forward</a:t>
            </a:r>
          </a:p>
        </p:txBody>
      </p:sp>
    </p:spTree>
    <p:extLst>
      <p:ext uri="{BB962C8B-B14F-4D97-AF65-F5344CB8AC3E}">
        <p14:creationId xmlns:p14="http://schemas.microsoft.com/office/powerpoint/2010/main" val="7276254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C48047-E78C-46A4-A9D8-C3C0E082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452A72-DBA8-427E-9E2B-D244A993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F071AB-615E-4676-99C6-CEE44BFB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4B811-5EF3-483D-8D29-F4628DAB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03978-8B2B-4732-857C-235CAE2C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CONDITIONS AND PARITY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79C62-3EF9-4428-8CC4-578896BE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Shock timing changes while AI usefulness stays matched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7AB62-C98A-438A-BA1E-EF4B3E4E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identification logic is simple: move the concentrated AI error while keeping AI performance parity explicit.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197F43-483E-47BB-9934-59C5BFD5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Condition logic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27C7C-DDDA-4E96-BBB9-07B35FC7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3276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B27888-669C-4016-A5C4-F506A814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5B695-2A4D-4B44-B4F1-F9310B21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Balanced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45168-EC7E-42E1-AE6C-52903299A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75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Errors are distributed.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0CDF2F-E5E3-4E7E-9706-E375C1A6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6C4767-93E8-4B69-8627-70D17DBC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1C747-0527-4112-8699-D75C42EA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83A0CE-650D-41AE-88B1-512D4B1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484780-94A6-4772-83B7-1B8AC4EB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29617-50B8-436A-B1C6-E50F9071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0575C9-9D42-426A-B886-E5F751D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3E463-BF76-48F7-9993-D24CDA94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D10CF4-C230-457D-82D6-EC087F14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61DD8-D0B4-4FCE-858A-B6E135B3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0E0787-C65A-4172-86DE-36EB8EA3F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0C2545-CD12-4142-A5D3-F3F43184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9A261C-6148-45FC-8C21-AAD0623D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3276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491825-0E9B-4F33-884F-4AB59A5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00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BE406-C5D9-4DE4-A1FC-AEB5DEA8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Early Shock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828569-7E42-444F-9B4A-72B0A9C0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8575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Errors concentrate early.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1FD17-5445-4266-BFB2-677A4CDD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ADEBD-FCA5-445C-98ED-AF865AF8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494E8C-EE70-473E-A2F2-3DF4349F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D3A4C2-BD64-4735-9F77-FE888A9F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E98160-ED1E-4DF2-AFB7-794DA252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4E97E7-DDC1-45A9-9481-C5EA6901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9CAFB6-A012-4FF5-B421-6E6D645D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87A0D1-FBBA-4FED-84EA-50C32EDD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31CB7A-AECA-4AAE-9DF4-AEE3D153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C459CF-3C35-434E-B8FE-6A37B3EC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E2FCED-CC13-4771-8A15-51ABDDA2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DBE193-B889-47FA-907D-9D4BDC2B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59B0E1-5FDA-48FD-B102-85CB795A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2766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6FEF8A-EA97-4A41-A162-D1958B3E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16ABF1C-BD1A-44F9-B436-C81859CA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2990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Mid Shock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535960-9C4A-4714-938D-18EF6410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57500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Errors concentrate mid-way.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2928C5-2E06-4749-92CC-23138292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D761DBE-B567-4889-94C9-9C4EBE93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5990A1-F738-4CB2-AF5D-CB1B1500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D9D0C1"/>
          </a:solidFill>
          <a:ln xmlns:a="http://schemas.openxmlformats.org/drawingml/2006/main" w="0">
            <a:solidFill>
              <a:srgbClr val="D9D0C1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82452A-36D9-4202-A4D3-99C0234D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EFE398-66AF-4D98-BB50-EC877E67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C51AAF-6C87-4B77-B907-9D925D1E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9444F20-51A8-4FBD-A592-62C0C0BD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A6EEED4-A4B4-4D8B-B0BD-C1C5FDBA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5A9A668-C03F-497C-B4E4-3376A70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EFF4182-1833-4380-9C14-C2E286AE0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9C9450-1A6A-4859-95EC-244BA648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62300"/>
            <a:ext cx="323850" cy="20955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78836A"/>
          </a:solidFill>
          <a:ln xmlns:a="http://schemas.openxmlformats.org/drawingml/2006/main" w="0">
            <a:solidFill>
              <a:srgbClr val="78836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FB93EC-7BE6-470A-BE82-2C55149F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1813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97C4E07-7076-4A80-B8CB-531A6B260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Performance parity standard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01CEF9-9590-43E0-A0BB-731A4D27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2471D2-9A96-4699-B6AD-0AEC13E9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B09327-1EE3-4604-BF8A-B1491CCF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8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same total payoff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EA27B7E-6728-47FD-A7E0-12E5D604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08464E4-1CA9-4B4C-BB1F-1AC2D06E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8F6F058-104E-419E-A6EB-0ED386B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8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same mean payoff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57284C2-7F0D-4944-9AF8-7BCAE9EE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E1C86B3-C3BC-4814-B2EC-6606E778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FD0C86-27AD-4093-A687-BDECAB47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8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same error count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FBBA13-F0D2-4A43-B349-1B7E13B3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381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3EA853-B21F-4655-99EF-CF53165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385AA98-B1EF-42BF-8274-B26C7855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86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same recovery level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E1E54F-56AE-4C1C-83F4-15CE31DC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BB71D14-1CEE-4E1D-A798-45E4AF7F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5B711C2-4B69-49B7-A0B0-F69F1D68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340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Why parity is central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F974FCF-C27C-4EF5-92A0-0B01FC88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76900"/>
            <a:ext cx="10001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Parity blocks the simpler explanation that later under-reliance appears because the AI was actually worse overall. It makes timing the identifying variation.</a:t>
            </a:r>
          </a:p>
        </p:txBody>
      </p:sp>
    </p:spTree>
    <p:extLst>
      <p:ext uri="{BB962C8B-B14F-4D97-AF65-F5344CB8AC3E}">
        <p14:creationId xmlns:p14="http://schemas.microsoft.com/office/powerpoint/2010/main" val="38030780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C7DB2-93F6-499D-A55A-0A799E50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D86B5-BEB2-4D98-9101-686136B3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194F55-F7E9-4069-A9AB-CF15E30D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17EE3-12E2-4A2B-B689-D585929EC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5795E-7666-4279-A833-8AA15DCE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RQ TABLE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443DE0-FD79-467A-83C3-C07CDB69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52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Questions, manipulations, and comparisons line up cleanly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D03B2F-746D-44FB-BD74-4A5BDE5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This is the shortest route from hypothesis to identification while keeping parity visible.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B38FE-99B4-45E4-AFF0-70271E9F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5500"/>
            <a:ext cx="1619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163D2-30FC-4D6A-9D75-7BEBCEF9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RQ / 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01970-6AD8-4463-8D02-223C10F9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95500"/>
            <a:ext cx="2209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FCCC3A-8E6A-425C-B338-4D3EE010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198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Experimental manipulation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6A2E9-B803-4286-935F-9C48FCD5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1981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7D2AC-1EBD-4154-9850-1AD68446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9075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Key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3954B-699A-4090-9D6F-3CB5B18E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E8F5CF-4BCB-4C9F-B07E-A5DDAC3B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19075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Parity standard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73C91-F3E2-4CD4-99D1-A43F4CB5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74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41DA3E-014B-4EDA-A50F-6CD081BC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907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What the comparison identifies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30D23-623B-461D-A4B3-523075C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EDA40-5309-4561-9F5E-2862B03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  <a:p xmlns:a="http://schemas.openxmlformats.org/drawingml/2006/main">
            <a:pPr algn="l">
              <a:def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Dynamic updating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26CB9C-6277-465A-8727-228D3B90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90800"/>
            <a:ext cx="2209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2F283D-0056-4B84-BC45-97FB8728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860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Repeated self-versus-AI choice with full feedback every round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2917B-04F5-4948-82E2-1708A3E2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908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E7634-7DC8-4CB4-B0AE-31319D59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175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Rounds after AI outperforms self versus rounds after AI underperforms self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8FA1BE-500E-4FFE-84B0-5F02A155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908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BBAD1E-E787-4AA3-A0F5-23BFAEF8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Same task, same interface, and same feedback rule for everyone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A17997-A977-41AA-A64E-849E49DD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90800"/>
            <a:ext cx="2743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AEA8EB-5B10-4965-ACDE-458F665F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251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Whether reliance tracks relative performance at 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8ACFE0-9526-4E50-9D58-15CCA0E5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6515CD-FCE9-4277-AD89-393EA896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1390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H2-H3</a:t>
            </a:r>
          </a:p>
          <a:p xmlns:a="http://schemas.openxmlformats.org/drawingml/2006/main">
            <a:pPr algn="l">
              <a:def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Shock and recovery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321F3E-36B8-4D4E-92BC-4B8D5F42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467100"/>
            <a:ext cx="2209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749E5-9ABA-476E-8B80-76E07197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62350"/>
            <a:ext cx="1981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Concentrated AI errors followed by recovery versus balanced AI errors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3E910-5800-4F4E-AE22-FB107597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67100"/>
            <a:ext cx="1981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BD730D-1D4D-4D93-ACD7-5F63E647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623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Shock versus Balanced in post-shock and recovery rounds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917AA0-D0CD-4814-B493-849FA540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671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0816D8-718B-43D3-A8F2-718F5C06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562350"/>
            <a:ext cx="1771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Matched total payoff, mean payoff, error count, and later recovery level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82604D-BD0F-4792-A2AE-F1462B5F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467100"/>
            <a:ext cx="274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95DA91-7A2C-4C0B-AB00-91478877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623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Whether local failure lowers later adoption even after AI ability recovers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44FEF2F-E8DD-48B6-8ACF-48F40AFB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3409D19-8C4D-4211-9B68-48F23C1E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1390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H4</a:t>
            </a:r>
          </a:p>
          <a:p xmlns:a="http://schemas.openxmlformats.org/drawingml/2006/main">
            <a:pPr algn="l">
              <a:def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Timing heterogeneity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41AFBC-CBD5-4C42-89B6-61F4D3C7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457700"/>
            <a:ext cx="2209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8925A4-A491-4751-8E59-C9836B8A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552950"/>
            <a:ext cx="1981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Move the concentrated shock to an early block or a mid block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11BC1A-08E5-4027-82CE-0F3EDDC6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577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572231-71BC-4D48-BD89-37931516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1752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Early Shock versus Mid Shock versus Balanced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993D8B5-0A1C-4344-9BAA-CDA48392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5770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DEEAE7-D4D2-4F73-9523-C2712F41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52950"/>
            <a:ext cx="17716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Matched AI performance and matched shock intensity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199E25E-0FEA-48AA-8E79-77DD3AE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57700"/>
            <a:ext cx="2743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563654-748A-4C66-AF56-E44459F54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52950"/>
            <a:ext cx="2514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Whether first impressions differ from the breakdown of an established pattern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E00E937-CE03-4C53-AA7F-F88B6488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34000"/>
            <a:ext cx="1619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65D27F-65B1-47C2-B6B8-EEE7A30D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1390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H5-H6</a:t>
            </a:r>
          </a:p>
          <a:p xmlns:a="http://schemas.openxmlformats.org/drawingml/2006/main">
            <a:pPr algn="l">
              <a:def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Asymmetry and architecture shift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8E6A6B2-220E-4354-90C7-3C00E9C6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334000"/>
            <a:ext cx="2209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C3077B2-8A49-42EA-9664-8DDD7828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429250"/>
            <a:ext cx="19812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Record reactions to AI versus self failures and measure block-level architecture preference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013F331-9C13-476C-84D1-EBB40343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334000"/>
            <a:ext cx="1981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78373C9-065A-400E-9014-9C5FD23D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429250"/>
            <a:ext cx="1752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AI loss versus self loss; post-shock architecture preference across conditions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049743-E0C1-455A-A683-270F745F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340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F428BFD-DB80-425A-9D2F-CE770BC1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29250"/>
            <a:ext cx="17716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Same counterfactual feedback and same preference schedule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51911CD-DE59-4E19-8D26-C6EF7334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34000"/>
            <a:ext cx="2743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E8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AC1D4D-1B57-42EA-B51B-6BA5E363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429250"/>
            <a:ext cx="25146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Whether AI errors receive heavier negative weights and shift the preferred decision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662381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7080C-D642-484F-BA94-E028B5E3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-112395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0D0"/>
          </a:solidFill>
          <a:ln xmlns:a="http://schemas.openxmlformats.org/drawingml/2006/main" w="0">
            <a:solidFill>
              <a:srgbClr val="ECE0D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E26F4-51D8-4360-A6CA-B3C91C72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23950" y="5143500"/>
            <a:ext cx="2286000" cy="228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E7D9"/>
          </a:solidFill>
          <a:ln xmlns:a="http://schemas.openxmlformats.org/drawingml/2006/main" w="0">
            <a:solidFill>
              <a:srgbClr val="F1E7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A5AB6-FBF8-45A6-A891-69E8E3C1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1905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C6B8"/>
          </a:solidFill>
          <a:ln xmlns:a="http://schemas.openxmlformats.org/drawingml/2006/main" w="0">
            <a:solidFill>
              <a:srgbClr val="E8C6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76947-1D00-4492-9D42-B98E940C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57225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9C3D7-BDC5-42A1-B77B-2C02E67C3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1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EXPECTED 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4062C-A3F5-4212-9B45-4246FC72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9906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We expect a visible path before a mechanism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47A16-D8BA-4AF7-ACDD-D33CD8E9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The analysis should first show that reliance changes, then test whether the change is causal, and only then explain why recovery is incomplete.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F24D62-9D08-4C36-859A-F02C0180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5334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12D541-F56F-4C8E-B134-E37CE91C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Expected adoption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5AB4E-898A-4E14-9819-D4A66CEC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81450"/>
            <a:ext cx="1295400" cy="-571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78836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C059F-297C-48DE-B576-3D441703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924300"/>
            <a:ext cx="1581150" cy="762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78836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F4115-1E63-4474-B13B-F61F7B71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1466850" cy="-762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7883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2F467-9DD9-45AC-B566-1D9CACBCD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38600"/>
            <a:ext cx="1295400" cy="-190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89B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38503-F5A5-454B-857D-55F54203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19550"/>
            <a:ext cx="1581150" cy="7239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89B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AA2EAC-3362-4F1B-B2B4-FFD9CBBB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43450"/>
            <a:ext cx="1466850" cy="-2476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C89B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B987F-84CA-418B-AA91-8C44E1B12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1295400" cy="-1905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A3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3D88D-EB91-402D-BF54-3A324C44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76700"/>
            <a:ext cx="1581150" cy="8763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A3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A8980-20F4-458E-8D3F-76E905B40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1466850" cy="-26670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B45A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DC8CA-633C-4BF4-8E59-2B1DD29A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86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Adoption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64A00A-7CD6-4806-A154-043F69C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2445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25" b="1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Rounds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029779-CDCE-4939-8E3F-529B0A4D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051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8836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78836A"/>
                </a:solidFill>
                <a:latin typeface="Times New Roman"/>
                <a:ea typeface="Times New Roman"/>
                <a:cs typeface="Times New Roman"/>
              </a:rPr>
              <a:t>Balanced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28DBCD-F042-4072-BD15-B969528C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146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C89B4A"/>
                </a:solidFill>
                <a:latin typeface="Times New Roman"/>
                <a:ea typeface="Times New Roman"/>
                <a:cs typeface="Times New Roman"/>
              </a:rPr>
              <a:t>Mid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CF291C-2C42-46EB-8059-072BFD57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24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B45A3C"/>
                </a:solidFill>
                <a:latin typeface="Times New Roman"/>
                <a:ea typeface="Times New Roman"/>
                <a:cs typeface="Times New Roman"/>
              </a:rPr>
              <a:t>Early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163F61-8992-418B-878D-C7A5138D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5339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106FD3-C28D-4D4F-97E9-DBD01A40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9B4A"/>
          </a:solidFill>
          <a:ln xmlns:a="http://schemas.openxmlformats.org/drawingml/2006/main" w="0">
            <a:solidFill>
              <a:srgbClr val="C89B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7DD4BA-BB06-4274-9EA9-D556AC0EA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9555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Analysis hierarchy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F8AFEE-D1C0-4A7E-A881-503EFE9B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38450"/>
            <a:ext cx="42481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1  Visible path</a:t>
            </a:r>
          </a:p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Show that concentrated error creates a later adoption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2  Reduced-form identification</a:t>
            </a:r>
          </a:p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Use post-shock and recovery comparisons to test whether timing causes that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3  EWA-inspired mechanism</a:t>
            </a:r>
          </a:p>
          <a:p xmlns:a="http://schemas.openxmlformats.org/drawingml/2006/main">
            <a:pPr algn="l">
              <a:def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Only then ask whether AI errors receive heavier negative learning weights.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D05C99-2335-4CFD-94DF-D0DD970F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E8DCC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89A85B-EFEE-49F5-A241-592E71E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911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A3C"/>
          </a:solidFill>
          <a:ln xmlns:a="http://schemas.openxmlformats.org/drawingml/2006/main" w="0">
            <a:solidFill>
              <a:srgbClr val="B45A3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3505BB-2A14-437D-A59E-D6A661E9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054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1E2433"/>
                </a:solidFill>
                <a:latin typeface="Times New Roman"/>
                <a:ea typeface="Times New Roman"/>
                <a:cs typeface="Times New Roman"/>
              </a:rPr>
              <a:t>Expected contribution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08BDC4-9BC6-43DD-9CCE-834FBEB7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848350"/>
            <a:ext cx="100012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0">
                <a:solidFill>
                  <a:srgbClr val="5E6675"/>
                </a:solidFill>
                <a:latin typeface="Times New Roman"/>
                <a:ea typeface="Times New Roman"/>
                <a:cs typeface="Times New Roman"/>
              </a:rPr>
              <a:t>Paper 2 identifies path-dependent under-reliance and shows how local AI failure can reshape later decision architecture even when AI performance returns.</a:t>
            </a:r>
          </a:p>
        </p:txBody>
      </p:sp>
    </p:spTree>
    <p:extLst>
      <p:ext uri="{BB962C8B-B14F-4D97-AF65-F5344CB8AC3E}">
        <p14:creationId xmlns:p14="http://schemas.microsoft.com/office/powerpoint/2010/main" val="1815760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2026-07-05T18:57:37.5690000Z</dcterms:created>
  <dcterms:modified xsi:type="dcterms:W3CDTF">2026-07-05T18:57:37.5690000Z</dcterms:modified>
</coreProperties>
</file>