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61fbd0a5dc409e" /><Relationship Type="http://schemas.openxmlformats.org/officeDocument/2006/relationships/extended-properties" Target="/docProps/app.xml" Id="Rec10215c112844ca" /><Relationship Type="http://schemas.openxmlformats.org/officeDocument/2006/relationships/officeDocument" Target="/ppt/presentation.xml" Id="R028aacb90a624a85" /></Relationships>
</file>

<file path=ppt/presentation.xml><?xml version="1.0" encoding="utf-8"?>
<p:presentation xmlns:p="http://schemas.openxmlformats.org/presentationml/2006/main">
  <p:sldMasterIdLst>
    <p:sldMasterId xmlns:r="http://schemas.openxmlformats.org/officeDocument/2006/relationships" id="2147483648" r:id="R329c677d1ad14925"/>
  </p:sldMasterIdLst>
  <p:notesMasterIdLst>
    <p:notesMasterId xmlns:r="http://schemas.openxmlformats.org/officeDocument/2006/relationships" r:id="Rd8fdab33b1784757"/>
  </p:notesMasterIdLst>
  <p:sldIdLst>
    <p:sldId xmlns:r="http://schemas.openxmlformats.org/officeDocument/2006/relationships" id="256" r:id="Rbc1548adbfad4ec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873b40fd1242e5" /><Relationship Type="http://schemas.openxmlformats.org/officeDocument/2006/relationships/slideMaster" Target="/ppt/slideMasters/slideMaster1.xml" Id="R329c677d1ad14925" /><Relationship Type="http://schemas.openxmlformats.org/officeDocument/2006/relationships/notesMaster" Target="/ppt/notesMasters/notesMaster1.xml" Id="Rd8fdab33b1784757" /><Relationship Type="http://schemas.openxmlformats.org/officeDocument/2006/relationships/presProps" Target="/ppt/presProps.xml" Id="R79d6ba767b8b42d1" /><Relationship Type="http://schemas.openxmlformats.org/officeDocument/2006/relationships/tableStyles" Target="/ppt/tableStyles.xml" Id="R5967c9dfd81c42ac" /><Relationship Type="http://schemas.openxmlformats.org/officeDocument/2006/relationships/slide" Target="/ppt/slides/slide1.xml" Id="Rbc1548adbfad4e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8b30008ca64f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68b53c3f8544b1" /><Relationship Type="http://schemas.openxmlformats.org/officeDocument/2006/relationships/notesMaster" Target="/ppt/notesMasters/notesMaster1.xml" Id="R6ffd5be7da9a47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me use this slide to organize the literature in a way that leads directly to the experiment.</a:t>
            </a:r>
          </a:p>
          <a:p xmlns:a="http://schemas.openxmlformats.org/drawingml/2006/main">
            <a:r>
              <a:t>The first line of work tells us that AI is not just another source of information. In organizations, AI can enter the decision process at different points. It can analyze information, give advice, recommend an action, or become part of approval and execution. So for this paper, the important question is not only whether AI is accurate. It is where AI sits in the decision process, and how that position changes the human role.</a:t>
            </a:r>
          </a:p>
          <a:p xmlns:a="http://schemas.openxmlformats.org/drawingml/2006/main">
            <a:r>
              <a:t>The second line of work is about delegation and responsibility. The basic idea is simple: when a decision may create negative consequences, people sometimes use delegation to manage responsibility. If another person, a machine, or an AI system is involved, the final choice may feel less like a purely personal decision. This does not mean responsibility always disappears. But it gives us a reason to ask whether AI support can make people feel more like supervisors or approvers, rather than full decision owners.</a:t>
            </a:r>
          </a:p>
          <a:p xmlns:a="http://schemas.openxmlformats.org/drawingml/2006/main">
            <a:r>
              <a:t>The third line of work is accountability. This literature is especially important because formal accountability and felt accountability are not the same thing. A system can require disclosure, approval, an audit trail, or a written justification. But that does not automatically mean the person actually feels more responsible for the final choice.</a:t>
            </a:r>
          </a:p>
          <a:p xmlns:a="http://schemas.openxmlformats.org/drawingml/2006/main">
            <a:r>
              <a:t>So the gap I want to focus on is this: we know AI can be placed differently in a decision process, and we know accountability mechanisms can be designed around that process. But we do not yet know whether these designs really change decisional ownership and felt accountability before a high-risk action is taken.</a:t>
            </a:r>
          </a:p>
          <a:p xmlns:a="http://schemas.openxmlformats.org/drawingml/2006/main">
            <a:r>
              <a:t>That is why Paper 3 studies AI role proximity together with justification requirements. The key question is whether these responsibility designs re-anchor the final decision to the human, or whether they create a sense that the outcome is shared between the human and the AI system.</a:t>
            </a:r>
          </a:p>
          <a:p xmlns:a="http://schemas.openxmlformats.org/drawingml/2006/main">
            <a:r>
              <a:t>From here, I move from the literature to the specific research questions and experimental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dec4245f3146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70a48908de4182" /><Relationship Type="http://schemas.openxmlformats.org/officeDocument/2006/relationships/slideLayout" Target="/ppt/slideLayouts/slideLayout1.xml" Id="Rd6bed8e1f0db4a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bed8e1f0db4a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db49f5b0e64d28" /><Relationship Type="http://schemas.openxmlformats.org/officeDocument/2006/relationships/notesSlide" Target="/ppt/notesSlides/notesSlide1.xml" Id="Rbbbb91c36fc54b6b" /></Relationships>
</file>

<file path=ppt/slides/slide1.xml><?xml version="1.0" encoding="utf-8"?>
<p:sld xmlns:p="http://schemas.openxmlformats.org/presentationml/2006/main">
  <p:cSld>
    <p:bg>
      <p:bgPr>
        <a:solidFill xmlns:a="http://schemas.openxmlformats.org/drawingml/2006/main">
          <a:srgbClr val="F5F0E6"/>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784464-78CF-4DA5-A9CB-754B7756AA87}"/>
              </a:ext>
            </a:extLst>
          </p:cNvPr>
          <p:cNvSpPr>
            <a:spLocks xmlns:a="http://schemas.openxmlformats.org/drawingml/2006/main" noGrp="1"/>
          </p:cNvSpPr>
          <p:nvPr/>
        </p:nvSpPr>
        <p:spPr>
          <a:xfrm xmlns:a="http://schemas.openxmlformats.org/drawingml/2006/main">
            <a:off x="552450" y="457200"/>
            <a:ext cx="0" cy="5943600"/>
          </a:xfrm>
          <a:prstGeom xmlns:a="http://schemas.openxmlformats.org/drawingml/2006/main" prst="line">
            <a:avLst/>
          </a:prstGeom>
          <a:ln xmlns:a="http://schemas.openxmlformats.org/drawingml/2006/main" w="9525">
            <a:solidFill>
              <a:srgbClr val="D8CCBB"/>
            </a:solidFill>
            <a:prstDash val="solid"/>
          </a:ln>
        </p:spPr>
      </p:sp>
      <p:sp>
        <p:nvSpPr>
          <p:cNvPr id="2" name="">
            <a:extLst xmlns:a="http://schemas.openxmlformats.org/drawingml/2006/main">
              <a:ext uri="{FF2B5EF4-FFF2-40B4-BE49-F238E27FC236}">
                <a16:creationId xmlns:a16="http://schemas.microsoft.com/office/drawing/2014/main" id="{8B035603-F943-4F48-8ACE-8DAD5B6620D6}"/>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ellipse">
            <a:avLst/>
          </a:prstGeom>
          <a:solidFill xmlns:a="http://schemas.openxmlformats.org/drawingml/2006/main">
            <a:srgbClr val="B77845"/>
          </a:solidFill>
          <a:ln xmlns:a="http://schemas.openxmlformats.org/drawingml/2006/main" w="9525">
            <a:solidFill>
              <a:srgbClr val="B77845"/>
            </a:solidFill>
            <a:prstDash val="solid"/>
          </a:ln>
        </p:spPr>
      </p:sp>
      <p:sp>
        <p:nvSpPr>
          <p:cNvPr id="3" name="">
            <a:extLst xmlns:a="http://schemas.openxmlformats.org/drawingml/2006/main">
              <a:ext uri="{FF2B5EF4-FFF2-40B4-BE49-F238E27FC236}">
                <a16:creationId xmlns:a16="http://schemas.microsoft.com/office/drawing/2014/main" id="{F9F6EEDE-8DD9-4D49-AFAB-D3FC9C9AF9C3}"/>
              </a:ext>
            </a:extLst>
          </p:cNvPr>
          <p:cNvSpPr>
            <a:spLocks xmlns:a="http://schemas.openxmlformats.org/drawingml/2006/main" noGrp="1"/>
          </p:cNvSpPr>
          <p:nvPr/>
        </p:nvSpPr>
        <p:spPr>
          <a:xfrm xmlns:a="http://schemas.openxmlformats.org/drawingml/2006/main">
            <a:off x="1219200" y="590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B77845"/>
                </a:solidFill>
                <a:latin typeface="Times New Roman"/>
                <a:ea typeface="Times New Roman"/>
                <a:cs typeface="Times New Roman"/>
              </a:defRPr>
            </a:pPr>
            <a:r>
              <a:rPr sz="900" b="1" i="0">
                <a:solidFill>
                  <a:srgbClr val="B77845"/>
                </a:solidFill>
                <a:latin typeface="Times New Roman"/>
                <a:ea typeface="Times New Roman"/>
                <a:cs typeface="Times New Roman"/>
              </a:rPr>
              <a:t>EXISTING WORK</a:t>
            </a:r>
          </a:p>
        </p:txBody>
      </p:sp>
      <p:sp>
        <p:nvSpPr>
          <p:cNvPr id="4" name="">
            <a:extLst xmlns:a="http://schemas.openxmlformats.org/drawingml/2006/main">
              <a:ext uri="{FF2B5EF4-FFF2-40B4-BE49-F238E27FC236}">
                <a16:creationId xmlns:a16="http://schemas.microsoft.com/office/drawing/2014/main" id="{577B1872-6C56-4FD2-A7DC-9C09BE22C263}"/>
              </a:ext>
            </a:extLst>
          </p:cNvPr>
          <p:cNvSpPr>
            <a:spLocks xmlns:a="http://schemas.openxmlformats.org/drawingml/2006/main" noGrp="1"/>
          </p:cNvSpPr>
          <p:nvPr/>
        </p:nvSpPr>
        <p:spPr>
          <a:xfrm xmlns:a="http://schemas.openxmlformats.org/drawingml/2006/main">
            <a:off x="914400" y="952500"/>
            <a:ext cx="971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i="0">
                <a:solidFill>
                  <a:srgbClr val="231D17"/>
                </a:solidFill>
                <a:latin typeface="Times New Roman"/>
                <a:ea typeface="Times New Roman"/>
                <a:cs typeface="Times New Roman"/>
              </a:defRPr>
            </a:pPr>
            <a:r>
              <a:rPr sz="2550" b="1" i="0">
                <a:solidFill>
                  <a:srgbClr val="231D17"/>
                </a:solidFill>
                <a:latin typeface="Times New Roman"/>
                <a:ea typeface="Times New Roman"/>
                <a:cs typeface="Times New Roman"/>
              </a:rPr>
              <a:t>Responsibility Depends on How AI Enters the Decision Process</a:t>
            </a:r>
          </a:p>
        </p:txBody>
      </p:sp>
      <p:sp>
        <p:nvSpPr>
          <p:cNvPr id="5" name="">
            <a:extLst xmlns:a="http://schemas.openxmlformats.org/drawingml/2006/main">
              <a:ext uri="{FF2B5EF4-FFF2-40B4-BE49-F238E27FC236}">
                <a16:creationId xmlns:a16="http://schemas.microsoft.com/office/drawing/2014/main" id="{F137FB8E-1C68-44A3-B4B0-5DA15B525D58}"/>
              </a:ext>
            </a:extLst>
          </p:cNvPr>
          <p:cNvSpPr>
            <a:spLocks xmlns:a="http://schemas.openxmlformats.org/drawingml/2006/main" noGrp="1"/>
          </p:cNvSpPr>
          <p:nvPr/>
        </p:nvSpPr>
        <p:spPr>
          <a:xfrm xmlns:a="http://schemas.openxmlformats.org/drawingml/2006/main">
            <a:off x="914400" y="14668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899"/>
          </a:bodyPr>
          <a:lstStyle xmlns:a="http://schemas.openxmlformats.org/drawingml/2006/main"/>
          <a:p xmlns:a="http://schemas.openxmlformats.org/drawingml/2006/main">
            <a:pPr algn="l">
              <a:lnSpc>
                <a:spcPct val="105000"/>
              </a:lnSpc>
              <a:buNone/>
              <a:defRPr sz="1290" b="0" i="0">
                <a:solidFill>
                  <a:srgbClr val="6F665C"/>
                </a:solidFill>
                <a:latin typeface="Times New Roman"/>
                <a:ea typeface="Times New Roman"/>
                <a:cs typeface="Times New Roman"/>
              </a:defRPr>
            </a:pPr>
            <a:r>
              <a:rPr sz="1290" b="0" i="0">
                <a:solidFill>
                  <a:srgbClr val="6F665C"/>
                </a:solidFill>
                <a:latin typeface="Times New Roman"/>
                <a:ea typeface="Times New Roman"/>
                <a:cs typeface="Times New Roman"/>
              </a:rPr>
              <a:t>Three literatures motivate Paper 3: AI workflow design, delegation as responsibility management, and the gap between external accountability and felt accountability.</a:t>
            </a:r>
          </a:p>
        </p:txBody>
      </p:sp>
      <p:sp>
        <p:nvSpPr>
          <p:cNvPr id="6" name="">
            <a:extLst xmlns:a="http://schemas.openxmlformats.org/drawingml/2006/main">
              <a:ext uri="{FF2B5EF4-FFF2-40B4-BE49-F238E27FC236}">
                <a16:creationId xmlns:a16="http://schemas.microsoft.com/office/drawing/2014/main" id="{330F4B97-EC93-4DDA-8BF3-F2B5D501F653}"/>
              </a:ext>
            </a:extLst>
          </p:cNvPr>
          <p:cNvSpPr>
            <a:spLocks xmlns:a="http://schemas.openxmlformats.org/drawingml/2006/main" noGrp="1"/>
          </p:cNvSpPr>
          <p:nvPr/>
        </p:nvSpPr>
        <p:spPr>
          <a:xfrm xmlns:a="http://schemas.openxmlformats.org/drawingml/2006/main">
            <a:off x="914400" y="2114550"/>
            <a:ext cx="3257550" cy="302895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9525">
            <a:solidFill>
              <a:srgbClr val="D8CCBB"/>
            </a:solidFill>
            <a:prstDash val="solid"/>
          </a:ln>
        </p:spPr>
      </p:sp>
      <p:sp>
        <p:nvSpPr>
          <p:cNvPr id="7" name="">
            <a:extLst xmlns:a="http://schemas.openxmlformats.org/drawingml/2006/main">
              <a:ext uri="{FF2B5EF4-FFF2-40B4-BE49-F238E27FC236}">
                <a16:creationId xmlns:a16="http://schemas.microsoft.com/office/drawing/2014/main" id="{B590DFBE-33FF-47DD-91BF-7E3923AC7D54}"/>
              </a:ext>
            </a:extLst>
          </p:cNvPr>
          <p:cNvSpPr>
            <a:spLocks xmlns:a="http://schemas.openxmlformats.org/drawingml/2006/main" noGrp="1"/>
          </p:cNvSpPr>
          <p:nvPr/>
        </p:nvSpPr>
        <p:spPr>
          <a:xfrm xmlns:a="http://schemas.openxmlformats.org/drawingml/2006/main">
            <a:off x="914400" y="2114550"/>
            <a:ext cx="3257550" cy="76200"/>
          </a:xfrm>
          <a:prstGeom xmlns:a="http://schemas.openxmlformats.org/drawingml/2006/main" prst="rect">
            <a:avLst/>
          </a:prstGeom>
          <a:solidFill xmlns:a="http://schemas.openxmlformats.org/drawingml/2006/main">
            <a:srgbClr val="B77845"/>
          </a:solidFill>
          <a:ln xmlns:a="http://schemas.openxmlformats.org/drawingml/2006/main" w="0">
            <a:solidFill>
              <a:srgbClr val="B77845"/>
            </a:solidFill>
            <a:prstDash val="solid"/>
          </a:ln>
        </p:spPr>
      </p:sp>
      <p:sp>
        <p:nvSpPr>
          <p:cNvPr id="8" name="">
            <a:extLst xmlns:a="http://schemas.openxmlformats.org/drawingml/2006/main">
              <a:ext uri="{FF2B5EF4-FFF2-40B4-BE49-F238E27FC236}">
                <a16:creationId xmlns:a16="http://schemas.microsoft.com/office/drawing/2014/main" id="{AB1A1041-167B-434B-A396-005734C639E9}"/>
              </a:ext>
            </a:extLst>
          </p:cNvPr>
          <p:cNvSpPr>
            <a:spLocks xmlns:a="http://schemas.openxmlformats.org/drawingml/2006/main" noGrp="1"/>
          </p:cNvSpPr>
          <p:nvPr/>
        </p:nvSpPr>
        <p:spPr>
          <a:xfrm xmlns:a="http://schemas.openxmlformats.org/drawingml/2006/main">
            <a:off x="1123950" y="2381250"/>
            <a:ext cx="323850" cy="323850"/>
          </a:xfrm>
          <a:prstGeom xmlns:a="http://schemas.openxmlformats.org/drawingml/2006/main" prst="ellipse">
            <a:avLst/>
          </a:prstGeom>
          <a:solidFill xmlns:a="http://schemas.openxmlformats.org/drawingml/2006/main">
            <a:srgbClr val="B77845"/>
          </a:solidFill>
          <a:ln xmlns:a="http://schemas.openxmlformats.org/drawingml/2006/main" w="9525">
            <a:solidFill>
              <a:srgbClr val="B77845"/>
            </a:solidFill>
            <a:prstDash val="solid"/>
          </a:ln>
        </p:spPr>
      </p:sp>
      <p:sp>
        <p:nvSpPr>
          <p:cNvPr id="9" name="">
            <a:extLst xmlns:a="http://schemas.openxmlformats.org/drawingml/2006/main">
              <a:ext uri="{FF2B5EF4-FFF2-40B4-BE49-F238E27FC236}">
                <a16:creationId xmlns:a16="http://schemas.microsoft.com/office/drawing/2014/main" id="{8B466714-902C-4F62-96CC-3FCA4F31EF73}"/>
              </a:ext>
            </a:extLst>
          </p:cNvPr>
          <p:cNvSpPr>
            <a:spLocks xmlns:a="http://schemas.openxmlformats.org/drawingml/2006/main" noGrp="1"/>
          </p:cNvSpPr>
          <p:nvPr/>
        </p:nvSpPr>
        <p:spPr>
          <a:xfrm xmlns:a="http://schemas.openxmlformats.org/drawingml/2006/main">
            <a:off x="1228725" y="2466975"/>
            <a:ext cx="114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ctr">
              <a:lnSpc>
                <a:spcPct val="105000"/>
              </a:lnSpc>
              <a:buNone/>
              <a:defRPr sz="1050" b="1" i="0">
                <a:solidFill>
                  <a:srgbClr val="F5F0E6"/>
                </a:solidFill>
                <a:latin typeface="Times New Roman"/>
                <a:ea typeface="Times New Roman"/>
                <a:cs typeface="Times New Roman"/>
              </a:defRPr>
            </a:pPr>
            <a:r>
              <a:rPr sz="1050" b="1" i="0">
                <a:solidFill>
                  <a:srgbClr val="F5F0E6"/>
                </a:solidFill>
                <a:latin typeface="Times New Roman"/>
                <a:ea typeface="Times New Roman"/>
                <a:cs typeface="Times New Roman"/>
              </a:rPr>
              <a:t>1</a:t>
            </a:r>
          </a:p>
        </p:txBody>
      </p:sp>
      <p:sp>
        <p:nvSpPr>
          <p:cNvPr id="10" name="">
            <a:extLst xmlns:a="http://schemas.openxmlformats.org/drawingml/2006/main">
              <a:ext uri="{FF2B5EF4-FFF2-40B4-BE49-F238E27FC236}">
                <a16:creationId xmlns:a16="http://schemas.microsoft.com/office/drawing/2014/main" id="{16D87C48-53AE-4AAD-B8C1-CBB79CD2CF09}"/>
              </a:ext>
            </a:extLst>
          </p:cNvPr>
          <p:cNvSpPr>
            <a:spLocks xmlns:a="http://schemas.openxmlformats.org/drawingml/2006/main" noGrp="1"/>
          </p:cNvSpPr>
          <p:nvPr/>
        </p:nvSpPr>
        <p:spPr>
          <a:xfrm xmlns:a="http://schemas.openxmlformats.org/drawingml/2006/main">
            <a:off x="1600200" y="23526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231D17"/>
                </a:solidFill>
                <a:latin typeface="Times New Roman"/>
                <a:ea typeface="Times New Roman"/>
                <a:cs typeface="Times New Roman"/>
              </a:defRPr>
            </a:pPr>
            <a:r>
              <a:rPr sz="1500" b="1" i="0">
                <a:solidFill>
                  <a:srgbClr val="231D17"/>
                </a:solidFill>
                <a:latin typeface="Times New Roman"/>
                <a:ea typeface="Times New Roman"/>
                <a:cs typeface="Times New Roman"/>
              </a:rPr>
              <a:t>AI workflow position is a design variable</a:t>
            </a:r>
          </a:p>
        </p:txBody>
      </p:sp>
      <p:sp>
        <p:nvSpPr>
          <p:cNvPr id="11" name="">
            <a:extLst xmlns:a="http://schemas.openxmlformats.org/drawingml/2006/main">
              <a:ext uri="{FF2B5EF4-FFF2-40B4-BE49-F238E27FC236}">
                <a16:creationId xmlns:a16="http://schemas.microsoft.com/office/drawing/2014/main" id="{EADAC6E5-F613-4D6C-9E3F-A7A23051BCC7}"/>
              </a:ext>
            </a:extLst>
          </p:cNvPr>
          <p:cNvSpPr>
            <a:spLocks xmlns:a="http://schemas.openxmlformats.org/drawingml/2006/main" noGrp="1"/>
          </p:cNvSpPr>
          <p:nvPr/>
        </p:nvSpPr>
        <p:spPr>
          <a:xfrm xmlns:a="http://schemas.openxmlformats.org/drawingml/2006/main">
            <a:off x="1143000" y="2990850"/>
            <a:ext cx="2800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133" b="0" i="0">
                <a:solidFill>
                  <a:srgbClr val="231D17"/>
                </a:solidFill>
                <a:latin typeface="Times New Roman"/>
                <a:ea typeface="Times New Roman"/>
                <a:cs typeface="Times New Roman"/>
              </a:defRPr>
            </a:pPr>
            <a:r>
              <a:rPr sz="1133" b="0" i="0">
                <a:solidFill>
                  <a:srgbClr val="231D17"/>
                </a:solidFill>
                <a:latin typeface="Times New Roman"/>
                <a:ea typeface="Times New Roman"/>
                <a:cs typeface="Times New Roman"/>
              </a:rPr>
              <a:t>AI does not merely improve or replace prediction. It can enter before, during, or after human judgment, changing roles, authority, and process control.</a:t>
            </a:r>
          </a:p>
        </p:txBody>
      </p:sp>
      <p:sp>
        <p:nvSpPr>
          <p:cNvPr id="12" name="">
            <a:extLst xmlns:a="http://schemas.openxmlformats.org/drawingml/2006/main">
              <a:ext uri="{FF2B5EF4-FFF2-40B4-BE49-F238E27FC236}">
                <a16:creationId xmlns:a16="http://schemas.microsoft.com/office/drawing/2014/main" id="{6D87073F-1F97-48FB-BB06-BE19952ACEDB}"/>
              </a:ext>
            </a:extLst>
          </p:cNvPr>
          <p:cNvSpPr>
            <a:spLocks xmlns:a="http://schemas.openxmlformats.org/drawingml/2006/main" noGrp="1"/>
          </p:cNvSpPr>
          <p:nvPr/>
        </p:nvSpPr>
        <p:spPr>
          <a:xfrm xmlns:a="http://schemas.openxmlformats.org/drawingml/2006/main">
            <a:off x="1143000" y="382905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30" b="0" i="1">
                <a:solidFill>
                  <a:srgbClr val="6F665C"/>
                </a:solidFill>
                <a:latin typeface="Times New Roman"/>
                <a:ea typeface="Times New Roman"/>
                <a:cs typeface="Times New Roman"/>
              </a:defRPr>
            </a:pPr>
            <a:r>
              <a:rPr sz="930" b="0" i="1">
                <a:solidFill>
                  <a:srgbClr val="6F665C"/>
                </a:solidFill>
                <a:latin typeface="Times New Roman"/>
                <a:ea typeface="Times New Roman"/>
                <a:cs typeface="Times New Roman"/>
              </a:rPr>
              <a:t>(Shrestha et al., 2019; Raisch &amp; Krakowski, 2021; Yin et al., 2025; Krakowski et al., 2026)</a:t>
            </a:r>
          </a:p>
        </p:txBody>
      </p:sp>
      <p:sp>
        <p:nvSpPr>
          <p:cNvPr id="13" name="">
            <a:extLst xmlns:a="http://schemas.openxmlformats.org/drawingml/2006/main">
              <a:ext uri="{FF2B5EF4-FFF2-40B4-BE49-F238E27FC236}">
                <a16:creationId xmlns:a16="http://schemas.microsoft.com/office/drawing/2014/main" id="{F9A32072-F225-42B3-B803-F56871DCA717}"/>
              </a:ext>
            </a:extLst>
          </p:cNvPr>
          <p:cNvSpPr>
            <a:spLocks xmlns:a="http://schemas.openxmlformats.org/drawingml/2006/main" noGrp="1"/>
          </p:cNvSpPr>
          <p:nvPr/>
        </p:nvSpPr>
        <p:spPr>
          <a:xfrm xmlns:a="http://schemas.openxmlformats.org/drawingml/2006/main">
            <a:off x="1123950" y="4362450"/>
            <a:ext cx="2838450" cy="552450"/>
          </a:xfrm>
          <a:prstGeom xmlns:a="http://schemas.openxmlformats.org/drawingml/2006/main" prst="roundRect">
            <a:avLst>
              <a:gd name="adj" fmla="val 10345"/>
            </a:avLst>
          </a:prstGeom>
          <a:solidFill xmlns:a="http://schemas.openxmlformats.org/drawingml/2006/main">
            <a:srgbClr val="F3EBDD"/>
          </a:solidFill>
          <a:ln xmlns:a="http://schemas.openxmlformats.org/drawingml/2006/main" w="9525">
            <a:solidFill>
              <a:srgbClr val="E4D5C2"/>
            </a:solidFill>
            <a:prstDash val="solid"/>
          </a:ln>
        </p:spPr>
      </p:sp>
      <p:sp>
        <p:nvSpPr>
          <p:cNvPr id="14" name="">
            <a:extLst xmlns:a="http://schemas.openxmlformats.org/drawingml/2006/main">
              <a:ext uri="{FF2B5EF4-FFF2-40B4-BE49-F238E27FC236}">
                <a16:creationId xmlns:a16="http://schemas.microsoft.com/office/drawing/2014/main" id="{0C97B211-BBC7-448B-87F0-05133292A542}"/>
              </a:ext>
            </a:extLst>
          </p:cNvPr>
          <p:cNvSpPr>
            <a:spLocks xmlns:a="http://schemas.openxmlformats.org/drawingml/2006/main" noGrp="1"/>
          </p:cNvSpPr>
          <p:nvPr/>
        </p:nvSpPr>
        <p:spPr>
          <a:xfrm xmlns:a="http://schemas.openxmlformats.org/drawingml/2006/main">
            <a:off x="1295400" y="44767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92"/>
          </a:bodyPr>
          <a:lstStyle xmlns:a="http://schemas.openxmlformats.org/drawingml/2006/main"/>
          <a:p xmlns:a="http://schemas.openxmlformats.org/drawingml/2006/main">
            <a:pPr algn="ctr">
              <a:lnSpc>
                <a:spcPct val="105000"/>
              </a:lnSpc>
              <a:buNone/>
              <a:defRPr sz="1013" b="1" i="0">
                <a:solidFill>
                  <a:srgbClr val="231D17"/>
                </a:solidFill>
                <a:latin typeface="Times New Roman"/>
                <a:ea typeface="Times New Roman"/>
                <a:cs typeface="Times New Roman"/>
              </a:defRPr>
            </a:pPr>
            <a:r>
              <a:rPr sz="1013" b="1" i="0">
                <a:solidFill>
                  <a:srgbClr val="231D17"/>
                </a:solidFill>
                <a:latin typeface="Times New Roman"/>
                <a:ea typeface="Times New Roman"/>
                <a:cs typeface="Times New Roman"/>
              </a:rPr>
              <a:t>Paper 3 treats AI role position as responsibility architecture.</a:t>
            </a:r>
          </a:p>
        </p:txBody>
      </p:sp>
      <p:sp>
        <p:nvSpPr>
          <p:cNvPr id="15" name="">
            <a:extLst xmlns:a="http://schemas.openxmlformats.org/drawingml/2006/main">
              <a:ext uri="{FF2B5EF4-FFF2-40B4-BE49-F238E27FC236}">
                <a16:creationId xmlns:a16="http://schemas.microsoft.com/office/drawing/2014/main" id="{3A9BFA70-3C75-4CBF-8CDC-98117A1D309A}"/>
              </a:ext>
            </a:extLst>
          </p:cNvPr>
          <p:cNvSpPr>
            <a:spLocks xmlns:a="http://schemas.openxmlformats.org/drawingml/2006/main" noGrp="1"/>
          </p:cNvSpPr>
          <p:nvPr/>
        </p:nvSpPr>
        <p:spPr>
          <a:xfrm xmlns:a="http://schemas.openxmlformats.org/drawingml/2006/main">
            <a:off x="4457700" y="2114550"/>
            <a:ext cx="3257550" cy="302895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9525">
            <a:solidFill>
              <a:srgbClr val="D8CCBB"/>
            </a:solidFill>
            <a:prstDash val="solid"/>
          </a:ln>
        </p:spPr>
      </p:sp>
      <p:sp>
        <p:nvSpPr>
          <p:cNvPr id="16" name="">
            <a:extLst xmlns:a="http://schemas.openxmlformats.org/drawingml/2006/main">
              <a:ext uri="{FF2B5EF4-FFF2-40B4-BE49-F238E27FC236}">
                <a16:creationId xmlns:a16="http://schemas.microsoft.com/office/drawing/2014/main" id="{A80CD1F0-C5BA-45D2-B9E4-C4676C6022A8}"/>
              </a:ext>
            </a:extLst>
          </p:cNvPr>
          <p:cNvSpPr>
            <a:spLocks xmlns:a="http://schemas.openxmlformats.org/drawingml/2006/main" noGrp="1"/>
          </p:cNvSpPr>
          <p:nvPr/>
        </p:nvSpPr>
        <p:spPr>
          <a:xfrm xmlns:a="http://schemas.openxmlformats.org/drawingml/2006/main">
            <a:off x="4457700" y="2114550"/>
            <a:ext cx="3257550" cy="76200"/>
          </a:xfrm>
          <a:prstGeom xmlns:a="http://schemas.openxmlformats.org/drawingml/2006/main" prst="rect">
            <a:avLst/>
          </a:prstGeom>
          <a:solidFill xmlns:a="http://schemas.openxmlformats.org/drawingml/2006/main">
            <a:srgbClr val="818A68"/>
          </a:solidFill>
          <a:ln xmlns:a="http://schemas.openxmlformats.org/drawingml/2006/main" w="0">
            <a:solidFill>
              <a:srgbClr val="818A68"/>
            </a:solidFill>
            <a:prstDash val="solid"/>
          </a:ln>
        </p:spPr>
      </p:sp>
      <p:sp>
        <p:nvSpPr>
          <p:cNvPr id="17" name="">
            <a:extLst xmlns:a="http://schemas.openxmlformats.org/drawingml/2006/main">
              <a:ext uri="{FF2B5EF4-FFF2-40B4-BE49-F238E27FC236}">
                <a16:creationId xmlns:a16="http://schemas.microsoft.com/office/drawing/2014/main" id="{DFE1C42D-A8CB-4D83-9CF9-43EFAE0299F0}"/>
              </a:ext>
            </a:extLst>
          </p:cNvPr>
          <p:cNvSpPr>
            <a:spLocks xmlns:a="http://schemas.openxmlformats.org/drawingml/2006/main" noGrp="1"/>
          </p:cNvSpPr>
          <p:nvPr/>
        </p:nvSpPr>
        <p:spPr>
          <a:xfrm xmlns:a="http://schemas.openxmlformats.org/drawingml/2006/main">
            <a:off x="4667250" y="2381250"/>
            <a:ext cx="323850" cy="323850"/>
          </a:xfrm>
          <a:prstGeom xmlns:a="http://schemas.openxmlformats.org/drawingml/2006/main" prst="ellipse">
            <a:avLst/>
          </a:prstGeom>
          <a:solidFill xmlns:a="http://schemas.openxmlformats.org/drawingml/2006/main">
            <a:srgbClr val="818A68"/>
          </a:solidFill>
          <a:ln xmlns:a="http://schemas.openxmlformats.org/drawingml/2006/main" w="9525">
            <a:solidFill>
              <a:srgbClr val="818A68"/>
            </a:solidFill>
            <a:prstDash val="solid"/>
          </a:ln>
        </p:spPr>
      </p:sp>
      <p:sp>
        <p:nvSpPr>
          <p:cNvPr id="18" name="">
            <a:extLst xmlns:a="http://schemas.openxmlformats.org/drawingml/2006/main">
              <a:ext uri="{FF2B5EF4-FFF2-40B4-BE49-F238E27FC236}">
                <a16:creationId xmlns:a16="http://schemas.microsoft.com/office/drawing/2014/main" id="{61C8AB04-C866-47C1-8C91-5EA4D92DEE8E}"/>
              </a:ext>
            </a:extLst>
          </p:cNvPr>
          <p:cNvSpPr>
            <a:spLocks xmlns:a="http://schemas.openxmlformats.org/drawingml/2006/main" noGrp="1"/>
          </p:cNvSpPr>
          <p:nvPr/>
        </p:nvSpPr>
        <p:spPr>
          <a:xfrm xmlns:a="http://schemas.openxmlformats.org/drawingml/2006/main">
            <a:off x="4772025" y="2466975"/>
            <a:ext cx="114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ctr">
              <a:lnSpc>
                <a:spcPct val="105000"/>
              </a:lnSpc>
              <a:buNone/>
              <a:defRPr sz="1050" b="1" i="0">
                <a:solidFill>
                  <a:srgbClr val="F5F0E6"/>
                </a:solidFill>
                <a:latin typeface="Times New Roman"/>
                <a:ea typeface="Times New Roman"/>
                <a:cs typeface="Times New Roman"/>
              </a:defRPr>
            </a:pPr>
            <a:r>
              <a:rPr sz="1050" b="1" i="0">
                <a:solidFill>
                  <a:srgbClr val="F5F0E6"/>
                </a:solidFill>
                <a:latin typeface="Times New Roman"/>
                <a:ea typeface="Times New Roman"/>
                <a:cs typeface="Times New Roman"/>
              </a:rPr>
              <a:t>2</a:t>
            </a:r>
          </a:p>
        </p:txBody>
      </p:sp>
      <p:sp>
        <p:nvSpPr>
          <p:cNvPr id="19" name="">
            <a:extLst xmlns:a="http://schemas.openxmlformats.org/drawingml/2006/main">
              <a:ext uri="{FF2B5EF4-FFF2-40B4-BE49-F238E27FC236}">
                <a16:creationId xmlns:a16="http://schemas.microsoft.com/office/drawing/2014/main" id="{9BC8360C-A145-485B-BF07-72688F44B144}"/>
              </a:ext>
            </a:extLst>
          </p:cNvPr>
          <p:cNvSpPr>
            <a:spLocks xmlns:a="http://schemas.openxmlformats.org/drawingml/2006/main" noGrp="1"/>
          </p:cNvSpPr>
          <p:nvPr/>
        </p:nvSpPr>
        <p:spPr>
          <a:xfrm xmlns:a="http://schemas.openxmlformats.org/drawingml/2006/main">
            <a:off x="5143500" y="23526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231D17"/>
                </a:solidFill>
                <a:latin typeface="Times New Roman"/>
                <a:ea typeface="Times New Roman"/>
                <a:cs typeface="Times New Roman"/>
              </a:defRPr>
            </a:pPr>
            <a:r>
              <a:rPr sz="1500" b="1" i="0">
                <a:solidFill>
                  <a:srgbClr val="231D17"/>
                </a:solidFill>
                <a:latin typeface="Times New Roman"/>
                <a:ea typeface="Times New Roman"/>
                <a:cs typeface="Times New Roman"/>
              </a:rPr>
              <a:t>Delegation can shift blame and moral cost</a:t>
            </a:r>
          </a:p>
        </p:txBody>
      </p:sp>
      <p:sp>
        <p:nvSpPr>
          <p:cNvPr id="20" name="">
            <a:extLst xmlns:a="http://schemas.openxmlformats.org/drawingml/2006/main">
              <a:ext uri="{FF2B5EF4-FFF2-40B4-BE49-F238E27FC236}">
                <a16:creationId xmlns:a16="http://schemas.microsoft.com/office/drawing/2014/main" id="{D7920705-D9EB-4F92-BB6A-8EA71D67F34D}"/>
              </a:ext>
            </a:extLst>
          </p:cNvPr>
          <p:cNvSpPr>
            <a:spLocks xmlns:a="http://schemas.openxmlformats.org/drawingml/2006/main" noGrp="1"/>
          </p:cNvSpPr>
          <p:nvPr/>
        </p:nvSpPr>
        <p:spPr>
          <a:xfrm xmlns:a="http://schemas.openxmlformats.org/drawingml/2006/main">
            <a:off x="4686300" y="2990850"/>
            <a:ext cx="2800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133" b="0" i="0">
                <a:solidFill>
                  <a:srgbClr val="231D17"/>
                </a:solidFill>
                <a:latin typeface="Times New Roman"/>
                <a:ea typeface="Times New Roman"/>
                <a:cs typeface="Times New Roman"/>
              </a:defRPr>
            </a:pPr>
            <a:r>
              <a:rPr sz="1133" b="0" i="0">
                <a:solidFill>
                  <a:srgbClr val="231D17"/>
                </a:solidFill>
                <a:latin typeface="Times New Roman"/>
                <a:ea typeface="Times New Roman"/>
                <a:cs typeface="Times New Roman"/>
              </a:rPr>
              <a:t>Delegating difficult choices can reduce personal responsibility and redistribute blame across users, systems, programmers, and machine intermediaries.</a:t>
            </a:r>
          </a:p>
        </p:txBody>
      </p:sp>
      <p:sp>
        <p:nvSpPr>
          <p:cNvPr id="21" name="">
            <a:extLst xmlns:a="http://schemas.openxmlformats.org/drawingml/2006/main">
              <a:ext uri="{FF2B5EF4-FFF2-40B4-BE49-F238E27FC236}">
                <a16:creationId xmlns:a16="http://schemas.microsoft.com/office/drawing/2014/main" id="{32C284DF-8289-4D37-BDD1-383A2F126D61}"/>
              </a:ext>
            </a:extLst>
          </p:cNvPr>
          <p:cNvSpPr>
            <a:spLocks xmlns:a="http://schemas.openxmlformats.org/drawingml/2006/main" noGrp="1"/>
          </p:cNvSpPr>
          <p:nvPr/>
        </p:nvSpPr>
        <p:spPr>
          <a:xfrm xmlns:a="http://schemas.openxmlformats.org/drawingml/2006/main">
            <a:off x="4686300" y="382905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30" b="0" i="1">
                <a:solidFill>
                  <a:srgbClr val="6F665C"/>
                </a:solidFill>
                <a:latin typeface="Times New Roman"/>
                <a:ea typeface="Times New Roman"/>
                <a:cs typeface="Times New Roman"/>
              </a:defRPr>
            </a:pPr>
            <a:r>
              <a:rPr sz="930" b="0" i="1">
                <a:solidFill>
                  <a:srgbClr val="6F665C"/>
                </a:solidFill>
                <a:latin typeface="Times New Roman"/>
                <a:ea typeface="Times New Roman"/>
                <a:cs typeface="Times New Roman"/>
              </a:rPr>
              <a:t>(Steffel et al., 2016; Kirchkamp &amp; Strobel, 2019; Chevrier &amp; Teixeira, 2024; Kobis et al., 2025)</a:t>
            </a:r>
          </a:p>
        </p:txBody>
      </p:sp>
      <p:sp>
        <p:nvSpPr>
          <p:cNvPr id="22" name="">
            <a:extLst xmlns:a="http://schemas.openxmlformats.org/drawingml/2006/main">
              <a:ext uri="{FF2B5EF4-FFF2-40B4-BE49-F238E27FC236}">
                <a16:creationId xmlns:a16="http://schemas.microsoft.com/office/drawing/2014/main" id="{B450A93F-9DD2-4005-AF1B-E7C9B0432A2D}"/>
              </a:ext>
            </a:extLst>
          </p:cNvPr>
          <p:cNvSpPr>
            <a:spLocks xmlns:a="http://schemas.openxmlformats.org/drawingml/2006/main" noGrp="1"/>
          </p:cNvSpPr>
          <p:nvPr/>
        </p:nvSpPr>
        <p:spPr>
          <a:xfrm xmlns:a="http://schemas.openxmlformats.org/drawingml/2006/main">
            <a:off x="4667250" y="4362450"/>
            <a:ext cx="2838450" cy="552450"/>
          </a:xfrm>
          <a:prstGeom xmlns:a="http://schemas.openxmlformats.org/drawingml/2006/main" prst="roundRect">
            <a:avLst>
              <a:gd name="adj" fmla="val 10345"/>
            </a:avLst>
          </a:prstGeom>
          <a:solidFill xmlns:a="http://schemas.openxmlformats.org/drawingml/2006/main">
            <a:srgbClr val="F3EBDD"/>
          </a:solidFill>
          <a:ln xmlns:a="http://schemas.openxmlformats.org/drawingml/2006/main" w="9525">
            <a:solidFill>
              <a:srgbClr val="E4D5C2"/>
            </a:solidFill>
            <a:prstDash val="solid"/>
          </a:ln>
        </p:spPr>
      </p:sp>
      <p:sp>
        <p:nvSpPr>
          <p:cNvPr id="23" name="">
            <a:extLst xmlns:a="http://schemas.openxmlformats.org/drawingml/2006/main">
              <a:ext uri="{FF2B5EF4-FFF2-40B4-BE49-F238E27FC236}">
                <a16:creationId xmlns:a16="http://schemas.microsoft.com/office/drawing/2014/main" id="{BF52FD4C-1A70-4007-AB50-2FB08CA015D7}"/>
              </a:ext>
            </a:extLst>
          </p:cNvPr>
          <p:cNvSpPr>
            <a:spLocks xmlns:a="http://schemas.openxmlformats.org/drawingml/2006/main" noGrp="1"/>
          </p:cNvSpPr>
          <p:nvPr/>
        </p:nvSpPr>
        <p:spPr>
          <a:xfrm xmlns:a="http://schemas.openxmlformats.org/drawingml/2006/main">
            <a:off x="4838700" y="44767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92"/>
          </a:bodyPr>
          <a:lstStyle xmlns:a="http://schemas.openxmlformats.org/drawingml/2006/main"/>
          <a:p xmlns:a="http://schemas.openxmlformats.org/drawingml/2006/main">
            <a:pPr algn="ctr">
              <a:lnSpc>
                <a:spcPct val="105000"/>
              </a:lnSpc>
              <a:buNone/>
              <a:defRPr sz="1013" b="1" i="0">
                <a:solidFill>
                  <a:srgbClr val="231D17"/>
                </a:solidFill>
                <a:latin typeface="Times New Roman"/>
                <a:ea typeface="Times New Roman"/>
                <a:cs typeface="Times New Roman"/>
              </a:defRPr>
            </a:pPr>
            <a:r>
              <a:rPr sz="1013" b="1" i="0">
                <a:solidFill>
                  <a:srgbClr val="231D17"/>
                </a:solidFill>
                <a:latin typeface="Times New Roman"/>
                <a:ea typeface="Times New Roman"/>
                <a:cs typeface="Times New Roman"/>
              </a:rPr>
              <a:t>The question is when AI support weakens decision ownership before action.</a:t>
            </a:r>
          </a:p>
        </p:txBody>
      </p:sp>
      <p:sp>
        <p:nvSpPr>
          <p:cNvPr id="24" name="">
            <a:extLst xmlns:a="http://schemas.openxmlformats.org/drawingml/2006/main">
              <a:ext uri="{FF2B5EF4-FFF2-40B4-BE49-F238E27FC236}">
                <a16:creationId xmlns:a16="http://schemas.microsoft.com/office/drawing/2014/main" id="{A5117A4A-82B1-46A3-8C28-D96383EB49DE}"/>
              </a:ext>
            </a:extLst>
          </p:cNvPr>
          <p:cNvSpPr>
            <a:spLocks xmlns:a="http://schemas.openxmlformats.org/drawingml/2006/main" noGrp="1"/>
          </p:cNvSpPr>
          <p:nvPr/>
        </p:nvSpPr>
        <p:spPr>
          <a:xfrm xmlns:a="http://schemas.openxmlformats.org/drawingml/2006/main">
            <a:off x="8001000" y="2114550"/>
            <a:ext cx="3257550" cy="302895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9525">
            <a:solidFill>
              <a:srgbClr val="D8CCBB"/>
            </a:solidFill>
            <a:prstDash val="solid"/>
          </a:ln>
        </p:spPr>
      </p:sp>
      <p:sp>
        <p:nvSpPr>
          <p:cNvPr id="25" name="">
            <a:extLst xmlns:a="http://schemas.openxmlformats.org/drawingml/2006/main">
              <a:ext uri="{FF2B5EF4-FFF2-40B4-BE49-F238E27FC236}">
                <a16:creationId xmlns:a16="http://schemas.microsoft.com/office/drawing/2014/main" id="{2CBBB2F6-1503-438A-84A2-C8F914EEA9DF}"/>
              </a:ext>
            </a:extLst>
          </p:cNvPr>
          <p:cNvSpPr>
            <a:spLocks xmlns:a="http://schemas.openxmlformats.org/drawingml/2006/main" noGrp="1"/>
          </p:cNvSpPr>
          <p:nvPr/>
        </p:nvSpPr>
        <p:spPr>
          <a:xfrm xmlns:a="http://schemas.openxmlformats.org/drawingml/2006/main">
            <a:off x="8001000" y="2114550"/>
            <a:ext cx="3257550" cy="76200"/>
          </a:xfrm>
          <a:prstGeom xmlns:a="http://schemas.openxmlformats.org/drawingml/2006/main" prst="rect">
            <a:avLst/>
          </a:prstGeom>
          <a:solidFill xmlns:a="http://schemas.openxmlformats.org/drawingml/2006/main">
            <a:srgbClr val="23384A"/>
          </a:solidFill>
          <a:ln xmlns:a="http://schemas.openxmlformats.org/drawingml/2006/main" w="0">
            <a:solidFill>
              <a:srgbClr val="23384A"/>
            </a:solidFill>
            <a:prstDash val="solid"/>
          </a:ln>
        </p:spPr>
      </p:sp>
      <p:sp>
        <p:nvSpPr>
          <p:cNvPr id="26" name="">
            <a:extLst xmlns:a="http://schemas.openxmlformats.org/drawingml/2006/main">
              <a:ext uri="{FF2B5EF4-FFF2-40B4-BE49-F238E27FC236}">
                <a16:creationId xmlns:a16="http://schemas.microsoft.com/office/drawing/2014/main" id="{9ED556DA-3E06-455D-853B-E7610E7E850E}"/>
              </a:ext>
            </a:extLst>
          </p:cNvPr>
          <p:cNvSpPr>
            <a:spLocks xmlns:a="http://schemas.openxmlformats.org/drawingml/2006/main" noGrp="1"/>
          </p:cNvSpPr>
          <p:nvPr/>
        </p:nvSpPr>
        <p:spPr>
          <a:xfrm xmlns:a="http://schemas.openxmlformats.org/drawingml/2006/main">
            <a:off x="8210550" y="2381250"/>
            <a:ext cx="323850" cy="323850"/>
          </a:xfrm>
          <a:prstGeom xmlns:a="http://schemas.openxmlformats.org/drawingml/2006/main" prst="ellipse">
            <a:avLst/>
          </a:prstGeom>
          <a:solidFill xmlns:a="http://schemas.openxmlformats.org/drawingml/2006/main">
            <a:srgbClr val="23384A"/>
          </a:solidFill>
          <a:ln xmlns:a="http://schemas.openxmlformats.org/drawingml/2006/main" w="9525">
            <a:solidFill>
              <a:srgbClr val="23384A"/>
            </a:solidFill>
            <a:prstDash val="solid"/>
          </a:ln>
        </p:spPr>
      </p:sp>
      <p:sp>
        <p:nvSpPr>
          <p:cNvPr id="27" name="">
            <a:extLst xmlns:a="http://schemas.openxmlformats.org/drawingml/2006/main">
              <a:ext uri="{FF2B5EF4-FFF2-40B4-BE49-F238E27FC236}">
                <a16:creationId xmlns:a16="http://schemas.microsoft.com/office/drawing/2014/main" id="{C926FA36-D729-4B99-BBC7-0A5D645C7A94}"/>
              </a:ext>
            </a:extLst>
          </p:cNvPr>
          <p:cNvSpPr>
            <a:spLocks xmlns:a="http://schemas.openxmlformats.org/drawingml/2006/main" noGrp="1"/>
          </p:cNvSpPr>
          <p:nvPr/>
        </p:nvSpPr>
        <p:spPr>
          <a:xfrm xmlns:a="http://schemas.openxmlformats.org/drawingml/2006/main">
            <a:off x="8315325" y="2466975"/>
            <a:ext cx="114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ctr">
              <a:lnSpc>
                <a:spcPct val="105000"/>
              </a:lnSpc>
              <a:buNone/>
              <a:defRPr sz="1050" b="1" i="0">
                <a:solidFill>
                  <a:srgbClr val="F5F0E6"/>
                </a:solidFill>
                <a:latin typeface="Times New Roman"/>
                <a:ea typeface="Times New Roman"/>
                <a:cs typeface="Times New Roman"/>
              </a:defRPr>
            </a:pPr>
            <a:r>
              <a:rPr sz="1050" b="1" i="0">
                <a:solidFill>
                  <a:srgbClr val="F5F0E6"/>
                </a:solidFill>
                <a:latin typeface="Times New Roman"/>
                <a:ea typeface="Times New Roman"/>
                <a:cs typeface="Times New Roman"/>
              </a:rPr>
              <a:t>3</a:t>
            </a:r>
          </a:p>
        </p:txBody>
      </p:sp>
      <p:sp>
        <p:nvSpPr>
          <p:cNvPr id="28" name="">
            <a:extLst xmlns:a="http://schemas.openxmlformats.org/drawingml/2006/main">
              <a:ext uri="{FF2B5EF4-FFF2-40B4-BE49-F238E27FC236}">
                <a16:creationId xmlns:a16="http://schemas.microsoft.com/office/drawing/2014/main" id="{293E2C26-8534-44F5-8270-9D36B1BAA9D9}"/>
              </a:ext>
            </a:extLst>
          </p:cNvPr>
          <p:cNvSpPr>
            <a:spLocks xmlns:a="http://schemas.openxmlformats.org/drawingml/2006/main" noGrp="1"/>
          </p:cNvSpPr>
          <p:nvPr/>
        </p:nvSpPr>
        <p:spPr>
          <a:xfrm xmlns:a="http://schemas.openxmlformats.org/drawingml/2006/main">
            <a:off x="8686800" y="23526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231D17"/>
                </a:solidFill>
                <a:latin typeface="Times New Roman"/>
                <a:ea typeface="Times New Roman"/>
                <a:cs typeface="Times New Roman"/>
              </a:defRPr>
            </a:pPr>
            <a:r>
              <a:rPr sz="1500" b="1" i="0">
                <a:solidFill>
                  <a:srgbClr val="231D17"/>
                </a:solidFill>
                <a:latin typeface="Times New Roman"/>
                <a:ea typeface="Times New Roman"/>
                <a:cs typeface="Times New Roman"/>
              </a:rPr>
              <a:t>Accountability design is not felt accountability</a:t>
            </a:r>
          </a:p>
        </p:txBody>
      </p:sp>
      <p:sp>
        <p:nvSpPr>
          <p:cNvPr id="29" name="">
            <a:extLst xmlns:a="http://schemas.openxmlformats.org/drawingml/2006/main">
              <a:ext uri="{FF2B5EF4-FFF2-40B4-BE49-F238E27FC236}">
                <a16:creationId xmlns:a16="http://schemas.microsoft.com/office/drawing/2014/main" id="{5CE93915-0940-418E-8792-60CF39639662}"/>
              </a:ext>
            </a:extLst>
          </p:cNvPr>
          <p:cNvSpPr>
            <a:spLocks xmlns:a="http://schemas.openxmlformats.org/drawingml/2006/main" noGrp="1"/>
          </p:cNvSpPr>
          <p:nvPr/>
        </p:nvSpPr>
        <p:spPr>
          <a:xfrm xmlns:a="http://schemas.openxmlformats.org/drawingml/2006/main">
            <a:off x="8229600" y="2990850"/>
            <a:ext cx="2800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133" b="0" i="0">
                <a:solidFill>
                  <a:srgbClr val="231D17"/>
                </a:solidFill>
                <a:latin typeface="Times New Roman"/>
                <a:ea typeface="Times New Roman"/>
                <a:cs typeface="Times New Roman"/>
              </a:defRPr>
            </a:pPr>
            <a:r>
              <a:rPr sz="1133" b="0" i="0">
                <a:solidFill>
                  <a:srgbClr val="231D17"/>
                </a:solidFill>
                <a:latin typeface="Times New Roman"/>
                <a:ea typeface="Times New Roman"/>
                <a:cs typeface="Times New Roman"/>
              </a:rPr>
              <a:t>Disclosure, approval, audit trails, and justification requirements create external accountability, but they may not automatically make people feel responsible.</a:t>
            </a:r>
          </a:p>
        </p:txBody>
      </p:sp>
      <p:sp>
        <p:nvSpPr>
          <p:cNvPr id="30" name="">
            <a:extLst xmlns:a="http://schemas.openxmlformats.org/drawingml/2006/main">
              <a:ext uri="{FF2B5EF4-FFF2-40B4-BE49-F238E27FC236}">
                <a16:creationId xmlns:a16="http://schemas.microsoft.com/office/drawing/2014/main" id="{4D568F62-3207-45B1-A809-569E71CA5AB2}"/>
              </a:ext>
            </a:extLst>
          </p:cNvPr>
          <p:cNvSpPr>
            <a:spLocks xmlns:a="http://schemas.openxmlformats.org/drawingml/2006/main" noGrp="1"/>
          </p:cNvSpPr>
          <p:nvPr/>
        </p:nvSpPr>
        <p:spPr>
          <a:xfrm xmlns:a="http://schemas.openxmlformats.org/drawingml/2006/main">
            <a:off x="8229600" y="382905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30" b="0" i="1">
                <a:solidFill>
                  <a:srgbClr val="6F665C"/>
                </a:solidFill>
                <a:latin typeface="Times New Roman"/>
                <a:ea typeface="Times New Roman"/>
                <a:cs typeface="Times New Roman"/>
              </a:defRPr>
            </a:pPr>
            <a:r>
              <a:rPr sz="930" b="0" i="1">
                <a:solidFill>
                  <a:srgbClr val="6F665C"/>
                </a:solidFill>
                <a:latin typeface="Times New Roman"/>
                <a:ea typeface="Times New Roman"/>
                <a:cs typeface="Times New Roman"/>
              </a:rPr>
              <a:t>(Lerner &amp; Tetlock, 1999; Hall et al., 2017; Aleksovska et al., 2019)</a:t>
            </a:r>
          </a:p>
        </p:txBody>
      </p:sp>
      <p:sp>
        <p:nvSpPr>
          <p:cNvPr id="31" name="">
            <a:extLst xmlns:a="http://schemas.openxmlformats.org/drawingml/2006/main">
              <a:ext uri="{FF2B5EF4-FFF2-40B4-BE49-F238E27FC236}">
                <a16:creationId xmlns:a16="http://schemas.microsoft.com/office/drawing/2014/main" id="{09E9EFB1-8935-43D7-8667-B9F5B5CC162E}"/>
              </a:ext>
            </a:extLst>
          </p:cNvPr>
          <p:cNvSpPr>
            <a:spLocks xmlns:a="http://schemas.openxmlformats.org/drawingml/2006/main" noGrp="1"/>
          </p:cNvSpPr>
          <p:nvPr/>
        </p:nvSpPr>
        <p:spPr>
          <a:xfrm xmlns:a="http://schemas.openxmlformats.org/drawingml/2006/main">
            <a:off x="8210550" y="4362450"/>
            <a:ext cx="2838450" cy="552450"/>
          </a:xfrm>
          <a:prstGeom xmlns:a="http://schemas.openxmlformats.org/drawingml/2006/main" prst="roundRect">
            <a:avLst>
              <a:gd name="adj" fmla="val 10345"/>
            </a:avLst>
          </a:prstGeom>
          <a:solidFill xmlns:a="http://schemas.openxmlformats.org/drawingml/2006/main">
            <a:srgbClr val="F3EBDD"/>
          </a:solidFill>
          <a:ln xmlns:a="http://schemas.openxmlformats.org/drawingml/2006/main" w="9525">
            <a:solidFill>
              <a:srgbClr val="E4D5C2"/>
            </a:solidFill>
            <a:prstDash val="solid"/>
          </a:ln>
        </p:spPr>
      </p:sp>
      <p:sp>
        <p:nvSpPr>
          <p:cNvPr id="32" name="">
            <a:extLst xmlns:a="http://schemas.openxmlformats.org/drawingml/2006/main">
              <a:ext uri="{FF2B5EF4-FFF2-40B4-BE49-F238E27FC236}">
                <a16:creationId xmlns:a16="http://schemas.microsoft.com/office/drawing/2014/main" id="{A51AD1CA-7CC0-4410-8EE1-A3EA245F6377}"/>
              </a:ext>
            </a:extLst>
          </p:cNvPr>
          <p:cNvSpPr>
            <a:spLocks xmlns:a="http://schemas.openxmlformats.org/drawingml/2006/main" noGrp="1"/>
          </p:cNvSpPr>
          <p:nvPr/>
        </p:nvSpPr>
        <p:spPr>
          <a:xfrm xmlns:a="http://schemas.openxmlformats.org/drawingml/2006/main">
            <a:off x="8382000" y="44767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92"/>
          </a:bodyPr>
          <a:lstStyle xmlns:a="http://schemas.openxmlformats.org/drawingml/2006/main"/>
          <a:p xmlns:a="http://schemas.openxmlformats.org/drawingml/2006/main">
            <a:pPr algn="ctr">
              <a:lnSpc>
                <a:spcPct val="105000"/>
              </a:lnSpc>
              <a:buNone/>
              <a:defRPr sz="1013" b="1" i="0">
                <a:solidFill>
                  <a:srgbClr val="231D17"/>
                </a:solidFill>
                <a:latin typeface="Times New Roman"/>
                <a:ea typeface="Times New Roman"/>
                <a:cs typeface="Times New Roman"/>
              </a:defRPr>
            </a:pPr>
            <a:r>
              <a:rPr sz="1013" b="1" i="0">
                <a:solidFill>
                  <a:srgbClr val="231D17"/>
                </a:solidFill>
                <a:latin typeface="Times New Roman"/>
                <a:ea typeface="Times New Roman"/>
                <a:cs typeface="Times New Roman"/>
              </a:rPr>
              <a:t>The experiment asks whether justification re-anchors responsibility to the human.</a:t>
            </a:r>
          </a:p>
        </p:txBody>
      </p:sp>
      <p:sp>
        <p:nvSpPr>
          <p:cNvPr id="33" name="">
            <a:extLst xmlns:a="http://schemas.openxmlformats.org/drawingml/2006/main">
              <a:ext uri="{FF2B5EF4-FFF2-40B4-BE49-F238E27FC236}">
                <a16:creationId xmlns:a16="http://schemas.microsoft.com/office/drawing/2014/main" id="{A2A4CAF7-924E-493C-99E6-9908847A2B6D}"/>
              </a:ext>
            </a:extLst>
          </p:cNvPr>
          <p:cNvSpPr>
            <a:spLocks xmlns:a="http://schemas.openxmlformats.org/drawingml/2006/main" noGrp="1"/>
          </p:cNvSpPr>
          <p:nvPr/>
        </p:nvSpPr>
        <p:spPr>
          <a:xfrm xmlns:a="http://schemas.openxmlformats.org/drawingml/2006/main">
            <a:off x="914400" y="5467350"/>
            <a:ext cx="10325100" cy="704850"/>
          </a:xfrm>
          <a:prstGeom xmlns:a="http://schemas.openxmlformats.org/drawingml/2006/main" prst="roundRect">
            <a:avLst>
              <a:gd name="adj" fmla="val 16216"/>
            </a:avLst>
          </a:prstGeom>
          <a:solidFill xmlns:a="http://schemas.openxmlformats.org/drawingml/2006/main">
            <a:srgbClr val="23384A"/>
          </a:solidFill>
          <a:ln xmlns:a="http://schemas.openxmlformats.org/drawingml/2006/main" w="9525">
            <a:solidFill>
              <a:srgbClr val="23384A"/>
            </a:solidFill>
            <a:prstDash val="solid"/>
          </a:ln>
        </p:spPr>
      </p:sp>
      <p:sp>
        <p:nvSpPr>
          <p:cNvPr id="34" name="">
            <a:extLst xmlns:a="http://schemas.openxmlformats.org/drawingml/2006/main">
              <a:ext uri="{FF2B5EF4-FFF2-40B4-BE49-F238E27FC236}">
                <a16:creationId xmlns:a16="http://schemas.microsoft.com/office/drawing/2014/main" id="{FA149F1F-CF86-41BE-9D47-A78DC3247F7D}"/>
              </a:ext>
            </a:extLst>
          </p:cNvPr>
          <p:cNvSpPr>
            <a:spLocks xmlns:a="http://schemas.openxmlformats.org/drawingml/2006/main" noGrp="1"/>
          </p:cNvSpPr>
          <p:nvPr/>
        </p:nvSpPr>
        <p:spPr>
          <a:xfrm xmlns:a="http://schemas.openxmlformats.org/drawingml/2006/main">
            <a:off x="1219200" y="56388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896"/>
          </a:bodyPr>
          <a:lstStyle xmlns:a="http://schemas.openxmlformats.org/drawingml/2006/main"/>
          <a:p xmlns:a="http://schemas.openxmlformats.org/drawingml/2006/main">
            <a:pPr algn="l">
              <a:lnSpc>
                <a:spcPct val="105000"/>
              </a:lnSpc>
              <a:buNone/>
              <a:defRPr sz="1425" b="1" i="0">
                <a:solidFill>
                  <a:srgbClr val="E7D4C3"/>
                </a:solidFill>
                <a:latin typeface="Times New Roman"/>
                <a:ea typeface="Times New Roman"/>
                <a:cs typeface="Times New Roman"/>
              </a:defRPr>
            </a:pPr>
            <a:r>
              <a:rPr sz="1425" b="1" i="0">
                <a:solidFill>
                  <a:srgbClr val="E7D4C3"/>
                </a:solidFill>
                <a:latin typeface="Times New Roman"/>
                <a:ea typeface="Times New Roman"/>
                <a:cs typeface="Times New Roman"/>
              </a:rPr>
              <a:t>Paper 3's move</a:t>
            </a:r>
          </a:p>
        </p:txBody>
      </p:sp>
      <p:sp>
        <p:nvSpPr>
          <p:cNvPr id="35" name="">
            <a:extLst xmlns:a="http://schemas.openxmlformats.org/drawingml/2006/main">
              <a:ext uri="{FF2B5EF4-FFF2-40B4-BE49-F238E27FC236}">
                <a16:creationId xmlns:a16="http://schemas.microsoft.com/office/drawing/2014/main" id="{461782E1-AB07-41D7-A9CD-0F4702879997}"/>
              </a:ext>
            </a:extLst>
          </p:cNvPr>
          <p:cNvSpPr>
            <a:spLocks xmlns:a="http://schemas.openxmlformats.org/drawingml/2006/main" noGrp="1"/>
          </p:cNvSpPr>
          <p:nvPr/>
        </p:nvSpPr>
        <p:spPr>
          <a:xfrm xmlns:a="http://schemas.openxmlformats.org/drawingml/2006/main">
            <a:off x="3429000" y="56197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249"/>
          </a:bodyPr>
          <a:lstStyle xmlns:a="http://schemas.openxmlformats.org/drawingml/2006/main"/>
          <a:p xmlns:a="http://schemas.openxmlformats.org/drawingml/2006/main">
            <a:pPr algn="ctr">
              <a:lnSpc>
                <a:spcPct val="106000"/>
              </a:lnSpc>
              <a:buNone/>
              <a:defRPr sz="1350" b="1" i="0">
                <a:solidFill>
                  <a:srgbClr val="F5F0E6"/>
                </a:solidFill>
                <a:latin typeface="Times New Roman"/>
                <a:ea typeface="Times New Roman"/>
                <a:cs typeface="Times New Roman"/>
              </a:defRPr>
            </a:pPr>
            <a:r>
              <a:rPr sz="1350" b="1" i="0">
                <a:solidFill>
                  <a:srgbClr val="F5F0E6"/>
                </a:solidFill>
                <a:latin typeface="Times New Roman"/>
                <a:ea typeface="Times New Roman"/>
                <a:cs typeface="Times New Roman"/>
              </a:rPr>
              <a:t>AI role proximity + justification requirement -&gt; decisional ownership, felt accountability, responsibility sharing, and escalatory choice.</a:t>
            </a:r>
          </a:p>
        </p:txBody>
      </p:sp>
    </p:spTree>
    <p:extLst>
      <p:ext uri="{BB962C8B-B14F-4D97-AF65-F5344CB8AC3E}">
        <p14:creationId xmlns:p14="http://schemas.microsoft.com/office/powerpoint/2010/main" val="18926759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2026-07-06T11:13:28.9670000Z</dcterms:created>
  <dcterms:modified xsi:type="dcterms:W3CDTF">2026-07-06T11:13:28.9670000Z</dcterms:modified>
</coreProperties>
</file>