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Good morning, everyone.</a:t>
            </a:r>
            <a:endParaRPr lang="en-US" altLang="zh-CN"/>
          </a:p>
          <a:p>
            <a:r>
              <a:rPr lang="en-US" altLang="zh-CN"/>
              <a:t>Today I'd like to introduce my doctoral research.</a:t>
            </a:r>
            <a:endParaRPr lang="en-US" altLang="zh-CN"/>
          </a:p>
          <a:p>
            <a:r>
              <a:rPr lang="en-US" altLang="zh-CN"/>
              <a:t>Let me begin with a simple observation.</a:t>
            </a:r>
            <a:endParaRPr lang="en-US" altLang="zh-CN"/>
          </a:p>
          <a:p>
            <a:r>
              <a:rPr lang="en-US" altLang="zh-CN"/>
              <a:t>AI is becoming part of many important decisions that we make every day.</a:t>
            </a:r>
            <a:endParaRPr lang="en-US" altLang="zh-CN"/>
          </a:p>
          <a:p>
            <a:r>
              <a:rPr lang="en-US" altLang="zh-CN"/>
              <a:t>We can already see it in healthcare, public administration, organizational governance, financial investment, and many other high-risk settings.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In other words, AI is no longer just a technology in the laboratory.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It is becoming part of real decision-making systems.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Because of this change, AI governance can no longer focus only on model performance or safety.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We also need to understand what happens to people once AI becomes part of the decision process.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This is the starting point of my dissertation.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So what do we already know?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Existing research mainly studies AI from three perspectives.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first asks whether AI improves human judgment.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second asks whether people trust and rely on AI.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third asks who should be responsible after AI-assisted decisions.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These are all important questions.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However, they share one common assumption.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They all treat AI as an external tool.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This slide summarizes the main research </a:t>
            </a:r>
            <a:endParaRPr lang="en-US" altLang="zh-CN"/>
          </a:p>
          <a:p>
            <a:r>
              <a:rPr lang="en-US" altLang="zh-CN"/>
              <a:t>The existing literature is very important.</a:t>
            </a:r>
            <a:endParaRPr lang="en-US" altLang="zh-CN"/>
          </a:p>
          <a:p>
            <a:r>
              <a:rPr lang="en-US" altLang="zh-CN"/>
              <a:t>One stream studies decision quality and calibration.</a:t>
            </a:r>
            <a:endParaRPr lang="en-US" altLang="zh-CN"/>
          </a:p>
          <a:p>
            <a:r>
              <a:rPr lang="en-US" altLang="zh-CN"/>
              <a:t>It asks whether AI can improve human judgment.</a:t>
            </a:r>
            <a:endParaRPr lang="en-US" altLang="zh-CN"/>
          </a:p>
          <a:p>
            <a:r>
              <a:rPr lang="en-US" altLang="zh-CN"/>
              <a:t>Another stream studies trust and reliance.</a:t>
            </a:r>
            <a:endParaRPr lang="en-US" altLang="zh-CN"/>
          </a:p>
          <a:p>
            <a:r>
              <a:rPr lang="en-US" altLang="zh-CN"/>
              <a:t>It asks whether people accept AI advice, reject it, or rely on it too much.</a:t>
            </a:r>
            <a:endParaRPr lang="en-US" altLang="zh-CN"/>
          </a:p>
          <a:p>
            <a:r>
              <a:rPr lang="en-US" altLang="zh-CN"/>
              <a:t>A third stream studies responsibility and ownership.</a:t>
            </a:r>
            <a:endParaRPr lang="en-US" altLang="zh-CN"/>
          </a:p>
          <a:p>
            <a:r>
              <a:rPr lang="en-US" altLang="zh-CN"/>
              <a:t>It asks who should be responsible after an AI-assisted decision.</a:t>
            </a:r>
            <a:endParaRPr lang="en-US" altLang="zh-CN"/>
          </a:p>
          <a:p>
            <a:r>
              <a:rPr lang="en-US" altLang="zh-CN"/>
              <a:t>Much of this literature still treats AI as a traditional algorithm.</a:t>
            </a:r>
            <a:endParaRPr lang="en-US" altLang="zh-CN"/>
          </a:p>
          <a:p>
            <a:r>
              <a:rPr lang="en-US" altLang="zh-CN"/>
              <a:t>For example, it often explains human-AI interaction through ideas such as algorithm aversion, algorithm appreciation, or advice-taking.</a:t>
            </a:r>
            <a:endParaRPr lang="en-US" altLang="zh-CN"/>
          </a:p>
          <a:p>
            <a:r>
              <a:rPr lang="en-US" altLang="zh-CN"/>
              <a:t>Another limitation is that many studies still focus too much on the AI side.</a:t>
            </a:r>
            <a:endParaRPr lang="en-US" altLang="zh-CN"/>
          </a:p>
          <a:p>
            <a:r>
              <a:rPr lang="en-US" altLang="zh-CN"/>
              <a:t>They ask whether AI improves performance, whether the model is accurate, or whether the recommendation is better than human judgment.</a:t>
            </a:r>
            <a:endParaRPr lang="en-US" altLang="zh-CN"/>
          </a:p>
          <a:p>
            <a:r>
              <a:rPr lang="en-US" altLang="zh-CN"/>
              <a:t>The more important question is what happens on the human side.</a:t>
            </a:r>
            <a:endParaRPr lang="en-US" altLang="zh-CN"/>
          </a:p>
          <a:p>
            <a:r>
              <a:rPr lang="en-US" altLang="zh-CN"/>
              <a:t>we need a different way to understand AI-assisted decision-making.</a:t>
            </a:r>
            <a:endParaRPr lang="en-US" altLang="zh-CN"/>
          </a:p>
          <a:p>
            <a:r>
              <a:rPr lang="en-US" altLang="zh-CN"/>
              <a:t>We need to move from seeing AI as an external algorithmic tool, to seeing AI as part of the human decision process itself.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Why is this </a:t>
            </a:r>
            <a:r>
              <a:rPr lang="en-US" altLang="zh-CN"/>
              <a:t>important?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Because large language models communicate through language rather than simple numerical outputs.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They explain,</a:t>
            </a:r>
            <a:endParaRPr lang="en-US" altLang="zh-CN"/>
          </a:p>
          <a:p>
            <a:r>
              <a:rPr lang="en-US" altLang="zh-CN"/>
              <a:t>summarize,</a:t>
            </a:r>
            <a:endParaRPr lang="en-US" altLang="zh-CN"/>
          </a:p>
          <a:p>
            <a:r>
              <a:rPr lang="en-US" altLang="zh-CN"/>
              <a:t>persuade,</a:t>
            </a:r>
            <a:endParaRPr lang="en-US" altLang="zh-CN"/>
          </a:p>
          <a:p>
            <a:r>
              <a:rPr lang="en-US" altLang="zh-CN"/>
              <a:t>reassure,</a:t>
            </a:r>
            <a:endParaRPr lang="en-US" altLang="zh-CN"/>
          </a:p>
          <a:p>
            <a:r>
              <a:rPr lang="en-US" altLang="zh-CN"/>
              <a:t>and organize information.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As a result,</a:t>
            </a:r>
            <a:endParaRPr lang="en-US" altLang="zh-CN"/>
          </a:p>
          <a:p>
            <a:r>
              <a:rPr lang="en-US" altLang="zh-CN"/>
              <a:t>they influence how people understand problems before making decisions.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So why do large language models feel different from earlier AI systems?</a:t>
            </a:r>
            <a:endParaRPr lang="en-US" altLang="zh-CN"/>
          </a:p>
          <a:p>
            <a:r>
              <a:rPr lang="en-US" altLang="zh-CN"/>
              <a:t>Large language models are built to work with context.</a:t>
            </a:r>
            <a:endParaRPr lang="en-US" altLang="zh-CN"/>
          </a:p>
          <a:p>
            <a:r>
              <a:rPr lang="en-US" altLang="zh-CN"/>
              <a:t>They can take a question, connect it with surrounding information, and generate a response in natural language.</a:t>
            </a:r>
            <a:endParaRPr lang="en-US" altLang="zh-CN"/>
          </a:p>
          <a:p>
            <a:r>
              <a:rPr lang="en-US" altLang="zh-CN"/>
              <a:t>The bigger difference is the interaction itself.</a:t>
            </a:r>
            <a:endParaRPr lang="en-US" altLang="zh-CN"/>
          </a:p>
          <a:p>
            <a:r>
              <a:rPr lang="en-US" altLang="zh-CN"/>
              <a:t>Traditional algorithms often give a score, a label, or a recommendation.</a:t>
            </a:r>
            <a:endParaRPr lang="en-US" altLang="zh-CN"/>
          </a:p>
          <a:p>
            <a:r>
              <a:rPr lang="en-US" altLang="zh-CN"/>
              <a:t>But LLMs give explanations.</a:t>
            </a:r>
            <a:endParaRPr lang="en-US" altLang="zh-CN"/>
          </a:p>
          <a:p>
            <a:r>
              <a:rPr lang="en-US" altLang="zh-CN"/>
              <a:t>They give reasons.</a:t>
            </a:r>
            <a:endParaRPr lang="en-US" altLang="zh-CN"/>
          </a:p>
          <a:p>
            <a:r>
              <a:rPr lang="en-US" altLang="zh-CN"/>
              <a:t>They give a narrative.</a:t>
            </a:r>
            <a:endParaRPr lang="en-US" altLang="zh-CN"/>
          </a:p>
          <a:p>
            <a:r>
              <a:rPr lang="en-US" altLang="zh-CN"/>
              <a:t>Because of this, they enter the human decision process in a much more direct way.</a:t>
            </a:r>
            <a:endParaRPr lang="en-US" altLang="zh-CN"/>
          </a:p>
          <a:p>
            <a:r>
              <a:rPr lang="en-US" altLang="zh-CN"/>
              <a:t>They can make a complex situation feel clearer.</a:t>
            </a:r>
            <a:endParaRPr lang="en-US" altLang="zh-CN"/>
          </a:p>
          <a:p>
            <a:r>
              <a:rPr lang="en-US" altLang="zh-CN"/>
              <a:t>They can make uncertainty feel smaller.</a:t>
            </a:r>
            <a:endParaRPr lang="en-US" altLang="zh-CN"/>
          </a:p>
          <a:p>
            <a:r>
              <a:rPr lang="en-US" altLang="zh-CN"/>
              <a:t>And they can make a suggestion sound more convincing.</a:t>
            </a:r>
            <a:endParaRPr lang="en-US" altLang="zh-CN"/>
          </a:p>
          <a:p>
            <a:r>
              <a:rPr lang="en-US" altLang="zh-CN"/>
              <a:t>So users are not only influenced by what the AI says.</a:t>
            </a:r>
            <a:endParaRPr lang="en-US" altLang="zh-CN"/>
          </a:p>
          <a:p>
            <a:r>
              <a:rPr lang="en-US" altLang="zh-CN"/>
              <a:t>They are also influenced by how the AI says it.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So at this point, I want to move from the background to the core structure of my research.</a:t>
            </a:r>
            <a:endParaRPr lang="en-US" altLang="zh-CN"/>
          </a:p>
          <a:p>
            <a:r>
              <a:rPr lang="en-US" altLang="zh-CN"/>
              <a:t>My argument is that AI does not only affect one single decision.</a:t>
            </a:r>
            <a:endParaRPr lang="en-US" altLang="zh-CN"/>
          </a:p>
          <a:p>
            <a:r>
              <a:rPr lang="en-US" altLang="zh-CN"/>
              <a:t>It affects a whole process.</a:t>
            </a:r>
            <a:endParaRPr lang="en-US" altLang="zh-CN"/>
          </a:p>
          <a:p>
            <a:r>
              <a:rPr lang="en-US" altLang="zh-CN"/>
              <a:t>Before people make a decision, AI may shape how they form beliefs.</a:t>
            </a:r>
            <a:endParaRPr lang="en-US" altLang="zh-CN"/>
          </a:p>
          <a:p>
            <a:r>
              <a:rPr lang="en-US" altLang="zh-CN"/>
              <a:t>It may change what information seems important, and what already feels processed.</a:t>
            </a:r>
            <a:endParaRPr lang="en-US" altLang="zh-CN"/>
          </a:p>
          <a:p>
            <a:r>
              <a:rPr lang="en-US" altLang="zh-CN"/>
              <a:t>Then, after people form a belief, AI may change how they judge risk.</a:t>
            </a:r>
            <a:endParaRPr lang="en-US" altLang="zh-CN"/>
          </a:p>
          <a:p>
            <a:r>
              <a:rPr lang="en-US" altLang="zh-CN"/>
              <a:t>It may also change how much they rely on the system, and when they decide to take action.</a:t>
            </a:r>
            <a:endParaRPr lang="en-US" altLang="zh-CN"/>
          </a:p>
          <a:p>
            <a:r>
              <a:rPr lang="en-US" altLang="zh-CN"/>
              <a:t>Finally, after the action leads to an outcome, AI may also change how responsibility is understood.</a:t>
            </a:r>
            <a:endParaRPr lang="en-US" altLang="zh-CN"/>
          </a:p>
          <a:p>
            <a:r>
              <a:rPr lang="en-US" altLang="zh-CN"/>
              <a:t>So the process is not just:</a:t>
            </a:r>
            <a:endParaRPr lang="en-US" altLang="zh-CN"/>
          </a:p>
          <a:p>
            <a:r>
              <a:rPr lang="en-US" altLang="zh-CN"/>
              <a:t>AI gives advice, and humans accept or reject it.</a:t>
            </a:r>
            <a:endParaRPr lang="en-US" altLang="zh-CN"/>
          </a:p>
          <a:p>
            <a:r>
              <a:rPr lang="en-US" altLang="zh-CN"/>
              <a:t>The process is closer to this:</a:t>
            </a:r>
            <a:endParaRPr lang="en-US" altLang="zh-CN"/>
          </a:p>
          <a:p>
            <a:r>
              <a:rPr lang="en-US" altLang="zh-CN"/>
              <a:t>AI shapes belief formation.</a:t>
            </a:r>
            <a:endParaRPr lang="en-US" altLang="zh-CN"/>
          </a:p>
          <a:p>
            <a:r>
              <a:rPr lang="en-US" altLang="zh-CN"/>
              <a:t>Then it affects reliance and action.</a:t>
            </a:r>
            <a:endParaRPr lang="en-US" altLang="zh-CN"/>
          </a:p>
          <a:p>
            <a:r>
              <a:rPr lang="en-US" altLang="zh-CN"/>
              <a:t>And finally, it influences responsibility attribution.</a:t>
            </a:r>
            <a:endParaRPr lang="en-US" altLang="zh-CN"/>
          </a:p>
          <a:p>
            <a:r>
              <a:rPr lang="en-US" altLang="zh-CN"/>
              <a:t>This is the shared process behind the three papers in my dissertation.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To describe this process, I use the idea of decision architecture.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Here, decision architecture means the structure that shapes how a decision is made.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In an AI-assisted decision, this structure includes several parts.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First, information flow.</a:t>
            </a:r>
            <a:endParaRPr lang="en-US" altLang="zh-CN"/>
          </a:p>
          <a:p>
            <a:r>
              <a:rPr lang="en-US" altLang="zh-CN"/>
              <a:t>AI changes what information reaches the person, and how that information is organized.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Second, cognitive burden.</a:t>
            </a:r>
            <a:endParaRPr lang="en-US" altLang="zh-CN"/>
          </a:p>
          <a:p>
            <a:r>
              <a:rPr lang="en-US" altLang="zh-CN"/>
              <a:t>AI changes how much work the person feels they still need to do by themselves.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Third, action thresholds.</a:t>
            </a:r>
            <a:endParaRPr lang="en-US" altLang="zh-CN"/>
          </a:p>
          <a:p>
            <a:r>
              <a:rPr lang="en-US" altLang="zh-CN"/>
              <a:t>AI may make people act earlier, act later, rely more, or delegate more.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And fourth, responsibility relations.</a:t>
            </a:r>
            <a:endParaRPr lang="en-US" altLang="zh-CN"/>
          </a:p>
          <a:p>
            <a:r>
              <a:rPr lang="en-US" altLang="zh-CN"/>
              <a:t>After the decision, AI may change who is seen as responsible for the outcome.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So decision architecture is broader than choice architecture.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It is not only about how options are presented.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In my project, it is about how AI shapes belief, reliance, action, and responsibility across the whole decision process.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This is why I think we need behavioral science.</a:t>
            </a:r>
            <a:endParaRPr lang="en-US" altLang="zh-CN"/>
          </a:p>
          <a:p>
            <a:r>
              <a:rPr lang="en-US" altLang="zh-CN"/>
              <a:t>We need to understand AI from the human side.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This is important not only for AI governance.</a:t>
            </a:r>
            <a:endParaRPr lang="en-US" altLang="zh-CN"/>
          </a:p>
          <a:p>
            <a:r>
              <a:rPr lang="en-US" altLang="zh-CN"/>
              <a:t>It is also important for many other governance problems.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When we study governance, we often look at companies, institutions, or society as a whole.</a:t>
            </a:r>
            <a:endParaRPr lang="en-US" altLang="zh-CN"/>
          </a:p>
          <a:p>
            <a:r>
              <a:rPr lang="en-US" altLang="zh-CN"/>
              <a:t>These levels are important.</a:t>
            </a:r>
            <a:endParaRPr lang="en-US" altLang="zh-CN"/>
          </a:p>
          <a:p>
            <a:r>
              <a:rPr lang="en-US" altLang="zh-CN"/>
              <a:t>But they are not enough.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If we do not understand how people react when they interact with AI, then we cannot really understand the human-AI decision system.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We may not know whether the system actually works.</a:t>
            </a:r>
            <a:endParaRPr lang="en-US" altLang="zh-CN"/>
          </a:p>
          <a:p>
            <a:r>
              <a:rPr lang="en-US" altLang="zh-CN"/>
              <a:t>We may not know whether the final decision becomes better, or only looks more confident.</a:t>
            </a:r>
            <a:endParaRPr lang="en-US" altLang="zh-CN"/>
          </a:p>
          <a:p>
            <a:r>
              <a:rPr lang="en-US" altLang="zh-CN"/>
              <a:t>We may not know how responsibility should be understood after the decision.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So for me, behavioral science is not just an additional perspective.</a:t>
            </a:r>
            <a:endParaRPr lang="en-US" altLang="zh-CN"/>
          </a:p>
          <a:p>
            <a:r>
              <a:rPr lang="en-US" altLang="zh-CN"/>
              <a:t>It is central to understanding AI governance.</a:t>
            </a:r>
            <a:endParaRPr lang="en-US" altLang="zh-CN"/>
          </a:p>
          <a:p>
            <a:r>
              <a:rPr lang="en-US" altLang="zh-CN"/>
              <a:t>There is also a more personal reason.</a:t>
            </a:r>
            <a:endParaRPr lang="en-US" altLang="zh-CN"/>
          </a:p>
          <a:p>
            <a:r>
              <a:rPr lang="en-US" altLang="zh-CN"/>
              <a:t>I use AI myself.</a:t>
            </a:r>
            <a:endParaRPr lang="en-US" altLang="zh-CN"/>
          </a:p>
          <a:p>
            <a:r>
              <a:rPr lang="en-US" altLang="zh-CN"/>
              <a:t>I talk to AI.</a:t>
            </a:r>
            <a:endParaRPr lang="en-US" altLang="zh-CN"/>
          </a:p>
          <a:p>
            <a:r>
              <a:rPr lang="en-US" altLang="zh-CN"/>
              <a:t>I ask it questions.</a:t>
            </a:r>
            <a:endParaRPr lang="en-US" altLang="zh-CN"/>
          </a:p>
          <a:p>
            <a:r>
              <a:rPr lang="en-US" altLang="zh-CN"/>
              <a:t>And sometimes, I rely on its answers.</a:t>
            </a:r>
            <a:endParaRPr lang="en-US" altLang="zh-CN"/>
          </a:p>
          <a:p>
            <a:r>
              <a:rPr lang="en-US" altLang="zh-CN"/>
              <a:t>So I also want to understand what is really happening when I interact with AI.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This is bot the academic motivation and the personal motivation behind my doctoral research.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Based on this motivation, my project asks a simple question: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How does AI, as part of the decision environment, change human belief, dependence, risk judgment, and responsibility in high-risk decisions?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A44"/>
          </a:solidFill>
          <a:ln w="0">
            <a:solidFill>
              <a:srgbClr val="1F2A44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椭圆 2"/>
          <p:cNvSpPr>
            <a:spLocks noGrp="1"/>
          </p:cNvSpPr>
          <p:nvPr/>
        </p:nvSpPr>
        <p:spPr>
          <a:xfrm>
            <a:off x="9525000" y="-1143000"/>
            <a:ext cx="3429000" cy="3429000"/>
          </a:xfrm>
          <a:prstGeom prst="ellipse">
            <a:avLst/>
          </a:prstGeom>
          <a:solidFill>
            <a:srgbClr val="314062"/>
          </a:solidFill>
          <a:ln w="0">
            <a:solidFill>
              <a:srgbClr val="314062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椭圆 3"/>
          <p:cNvSpPr>
            <a:spLocks noGrp="1"/>
          </p:cNvSpPr>
          <p:nvPr/>
        </p:nvSpPr>
        <p:spPr>
          <a:xfrm>
            <a:off x="-1143000" y="4762500"/>
            <a:ext cx="2857500" cy="2857500"/>
          </a:xfrm>
          <a:prstGeom prst="ellipse">
            <a:avLst/>
          </a:prstGeom>
          <a:solidFill>
            <a:srgbClr val="273554"/>
          </a:solidFill>
          <a:ln w="0">
            <a:solidFill>
              <a:srgbClr val="273554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457200"/>
            <a:ext cx="19050" cy="5943600"/>
          </a:xfrm>
          <a:prstGeom prst="rect">
            <a:avLst/>
          </a:prstGeom>
          <a:solidFill>
            <a:srgbClr val="C89B4A"/>
          </a:solidFill>
          <a:ln w="0">
            <a:solidFill>
              <a:srgbClr val="C89B4A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kicker-marker"/>
          <p:cNvSpPr>
            <a:spLocks noGrp="1"/>
          </p:cNvSpPr>
          <p:nvPr/>
        </p:nvSpPr>
        <p:spPr>
          <a:xfrm>
            <a:off x="914400" y="657225"/>
            <a:ext cx="171450" cy="171450"/>
          </a:xfrm>
          <a:prstGeom prst="rect">
            <a:avLst/>
          </a:prstGeom>
          <a:solidFill>
            <a:srgbClr val="C89B4A"/>
          </a:solidFill>
          <a:ln w="0">
            <a:solidFill>
              <a:srgbClr val="C89B4A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kicker-label"/>
          <p:cNvSpPr>
            <a:spLocks noGrp="1"/>
          </p:cNvSpPr>
          <p:nvPr/>
        </p:nvSpPr>
        <p:spPr>
          <a:xfrm>
            <a:off x="1181100" y="57150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1">
                <a:solidFill>
                  <a:srgbClr val="C89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1">
                <a:solidFill>
                  <a:srgbClr val="C89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DOCTORAL PROJECT</a:t>
            </a:r>
            <a:endParaRPr sz="1050" b="1">
              <a:solidFill>
                <a:srgbClr val="C89B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123950"/>
            <a:ext cx="60960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8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5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Puzzle That Motivates the Work</a:t>
            </a:r>
            <a:endParaRPr sz="285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2476500"/>
            <a:ext cx="5905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D8DDE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>
                <a:solidFill>
                  <a:srgbClr val="D8DDE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AI is entering more real decision settings, and the key question is how human judgment changes once AI becomes part of the decision process</a:t>
            </a:r>
            <a:endParaRPr sz="1500" b="0">
              <a:solidFill>
                <a:srgbClr val="D8DDE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3657600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C89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C89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Xu | Doctoral Project Intro | July 2026</a:t>
            </a:r>
            <a:endParaRPr sz="1200" b="1">
              <a:solidFill>
                <a:srgbClr val="C89B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0" y="1123950"/>
            <a:ext cx="3048000" cy="1047750"/>
          </a:xfrm>
          <a:prstGeom prst="rect">
            <a:avLst/>
          </a:prstGeom>
          <a:solidFill>
            <a:srgbClr val="273654"/>
          </a:solidFill>
          <a:ln w="9525">
            <a:solidFill>
              <a:srgbClr val="435071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620000" y="1123950"/>
            <a:ext cx="57150" cy="1047750"/>
          </a:xfrm>
          <a:prstGeom prst="rect">
            <a:avLst/>
          </a:prstGeom>
          <a:solidFill>
            <a:srgbClr val="C89B4A"/>
          </a:solidFill>
          <a:ln w="0">
            <a:solidFill>
              <a:srgbClr val="C89B4A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829550" y="1276350"/>
            <a:ext cx="2628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C89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C89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REAL SETTINGS</a:t>
            </a:r>
            <a:endParaRPr sz="900" b="1">
              <a:solidFill>
                <a:srgbClr val="C89B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29550" y="1447800"/>
            <a:ext cx="2628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Where AI is entering</a:t>
            </a:r>
            <a:endParaRPr sz="15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829550" y="1885950"/>
            <a:ext cx="2628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D8DCE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25" b="0">
                <a:solidFill>
                  <a:srgbClr val="D8DCE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Crisis judgment, organizational governance, public administration, healthcare, and other high-risk settings.</a:t>
            </a:r>
            <a:endParaRPr sz="1125" b="0">
              <a:solidFill>
                <a:srgbClr val="D8DCE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191500" y="2552700"/>
            <a:ext cx="3048000" cy="1047750"/>
          </a:xfrm>
          <a:prstGeom prst="rect">
            <a:avLst/>
          </a:prstGeom>
          <a:solidFill>
            <a:srgbClr val="273654"/>
          </a:solidFill>
          <a:ln w="9525">
            <a:solidFill>
              <a:srgbClr val="435071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191500" y="2552700"/>
            <a:ext cx="57150" cy="1047750"/>
          </a:xfrm>
          <a:prstGeom prst="rect">
            <a:avLst/>
          </a:prstGeom>
          <a:solidFill>
            <a:srgbClr val="C89B4A"/>
          </a:solidFill>
          <a:ln w="0">
            <a:solidFill>
              <a:srgbClr val="C89B4A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401050" y="2705100"/>
            <a:ext cx="2628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C89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C89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WHAT CHANGES</a:t>
            </a:r>
            <a:endParaRPr sz="900" b="1">
              <a:solidFill>
                <a:srgbClr val="C89B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401050" y="2876550"/>
            <a:ext cx="2628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Embedded decision chains</a:t>
            </a:r>
            <a:endParaRPr sz="15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401050" y="3314700"/>
            <a:ext cx="2628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D8DCE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25" b="0">
                <a:solidFill>
                  <a:srgbClr val="D8DCE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AI is no longer only a lab system or a stand-alone tool. It is becoming part of real organizational and institutional processes.</a:t>
            </a:r>
            <a:endParaRPr sz="1125" b="0">
              <a:solidFill>
                <a:srgbClr val="D8DCE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620000" y="3981450"/>
            <a:ext cx="3048000" cy="1047750"/>
          </a:xfrm>
          <a:prstGeom prst="rect">
            <a:avLst/>
          </a:prstGeom>
          <a:solidFill>
            <a:srgbClr val="273654"/>
          </a:solidFill>
          <a:ln w="9525">
            <a:solidFill>
              <a:srgbClr val="435071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620000" y="3981450"/>
            <a:ext cx="57150" cy="1047750"/>
          </a:xfrm>
          <a:prstGeom prst="rect">
            <a:avLst/>
          </a:prstGeom>
          <a:solidFill>
            <a:srgbClr val="C89B4A"/>
          </a:solidFill>
          <a:ln w="0">
            <a:solidFill>
              <a:srgbClr val="C89B4A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829550" y="4133850"/>
            <a:ext cx="2628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C89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C89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WHY THIS MATTERS</a:t>
            </a:r>
            <a:endParaRPr sz="900" b="1">
              <a:solidFill>
                <a:srgbClr val="C89B4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829550" y="4305300"/>
            <a:ext cx="2628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Why study the human side</a:t>
            </a:r>
            <a:endParaRPr sz="15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829550" y="4743450"/>
            <a:ext cx="2628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D8DCE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25" b="0">
                <a:solidFill>
                  <a:srgbClr val="D8DCE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Once AI enters consequential decision chains, we need to understand what happens to people as they interpret, rely on, and act with AI.</a:t>
            </a:r>
            <a:endParaRPr sz="1125" b="0">
              <a:solidFill>
                <a:srgbClr val="D8DCE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79" name="肘形连接符 78"/>
          <p:cNvCxnSpPr>
            <a:stCxn id="10" idx="2"/>
            <a:endCxn id="15" idx="0"/>
          </p:cNvCxnSpPr>
          <p:nvPr/>
        </p:nvCxnSpPr>
        <p:spPr>
          <a:xfrm>
            <a:off x="9144000" y="2171700"/>
            <a:ext cx="571500" cy="381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89B4A"/>
            </a:solidFill>
            <a:prstDash val="solid"/>
            <a:headEnd type="arrow" w="med" len="med"/>
          </a:ln>
        </p:spPr>
      </p:cxnSp>
      <p:cxnSp>
        <p:nvCxnSpPr>
          <p:cNvPr id="80" name="肘形连接符 79"/>
          <p:cNvCxnSpPr>
            <a:stCxn id="15" idx="2"/>
            <a:endCxn id="20" idx="0"/>
          </p:cNvCxnSpPr>
          <p:nvPr/>
        </p:nvCxnSpPr>
        <p:spPr>
          <a:xfrm flipH="1">
            <a:off x="9144000" y="3600450"/>
            <a:ext cx="571500" cy="381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89B4A"/>
            </a:solidFill>
            <a:prstDash val="solid"/>
            <a:headEnd type="arrow" w="med" len="med"/>
          </a:ln>
        </p:spPr>
      </p:cxnSp>
      <p:sp>
        <p:nvSpPr>
          <p:cNvPr id="27" name="矩形 26"/>
          <p:cNvSpPr>
            <a:spLocks noGrp="1"/>
          </p:cNvSpPr>
          <p:nvPr/>
        </p:nvSpPr>
        <p:spPr>
          <a:xfrm>
            <a:off x="914400" y="649605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D7DCE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750" b="0">
                <a:solidFill>
                  <a:srgbClr val="D7DCE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dissertation starts from that broader shift.</a:t>
            </a:r>
            <a:endParaRPr sz="750" b="0">
              <a:solidFill>
                <a:srgbClr val="D7DCE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763250" y="6438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C89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C89B4A"/>
                </a:solidFill>
                <a:latin typeface="Aptos Mono"/>
                <a:ea typeface="Aptos Mono"/>
                <a:cs typeface="Aptos Mono"/>
              </a:rPr>
              <a:t>01</a:t>
            </a:r>
            <a:endParaRPr sz="900" b="1">
              <a:solidFill>
                <a:srgbClr val="C89B4A"/>
              </a:solidFill>
              <a:latin typeface="Aptos Mono"/>
              <a:ea typeface="Aptos Mono"/>
              <a:cs typeface="Aptos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F6F1E8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椭圆 2"/>
          <p:cNvSpPr>
            <a:spLocks noGrp="1"/>
          </p:cNvSpPr>
          <p:nvPr/>
        </p:nvSpPr>
        <p:spPr>
          <a:xfrm>
            <a:off x="9525000" y="-1143000"/>
            <a:ext cx="3429000" cy="3429000"/>
          </a:xfrm>
          <a:prstGeom prst="ellipse">
            <a:avLst/>
          </a:prstGeom>
          <a:solidFill>
            <a:srgbClr val="EDE1D0"/>
          </a:solidFill>
          <a:ln w="0">
            <a:solidFill>
              <a:srgbClr val="EDE1D0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椭圆 3"/>
          <p:cNvSpPr>
            <a:spLocks noGrp="1"/>
          </p:cNvSpPr>
          <p:nvPr/>
        </p:nvSpPr>
        <p:spPr>
          <a:xfrm>
            <a:off x="-1143000" y="4762500"/>
            <a:ext cx="2857500" cy="2857500"/>
          </a:xfrm>
          <a:prstGeom prst="ellipse">
            <a:avLst/>
          </a:prstGeom>
          <a:solidFill>
            <a:srgbClr val="F1E7D9"/>
          </a:solidFill>
          <a:ln w="0">
            <a:solidFill>
              <a:srgbClr val="F1E7D9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457200"/>
            <a:ext cx="19050" cy="5943600"/>
          </a:xfrm>
          <a:prstGeom prst="rect">
            <a:avLst/>
          </a:prstGeom>
          <a:solidFill>
            <a:srgbClr val="E8C6B8"/>
          </a:solidFill>
          <a:ln w="0">
            <a:solidFill>
              <a:srgbClr val="E8C6B8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kicker-marker"/>
          <p:cNvSpPr>
            <a:spLocks noGrp="1"/>
          </p:cNvSpPr>
          <p:nvPr/>
        </p:nvSpPr>
        <p:spPr>
          <a:xfrm>
            <a:off x="914400" y="657225"/>
            <a:ext cx="171450" cy="171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kicker-label"/>
          <p:cNvSpPr>
            <a:spLocks noGrp="1"/>
          </p:cNvSpPr>
          <p:nvPr/>
        </p:nvSpPr>
        <p:spPr>
          <a:xfrm>
            <a:off x="1181100" y="57150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CURRENT RESEARCH</a:t>
            </a:r>
            <a:endParaRPr sz="105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914400"/>
            <a:ext cx="6667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5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5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Existing research usually asks three separate questions</a:t>
            </a:r>
            <a:endParaRPr sz="25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649605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B7F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750" b="0">
                <a:solidFill>
                  <a:srgbClr val="7B7F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Does AI improve judgment quality? Do people trust and rely on AI? How is responsibility assigned after AI-assisted decisions?</a:t>
            </a:r>
            <a:endParaRPr sz="750" b="0">
              <a:solidFill>
                <a:srgbClr val="7B7F8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763250" y="6438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02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14400" y="2457450"/>
            <a:ext cx="2286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72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81100" y="2438400"/>
            <a:ext cx="533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first question is whether AI improves human judgment quality or performance.</a:t>
            </a:r>
            <a:endParaRPr sz="172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14400" y="3238500"/>
            <a:ext cx="2286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72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81100" y="3219450"/>
            <a:ext cx="533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second is whether people trust, adopt, or rely on AI advice.</a:t>
            </a:r>
            <a:endParaRPr sz="172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14400" y="4019550"/>
            <a:ext cx="2286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72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81100" y="4000500"/>
            <a:ext cx="533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third is how responsibility should be allocated once AI is involved in decision-making.</a:t>
            </a:r>
            <a:endParaRPr sz="172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239000" y="2171700"/>
            <a:ext cx="3429000" cy="262890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239000" y="2171700"/>
            <a:ext cx="57150" cy="262890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448550" y="2324100"/>
            <a:ext cx="3009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THREE STREAMS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448550" y="2495550"/>
            <a:ext cx="3009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What they ask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7715250" y="2762250"/>
            <a:ext cx="2476500" cy="400050"/>
          </a:xfrm>
          <a:prstGeom prst="roundRect">
            <a:avLst>
              <a:gd name="adj" fmla="val 19048"/>
            </a:avLst>
          </a:prstGeom>
          <a:solidFill>
            <a:srgbClr val="E8C6B8"/>
          </a:solidFill>
          <a:ln w="0">
            <a:solidFill>
              <a:srgbClr val="E8C6B8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829550" y="2790825"/>
            <a:ext cx="2247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75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Judgment quality</a:t>
            </a:r>
            <a:endParaRPr sz="975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7715250" y="3352800"/>
            <a:ext cx="2476500" cy="400050"/>
          </a:xfrm>
          <a:prstGeom prst="roundRect">
            <a:avLst>
              <a:gd name="adj" fmla="val 19048"/>
            </a:avLst>
          </a:prstGeom>
          <a:solidFill>
            <a:srgbClr val="E9DDCB"/>
          </a:solidFill>
          <a:ln w="0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829550" y="3381375"/>
            <a:ext cx="2247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75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Trust / reliance</a:t>
            </a:r>
            <a:endParaRPr sz="975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7715250" y="3943350"/>
            <a:ext cx="2476500" cy="400050"/>
          </a:xfrm>
          <a:prstGeom prst="roundRect">
            <a:avLst>
              <a:gd name="adj" fmla="val 19048"/>
            </a:avLst>
          </a:prstGeom>
          <a:solidFill>
            <a:srgbClr val="E6E0D4"/>
          </a:solidFill>
          <a:ln w="0">
            <a:solidFill>
              <a:srgbClr val="E6E0D4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829550" y="3971925"/>
            <a:ext cx="2247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75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Responsibility</a:t>
            </a:r>
            <a:endParaRPr sz="975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14400" y="5486400"/>
            <a:ext cx="971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These questions are important, but they still tend to treat AI as an external tool.</a:t>
            </a:r>
            <a:endParaRPr sz="12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F6F1E8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椭圆 2"/>
          <p:cNvSpPr>
            <a:spLocks noGrp="1"/>
          </p:cNvSpPr>
          <p:nvPr/>
        </p:nvSpPr>
        <p:spPr>
          <a:xfrm>
            <a:off x="9525000" y="-1143000"/>
            <a:ext cx="3429000" cy="3429000"/>
          </a:xfrm>
          <a:prstGeom prst="ellipse">
            <a:avLst/>
          </a:prstGeom>
          <a:solidFill>
            <a:srgbClr val="EDE1D0"/>
          </a:solidFill>
          <a:ln w="0">
            <a:solidFill>
              <a:srgbClr val="EDE1D0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椭圆 3"/>
          <p:cNvSpPr>
            <a:spLocks noGrp="1"/>
          </p:cNvSpPr>
          <p:nvPr/>
        </p:nvSpPr>
        <p:spPr>
          <a:xfrm>
            <a:off x="-1143000" y="4762500"/>
            <a:ext cx="2857500" cy="2857500"/>
          </a:xfrm>
          <a:prstGeom prst="ellipse">
            <a:avLst/>
          </a:prstGeom>
          <a:solidFill>
            <a:srgbClr val="F1E7D9"/>
          </a:solidFill>
          <a:ln w="0">
            <a:solidFill>
              <a:srgbClr val="F1E7D9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457200"/>
            <a:ext cx="19050" cy="5943600"/>
          </a:xfrm>
          <a:prstGeom prst="rect">
            <a:avLst/>
          </a:prstGeom>
          <a:solidFill>
            <a:srgbClr val="E8C6B8"/>
          </a:solidFill>
          <a:ln w="0">
            <a:solidFill>
              <a:srgbClr val="E8C6B8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kicker-marker"/>
          <p:cNvSpPr>
            <a:spLocks noGrp="1"/>
          </p:cNvSpPr>
          <p:nvPr/>
        </p:nvSpPr>
        <p:spPr>
          <a:xfrm>
            <a:off x="914400" y="657225"/>
            <a:ext cx="171450" cy="171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kicker-label"/>
          <p:cNvSpPr>
            <a:spLocks noGrp="1"/>
          </p:cNvSpPr>
          <p:nvPr/>
        </p:nvSpPr>
        <p:spPr>
          <a:xfrm>
            <a:off x="1181100" y="57150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RESEARCH GAP</a:t>
            </a:r>
            <a:endParaRPr sz="105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914400"/>
            <a:ext cx="72390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5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5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These literatures are important, but they still leave the process itself underexplained</a:t>
            </a:r>
            <a:endParaRPr sz="25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649605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B7F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750" b="0">
                <a:solidFill>
                  <a:srgbClr val="7B7F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They are analytically useful, but they rarely show how belief formation, reliance calibration, and responsibility unfold inside one connected decision process.</a:t>
            </a:r>
            <a:endParaRPr sz="750" b="0">
              <a:solidFill>
                <a:srgbClr val="7B7F8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763250" y="6438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14400" y="2343150"/>
            <a:ext cx="4076700" cy="13144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14400" y="2343150"/>
            <a:ext cx="57150" cy="1314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23950" y="249555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Decision quality / calibration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23950" y="2667000"/>
            <a:ext cx="3657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Zhang et al., 2020; Ma et al., 2023; Vaccaro et al., 2024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23950" y="3105150"/>
            <a:ext cx="3657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Research here asks whether AI improves joint judgment quality and calibration.</a:t>
            </a:r>
            <a:endParaRPr sz="12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638800" y="2343150"/>
            <a:ext cx="4076700" cy="13144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638800" y="2343150"/>
            <a:ext cx="57150" cy="1314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848350" y="249555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Trust / reliance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848350" y="2667000"/>
            <a:ext cx="3657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Lee &amp; See, 2004; Dietvorst et al., 2015; Logg et al., 2019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848350" y="3105150"/>
            <a:ext cx="3657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This stream studies appropriate reliance, algorithm aversion, and algorithm appreciation.</a:t>
            </a:r>
            <a:endParaRPr sz="12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14400" y="4000500"/>
            <a:ext cx="4076700" cy="13144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14400" y="4000500"/>
            <a:ext cx="57150" cy="1314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23950" y="415290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Responsibility / ownership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23950" y="4324350"/>
            <a:ext cx="3657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Kirchkamp &amp; Strobel, 2019; Kobis et al., 2025; Chevrier &amp; Teixeira, 2024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23950" y="4762500"/>
            <a:ext cx="3657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This stream asks how responsibility is shared or reassigned after AI-assisted action.</a:t>
            </a:r>
            <a:endParaRPr sz="12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638800" y="4000500"/>
            <a:ext cx="4076700" cy="13144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638800" y="4000500"/>
            <a:ext cx="57150" cy="1314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848350" y="415290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What is still missing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848350" y="4324350"/>
            <a:ext cx="3657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Kidd &amp; Birhane, 2023; Harvey &amp; Fischer, 1997; Lee &amp; See, 2004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848350" y="4762500"/>
            <a:ext cx="3657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What is still missing is a process-level account of how these stages connect.</a:t>
            </a:r>
            <a:endParaRPr sz="12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F6F1E8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椭圆 2"/>
          <p:cNvSpPr>
            <a:spLocks noGrp="1"/>
          </p:cNvSpPr>
          <p:nvPr/>
        </p:nvSpPr>
        <p:spPr>
          <a:xfrm>
            <a:off x="9525000" y="-1143000"/>
            <a:ext cx="3429000" cy="3429000"/>
          </a:xfrm>
          <a:prstGeom prst="ellipse">
            <a:avLst/>
          </a:prstGeom>
          <a:solidFill>
            <a:srgbClr val="EDE1D0"/>
          </a:solidFill>
          <a:ln w="0">
            <a:solidFill>
              <a:srgbClr val="EDE1D0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椭圆 3"/>
          <p:cNvSpPr>
            <a:spLocks noGrp="1"/>
          </p:cNvSpPr>
          <p:nvPr/>
        </p:nvSpPr>
        <p:spPr>
          <a:xfrm>
            <a:off x="-1143000" y="4762500"/>
            <a:ext cx="2857500" cy="2857500"/>
          </a:xfrm>
          <a:prstGeom prst="ellipse">
            <a:avLst/>
          </a:prstGeom>
          <a:solidFill>
            <a:srgbClr val="F1E7D9"/>
          </a:solidFill>
          <a:ln w="0">
            <a:solidFill>
              <a:srgbClr val="F1E7D9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457200"/>
            <a:ext cx="19050" cy="5943600"/>
          </a:xfrm>
          <a:prstGeom prst="rect">
            <a:avLst/>
          </a:prstGeom>
          <a:solidFill>
            <a:srgbClr val="E8C6B8"/>
          </a:solidFill>
          <a:ln w="0">
            <a:solidFill>
              <a:srgbClr val="E8C6B8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kicker-marker"/>
          <p:cNvSpPr>
            <a:spLocks noGrp="1"/>
          </p:cNvSpPr>
          <p:nvPr/>
        </p:nvSpPr>
        <p:spPr>
          <a:xfrm>
            <a:off x="914400" y="657225"/>
            <a:ext cx="171450" cy="171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kicker-label"/>
          <p:cNvSpPr>
            <a:spLocks noGrp="1"/>
          </p:cNvSpPr>
          <p:nvPr/>
        </p:nvSpPr>
        <p:spPr>
          <a:xfrm>
            <a:off x="1181100" y="57150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WHY GENERATIVE AI</a:t>
            </a:r>
            <a:endParaRPr sz="105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914400"/>
            <a:ext cx="72390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5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5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People increasingly treat AI as a source of judgment, not just a tool</a:t>
            </a:r>
            <a:endParaRPr sz="25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649605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B7F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750" b="0">
                <a:solidFill>
                  <a:srgbClr val="7B7F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 these interactions, AI does not simply give an answer. It shapes how people understand the problem itself.</a:t>
            </a:r>
            <a:endParaRPr sz="750" b="0">
              <a:solidFill>
                <a:srgbClr val="7B7F8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763250" y="6438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04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43000" y="2095500"/>
            <a:ext cx="2667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Using AI as a tool</a:t>
            </a:r>
            <a:endParaRPr sz="15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572250" y="2095500"/>
            <a:ext cx="3048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Using AI as a judgment source</a:t>
            </a:r>
            <a:endParaRPr sz="15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43000" y="2552700"/>
            <a:ext cx="3048000" cy="6286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43000" y="2552700"/>
            <a:ext cx="57150" cy="6286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352550" y="2724150"/>
            <a:ext cx="2628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Search, calculate,</a:t>
            </a:r>
            <a:endParaRPr sz="16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or automate</a:t>
            </a:r>
            <a:endParaRPr sz="16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43000" y="3429000"/>
            <a:ext cx="3048000" cy="6286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43000" y="3429000"/>
            <a:ext cx="57150" cy="6286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352550" y="3600450"/>
            <a:ext cx="2628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Interpret the</a:t>
            </a:r>
            <a:endParaRPr sz="16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result yourself</a:t>
            </a:r>
            <a:endParaRPr sz="16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43000" y="4305300"/>
            <a:ext cx="3048000" cy="6286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143000" y="4305300"/>
            <a:ext cx="57150" cy="6286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352550" y="4476750"/>
            <a:ext cx="2628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tool stays</a:t>
            </a:r>
            <a:endParaRPr sz="16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outside the judgment</a:t>
            </a:r>
            <a:endParaRPr sz="16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572250" y="2552700"/>
            <a:ext cx="3429000" cy="6286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572250" y="2552700"/>
            <a:ext cx="57150" cy="6286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781800" y="2724150"/>
            <a:ext cx="3009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Consult, discuss,</a:t>
            </a:r>
            <a:endParaRPr sz="16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or confirm</a:t>
            </a:r>
            <a:endParaRPr sz="16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572250" y="3429000"/>
            <a:ext cx="3429000" cy="6286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572250" y="3429000"/>
            <a:ext cx="57150" cy="6286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781800" y="3600450"/>
            <a:ext cx="3009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Use AI to interpret</a:t>
            </a:r>
            <a:endParaRPr sz="16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complex situations</a:t>
            </a:r>
            <a:endParaRPr sz="16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572250" y="4305300"/>
            <a:ext cx="3429000" cy="6286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572250" y="4305300"/>
            <a:ext cx="57150" cy="6286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781800" y="4476750"/>
            <a:ext cx="3009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Rely on its explanation</a:t>
            </a:r>
            <a:endParaRPr sz="16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and framing</a:t>
            </a:r>
            <a:endParaRPr sz="16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101" name="直接箭头连接符 100"/>
          <p:cNvCxnSpPr>
            <a:stCxn id="12" idx="2"/>
            <a:endCxn id="15" idx="0"/>
          </p:cNvCxnSpPr>
          <p:nvPr/>
        </p:nvCxnSpPr>
        <p:spPr>
          <a:xfrm>
            <a:off x="2667000" y="3181350"/>
            <a:ext cx="0" cy="247650"/>
          </a:xfrm>
          <a:prstGeom prst="straightConnector1">
            <a:avLst/>
          </a:prstGeom>
          <a:ln w="19050">
            <a:solidFill>
              <a:srgbClr val="667561"/>
            </a:solidFill>
            <a:prstDash val="solid"/>
            <a:headEnd type="arrow" w="med" len="med"/>
          </a:ln>
        </p:spPr>
      </p:cxnSp>
      <p:cxnSp>
        <p:nvCxnSpPr>
          <p:cNvPr id="102" name="直接箭头连接符 101"/>
          <p:cNvCxnSpPr>
            <a:stCxn id="15" idx="2"/>
            <a:endCxn id="18" idx="0"/>
          </p:cNvCxnSpPr>
          <p:nvPr/>
        </p:nvCxnSpPr>
        <p:spPr>
          <a:xfrm>
            <a:off x="2667000" y="4057650"/>
            <a:ext cx="0" cy="247650"/>
          </a:xfrm>
          <a:prstGeom prst="straightConnector1">
            <a:avLst/>
          </a:prstGeom>
          <a:ln w="19050">
            <a:solidFill>
              <a:srgbClr val="667561"/>
            </a:solidFill>
            <a:prstDash val="solid"/>
            <a:headEnd type="arrow" w="med" len="med"/>
          </a:ln>
        </p:spPr>
      </p:cxnSp>
      <p:cxnSp>
        <p:nvCxnSpPr>
          <p:cNvPr id="103" name="直接箭头连接符 102"/>
          <p:cNvCxnSpPr>
            <a:stCxn id="21" idx="2"/>
            <a:endCxn id="24" idx="0"/>
          </p:cNvCxnSpPr>
          <p:nvPr/>
        </p:nvCxnSpPr>
        <p:spPr>
          <a:xfrm>
            <a:off x="8286750" y="3181350"/>
            <a:ext cx="0" cy="247650"/>
          </a:xfrm>
          <a:prstGeom prst="straightConnector1">
            <a:avLst/>
          </a:prstGeom>
          <a:ln w="19050">
            <a:solidFill>
              <a:srgbClr val="B45A3C"/>
            </a:solidFill>
            <a:prstDash val="solid"/>
            <a:headEnd type="arrow" w="med" len="med"/>
          </a:ln>
        </p:spPr>
      </p:cxnSp>
      <p:cxnSp>
        <p:nvCxnSpPr>
          <p:cNvPr id="104" name="直接箭头连接符 103"/>
          <p:cNvCxnSpPr>
            <a:stCxn id="24" idx="2"/>
            <a:endCxn id="27" idx="0"/>
          </p:cNvCxnSpPr>
          <p:nvPr/>
        </p:nvCxnSpPr>
        <p:spPr>
          <a:xfrm>
            <a:off x="8286750" y="4057650"/>
            <a:ext cx="0" cy="247650"/>
          </a:xfrm>
          <a:prstGeom prst="straightConnector1">
            <a:avLst/>
          </a:prstGeom>
          <a:ln w="19050">
            <a:solidFill>
              <a:srgbClr val="B45A3C"/>
            </a:solidFill>
            <a:prstDash val="solid"/>
            <a:headEnd type="arrow" w="med" len="med"/>
          </a:ln>
        </p:spPr>
      </p:cxnSp>
      <p:sp>
        <p:nvSpPr>
          <p:cNvPr id="34" name="矩形 33"/>
          <p:cNvSpPr>
            <a:spLocks noGrp="1"/>
          </p:cNvSpPr>
          <p:nvPr/>
        </p:nvSpPr>
        <p:spPr>
          <a:xfrm>
            <a:off x="4210050" y="3067050"/>
            <a:ext cx="1733550" cy="1143000"/>
          </a:xfrm>
          <a:prstGeom prst="rect">
            <a:avLst/>
          </a:prstGeom>
          <a:solidFill>
            <a:srgbClr val="EFE5D9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4210050" y="3067050"/>
            <a:ext cx="57150" cy="1143000"/>
          </a:xfrm>
          <a:prstGeom prst="rect">
            <a:avLst/>
          </a:prstGeom>
          <a:solidFill>
            <a:srgbClr val="C89B4A"/>
          </a:solidFill>
          <a:ln w="0">
            <a:solidFill>
              <a:srgbClr val="C89B4A"/>
            </a:solidFill>
            <a:prstDash val="solid"/>
          </a:ln>
        </p:spPr>
        <p:txBody>
          <a:bodyPr/>
          <a:lstStyle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419600" y="3219450"/>
            <a:ext cx="1314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C89B4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SHIFT</a:t>
            </a:r>
            <a:endParaRPr sz="900" b="1">
              <a:solidFill>
                <a:srgbClr val="C89B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419600" y="3390900"/>
            <a:ext cx="1314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3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From tool use</a:t>
            </a:r>
            <a:endParaRPr sz="13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3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 judgment</a:t>
            </a:r>
            <a:endParaRPr sz="13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3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interaction</a:t>
            </a:r>
            <a:endParaRPr sz="13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14400" y="5619750"/>
            <a:ext cx="1009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More and more users do not use AI only to search, calculate, or automate. They consult it, discuss with it, confirm with it, and sometimes rely on it.</a:t>
            </a:r>
            <a:endParaRPr sz="12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F6F1E8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椭圆 2"/>
          <p:cNvSpPr>
            <a:spLocks noGrp="1"/>
          </p:cNvSpPr>
          <p:nvPr/>
        </p:nvSpPr>
        <p:spPr>
          <a:xfrm>
            <a:off x="9525000" y="-1143000"/>
            <a:ext cx="3429000" cy="3429000"/>
          </a:xfrm>
          <a:prstGeom prst="ellipse">
            <a:avLst/>
          </a:prstGeom>
          <a:solidFill>
            <a:srgbClr val="EDE1D0"/>
          </a:solidFill>
          <a:ln w="0">
            <a:solidFill>
              <a:srgbClr val="EDE1D0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椭圆 3"/>
          <p:cNvSpPr>
            <a:spLocks noGrp="1"/>
          </p:cNvSpPr>
          <p:nvPr/>
        </p:nvSpPr>
        <p:spPr>
          <a:xfrm>
            <a:off x="-1143000" y="4762500"/>
            <a:ext cx="2857500" cy="2857500"/>
          </a:xfrm>
          <a:prstGeom prst="ellipse">
            <a:avLst/>
          </a:prstGeom>
          <a:solidFill>
            <a:srgbClr val="F1E7D9"/>
          </a:solidFill>
          <a:ln w="0">
            <a:solidFill>
              <a:srgbClr val="F1E7D9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457200"/>
            <a:ext cx="19050" cy="5943600"/>
          </a:xfrm>
          <a:prstGeom prst="rect">
            <a:avLst/>
          </a:prstGeom>
          <a:solidFill>
            <a:srgbClr val="E8C6B8"/>
          </a:solidFill>
          <a:ln w="0">
            <a:solidFill>
              <a:srgbClr val="E8C6B8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kicker-marker"/>
          <p:cNvSpPr>
            <a:spLocks noGrp="1"/>
          </p:cNvSpPr>
          <p:nvPr/>
        </p:nvSpPr>
        <p:spPr>
          <a:xfrm>
            <a:off x="914400" y="657225"/>
            <a:ext cx="171450" cy="171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kicker-label"/>
          <p:cNvSpPr>
            <a:spLocks noGrp="1"/>
          </p:cNvSpPr>
          <p:nvPr/>
        </p:nvSpPr>
        <p:spPr>
          <a:xfrm>
            <a:off x="1181100" y="57150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WHY LLMs FEEL DIFFERENT</a:t>
            </a:r>
            <a:endParaRPr sz="105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914400"/>
            <a:ext cx="6667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5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5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Large language models change interaction through language, explanation, and narrative</a:t>
            </a:r>
            <a:endParaRPr sz="25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649605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B7F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750" b="0">
                <a:solidFill>
                  <a:srgbClr val="7B7F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Their Transformer architecture supports contextual integration, and later tuning makes them able to explain, respond, and interact continuously with users.</a:t>
            </a:r>
            <a:endParaRPr sz="750" b="0">
              <a:solidFill>
                <a:srgbClr val="7B7F8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763250" y="6438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05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14400" y="2457450"/>
            <a:ext cx="2286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72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81100" y="2438400"/>
            <a:ext cx="533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This means the difference is not only more accurate output.</a:t>
            </a:r>
            <a:endParaRPr sz="172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14400" y="3238500"/>
            <a:ext cx="2286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72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81100" y="3219450"/>
            <a:ext cx="533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form of output and the mode of interaction also change.</a:t>
            </a:r>
            <a:endParaRPr sz="172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14400" y="4019550"/>
            <a:ext cx="2286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72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81100" y="4000500"/>
            <a:ext cx="533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LLMs enter the cognitive process through natural language, explanation, and narrative framing.</a:t>
            </a:r>
            <a:endParaRPr sz="172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239000" y="2171700"/>
            <a:ext cx="3429000" cy="262890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239000" y="2171700"/>
            <a:ext cx="57150" cy="262890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448550" y="2324100"/>
            <a:ext cx="3009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WHAT THIS ENABLES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448550" y="2495550"/>
            <a:ext cx="3009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Why it matters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7715250" y="2762250"/>
            <a:ext cx="2476500" cy="400050"/>
          </a:xfrm>
          <a:prstGeom prst="roundRect">
            <a:avLst>
              <a:gd name="adj" fmla="val 19048"/>
            </a:avLst>
          </a:prstGeom>
          <a:solidFill>
            <a:srgbClr val="E8C6B8"/>
          </a:solidFill>
          <a:ln w="0">
            <a:solidFill>
              <a:srgbClr val="E8C6B8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829550" y="2790825"/>
            <a:ext cx="2247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75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Context integration</a:t>
            </a:r>
            <a:endParaRPr sz="975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7715250" y="3352800"/>
            <a:ext cx="2476500" cy="400050"/>
          </a:xfrm>
          <a:prstGeom prst="roundRect">
            <a:avLst>
              <a:gd name="adj" fmla="val 19048"/>
            </a:avLst>
          </a:prstGeom>
          <a:solidFill>
            <a:srgbClr val="E9DDCB"/>
          </a:solidFill>
          <a:ln w="0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829550" y="3381375"/>
            <a:ext cx="2247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75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Continuous explanation</a:t>
            </a:r>
            <a:endParaRPr sz="975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7715250" y="3943350"/>
            <a:ext cx="2476500" cy="400050"/>
          </a:xfrm>
          <a:prstGeom prst="roundRect">
            <a:avLst>
              <a:gd name="adj" fmla="val 19048"/>
            </a:avLst>
          </a:prstGeom>
          <a:solidFill>
            <a:srgbClr val="E6E0D4"/>
          </a:solidFill>
          <a:ln w="0">
            <a:solidFill>
              <a:srgbClr val="E6E0D4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829550" y="3971925"/>
            <a:ext cx="2247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75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Narrative influence</a:t>
            </a:r>
            <a:endParaRPr sz="975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14400" y="5486400"/>
            <a:ext cx="971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That is why people can be influenced not only by answers, but by the way answers are framed.</a:t>
            </a:r>
            <a:endParaRPr sz="12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F6F1E8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椭圆 2"/>
          <p:cNvSpPr>
            <a:spLocks noGrp="1"/>
          </p:cNvSpPr>
          <p:nvPr/>
        </p:nvSpPr>
        <p:spPr>
          <a:xfrm>
            <a:off x="9525000" y="-1143000"/>
            <a:ext cx="3429000" cy="3429000"/>
          </a:xfrm>
          <a:prstGeom prst="ellipse">
            <a:avLst/>
          </a:prstGeom>
          <a:solidFill>
            <a:srgbClr val="EDE1D0"/>
          </a:solidFill>
          <a:ln w="0">
            <a:solidFill>
              <a:srgbClr val="EDE1D0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椭圆 3"/>
          <p:cNvSpPr>
            <a:spLocks noGrp="1"/>
          </p:cNvSpPr>
          <p:nvPr/>
        </p:nvSpPr>
        <p:spPr>
          <a:xfrm>
            <a:off x="-1143000" y="4762500"/>
            <a:ext cx="2857500" cy="2857500"/>
          </a:xfrm>
          <a:prstGeom prst="ellipse">
            <a:avLst/>
          </a:prstGeom>
          <a:solidFill>
            <a:srgbClr val="F1E7D9"/>
          </a:solidFill>
          <a:ln w="0">
            <a:solidFill>
              <a:srgbClr val="F1E7D9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457200"/>
            <a:ext cx="19050" cy="5943600"/>
          </a:xfrm>
          <a:prstGeom prst="rect">
            <a:avLst/>
          </a:prstGeom>
          <a:solidFill>
            <a:srgbClr val="E8C6B8"/>
          </a:solidFill>
          <a:ln w="0">
            <a:solidFill>
              <a:srgbClr val="E8C6B8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kicker-marker"/>
          <p:cNvSpPr>
            <a:spLocks noGrp="1"/>
          </p:cNvSpPr>
          <p:nvPr/>
        </p:nvSpPr>
        <p:spPr>
          <a:xfrm>
            <a:off x="914400" y="657225"/>
            <a:ext cx="171450" cy="171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kicker-label"/>
          <p:cNvSpPr>
            <a:spLocks noGrp="1"/>
          </p:cNvSpPr>
          <p:nvPr/>
        </p:nvSpPr>
        <p:spPr>
          <a:xfrm>
            <a:off x="1181100" y="57150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SHARED PROCESS</a:t>
            </a:r>
            <a:endParaRPr sz="105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914400"/>
            <a:ext cx="8191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5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5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key question is how AI reorganizes the decision-making process itself</a:t>
            </a:r>
            <a:endParaRPr sz="25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649605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B7F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750" b="0">
                <a:solidFill>
                  <a:srgbClr val="7B7F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Belief Formation -&gt; Risk Appraisal / Reliance Calibration -&gt; Responsibility</a:t>
            </a:r>
            <a:endParaRPr sz="750" b="0">
              <a:solidFill>
                <a:srgbClr val="7B7F8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763250" y="6438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06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14400" y="2266950"/>
            <a:ext cx="3143250" cy="32575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14400" y="2266950"/>
            <a:ext cx="57150" cy="32575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23950" y="2419350"/>
            <a:ext cx="2724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STAGE 1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23950" y="2590800"/>
            <a:ext cx="2724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Belief formation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04900" y="2990850"/>
            <a:ext cx="228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27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371600" y="2971800"/>
            <a:ext cx="247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information -&gt; belief</a:t>
            </a:r>
            <a:endParaRPr sz="127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04900" y="3676650"/>
            <a:ext cx="228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27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371600" y="3657600"/>
            <a:ext cx="247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How is information presented and interpreted before people form a judgment?</a:t>
            </a:r>
            <a:endParaRPr sz="127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04900" y="4362450"/>
            <a:ext cx="228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27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371600" y="4343400"/>
            <a:ext cx="247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AI can shape what feels sufficient, relevant, or already processed.</a:t>
            </a:r>
            <a:endParaRPr sz="127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104900" y="5010150"/>
            <a:ext cx="2724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This is where beliefs are formed.</a:t>
            </a:r>
            <a:endParaRPr sz="9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381500" y="2266950"/>
            <a:ext cx="3143250" cy="32575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381500" y="2266950"/>
            <a:ext cx="57150" cy="32575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591050" y="2419350"/>
            <a:ext cx="2724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STAGE 2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591050" y="2590800"/>
            <a:ext cx="2724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Reliance /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action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572000" y="2990850"/>
            <a:ext cx="228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27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838700" y="2971800"/>
            <a:ext cx="247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belief / feedback</a:t>
            </a:r>
            <a:endParaRPr sz="127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-&gt; action</a:t>
            </a:r>
            <a:endParaRPr sz="127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572000" y="3676650"/>
            <a:ext cx="228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27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838700" y="3657600"/>
            <a:ext cx="247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How are cognitive burden, risk perception, and action thresholds adjusted?</a:t>
            </a:r>
            <a:endParaRPr sz="127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572000" y="4362450"/>
            <a:ext cx="228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27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838700" y="4343400"/>
            <a:ext cx="247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People may rely, defer, or act differently once AI enters the process.</a:t>
            </a:r>
            <a:endParaRPr sz="127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572000" y="5010150"/>
            <a:ext cx="2724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This is where reliance and action are recalibrated.</a:t>
            </a:r>
            <a:endParaRPr sz="9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848600" y="2266950"/>
            <a:ext cx="3143250" cy="32575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848600" y="2266950"/>
            <a:ext cx="57150" cy="32575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058150" y="2419350"/>
            <a:ext cx="2724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STAGE 3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058150" y="2590800"/>
            <a:ext cx="2724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Responsibility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039100" y="2990850"/>
            <a:ext cx="228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27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305800" y="2971800"/>
            <a:ext cx="247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action -&gt; consequence</a:t>
            </a:r>
            <a:endParaRPr sz="127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039100" y="3676650"/>
            <a:ext cx="228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27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305800" y="3657600"/>
            <a:ext cx="247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How are decision authority, ownership, and consequences understood after action?</a:t>
            </a:r>
            <a:endParaRPr sz="127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039100" y="4362450"/>
            <a:ext cx="228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  <a:endParaRPr sz="1275" b="1">
              <a:solidFill>
                <a:srgbClr val="B45A3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305800" y="4343400"/>
            <a:ext cx="2476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0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AI can also reshape how responsibility is assigned once outcomes occur.</a:t>
            </a:r>
            <a:endParaRPr sz="1275" b="0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039100" y="5010150"/>
            <a:ext cx="2724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This is where responsibility is interpreted.</a:t>
            </a:r>
            <a:endParaRPr sz="9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F6F1E8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椭圆 2"/>
          <p:cNvSpPr>
            <a:spLocks noGrp="1"/>
          </p:cNvSpPr>
          <p:nvPr/>
        </p:nvSpPr>
        <p:spPr>
          <a:xfrm>
            <a:off x="9525000" y="-1143000"/>
            <a:ext cx="3429000" cy="3429000"/>
          </a:xfrm>
          <a:prstGeom prst="ellipse">
            <a:avLst/>
          </a:prstGeom>
          <a:solidFill>
            <a:srgbClr val="EDE1D0"/>
          </a:solidFill>
          <a:ln w="0">
            <a:solidFill>
              <a:srgbClr val="EDE1D0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椭圆 3"/>
          <p:cNvSpPr>
            <a:spLocks noGrp="1"/>
          </p:cNvSpPr>
          <p:nvPr/>
        </p:nvSpPr>
        <p:spPr>
          <a:xfrm>
            <a:off x="-1143000" y="4762500"/>
            <a:ext cx="2857500" cy="2857500"/>
          </a:xfrm>
          <a:prstGeom prst="ellipse">
            <a:avLst/>
          </a:prstGeom>
          <a:solidFill>
            <a:srgbClr val="F1E7D9"/>
          </a:solidFill>
          <a:ln w="0">
            <a:solidFill>
              <a:srgbClr val="F1E7D9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457200"/>
            <a:ext cx="19050" cy="5943600"/>
          </a:xfrm>
          <a:prstGeom prst="rect">
            <a:avLst/>
          </a:prstGeom>
          <a:solidFill>
            <a:srgbClr val="E8C6B8"/>
          </a:solidFill>
          <a:ln w="0">
            <a:solidFill>
              <a:srgbClr val="E8C6B8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kicker-marker"/>
          <p:cNvSpPr>
            <a:spLocks noGrp="1"/>
          </p:cNvSpPr>
          <p:nvPr/>
        </p:nvSpPr>
        <p:spPr>
          <a:xfrm>
            <a:off x="914400" y="657225"/>
            <a:ext cx="171450" cy="171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kicker-label"/>
          <p:cNvSpPr>
            <a:spLocks noGrp="1"/>
          </p:cNvSpPr>
          <p:nvPr/>
        </p:nvSpPr>
        <p:spPr>
          <a:xfrm>
            <a:off x="1181100" y="57150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DECISION ARCHITECTURE</a:t>
            </a:r>
            <a:endParaRPr sz="105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914400"/>
            <a:ext cx="72390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5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5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This dissertation narrows the broader problem into AI as decision architecture</a:t>
            </a:r>
            <a:endParaRPr sz="25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649605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B7F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750" b="0">
                <a:solidFill>
                  <a:srgbClr val="7B7F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Decision architecture is used here as an integrative framework, not as a fully settled theory.</a:t>
            </a:r>
            <a:endParaRPr sz="750" b="0">
              <a:solidFill>
                <a:srgbClr val="7B7F8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763250" y="6438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07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14400" y="2343150"/>
            <a:ext cx="4076700" cy="13144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14400" y="2343150"/>
            <a:ext cx="57150" cy="1314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23950" y="249555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INFORMATION FLOW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23950" y="2667000"/>
            <a:ext cx="3657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What reaches the person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23950" y="3105150"/>
            <a:ext cx="3657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AI can reorder evidence, summary, explanation, and verification.</a:t>
            </a:r>
            <a:endParaRPr sz="12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638800" y="2343150"/>
            <a:ext cx="4076700" cy="13144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638800" y="2343150"/>
            <a:ext cx="57150" cy="1314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848350" y="249555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COGNITIVE BURDEN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848350" y="2667000"/>
            <a:ext cx="3657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What must be processed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848350" y="3105150"/>
            <a:ext cx="3657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It changes what people feel they need to inspect, infer, or own themselves.</a:t>
            </a:r>
            <a:endParaRPr sz="12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14400" y="4000500"/>
            <a:ext cx="4076700" cy="13144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14400" y="4000500"/>
            <a:ext cx="57150" cy="1314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23950" y="415290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ACTION THRESHOLDS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23950" y="4324350"/>
            <a:ext cx="3657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When action is triggered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23950" y="4762500"/>
            <a:ext cx="3657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It recalibrates reliance, delegation, and the point at which people act.</a:t>
            </a:r>
            <a:endParaRPr sz="12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638800" y="4000500"/>
            <a:ext cx="4076700" cy="13144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638800" y="4000500"/>
            <a:ext cx="57150" cy="1314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848350" y="415290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RESPONSIBILITY RELATIONS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848350" y="4324350"/>
            <a:ext cx="3657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Who bears consequences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848350" y="4762500"/>
            <a:ext cx="3657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It reshapes ownership, accountability, and responsibility sharing after action.</a:t>
            </a:r>
            <a:endParaRPr sz="12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F6F1E8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椭圆 2"/>
          <p:cNvSpPr>
            <a:spLocks noGrp="1"/>
          </p:cNvSpPr>
          <p:nvPr/>
        </p:nvSpPr>
        <p:spPr>
          <a:xfrm>
            <a:off x="9525000" y="-1143000"/>
            <a:ext cx="3429000" cy="3429000"/>
          </a:xfrm>
          <a:prstGeom prst="ellipse">
            <a:avLst/>
          </a:prstGeom>
          <a:solidFill>
            <a:srgbClr val="EDE1D0"/>
          </a:solidFill>
          <a:ln w="0">
            <a:solidFill>
              <a:srgbClr val="EDE1D0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椭圆 3"/>
          <p:cNvSpPr>
            <a:spLocks noGrp="1"/>
          </p:cNvSpPr>
          <p:nvPr/>
        </p:nvSpPr>
        <p:spPr>
          <a:xfrm>
            <a:off x="-1143000" y="4762500"/>
            <a:ext cx="2857500" cy="2857500"/>
          </a:xfrm>
          <a:prstGeom prst="ellipse">
            <a:avLst/>
          </a:prstGeom>
          <a:solidFill>
            <a:srgbClr val="F1E7D9"/>
          </a:solidFill>
          <a:ln w="0">
            <a:solidFill>
              <a:srgbClr val="F1E7D9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457200"/>
            <a:ext cx="19050" cy="5943600"/>
          </a:xfrm>
          <a:prstGeom prst="rect">
            <a:avLst/>
          </a:prstGeom>
          <a:solidFill>
            <a:srgbClr val="E8C6B8"/>
          </a:solidFill>
          <a:ln w="0">
            <a:solidFill>
              <a:srgbClr val="E8C6B8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kicker-marker"/>
          <p:cNvSpPr>
            <a:spLocks noGrp="1"/>
          </p:cNvSpPr>
          <p:nvPr/>
        </p:nvSpPr>
        <p:spPr>
          <a:xfrm>
            <a:off x="914400" y="657225"/>
            <a:ext cx="171450" cy="171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kicker-label"/>
          <p:cNvSpPr>
            <a:spLocks noGrp="1"/>
          </p:cNvSpPr>
          <p:nvPr/>
        </p:nvSpPr>
        <p:spPr>
          <a:xfrm>
            <a:off x="1181100" y="57150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PAPER MAP</a:t>
            </a:r>
            <a:endParaRPr sz="105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914400"/>
            <a:ext cx="72390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5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55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three papers isolate different mappings within the same decision process</a:t>
            </a:r>
            <a:endParaRPr sz="255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649605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B7F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750" b="0">
                <a:solidFill>
                  <a:srgbClr val="7B7F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Unity comes from one process; independence comes from different mechanisms, tasks, and outcomes.</a:t>
            </a:r>
            <a:endParaRPr sz="750" b="0">
              <a:solidFill>
                <a:srgbClr val="7B7F8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763250" y="6438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08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14400" y="2343150"/>
            <a:ext cx="4076700" cy="13144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14400" y="2343150"/>
            <a:ext cx="57150" cy="1314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23950" y="249555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PAPER 1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23950" y="2667000"/>
            <a:ext cx="3657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evidence -&gt; belief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23950" y="3105150"/>
            <a:ext cx="3657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How answer-first AI changes evidence search, Bayesian updating, and subjective mastery.</a:t>
            </a:r>
            <a:endParaRPr sz="12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638800" y="2343150"/>
            <a:ext cx="4076700" cy="13144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638800" y="2343150"/>
            <a:ext cx="57150" cy="1314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848350" y="249555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PAPER 2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848350" y="2667000"/>
            <a:ext cx="3657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belief / feedback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-&gt; action threshold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848350" y="3105150"/>
            <a:ext cx="3657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How early AI error recalibrates reliance under repeated feedback.</a:t>
            </a:r>
            <a:endParaRPr sz="12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14400" y="4000500"/>
            <a:ext cx="4076700" cy="13144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14400" y="4000500"/>
            <a:ext cx="57150" cy="1314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23950" y="415290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PAPER 3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23950" y="4324350"/>
            <a:ext cx="3657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action -&gt; responsibility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23950" y="4762500"/>
            <a:ext cx="3657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How AI-assisted action redistributes ownership and responsibility attribution.</a:t>
            </a:r>
            <a:endParaRPr sz="12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638800" y="4000500"/>
            <a:ext cx="4076700" cy="1314450"/>
          </a:xfrm>
          <a:prstGeom prst="rect">
            <a:avLst/>
          </a:prstGeom>
          <a:solidFill>
            <a:srgbClr val="FFF9F0"/>
          </a:solidFill>
          <a:ln w="9525">
            <a:solidFill>
              <a:srgbClr val="E9DDCB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638800" y="4000500"/>
            <a:ext cx="57150" cy="1314450"/>
          </a:xfrm>
          <a:prstGeom prst="rect">
            <a:avLst/>
          </a:prstGeom>
          <a:solidFill>
            <a:srgbClr val="B45A3C"/>
          </a:solidFill>
          <a:ln w="0">
            <a:solidFill>
              <a:srgbClr val="B45A3C"/>
            </a:solidFill>
            <a:prstDash val="solid"/>
          </a:ln>
        </p:spPr>
        <p:txBody>
          <a:bodyPr/>
          <a:lstStyle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848350" y="415290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>
                <a:solidFill>
                  <a:srgbClr val="B45A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NEXT</a:t>
            </a:r>
            <a:endParaRPr sz="900" b="1">
              <a:solidFill>
                <a:srgbClr val="B45A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848350" y="4324350"/>
            <a:ext cx="3657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1D24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Why begin with Paper 1</a:t>
            </a:r>
            <a:endParaRPr sz="1500" b="1">
              <a:solidFill>
                <a:srgbClr val="1D24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848350" y="4762500"/>
            <a:ext cx="3657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5F677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Later reliance and responsibility rest on a belief base AI may already have reshaped.</a:t>
            </a:r>
            <a:endParaRPr sz="1200" b="0">
              <a:solidFill>
                <a:srgbClr val="5F677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5710</Words>
  <Application>WPS 演示</Application>
  <PresentationFormat>Converted Presentation</PresentationFormat>
  <Paragraphs>293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Times New Roman</vt:lpstr>
      <vt:lpstr>Aptos Mono</vt:lpstr>
      <vt:lpstr>Cascadia Mono SemiLight</vt:lpstr>
      <vt:lpstr>Aptos</vt:lpstr>
      <vt:lpstr>Segoe UI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汉克克克克克克克</cp:lastModifiedBy>
  <cp:revision>7</cp:revision>
  <dcterms:created xsi:type="dcterms:W3CDTF">2026-07-05T17:54:00Z</dcterms:created>
  <dcterms:modified xsi:type="dcterms:W3CDTF">2026-07-06T15:13:02Z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FC4ED24489424AEB9888716CB5877813_12</vt:lpwstr>
  </property>
</Properties>
</file>