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544daf01584526" /><Relationship Type="http://schemas.openxmlformats.org/officeDocument/2006/relationships/extended-properties" Target="/docProps/app.xml" Id="R9818d156d67842cb" /><Relationship Type="http://schemas.openxmlformats.org/officeDocument/2006/relationships/officeDocument" Target="/ppt/presentation.xml" Id="R3c5954b22c8f44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5c2d0d0bba459a"/>
  </p:sldMasterIdLst>
  <p:notesMasterIdLst>
    <p:notesMasterId xmlns:r="http://schemas.openxmlformats.org/officeDocument/2006/relationships" r:id="Rc3a6823023b94d92"/>
  </p:notesMasterIdLst>
  <p:sldIdLst>
    <p:sldId xmlns:r="http://schemas.openxmlformats.org/officeDocument/2006/relationships" id="256" r:id="Re7dbc61d04d94b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2f4d4cea484f54" /><Relationship Type="http://schemas.openxmlformats.org/officeDocument/2006/relationships/slideMaster" Target="/ppt/slideMasters/slideMaster1.xml" Id="R1b5c2d0d0bba459a" /><Relationship Type="http://schemas.openxmlformats.org/officeDocument/2006/relationships/notesMaster" Target="/ppt/notesMasters/notesMaster1.xml" Id="Rc3a6823023b94d92" /><Relationship Type="http://schemas.openxmlformats.org/officeDocument/2006/relationships/presProps" Target="/ppt/presProps.xml" Id="R5d1975fca7b74fa7" /><Relationship Type="http://schemas.openxmlformats.org/officeDocument/2006/relationships/tableStyles" Target="/ppt/tableStyles.xml" Id="R2091c23548e94ed2" /><Relationship Type="http://schemas.openxmlformats.org/officeDocument/2006/relationships/slide" Target="/ppt/slides/slide1.xml" Id="Re7dbc61d04d94b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aca0edd35a43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28113677824f7f" /><Relationship Type="http://schemas.openxmlformats.org/officeDocument/2006/relationships/notesMaster" Target="/ppt/notesMasters/notesMaster1.xml" Id="R8c3ba94cc6f44e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154ce21814d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aaed04d27241f6" /><Relationship Type="http://schemas.openxmlformats.org/officeDocument/2006/relationships/slideLayout" Target="/ppt/slideLayouts/slideLayout1.xml" Id="R8fde7c66185a45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de7c66185a45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f5abec9cf4b04" /><Relationship Type="http://schemas.openxmlformats.org/officeDocument/2006/relationships/notesSlide" Target="/ppt/notesSlides/notesSlide1.xml" Id="R1236bc05797441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9E155C-DC0C-45FB-9948-0831D710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50FBD-51E6-4238-800A-58FE79A5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8577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BC576-5916-4E14-9664-14CB8C71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9926CB-7946-4ECD-82FA-09A5E423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13036-F9BB-4568-BDC0-BB31DF21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PAPER 1 EXPERIMENT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32C3C-9173-4013-8AA1-493EADFC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One baseline and four summary conditions feed into one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56770-C2ED-4E53-86B7-37585FC0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The first chart shows the 5-group design. The second chart shows how one participant moves through the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95DF6-FDDB-467E-8A6A-C3A4D74F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1. Condition Assignment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CFE2F-0087-4DD1-BC60-8D7E9F9E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1 no-summary baseline + 2 summary labels x 2 summary types = 5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8EBAF-B5AC-4E13-9C07-B64286E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A8E6C-2E61-4BAF-BFC7-0948317E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2381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7E3CB-7635-493E-B24D-0AD1F57B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A7DF6-8EED-4D8A-8D31-2008AD07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194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G1  No-summary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BC5FF-71D4-4E93-A8C3-C4F52F01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Participants skip the summary and enter the common full evidence pool directly.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2D703-C6F9-4F99-8569-3EB30D8B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825FA-78D9-4646-916F-EB398CA4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00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Unlabeled summary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1BB62E-A17C-458D-850C-8E75AD98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AI-labeled 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912A7-5AB3-4D85-9073-859E7FB7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491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Summary groups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4AB9F-C915-407F-BDCC-FB73CC6B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Complete</a:t>
            </a:r>
          </a:p>
          <a:p xmlns:a="http://schemas.openxmlformats.org/drawingml/2006/main">
            <a:pPr algn="r">
              <a:def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7717A-7288-4C32-A11A-0DDB6F59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480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Incomplete</a:t>
            </a:r>
          </a:p>
          <a:p xmlns:a="http://schemas.openxmlformats.org/drawingml/2006/main">
            <a:pPr algn="r">
              <a:def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F5586-08C8-4A53-BF29-4093B3B8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2A68E-262A-47B9-828C-AC2498FF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2593F-C454-4514-8480-0E4C5223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78B637-2B24-4143-A8A9-430ADF80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67050"/>
            <a:ext cx="2114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Unlabeled + complete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46954F-D0CA-4BFB-ADA5-A6F290F8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B282A-A4FA-4622-B682-DF6F32B8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4DE5AA-206B-44B4-97E6-D2F511F4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EAA87E-3C9E-492A-8898-BF0330A5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67050"/>
            <a:ext cx="2114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AI-labeled + complete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E8FAB9-882C-4EE0-8B84-CA4BF76D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718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3D8477-E7FF-4147-97B1-19CE9248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718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66F"/>
          </a:solidFill>
          <a:ln xmlns:a="http://schemas.openxmlformats.org/drawingml/2006/main" w="0">
            <a:solidFill>
              <a:srgbClr val="7B866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5F145E-5CE9-414A-B048-F06D05C1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861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33A518-FD94-4431-B37A-A3D0CD95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71900"/>
            <a:ext cx="2114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Unlabeled + incomplete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04C67A-E03E-4F1F-8EFB-C0614183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D9EDA1-DCD5-402D-BD4E-A4619240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66F"/>
          </a:solidFill>
          <a:ln xmlns:a="http://schemas.openxmlformats.org/drawingml/2006/main" w="0">
            <a:solidFill>
              <a:srgbClr val="7B866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A69498-E770-4AC6-B46B-28F3A0AE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G5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E9BE5B-95DD-4B6F-B6CC-1C207B51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71900"/>
            <a:ext cx="2114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AI-labeled + incomplete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5BA093-D7CC-42ED-81CD-838C4DAF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24300"/>
            <a:ext cx="962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All groups ultimately face the same full evidence pool; only the initial summary exposure changes.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B0E678-60AF-4192-92A9-A7274923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C54D28-B35D-42D4-8037-CE43BE14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57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2. Participant Journey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064ABB-1A80-41E8-A86C-DF9A94A5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Every participant then moves through the same search-and-update sequence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82359E-7E96-4979-905F-B2CCC992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4AE1D8-DC30-4123-B36C-C5740EF7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43C975-68A9-4760-87CB-D5CA2ECF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Step 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606626-62F1-4A00-BFA6-E48DEDC9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43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Task instruction</a:t>
            </a:r>
          </a:p>
          <a:p xmlns:a="http://schemas.openxmlformats.org/drawingml/2006/main">
            <a:pPr algn="l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Report prior belief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FED0BC-5644-4BB6-A9AB-5AC4B998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4350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8BF643-98AD-4030-9EE0-7123FFDF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43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0DD78F-CB37-4EA5-A5BE-4919A572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Step 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FB48FE-1B03-4A2A-BD89-8D7FF672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43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Assigned to one</a:t>
            </a:r>
          </a:p>
          <a:p xmlns:a="http://schemas.openxmlformats.org/drawingml/2006/main">
            <a:pPr algn="l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of the 5 groups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DC1270-2EE7-4645-BF67-A4062EA9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4350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592182-A3B4-4885-B072-802ECA57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43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FCDDFE-3002-4D96-A149-7883FC54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Step 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CACB9C-3FEA-430F-A461-C894E525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543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Initial information stage</a:t>
            </a:r>
          </a:p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Baseline: no summary</a:t>
            </a:r>
          </a:p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Others: one of four</a:t>
            </a:r>
          </a:p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summary conditions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1724A3-1133-4C0B-B3B7-D247C7D5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F8404A-CD5F-4A82-88B0-B99E6E31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355140-A742-4129-A388-6813E453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Step 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8D0368-28CD-4172-ACF3-B0DE55A4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43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Search the evidence pool</a:t>
            </a:r>
          </a:p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Pay cost per card</a:t>
            </a:r>
          </a:p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Stop whenever ready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380991-73E6-463E-87F6-C62D5201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170D7C-A01A-47B3-ACAD-AEF42EE2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6B6F22-3B57-4FFC-9AD4-494BDEA5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Step 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122C5C-A0B9-4077-AB14-80E09FA8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43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Report final posterior</a:t>
            </a:r>
          </a:p>
          <a:p xmlns:a="http://schemas.openxmlformats.org/drawingml/2006/main">
            <a:pPr algn="l">
              <a:def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Make final choice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C96FFD-72BB-449C-A71D-3882485A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143500"/>
            <a:ext cx="1600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4C3ABD-F9B3-4FC7-ABFC-7222874C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14350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F9BF98-7548-4BE4-BA71-3C88AFD5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5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Step 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BB26BC-36FE-4398-B15E-229A66F6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43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Post-task measures</a:t>
            </a:r>
          </a:p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Confidence, perceived</a:t>
            </a:r>
          </a:p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information, ownership,</a:t>
            </a:r>
          </a:p>
          <a:p xmlns:a="http://schemas.openxmlformats.org/drawingml/2006/main">
            <a:pPr algn="l"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and comprehension check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5A8BF4-500F-4F04-9F04-A5886922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91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F582284-640B-404D-A166-BC1AB98A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391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6D6A737-3D3C-4AE3-9FEA-27398732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391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B4AA9B-D458-4E68-AA28-4B441D90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91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A0D794A-7E2B-4459-9FA0-399FF4B1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391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061F732-109F-4A6D-8B0A-FDDAF888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Key identification: summary groups share the same full evidence pool and search cost; within matched summaries, only the AI source label changes.</a:t>
            </a:r>
          </a:p>
        </p:txBody>
      </p:sp>
    </p:spTree>
    <p:extLst>
      <p:ext uri="{BB962C8B-B14F-4D97-AF65-F5344CB8AC3E}">
        <p14:creationId xmlns:p14="http://schemas.microsoft.com/office/powerpoint/2010/main" val="412568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2026-07-04T18:09:45.5280000Z</dcterms:created>
  <dcterms:modified xsi:type="dcterms:W3CDTF">2026-07-04T18:09:45.5280000Z</dcterms:modified>
</coreProperties>
</file>