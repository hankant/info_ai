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2" r:id="rId6"/>
    <p:sldId id="263" r:id="rId7"/>
    <p:sldId id="264" r:id="rId8"/>
    <p:sldId id="265" r:id="rId9"/>
    <p:sldId id="266" r:id="rId10"/>
    <p:sldId id="269" r:id="rId11"/>
    <p:sldId id="267" r:id="rId12"/>
    <p:sldId id="268" r:id="rId1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Now I will move to the first paper of my dissertation.</a:t>
            </a:r>
          </a:p>
          <a:p>
            <a:r>
              <a:rPr lang="en-US">
                <a:latin typeface="Times New Roman" panose="02020603050405020304" pitchFamily="18" charset="0"/>
              </a:rPr>
              <a:t>This paper focuses how people move from evidence to belief.</a:t>
            </a:r>
          </a:p>
          <a:p>
            <a:r>
              <a:rPr lang="en-US">
                <a:latin typeface="Times New Roman" panose="02020603050405020304" pitchFamily="18" charset="0"/>
              </a:rPr>
              <a:t>The basic idea is simple.</a:t>
            </a:r>
          </a:p>
          <a:p>
            <a:r>
              <a:rPr lang="en-US">
                <a:latin typeface="Times New Roman" panose="02020603050405020304" pitchFamily="18" charset="0"/>
              </a:rPr>
              <a:t>Generative AI does not only give people an answer faster.</a:t>
            </a:r>
          </a:p>
          <a:p>
            <a:r>
              <a:rPr lang="en-US">
                <a:latin typeface="Times New Roman" panose="02020603050405020304" pitchFamily="18" charset="0"/>
              </a:rPr>
              <a:t>It may also change when people feel they have already seen enough evidence.</a:t>
            </a:r>
          </a:p>
          <a:p>
            <a:endParaRPr lang="en-US" altLang="zh-CN">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Let me start with a simple contrast.</a:t>
            </a:r>
          </a:p>
          <a:p>
            <a:r>
              <a:rPr lang="en-US">
                <a:latin typeface="Times New Roman" panose="02020603050405020304" pitchFamily="18" charset="0"/>
              </a:rPr>
              <a:t>When we use a search engine, we usually see evidence first.</a:t>
            </a:r>
          </a:p>
          <a:p>
            <a:r>
              <a:rPr lang="en-US">
                <a:latin typeface="Times New Roman" panose="02020603050405020304" pitchFamily="18" charset="0"/>
              </a:rPr>
              <a:t>We open different links.</a:t>
            </a:r>
          </a:p>
          <a:p>
            <a:r>
              <a:rPr lang="en-US">
                <a:latin typeface="Times New Roman" panose="02020603050405020304" pitchFamily="18" charset="0"/>
              </a:rPr>
              <a:t>We compare sources.</a:t>
            </a:r>
          </a:p>
          <a:p>
            <a:r>
              <a:rPr lang="en-US">
                <a:latin typeface="Times New Roman" panose="02020603050405020304" pitchFamily="18" charset="0"/>
              </a:rPr>
              <a:t>We notice disagreement.</a:t>
            </a:r>
          </a:p>
          <a:p>
            <a:r>
              <a:rPr lang="en-US">
                <a:latin typeface="Times New Roman" panose="02020603050405020304" pitchFamily="18" charset="0"/>
              </a:rPr>
              <a:t>Then we slowly form our own judgment.</a:t>
            </a:r>
          </a:p>
          <a:p>
            <a:r>
              <a:rPr lang="en-US">
                <a:latin typeface="Times New Roman" panose="02020603050405020304" pitchFamily="18" charset="0"/>
              </a:rPr>
              <a:t>But when we use an AI assistant, the order is often reversed.</a:t>
            </a:r>
          </a:p>
          <a:p>
            <a:r>
              <a:rPr lang="en-US">
                <a:latin typeface="Times New Roman" panose="02020603050405020304" pitchFamily="18" charset="0"/>
              </a:rPr>
              <a:t>We first receive a summarized answer.</a:t>
            </a:r>
          </a:p>
          <a:p>
            <a:r>
              <a:rPr lang="en-US">
                <a:latin typeface="Times New Roman" panose="02020603050405020304" pitchFamily="18" charset="0"/>
              </a:rPr>
              <a:t>The answer may already include an explanation, an example, and a conclusion.</a:t>
            </a:r>
          </a:p>
          <a:p>
            <a:r>
              <a:rPr lang="en-US">
                <a:latin typeface="Times New Roman" panose="02020603050405020304" pitchFamily="18" charset="0"/>
              </a:rPr>
              <a:t>Only after that do we decide whether we want to verify it.</a:t>
            </a:r>
          </a:p>
          <a:p>
            <a:r>
              <a:rPr lang="en-US">
                <a:latin typeface="Times New Roman" panose="02020603050405020304" pitchFamily="18" charset="0"/>
              </a:rPr>
              <a:t>So the difference is not only speed.</a:t>
            </a:r>
          </a:p>
          <a:p>
            <a:r>
              <a:rPr lang="en-US">
                <a:latin typeface="Times New Roman" panose="02020603050405020304" pitchFamily="18" charset="0"/>
              </a:rPr>
              <a:t>The deeper difference is the order of the process.</a:t>
            </a:r>
          </a:p>
          <a:p>
            <a:r>
              <a:rPr lang="en-US">
                <a:latin typeface="Times New Roman" panose="02020603050405020304" pitchFamily="18" charset="0"/>
              </a:rPr>
              <a:t>This reversal is the starting intuition of the paper.</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creates an important problem.</a:t>
            </a:r>
          </a:p>
          <a:p>
            <a:r>
              <a:rPr lang="en-US">
                <a:latin typeface="Times New Roman" panose="02020603050405020304" pitchFamily="18" charset="0"/>
              </a:rPr>
              <a:t>If people search less after seeing an AI answer, should we worry?</a:t>
            </a:r>
          </a:p>
          <a:p>
            <a:r>
              <a:rPr lang="en-US">
                <a:latin typeface="Times New Roman" panose="02020603050405020304" pitchFamily="18" charset="0"/>
              </a:rPr>
              <a:t>Not necessarily.</a:t>
            </a:r>
          </a:p>
          <a:p>
            <a:r>
              <a:rPr lang="en-US">
                <a:latin typeface="Times New Roman" panose="02020603050405020304" pitchFamily="18" charset="0"/>
              </a:rPr>
              <a:t>Less search can mean two very different things.</a:t>
            </a:r>
          </a:p>
          <a:p>
            <a:r>
              <a:rPr lang="en-US">
                <a:latin typeface="Times New Roman" panose="02020603050405020304" pitchFamily="18" charset="0"/>
              </a:rPr>
              <a:t>In the first case, AI has already compressed useful evidence well.</a:t>
            </a:r>
          </a:p>
          <a:p>
            <a:r>
              <a:rPr lang="en-US">
                <a:latin typeface="Times New Roman" panose="02020603050405020304" pitchFamily="18" charset="0"/>
              </a:rPr>
              <a:t>Then the user searches less, but the final judgment does not become worse.</a:t>
            </a:r>
          </a:p>
          <a:p>
            <a:r>
              <a:rPr lang="en-US">
                <a:latin typeface="Times New Roman" panose="02020603050405020304" pitchFamily="18" charset="0"/>
              </a:rPr>
              <a:t>But in the second case, the user searches less because the AI answer makes the evidence feel more complete than it really is.</a:t>
            </a:r>
          </a:p>
          <a:p>
            <a:r>
              <a:rPr lang="en-US">
                <a:latin typeface="Times New Roman" panose="02020603050405020304" pitchFamily="18" charset="0"/>
              </a:rPr>
              <a:t>Then the user may stop too early, and the final judgment may become worse.</a:t>
            </a:r>
          </a:p>
          <a:p>
            <a:r>
              <a:rPr lang="en-US">
                <a:latin typeface="Times New Roman" panose="02020603050405020304" pitchFamily="18" charset="0"/>
              </a:rPr>
              <a:t>That is harmful under-search.</a:t>
            </a:r>
          </a:p>
          <a:p>
            <a:r>
              <a:rPr lang="en-US">
                <a:latin typeface="Times New Roman" panose="02020603050405020304" pitchFamily="18" charset="0"/>
              </a:rPr>
              <a:t>we should asks whether reduced search is justified.</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Here I want to anchor the paper in the existing literature more concretely.</a:t>
            </a:r>
          </a:p>
          <a:p>
            <a:r>
              <a:rPr lang="en-US">
                <a:latin typeface="Times New Roman" panose="02020603050405020304" pitchFamily="18" charset="0"/>
              </a:rPr>
              <a:t>The image summarizes the closest literature targets on automation bias, reduced search, and verification. These papers are valuable, but they often move too quickly from less search to worse judgment, or they treat verification intensity as the key mechanism.</a:t>
            </a:r>
          </a:p>
          <a:p>
            <a:r>
              <a:rPr lang="en-US">
                <a:latin typeface="Times New Roman" panose="02020603050405020304" pitchFamily="18" charset="0"/>
              </a:rPr>
              <a:t>So my paper separates three things.</a:t>
            </a:r>
          </a:p>
          <a:p>
            <a:r>
              <a:rPr lang="en-US">
                <a:latin typeface="Times New Roman" panose="02020603050405020304" pitchFamily="18" charset="0"/>
              </a:rPr>
              <a:t>How much people search.</a:t>
            </a:r>
          </a:p>
          <a:p>
            <a:r>
              <a:rPr lang="en-US">
                <a:latin typeface="Times New Roman" panose="02020603050405020304" pitchFamily="18" charset="0"/>
              </a:rPr>
              <a:t>Whether their final belief is close to the evidence.</a:t>
            </a:r>
          </a:p>
          <a:p>
            <a:r>
              <a:rPr lang="en-US">
                <a:latin typeface="Times New Roman" panose="02020603050405020304" pitchFamily="18" charset="0"/>
              </a:rPr>
              <a:t>And how much they feel they understand the issue.</a:t>
            </a:r>
          </a:p>
          <a:p>
            <a:r>
              <a:rPr lang="en-US">
                <a:latin typeface="Times New Roman" panose="02020603050405020304" pitchFamily="18" charset="0"/>
              </a:rPr>
              <a:t>This is why I frame the paper </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latin typeface="Times New Roman" panose="02020603050405020304" pitchFamily="18" charset="0"/>
              </a:rPr>
              <a:t>The core question of this paper is simple.</a:t>
            </a:r>
          </a:p>
          <a:p>
            <a:r>
              <a:rPr lang="en-US" altLang="zh-CN">
                <a:latin typeface="Times New Roman" panose="02020603050405020304" pitchFamily="18" charset="0"/>
              </a:rPr>
              <a:t>After people see an AI answer, do they still want to look for more evidence?</a:t>
            </a:r>
          </a:p>
          <a:p>
            <a:r>
              <a:rPr lang="en-US" altLang="zh-CN">
                <a:latin typeface="Times New Roman" panose="02020603050405020304" pitchFamily="18" charset="0"/>
              </a:rPr>
              <a:t>Or do they feel that the answer is already enough?</a:t>
            </a:r>
          </a:p>
          <a:p>
            <a:r>
              <a:rPr lang="en-US" altLang="zh-CN">
                <a:latin typeface="Times New Roman" panose="02020603050405020304" pitchFamily="18" charset="0"/>
              </a:rPr>
              <a:t>This is not just about trust.</a:t>
            </a:r>
          </a:p>
          <a:p>
            <a:r>
              <a:rPr lang="en-US" altLang="zh-CN">
                <a:latin typeface="Times New Roman" panose="02020603050405020304" pitchFamily="18" charset="0"/>
              </a:rPr>
              <a:t>It is about information calbration.</a:t>
            </a:r>
          </a:p>
          <a:p>
            <a:r>
              <a:rPr lang="en-US" altLang="zh-CN">
                <a:latin typeface="Times New Roman" panose="02020603050405020304" pitchFamily="18" charset="0"/>
              </a:rPr>
              <a:t>Sometimes stopping earlier is fine.</a:t>
            </a:r>
          </a:p>
          <a:p>
            <a:r>
              <a:rPr lang="en-US" altLang="zh-CN">
                <a:latin typeface="Times New Roman" panose="02020603050405020304" pitchFamily="18" charset="0"/>
              </a:rPr>
              <a:t>If the AI summary is complete, it can save search cost.</a:t>
            </a:r>
          </a:p>
          <a:p>
            <a:r>
              <a:rPr lang="en-US" altLang="zh-CN">
                <a:latin typeface="Times New Roman" panose="02020603050405020304" pitchFamily="18" charset="0"/>
              </a:rPr>
              <a:t>But sometimes the summary is incomplete, people may still feel they know enough.</a:t>
            </a:r>
          </a:p>
          <a:p>
            <a:r>
              <a:rPr lang="en-US" altLang="zh-CN">
                <a:latin typeface="Times New Roman" panose="02020603050405020304" pitchFamily="18" charset="0"/>
              </a:rPr>
              <a:t>Because they may assume that AI has already searched, compared, and processed the evidence.</a:t>
            </a:r>
          </a:p>
          <a:p>
            <a:r>
              <a:rPr lang="en-US" altLang="zh-CN">
                <a:latin typeface="Times New Roman" panose="02020603050405020304" pitchFamily="18" charset="0"/>
              </a:rPr>
              <a:t>So the current answer feels more complete than it really is.</a:t>
            </a:r>
          </a:p>
          <a:p>
            <a:r>
              <a:rPr lang="en-US" altLang="zh-CN">
                <a:latin typeface="Times New Roman" panose="02020603050405020304" pitchFamily="18" charset="0"/>
              </a:rPr>
              <a:t>Then the value of further search feels lower.</a:t>
            </a:r>
          </a:p>
          <a:p>
            <a:r>
              <a:rPr lang="en-US" altLang="zh-CN">
                <a:latin typeface="Times New Roman" panose="02020603050405020304" pitchFamily="18" charset="0"/>
              </a:rPr>
              <a:t>And people stop too early.</a:t>
            </a:r>
          </a:p>
          <a:p>
            <a:r>
              <a:rPr lang="en-US" altLang="zh-CN">
                <a:latin typeface="Times New Roman" panose="02020603050405020304" pitchFamily="18" charset="0"/>
              </a:rPr>
              <a:t>That is the mechanism I want to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The three research questions are deliberately ordered.</a:t>
            </a:r>
          </a:p>
          <a:p>
            <a:r>
              <a:rPr lang="en-US">
                <a:latin typeface="Times New Roman" panose="02020603050405020304" pitchFamily="18" charset="0"/>
              </a:rPr>
              <a:t>The first is behavioral: does the AI label change the stopping threshold for additional search? The second is normative: when search declines, is that efficient compression or harmful deviation? The third is metacognitive: do subjective mastery and objective judgment quality separate from each other?</a:t>
            </a:r>
          </a:p>
          <a:p>
            <a:r>
              <a:rPr lang="en-US">
                <a:latin typeface="Times New Roman" panose="02020603050405020304" pitchFamily="18" charset="0"/>
              </a:rPr>
              <a:t>That sequence is what allows the paper to move from what users do, to whether it is justified, to whether they recognize their own informational position correctly.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Before moving to the full design, I want to explain what kind of experiment this is.
Its Bayesian prototype is the classic urn-drawing or bookbag-and-poker-chip belief-updating task.
The innovation is to contextualize that prototype as a company-risk judgment task, introduce summary-first presentation, and then let participants decide whether to inspect additional evidence under a common search cost.</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is an important correction relative to the older six-cell description.</a:t>
            </a:r>
          </a:p>
          <a:p>
            <a:r>
              <a:rPr lang="en-US">
                <a:latin typeface="Times New Roman" panose="02020603050405020304" pitchFamily="18" charset="0"/>
              </a:rPr>
              <a:t>The current design has five groups. There is one no-summary baseline that enters the shared full evidence pool directly, and then four summary groups produced by completeness crossed with source label.</a:t>
            </a:r>
          </a:p>
          <a:p>
            <a:r>
              <a:rPr lang="en-US">
                <a:latin typeface="Times New Roman" panose="02020603050405020304" pitchFamily="18" charset="0"/>
              </a:rPr>
              <a:t>The baseline does not need to be split in two, because the baseline always faces the same full pool rather than a separate summary condition.</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slide captures the cleanest identification logic in the design.</a:t>
            </a:r>
          </a:p>
          <a:p>
            <a:r>
              <a:rPr lang="en-US">
                <a:latin typeface="Times New Roman" panose="02020603050405020304" pitchFamily="18" charset="0"/>
              </a:rPr>
              <a:t>The unlabeled-summary and AI-labeled-summary groups read exactly the same summary text. The only difference is whether the source is explicitly marked as AI.</a:t>
            </a:r>
          </a:p>
          <a:p>
            <a:r>
              <a:rPr lang="en-US">
                <a:latin typeface="Times New Roman" panose="02020603050405020304" pitchFamily="18" charset="0"/>
              </a:rPr>
              <a:t>So if their later search, posterior, or mastery judgments diverge, that difference cannot be attributed to content. It has to come from the source label and the authority inferences it triggers.</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slide explains why the design is not only about how much evidence participants click.
It also lets us evaluate whether their posterior judgments are close to a normative Bayesian benchmark.
We compute the benchmark in log-odds form.
The posterior log-odds equal the prior log-odds plus the sum of the log likelihood ratios of the evidence the participant has actually received.
For summary groups, the evidence explicitly contained in the summary enters the observed information set.
For the later free-search stage, every clicked and read evidence item also enters that information set.
This gives us two different deviation measures.
Conditional Bayesian deviation asks whether the participant updated correctly given the information actually seen.
Full-information deviation asks how far the reported posterior remains from the benchmark implied by the complete evidence pool.
So if conditional deviation is low but full-information deviation is high, the participant processed seen evidence reasonably well but stopped searching too early.
If conditional deviation itself is high, then even with more evidence, the participant is still weighting or updating incorrectly.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This page explains how different result patterns would count as support for different hypotheses.</a:t>
            </a:r>
          </a:p>
          <a:p>
            <a:r>
              <a:rPr>
                <a:latin typeface="Times New Roman" panose="02020603050405020304" pitchFamily="18" charset="0"/>
              </a:rPr>
              <a:t>First, RQ1 is supported if the AI label lowers the stopping threshold relative to the unlabeled summary.</a:t>
            </a:r>
          </a:p>
          <a:p>
            <a:r>
              <a:rPr>
                <a:latin typeface="Times New Roman" panose="02020603050405020304" pitchFamily="18" charset="0"/>
              </a:rPr>
              <a:t>Second, RQ2 splits into two possibilities: representative summaries can reveal efficient compression, while incomplete summaries can reveal harmful under-search.</a:t>
            </a:r>
          </a:p>
          <a:p>
            <a:r>
              <a:rPr>
                <a:latin typeface="Times New Roman" panose="02020603050405020304" pitchFamily="18" charset="0"/>
              </a:rPr>
              <a:t>Third, RQ3 is supported if objective posterior quality and subjective mastery move apart after summary-based interaction.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I would close the paper by emphasizing three contributions.</a:t>
            </a:r>
          </a:p>
          <a:p>
            <a:r>
              <a:rPr>
                <a:latin typeface="Times New Roman" panose="02020603050405020304" pitchFamily="18" charset="0"/>
              </a:rPr>
              <a:t>The first is theoretical: the move from generic trust to information calibration as an evidence-to-belief mechanism.</a:t>
            </a:r>
          </a:p>
          <a:p>
            <a:r>
              <a:rPr>
                <a:latin typeface="Times New Roman" panose="02020603050405020304" pitchFamily="18" charset="0"/>
              </a:rPr>
              <a:t>The second is methodological: the paper adapts a classical Bayesian updating paradigm and adds summary-first presentation, extra search, and same-summary source-label identification.</a:t>
            </a:r>
          </a:p>
          <a:p>
            <a:r>
              <a:rPr>
                <a:latin typeface="Times New Roman" panose="02020603050405020304" pitchFamily="18" charset="0"/>
              </a:rPr>
              <a:t>The third is substantive: it separates efficient compression, harmful under-search, and subjective-objective calibration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2937"/>
        </a:solidFill>
        <a:effectLst/>
      </p:bgPr>
    </p:bg>
    <p:spTree>
      <p:nvGrpSpPr>
        <p:cNvPr id="1" name=""/>
        <p:cNvGrpSpPr/>
        <p:nvPr/>
      </p:nvGrpSpPr>
      <p:grpSpPr>
        <a:xfrm>
          <a:off x="0" y="0"/>
          <a:ext cx="0" cy="0"/>
          <a:chOff x="0" y="0"/>
          <a:chExt cx="0" cy="0"/>
        </a:xfrm>
      </p:grpSpPr>
      <p:sp>
        <p:nvSpPr>
          <p:cNvPr id="17" name="椭圆 16"/>
          <p:cNvSpPr>
            <a:spLocks noGrp="1"/>
          </p:cNvSpPr>
          <p:nvPr/>
        </p:nvSpPr>
        <p:spPr>
          <a:xfrm>
            <a:off x="8715375" y="-1524000"/>
            <a:ext cx="4191000" cy="4191000"/>
          </a:xfrm>
          <a:prstGeom prst="ellipse">
            <a:avLst/>
          </a:prstGeom>
          <a:solidFill>
            <a:srgbClr val="30384A"/>
          </a:solidFill>
          <a:ln w="0">
            <a:solidFill>
              <a:srgbClr val="30384A"/>
            </a:solidFill>
            <a:prstDash val="solid"/>
          </a:ln>
        </p:spPr>
      </p:sp>
      <p:sp>
        <p:nvSpPr>
          <p:cNvPr id="2" name="椭圆 1"/>
          <p:cNvSpPr>
            <a:spLocks noGrp="1"/>
          </p:cNvSpPr>
          <p:nvPr/>
        </p:nvSpPr>
        <p:spPr>
          <a:xfrm>
            <a:off x="-1047750" y="4476750"/>
            <a:ext cx="2857500" cy="2857500"/>
          </a:xfrm>
          <a:prstGeom prst="ellipse">
            <a:avLst/>
          </a:prstGeom>
          <a:solidFill>
            <a:srgbClr val="2B3241"/>
          </a:solidFill>
          <a:ln w="0">
            <a:solidFill>
              <a:srgbClr val="2B3241"/>
            </a:solidFill>
            <a:prstDash val="solid"/>
          </a:ln>
        </p:spPr>
      </p:sp>
      <p:sp>
        <p:nvSpPr>
          <p:cNvPr id="3" name="矩形 2"/>
          <p:cNvSpPr>
            <a:spLocks noGrp="1"/>
          </p:cNvSpPr>
          <p:nvPr/>
        </p:nvSpPr>
        <p:spPr>
          <a:xfrm>
            <a:off x="819150" y="819150"/>
            <a:ext cx="228600" cy="228600"/>
          </a:xfrm>
          <a:prstGeom prst="rect">
            <a:avLst/>
          </a:prstGeom>
          <a:solidFill>
            <a:srgbClr val="B45A3C"/>
          </a:solidFill>
          <a:ln w="0">
            <a:solidFill>
              <a:srgbClr val="B45A3C"/>
            </a:solidFill>
            <a:prstDash val="solid"/>
          </a:ln>
        </p:spPr>
      </p:sp>
      <p:sp>
        <p:nvSpPr>
          <p:cNvPr id="4" name="矩形 3"/>
          <p:cNvSpPr>
            <a:spLocks noGrp="1"/>
          </p:cNvSpPr>
          <p:nvPr/>
        </p:nvSpPr>
        <p:spPr>
          <a:xfrm>
            <a:off x="800100" y="5962650"/>
            <a:ext cx="10591800" cy="9525"/>
          </a:xfrm>
          <a:prstGeom prst="rect">
            <a:avLst/>
          </a:prstGeom>
          <a:solidFill>
            <a:srgbClr val="465067"/>
          </a:solidFill>
          <a:ln w="0">
            <a:solidFill>
              <a:srgbClr val="465067"/>
            </a:solidFill>
            <a:prstDash val="solid"/>
          </a:ln>
        </p:spPr>
      </p:sp>
      <p:sp>
        <p:nvSpPr>
          <p:cNvPr id="5" name="矩形 4"/>
          <p:cNvSpPr>
            <a:spLocks noGrp="1"/>
          </p:cNvSpPr>
          <p:nvPr/>
        </p:nvSpPr>
        <p:spPr>
          <a:xfrm>
            <a:off x="1219200" y="781050"/>
            <a:ext cx="2476500" cy="228600"/>
          </a:xfrm>
          <a:prstGeom prst="rect">
            <a:avLst/>
          </a:prstGeom>
          <a:noFill/>
          <a:ln w="0">
            <a:noFill/>
            <a:prstDash val="solid"/>
          </a:ln>
        </p:spPr>
        <p:txBody>
          <a:bodyPr/>
          <a:lstStyle/>
          <a:p>
            <a:pPr algn="l">
              <a:buNone/>
              <a:defRPr sz="1125" b="1" i="0">
                <a:solidFill>
                  <a:srgbClr val="D7A792"/>
                </a:solidFill>
                <a:latin typeface="Times New Roman" panose="02020603050405020304"/>
                <a:ea typeface="Times New Roman" panose="02020603050405020304"/>
                <a:cs typeface="Times New Roman" panose="02020603050405020304"/>
              </a:defRPr>
            </a:pPr>
            <a:r>
              <a:rPr sz="1125" b="1" i="0">
                <a:solidFill>
                  <a:srgbClr val="D7A792"/>
                </a:solidFill>
                <a:latin typeface="Times New Roman" panose="02020603050405020304" pitchFamily="18" charset="0"/>
                <a:ea typeface="Times New Roman" panose="02020603050405020304"/>
                <a:cs typeface="Times New Roman" panose="02020603050405020304"/>
              </a:rPr>
              <a:t>PAPER 1</a:t>
            </a:r>
          </a:p>
        </p:txBody>
      </p:sp>
      <p:sp>
        <p:nvSpPr>
          <p:cNvPr id="6" name="矩形 5"/>
          <p:cNvSpPr>
            <a:spLocks noGrp="1"/>
          </p:cNvSpPr>
          <p:nvPr/>
        </p:nvSpPr>
        <p:spPr>
          <a:xfrm>
            <a:off x="1219200" y="1371600"/>
            <a:ext cx="9334500" cy="723900"/>
          </a:xfrm>
          <a:prstGeom prst="rect">
            <a:avLst/>
          </a:prstGeom>
          <a:noFill/>
          <a:ln w="0">
            <a:noFill/>
            <a:prstDash val="solid"/>
          </a:ln>
        </p:spPr>
        <p:txBody>
          <a:bodyPr/>
          <a:lstStyle/>
          <a:p>
            <a:pPr algn="l">
              <a:buNone/>
              <a:defRPr sz="3000" b="1" i="0">
                <a:solidFill>
                  <a:srgbClr val="F8F2E9"/>
                </a:solidFill>
                <a:latin typeface="Times New Roman" panose="02020603050405020304"/>
                <a:ea typeface="Times New Roman" panose="02020603050405020304"/>
                <a:cs typeface="Times New Roman" panose="02020603050405020304"/>
              </a:defRPr>
            </a:pPr>
            <a:r>
              <a:rPr sz="3000" b="1" i="0">
                <a:solidFill>
                  <a:srgbClr val="F8F2E9"/>
                </a:solidFill>
                <a:latin typeface="Times New Roman" panose="02020603050405020304" pitchFamily="18" charset="0"/>
                <a:ea typeface="Times New Roman" panose="02020603050405020304"/>
                <a:cs typeface="Times New Roman" panose="02020603050405020304"/>
              </a:rPr>
              <a:t>Algorithmic Authority and Information Calibration</a:t>
            </a:r>
          </a:p>
        </p:txBody>
      </p:sp>
      <p:sp>
        <p:nvSpPr>
          <p:cNvPr id="7" name="矩形 6"/>
          <p:cNvSpPr>
            <a:spLocks noGrp="1"/>
          </p:cNvSpPr>
          <p:nvPr/>
        </p:nvSpPr>
        <p:spPr>
          <a:xfrm>
            <a:off x="1219200" y="2190750"/>
            <a:ext cx="8191500" cy="533400"/>
          </a:xfrm>
          <a:prstGeom prst="rect">
            <a:avLst/>
          </a:prstGeom>
          <a:noFill/>
          <a:ln w="0">
            <a:noFill/>
            <a:prstDash val="solid"/>
          </a:ln>
        </p:spPr>
        <p:txBody>
          <a:bodyPr/>
          <a:lstStyle/>
          <a:p>
            <a:pPr algn="l">
              <a:buNone/>
              <a:defRPr sz="1650" b="0" i="0">
                <a:solidFill>
                  <a:srgbClr val="D8DCE6"/>
                </a:solidFill>
                <a:latin typeface="Times New Roman" panose="02020603050405020304"/>
                <a:ea typeface="Times New Roman" panose="02020603050405020304"/>
                <a:cs typeface="Times New Roman" panose="02020603050405020304"/>
              </a:defRPr>
            </a:pPr>
            <a:r>
              <a:rPr sz="1650" b="0" i="0">
                <a:solidFill>
                  <a:srgbClr val="D8DCE6"/>
                </a:solidFill>
                <a:latin typeface="Times New Roman" panose="02020603050405020304" pitchFamily="18" charset="0"/>
                <a:ea typeface="Times New Roman" panose="02020603050405020304"/>
                <a:cs typeface="Times New Roman" panose="02020603050405020304"/>
              </a:rPr>
              <a:t>How generative AI changes additional search and belief updating under uncertainty</a:t>
            </a:r>
          </a:p>
        </p:txBody>
      </p:sp>
      <p:sp>
        <p:nvSpPr>
          <p:cNvPr id="8" name="矩形: 圆角 7"/>
          <p:cNvSpPr>
            <a:spLocks noGrp="1"/>
          </p:cNvSpPr>
          <p:nvPr/>
        </p:nvSpPr>
        <p:spPr>
          <a:xfrm>
            <a:off x="1219200" y="3390900"/>
            <a:ext cx="4038600" cy="1371600"/>
          </a:xfrm>
          <a:prstGeom prst="roundRect">
            <a:avLst>
              <a:gd name="adj" fmla="val 5556"/>
            </a:avLst>
          </a:prstGeom>
          <a:solidFill>
            <a:srgbClr val="2E3648"/>
          </a:solidFill>
          <a:ln w="9525">
            <a:solidFill>
              <a:srgbClr val="E8DCCB"/>
            </a:solidFill>
            <a:prstDash val="solid"/>
          </a:ln>
        </p:spPr>
      </p:sp>
      <p:sp>
        <p:nvSpPr>
          <p:cNvPr id="9" name="矩形 8"/>
          <p:cNvSpPr>
            <a:spLocks noGrp="1"/>
          </p:cNvSpPr>
          <p:nvPr/>
        </p:nvSpPr>
        <p:spPr>
          <a:xfrm>
            <a:off x="1219200" y="3390900"/>
            <a:ext cx="57150" cy="1371600"/>
          </a:xfrm>
          <a:prstGeom prst="rect">
            <a:avLst/>
          </a:prstGeom>
          <a:solidFill>
            <a:srgbClr val="B45A3C"/>
          </a:solidFill>
          <a:ln w="0">
            <a:solidFill>
              <a:srgbClr val="B45A3C"/>
            </a:solidFill>
            <a:prstDash val="solid"/>
          </a:ln>
        </p:spPr>
      </p:sp>
      <p:sp>
        <p:nvSpPr>
          <p:cNvPr id="10" name="矩形 9"/>
          <p:cNvSpPr>
            <a:spLocks noGrp="1"/>
          </p:cNvSpPr>
          <p:nvPr/>
        </p:nvSpPr>
        <p:spPr>
          <a:xfrm>
            <a:off x="1390650" y="3505200"/>
            <a:ext cx="37528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Problem shift</a:t>
            </a:r>
          </a:p>
        </p:txBody>
      </p:sp>
      <p:sp>
        <p:nvSpPr>
          <p:cNvPr id="11" name="矩形 10"/>
          <p:cNvSpPr>
            <a:spLocks noGrp="1"/>
          </p:cNvSpPr>
          <p:nvPr/>
        </p:nvSpPr>
        <p:spPr>
          <a:xfrm>
            <a:off x="1390650" y="3848100"/>
            <a:ext cx="37528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The question is not only what answer AI gives. The question is whether AI changes when people feel ready to stop looking for more evidence.</a:t>
            </a:r>
          </a:p>
        </p:txBody>
      </p:sp>
      <p:sp>
        <p:nvSpPr>
          <p:cNvPr id="12" name="矩形: 圆角 11"/>
          <p:cNvSpPr>
            <a:spLocks noGrp="1"/>
          </p:cNvSpPr>
          <p:nvPr/>
        </p:nvSpPr>
        <p:spPr>
          <a:xfrm>
            <a:off x="5543550" y="3390900"/>
            <a:ext cx="5486400" cy="1371600"/>
          </a:xfrm>
          <a:prstGeom prst="roundRect">
            <a:avLst>
              <a:gd name="adj" fmla="val 5556"/>
            </a:avLst>
          </a:prstGeom>
          <a:solidFill>
            <a:srgbClr val="2E3648"/>
          </a:solidFill>
          <a:ln w="9525">
            <a:solidFill>
              <a:srgbClr val="E8DCCB"/>
            </a:solidFill>
            <a:prstDash val="solid"/>
          </a:ln>
        </p:spPr>
      </p:sp>
      <p:sp>
        <p:nvSpPr>
          <p:cNvPr id="13" name="矩形 12"/>
          <p:cNvSpPr>
            <a:spLocks noGrp="1"/>
          </p:cNvSpPr>
          <p:nvPr/>
        </p:nvSpPr>
        <p:spPr>
          <a:xfrm>
            <a:off x="5543550" y="3390900"/>
            <a:ext cx="57150" cy="1371600"/>
          </a:xfrm>
          <a:prstGeom prst="rect">
            <a:avLst/>
          </a:prstGeom>
          <a:solidFill>
            <a:srgbClr val="C89B4A"/>
          </a:solidFill>
          <a:ln w="0">
            <a:solidFill>
              <a:srgbClr val="C89B4A"/>
            </a:solidFill>
            <a:prstDash val="solid"/>
          </a:ln>
        </p:spPr>
      </p:sp>
      <p:sp>
        <p:nvSpPr>
          <p:cNvPr id="14" name="矩形 13"/>
          <p:cNvSpPr>
            <a:spLocks noGrp="1"/>
          </p:cNvSpPr>
          <p:nvPr/>
        </p:nvSpPr>
        <p:spPr>
          <a:xfrm>
            <a:off x="5715000" y="3505200"/>
            <a:ext cx="52006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Dissertation position</a:t>
            </a:r>
          </a:p>
        </p:txBody>
      </p:sp>
      <p:sp>
        <p:nvSpPr>
          <p:cNvPr id="15" name="矩形 14"/>
          <p:cNvSpPr>
            <a:spLocks noGrp="1"/>
          </p:cNvSpPr>
          <p:nvPr/>
        </p:nvSpPr>
        <p:spPr>
          <a:xfrm>
            <a:off x="5715000" y="3848100"/>
            <a:ext cx="52006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Paper 1 studies the first link in the broader chain: how AI reshapes the move from evidence to belief.</a:t>
            </a:r>
          </a:p>
        </p:txBody>
      </p:sp>
      <p:sp>
        <p:nvSpPr>
          <p:cNvPr id="16" name="矩形 15"/>
          <p:cNvSpPr>
            <a:spLocks noGrp="1"/>
          </p:cNvSpPr>
          <p:nvPr/>
        </p:nvSpPr>
        <p:spPr>
          <a:xfrm>
            <a:off x="1257300" y="6153150"/>
            <a:ext cx="9334500" cy="171450"/>
          </a:xfrm>
          <a:prstGeom prst="rect">
            <a:avLst/>
          </a:prstGeom>
          <a:noFill/>
          <a:ln w="0">
            <a:noFill/>
            <a:prstDash val="solid"/>
          </a:ln>
        </p:spPr>
        <p:txBody>
          <a:bodyPr/>
          <a:lstStyle/>
          <a:p>
            <a:pPr algn="l">
              <a:buNone/>
              <a:defRPr sz="1125" b="0" i="1">
                <a:solidFill>
                  <a:srgbClr val="D8DCE6"/>
                </a:solidFill>
                <a:latin typeface="Times New Roman" panose="02020603050405020304"/>
                <a:ea typeface="Times New Roman" panose="02020603050405020304"/>
                <a:cs typeface="Times New Roman" panose="02020603050405020304"/>
              </a:defRPr>
            </a:pPr>
            <a:r>
              <a:rPr sz="1125" b="0" i="1">
                <a:solidFill>
                  <a:srgbClr val="D8DCE6"/>
                </a:solidFill>
                <a:latin typeface="Times New Roman" panose="02020603050405020304" pitchFamily="18" charset="0"/>
                <a:ea typeface="Times New Roman" panose="02020603050405020304"/>
                <a:cs typeface="Times New Roman" panose="02020603050405020304"/>
              </a:rPr>
              <a:t>Belief formation -&gt; reliance calibration -&gt; responsibility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17" name="椭圆 16"/>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CONCRETE EXAMPLE</a:t>
            </a:r>
          </a:p>
        </p:txBody>
      </p:sp>
      <p:sp>
        <p:nvSpPr>
          <p:cNvPr id="6" name="矩形 5"/>
          <p:cNvSpPr>
            <a:spLocks noGrp="1"/>
          </p:cNvSpPr>
          <p:nvPr/>
        </p:nvSpPr>
        <p:spPr>
          <a:xfrm>
            <a:off x="914400" y="914400"/>
            <a:ext cx="10287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Search engines ask for evidence first, but AI assistants answer first</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basic reversal is not only about speed. It changes the user's sense of whether more search is still worth doing.</a:t>
            </a:r>
          </a:p>
        </p:txBody>
      </p:sp>
      <p:sp>
        <p:nvSpPr>
          <p:cNvPr id="8" name="矩形: 圆角 7"/>
          <p:cNvSpPr>
            <a:spLocks noGrp="1"/>
          </p:cNvSpPr>
          <p:nvPr/>
        </p:nvSpPr>
        <p:spPr>
          <a:xfrm>
            <a:off x="914400" y="2190750"/>
            <a:ext cx="4762500" cy="3048000"/>
          </a:xfrm>
          <a:prstGeom prst="roundRect">
            <a:avLst>
              <a:gd name="adj" fmla="val 2500"/>
            </a:avLst>
          </a:prstGeom>
          <a:solidFill>
            <a:srgbClr val="FFF9F0"/>
          </a:solidFill>
          <a:ln w="9525">
            <a:solidFill>
              <a:srgbClr val="E8DCCB"/>
            </a:solidFill>
            <a:prstDash val="solid"/>
          </a:ln>
        </p:spPr>
      </p:sp>
      <p:sp>
        <p:nvSpPr>
          <p:cNvPr id="9" name="矩形 8"/>
          <p:cNvSpPr>
            <a:spLocks noGrp="1"/>
          </p:cNvSpPr>
          <p:nvPr/>
        </p:nvSpPr>
        <p:spPr>
          <a:xfrm>
            <a:off x="914400" y="2190750"/>
            <a:ext cx="57150" cy="3048000"/>
          </a:xfrm>
          <a:prstGeom prst="rect">
            <a:avLst/>
          </a:prstGeom>
          <a:solidFill>
            <a:srgbClr val="78836A"/>
          </a:solidFill>
          <a:ln w="0">
            <a:solidFill>
              <a:srgbClr val="78836A"/>
            </a:solidFill>
            <a:prstDash val="solid"/>
          </a:ln>
        </p:spPr>
      </p:sp>
      <p:sp>
        <p:nvSpPr>
          <p:cNvPr id="10" name="矩形 9"/>
          <p:cNvSpPr>
            <a:spLocks noGrp="1"/>
          </p:cNvSpPr>
          <p:nvPr/>
        </p:nvSpPr>
        <p:spPr>
          <a:xfrm>
            <a:off x="1085850" y="2305050"/>
            <a:ext cx="44767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Search engine logic</a:t>
            </a:r>
          </a:p>
        </p:txBody>
      </p:sp>
      <p:sp>
        <p:nvSpPr>
          <p:cNvPr id="11" name="矩形 10"/>
          <p:cNvSpPr>
            <a:spLocks noGrp="1"/>
          </p:cNvSpPr>
          <p:nvPr/>
        </p:nvSpPr>
        <p:spPr>
          <a:xfrm>
            <a:off x="1085850" y="2647950"/>
            <a:ext cx="4476750" cy="247650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1</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2</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3</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4</a:t>
            </a: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user opens links, compares sources, notices conflict, and then forms a judgment.</a:t>
            </a: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Evidence first -&gt; interpretation later</a:t>
            </a:r>
          </a:p>
        </p:txBody>
      </p:sp>
      <p:sp>
        <p:nvSpPr>
          <p:cNvPr id="12" name="矩形: 圆角 11"/>
          <p:cNvSpPr>
            <a:spLocks noGrp="1"/>
          </p:cNvSpPr>
          <p:nvPr/>
        </p:nvSpPr>
        <p:spPr>
          <a:xfrm>
            <a:off x="6477000" y="2190750"/>
            <a:ext cx="4724400" cy="3048000"/>
          </a:xfrm>
          <a:prstGeom prst="roundRect">
            <a:avLst>
              <a:gd name="adj" fmla="val 2500"/>
            </a:avLst>
          </a:prstGeom>
          <a:solidFill>
            <a:srgbClr val="FFF9F0"/>
          </a:solidFill>
          <a:ln w="9525">
            <a:solidFill>
              <a:srgbClr val="E8DCCB"/>
            </a:solidFill>
            <a:prstDash val="solid"/>
          </a:ln>
        </p:spPr>
      </p:sp>
      <p:sp>
        <p:nvSpPr>
          <p:cNvPr id="13" name="矩形 12"/>
          <p:cNvSpPr>
            <a:spLocks noGrp="1"/>
          </p:cNvSpPr>
          <p:nvPr/>
        </p:nvSpPr>
        <p:spPr>
          <a:xfrm>
            <a:off x="6477000" y="2190750"/>
            <a:ext cx="57150" cy="304800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05050"/>
            <a:ext cx="44386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AI assistant logic</a:t>
            </a:r>
          </a:p>
        </p:txBody>
      </p:sp>
      <p:sp>
        <p:nvSpPr>
          <p:cNvPr id="15" name="矩形 14"/>
          <p:cNvSpPr>
            <a:spLocks noGrp="1"/>
          </p:cNvSpPr>
          <p:nvPr/>
        </p:nvSpPr>
        <p:spPr>
          <a:xfrm>
            <a:off x="6648450" y="2647950"/>
            <a:ext cx="4438650" cy="24765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summarized definition</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coherent explanation</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worked example</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ready-made conclusion</a:t>
            </a: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user first receives an interpreted answer and only later decides whether to verify it.</a:t>
            </a: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Interpreted answer first -&gt; optional verification later</a:t>
            </a:r>
          </a:p>
        </p:txBody>
      </p:sp>
      <p:sp>
        <p:nvSpPr>
          <p:cNvPr id="16" name="矩形 15"/>
          <p:cNvSpPr>
            <a:spLocks noGrp="1"/>
          </p:cNvSpPr>
          <p:nvPr/>
        </p:nvSpPr>
        <p:spPr>
          <a:xfrm>
            <a:off x="1200150" y="5638800"/>
            <a:ext cx="9791700" cy="247650"/>
          </a:xfrm>
          <a:prstGeom prst="rect">
            <a:avLst/>
          </a:prstGeom>
          <a:noFill/>
          <a:ln w="0">
            <a:noFill/>
            <a:prstDash val="solid"/>
          </a:ln>
        </p:spPr>
        <p:txBody>
          <a:bodyPr/>
          <a:lstStyle/>
          <a:p>
            <a:pPr algn="ctr">
              <a:buNone/>
              <a:defRPr sz="1425" b="0" i="1">
                <a:solidFill>
                  <a:srgbClr val="5E6675"/>
                </a:solidFill>
                <a:latin typeface="Times New Roman" panose="02020603050405020304"/>
                <a:ea typeface="Times New Roman" panose="02020603050405020304"/>
                <a:cs typeface="Times New Roman" panose="02020603050405020304"/>
              </a:defRPr>
            </a:pPr>
            <a:r>
              <a:rPr sz="1425" b="0" i="1">
                <a:solidFill>
                  <a:srgbClr val="5E6675"/>
                </a:solidFill>
                <a:latin typeface="Times New Roman" panose="02020603050405020304" pitchFamily="18" charset="0"/>
                <a:ea typeface="Times New Roman" panose="02020603050405020304"/>
                <a:cs typeface="Times New Roman" panose="02020603050405020304"/>
              </a:rPr>
              <a:t>The reversal matters because the user may now judge the value of additional evidence through the AI's summary rather than through raw search alone.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1" name="椭圆 2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CORE PROBLEM</a:t>
            </a:r>
          </a:p>
        </p:txBody>
      </p:sp>
      <p:sp>
        <p:nvSpPr>
          <p:cNvPr id="6" name="矩形 5"/>
          <p:cNvSpPr>
            <a:spLocks noGrp="1"/>
          </p:cNvSpPr>
          <p:nvPr/>
        </p:nvSpPr>
        <p:spPr>
          <a:xfrm>
            <a:off x="914400" y="914400"/>
            <a:ext cx="9144000" cy="704850"/>
          </a:xfrm>
          <a:prstGeom prst="rect">
            <a:avLst/>
          </a:prstGeom>
          <a:noFill/>
          <a:ln w="0">
            <a:noFill/>
            <a:prstDash val="solid"/>
          </a:ln>
        </p:spPr>
        <p:txBody>
          <a:bodyPr/>
          <a:lstStyle/>
          <a:p>
            <a:pPr algn="l">
              <a:buNone/>
              <a:defRPr sz="2625" b="1" i="0">
                <a:solidFill>
                  <a:srgbClr val="1E2433"/>
                </a:solidFill>
                <a:latin typeface="Times New Roman" panose="02020603050405020304"/>
                <a:ea typeface="Times New Roman" panose="02020603050405020304"/>
                <a:cs typeface="Times New Roman" panose="02020603050405020304"/>
              </a:defRPr>
            </a:pPr>
            <a:r>
              <a:rPr sz="2625" b="1" i="0">
                <a:solidFill>
                  <a:srgbClr val="1E2433"/>
                </a:solidFill>
                <a:latin typeface="Times New Roman" panose="02020603050405020304" pitchFamily="18" charset="0"/>
                <a:ea typeface="Times New Roman" panose="02020603050405020304"/>
                <a:cs typeface="Times New Roman" panose="02020603050405020304"/>
              </a:rPr>
              <a:t>Less search can mean efficiency or harmful under-search</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key is not whether search declines. The key is whether judgment quality declines once search declines.</a:t>
            </a:r>
          </a:p>
        </p:txBody>
      </p:sp>
      <p:sp>
        <p:nvSpPr>
          <p:cNvPr id="8" name="矩形: 圆角 7"/>
          <p:cNvSpPr>
            <a:spLocks noGrp="1"/>
          </p:cNvSpPr>
          <p:nvPr/>
        </p:nvSpPr>
        <p:spPr>
          <a:xfrm>
            <a:off x="1485900" y="2362200"/>
            <a:ext cx="4000500" cy="2362200"/>
          </a:xfrm>
          <a:prstGeom prst="roundRect">
            <a:avLst>
              <a:gd name="adj" fmla="val 3226"/>
            </a:avLst>
          </a:prstGeom>
          <a:solidFill>
            <a:srgbClr val="FFF9F0"/>
          </a:solidFill>
          <a:ln w="9525">
            <a:solidFill>
              <a:srgbClr val="E8DCCB"/>
            </a:solidFill>
            <a:prstDash val="solid"/>
          </a:ln>
        </p:spPr>
      </p:sp>
      <p:sp>
        <p:nvSpPr>
          <p:cNvPr id="9" name="矩形 8"/>
          <p:cNvSpPr>
            <a:spLocks noGrp="1"/>
          </p:cNvSpPr>
          <p:nvPr/>
        </p:nvSpPr>
        <p:spPr>
          <a:xfrm>
            <a:off x="1485900" y="2362200"/>
            <a:ext cx="57150" cy="2362200"/>
          </a:xfrm>
          <a:prstGeom prst="rect">
            <a:avLst/>
          </a:prstGeom>
          <a:solidFill>
            <a:srgbClr val="78836A"/>
          </a:solidFill>
          <a:ln w="0">
            <a:solidFill>
              <a:srgbClr val="78836A"/>
            </a:solidFill>
            <a:prstDash val="solid"/>
          </a:ln>
        </p:spPr>
      </p:sp>
      <p:sp>
        <p:nvSpPr>
          <p:cNvPr id="10" name="矩形 9"/>
          <p:cNvSpPr>
            <a:spLocks noGrp="1"/>
          </p:cNvSpPr>
          <p:nvPr/>
        </p:nvSpPr>
        <p:spPr>
          <a:xfrm>
            <a:off x="16573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Efficient compression</a:t>
            </a:r>
          </a:p>
        </p:txBody>
      </p:sp>
      <p:sp>
        <p:nvSpPr>
          <p:cNvPr id="11" name="矩形 10"/>
          <p:cNvSpPr>
            <a:spLocks noGrp="1"/>
          </p:cNvSpPr>
          <p:nvPr/>
        </p:nvSpPr>
        <p:spPr>
          <a:xfrm>
            <a:off x="16573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 summary has already compressed informative evidence.</a:t>
            </a: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posterior quality does not deteriorate.</a:t>
            </a:r>
          </a:p>
        </p:txBody>
      </p:sp>
      <p:sp>
        <p:nvSpPr>
          <p:cNvPr id="12" name="矩形: 圆角 11"/>
          <p:cNvSpPr>
            <a:spLocks noGrp="1"/>
          </p:cNvSpPr>
          <p:nvPr/>
        </p:nvSpPr>
        <p:spPr>
          <a:xfrm>
            <a:off x="6705600" y="2362200"/>
            <a:ext cx="4000500" cy="2362200"/>
          </a:xfrm>
          <a:prstGeom prst="roundRect">
            <a:avLst>
              <a:gd name="adj" fmla="val 3226"/>
            </a:avLst>
          </a:prstGeom>
          <a:solidFill>
            <a:srgbClr val="FFF9F0"/>
          </a:solidFill>
          <a:ln w="9525">
            <a:solidFill>
              <a:srgbClr val="E8DCCB"/>
            </a:solidFill>
            <a:prstDash val="solid"/>
          </a:ln>
        </p:spPr>
      </p:sp>
      <p:sp>
        <p:nvSpPr>
          <p:cNvPr id="13" name="矩形 12"/>
          <p:cNvSpPr>
            <a:spLocks noGrp="1"/>
          </p:cNvSpPr>
          <p:nvPr/>
        </p:nvSpPr>
        <p:spPr>
          <a:xfrm>
            <a:off x="6705600" y="2362200"/>
            <a:ext cx="57150" cy="2362200"/>
          </a:xfrm>
          <a:prstGeom prst="rect">
            <a:avLst/>
          </a:prstGeom>
          <a:solidFill>
            <a:srgbClr val="B45A3C"/>
          </a:solidFill>
          <a:ln w="0">
            <a:solidFill>
              <a:srgbClr val="B45A3C"/>
            </a:solidFill>
            <a:prstDash val="solid"/>
          </a:ln>
        </p:spPr>
      </p:sp>
      <p:sp>
        <p:nvSpPr>
          <p:cNvPr id="14" name="矩形 13"/>
          <p:cNvSpPr>
            <a:spLocks noGrp="1"/>
          </p:cNvSpPr>
          <p:nvPr/>
        </p:nvSpPr>
        <p:spPr>
          <a:xfrm>
            <a:off x="68770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Harmful under-search</a:t>
            </a:r>
          </a:p>
        </p:txBody>
      </p:sp>
      <p:sp>
        <p:nvSpPr>
          <p:cNvPr id="15" name="矩形 14"/>
          <p:cNvSpPr>
            <a:spLocks noGrp="1"/>
          </p:cNvSpPr>
          <p:nvPr/>
        </p:nvSpPr>
        <p:spPr>
          <a:xfrm>
            <a:off x="68770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they overestimate how complete the summary already is.</a:t>
            </a: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judgment moves further away from the full-information benchmark.</a:t>
            </a:r>
          </a:p>
        </p:txBody>
      </p:sp>
      <p:sp>
        <p:nvSpPr>
          <p:cNvPr id="16" name="矩形 15"/>
          <p:cNvSpPr>
            <a:spLocks noGrp="1"/>
          </p:cNvSpPr>
          <p:nvPr/>
        </p:nvSpPr>
        <p:spPr>
          <a:xfrm>
            <a:off x="5734050" y="3333750"/>
            <a:ext cx="762000" cy="247650"/>
          </a:xfrm>
          <a:prstGeom prst="rect">
            <a:avLst/>
          </a:prstGeom>
          <a:noFill/>
          <a:ln w="0">
            <a:noFill/>
            <a:prstDash val="solid"/>
          </a:ln>
        </p:spPr>
        <p:txBody>
          <a:bodyPr/>
          <a:lstStyle/>
          <a:p>
            <a:pPr algn="ctr">
              <a:buNone/>
              <a:defRPr sz="1800" b="1" i="0">
                <a:solidFill>
                  <a:srgbClr val="C89B4A"/>
                </a:solidFill>
                <a:latin typeface="Times New Roman" panose="02020603050405020304"/>
                <a:ea typeface="Times New Roman" panose="02020603050405020304"/>
                <a:cs typeface="Times New Roman" panose="02020603050405020304"/>
              </a:defRPr>
            </a:pPr>
            <a:r>
              <a:rPr sz="1800" b="1" i="0">
                <a:solidFill>
                  <a:srgbClr val="C89B4A"/>
                </a:solidFill>
                <a:latin typeface="Times New Roman" panose="02020603050405020304" pitchFamily="18" charset="0"/>
                <a:ea typeface="Times New Roman" panose="02020603050405020304"/>
                <a:cs typeface="Times New Roman" panose="02020603050405020304"/>
              </a:rPr>
              <a:t>vs</a:t>
            </a:r>
          </a:p>
        </p:txBody>
      </p:sp>
      <p:sp>
        <p:nvSpPr>
          <p:cNvPr id="19" name="矩形 18"/>
          <p:cNvSpPr>
            <a:spLocks noGrp="1"/>
          </p:cNvSpPr>
          <p:nvPr/>
        </p:nvSpPr>
        <p:spPr>
          <a:xfrm>
            <a:off x="1885950" y="5334000"/>
            <a:ext cx="8477250" cy="285750"/>
          </a:xfrm>
          <a:prstGeom prst="rect">
            <a:avLst/>
          </a:prstGeom>
          <a:noFill/>
          <a:ln w="0">
            <a:noFill/>
            <a:prstDash val="solid"/>
          </a:ln>
        </p:spPr>
        <p:txBody>
          <a:bodyPr/>
          <a:lstStyle/>
          <a:p>
            <a:pPr algn="l">
              <a:buNone/>
              <a:defRPr sz="1575" b="1" i="0">
                <a:solidFill>
                  <a:srgbClr val="1E2433"/>
                </a:solidFill>
                <a:latin typeface="Times New Roman" panose="02020603050405020304"/>
                <a:ea typeface="Times New Roman" panose="02020603050405020304"/>
                <a:cs typeface="Times New Roman" panose="02020603050405020304"/>
              </a:defRPr>
            </a:pPr>
            <a:endParaRPr sz="1575" b="1" i="0">
              <a:solidFill>
                <a:srgbClr val="1E2433"/>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9" name="椭圆 8"/>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EXISTING WORK</a:t>
            </a:r>
          </a:p>
        </p:txBody>
      </p:sp>
      <p:sp>
        <p:nvSpPr>
          <p:cNvPr id="6" name="矩形 5"/>
          <p:cNvSpPr>
            <a:spLocks noGrp="1"/>
          </p:cNvSpPr>
          <p:nvPr/>
        </p:nvSpPr>
        <p:spPr>
          <a:xfrm>
            <a:off x="914400" y="914400"/>
            <a:ext cx="10096500" cy="704850"/>
          </a:xfrm>
          <a:prstGeom prst="rect">
            <a:avLst/>
          </a:prstGeom>
          <a:noFill/>
          <a:ln w="0">
            <a:noFill/>
            <a:prstDash val="solid"/>
          </a:ln>
        </p:spPr>
        <p:txBody>
          <a:bodyPr/>
          <a:lstStyle/>
          <a:p>
            <a:pPr algn="l">
              <a:buNone/>
              <a:defRPr sz="2250" b="1" i="0">
                <a:solidFill>
                  <a:srgbClr val="1E2433"/>
                </a:solidFill>
                <a:latin typeface="Times New Roman" panose="02020603050405020304"/>
                <a:ea typeface="Times New Roman" panose="02020603050405020304"/>
                <a:cs typeface="Times New Roman" panose="02020603050405020304"/>
              </a:defRPr>
            </a:pPr>
            <a:r>
              <a:rPr sz="2250" b="1" i="0">
                <a:solidFill>
                  <a:srgbClr val="1E2433"/>
                </a:solidFill>
                <a:latin typeface="Times New Roman" panose="02020603050405020304" pitchFamily="18" charset="0"/>
                <a:ea typeface="Times New Roman" panose="02020603050405020304"/>
                <a:cs typeface="Times New Roman" panose="02020603050405020304"/>
              </a:rPr>
              <a:t>The literature gives us reduced search and automation bias, but not a direct account of information calibration</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This literature map shows the closest targets and clarifies why the paper must distinguish search behavior from evidentiary sufficiency and posterior quality.</a:t>
            </a:r>
          </a:p>
        </p:txBody>
      </p:sp>
      <p:sp>
        <p:nvSpPr>
          <p:cNvPr id="8" name="矩形: 圆角 7"/>
          <p:cNvSpPr>
            <a:spLocks noGrp="1"/>
          </p:cNvSpPr>
          <p:nvPr/>
        </p:nvSpPr>
        <p:spPr>
          <a:xfrm>
            <a:off x="914400" y="2152650"/>
            <a:ext cx="10287000" cy="4171950"/>
          </a:xfrm>
          <a:prstGeom prst="roundRect">
            <a:avLst>
              <a:gd name="adj" fmla="val 2740"/>
            </a:avLst>
          </a:prstGeom>
          <a:solidFill>
            <a:srgbClr val="FFFDFC"/>
          </a:solidFill>
          <a:ln w="9525">
            <a:solidFill>
              <a:srgbClr val="E8DCCB"/>
            </a:solidFill>
            <a:prstDash val="solid"/>
          </a:ln>
        </p:spPr>
      </p:sp>
      <p:pic>
        <p:nvPicPr>
          <p:cNvPr id="18" name="图片 17"/>
          <p:cNvPicPr>
            <a:picLocks noChangeAspect="1"/>
          </p:cNvPicPr>
          <p:nvPr/>
        </p:nvPicPr>
        <p:blipFill>
          <a:blip r:embed="rId3"/>
          <a:stretch>
            <a:fillRect/>
          </a:stretch>
        </p:blipFill>
        <p:spPr>
          <a:xfrm>
            <a:off x="1445462" y="2286000"/>
            <a:ext cx="9224876" cy="3905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5" name="椭圆 24"/>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CORE QUESTION</a:t>
            </a:r>
          </a:p>
        </p:txBody>
      </p:sp>
      <p:sp>
        <p:nvSpPr>
          <p:cNvPr id="6" name="矩形 5"/>
          <p:cNvSpPr>
            <a:spLocks noGrp="1"/>
          </p:cNvSpPr>
          <p:nvPr/>
        </p:nvSpPr>
        <p:spPr>
          <a:xfrm>
            <a:off x="1009650" y="1028700"/>
            <a:ext cx="10096500" cy="9525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Core question: How do generative AI answers change users' stopping thresholds, Bayesian posterior quality, and subjective information mastery?</a:t>
            </a:r>
          </a:p>
        </p:txBody>
      </p:sp>
      <p:sp>
        <p:nvSpPr>
          <p:cNvPr id="7" name="矩形 6"/>
          <p:cNvSpPr>
            <a:spLocks noGrp="1"/>
          </p:cNvSpPr>
          <p:nvPr/>
        </p:nvSpPr>
        <p:spPr>
          <a:xfrm>
            <a:off x="1009650" y="1962150"/>
            <a:ext cx="10096500" cy="51435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does not treat reduced raw-evidence viewing as search laziness. It reevaluates that behavior inside a Bayesian belief-updating framework.</a:t>
            </a:r>
          </a:p>
        </p:txBody>
      </p:sp>
      <p:sp>
        <p:nvSpPr>
          <p:cNvPr id="8" name="矩形: 圆角 7"/>
          <p:cNvSpPr>
            <a:spLocks noGrp="1"/>
          </p:cNvSpPr>
          <p:nvPr/>
        </p:nvSpPr>
        <p:spPr>
          <a:xfrm>
            <a:off x="914400" y="2571750"/>
            <a:ext cx="3810000" cy="2381250"/>
          </a:xfrm>
          <a:prstGeom prst="roundRect">
            <a:avLst>
              <a:gd name="adj" fmla="val 4800"/>
            </a:avLst>
          </a:prstGeom>
          <a:solidFill>
            <a:srgbClr val="FEFCF8"/>
          </a:solidFill>
          <a:ln w="9525">
            <a:solidFill>
              <a:srgbClr val="F0E2D1"/>
            </a:solidFill>
            <a:prstDash val="solid"/>
          </a:ln>
        </p:spPr>
      </p:sp>
      <p:sp>
        <p:nvSpPr>
          <p:cNvPr id="9" name="矩形 8"/>
          <p:cNvSpPr>
            <a:spLocks noGrp="1"/>
          </p:cNvSpPr>
          <p:nvPr/>
        </p:nvSpPr>
        <p:spPr>
          <a:xfrm>
            <a:off x="914400" y="2571750"/>
            <a:ext cx="57150" cy="23812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743200"/>
            <a:ext cx="33528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Framing</a:t>
            </a:r>
          </a:p>
        </p:txBody>
      </p:sp>
      <p:sp>
        <p:nvSpPr>
          <p:cNvPr id="11" name="矩形 10"/>
          <p:cNvSpPr>
            <a:spLocks noGrp="1"/>
          </p:cNvSpPr>
          <p:nvPr/>
        </p:nvSpPr>
        <p:spPr>
          <a:xfrm>
            <a:off x="1181100" y="3124200"/>
            <a:ext cx="3352800" cy="16764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 Reduced raw-evidence viewing is not assumed to be lazy by default.</a:t>
            </a: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The key question is whether AI changes how sufficient the current evidence feels.</a:t>
            </a: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Information calibration asks whether perceived sufficiency stays aligned with the real value of further evidence.</a:t>
            </a:r>
          </a:p>
        </p:txBody>
      </p:sp>
      <p:sp>
        <p:nvSpPr>
          <p:cNvPr id="12" name="矩形: 圆角 11"/>
          <p:cNvSpPr>
            <a:spLocks noGrp="1"/>
          </p:cNvSpPr>
          <p:nvPr/>
        </p:nvSpPr>
        <p:spPr>
          <a:xfrm>
            <a:off x="5048250" y="2571750"/>
            <a:ext cx="6153150" cy="2381250"/>
          </a:xfrm>
          <a:prstGeom prst="roundRect">
            <a:avLst>
              <a:gd name="adj" fmla="val 4800"/>
            </a:avLst>
          </a:prstGeom>
          <a:solidFill>
            <a:srgbClr val="FEFCF8"/>
          </a:solidFill>
          <a:ln w="9525">
            <a:solidFill>
              <a:srgbClr val="F0E2D1"/>
            </a:solidFill>
            <a:prstDash val="solid"/>
          </a:ln>
        </p:spPr>
      </p:sp>
      <p:sp>
        <p:nvSpPr>
          <p:cNvPr id="13" name="矩形 12"/>
          <p:cNvSpPr>
            <a:spLocks noGrp="1"/>
          </p:cNvSpPr>
          <p:nvPr/>
        </p:nvSpPr>
        <p:spPr>
          <a:xfrm>
            <a:off x="5048250" y="2571750"/>
            <a:ext cx="57150" cy="2381250"/>
          </a:xfrm>
          <a:prstGeom prst="rect">
            <a:avLst/>
          </a:prstGeom>
          <a:solidFill>
            <a:srgbClr val="D1A63A"/>
          </a:solidFill>
          <a:ln w="0">
            <a:solidFill>
              <a:srgbClr val="D1A63A"/>
            </a:solidFill>
            <a:prstDash val="solid"/>
          </a:ln>
        </p:spPr>
      </p:sp>
      <p:sp>
        <p:nvSpPr>
          <p:cNvPr id="14" name="矩形 13"/>
          <p:cNvSpPr>
            <a:spLocks noGrp="1"/>
          </p:cNvSpPr>
          <p:nvPr/>
        </p:nvSpPr>
        <p:spPr>
          <a:xfrm>
            <a:off x="5314950" y="2743200"/>
            <a:ext cx="558165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Mechanism in one line</a:t>
            </a:r>
          </a:p>
        </p:txBody>
      </p:sp>
      <p:sp>
        <p:nvSpPr>
          <p:cNvPr id="15" name="矩形 14"/>
          <p:cNvSpPr>
            <a:spLocks noGrp="1"/>
          </p:cNvSpPr>
          <p:nvPr/>
        </p:nvSpPr>
        <p:spPr>
          <a:xfrm>
            <a:off x="5638800" y="3105150"/>
            <a:ext cx="4953000" cy="228600"/>
          </a:xfrm>
          <a:prstGeom prst="rect">
            <a:avLst/>
          </a:prstGeom>
          <a:noFill/>
          <a:ln w="0">
            <a:noFill/>
            <a:prstDash val="solid"/>
          </a:ln>
        </p:spPr>
        <p:txBody>
          <a:bodyPr/>
          <a:lstStyle/>
          <a:p>
            <a:pPr algn="ctr">
              <a:defRPr sz="1275" b="1">
                <a:solidFill>
                  <a:srgbClr val="667085"/>
                </a:solidFill>
              </a:defRPr>
            </a:pPr>
            <a:r>
              <a:rPr sz="1275" b="1">
                <a:solidFill>
                  <a:srgbClr val="667085"/>
                </a:solidFill>
                <a:latin typeface="Times New Roman" panose="02020603050405020304" pitchFamily="18" charset="0"/>
              </a:rPr>
              <a:t>AI answer / AI label</a:t>
            </a:r>
          </a:p>
        </p:txBody>
      </p:sp>
      <p:sp>
        <p:nvSpPr>
          <p:cNvPr id="16" name="矩形 15"/>
          <p:cNvSpPr>
            <a:spLocks noGrp="1"/>
          </p:cNvSpPr>
          <p:nvPr/>
        </p:nvSpPr>
        <p:spPr>
          <a:xfrm>
            <a:off x="7829550" y="32956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17" name="矩形 16"/>
          <p:cNvSpPr>
            <a:spLocks noGrp="1"/>
          </p:cNvSpPr>
          <p:nvPr/>
        </p:nvSpPr>
        <p:spPr>
          <a:xfrm>
            <a:off x="5638800" y="34099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inferred hidden search-and-integration process</a:t>
            </a:r>
          </a:p>
        </p:txBody>
      </p:sp>
      <p:sp>
        <p:nvSpPr>
          <p:cNvPr id="18" name="矩形 17"/>
          <p:cNvSpPr>
            <a:spLocks noGrp="1"/>
          </p:cNvSpPr>
          <p:nvPr/>
        </p:nvSpPr>
        <p:spPr>
          <a:xfrm>
            <a:off x="7829550" y="36004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19" name="矩形 18"/>
          <p:cNvSpPr>
            <a:spLocks noGrp="1"/>
          </p:cNvSpPr>
          <p:nvPr/>
        </p:nvSpPr>
        <p:spPr>
          <a:xfrm>
            <a:off x="5638800" y="37147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perceived evidentiary sufficiency rises</a:t>
            </a:r>
          </a:p>
        </p:txBody>
      </p:sp>
      <p:sp>
        <p:nvSpPr>
          <p:cNvPr id="20" name="矩形 19"/>
          <p:cNvSpPr>
            <a:spLocks noGrp="1"/>
          </p:cNvSpPr>
          <p:nvPr/>
        </p:nvSpPr>
        <p:spPr>
          <a:xfrm>
            <a:off x="7829550" y="39052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21" name="矩形 20"/>
          <p:cNvSpPr>
            <a:spLocks noGrp="1"/>
          </p:cNvSpPr>
          <p:nvPr/>
        </p:nvSpPr>
        <p:spPr>
          <a:xfrm>
            <a:off x="5638800" y="40195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the value of additional evidence falls</a:t>
            </a:r>
          </a:p>
        </p:txBody>
      </p:sp>
      <p:sp>
        <p:nvSpPr>
          <p:cNvPr id="22" name="矩形 21"/>
          <p:cNvSpPr>
            <a:spLocks noGrp="1"/>
          </p:cNvSpPr>
          <p:nvPr/>
        </p:nvSpPr>
        <p:spPr>
          <a:xfrm>
            <a:off x="7829550" y="42100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23" name="矩形 22"/>
          <p:cNvSpPr>
            <a:spLocks noGrp="1"/>
          </p:cNvSpPr>
          <p:nvPr/>
        </p:nvSpPr>
        <p:spPr>
          <a:xfrm>
            <a:off x="5638800" y="4324350"/>
            <a:ext cx="4953000" cy="228600"/>
          </a:xfrm>
          <a:prstGeom prst="rect">
            <a:avLst/>
          </a:prstGeom>
          <a:noFill/>
          <a:ln w="0">
            <a:noFill/>
            <a:prstDash val="solid"/>
          </a:ln>
        </p:spPr>
        <p:txBody>
          <a:bodyPr/>
          <a:lstStyle/>
          <a:p>
            <a:pPr algn="ctr">
              <a:defRPr sz="1350" b="1">
                <a:solidFill>
                  <a:srgbClr val="BE643F"/>
                </a:solidFill>
              </a:defRPr>
            </a:pPr>
            <a:r>
              <a:rPr sz="1350" b="1">
                <a:solidFill>
                  <a:srgbClr val="BE643F"/>
                </a:solidFill>
                <a:latin typeface="Times New Roman" panose="02020603050405020304" pitchFamily="18" charset="0"/>
              </a:rPr>
              <a:t>the stopping threshold shifts forward</a:t>
            </a:r>
          </a:p>
        </p:txBody>
      </p:sp>
      <p:sp>
        <p:nvSpPr>
          <p:cNvPr id="24" name="矩形 23"/>
          <p:cNvSpPr>
            <a:spLocks noGrp="1"/>
          </p:cNvSpPr>
          <p:nvPr/>
        </p:nvSpPr>
        <p:spPr>
          <a:xfrm>
            <a:off x="1676400" y="5429250"/>
            <a:ext cx="8763000" cy="419100"/>
          </a:xfrm>
          <a:prstGeom prst="rect">
            <a:avLst/>
          </a:prstGeom>
          <a:noFill/>
          <a:ln w="0">
            <a:noFill/>
            <a:prstDash val="solid"/>
          </a:ln>
        </p:spPr>
        <p:txBody>
          <a:bodyPr/>
          <a:lstStyle/>
          <a:p>
            <a:pPr algn="ctr">
              <a:defRPr sz="1275" i="1">
                <a:solidFill>
                  <a:srgbClr val="667085"/>
                </a:solidFill>
              </a:defRPr>
            </a:pPr>
            <a:r>
              <a:rPr sz="1275" i="1">
                <a:solidFill>
                  <a:srgbClr val="667085"/>
                </a:solidFill>
                <a:latin typeface="Times New Roman" panose="02020603050405020304" pitchFamily="18" charset="0"/>
              </a:rPr>
              <a:t>The paper therefore studies whether AI shifts the stopping rule by changing perceived evidentiary sufficiency.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0" name="椭圆 19"/>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RESEARCH QUESTIONS</a:t>
            </a:r>
          </a:p>
        </p:txBody>
      </p:sp>
      <p:sp>
        <p:nvSpPr>
          <p:cNvPr id="6" name="矩形 5"/>
          <p:cNvSpPr>
            <a:spLocks noGrp="1"/>
          </p:cNvSpPr>
          <p:nvPr/>
        </p:nvSpPr>
        <p:spPr>
          <a:xfrm>
            <a:off x="914400" y="914400"/>
            <a:ext cx="8191500" cy="704850"/>
          </a:xfrm>
          <a:prstGeom prst="rect">
            <a:avLst/>
          </a:prstGeom>
          <a:noFill/>
          <a:ln w="0">
            <a:noFill/>
            <a:prstDash val="solid"/>
          </a:ln>
        </p:spPr>
        <p:txBody>
          <a:bodyPr/>
          <a:lstStyle/>
          <a:p>
            <a:pPr algn="l">
              <a:buNone/>
              <a:defRPr sz="2700" b="1" i="0">
                <a:solidFill>
                  <a:srgbClr val="1E2433"/>
                </a:solidFill>
                <a:latin typeface="Times New Roman" panose="02020603050405020304"/>
                <a:ea typeface="Times New Roman" panose="02020603050405020304"/>
                <a:cs typeface="Times New Roman" panose="02020603050405020304"/>
              </a:defRPr>
            </a:pPr>
            <a:r>
              <a:rPr sz="2700" b="1" i="0">
                <a:solidFill>
                  <a:srgbClr val="1E2433"/>
                </a:solidFill>
                <a:latin typeface="Times New Roman" panose="02020603050405020304" pitchFamily="18" charset="0"/>
                <a:ea typeface="Times New Roman" panose="02020603050405020304"/>
                <a:cs typeface="Times New Roman" panose="02020603050405020304"/>
              </a:rPr>
              <a:t>The study asks three linked questions</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sequence runs from behavior, to normative evaluation, to metacognitive calibration.</a:t>
            </a:r>
          </a:p>
        </p:txBody>
      </p:sp>
      <p:sp>
        <p:nvSpPr>
          <p:cNvPr id="8" name="矩形: 圆角 7"/>
          <p:cNvSpPr>
            <a:spLocks noGrp="1"/>
          </p:cNvSpPr>
          <p:nvPr/>
        </p:nvSpPr>
        <p:spPr>
          <a:xfrm>
            <a:off x="914400" y="2266950"/>
            <a:ext cx="3086100" cy="2819400"/>
          </a:xfrm>
          <a:prstGeom prst="roundRect">
            <a:avLst>
              <a:gd name="adj" fmla="val 2703"/>
            </a:avLst>
          </a:prstGeom>
          <a:solidFill>
            <a:srgbClr val="FFF9F0"/>
          </a:solidFill>
          <a:ln w="9525">
            <a:solidFill>
              <a:srgbClr val="E8DCCB"/>
            </a:solidFill>
            <a:prstDash val="solid"/>
          </a:ln>
        </p:spPr>
      </p:sp>
      <p:sp>
        <p:nvSpPr>
          <p:cNvPr id="9" name="矩形 8"/>
          <p:cNvSpPr>
            <a:spLocks noGrp="1"/>
          </p:cNvSpPr>
          <p:nvPr/>
        </p:nvSpPr>
        <p:spPr>
          <a:xfrm>
            <a:off x="914400" y="2266950"/>
            <a:ext cx="57150" cy="28194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RQ1</a:t>
            </a:r>
          </a:p>
        </p:txBody>
      </p:sp>
      <p:sp>
        <p:nvSpPr>
          <p:cNvPr id="11" name="矩形 10"/>
          <p:cNvSpPr>
            <a:spLocks noGrp="1"/>
          </p:cNvSpPr>
          <p:nvPr/>
        </p:nvSpPr>
        <p:spPr>
          <a:xfrm>
            <a:off x="1085850" y="2724150"/>
            <a:ext cx="2800350" cy="2247900"/>
          </a:xfrm>
          <a:prstGeom prst="rect">
            <a:avLst/>
          </a:prstGeom>
          <a:noFill/>
          <a:ln w="0">
            <a:noFill/>
            <a:prstDash val="solid"/>
          </a:ln>
        </p:spPr>
        <p:txBody>
          <a:bodyPr/>
          <a:lstStyle/>
          <a:p>
            <a:pPr algn="l">
              <a:buNone/>
              <a:defRPr sz="1650" b="0" i="0">
                <a:solidFill>
                  <a:srgbClr val="5E6675"/>
                </a:solidFill>
                <a:latin typeface="Times New Roman" panose="02020603050405020304"/>
                <a:ea typeface="Times New Roman" panose="02020603050405020304"/>
                <a:cs typeface="Times New Roman" panose="02020603050405020304"/>
              </a:defRPr>
            </a:pPr>
            <a:r>
              <a:rPr sz="1650" b="0" i="0">
                <a:solidFill>
                  <a:srgbClr val="5E6675"/>
                </a:solidFill>
                <a:latin typeface="Times New Roman" panose="02020603050405020304" pitchFamily="18" charset="0"/>
                <a:ea typeface="Times New Roman" panose="02020603050405020304"/>
                <a:cs typeface="Times New Roman" panose="02020603050405020304"/>
              </a:rPr>
              <a:t>Does an AI-labeled summary lower the stopping threshold for additional search?</a:t>
            </a:r>
          </a:p>
        </p:txBody>
      </p:sp>
      <p:sp>
        <p:nvSpPr>
          <p:cNvPr id="12" name="矩形: 圆角 11"/>
          <p:cNvSpPr>
            <a:spLocks noGrp="1"/>
          </p:cNvSpPr>
          <p:nvPr/>
        </p:nvSpPr>
        <p:spPr>
          <a:xfrm>
            <a:off x="4552950" y="2266950"/>
            <a:ext cx="3086100" cy="2819400"/>
          </a:xfrm>
          <a:prstGeom prst="roundRect">
            <a:avLst>
              <a:gd name="adj" fmla="val 2703"/>
            </a:avLst>
          </a:prstGeom>
          <a:solidFill>
            <a:srgbClr val="FFF9F0"/>
          </a:solidFill>
          <a:ln w="9525">
            <a:solidFill>
              <a:srgbClr val="E8DCCB"/>
            </a:solidFill>
            <a:prstDash val="solid"/>
          </a:ln>
        </p:spPr>
      </p:sp>
      <p:sp>
        <p:nvSpPr>
          <p:cNvPr id="13" name="矩形 12"/>
          <p:cNvSpPr>
            <a:spLocks noGrp="1"/>
          </p:cNvSpPr>
          <p:nvPr/>
        </p:nvSpPr>
        <p:spPr>
          <a:xfrm>
            <a:off x="4552950" y="2266950"/>
            <a:ext cx="57150" cy="2819400"/>
          </a:xfrm>
          <a:prstGeom prst="rect">
            <a:avLst/>
          </a:prstGeom>
          <a:solidFill>
            <a:srgbClr val="C89B4A"/>
          </a:solidFill>
          <a:ln w="0">
            <a:solidFill>
              <a:srgbClr val="C89B4A"/>
            </a:solidFill>
            <a:prstDash val="solid"/>
          </a:ln>
        </p:spPr>
      </p:sp>
      <p:sp>
        <p:nvSpPr>
          <p:cNvPr id="14" name="矩形 13"/>
          <p:cNvSpPr>
            <a:spLocks noGrp="1"/>
          </p:cNvSpPr>
          <p:nvPr/>
        </p:nvSpPr>
        <p:spPr>
          <a:xfrm>
            <a:off x="472440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RQ2</a:t>
            </a:r>
          </a:p>
        </p:txBody>
      </p:sp>
      <p:sp>
        <p:nvSpPr>
          <p:cNvPr id="15" name="矩形 14"/>
          <p:cNvSpPr>
            <a:spLocks noGrp="1"/>
          </p:cNvSpPr>
          <p:nvPr/>
        </p:nvSpPr>
        <p:spPr>
          <a:xfrm>
            <a:off x="4724400" y="2724150"/>
            <a:ext cx="28003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When search falls, is that rational information compression or harmful information-acquisition deviation?</a:t>
            </a:r>
          </a:p>
        </p:txBody>
      </p:sp>
      <p:sp>
        <p:nvSpPr>
          <p:cNvPr id="16" name="矩形: 圆角 15"/>
          <p:cNvSpPr>
            <a:spLocks noGrp="1"/>
          </p:cNvSpPr>
          <p:nvPr/>
        </p:nvSpPr>
        <p:spPr>
          <a:xfrm>
            <a:off x="8191500" y="2266950"/>
            <a:ext cx="3009900" cy="2819400"/>
          </a:xfrm>
          <a:prstGeom prst="roundRect">
            <a:avLst>
              <a:gd name="adj" fmla="val 2703"/>
            </a:avLst>
          </a:prstGeom>
          <a:solidFill>
            <a:srgbClr val="FFF9F0"/>
          </a:solidFill>
          <a:ln w="9525">
            <a:solidFill>
              <a:srgbClr val="E8DCCB"/>
            </a:solidFill>
            <a:prstDash val="solid"/>
          </a:ln>
        </p:spPr>
      </p:sp>
      <p:sp>
        <p:nvSpPr>
          <p:cNvPr id="17" name="矩形 16"/>
          <p:cNvSpPr>
            <a:spLocks noGrp="1"/>
          </p:cNvSpPr>
          <p:nvPr/>
        </p:nvSpPr>
        <p:spPr>
          <a:xfrm>
            <a:off x="8191500" y="2266950"/>
            <a:ext cx="57150" cy="2819400"/>
          </a:xfrm>
          <a:prstGeom prst="rect">
            <a:avLst/>
          </a:prstGeom>
          <a:solidFill>
            <a:srgbClr val="78836A"/>
          </a:solidFill>
          <a:ln w="0">
            <a:solidFill>
              <a:srgbClr val="78836A"/>
            </a:solidFill>
            <a:prstDash val="solid"/>
          </a:ln>
        </p:spPr>
      </p:sp>
      <p:sp>
        <p:nvSpPr>
          <p:cNvPr id="18" name="矩形 17"/>
          <p:cNvSpPr>
            <a:spLocks noGrp="1"/>
          </p:cNvSpPr>
          <p:nvPr/>
        </p:nvSpPr>
        <p:spPr>
          <a:xfrm>
            <a:off x="8362950" y="2381250"/>
            <a:ext cx="27241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RQ3</a:t>
            </a:r>
          </a:p>
        </p:txBody>
      </p:sp>
      <p:sp>
        <p:nvSpPr>
          <p:cNvPr id="19" name="矩形 18"/>
          <p:cNvSpPr>
            <a:spLocks noGrp="1"/>
          </p:cNvSpPr>
          <p:nvPr/>
        </p:nvSpPr>
        <p:spPr>
          <a:xfrm>
            <a:off x="8362950" y="2724150"/>
            <a:ext cx="27241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Does subjective information mastery become misaligned with objective judgment quality?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4" name="椭圆 23"/>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lang="en-US" sz="1050" b="1" i="0">
                <a:solidFill>
                  <a:srgbClr val="B45A3C"/>
                </a:solidFill>
                <a:latin typeface="Times New Roman" panose="02020603050405020304" pitchFamily="18" charset="0"/>
                <a:ea typeface="Times New Roman" panose="02020603050405020304"/>
                <a:cs typeface="Times New Roman" panose="02020603050405020304"/>
              </a:rPr>
              <a:t>TASK PROTOTYPE</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525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lang="en-US" sz="2475"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endParaRPr sz="24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lang="en-US" sz="1350" b="0" i="0">
                <a:solidFill>
                  <a:srgbClr val="5E6675"/>
                </a:solidFill>
                <a:latin typeface="Times New Roman" panose="02020603050405020304" pitchFamily="18" charset="0"/>
                <a:ea typeface="Times New Roman" panose="02020603050405020304"/>
                <a:cs typeface="Times New Roman" panose="02020603050405020304"/>
              </a:rPr>
              <a:t>The task adapts a classic urn-drawing / bookbag-and-poker-chip belief-updating paradigm to a company-risk setting. Participants either enter the full evidence pool directly or begin with a summary-first answer, then decide whether to inspect additional evidence under the same search cost.</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266950"/>
            <a:ext cx="4762500" cy="1409700"/>
          </a:xfrm>
          <a:prstGeom prst="roundRect">
            <a:avLst>
              <a:gd name="adj" fmla="val 5405"/>
            </a:avLst>
          </a:prstGeom>
          <a:solidFill>
            <a:srgbClr val="FFF9F0"/>
          </a:solidFill>
          <a:ln w="9525">
            <a:solidFill>
              <a:srgbClr val="E8DCCB"/>
            </a:solidFill>
            <a:prstDash val="solid"/>
          </a:ln>
        </p:spPr>
      </p:sp>
      <p:sp>
        <p:nvSpPr>
          <p:cNvPr id="9" name="矩形 8"/>
          <p:cNvSpPr>
            <a:spLocks noGrp="1"/>
          </p:cNvSpPr>
          <p:nvPr/>
        </p:nvSpPr>
        <p:spPr>
          <a:xfrm>
            <a:off x="914400" y="2266950"/>
            <a:ext cx="57150" cy="14097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Classical Bayesian prototype</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 fixed evidence environment allows posterior judgments to be benchmarked against a normative updating rule.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438900" y="2266950"/>
            <a:ext cx="4762500" cy="1409700"/>
          </a:xfrm>
          <a:prstGeom prst="roundRect">
            <a:avLst>
              <a:gd name="adj" fmla="val 5405"/>
            </a:avLst>
          </a:prstGeom>
          <a:solidFill>
            <a:srgbClr val="FFF9F0"/>
          </a:solidFill>
          <a:ln w="9525">
            <a:solidFill>
              <a:srgbClr val="E8DCCB"/>
            </a:solidFill>
            <a:prstDash val="solid"/>
          </a:ln>
        </p:spPr>
      </p:sp>
      <p:sp>
        <p:nvSpPr>
          <p:cNvPr id="13" name="矩形 12"/>
          <p:cNvSpPr>
            <a:spLocks noGrp="1"/>
          </p:cNvSpPr>
          <p:nvPr/>
        </p:nvSpPr>
        <p:spPr>
          <a:xfrm>
            <a:off x="6438900" y="2266950"/>
            <a:ext cx="57150" cy="1409700"/>
          </a:xfrm>
          <a:prstGeom prst="rect">
            <a:avLst/>
          </a:prstGeom>
          <a:solidFill>
            <a:srgbClr val="C89B4A"/>
          </a:solidFill>
          <a:ln w="0">
            <a:solidFill>
              <a:srgbClr val="C89B4A"/>
            </a:solidFill>
            <a:prstDash val="solid"/>
          </a:ln>
        </p:spPr>
      </p:sp>
      <p:sp>
        <p:nvSpPr>
          <p:cNvPr id="14" name="矩形 13"/>
          <p:cNvSpPr>
            <a:spLocks noGrp="1"/>
          </p:cNvSpPr>
          <p:nvPr/>
        </p:nvSpPr>
        <p:spPr>
          <a:xfrm>
            <a:off x="66103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Company-risk contextualization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6103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The abstract belief-updating task is reframed as judging whether a focal company faces substantial hidden risk.</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914400" y="3943350"/>
            <a:ext cx="4762500" cy="1409700"/>
          </a:xfrm>
          <a:prstGeom prst="roundRect">
            <a:avLst>
              <a:gd name="adj" fmla="val 5405"/>
            </a:avLst>
          </a:prstGeom>
          <a:solidFill>
            <a:srgbClr val="FFF9F0"/>
          </a:solidFill>
          <a:ln w="9525">
            <a:solidFill>
              <a:srgbClr val="E8DCCB"/>
            </a:solidFill>
            <a:prstDash val="solid"/>
          </a:ln>
        </p:spPr>
      </p:sp>
      <p:sp>
        <p:nvSpPr>
          <p:cNvPr id="17" name="矩形 16"/>
          <p:cNvSpPr>
            <a:spLocks noGrp="1"/>
          </p:cNvSpPr>
          <p:nvPr/>
        </p:nvSpPr>
        <p:spPr>
          <a:xfrm>
            <a:off x="914400" y="3943350"/>
            <a:ext cx="57150" cy="1409700"/>
          </a:xfrm>
          <a:prstGeom prst="rect">
            <a:avLst/>
          </a:prstGeom>
          <a:solidFill>
            <a:srgbClr val="B45A3C"/>
          </a:solidFill>
          <a:ln w="0">
            <a:solidFill>
              <a:srgbClr val="B45A3C"/>
            </a:solidFill>
            <a:prstDash val="solid"/>
          </a:ln>
        </p:spPr>
      </p:sp>
      <p:sp>
        <p:nvSpPr>
          <p:cNvPr id="18" name="矩形 17"/>
          <p:cNvSpPr>
            <a:spLocks noGrp="1"/>
          </p:cNvSpPr>
          <p:nvPr/>
        </p:nvSpPr>
        <p:spPr>
          <a:xfrm>
            <a:off x="10858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Summary-first presentation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10858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Some participants receive an initial answer before they see raw evidence, recreating a generative-AI interaction sequence.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0" name="矩形: 圆角 19"/>
          <p:cNvSpPr>
            <a:spLocks noGrp="1"/>
          </p:cNvSpPr>
          <p:nvPr/>
        </p:nvSpPr>
        <p:spPr>
          <a:xfrm>
            <a:off x="6438900" y="3943350"/>
            <a:ext cx="4762500" cy="1409700"/>
          </a:xfrm>
          <a:prstGeom prst="roundRect">
            <a:avLst>
              <a:gd name="adj" fmla="val 5405"/>
            </a:avLst>
          </a:prstGeom>
          <a:solidFill>
            <a:srgbClr val="FFF9F0"/>
          </a:solidFill>
          <a:ln w="9525">
            <a:solidFill>
              <a:srgbClr val="E8DCCB"/>
            </a:solidFill>
            <a:prstDash val="solid"/>
          </a:ln>
        </p:spPr>
      </p:sp>
      <p:sp>
        <p:nvSpPr>
          <p:cNvPr id="21" name="矩形 20"/>
          <p:cNvSpPr>
            <a:spLocks noGrp="1"/>
          </p:cNvSpPr>
          <p:nvPr/>
        </p:nvSpPr>
        <p:spPr>
          <a:xfrm>
            <a:off x="6438900" y="3943350"/>
            <a:ext cx="57150" cy="1409700"/>
          </a:xfrm>
          <a:prstGeom prst="rect">
            <a:avLst/>
          </a:prstGeom>
          <a:solidFill>
            <a:srgbClr val="C89B4A"/>
          </a:solidFill>
          <a:ln w="0">
            <a:solidFill>
              <a:srgbClr val="C89B4A"/>
            </a:solidFill>
            <a:prstDash val="solid"/>
          </a:ln>
        </p:spPr>
      </p:sp>
      <p:sp>
        <p:nvSpPr>
          <p:cNvPr id="22" name="矩形 21"/>
          <p:cNvSpPr>
            <a:spLocks noGrp="1"/>
          </p:cNvSpPr>
          <p:nvPr/>
        </p:nvSpPr>
        <p:spPr>
          <a:xfrm>
            <a:off x="66103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Common follow-on search</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3" name="矩形 22"/>
          <p:cNvSpPr>
            <a:spLocks noGrp="1"/>
          </p:cNvSpPr>
          <p:nvPr/>
        </p:nvSpPr>
        <p:spPr>
          <a:xfrm>
            <a:off x="66103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All groups can inspect additional evidence from the same full pool at the same marginal search cost.</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32" name="椭圆 3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DESIGN</a:t>
            </a:r>
          </a:p>
        </p:txBody>
      </p:sp>
      <p:sp>
        <p:nvSpPr>
          <p:cNvPr id="6" name="矩形 5"/>
          <p:cNvSpPr>
            <a:spLocks noGrp="1"/>
          </p:cNvSpPr>
          <p:nvPr/>
        </p:nvSpPr>
        <p:spPr>
          <a:xfrm>
            <a:off x="914400" y="914400"/>
            <a:ext cx="97155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The experiment has five groups built on one shared evidence pool</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One baseline enters the full evidence pool directly, and four summary groups vary completeness and source label.</a:t>
            </a:r>
          </a:p>
        </p:txBody>
      </p:sp>
      <p:sp>
        <p:nvSpPr>
          <p:cNvPr id="8" name="矩形: 圆角 7"/>
          <p:cNvSpPr>
            <a:spLocks noGrp="1"/>
          </p:cNvSpPr>
          <p:nvPr/>
        </p:nvSpPr>
        <p:spPr>
          <a:xfrm>
            <a:off x="914400" y="2381250"/>
            <a:ext cx="1905000" cy="2038350"/>
          </a:xfrm>
          <a:prstGeom prst="roundRect">
            <a:avLst>
              <a:gd name="adj" fmla="val 4000"/>
            </a:avLst>
          </a:prstGeom>
          <a:solidFill>
            <a:srgbClr val="FFF9F0"/>
          </a:solidFill>
          <a:ln w="9525">
            <a:solidFill>
              <a:srgbClr val="E8DCCB"/>
            </a:solidFill>
            <a:prstDash val="solid"/>
          </a:ln>
        </p:spPr>
      </p:sp>
      <p:sp>
        <p:nvSpPr>
          <p:cNvPr id="9" name="矩形 8"/>
          <p:cNvSpPr>
            <a:spLocks noGrp="1"/>
          </p:cNvSpPr>
          <p:nvPr/>
        </p:nvSpPr>
        <p:spPr>
          <a:xfrm>
            <a:off x="914400" y="2381250"/>
            <a:ext cx="57150" cy="2038350"/>
          </a:xfrm>
          <a:prstGeom prst="rect">
            <a:avLst/>
          </a:prstGeom>
          <a:solidFill>
            <a:srgbClr val="78836A"/>
          </a:solidFill>
          <a:ln w="0">
            <a:solidFill>
              <a:srgbClr val="78836A"/>
            </a:solidFill>
            <a:prstDash val="solid"/>
          </a:ln>
        </p:spPr>
      </p:sp>
      <p:sp>
        <p:nvSpPr>
          <p:cNvPr id="10" name="矩形 9"/>
          <p:cNvSpPr>
            <a:spLocks noGrp="1"/>
          </p:cNvSpPr>
          <p:nvPr/>
        </p:nvSpPr>
        <p:spPr>
          <a:xfrm>
            <a:off x="1085850" y="2495550"/>
            <a:ext cx="1619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Baseline</a:t>
            </a:r>
          </a:p>
        </p:txBody>
      </p:sp>
      <p:sp>
        <p:nvSpPr>
          <p:cNvPr id="11" name="矩形 10"/>
          <p:cNvSpPr>
            <a:spLocks noGrp="1"/>
          </p:cNvSpPr>
          <p:nvPr/>
        </p:nvSpPr>
        <p:spPr>
          <a:xfrm>
            <a:off x="1085850" y="2838450"/>
            <a:ext cx="161925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No summary</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Direct entry to the evidence pool</a:t>
            </a:r>
          </a:p>
        </p:txBody>
      </p:sp>
      <p:sp>
        <p:nvSpPr>
          <p:cNvPr id="12" name="矩形: 圆角 11"/>
          <p:cNvSpPr>
            <a:spLocks noGrp="1"/>
          </p:cNvSpPr>
          <p:nvPr/>
        </p:nvSpPr>
        <p:spPr>
          <a:xfrm>
            <a:off x="3048000" y="2381250"/>
            <a:ext cx="203835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3048000" y="2381250"/>
            <a:ext cx="57150" cy="2038350"/>
          </a:xfrm>
          <a:prstGeom prst="rect">
            <a:avLst/>
          </a:prstGeom>
          <a:solidFill>
            <a:srgbClr val="C89B4A"/>
          </a:solidFill>
          <a:ln w="0">
            <a:solidFill>
              <a:srgbClr val="C89B4A"/>
            </a:solidFill>
            <a:prstDash val="solid"/>
          </a:ln>
        </p:spPr>
      </p:sp>
      <p:sp>
        <p:nvSpPr>
          <p:cNvPr id="14" name="矩形 13"/>
          <p:cNvSpPr>
            <a:spLocks noGrp="1"/>
          </p:cNvSpPr>
          <p:nvPr/>
        </p:nvSpPr>
        <p:spPr>
          <a:xfrm>
            <a:off x="32194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No label</a:t>
            </a:r>
          </a:p>
        </p:txBody>
      </p:sp>
      <p:sp>
        <p:nvSpPr>
          <p:cNvPr id="15" name="矩形 14"/>
          <p:cNvSpPr>
            <a:spLocks noGrp="1"/>
          </p:cNvSpPr>
          <p:nvPr/>
        </p:nvSpPr>
        <p:spPr>
          <a:xfrm>
            <a:off x="32194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p>
        </p:txBody>
      </p:sp>
      <p:sp>
        <p:nvSpPr>
          <p:cNvPr id="16" name="矩形: 圆角 15"/>
          <p:cNvSpPr>
            <a:spLocks noGrp="1"/>
          </p:cNvSpPr>
          <p:nvPr/>
        </p:nvSpPr>
        <p:spPr>
          <a:xfrm>
            <a:off x="5219700" y="2381250"/>
            <a:ext cx="2038350" cy="2038350"/>
          </a:xfrm>
          <a:prstGeom prst="roundRect">
            <a:avLst>
              <a:gd name="adj" fmla="val 3738"/>
            </a:avLst>
          </a:prstGeom>
          <a:solidFill>
            <a:srgbClr val="FFF9F0"/>
          </a:solidFill>
          <a:ln w="9525">
            <a:solidFill>
              <a:srgbClr val="E8DCCB"/>
            </a:solidFill>
            <a:prstDash val="solid"/>
          </a:ln>
        </p:spPr>
      </p:sp>
      <p:sp>
        <p:nvSpPr>
          <p:cNvPr id="17" name="矩形 16"/>
          <p:cNvSpPr>
            <a:spLocks noGrp="1"/>
          </p:cNvSpPr>
          <p:nvPr/>
        </p:nvSpPr>
        <p:spPr>
          <a:xfrm>
            <a:off x="5219700" y="2381250"/>
            <a:ext cx="57150" cy="2038350"/>
          </a:xfrm>
          <a:prstGeom prst="rect">
            <a:avLst/>
          </a:prstGeom>
          <a:solidFill>
            <a:srgbClr val="B45A3C"/>
          </a:solidFill>
          <a:ln w="0">
            <a:solidFill>
              <a:srgbClr val="B45A3C"/>
            </a:solidFill>
            <a:prstDash val="solid"/>
          </a:ln>
        </p:spPr>
      </p:sp>
      <p:sp>
        <p:nvSpPr>
          <p:cNvPr id="18" name="矩形 17"/>
          <p:cNvSpPr>
            <a:spLocks noGrp="1"/>
          </p:cNvSpPr>
          <p:nvPr/>
        </p:nvSpPr>
        <p:spPr>
          <a:xfrm>
            <a:off x="53911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p>
        </p:txBody>
      </p:sp>
      <p:sp>
        <p:nvSpPr>
          <p:cNvPr id="19" name="矩形 18"/>
          <p:cNvSpPr>
            <a:spLocks noGrp="1"/>
          </p:cNvSpPr>
          <p:nvPr/>
        </p:nvSpPr>
        <p:spPr>
          <a:xfrm>
            <a:off x="53911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p>
        </p:txBody>
      </p:sp>
      <p:sp>
        <p:nvSpPr>
          <p:cNvPr id="20" name="矩形: 圆角 19"/>
          <p:cNvSpPr>
            <a:spLocks noGrp="1"/>
          </p:cNvSpPr>
          <p:nvPr/>
        </p:nvSpPr>
        <p:spPr>
          <a:xfrm>
            <a:off x="7391400" y="2381250"/>
            <a:ext cx="2038350" cy="2038350"/>
          </a:xfrm>
          <a:prstGeom prst="roundRect">
            <a:avLst>
              <a:gd name="adj" fmla="val 3738"/>
            </a:avLst>
          </a:prstGeom>
          <a:solidFill>
            <a:srgbClr val="FFF9F0"/>
          </a:solidFill>
          <a:ln w="9525">
            <a:solidFill>
              <a:srgbClr val="E8DCCB"/>
            </a:solidFill>
            <a:prstDash val="solid"/>
          </a:ln>
        </p:spPr>
      </p:sp>
      <p:sp>
        <p:nvSpPr>
          <p:cNvPr id="21" name="矩形 20"/>
          <p:cNvSpPr>
            <a:spLocks noGrp="1"/>
          </p:cNvSpPr>
          <p:nvPr/>
        </p:nvSpPr>
        <p:spPr>
          <a:xfrm>
            <a:off x="7391400" y="2381250"/>
            <a:ext cx="57150" cy="2038350"/>
          </a:xfrm>
          <a:prstGeom prst="rect">
            <a:avLst/>
          </a:prstGeom>
          <a:solidFill>
            <a:srgbClr val="C89B4A"/>
          </a:solidFill>
          <a:ln w="0">
            <a:solidFill>
              <a:srgbClr val="C89B4A"/>
            </a:solidFill>
            <a:prstDash val="solid"/>
          </a:ln>
        </p:spPr>
      </p:sp>
      <p:sp>
        <p:nvSpPr>
          <p:cNvPr id="22" name="矩形 21"/>
          <p:cNvSpPr>
            <a:spLocks noGrp="1"/>
          </p:cNvSpPr>
          <p:nvPr/>
        </p:nvSpPr>
        <p:spPr>
          <a:xfrm>
            <a:off x="75628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lang="en-US" sz="1350" b="1" i="0">
                <a:solidFill>
                  <a:srgbClr val="1E2433"/>
                </a:solidFill>
                <a:latin typeface="Times New Roman" panose="02020603050405020304" pitchFamily="18" charset="0"/>
                <a:ea typeface="Times New Roman" panose="02020603050405020304"/>
                <a:cs typeface="Times New Roman" panose="02020603050405020304"/>
              </a:rPr>
              <a:t>Incomplete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lang="en-US" sz="1350" b="1" i="0">
                <a:solidFill>
                  <a:srgbClr val="1E2433"/>
                </a:solidFill>
                <a:latin typeface="Times New Roman" panose="02020603050405020304" pitchFamily="18" charset="0"/>
                <a:ea typeface="Times New Roman" panose="02020603050405020304"/>
                <a:cs typeface="Times New Roman" panose="02020603050405020304"/>
              </a:rPr>
              <a:t>No label</a:t>
            </a:r>
            <a:endParaRPr sz="1350"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3" name="矩形 22"/>
          <p:cNvSpPr>
            <a:spLocks noGrp="1"/>
          </p:cNvSpPr>
          <p:nvPr/>
        </p:nvSpPr>
        <p:spPr>
          <a:xfrm>
            <a:off x="75628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lang="en-US" sz="1350" i="0">
                <a:solidFill>
                  <a:srgbClr val="5E6675"/>
                </a:solidFill>
                <a:latin typeface="Times New Roman" panose="02020603050405020304" pitchFamily="18" charset="0"/>
                <a:ea typeface="Times New Roman" panose="02020603050405020304"/>
                <a:cs typeface="Times New Roman" panose="02020603050405020304"/>
              </a:rPr>
              <a:t>Incomplete summary</a:t>
            </a:r>
            <a:endParaRPr sz="135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4" name="矩形: 圆角 23"/>
          <p:cNvSpPr>
            <a:spLocks noGrp="1"/>
          </p:cNvSpPr>
          <p:nvPr/>
        </p:nvSpPr>
        <p:spPr>
          <a:xfrm>
            <a:off x="9563100" y="2381250"/>
            <a:ext cx="2038350" cy="2038350"/>
          </a:xfrm>
          <a:prstGeom prst="roundRect">
            <a:avLst>
              <a:gd name="adj" fmla="val 3738"/>
            </a:avLst>
          </a:prstGeom>
          <a:solidFill>
            <a:srgbClr val="FFF9F0"/>
          </a:solidFill>
          <a:ln w="9525">
            <a:solidFill>
              <a:srgbClr val="E8DCCB"/>
            </a:solidFill>
            <a:prstDash val="solid"/>
          </a:ln>
        </p:spPr>
      </p:sp>
      <p:sp>
        <p:nvSpPr>
          <p:cNvPr id="25" name="矩形 24"/>
          <p:cNvSpPr>
            <a:spLocks noGrp="1"/>
          </p:cNvSpPr>
          <p:nvPr/>
        </p:nvSpPr>
        <p:spPr>
          <a:xfrm>
            <a:off x="9563100" y="2381250"/>
            <a:ext cx="57150" cy="2038350"/>
          </a:xfrm>
          <a:prstGeom prst="rect">
            <a:avLst/>
          </a:prstGeom>
          <a:solidFill>
            <a:srgbClr val="B45A3C"/>
          </a:solidFill>
          <a:ln w="0">
            <a:solidFill>
              <a:srgbClr val="B45A3C"/>
            </a:solidFill>
            <a:prstDash val="solid"/>
          </a:ln>
        </p:spPr>
      </p:sp>
      <p:sp>
        <p:nvSpPr>
          <p:cNvPr id="26" name="矩形 25"/>
          <p:cNvSpPr>
            <a:spLocks noGrp="1"/>
          </p:cNvSpPr>
          <p:nvPr/>
        </p:nvSpPr>
        <p:spPr>
          <a:xfrm>
            <a:off x="97345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Incomplete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p>
        </p:txBody>
      </p:sp>
      <p:sp>
        <p:nvSpPr>
          <p:cNvPr id="27" name="矩形 26"/>
          <p:cNvSpPr>
            <a:spLocks noGrp="1"/>
          </p:cNvSpPr>
          <p:nvPr/>
        </p:nvSpPr>
        <p:spPr>
          <a:xfrm>
            <a:off x="97345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Incomplete summary</a:t>
            </a:r>
          </a:p>
        </p:txBody>
      </p:sp>
      <p:sp>
        <p:nvSpPr>
          <p:cNvPr id="28" name="矩形: 圆角 27"/>
          <p:cNvSpPr>
            <a:spLocks noGrp="1"/>
          </p:cNvSpPr>
          <p:nvPr/>
        </p:nvSpPr>
        <p:spPr>
          <a:xfrm>
            <a:off x="1714500" y="4953000"/>
            <a:ext cx="8763000" cy="876300"/>
          </a:xfrm>
          <a:prstGeom prst="roundRect">
            <a:avLst>
              <a:gd name="adj" fmla="val 8696"/>
            </a:avLst>
          </a:prstGeom>
          <a:solidFill>
            <a:srgbClr val="FFF9F0"/>
          </a:solidFill>
          <a:ln w="9525">
            <a:solidFill>
              <a:srgbClr val="E8DCCB"/>
            </a:solidFill>
            <a:prstDash val="solid"/>
          </a:ln>
        </p:spPr>
      </p:sp>
      <p:sp>
        <p:nvSpPr>
          <p:cNvPr id="29" name="矩形 28"/>
          <p:cNvSpPr>
            <a:spLocks noGrp="1"/>
          </p:cNvSpPr>
          <p:nvPr/>
        </p:nvSpPr>
        <p:spPr>
          <a:xfrm>
            <a:off x="1714500" y="4953000"/>
            <a:ext cx="57150" cy="876300"/>
          </a:xfrm>
          <a:prstGeom prst="rect">
            <a:avLst/>
          </a:prstGeom>
          <a:solidFill>
            <a:srgbClr val="B45A3C"/>
          </a:solidFill>
          <a:ln w="0">
            <a:solidFill>
              <a:srgbClr val="B45A3C"/>
            </a:solidFill>
            <a:prstDash val="solid"/>
          </a:ln>
        </p:spPr>
      </p:sp>
      <p:sp>
        <p:nvSpPr>
          <p:cNvPr id="30" name="矩形 29"/>
          <p:cNvSpPr>
            <a:spLocks noGrp="1"/>
          </p:cNvSpPr>
          <p:nvPr/>
        </p:nvSpPr>
        <p:spPr>
          <a:xfrm>
            <a:off x="1885950" y="5067300"/>
            <a:ext cx="8477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Why five groups instead of a full six-cell matrix</a:t>
            </a:r>
          </a:p>
        </p:txBody>
      </p:sp>
      <p:sp>
        <p:nvSpPr>
          <p:cNvPr id="31" name="矩形 30"/>
          <p:cNvSpPr>
            <a:spLocks noGrp="1"/>
          </p:cNvSpPr>
          <p:nvPr/>
        </p:nvSpPr>
        <p:spPr>
          <a:xfrm>
            <a:off x="1885950" y="5410200"/>
            <a:ext cx="8477250" cy="3048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no-summary baseline does not need a representative versus incomplete split because everyone in that condition enters the same full evidence pool directly.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41" name="椭圆 4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IDENTIFICATION</a:t>
            </a:r>
          </a:p>
        </p:txBody>
      </p:sp>
      <p:sp>
        <p:nvSpPr>
          <p:cNvPr id="6" name="矩形 5"/>
          <p:cNvSpPr>
            <a:spLocks noGrp="1"/>
          </p:cNvSpPr>
          <p:nvPr/>
        </p:nvSpPr>
        <p:spPr>
          <a:xfrm>
            <a:off x="914400" y="914400"/>
            <a:ext cx="9334500" cy="704850"/>
          </a:xfrm>
          <a:prstGeom prst="rect">
            <a:avLst/>
          </a:prstGeom>
          <a:noFill/>
          <a:ln w="0">
            <a:noFill/>
            <a:prstDash val="solid"/>
          </a:ln>
        </p:spPr>
        <p:txBody>
          <a:bodyPr/>
          <a:lstStyle/>
          <a:p>
            <a:pPr algn="l">
              <a:buNone/>
              <a:defRPr sz="2550" b="1" i="0">
                <a:solidFill>
                  <a:srgbClr val="1E2433"/>
                </a:solidFill>
                <a:latin typeface="Times New Roman" panose="02020603050405020304"/>
                <a:ea typeface="Times New Roman" panose="02020603050405020304"/>
                <a:cs typeface="Times New Roman" panose="02020603050405020304"/>
              </a:defRPr>
            </a:pPr>
            <a:r>
              <a:rPr sz="2550" b="1" i="0">
                <a:solidFill>
                  <a:srgbClr val="1E2433"/>
                </a:solidFill>
                <a:latin typeface="Times New Roman" panose="02020603050405020304" pitchFamily="18" charset="0"/>
                <a:ea typeface="Times New Roman" panose="02020603050405020304"/>
                <a:cs typeface="Times New Roman" panose="02020603050405020304"/>
              </a:rPr>
              <a:t>The same summary text isolates the AI label effect</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content stays the same while the label changes, and every participant then moves through the same additional-search sequence.</a:t>
            </a:r>
          </a:p>
        </p:txBody>
      </p:sp>
      <p:sp>
        <p:nvSpPr>
          <p:cNvPr id="8" name="矩形: 圆角 7"/>
          <p:cNvSpPr>
            <a:spLocks noGrp="1"/>
          </p:cNvSpPr>
          <p:nvPr/>
        </p:nvSpPr>
        <p:spPr>
          <a:xfrm>
            <a:off x="914400" y="2247900"/>
            <a:ext cx="4762500" cy="2038350"/>
          </a:xfrm>
          <a:prstGeom prst="roundRect">
            <a:avLst>
              <a:gd name="adj" fmla="val 3738"/>
            </a:avLst>
          </a:prstGeom>
          <a:solidFill>
            <a:srgbClr val="FFF9F0"/>
          </a:solidFill>
          <a:ln w="9525">
            <a:solidFill>
              <a:srgbClr val="E8DCCB"/>
            </a:solidFill>
            <a:prstDash val="solid"/>
          </a:ln>
        </p:spPr>
      </p:sp>
      <p:sp>
        <p:nvSpPr>
          <p:cNvPr id="9" name="矩形 8"/>
          <p:cNvSpPr>
            <a:spLocks noGrp="1"/>
          </p:cNvSpPr>
          <p:nvPr/>
        </p:nvSpPr>
        <p:spPr>
          <a:xfrm>
            <a:off x="914400" y="2247900"/>
            <a:ext cx="57150" cy="2038350"/>
          </a:xfrm>
          <a:prstGeom prst="rect">
            <a:avLst/>
          </a:prstGeom>
          <a:solidFill>
            <a:srgbClr val="C89B4A"/>
          </a:solidFill>
          <a:ln w="0">
            <a:solidFill>
              <a:srgbClr val="C89B4A"/>
            </a:solidFill>
            <a:prstDash val="solid"/>
          </a:ln>
        </p:spPr>
      </p:sp>
      <p:sp>
        <p:nvSpPr>
          <p:cNvPr id="10" name="矩形 9"/>
          <p:cNvSpPr>
            <a:spLocks noGrp="1"/>
          </p:cNvSpPr>
          <p:nvPr/>
        </p:nvSpPr>
        <p:spPr>
          <a:xfrm>
            <a:off x="1085850" y="2362200"/>
            <a:ext cx="44767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Unlabeled summary</a:t>
            </a:r>
          </a:p>
        </p:txBody>
      </p:sp>
      <p:sp>
        <p:nvSpPr>
          <p:cNvPr id="11" name="矩形 10"/>
          <p:cNvSpPr>
            <a:spLocks noGrp="1"/>
          </p:cNvSpPr>
          <p:nvPr/>
        </p:nvSpPr>
        <p:spPr>
          <a:xfrm>
            <a:off x="1085850" y="2705100"/>
            <a:ext cx="44767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a summary of the exact same initial evidence, but the source is not identified as AI.</a:t>
            </a:r>
          </a:p>
        </p:txBody>
      </p:sp>
      <p:sp>
        <p:nvSpPr>
          <p:cNvPr id="12" name="矩形: 圆角 11"/>
          <p:cNvSpPr>
            <a:spLocks noGrp="1"/>
          </p:cNvSpPr>
          <p:nvPr/>
        </p:nvSpPr>
        <p:spPr>
          <a:xfrm>
            <a:off x="6477000" y="2247900"/>
            <a:ext cx="472440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6477000" y="2247900"/>
            <a:ext cx="57150" cy="203835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62200"/>
            <a:ext cx="44386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AI-labeled summary</a:t>
            </a:r>
          </a:p>
        </p:txBody>
      </p:sp>
      <p:sp>
        <p:nvSpPr>
          <p:cNvPr id="15" name="矩形 14"/>
          <p:cNvSpPr>
            <a:spLocks noGrp="1"/>
          </p:cNvSpPr>
          <p:nvPr/>
        </p:nvSpPr>
        <p:spPr>
          <a:xfrm>
            <a:off x="6648450" y="2705100"/>
            <a:ext cx="44386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the very same summary text, but now the system explicitly says the summary was generated by AI.</a:t>
            </a:r>
          </a:p>
        </p:txBody>
      </p:sp>
      <p:sp>
        <p:nvSpPr>
          <p:cNvPr id="16" name="矩形 15"/>
          <p:cNvSpPr>
            <a:spLocks noGrp="1"/>
          </p:cNvSpPr>
          <p:nvPr/>
        </p:nvSpPr>
        <p:spPr>
          <a:xfrm>
            <a:off x="914400" y="4629150"/>
            <a:ext cx="2476500" cy="228600"/>
          </a:xfrm>
          <a:prstGeom prst="rect">
            <a:avLst/>
          </a:prstGeom>
          <a:noFill/>
          <a:ln w="0">
            <a:noFill/>
            <a:prstDash val="solid"/>
          </a:ln>
        </p:spPr>
        <p:txBody>
          <a:bodyPr/>
          <a:lstStyle/>
          <a:p>
            <a:pPr algn="l">
              <a:buNone/>
              <a:defRPr sz="1575" b="1" i="0">
                <a:solidFill>
                  <a:srgbClr val="B45A3C"/>
                </a:solidFill>
                <a:latin typeface="Times New Roman" panose="02020603050405020304"/>
                <a:ea typeface="Times New Roman" panose="02020603050405020304"/>
                <a:cs typeface="Times New Roman" panose="02020603050405020304"/>
              </a:defRPr>
            </a:pPr>
            <a:r>
              <a:rPr sz="1575" b="1" i="0">
                <a:solidFill>
                  <a:srgbClr val="B45A3C"/>
                </a:solidFill>
                <a:latin typeface="Times New Roman" panose="02020603050405020304" pitchFamily="18" charset="0"/>
                <a:ea typeface="Times New Roman" panose="02020603050405020304"/>
                <a:cs typeface="Times New Roman" panose="02020603050405020304"/>
              </a:rPr>
              <a:t>Participant sequence</a:t>
            </a:r>
          </a:p>
        </p:txBody>
      </p:sp>
      <p:sp>
        <p:nvSpPr>
          <p:cNvPr id="17" name="矩形: 圆角 16"/>
          <p:cNvSpPr>
            <a:spLocks noGrp="1"/>
          </p:cNvSpPr>
          <p:nvPr/>
        </p:nvSpPr>
        <p:spPr>
          <a:xfrm>
            <a:off x="914400" y="4991100"/>
            <a:ext cx="1790700" cy="1028700"/>
          </a:xfrm>
          <a:prstGeom prst="roundRect">
            <a:avLst>
              <a:gd name="adj" fmla="val 7407"/>
            </a:avLst>
          </a:prstGeom>
          <a:solidFill>
            <a:srgbClr val="FFF9F0"/>
          </a:solidFill>
          <a:ln w="9525">
            <a:solidFill>
              <a:srgbClr val="E8DCCB"/>
            </a:solidFill>
            <a:prstDash val="solid"/>
          </a:ln>
        </p:spPr>
      </p:sp>
      <p:sp>
        <p:nvSpPr>
          <p:cNvPr id="18" name="矩形 17"/>
          <p:cNvSpPr>
            <a:spLocks noGrp="1"/>
          </p:cNvSpPr>
          <p:nvPr/>
        </p:nvSpPr>
        <p:spPr>
          <a:xfrm>
            <a:off x="914400" y="4991100"/>
            <a:ext cx="57150" cy="1028700"/>
          </a:xfrm>
          <a:prstGeom prst="rect">
            <a:avLst/>
          </a:prstGeom>
          <a:solidFill>
            <a:srgbClr val="B45A3C"/>
          </a:solidFill>
          <a:ln w="0">
            <a:solidFill>
              <a:srgbClr val="B45A3C"/>
            </a:solidFill>
            <a:prstDash val="solid"/>
          </a:ln>
        </p:spPr>
      </p:sp>
      <p:sp>
        <p:nvSpPr>
          <p:cNvPr id="19" name="矩形 18"/>
          <p:cNvSpPr>
            <a:spLocks noGrp="1"/>
          </p:cNvSpPr>
          <p:nvPr/>
        </p:nvSpPr>
        <p:spPr>
          <a:xfrm>
            <a:off x="10858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See prior</a:t>
            </a:r>
          </a:p>
        </p:txBody>
      </p:sp>
      <p:sp>
        <p:nvSpPr>
          <p:cNvPr id="20" name="矩形 19"/>
          <p:cNvSpPr>
            <a:spLocks noGrp="1"/>
          </p:cNvSpPr>
          <p:nvPr/>
        </p:nvSpPr>
        <p:spPr>
          <a:xfrm>
            <a:off x="10858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Start from the same prior</a:t>
            </a:r>
          </a:p>
        </p:txBody>
      </p:sp>
      <p:sp>
        <p:nvSpPr>
          <p:cNvPr id="21" name="矩形 20"/>
          <p:cNvSpPr>
            <a:spLocks noGrp="1"/>
          </p:cNvSpPr>
          <p:nvPr/>
        </p:nvSpPr>
        <p:spPr>
          <a:xfrm>
            <a:off x="2762250" y="5505450"/>
            <a:ext cx="171450" cy="19050"/>
          </a:xfrm>
          <a:prstGeom prst="rect">
            <a:avLst/>
          </a:prstGeom>
          <a:solidFill>
            <a:srgbClr val="B45A3C"/>
          </a:solidFill>
          <a:ln w="0">
            <a:solidFill>
              <a:srgbClr val="B45A3C"/>
            </a:solidFill>
            <a:prstDash val="solid"/>
          </a:ln>
        </p:spPr>
      </p:sp>
      <p:sp>
        <p:nvSpPr>
          <p:cNvPr id="22" name="矩形: 圆角 21"/>
          <p:cNvSpPr>
            <a:spLocks noGrp="1"/>
          </p:cNvSpPr>
          <p:nvPr/>
        </p:nvSpPr>
        <p:spPr>
          <a:xfrm>
            <a:off x="2971800" y="4991100"/>
            <a:ext cx="1790700" cy="1028700"/>
          </a:xfrm>
          <a:prstGeom prst="roundRect">
            <a:avLst>
              <a:gd name="adj" fmla="val 7407"/>
            </a:avLst>
          </a:prstGeom>
          <a:solidFill>
            <a:srgbClr val="FFF9F0"/>
          </a:solidFill>
          <a:ln w="9525">
            <a:solidFill>
              <a:srgbClr val="E8DCCB"/>
            </a:solidFill>
            <a:prstDash val="solid"/>
          </a:ln>
        </p:spPr>
      </p:sp>
      <p:sp>
        <p:nvSpPr>
          <p:cNvPr id="23" name="矩形 22"/>
          <p:cNvSpPr>
            <a:spLocks noGrp="1"/>
          </p:cNvSpPr>
          <p:nvPr/>
        </p:nvSpPr>
        <p:spPr>
          <a:xfrm>
            <a:off x="2971800" y="4991100"/>
            <a:ext cx="57150" cy="1028700"/>
          </a:xfrm>
          <a:prstGeom prst="rect">
            <a:avLst/>
          </a:prstGeom>
          <a:solidFill>
            <a:srgbClr val="B45A3C"/>
          </a:solidFill>
          <a:ln w="0">
            <a:solidFill>
              <a:srgbClr val="B45A3C"/>
            </a:solidFill>
            <a:prstDash val="solid"/>
          </a:ln>
        </p:spPr>
      </p:sp>
      <p:sp>
        <p:nvSpPr>
          <p:cNvPr id="24" name="矩形 23"/>
          <p:cNvSpPr>
            <a:spLocks noGrp="1"/>
          </p:cNvSpPr>
          <p:nvPr/>
        </p:nvSpPr>
        <p:spPr>
          <a:xfrm>
            <a:off x="31432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Read summary</a:t>
            </a:r>
          </a:p>
        </p:txBody>
      </p:sp>
      <p:sp>
        <p:nvSpPr>
          <p:cNvPr id="25" name="矩形 24"/>
          <p:cNvSpPr>
            <a:spLocks noGrp="1"/>
          </p:cNvSpPr>
          <p:nvPr/>
        </p:nvSpPr>
        <p:spPr>
          <a:xfrm>
            <a:off x="31432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Or skip summary in baseline</a:t>
            </a:r>
          </a:p>
        </p:txBody>
      </p:sp>
      <p:sp>
        <p:nvSpPr>
          <p:cNvPr id="26" name="矩形 25"/>
          <p:cNvSpPr>
            <a:spLocks noGrp="1"/>
          </p:cNvSpPr>
          <p:nvPr/>
        </p:nvSpPr>
        <p:spPr>
          <a:xfrm>
            <a:off x="4819650" y="5505450"/>
            <a:ext cx="171450" cy="19050"/>
          </a:xfrm>
          <a:prstGeom prst="rect">
            <a:avLst/>
          </a:prstGeom>
          <a:solidFill>
            <a:srgbClr val="B45A3C"/>
          </a:solidFill>
          <a:ln w="0">
            <a:solidFill>
              <a:srgbClr val="B45A3C"/>
            </a:solidFill>
            <a:prstDash val="solid"/>
          </a:ln>
        </p:spPr>
      </p:sp>
      <p:sp>
        <p:nvSpPr>
          <p:cNvPr id="27" name="矩形: 圆角 26"/>
          <p:cNvSpPr>
            <a:spLocks noGrp="1"/>
          </p:cNvSpPr>
          <p:nvPr/>
        </p:nvSpPr>
        <p:spPr>
          <a:xfrm>
            <a:off x="5029200" y="4991100"/>
            <a:ext cx="1790700" cy="1028700"/>
          </a:xfrm>
          <a:prstGeom prst="roundRect">
            <a:avLst>
              <a:gd name="adj" fmla="val 7407"/>
            </a:avLst>
          </a:prstGeom>
          <a:solidFill>
            <a:srgbClr val="FFF9F0"/>
          </a:solidFill>
          <a:ln w="9525">
            <a:solidFill>
              <a:srgbClr val="E8DCCB"/>
            </a:solidFill>
            <a:prstDash val="solid"/>
          </a:ln>
        </p:spPr>
      </p:sp>
      <p:sp>
        <p:nvSpPr>
          <p:cNvPr id="28" name="矩形 27"/>
          <p:cNvSpPr>
            <a:spLocks noGrp="1"/>
          </p:cNvSpPr>
          <p:nvPr/>
        </p:nvSpPr>
        <p:spPr>
          <a:xfrm>
            <a:off x="5029200" y="4991100"/>
            <a:ext cx="57150" cy="1028700"/>
          </a:xfrm>
          <a:prstGeom prst="rect">
            <a:avLst/>
          </a:prstGeom>
          <a:solidFill>
            <a:srgbClr val="C89B4A"/>
          </a:solidFill>
          <a:ln w="0">
            <a:solidFill>
              <a:srgbClr val="C89B4A"/>
            </a:solidFill>
            <a:prstDash val="solid"/>
          </a:ln>
        </p:spPr>
      </p:sp>
      <p:sp>
        <p:nvSpPr>
          <p:cNvPr id="29" name="矩形 28"/>
          <p:cNvSpPr>
            <a:spLocks noGrp="1"/>
          </p:cNvSpPr>
          <p:nvPr/>
        </p:nvSpPr>
        <p:spPr>
          <a:xfrm>
            <a:off x="52006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Choose search</a:t>
            </a:r>
          </a:p>
        </p:txBody>
      </p:sp>
      <p:sp>
        <p:nvSpPr>
          <p:cNvPr id="30" name="矩形 29"/>
          <p:cNvSpPr>
            <a:spLocks noGrp="1"/>
          </p:cNvSpPr>
          <p:nvPr/>
        </p:nvSpPr>
        <p:spPr>
          <a:xfrm>
            <a:off x="52006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Open more evidence or stop</a:t>
            </a:r>
          </a:p>
        </p:txBody>
      </p:sp>
      <p:sp>
        <p:nvSpPr>
          <p:cNvPr id="31" name="矩形 30"/>
          <p:cNvSpPr>
            <a:spLocks noGrp="1"/>
          </p:cNvSpPr>
          <p:nvPr/>
        </p:nvSpPr>
        <p:spPr>
          <a:xfrm>
            <a:off x="6877050" y="5505450"/>
            <a:ext cx="171450" cy="19050"/>
          </a:xfrm>
          <a:prstGeom prst="rect">
            <a:avLst/>
          </a:prstGeom>
          <a:solidFill>
            <a:srgbClr val="B45A3C"/>
          </a:solidFill>
          <a:ln w="0">
            <a:solidFill>
              <a:srgbClr val="B45A3C"/>
            </a:solidFill>
            <a:prstDash val="solid"/>
          </a:ln>
        </p:spPr>
      </p:sp>
      <p:sp>
        <p:nvSpPr>
          <p:cNvPr id="32" name="矩形: 圆角 31"/>
          <p:cNvSpPr>
            <a:spLocks noGrp="1"/>
          </p:cNvSpPr>
          <p:nvPr/>
        </p:nvSpPr>
        <p:spPr>
          <a:xfrm>
            <a:off x="7086600" y="4991100"/>
            <a:ext cx="1790700" cy="1028700"/>
          </a:xfrm>
          <a:prstGeom prst="roundRect">
            <a:avLst>
              <a:gd name="adj" fmla="val 7407"/>
            </a:avLst>
          </a:prstGeom>
          <a:solidFill>
            <a:srgbClr val="FFF9F0"/>
          </a:solidFill>
          <a:ln w="9525">
            <a:solidFill>
              <a:srgbClr val="E8DCCB"/>
            </a:solidFill>
            <a:prstDash val="solid"/>
          </a:ln>
        </p:spPr>
      </p:sp>
      <p:sp>
        <p:nvSpPr>
          <p:cNvPr id="33" name="矩形 32"/>
          <p:cNvSpPr>
            <a:spLocks noGrp="1"/>
          </p:cNvSpPr>
          <p:nvPr/>
        </p:nvSpPr>
        <p:spPr>
          <a:xfrm>
            <a:off x="7086600" y="4991100"/>
            <a:ext cx="57150" cy="1028700"/>
          </a:xfrm>
          <a:prstGeom prst="rect">
            <a:avLst/>
          </a:prstGeom>
          <a:solidFill>
            <a:srgbClr val="B45A3C"/>
          </a:solidFill>
          <a:ln w="0">
            <a:solidFill>
              <a:srgbClr val="B45A3C"/>
            </a:solidFill>
            <a:prstDash val="solid"/>
          </a:ln>
        </p:spPr>
      </p:sp>
      <p:sp>
        <p:nvSpPr>
          <p:cNvPr id="34" name="矩形 33"/>
          <p:cNvSpPr>
            <a:spLocks noGrp="1"/>
          </p:cNvSpPr>
          <p:nvPr/>
        </p:nvSpPr>
        <p:spPr>
          <a:xfrm>
            <a:off x="72580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Report posterior</a:t>
            </a:r>
          </a:p>
        </p:txBody>
      </p:sp>
      <p:sp>
        <p:nvSpPr>
          <p:cNvPr id="35" name="矩形 34"/>
          <p:cNvSpPr>
            <a:spLocks noGrp="1"/>
          </p:cNvSpPr>
          <p:nvPr/>
        </p:nvSpPr>
        <p:spPr>
          <a:xfrm>
            <a:off x="72580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Give the final probability</a:t>
            </a:r>
          </a:p>
        </p:txBody>
      </p:sp>
      <p:sp>
        <p:nvSpPr>
          <p:cNvPr id="36" name="矩形 35"/>
          <p:cNvSpPr>
            <a:spLocks noGrp="1"/>
          </p:cNvSpPr>
          <p:nvPr/>
        </p:nvSpPr>
        <p:spPr>
          <a:xfrm>
            <a:off x="8934450" y="5505450"/>
            <a:ext cx="171450" cy="19050"/>
          </a:xfrm>
          <a:prstGeom prst="rect">
            <a:avLst/>
          </a:prstGeom>
          <a:solidFill>
            <a:srgbClr val="B45A3C"/>
          </a:solidFill>
          <a:ln w="0">
            <a:solidFill>
              <a:srgbClr val="B45A3C"/>
            </a:solidFill>
            <a:prstDash val="solid"/>
          </a:ln>
        </p:spPr>
      </p:sp>
      <p:sp>
        <p:nvSpPr>
          <p:cNvPr id="37" name="矩形: 圆角 36"/>
          <p:cNvSpPr>
            <a:spLocks noGrp="1"/>
          </p:cNvSpPr>
          <p:nvPr/>
        </p:nvSpPr>
        <p:spPr>
          <a:xfrm>
            <a:off x="9144000" y="4991100"/>
            <a:ext cx="1790700" cy="1028700"/>
          </a:xfrm>
          <a:prstGeom prst="roundRect">
            <a:avLst>
              <a:gd name="adj" fmla="val 7407"/>
            </a:avLst>
          </a:prstGeom>
          <a:solidFill>
            <a:srgbClr val="FFF9F0"/>
          </a:solidFill>
          <a:ln w="9525">
            <a:solidFill>
              <a:srgbClr val="E8DCCB"/>
            </a:solidFill>
            <a:prstDash val="solid"/>
          </a:ln>
        </p:spPr>
      </p:sp>
      <p:sp>
        <p:nvSpPr>
          <p:cNvPr id="38" name="矩形 37"/>
          <p:cNvSpPr>
            <a:spLocks noGrp="1"/>
          </p:cNvSpPr>
          <p:nvPr/>
        </p:nvSpPr>
        <p:spPr>
          <a:xfrm>
            <a:off x="9144000" y="4991100"/>
            <a:ext cx="57150" cy="1028700"/>
          </a:xfrm>
          <a:prstGeom prst="rect">
            <a:avLst/>
          </a:prstGeom>
          <a:solidFill>
            <a:srgbClr val="B45A3C"/>
          </a:solidFill>
          <a:ln w="0">
            <a:solidFill>
              <a:srgbClr val="B45A3C"/>
            </a:solidFill>
            <a:prstDash val="solid"/>
          </a:ln>
        </p:spPr>
      </p:sp>
      <p:sp>
        <p:nvSpPr>
          <p:cNvPr id="39" name="矩形 38"/>
          <p:cNvSpPr>
            <a:spLocks noGrp="1"/>
          </p:cNvSpPr>
          <p:nvPr/>
        </p:nvSpPr>
        <p:spPr>
          <a:xfrm>
            <a:off x="93154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Rate mastery</a:t>
            </a:r>
          </a:p>
        </p:txBody>
      </p:sp>
      <p:sp>
        <p:nvSpPr>
          <p:cNvPr id="40" name="矩形 39"/>
          <p:cNvSpPr>
            <a:spLocks noGrp="1"/>
          </p:cNvSpPr>
          <p:nvPr/>
        </p:nvSpPr>
        <p:spPr>
          <a:xfrm>
            <a:off x="93154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Report confidence and ownership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lang="en-US" sz="975" b="1">
                <a:solidFill>
                  <a:srgbClr val="BE643F"/>
                </a:solidFill>
                <a:latin typeface="Times New Roman" panose="02020603050405020304" pitchFamily="18" charset="0"/>
              </a:rPr>
              <a:t>BAYESIAN BENCHMARK</a:t>
            </a:r>
            <a:endParaRPr sz="975" b="1">
              <a:solidFill>
                <a:srgbClr val="BE643F"/>
              </a:solidFill>
              <a:latin typeface="Times New Roman" panose="02020603050405020304" pitchFamily="18" charset="0"/>
            </a:endParaRP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lang="en-US" sz="2325" b="1">
                <a:solidFill>
                  <a:srgbClr val="232B3A"/>
                </a:solidFill>
                <a:latin typeface="Times New Roman" panose="02020603050405020304" pitchFamily="18" charset="0"/>
              </a:rPr>
              <a:t>Bayesian updating provides the normative benchmark</a:t>
            </a:r>
            <a:endParaRPr sz="2325" b="1">
              <a:solidFill>
                <a:srgbClr val="232B3A"/>
              </a:solidFill>
              <a:latin typeface="Times New Roman" panose="02020603050405020304" pitchFamily="18" charset="0"/>
            </a:endParaRP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lang="en-US" sz="1350">
                <a:solidFill>
                  <a:srgbClr val="667085"/>
                </a:solidFill>
                <a:latin typeface="Times New Roman" panose="02020603050405020304" pitchFamily="18" charset="0"/>
              </a:rPr>
              <a:t>The design can distinguish under-search from under-updating because each posterior report can be compared with a calculable benchmark.</a:t>
            </a:r>
            <a:endParaRPr sz="1350">
              <a:solidFill>
                <a:srgbClr val="667085"/>
              </a:solidFill>
              <a:latin typeface="Times New Roman" panose="02020603050405020304" pitchFamily="18" charset="0"/>
            </a:endParaRPr>
          </a:p>
        </p:txBody>
      </p:sp>
      <p:sp>
        <p:nvSpPr>
          <p:cNvPr id="8" name="矩形: 圆角 7"/>
          <p:cNvSpPr>
            <a:spLocks noGrp="1"/>
          </p:cNvSpPr>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Classical updating rule</a:t>
            </a:r>
            <a:endParaRPr sz="1650" b="1">
              <a:solidFill>
                <a:srgbClr val="232B3A"/>
              </a:solidFill>
              <a:latin typeface="Times New Roman" panose="02020603050405020304" pitchFamily="18" charset="0"/>
            </a:endParaRPr>
          </a:p>
        </p:txBody>
      </p:sp>
      <p:sp>
        <p:nvSpPr>
          <p:cNvPr id="11" name="矩形 10"/>
          <p:cNvSpPr>
            <a:spLocks noGrp="1"/>
          </p:cNvSpPr>
          <p:nvPr/>
        </p:nvSpPr>
        <p:spPr>
          <a:xfrm>
            <a:off x="1181100" y="291465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logit(p_Bayes) = logit(p_prior) + sum log(LR_j)</a:t>
            </a: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Each evidence item contributes its directional likelihood ratio to the posterior benchmark.</a:t>
            </a:r>
            <a:endParaRPr sz="1275">
              <a:solidFill>
                <a:srgbClr val="667085"/>
              </a:solidFill>
              <a:latin typeface="Times New Roman" panose="02020603050405020304" pitchFamily="18" charset="0"/>
            </a:endParaRPr>
          </a:p>
        </p:txBody>
      </p:sp>
      <p:sp>
        <p:nvSpPr>
          <p:cNvPr id="12" name="矩形: 圆角 11"/>
          <p:cNvSpPr>
            <a:spLocks noGrp="1"/>
          </p:cNvSpPr>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Observed information set</a:t>
            </a:r>
            <a:endParaRPr sz="1650" b="1">
              <a:solidFill>
                <a:srgbClr val="232B3A"/>
              </a:solidFill>
              <a:latin typeface="Times New Roman" panose="02020603050405020304" pitchFamily="18" charset="0"/>
            </a:endParaRPr>
          </a:p>
        </p:txBody>
      </p:sp>
      <p:sp>
        <p:nvSpPr>
          <p:cNvPr id="15" name="矩形 14"/>
          <p:cNvSpPr>
            <a:spLocks noGrp="1"/>
          </p:cNvSpPr>
          <p:nvPr/>
        </p:nvSpPr>
        <p:spPr>
          <a:xfrm>
            <a:off x="6705600" y="291465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Summary-mentioned evidence and later clicked evidence both enter the participant's observed information set.</a:t>
            </a:r>
            <a:endParaRPr sz="1275">
              <a:solidFill>
                <a:srgbClr val="667085"/>
              </a:solidFill>
              <a:latin typeface="Times New Roman" panose="02020603050405020304" pitchFamily="18" charset="0"/>
            </a:endParaRPr>
          </a:p>
        </p:txBody>
      </p:sp>
      <p:sp>
        <p:nvSpPr>
          <p:cNvPr id="16" name="矩形: 圆角 15"/>
          <p:cNvSpPr>
            <a:spLocks noGrp="1"/>
          </p:cNvSpPr>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Conditional Bayesian deviation</a:t>
            </a:r>
            <a:endParaRPr sz="1650" b="1">
              <a:solidFill>
                <a:srgbClr val="232B3A"/>
              </a:solidFill>
              <a:latin typeface="Times New Roman" panose="02020603050405020304" pitchFamily="18" charset="0"/>
            </a:endParaRPr>
          </a:p>
        </p:txBody>
      </p:sp>
      <p:sp>
        <p:nvSpPr>
          <p:cNvPr id="19" name="矩形 18"/>
          <p:cNvSpPr>
            <a:spLocks noGrp="1"/>
          </p:cNvSpPr>
          <p:nvPr/>
        </p:nvSpPr>
        <p:spPr>
          <a:xfrm>
            <a:off x="1181100" y="483870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abs(logit(p_reported) - logit(p_Bayes observed))</a:t>
            </a: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Did the participant use the evidence actually seen correctly?</a:t>
            </a:r>
            <a:endParaRPr sz="1275">
              <a:solidFill>
                <a:srgbClr val="667085"/>
              </a:solidFill>
              <a:latin typeface="Times New Roman" panose="02020603050405020304" pitchFamily="18" charset="0"/>
            </a:endParaRPr>
          </a:p>
        </p:txBody>
      </p:sp>
      <p:sp>
        <p:nvSpPr>
          <p:cNvPr id="20" name="矩形: 圆角 19"/>
          <p:cNvSpPr>
            <a:spLocks noGrp="1"/>
          </p:cNvSpPr>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Full-information deviation</a:t>
            </a:r>
            <a:endParaRPr sz="1650" b="1">
              <a:solidFill>
                <a:srgbClr val="232B3A"/>
              </a:solidFill>
              <a:latin typeface="Times New Roman" panose="02020603050405020304" pitchFamily="18" charset="0"/>
            </a:endParaRPr>
          </a:p>
        </p:txBody>
      </p:sp>
      <p:sp>
        <p:nvSpPr>
          <p:cNvPr id="23" name="矩形 22"/>
          <p:cNvSpPr>
            <a:spLocks noGrp="1"/>
          </p:cNvSpPr>
          <p:nvPr/>
        </p:nvSpPr>
        <p:spPr>
          <a:xfrm>
            <a:off x="6705600" y="483870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abs(logit(p_reported) - logit(p_Bayes full))</a:t>
            </a: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How far is the final judgment from the full-evidence benchmark?</a:t>
            </a:r>
            <a:endParaRPr sz="1275">
              <a:solidFill>
                <a:srgbClr val="667085"/>
              </a:solidFill>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RESULT PATTERNS</a:t>
            </a: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Different result patterns would support different hypotheses</a:t>
            </a: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Once the experiment is in place, the key issue is how the observed result pattern maps onto the three research questions.</a:t>
            </a:r>
          </a:p>
        </p:txBody>
      </p:sp>
      <p:sp>
        <p:nvSpPr>
          <p:cNvPr id="8" name="矩形: 圆角 7"/>
          <p:cNvSpPr>
            <a:spLocks noGrp="1"/>
          </p:cNvSpPr>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RQ1: stopping-threshold effect</a:t>
            </a:r>
          </a:p>
        </p:txBody>
      </p:sp>
      <p:sp>
        <p:nvSpPr>
          <p:cNvPr id="11" name="矩形 10"/>
          <p:cNvSpPr>
            <a:spLocks noGrp="1"/>
          </p:cNvSpPr>
          <p:nvPr/>
        </p:nvSpPr>
        <p:spPr>
          <a:xfrm>
            <a:off x="11811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the AI-labeled summary group searches less, stops earlier, or is willing to pay less for extra evidence than the unlabeled-summary group, that supports the claim that the AI label shifts the search stopping threshold.</a:t>
            </a:r>
          </a:p>
        </p:txBody>
      </p:sp>
      <p:sp>
        <p:nvSpPr>
          <p:cNvPr id="12" name="矩形: 圆角 11"/>
          <p:cNvSpPr>
            <a:spLocks noGrp="1"/>
          </p:cNvSpPr>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efficient compression</a:t>
            </a:r>
          </a:p>
        </p:txBody>
      </p:sp>
      <p:sp>
        <p:nvSpPr>
          <p:cNvPr id="15" name="矩形 14"/>
          <p:cNvSpPr>
            <a:spLocks noGrp="1"/>
          </p:cNvSpPr>
          <p:nvPr/>
        </p:nvSpPr>
        <p:spPr>
          <a:xfrm>
            <a:off x="67056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falls under representative summaries without worse full-information performance, the reduction in search is consistent with efficient information compression rather than harmful under-search.</a:t>
            </a:r>
          </a:p>
        </p:txBody>
      </p:sp>
      <p:sp>
        <p:nvSpPr>
          <p:cNvPr id="16" name="矩形: 圆角 15"/>
          <p:cNvSpPr>
            <a:spLocks noGrp="1"/>
          </p:cNvSpPr>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harmful under-search</a:t>
            </a:r>
          </a:p>
        </p:txBody>
      </p:sp>
      <p:sp>
        <p:nvSpPr>
          <p:cNvPr id="19" name="矩形 18"/>
          <p:cNvSpPr>
            <a:spLocks noGrp="1"/>
          </p:cNvSpPr>
          <p:nvPr/>
        </p:nvSpPr>
        <p:spPr>
          <a:xfrm>
            <a:off x="11811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still falls under incomplete summaries and full-information deviation grows, the result supports harmful information-acquisition deviation caused by overestimated sufficiency.</a:t>
            </a:r>
          </a:p>
        </p:txBody>
      </p:sp>
      <p:sp>
        <p:nvSpPr>
          <p:cNvPr id="20" name="矩形: 圆角 19"/>
          <p:cNvSpPr>
            <a:spLocks noGrp="1"/>
          </p:cNvSpPr>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RQ3: calibration mismatch</a:t>
            </a:r>
          </a:p>
        </p:txBody>
      </p:sp>
      <p:sp>
        <p:nvSpPr>
          <p:cNvPr id="23" name="矩形 22"/>
          <p:cNvSpPr>
            <a:spLocks noGrp="1"/>
          </p:cNvSpPr>
          <p:nvPr/>
        </p:nvSpPr>
        <p:spPr>
          <a:xfrm>
            <a:off x="67056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AI-summary users show better posterior quality but lower subjective mastery or epistemic ownership, the result supports a mismatch between objective updating quality and subjective information mastery.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3" name="椭圆 22"/>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EXPECTED CONTRIBUTIONS</a:t>
            </a:r>
          </a:p>
        </p:txBody>
      </p:sp>
      <p:sp>
        <p:nvSpPr>
          <p:cNvPr id="6" name="矩形 5"/>
          <p:cNvSpPr>
            <a:spLocks noGrp="1"/>
          </p:cNvSpPr>
          <p:nvPr/>
        </p:nvSpPr>
        <p:spPr>
          <a:xfrm>
            <a:off x="1009650" y="1028700"/>
            <a:ext cx="9144000" cy="6858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Expected contributions</a:t>
            </a: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contributes by identifying where AI changes additional search, posterior updating, and subjective information mastery.</a:t>
            </a:r>
          </a:p>
        </p:txBody>
      </p:sp>
      <p:sp>
        <p:nvSpPr>
          <p:cNvPr id="8" name="矩形: 圆角 7"/>
          <p:cNvSpPr>
            <a:spLocks noGrp="1"/>
          </p:cNvSpPr>
          <p:nvPr/>
        </p:nvSpPr>
        <p:spPr>
          <a:xfrm>
            <a:off x="914400" y="2400300"/>
            <a:ext cx="3238500" cy="2533650"/>
          </a:xfrm>
          <a:prstGeom prst="roundRect">
            <a:avLst>
              <a:gd name="adj" fmla="val 4511"/>
            </a:avLst>
          </a:prstGeom>
          <a:solidFill>
            <a:srgbClr val="FEFCF8"/>
          </a:solidFill>
          <a:ln w="9525">
            <a:solidFill>
              <a:srgbClr val="F0E2D1"/>
            </a:solidFill>
            <a:prstDash val="solid"/>
          </a:ln>
        </p:spPr>
      </p:sp>
      <p:sp>
        <p:nvSpPr>
          <p:cNvPr id="9" name="矩形 8"/>
          <p:cNvSpPr>
            <a:spLocks noGrp="1"/>
          </p:cNvSpPr>
          <p:nvPr/>
        </p:nvSpPr>
        <p:spPr>
          <a:xfrm>
            <a:off x="914400" y="2400300"/>
            <a:ext cx="57150" cy="25336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Theoretical move</a:t>
            </a:r>
          </a:p>
        </p:txBody>
      </p:sp>
      <p:sp>
        <p:nvSpPr>
          <p:cNvPr id="11" name="矩形 10"/>
          <p:cNvSpPr>
            <a:spLocks noGrp="1"/>
          </p:cNvSpPr>
          <p:nvPr/>
        </p:nvSpPr>
        <p:spPr>
          <a:xfrm>
            <a:off x="118110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shifts the focus from generic trust and automation bias to an evidence-to-belief mechanism: how AI changes users' judgments of evidentiary sufficiency and the stopping rule for further search.</a:t>
            </a:r>
          </a:p>
        </p:txBody>
      </p:sp>
      <p:sp>
        <p:nvSpPr>
          <p:cNvPr id="12" name="矩形: 圆角 11"/>
          <p:cNvSpPr>
            <a:spLocks noGrp="1"/>
          </p:cNvSpPr>
          <p:nvPr/>
        </p:nvSpPr>
        <p:spPr>
          <a:xfrm>
            <a:off x="4476750" y="2400300"/>
            <a:ext cx="3238500" cy="2533650"/>
          </a:xfrm>
          <a:prstGeom prst="roundRect">
            <a:avLst>
              <a:gd name="adj" fmla="val 4511"/>
            </a:avLst>
          </a:prstGeom>
          <a:solidFill>
            <a:srgbClr val="FEFCF8"/>
          </a:solidFill>
          <a:ln w="9525">
            <a:solidFill>
              <a:srgbClr val="F0E2D1"/>
            </a:solidFill>
            <a:prstDash val="solid"/>
          </a:ln>
        </p:spPr>
      </p:sp>
      <p:sp>
        <p:nvSpPr>
          <p:cNvPr id="13" name="矩形 12"/>
          <p:cNvSpPr>
            <a:spLocks noGrp="1"/>
          </p:cNvSpPr>
          <p:nvPr/>
        </p:nvSpPr>
        <p:spPr>
          <a:xfrm>
            <a:off x="4476750" y="2400300"/>
            <a:ext cx="57150" cy="2533650"/>
          </a:xfrm>
          <a:prstGeom prst="rect">
            <a:avLst/>
          </a:prstGeom>
          <a:solidFill>
            <a:srgbClr val="D1A63A"/>
          </a:solidFill>
          <a:ln w="0">
            <a:solidFill>
              <a:srgbClr val="D1A63A"/>
            </a:solidFill>
            <a:prstDash val="solid"/>
          </a:ln>
        </p:spPr>
      </p:sp>
      <p:sp>
        <p:nvSpPr>
          <p:cNvPr id="14" name="矩形 13"/>
          <p:cNvSpPr>
            <a:spLocks noGrp="1"/>
          </p:cNvSpPr>
          <p:nvPr/>
        </p:nvSpPr>
        <p:spPr>
          <a:xfrm>
            <a:off x="474345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Method contribution</a:t>
            </a:r>
          </a:p>
        </p:txBody>
      </p:sp>
      <p:sp>
        <p:nvSpPr>
          <p:cNvPr id="15" name="矩形 14"/>
          <p:cNvSpPr>
            <a:spLocks noGrp="1"/>
          </p:cNvSpPr>
          <p:nvPr/>
        </p:nvSpPr>
        <p:spPr>
          <a:xfrm>
            <a:off x="474345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It extends a classic Bayesian belief-updating paradigm into a company-risk task with summary-first presentation, follow-on evidence search, and same-summary source-label identification.</a:t>
            </a:r>
          </a:p>
        </p:txBody>
      </p:sp>
      <p:sp>
        <p:nvSpPr>
          <p:cNvPr id="16" name="矩形: 圆角 15"/>
          <p:cNvSpPr>
            <a:spLocks noGrp="1"/>
          </p:cNvSpPr>
          <p:nvPr/>
        </p:nvSpPr>
        <p:spPr>
          <a:xfrm>
            <a:off x="8039100" y="2400300"/>
            <a:ext cx="3162300" cy="2533650"/>
          </a:xfrm>
          <a:prstGeom prst="roundRect">
            <a:avLst>
              <a:gd name="adj" fmla="val 4511"/>
            </a:avLst>
          </a:prstGeom>
          <a:solidFill>
            <a:srgbClr val="FEFCF8"/>
          </a:solidFill>
          <a:ln w="9525">
            <a:solidFill>
              <a:srgbClr val="F0E2D1"/>
            </a:solidFill>
            <a:prstDash val="solid"/>
          </a:ln>
        </p:spPr>
      </p:sp>
      <p:sp>
        <p:nvSpPr>
          <p:cNvPr id="17" name="矩形 16"/>
          <p:cNvSpPr>
            <a:spLocks noGrp="1"/>
          </p:cNvSpPr>
          <p:nvPr/>
        </p:nvSpPr>
        <p:spPr>
          <a:xfrm>
            <a:off x="8039100" y="2400300"/>
            <a:ext cx="57150" cy="2533650"/>
          </a:xfrm>
          <a:prstGeom prst="rect">
            <a:avLst/>
          </a:prstGeom>
          <a:solidFill>
            <a:srgbClr val="7A8A68"/>
          </a:solidFill>
          <a:ln w="0">
            <a:solidFill>
              <a:srgbClr val="7A8A68"/>
            </a:solidFill>
            <a:prstDash val="solid"/>
          </a:ln>
        </p:spPr>
      </p:sp>
      <p:sp>
        <p:nvSpPr>
          <p:cNvPr id="18" name="矩形 17"/>
          <p:cNvSpPr>
            <a:spLocks noGrp="1"/>
          </p:cNvSpPr>
          <p:nvPr/>
        </p:nvSpPr>
        <p:spPr>
          <a:xfrm>
            <a:off x="8305800" y="2571750"/>
            <a:ext cx="27051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Substantive contribution</a:t>
            </a:r>
          </a:p>
        </p:txBody>
      </p:sp>
      <p:sp>
        <p:nvSpPr>
          <p:cNvPr id="19" name="矩形 18"/>
          <p:cNvSpPr>
            <a:spLocks noGrp="1"/>
          </p:cNvSpPr>
          <p:nvPr/>
        </p:nvSpPr>
        <p:spPr>
          <a:xfrm>
            <a:off x="8305800" y="2952750"/>
            <a:ext cx="27051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distinguishes efficient compression from harmful under-search and shows how objective posterior quality can separate from subjective mastery and epistemic ownership.</a:t>
            </a:r>
          </a:p>
        </p:txBody>
      </p:sp>
      <p:sp>
        <p:nvSpPr>
          <p:cNvPr id="20" name="矩形: 圆角 19"/>
          <p:cNvSpPr>
            <a:spLocks noGrp="1"/>
          </p:cNvSpPr>
          <p:nvPr/>
        </p:nvSpPr>
        <p:spPr>
          <a:xfrm>
            <a:off x="1638300" y="5276850"/>
            <a:ext cx="8839200" cy="704850"/>
          </a:xfrm>
          <a:prstGeom prst="roundRect">
            <a:avLst>
              <a:gd name="adj" fmla="val 16216"/>
            </a:avLst>
          </a:prstGeom>
          <a:solidFill>
            <a:srgbClr val="FCFAF6"/>
          </a:solidFill>
          <a:ln w="9525">
            <a:solidFill>
              <a:srgbClr val="F0E2D1"/>
            </a:solidFill>
            <a:prstDash val="solid"/>
          </a:ln>
        </p:spPr>
      </p:sp>
      <p:sp>
        <p:nvSpPr>
          <p:cNvPr id="21" name="矩形 20"/>
          <p:cNvSpPr>
            <a:spLocks noGrp="1"/>
          </p:cNvSpPr>
          <p:nvPr/>
        </p:nvSpPr>
        <p:spPr>
          <a:xfrm>
            <a:off x="1638300" y="5276850"/>
            <a:ext cx="57150" cy="704850"/>
          </a:xfrm>
          <a:prstGeom prst="rect">
            <a:avLst/>
          </a:prstGeom>
          <a:solidFill>
            <a:srgbClr val="BE643F"/>
          </a:solidFill>
          <a:ln w="0">
            <a:solidFill>
              <a:srgbClr val="BE643F"/>
            </a:solidFill>
            <a:prstDash val="solid"/>
          </a:ln>
        </p:spPr>
      </p:sp>
      <p:sp>
        <p:nvSpPr>
          <p:cNvPr id="22" name="矩形 21"/>
          <p:cNvSpPr>
            <a:spLocks noGrp="1"/>
          </p:cNvSpPr>
          <p:nvPr/>
        </p:nvSpPr>
        <p:spPr>
          <a:xfrm>
            <a:off x="1924050" y="5448300"/>
            <a:ext cx="8286750" cy="342900"/>
          </a:xfrm>
          <a:prstGeom prst="rect">
            <a:avLst/>
          </a:prstGeom>
          <a:noFill/>
          <a:ln w="0">
            <a:noFill/>
            <a:prstDash val="solid"/>
          </a:ln>
        </p:spPr>
        <p:txBody>
          <a:bodyPr/>
          <a:lstStyle/>
          <a:p>
            <a:pPr algn="ctr">
              <a:defRPr sz="1350" i="1">
                <a:solidFill>
                  <a:srgbClr val="667085"/>
                </a:solidFill>
              </a:defRPr>
            </a:pPr>
            <a:r>
              <a:rPr sz="1350" i="1">
                <a:solidFill>
                  <a:srgbClr val="667085"/>
                </a:solidFill>
                <a:latin typeface="Times New Roman" panose="02020603050405020304" pitchFamily="18" charset="0"/>
              </a:rPr>
              <a:t>Taken together, the paper asks not only whether AI reduces search, but whether it changes when users feel they have already seen enough.</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2484</Words>
  <Application>Microsoft Office PowerPoint</Application>
  <PresentationFormat>宽屏</PresentationFormat>
  <Paragraphs>228</Paragraphs>
  <Slides>12</Slides>
  <Notes>12</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12</vt:i4>
      </vt:variant>
    </vt:vector>
  </HeadingPairs>
  <TitlesOfParts>
    <vt:vector size="15" baseType="lpstr">
      <vt:lpstr>Calibri</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Xiangyu XU</cp:lastModifiedBy>
  <cp:revision>11</cp:revision>
  <dcterms:created xsi:type="dcterms:W3CDTF">2026-07-06T06:02:00Z</dcterms:created>
  <dcterms:modified xsi:type="dcterms:W3CDTF">2026-07-06T17:07:12Z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E2795E8A0ADB45B4ABD05B24C1A19A28_12</vt:lpwstr>
  </property>
</Properties>
</file>