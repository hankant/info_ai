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3" r:id="rId7"/>
    <p:sldId id="264" r:id="rId8"/>
    <p:sldId id="265" r:id="rId9"/>
    <p:sldId id="266" r:id="rId10"/>
    <p:sldId id="267" r:id="rId11"/>
    <p:sldId id="268" r:id="rId12"/>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Now I will move to the first paper of my dissertation.</a:t>
            </a:r>
          </a:p>
          <a:p>
            <a:r>
              <a:rPr lang="en-US">
                <a:latin typeface="Times New Roman" panose="02020603050405020304" pitchFamily="18" charset="0"/>
              </a:rPr>
              <a:t>This paper focuses how people move from evidence to belief.</a:t>
            </a:r>
          </a:p>
          <a:p>
            <a:r>
              <a:rPr lang="en-US">
                <a:latin typeface="Times New Roman" panose="02020603050405020304" pitchFamily="18" charset="0"/>
              </a:rPr>
              <a:t>The basic idea is simple.</a:t>
            </a:r>
          </a:p>
          <a:p>
            <a:r>
              <a:rPr lang="en-US">
                <a:latin typeface="Times New Roman" panose="02020603050405020304" pitchFamily="18" charset="0"/>
              </a:rPr>
              <a:t>Generative AI does not only give people an answer faster.</a:t>
            </a:r>
          </a:p>
          <a:p>
            <a:r>
              <a:rPr lang="en-US">
                <a:latin typeface="Times New Roman" panose="02020603050405020304" pitchFamily="18" charset="0"/>
              </a:rPr>
              <a:t>It may also change when people feel they have already seen enough evidence.</a:t>
            </a:r>
          </a:p>
          <a:p>
            <a:r>
              <a:rPr lang="en-US">
                <a:latin typeface="Times New Roman" panose="02020603050405020304" pitchFamily="18" charset="0"/>
              </a:rPr>
              <a:t>The key question is: does AI change the point at which people stop looking for more information?</a:t>
            </a:r>
          </a:p>
          <a:p>
            <a:r>
              <a:rPr lang="en-US">
                <a:latin typeface="Times New Roman" panose="02020603050405020304" pitchFamily="18" charset="0"/>
              </a:rPr>
              <a:t>and if it does ，is that change beneficial or harmful?</a:t>
            </a:r>
          </a:p>
          <a:p>
            <a:r>
              <a:rPr lang="en-US">
                <a:latin typeface="Times New Roman" panose="02020603050405020304" pitchFamily="18" charset="0"/>
              </a:rPr>
              <a:t>That is why this paper focuses on information calibration.</a:t>
            </a:r>
          </a:p>
          <a:p>
            <a:r>
              <a:rPr lang="en-US">
                <a:latin typeface="Times New Roman" panose="02020603050405020304" pitchFamily="18" charset="0"/>
              </a:rPr>
              <a:t>By information calibration, I mean whether people can correctly judge whether the current evidence is already enough, or whether more evidence is still worth searching for.</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Let me start with a simple contrast.</a:t>
            </a:r>
          </a:p>
          <a:p>
            <a:r>
              <a:rPr lang="en-US">
                <a:latin typeface="Times New Roman" panose="02020603050405020304" pitchFamily="18" charset="0"/>
              </a:rPr>
              <a:t>When we use a search engine, we usually see evidence first.</a:t>
            </a:r>
          </a:p>
          <a:p>
            <a:r>
              <a:rPr lang="en-US">
                <a:latin typeface="Times New Roman" panose="02020603050405020304" pitchFamily="18" charset="0"/>
              </a:rPr>
              <a:t>We open different links.</a:t>
            </a:r>
          </a:p>
          <a:p>
            <a:r>
              <a:rPr lang="en-US">
                <a:latin typeface="Times New Roman" panose="02020603050405020304" pitchFamily="18" charset="0"/>
              </a:rPr>
              <a:t>We compare sources.</a:t>
            </a:r>
          </a:p>
          <a:p>
            <a:r>
              <a:rPr lang="en-US">
                <a:latin typeface="Times New Roman" panose="02020603050405020304" pitchFamily="18" charset="0"/>
              </a:rPr>
              <a:t>We notice disagreement.</a:t>
            </a:r>
          </a:p>
          <a:p>
            <a:r>
              <a:rPr lang="en-US">
                <a:latin typeface="Times New Roman" panose="02020603050405020304" pitchFamily="18" charset="0"/>
              </a:rPr>
              <a:t>Then we slowly form our own judgment.</a:t>
            </a:r>
          </a:p>
          <a:p>
            <a:r>
              <a:rPr lang="en-US">
                <a:latin typeface="Times New Roman" panose="02020603050405020304" pitchFamily="18" charset="0"/>
              </a:rPr>
              <a:t>But when we use an AI assistant, the order is often reversed.</a:t>
            </a:r>
          </a:p>
          <a:p>
            <a:r>
              <a:rPr lang="en-US">
                <a:latin typeface="Times New Roman" panose="02020603050405020304" pitchFamily="18" charset="0"/>
              </a:rPr>
              <a:t>We first receive a summarized answer.</a:t>
            </a:r>
          </a:p>
          <a:p>
            <a:r>
              <a:rPr lang="en-US">
                <a:latin typeface="Times New Roman" panose="02020603050405020304" pitchFamily="18" charset="0"/>
              </a:rPr>
              <a:t>The answer may already include an explanation, an example, and a conclusion.</a:t>
            </a:r>
          </a:p>
          <a:p>
            <a:r>
              <a:rPr lang="en-US">
                <a:latin typeface="Times New Roman" panose="02020603050405020304" pitchFamily="18" charset="0"/>
              </a:rPr>
              <a:t>Only after that do we decide whether we want to verify it.</a:t>
            </a:r>
          </a:p>
          <a:p>
            <a:r>
              <a:rPr lang="en-US">
                <a:latin typeface="Times New Roman" panose="02020603050405020304" pitchFamily="18" charset="0"/>
              </a:rPr>
              <a:t>So the difference is not only speed.</a:t>
            </a:r>
          </a:p>
          <a:p>
            <a:r>
              <a:rPr lang="en-US">
                <a:latin typeface="Times New Roman" panose="02020603050405020304" pitchFamily="18" charset="0"/>
              </a:rPr>
              <a:t>The deeper difference is the order of the process.</a:t>
            </a:r>
          </a:p>
          <a:p>
            <a:r>
              <a:rPr lang="en-US">
                <a:latin typeface="Times New Roman" panose="02020603050405020304" pitchFamily="18" charset="0"/>
              </a:rPr>
              <a:t>With search engines, the user moves from evidence to interpretation.</a:t>
            </a:r>
          </a:p>
          <a:p>
            <a:r>
              <a:rPr lang="en-US">
                <a:latin typeface="Times New Roman" panose="02020603050405020304" pitchFamily="18" charset="0"/>
              </a:rPr>
              <a:t>With AI assistants, the user often receives an conclusion first, and verification becomes optional.</a:t>
            </a:r>
          </a:p>
          <a:p>
            <a:r>
              <a:rPr lang="en-US">
                <a:latin typeface="Times New Roman" panose="02020603050405020304" pitchFamily="18" charset="0"/>
              </a:rPr>
              <a:t>This reversal is the starting intuition of the paper.</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This creates an important problem.</a:t>
            </a:r>
          </a:p>
          <a:p>
            <a:r>
              <a:rPr lang="en-US">
                <a:latin typeface="Times New Roman" panose="02020603050405020304" pitchFamily="18" charset="0"/>
              </a:rPr>
              <a:t>If people search less after seeing an AI answer, should we worry?</a:t>
            </a:r>
          </a:p>
          <a:p>
            <a:r>
              <a:rPr lang="en-US">
                <a:latin typeface="Times New Roman" panose="02020603050405020304" pitchFamily="18" charset="0"/>
              </a:rPr>
              <a:t>Not necessarily.</a:t>
            </a:r>
          </a:p>
          <a:p>
            <a:r>
              <a:rPr lang="en-US">
                <a:latin typeface="Times New Roman" panose="02020603050405020304" pitchFamily="18" charset="0"/>
              </a:rPr>
              <a:t>Less search can mean two very different things.</a:t>
            </a:r>
          </a:p>
          <a:p>
            <a:r>
              <a:rPr lang="en-US">
                <a:latin typeface="Times New Roman" panose="02020603050405020304" pitchFamily="18" charset="0"/>
              </a:rPr>
              <a:t>In the first case, AI has already compressed useful evidence well.</a:t>
            </a:r>
          </a:p>
          <a:p>
            <a:r>
              <a:rPr lang="en-US">
                <a:latin typeface="Times New Roman" panose="02020603050405020304" pitchFamily="18" charset="0"/>
              </a:rPr>
              <a:t>Then the user searches less, but the final judgment does not become worse.</a:t>
            </a:r>
          </a:p>
          <a:p>
            <a:r>
              <a:rPr lang="en-US">
                <a:latin typeface="Times New Roman" panose="02020603050405020304" pitchFamily="18" charset="0"/>
              </a:rPr>
              <a:t>That is efficient compression.</a:t>
            </a:r>
          </a:p>
          <a:p>
            <a:r>
              <a:rPr lang="en-US">
                <a:latin typeface="Times New Roman" panose="02020603050405020304" pitchFamily="18" charset="0"/>
              </a:rPr>
              <a:t>But in the second case, the user searches less because the AI answer makes the evidence feel more complete than it really is.</a:t>
            </a:r>
          </a:p>
          <a:p>
            <a:r>
              <a:rPr lang="en-US">
                <a:latin typeface="Times New Roman" panose="02020603050405020304" pitchFamily="18" charset="0"/>
              </a:rPr>
              <a:t>Then the user may stop too early, and the final judgment may become worse.</a:t>
            </a:r>
          </a:p>
          <a:p>
            <a:r>
              <a:rPr lang="en-US">
                <a:latin typeface="Times New Roman" panose="02020603050405020304" pitchFamily="18" charset="0"/>
              </a:rPr>
              <a:t>That is harmful under-search.</a:t>
            </a:r>
          </a:p>
          <a:p>
            <a:r>
              <a:rPr lang="en-US">
                <a:latin typeface="Times New Roman" panose="02020603050405020304" pitchFamily="18" charset="0"/>
              </a:rPr>
              <a:t>So we dont  simply ask whether AI reduces search.</a:t>
            </a:r>
          </a:p>
          <a:p>
            <a:r>
              <a:rPr lang="en-US">
                <a:latin typeface="Times New Roman" panose="02020603050405020304" pitchFamily="18" charset="0"/>
              </a:rPr>
              <a:t>we should asks whether reduced search is justified.</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Here I want to anchor the paper in the existing literature more concretely.</a:t>
            </a:r>
          </a:p>
          <a:p>
            <a:r>
              <a:rPr lang="en-US">
                <a:latin typeface="Times New Roman" panose="02020603050405020304" pitchFamily="18" charset="0"/>
              </a:rPr>
              <a:t>The image summarizes the closest literature targets on automation bias, reduced search, and verification. These papers are valuable, but they often move too quickly from less search to worse judgment, or they treat verification intensity as the key mechanism.</a:t>
            </a:r>
          </a:p>
          <a:p>
            <a:r>
              <a:rPr lang="en-US">
                <a:latin typeface="Times New Roman" panose="02020603050405020304" pitchFamily="18" charset="0"/>
              </a:rPr>
              <a:t>So my paper separates three things.</a:t>
            </a:r>
          </a:p>
          <a:p>
            <a:r>
              <a:rPr lang="en-US">
                <a:latin typeface="Times New Roman" panose="02020603050405020304" pitchFamily="18" charset="0"/>
              </a:rPr>
              <a:t>How much people search.</a:t>
            </a:r>
          </a:p>
          <a:p>
            <a:r>
              <a:rPr lang="en-US">
                <a:latin typeface="Times New Roman" panose="02020603050405020304" pitchFamily="18" charset="0"/>
              </a:rPr>
              <a:t>Whether their final belief is close to the evidence.</a:t>
            </a:r>
          </a:p>
          <a:p>
            <a:r>
              <a:rPr lang="en-US">
                <a:latin typeface="Times New Roman" panose="02020603050405020304" pitchFamily="18" charset="0"/>
              </a:rPr>
              <a:t>And how much they feel they understand the issue.</a:t>
            </a:r>
          </a:p>
          <a:p>
            <a:r>
              <a:rPr lang="en-US">
                <a:latin typeface="Times New Roman" panose="02020603050405020304" pitchFamily="18" charset="0"/>
              </a:rPr>
              <a:t>This is why I frame the paper around information calibration.</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People should not search forever.</a:t>
            </a:r>
          </a:p>
          <a:p>
            <a:r>
              <a:rPr lang="en-US">
                <a:latin typeface="Times New Roman" panose="02020603050405020304" pitchFamily="18" charset="0"/>
              </a:rPr>
              <a:t>They should continue searching only when the expected value of more evidence is larger than the cost of getting it.</a:t>
            </a:r>
          </a:p>
          <a:p>
            <a:r>
              <a:rPr lang="en-US">
                <a:latin typeface="Times New Roman" panose="02020603050405020304" pitchFamily="18" charset="0"/>
              </a:rPr>
              <a:t>So stopping early is not automatically irrational.</a:t>
            </a:r>
          </a:p>
          <a:p>
            <a:r>
              <a:rPr lang="en-US">
                <a:latin typeface="Times New Roman" panose="02020603050405020304" pitchFamily="18" charset="0"/>
              </a:rPr>
              <a:t>If the current evidence is already strong enough, then stopping can be reasonable.</a:t>
            </a:r>
          </a:p>
          <a:p>
            <a:r>
              <a:rPr lang="en-US">
                <a:latin typeface="Times New Roman" panose="02020603050405020304" pitchFamily="18" charset="0"/>
              </a:rPr>
              <a:t>The problem appears when people stop too early.</a:t>
            </a:r>
          </a:p>
          <a:p>
            <a:r>
              <a:rPr lang="en-US">
                <a:latin typeface="Times New Roman" panose="02020603050405020304" pitchFamily="18" charset="0"/>
              </a:rPr>
              <a:t>That means they believe the evidence is already sufficient, but more evidence would still meaningfully change the posterior judgment.</a:t>
            </a:r>
          </a:p>
          <a:p>
            <a:r>
              <a:rPr lang="en-US">
                <a:latin typeface="Times New Roman" panose="02020603050405020304" pitchFamily="18" charset="0"/>
              </a:rPr>
              <a:t>So the key issue is not search depth by itself.</a:t>
            </a:r>
          </a:p>
          <a:p>
            <a:r>
              <a:rPr lang="en-US">
                <a:latin typeface="Times New Roman" panose="02020603050405020304" pitchFamily="18" charset="0"/>
              </a:rPr>
              <a:t>The key issue is whether AI changes the stopping rule in a justified way.</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The three research questions are deliberately ordered.</a:t>
            </a:r>
          </a:p>
          <a:p>
            <a:r>
              <a:rPr lang="en-US">
                <a:latin typeface="Times New Roman" panose="02020603050405020304" pitchFamily="18" charset="0"/>
              </a:rPr>
              <a:t>The first is behavioral: does the AI label change the stopping threshold for additional search? The second is normative: when search declines, is that efficient compression or harmful deviation? The third is metacognitive: do subjective mastery and objective judgment quality separate from each other?</a:t>
            </a:r>
          </a:p>
          <a:p>
            <a:r>
              <a:rPr lang="en-US">
                <a:latin typeface="Times New Roman" panose="02020603050405020304" pitchFamily="18" charset="0"/>
              </a:rPr>
              <a:t>That sequence is what allows the paper to move from what users do, to whether it is justified, to whether they recognize their own informational position correctly.</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Before moving to the full design, I want to explain what kind of experiment this is.
Its Bayesian prototype is the classic urn-drawing or bookbag-and-poker-chip belief-updating task.
The innovation is to contextualize that prototype as a company-risk judgment task, introduce summary-first presentation, and then let participants decide whether to inspect additional evidence under a common search cost.</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This is an important correction relative to the older six-cell description.</a:t>
            </a:r>
          </a:p>
          <a:p>
            <a:r>
              <a:rPr lang="en-US">
                <a:latin typeface="Times New Roman" panose="02020603050405020304" pitchFamily="18" charset="0"/>
              </a:rPr>
              <a:t>The current design has five groups. There is one no-summary baseline that enters the shared full evidence pool directly, and then four summary groups produced by completeness crossed with source label.</a:t>
            </a:r>
          </a:p>
          <a:p>
            <a:r>
              <a:rPr lang="en-US">
                <a:latin typeface="Times New Roman" panose="02020603050405020304" pitchFamily="18" charset="0"/>
              </a:rPr>
              <a:t>The baseline does not need to be split in two, because the baseline always faces the same full pool rather than a separate summary condition.</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This slide captures the cleanest identification logic in the design.</a:t>
            </a:r>
          </a:p>
          <a:p>
            <a:r>
              <a:rPr lang="en-US">
                <a:latin typeface="Times New Roman" panose="02020603050405020304" pitchFamily="18" charset="0"/>
              </a:rPr>
              <a:t>The unlabeled-summary and AI-labeled-summary groups read exactly the same summary text. The only difference is whether the source is explicitly marked as AI.</a:t>
            </a:r>
          </a:p>
          <a:p>
            <a:r>
              <a:rPr lang="en-US">
                <a:latin typeface="Times New Roman" panose="02020603050405020304" pitchFamily="18" charset="0"/>
              </a:rPr>
              <a:t>So if their later search, posterior, or mastery judgments diverge, that difference cannot be attributed to content. It has to come from the source label and the authority inferences it triggers.</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a:latin typeface="Times New Roman" panose="02020603050405020304" pitchFamily="18" charset="0"/>
              </a:rPr>
              <a:t>This page explains how different result patterns would count as support for different hypotheses.</a:t>
            </a:r>
          </a:p>
          <a:p>
            <a:r>
              <a:rPr>
                <a:latin typeface="Times New Roman" panose="02020603050405020304" pitchFamily="18" charset="0"/>
              </a:rPr>
              <a:t>First, RQ1 is supported if the AI label lowers the stopping threshold relative to the unlabeled summary.</a:t>
            </a:r>
          </a:p>
          <a:p>
            <a:r>
              <a:rPr>
                <a:latin typeface="Times New Roman" panose="02020603050405020304" pitchFamily="18" charset="0"/>
              </a:rPr>
              <a:t>Second, RQ2 splits into two possibilities: representative summaries can reveal efficient compression, while incomplete summaries can reveal harmful under-search.</a:t>
            </a:r>
          </a:p>
          <a:p>
            <a:r>
              <a:rPr>
                <a:latin typeface="Times New Roman" panose="02020603050405020304" pitchFamily="18" charset="0"/>
              </a:rPr>
              <a:t>Third, RQ3 is supported if objective posterior quality and subjective mastery move apart after summary-based interaction.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a:latin typeface="Times New Roman" panose="02020603050405020304" pitchFamily="18" charset="0"/>
              </a:rPr>
              <a:t>I would close the paper by emphasizing three contributions.</a:t>
            </a:r>
          </a:p>
          <a:p>
            <a:r>
              <a:rPr>
                <a:latin typeface="Times New Roman" panose="02020603050405020304" pitchFamily="18" charset="0"/>
              </a:rPr>
              <a:t>The first is theoretical: the move from generic trust to information calibration as an evidence-to-belief mechanism.</a:t>
            </a:r>
          </a:p>
          <a:p>
            <a:r>
              <a:rPr>
                <a:latin typeface="Times New Roman" panose="02020603050405020304" pitchFamily="18" charset="0"/>
              </a:rPr>
              <a:t>The second is methodological: the paper adapts a classical Bayesian updating paradigm and adds summary-first presentation, extra search, and same-summary source-label identification.</a:t>
            </a:r>
          </a:p>
          <a:p>
            <a:r>
              <a:rPr>
                <a:latin typeface="Times New Roman" panose="02020603050405020304" pitchFamily="18" charset="0"/>
              </a:rPr>
              <a:t>The third is substantive: it separates efficient compression, harmful under-search, and subjective-objective calibration mismatch.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32937"/>
        </a:solidFill>
        <a:effectLst/>
      </p:bgPr>
    </p:bg>
    <p:spTree>
      <p:nvGrpSpPr>
        <p:cNvPr id="1" name=""/>
        <p:cNvGrpSpPr/>
        <p:nvPr/>
      </p:nvGrpSpPr>
      <p:grpSpPr>
        <a:xfrm>
          <a:off x="0" y="0"/>
          <a:ext cx="0" cy="0"/>
          <a:chOff x="0" y="0"/>
          <a:chExt cx="0" cy="0"/>
        </a:xfrm>
      </p:grpSpPr>
      <p:sp>
        <p:nvSpPr>
          <p:cNvPr id="17" name="椭圆 16"/>
          <p:cNvSpPr>
            <a:spLocks noGrp="1"/>
          </p:cNvSpPr>
          <p:nvPr/>
        </p:nvSpPr>
        <p:spPr>
          <a:xfrm>
            <a:off x="8715375" y="-1524000"/>
            <a:ext cx="4191000" cy="4191000"/>
          </a:xfrm>
          <a:prstGeom prst="ellipse">
            <a:avLst/>
          </a:prstGeom>
          <a:solidFill>
            <a:srgbClr val="30384A"/>
          </a:solidFill>
          <a:ln w="0">
            <a:solidFill>
              <a:srgbClr val="30384A"/>
            </a:solidFill>
            <a:prstDash val="solid"/>
          </a:ln>
        </p:spPr>
      </p:sp>
      <p:sp>
        <p:nvSpPr>
          <p:cNvPr id="2" name="椭圆 1"/>
          <p:cNvSpPr>
            <a:spLocks noGrp="1"/>
          </p:cNvSpPr>
          <p:nvPr/>
        </p:nvSpPr>
        <p:spPr>
          <a:xfrm>
            <a:off x="-1047750" y="4476750"/>
            <a:ext cx="2857500" cy="2857500"/>
          </a:xfrm>
          <a:prstGeom prst="ellipse">
            <a:avLst/>
          </a:prstGeom>
          <a:solidFill>
            <a:srgbClr val="2B3241"/>
          </a:solidFill>
          <a:ln w="0">
            <a:solidFill>
              <a:srgbClr val="2B3241"/>
            </a:solidFill>
            <a:prstDash val="solid"/>
          </a:ln>
        </p:spPr>
      </p:sp>
      <p:sp>
        <p:nvSpPr>
          <p:cNvPr id="3" name="矩形 2"/>
          <p:cNvSpPr>
            <a:spLocks noGrp="1"/>
          </p:cNvSpPr>
          <p:nvPr/>
        </p:nvSpPr>
        <p:spPr>
          <a:xfrm>
            <a:off x="819150" y="819150"/>
            <a:ext cx="228600" cy="228600"/>
          </a:xfrm>
          <a:prstGeom prst="rect">
            <a:avLst/>
          </a:prstGeom>
          <a:solidFill>
            <a:srgbClr val="B45A3C"/>
          </a:solidFill>
          <a:ln w="0">
            <a:solidFill>
              <a:srgbClr val="B45A3C"/>
            </a:solidFill>
            <a:prstDash val="solid"/>
          </a:ln>
        </p:spPr>
      </p:sp>
      <p:sp>
        <p:nvSpPr>
          <p:cNvPr id="4" name="矩形 3"/>
          <p:cNvSpPr>
            <a:spLocks noGrp="1"/>
          </p:cNvSpPr>
          <p:nvPr/>
        </p:nvSpPr>
        <p:spPr>
          <a:xfrm>
            <a:off x="800100" y="5962650"/>
            <a:ext cx="10591800" cy="9525"/>
          </a:xfrm>
          <a:prstGeom prst="rect">
            <a:avLst/>
          </a:prstGeom>
          <a:solidFill>
            <a:srgbClr val="465067"/>
          </a:solidFill>
          <a:ln w="0">
            <a:solidFill>
              <a:srgbClr val="465067"/>
            </a:solidFill>
            <a:prstDash val="solid"/>
          </a:ln>
        </p:spPr>
      </p:sp>
      <p:sp>
        <p:nvSpPr>
          <p:cNvPr id="5" name="矩形 4"/>
          <p:cNvSpPr>
            <a:spLocks noGrp="1"/>
          </p:cNvSpPr>
          <p:nvPr/>
        </p:nvSpPr>
        <p:spPr>
          <a:xfrm>
            <a:off x="1219200" y="781050"/>
            <a:ext cx="2476500" cy="228600"/>
          </a:xfrm>
          <a:prstGeom prst="rect">
            <a:avLst/>
          </a:prstGeom>
          <a:noFill/>
          <a:ln w="0">
            <a:noFill/>
            <a:prstDash val="solid"/>
          </a:ln>
        </p:spPr>
        <p:txBody>
          <a:bodyPr/>
          <a:lstStyle/>
          <a:p>
            <a:pPr algn="l">
              <a:buNone/>
              <a:defRPr sz="1125" b="1" i="0">
                <a:solidFill>
                  <a:srgbClr val="D7A792"/>
                </a:solidFill>
                <a:latin typeface="Times New Roman" panose="02020603050405020304"/>
                <a:ea typeface="Times New Roman" panose="02020603050405020304"/>
                <a:cs typeface="Times New Roman" panose="02020603050405020304"/>
              </a:defRPr>
            </a:pPr>
            <a:r>
              <a:rPr sz="1125" b="1" i="0">
                <a:solidFill>
                  <a:srgbClr val="D7A792"/>
                </a:solidFill>
                <a:latin typeface="Times New Roman" panose="02020603050405020304" pitchFamily="18" charset="0"/>
                <a:ea typeface="Times New Roman" panose="02020603050405020304"/>
                <a:cs typeface="Times New Roman" panose="02020603050405020304"/>
              </a:rPr>
              <a:t>PAPER 1</a:t>
            </a:r>
          </a:p>
        </p:txBody>
      </p:sp>
      <p:sp>
        <p:nvSpPr>
          <p:cNvPr id="6" name="矩形 5"/>
          <p:cNvSpPr>
            <a:spLocks noGrp="1"/>
          </p:cNvSpPr>
          <p:nvPr/>
        </p:nvSpPr>
        <p:spPr>
          <a:xfrm>
            <a:off x="1219200" y="1371600"/>
            <a:ext cx="9334500" cy="723900"/>
          </a:xfrm>
          <a:prstGeom prst="rect">
            <a:avLst/>
          </a:prstGeom>
          <a:noFill/>
          <a:ln w="0">
            <a:noFill/>
            <a:prstDash val="solid"/>
          </a:ln>
        </p:spPr>
        <p:txBody>
          <a:bodyPr/>
          <a:lstStyle/>
          <a:p>
            <a:pPr algn="l">
              <a:buNone/>
              <a:defRPr sz="3000" b="1" i="0">
                <a:solidFill>
                  <a:srgbClr val="F8F2E9"/>
                </a:solidFill>
                <a:latin typeface="Times New Roman" panose="02020603050405020304"/>
                <a:ea typeface="Times New Roman" panose="02020603050405020304"/>
                <a:cs typeface="Times New Roman" panose="02020603050405020304"/>
              </a:defRPr>
            </a:pPr>
            <a:r>
              <a:rPr sz="3000" b="1" i="0">
                <a:solidFill>
                  <a:srgbClr val="F8F2E9"/>
                </a:solidFill>
                <a:latin typeface="Times New Roman" panose="02020603050405020304" pitchFamily="18" charset="0"/>
                <a:ea typeface="Times New Roman" panose="02020603050405020304"/>
                <a:cs typeface="Times New Roman" panose="02020603050405020304"/>
              </a:rPr>
              <a:t>Algorithmic Authority and Information Calibration</a:t>
            </a:r>
          </a:p>
        </p:txBody>
      </p:sp>
      <p:sp>
        <p:nvSpPr>
          <p:cNvPr id="7" name="矩形 6"/>
          <p:cNvSpPr>
            <a:spLocks noGrp="1"/>
          </p:cNvSpPr>
          <p:nvPr/>
        </p:nvSpPr>
        <p:spPr>
          <a:xfrm>
            <a:off x="1219200" y="2190750"/>
            <a:ext cx="8191500" cy="533400"/>
          </a:xfrm>
          <a:prstGeom prst="rect">
            <a:avLst/>
          </a:prstGeom>
          <a:noFill/>
          <a:ln w="0">
            <a:noFill/>
            <a:prstDash val="solid"/>
          </a:ln>
        </p:spPr>
        <p:txBody>
          <a:bodyPr/>
          <a:lstStyle/>
          <a:p>
            <a:pPr algn="l">
              <a:buNone/>
              <a:defRPr sz="1650" b="0" i="0">
                <a:solidFill>
                  <a:srgbClr val="D8DCE6"/>
                </a:solidFill>
                <a:latin typeface="Times New Roman" panose="02020603050405020304"/>
                <a:ea typeface="Times New Roman" panose="02020603050405020304"/>
                <a:cs typeface="Times New Roman" panose="02020603050405020304"/>
              </a:defRPr>
            </a:pPr>
            <a:r>
              <a:rPr sz="1650" b="0" i="0">
                <a:solidFill>
                  <a:srgbClr val="D8DCE6"/>
                </a:solidFill>
                <a:latin typeface="Times New Roman" panose="02020603050405020304" pitchFamily="18" charset="0"/>
                <a:ea typeface="Times New Roman" panose="02020603050405020304"/>
                <a:cs typeface="Times New Roman" panose="02020603050405020304"/>
              </a:rPr>
              <a:t>How generative AI changes additional search and belief updating under uncertainty</a:t>
            </a:r>
          </a:p>
        </p:txBody>
      </p:sp>
      <p:sp>
        <p:nvSpPr>
          <p:cNvPr id="8" name="矩形: 圆角 7"/>
          <p:cNvSpPr>
            <a:spLocks noGrp="1"/>
          </p:cNvSpPr>
          <p:nvPr/>
        </p:nvSpPr>
        <p:spPr>
          <a:xfrm>
            <a:off x="1219200" y="3390900"/>
            <a:ext cx="4038600" cy="1371600"/>
          </a:xfrm>
          <a:prstGeom prst="roundRect">
            <a:avLst>
              <a:gd name="adj" fmla="val 5556"/>
            </a:avLst>
          </a:prstGeom>
          <a:solidFill>
            <a:srgbClr val="2E3648"/>
          </a:solidFill>
          <a:ln w="9525">
            <a:solidFill>
              <a:srgbClr val="E8DCCB"/>
            </a:solidFill>
            <a:prstDash val="solid"/>
          </a:ln>
        </p:spPr>
      </p:sp>
      <p:sp>
        <p:nvSpPr>
          <p:cNvPr id="9" name="矩形 8"/>
          <p:cNvSpPr>
            <a:spLocks noGrp="1"/>
          </p:cNvSpPr>
          <p:nvPr/>
        </p:nvSpPr>
        <p:spPr>
          <a:xfrm>
            <a:off x="1219200" y="3390900"/>
            <a:ext cx="57150" cy="1371600"/>
          </a:xfrm>
          <a:prstGeom prst="rect">
            <a:avLst/>
          </a:prstGeom>
          <a:solidFill>
            <a:srgbClr val="B45A3C"/>
          </a:solidFill>
          <a:ln w="0">
            <a:solidFill>
              <a:srgbClr val="B45A3C"/>
            </a:solidFill>
            <a:prstDash val="solid"/>
          </a:ln>
        </p:spPr>
      </p:sp>
      <p:sp>
        <p:nvSpPr>
          <p:cNvPr id="10" name="矩形 9"/>
          <p:cNvSpPr>
            <a:spLocks noGrp="1"/>
          </p:cNvSpPr>
          <p:nvPr/>
        </p:nvSpPr>
        <p:spPr>
          <a:xfrm>
            <a:off x="1390650" y="3505200"/>
            <a:ext cx="3752850" cy="285750"/>
          </a:xfrm>
          <a:prstGeom prst="rect">
            <a:avLst/>
          </a:prstGeom>
          <a:noFill/>
          <a:ln w="0">
            <a:noFill/>
            <a:prstDash val="solid"/>
          </a:ln>
        </p:spPr>
        <p:txBody>
          <a:bodyPr/>
          <a:lstStyle/>
          <a:p>
            <a:pPr algn="l">
              <a:buNone/>
              <a:defRPr sz="1650" b="1" i="0">
                <a:solidFill>
                  <a:srgbClr val="F8F2E9"/>
                </a:solidFill>
                <a:latin typeface="Times New Roman" panose="02020603050405020304"/>
                <a:ea typeface="Times New Roman" panose="02020603050405020304"/>
                <a:cs typeface="Times New Roman" panose="02020603050405020304"/>
              </a:defRPr>
            </a:pPr>
            <a:r>
              <a:rPr sz="1650" b="1" i="0">
                <a:solidFill>
                  <a:srgbClr val="F8F2E9"/>
                </a:solidFill>
                <a:latin typeface="Times New Roman" panose="02020603050405020304" pitchFamily="18" charset="0"/>
                <a:ea typeface="Times New Roman" panose="02020603050405020304"/>
                <a:cs typeface="Times New Roman" panose="02020603050405020304"/>
              </a:rPr>
              <a:t>Problem shift</a:t>
            </a:r>
          </a:p>
        </p:txBody>
      </p:sp>
      <p:sp>
        <p:nvSpPr>
          <p:cNvPr id="11" name="矩形 10"/>
          <p:cNvSpPr>
            <a:spLocks noGrp="1"/>
          </p:cNvSpPr>
          <p:nvPr/>
        </p:nvSpPr>
        <p:spPr>
          <a:xfrm>
            <a:off x="1390650" y="3848100"/>
            <a:ext cx="3752850" cy="800100"/>
          </a:xfrm>
          <a:prstGeom prst="rect">
            <a:avLst/>
          </a:prstGeom>
          <a:noFill/>
          <a:ln w="0">
            <a:noFill/>
            <a:prstDash val="solid"/>
          </a:ln>
        </p:spPr>
        <p:txBody>
          <a:bodyPr/>
          <a:lstStyle/>
          <a:p>
            <a:pPr algn="l">
              <a:buNone/>
              <a:defRPr sz="1275" b="0" i="0">
                <a:solidFill>
                  <a:srgbClr val="D8DCE6"/>
                </a:solidFill>
                <a:latin typeface="Times New Roman" panose="02020603050405020304"/>
                <a:ea typeface="Times New Roman" panose="02020603050405020304"/>
                <a:cs typeface="Times New Roman" panose="02020603050405020304"/>
              </a:defRPr>
            </a:pPr>
            <a:r>
              <a:rPr sz="1275" b="0" i="0">
                <a:solidFill>
                  <a:srgbClr val="D8DCE6"/>
                </a:solidFill>
                <a:latin typeface="Times New Roman" panose="02020603050405020304" pitchFamily="18" charset="0"/>
                <a:ea typeface="Times New Roman" panose="02020603050405020304"/>
                <a:cs typeface="Times New Roman" panose="02020603050405020304"/>
              </a:rPr>
              <a:t>The question is not only what answer AI gives. The question is whether AI changes when people feel ready to stop looking for more evidence.</a:t>
            </a:r>
          </a:p>
        </p:txBody>
      </p:sp>
      <p:sp>
        <p:nvSpPr>
          <p:cNvPr id="12" name="矩形: 圆角 11"/>
          <p:cNvSpPr>
            <a:spLocks noGrp="1"/>
          </p:cNvSpPr>
          <p:nvPr/>
        </p:nvSpPr>
        <p:spPr>
          <a:xfrm>
            <a:off x="5543550" y="3390900"/>
            <a:ext cx="5486400" cy="1371600"/>
          </a:xfrm>
          <a:prstGeom prst="roundRect">
            <a:avLst>
              <a:gd name="adj" fmla="val 5556"/>
            </a:avLst>
          </a:prstGeom>
          <a:solidFill>
            <a:srgbClr val="2E3648"/>
          </a:solidFill>
          <a:ln w="9525">
            <a:solidFill>
              <a:srgbClr val="E8DCCB"/>
            </a:solidFill>
            <a:prstDash val="solid"/>
          </a:ln>
        </p:spPr>
      </p:sp>
      <p:sp>
        <p:nvSpPr>
          <p:cNvPr id="13" name="矩形 12"/>
          <p:cNvSpPr>
            <a:spLocks noGrp="1"/>
          </p:cNvSpPr>
          <p:nvPr/>
        </p:nvSpPr>
        <p:spPr>
          <a:xfrm>
            <a:off x="5543550" y="3390900"/>
            <a:ext cx="57150" cy="1371600"/>
          </a:xfrm>
          <a:prstGeom prst="rect">
            <a:avLst/>
          </a:prstGeom>
          <a:solidFill>
            <a:srgbClr val="C89B4A"/>
          </a:solidFill>
          <a:ln w="0">
            <a:solidFill>
              <a:srgbClr val="C89B4A"/>
            </a:solidFill>
            <a:prstDash val="solid"/>
          </a:ln>
        </p:spPr>
      </p:sp>
      <p:sp>
        <p:nvSpPr>
          <p:cNvPr id="14" name="矩形 13"/>
          <p:cNvSpPr>
            <a:spLocks noGrp="1"/>
          </p:cNvSpPr>
          <p:nvPr/>
        </p:nvSpPr>
        <p:spPr>
          <a:xfrm>
            <a:off x="5715000" y="3505200"/>
            <a:ext cx="5200650" cy="285750"/>
          </a:xfrm>
          <a:prstGeom prst="rect">
            <a:avLst/>
          </a:prstGeom>
          <a:noFill/>
          <a:ln w="0">
            <a:noFill/>
            <a:prstDash val="solid"/>
          </a:ln>
        </p:spPr>
        <p:txBody>
          <a:bodyPr/>
          <a:lstStyle/>
          <a:p>
            <a:pPr algn="l">
              <a:buNone/>
              <a:defRPr sz="1650" b="1" i="0">
                <a:solidFill>
                  <a:srgbClr val="F8F2E9"/>
                </a:solidFill>
                <a:latin typeface="Times New Roman" panose="02020603050405020304"/>
                <a:ea typeface="Times New Roman" panose="02020603050405020304"/>
                <a:cs typeface="Times New Roman" panose="02020603050405020304"/>
              </a:defRPr>
            </a:pPr>
            <a:r>
              <a:rPr sz="1650" b="1" i="0">
                <a:solidFill>
                  <a:srgbClr val="F8F2E9"/>
                </a:solidFill>
                <a:latin typeface="Times New Roman" panose="02020603050405020304" pitchFamily="18" charset="0"/>
                <a:ea typeface="Times New Roman" panose="02020603050405020304"/>
                <a:cs typeface="Times New Roman" panose="02020603050405020304"/>
              </a:rPr>
              <a:t>Dissertation position</a:t>
            </a:r>
          </a:p>
        </p:txBody>
      </p:sp>
      <p:sp>
        <p:nvSpPr>
          <p:cNvPr id="15" name="矩形 14"/>
          <p:cNvSpPr>
            <a:spLocks noGrp="1"/>
          </p:cNvSpPr>
          <p:nvPr/>
        </p:nvSpPr>
        <p:spPr>
          <a:xfrm>
            <a:off x="5715000" y="3848100"/>
            <a:ext cx="5200650" cy="800100"/>
          </a:xfrm>
          <a:prstGeom prst="rect">
            <a:avLst/>
          </a:prstGeom>
          <a:noFill/>
          <a:ln w="0">
            <a:noFill/>
            <a:prstDash val="solid"/>
          </a:ln>
        </p:spPr>
        <p:txBody>
          <a:bodyPr/>
          <a:lstStyle/>
          <a:p>
            <a:pPr algn="l">
              <a:buNone/>
              <a:defRPr sz="1275" b="0" i="0">
                <a:solidFill>
                  <a:srgbClr val="D8DCE6"/>
                </a:solidFill>
                <a:latin typeface="Times New Roman" panose="02020603050405020304"/>
                <a:ea typeface="Times New Roman" panose="02020603050405020304"/>
                <a:cs typeface="Times New Roman" panose="02020603050405020304"/>
              </a:defRPr>
            </a:pPr>
            <a:r>
              <a:rPr sz="1275" b="0" i="0">
                <a:solidFill>
                  <a:srgbClr val="D8DCE6"/>
                </a:solidFill>
                <a:latin typeface="Times New Roman" panose="02020603050405020304" pitchFamily="18" charset="0"/>
                <a:ea typeface="Times New Roman" panose="02020603050405020304"/>
                <a:cs typeface="Times New Roman" panose="02020603050405020304"/>
              </a:rPr>
              <a:t>Paper 1 studies the first link in the broader chain: how AI reshapes the move from evidence to belief.</a:t>
            </a:r>
          </a:p>
        </p:txBody>
      </p:sp>
      <p:sp>
        <p:nvSpPr>
          <p:cNvPr id="16" name="矩形 15"/>
          <p:cNvSpPr>
            <a:spLocks noGrp="1"/>
          </p:cNvSpPr>
          <p:nvPr/>
        </p:nvSpPr>
        <p:spPr>
          <a:xfrm>
            <a:off x="1257300" y="6153150"/>
            <a:ext cx="9334500" cy="171450"/>
          </a:xfrm>
          <a:prstGeom prst="rect">
            <a:avLst/>
          </a:prstGeom>
          <a:noFill/>
          <a:ln w="0">
            <a:noFill/>
            <a:prstDash val="solid"/>
          </a:ln>
        </p:spPr>
        <p:txBody>
          <a:bodyPr/>
          <a:lstStyle/>
          <a:p>
            <a:pPr algn="l">
              <a:buNone/>
              <a:defRPr sz="1125" b="0" i="1">
                <a:solidFill>
                  <a:srgbClr val="D8DCE6"/>
                </a:solidFill>
                <a:latin typeface="Times New Roman" panose="02020603050405020304"/>
                <a:ea typeface="Times New Roman" panose="02020603050405020304"/>
                <a:cs typeface="Times New Roman" panose="02020603050405020304"/>
              </a:defRPr>
            </a:pPr>
            <a:r>
              <a:rPr sz="1125" b="0" i="1">
                <a:solidFill>
                  <a:srgbClr val="D8DCE6"/>
                </a:solidFill>
                <a:latin typeface="Times New Roman" panose="02020603050405020304" pitchFamily="18" charset="0"/>
                <a:ea typeface="Times New Roman" panose="02020603050405020304"/>
                <a:cs typeface="Times New Roman" panose="02020603050405020304"/>
              </a:rPr>
              <a:t>Belief formation -&gt; reliance calibration -&gt; responsibility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a:xfrm>
          <a:off x="0" y="0"/>
          <a:ext cx="0" cy="0"/>
          <a:chOff x="0" y="0"/>
          <a:chExt cx="0" cy="0"/>
        </a:xfrm>
      </p:grpSpPr>
      <p:sp>
        <p:nvSpPr>
          <p:cNvPr id="17" name="椭圆 16"/>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CONCRETE EXAMPLE</a:t>
            </a:r>
          </a:p>
        </p:txBody>
      </p:sp>
      <p:sp>
        <p:nvSpPr>
          <p:cNvPr id="6" name="矩形 5"/>
          <p:cNvSpPr>
            <a:spLocks noGrp="1"/>
          </p:cNvSpPr>
          <p:nvPr/>
        </p:nvSpPr>
        <p:spPr>
          <a:xfrm>
            <a:off x="914400" y="914400"/>
            <a:ext cx="10287000" cy="704850"/>
          </a:xfrm>
          <a:prstGeom prst="rect">
            <a:avLst/>
          </a:prstGeom>
          <a:noFill/>
          <a:ln w="0">
            <a:noFill/>
            <a:prstDash val="solid"/>
          </a:ln>
        </p:spPr>
        <p:txBody>
          <a:bodyPr/>
          <a:lstStyle/>
          <a:p>
            <a:pPr algn="l">
              <a:buNone/>
              <a:defRPr sz="2475" b="1" i="0">
                <a:solidFill>
                  <a:srgbClr val="1E2433"/>
                </a:solidFill>
                <a:latin typeface="Times New Roman" panose="02020603050405020304"/>
                <a:ea typeface="Times New Roman" panose="02020603050405020304"/>
                <a:cs typeface="Times New Roman" panose="02020603050405020304"/>
              </a:defRPr>
            </a:pPr>
            <a:r>
              <a:rPr sz="2475" b="1" i="0">
                <a:solidFill>
                  <a:srgbClr val="1E2433"/>
                </a:solidFill>
                <a:latin typeface="Times New Roman" panose="02020603050405020304" pitchFamily="18" charset="0"/>
                <a:ea typeface="Times New Roman" panose="02020603050405020304"/>
                <a:cs typeface="Times New Roman" panose="02020603050405020304"/>
              </a:rPr>
              <a:t>Search engines ask for evidence first, but AI assistants answer first</a:t>
            </a: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basic reversal is not only about speed. It changes the user's sense of whether more search is still worth doing.</a:t>
            </a:r>
          </a:p>
        </p:txBody>
      </p:sp>
      <p:sp>
        <p:nvSpPr>
          <p:cNvPr id="8" name="矩形: 圆角 7"/>
          <p:cNvSpPr>
            <a:spLocks noGrp="1"/>
          </p:cNvSpPr>
          <p:nvPr/>
        </p:nvSpPr>
        <p:spPr>
          <a:xfrm>
            <a:off x="914400" y="2190750"/>
            <a:ext cx="4762500" cy="3048000"/>
          </a:xfrm>
          <a:prstGeom prst="roundRect">
            <a:avLst>
              <a:gd name="adj" fmla="val 2500"/>
            </a:avLst>
          </a:prstGeom>
          <a:solidFill>
            <a:srgbClr val="FFF9F0"/>
          </a:solidFill>
          <a:ln w="9525">
            <a:solidFill>
              <a:srgbClr val="E8DCCB"/>
            </a:solidFill>
            <a:prstDash val="solid"/>
          </a:ln>
        </p:spPr>
      </p:sp>
      <p:sp>
        <p:nvSpPr>
          <p:cNvPr id="9" name="矩形 8"/>
          <p:cNvSpPr>
            <a:spLocks noGrp="1"/>
          </p:cNvSpPr>
          <p:nvPr/>
        </p:nvSpPr>
        <p:spPr>
          <a:xfrm>
            <a:off x="914400" y="2190750"/>
            <a:ext cx="57150" cy="3048000"/>
          </a:xfrm>
          <a:prstGeom prst="rect">
            <a:avLst/>
          </a:prstGeom>
          <a:solidFill>
            <a:srgbClr val="78836A"/>
          </a:solidFill>
          <a:ln w="0">
            <a:solidFill>
              <a:srgbClr val="78836A"/>
            </a:solidFill>
            <a:prstDash val="solid"/>
          </a:ln>
        </p:spPr>
      </p:sp>
      <p:sp>
        <p:nvSpPr>
          <p:cNvPr id="10" name="矩形 9"/>
          <p:cNvSpPr>
            <a:spLocks noGrp="1"/>
          </p:cNvSpPr>
          <p:nvPr/>
        </p:nvSpPr>
        <p:spPr>
          <a:xfrm>
            <a:off x="1085850" y="2305050"/>
            <a:ext cx="4476750" cy="285750"/>
          </a:xfrm>
          <a:prstGeom prst="rect">
            <a:avLst/>
          </a:prstGeom>
          <a:noFill/>
          <a:ln w="0">
            <a:noFill/>
            <a:prstDash val="solid"/>
          </a:ln>
        </p:spPr>
        <p:txBody>
          <a:bodyPr/>
          <a:lstStyle/>
          <a:p>
            <a:pPr algn="l">
              <a:buNone/>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pitchFamily="18" charset="0"/>
                <a:ea typeface="Times New Roman" panose="02020603050405020304"/>
                <a:cs typeface="Times New Roman" panose="02020603050405020304"/>
              </a:rPr>
              <a:t>Search engine logic</a:t>
            </a:r>
          </a:p>
        </p:txBody>
      </p:sp>
      <p:sp>
        <p:nvSpPr>
          <p:cNvPr id="11" name="矩形 10"/>
          <p:cNvSpPr>
            <a:spLocks noGrp="1"/>
          </p:cNvSpPr>
          <p:nvPr/>
        </p:nvSpPr>
        <p:spPr>
          <a:xfrm>
            <a:off x="1085850" y="2647950"/>
            <a:ext cx="4476750" cy="2476500"/>
          </a:xfrm>
          <a:prstGeom prst="rect">
            <a:avLst/>
          </a:prstGeom>
          <a:noFill/>
          <a:ln w="0">
            <a:noFill/>
            <a:prstDash val="solid"/>
          </a:ln>
        </p:spPr>
        <p:txBody>
          <a:bodyPr/>
          <a:lstStyle/>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Source 1</a:t>
            </a:r>
          </a:p>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Source 2</a:t>
            </a:r>
          </a:p>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Source 3</a:t>
            </a:r>
          </a:p>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Source 4</a:t>
            </a:r>
          </a:p>
          <a:p>
            <a:endParaRPr sz="1425"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The user opens links, compares sources, notices conflict, and then forms a judgment.</a:t>
            </a:r>
          </a:p>
          <a:p>
            <a:endParaRPr sz="1425"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Evidence first -&gt; interpretation later</a:t>
            </a:r>
          </a:p>
        </p:txBody>
      </p:sp>
      <p:sp>
        <p:nvSpPr>
          <p:cNvPr id="12" name="矩形: 圆角 11"/>
          <p:cNvSpPr>
            <a:spLocks noGrp="1"/>
          </p:cNvSpPr>
          <p:nvPr/>
        </p:nvSpPr>
        <p:spPr>
          <a:xfrm>
            <a:off x="6477000" y="2190750"/>
            <a:ext cx="4724400" cy="3048000"/>
          </a:xfrm>
          <a:prstGeom prst="roundRect">
            <a:avLst>
              <a:gd name="adj" fmla="val 2500"/>
            </a:avLst>
          </a:prstGeom>
          <a:solidFill>
            <a:srgbClr val="FFF9F0"/>
          </a:solidFill>
          <a:ln w="9525">
            <a:solidFill>
              <a:srgbClr val="E8DCCB"/>
            </a:solidFill>
            <a:prstDash val="solid"/>
          </a:ln>
        </p:spPr>
      </p:sp>
      <p:sp>
        <p:nvSpPr>
          <p:cNvPr id="13" name="矩形 12"/>
          <p:cNvSpPr>
            <a:spLocks noGrp="1"/>
          </p:cNvSpPr>
          <p:nvPr/>
        </p:nvSpPr>
        <p:spPr>
          <a:xfrm>
            <a:off x="6477000" y="2190750"/>
            <a:ext cx="57150" cy="3048000"/>
          </a:xfrm>
          <a:prstGeom prst="rect">
            <a:avLst/>
          </a:prstGeom>
          <a:solidFill>
            <a:srgbClr val="B45A3C"/>
          </a:solidFill>
          <a:ln w="0">
            <a:solidFill>
              <a:srgbClr val="B45A3C"/>
            </a:solidFill>
            <a:prstDash val="solid"/>
          </a:ln>
        </p:spPr>
      </p:sp>
      <p:sp>
        <p:nvSpPr>
          <p:cNvPr id="14" name="矩形 13"/>
          <p:cNvSpPr>
            <a:spLocks noGrp="1"/>
          </p:cNvSpPr>
          <p:nvPr/>
        </p:nvSpPr>
        <p:spPr>
          <a:xfrm>
            <a:off x="6648450" y="2305050"/>
            <a:ext cx="4438650" cy="285750"/>
          </a:xfrm>
          <a:prstGeom prst="rect">
            <a:avLst/>
          </a:prstGeom>
          <a:noFill/>
          <a:ln w="0">
            <a:noFill/>
            <a:prstDash val="solid"/>
          </a:ln>
        </p:spPr>
        <p:txBody>
          <a:bodyPr/>
          <a:lstStyle/>
          <a:p>
            <a:pPr algn="l">
              <a:buNone/>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pitchFamily="18" charset="0"/>
                <a:ea typeface="Times New Roman" panose="02020603050405020304"/>
                <a:cs typeface="Times New Roman" panose="02020603050405020304"/>
              </a:rPr>
              <a:t>AI assistant logic</a:t>
            </a:r>
          </a:p>
        </p:txBody>
      </p:sp>
      <p:sp>
        <p:nvSpPr>
          <p:cNvPr id="15" name="矩形 14"/>
          <p:cNvSpPr>
            <a:spLocks noGrp="1"/>
          </p:cNvSpPr>
          <p:nvPr/>
        </p:nvSpPr>
        <p:spPr>
          <a:xfrm>
            <a:off x="6648450" y="2647950"/>
            <a:ext cx="4438650" cy="247650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A summarized definition</a:t>
            </a: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A coherent explanation</a:t>
            </a: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A worked example</a:t>
            </a: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A ready-made conclusion</a:t>
            </a:r>
          </a:p>
          <a:p>
            <a:endParaRPr sz="1350"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user first receives an interpreted answer and only later decides whether to verify it.</a:t>
            </a:r>
          </a:p>
          <a:p>
            <a:endParaRPr sz="1350"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Interpreted answer first -&gt; optional verification later</a:t>
            </a:r>
          </a:p>
        </p:txBody>
      </p:sp>
      <p:sp>
        <p:nvSpPr>
          <p:cNvPr id="16" name="矩形 15"/>
          <p:cNvSpPr>
            <a:spLocks noGrp="1"/>
          </p:cNvSpPr>
          <p:nvPr/>
        </p:nvSpPr>
        <p:spPr>
          <a:xfrm>
            <a:off x="1200150" y="5638800"/>
            <a:ext cx="9791700" cy="247650"/>
          </a:xfrm>
          <a:prstGeom prst="rect">
            <a:avLst/>
          </a:prstGeom>
          <a:noFill/>
          <a:ln w="0">
            <a:noFill/>
            <a:prstDash val="solid"/>
          </a:ln>
        </p:spPr>
        <p:txBody>
          <a:bodyPr/>
          <a:lstStyle/>
          <a:p>
            <a:pPr algn="ctr">
              <a:buNone/>
              <a:defRPr sz="1425" b="0" i="1">
                <a:solidFill>
                  <a:srgbClr val="5E6675"/>
                </a:solidFill>
                <a:latin typeface="Times New Roman" panose="02020603050405020304"/>
                <a:ea typeface="Times New Roman" panose="02020603050405020304"/>
                <a:cs typeface="Times New Roman" panose="02020603050405020304"/>
              </a:defRPr>
            </a:pPr>
            <a:r>
              <a:rPr sz="1425" b="0" i="1">
                <a:solidFill>
                  <a:srgbClr val="5E6675"/>
                </a:solidFill>
                <a:latin typeface="Times New Roman" panose="02020603050405020304" pitchFamily="18" charset="0"/>
                <a:ea typeface="Times New Roman" panose="02020603050405020304"/>
                <a:cs typeface="Times New Roman" panose="02020603050405020304"/>
              </a:rPr>
              <a:t>The reversal matters because the user may now judge the value of additional evidence through the AI's summary rather than through raw search alone.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a:xfrm>
          <a:off x="0" y="0"/>
          <a:ext cx="0" cy="0"/>
          <a:chOff x="0" y="0"/>
          <a:chExt cx="0" cy="0"/>
        </a:xfrm>
      </p:grpSpPr>
      <p:sp>
        <p:nvSpPr>
          <p:cNvPr id="21" name="椭圆 20"/>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CORE PROBLEM</a:t>
            </a:r>
          </a:p>
        </p:txBody>
      </p:sp>
      <p:sp>
        <p:nvSpPr>
          <p:cNvPr id="6" name="矩形 5"/>
          <p:cNvSpPr>
            <a:spLocks noGrp="1"/>
          </p:cNvSpPr>
          <p:nvPr/>
        </p:nvSpPr>
        <p:spPr>
          <a:xfrm>
            <a:off x="914400" y="914400"/>
            <a:ext cx="9144000" cy="704850"/>
          </a:xfrm>
          <a:prstGeom prst="rect">
            <a:avLst/>
          </a:prstGeom>
          <a:noFill/>
          <a:ln w="0">
            <a:noFill/>
            <a:prstDash val="solid"/>
          </a:ln>
        </p:spPr>
        <p:txBody>
          <a:bodyPr/>
          <a:lstStyle/>
          <a:p>
            <a:pPr algn="l">
              <a:buNone/>
              <a:defRPr sz="2625" b="1" i="0">
                <a:solidFill>
                  <a:srgbClr val="1E2433"/>
                </a:solidFill>
                <a:latin typeface="Times New Roman" panose="02020603050405020304"/>
                <a:ea typeface="Times New Roman" panose="02020603050405020304"/>
                <a:cs typeface="Times New Roman" panose="02020603050405020304"/>
              </a:defRPr>
            </a:pPr>
            <a:r>
              <a:rPr sz="2625" b="1" i="0">
                <a:solidFill>
                  <a:srgbClr val="1E2433"/>
                </a:solidFill>
                <a:latin typeface="Times New Roman" panose="02020603050405020304" pitchFamily="18" charset="0"/>
                <a:ea typeface="Times New Roman" panose="02020603050405020304"/>
                <a:cs typeface="Times New Roman" panose="02020603050405020304"/>
              </a:rPr>
              <a:t>Less search can mean efficiency or harmful under-search</a:t>
            </a: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key is not whether search declines. The key is whether judgment quality declines once search declines.</a:t>
            </a:r>
          </a:p>
        </p:txBody>
      </p:sp>
      <p:sp>
        <p:nvSpPr>
          <p:cNvPr id="8" name="矩形: 圆角 7"/>
          <p:cNvSpPr>
            <a:spLocks noGrp="1"/>
          </p:cNvSpPr>
          <p:nvPr/>
        </p:nvSpPr>
        <p:spPr>
          <a:xfrm>
            <a:off x="1485900" y="2362200"/>
            <a:ext cx="4000500" cy="2362200"/>
          </a:xfrm>
          <a:prstGeom prst="roundRect">
            <a:avLst>
              <a:gd name="adj" fmla="val 3226"/>
            </a:avLst>
          </a:prstGeom>
          <a:solidFill>
            <a:srgbClr val="FFF9F0"/>
          </a:solidFill>
          <a:ln w="9525">
            <a:solidFill>
              <a:srgbClr val="E8DCCB"/>
            </a:solidFill>
            <a:prstDash val="solid"/>
          </a:ln>
        </p:spPr>
      </p:sp>
      <p:sp>
        <p:nvSpPr>
          <p:cNvPr id="9" name="矩形 8"/>
          <p:cNvSpPr>
            <a:spLocks noGrp="1"/>
          </p:cNvSpPr>
          <p:nvPr/>
        </p:nvSpPr>
        <p:spPr>
          <a:xfrm>
            <a:off x="1485900" y="2362200"/>
            <a:ext cx="57150" cy="2362200"/>
          </a:xfrm>
          <a:prstGeom prst="rect">
            <a:avLst/>
          </a:prstGeom>
          <a:solidFill>
            <a:srgbClr val="78836A"/>
          </a:solidFill>
          <a:ln w="0">
            <a:solidFill>
              <a:srgbClr val="78836A"/>
            </a:solidFill>
            <a:prstDash val="solid"/>
          </a:ln>
        </p:spPr>
      </p:sp>
      <p:sp>
        <p:nvSpPr>
          <p:cNvPr id="10" name="矩形 9"/>
          <p:cNvSpPr>
            <a:spLocks noGrp="1"/>
          </p:cNvSpPr>
          <p:nvPr/>
        </p:nvSpPr>
        <p:spPr>
          <a:xfrm>
            <a:off x="1657350" y="2476500"/>
            <a:ext cx="3714750" cy="285750"/>
          </a:xfrm>
          <a:prstGeom prst="rect">
            <a:avLst/>
          </a:prstGeom>
          <a:noFill/>
          <a:ln w="0">
            <a:noFill/>
            <a:prstDash val="solid"/>
          </a:ln>
        </p:spPr>
        <p:txBody>
          <a:bodyPr/>
          <a:lstStyle/>
          <a:p>
            <a:pPr algn="l">
              <a:buNone/>
              <a:defRPr sz="1950" b="1" i="0">
                <a:solidFill>
                  <a:srgbClr val="1E2433"/>
                </a:solidFill>
                <a:latin typeface="Times New Roman" panose="02020603050405020304"/>
                <a:ea typeface="Times New Roman" panose="02020603050405020304"/>
                <a:cs typeface="Times New Roman" panose="02020603050405020304"/>
              </a:defRPr>
            </a:pPr>
            <a:r>
              <a:rPr sz="1950" b="1" i="0">
                <a:solidFill>
                  <a:srgbClr val="1E2433"/>
                </a:solidFill>
                <a:latin typeface="Times New Roman" panose="02020603050405020304" pitchFamily="18" charset="0"/>
                <a:ea typeface="Times New Roman" panose="02020603050405020304"/>
                <a:cs typeface="Times New Roman" panose="02020603050405020304"/>
              </a:rPr>
              <a:t>Efficient compression</a:t>
            </a:r>
          </a:p>
        </p:txBody>
      </p:sp>
      <p:sp>
        <p:nvSpPr>
          <p:cNvPr id="11" name="矩形 10"/>
          <p:cNvSpPr>
            <a:spLocks noGrp="1"/>
          </p:cNvSpPr>
          <p:nvPr/>
        </p:nvSpPr>
        <p:spPr>
          <a:xfrm>
            <a:off x="1657350" y="2819400"/>
            <a:ext cx="3714750" cy="1790700"/>
          </a:xfrm>
          <a:prstGeom prst="rect">
            <a:avLst/>
          </a:prstGeom>
          <a:noFill/>
          <a:ln w="0">
            <a:noFill/>
            <a:prstDash val="solid"/>
          </a:ln>
        </p:spPr>
        <p:txBody>
          <a:bodyPr/>
          <a:lstStyle/>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Users search less because the summary has already compressed informative evidence.</a:t>
            </a:r>
          </a:p>
          <a:p>
            <a:endParaRPr sz="1575"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Later posterior quality does not deteriorate.</a:t>
            </a:r>
          </a:p>
        </p:txBody>
      </p:sp>
      <p:sp>
        <p:nvSpPr>
          <p:cNvPr id="12" name="矩形: 圆角 11"/>
          <p:cNvSpPr>
            <a:spLocks noGrp="1"/>
          </p:cNvSpPr>
          <p:nvPr/>
        </p:nvSpPr>
        <p:spPr>
          <a:xfrm>
            <a:off x="6705600" y="2362200"/>
            <a:ext cx="4000500" cy="2362200"/>
          </a:xfrm>
          <a:prstGeom prst="roundRect">
            <a:avLst>
              <a:gd name="adj" fmla="val 3226"/>
            </a:avLst>
          </a:prstGeom>
          <a:solidFill>
            <a:srgbClr val="FFF9F0"/>
          </a:solidFill>
          <a:ln w="9525">
            <a:solidFill>
              <a:srgbClr val="E8DCCB"/>
            </a:solidFill>
            <a:prstDash val="solid"/>
          </a:ln>
        </p:spPr>
      </p:sp>
      <p:sp>
        <p:nvSpPr>
          <p:cNvPr id="13" name="矩形 12"/>
          <p:cNvSpPr>
            <a:spLocks noGrp="1"/>
          </p:cNvSpPr>
          <p:nvPr/>
        </p:nvSpPr>
        <p:spPr>
          <a:xfrm>
            <a:off x="6705600" y="2362200"/>
            <a:ext cx="57150" cy="2362200"/>
          </a:xfrm>
          <a:prstGeom prst="rect">
            <a:avLst/>
          </a:prstGeom>
          <a:solidFill>
            <a:srgbClr val="B45A3C"/>
          </a:solidFill>
          <a:ln w="0">
            <a:solidFill>
              <a:srgbClr val="B45A3C"/>
            </a:solidFill>
            <a:prstDash val="solid"/>
          </a:ln>
        </p:spPr>
      </p:sp>
      <p:sp>
        <p:nvSpPr>
          <p:cNvPr id="14" name="矩形 13"/>
          <p:cNvSpPr>
            <a:spLocks noGrp="1"/>
          </p:cNvSpPr>
          <p:nvPr/>
        </p:nvSpPr>
        <p:spPr>
          <a:xfrm>
            <a:off x="6877050" y="2476500"/>
            <a:ext cx="3714750" cy="285750"/>
          </a:xfrm>
          <a:prstGeom prst="rect">
            <a:avLst/>
          </a:prstGeom>
          <a:noFill/>
          <a:ln w="0">
            <a:noFill/>
            <a:prstDash val="solid"/>
          </a:ln>
        </p:spPr>
        <p:txBody>
          <a:bodyPr/>
          <a:lstStyle/>
          <a:p>
            <a:pPr algn="l">
              <a:buNone/>
              <a:defRPr sz="1950" b="1" i="0">
                <a:solidFill>
                  <a:srgbClr val="1E2433"/>
                </a:solidFill>
                <a:latin typeface="Times New Roman" panose="02020603050405020304"/>
                <a:ea typeface="Times New Roman" panose="02020603050405020304"/>
                <a:cs typeface="Times New Roman" panose="02020603050405020304"/>
              </a:defRPr>
            </a:pPr>
            <a:r>
              <a:rPr sz="1950" b="1" i="0">
                <a:solidFill>
                  <a:srgbClr val="1E2433"/>
                </a:solidFill>
                <a:latin typeface="Times New Roman" panose="02020603050405020304" pitchFamily="18" charset="0"/>
                <a:ea typeface="Times New Roman" panose="02020603050405020304"/>
                <a:cs typeface="Times New Roman" panose="02020603050405020304"/>
              </a:rPr>
              <a:t>Harmful under-search</a:t>
            </a:r>
          </a:p>
        </p:txBody>
      </p:sp>
      <p:sp>
        <p:nvSpPr>
          <p:cNvPr id="15" name="矩形 14"/>
          <p:cNvSpPr>
            <a:spLocks noGrp="1"/>
          </p:cNvSpPr>
          <p:nvPr/>
        </p:nvSpPr>
        <p:spPr>
          <a:xfrm>
            <a:off x="6877050" y="2819400"/>
            <a:ext cx="3714750" cy="1790700"/>
          </a:xfrm>
          <a:prstGeom prst="rect">
            <a:avLst/>
          </a:prstGeom>
          <a:noFill/>
          <a:ln w="0">
            <a:noFill/>
            <a:prstDash val="solid"/>
          </a:ln>
        </p:spPr>
        <p:txBody>
          <a:bodyPr/>
          <a:lstStyle/>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Users search less because they overestimate how complete the summary already is.</a:t>
            </a:r>
          </a:p>
          <a:p>
            <a:endParaRPr sz="1575"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Later judgment moves further away from the full-information benchmark.</a:t>
            </a:r>
          </a:p>
        </p:txBody>
      </p:sp>
      <p:sp>
        <p:nvSpPr>
          <p:cNvPr id="16" name="矩形 15"/>
          <p:cNvSpPr>
            <a:spLocks noGrp="1"/>
          </p:cNvSpPr>
          <p:nvPr/>
        </p:nvSpPr>
        <p:spPr>
          <a:xfrm>
            <a:off x="5734050" y="3333750"/>
            <a:ext cx="762000" cy="247650"/>
          </a:xfrm>
          <a:prstGeom prst="rect">
            <a:avLst/>
          </a:prstGeom>
          <a:noFill/>
          <a:ln w="0">
            <a:noFill/>
            <a:prstDash val="solid"/>
          </a:ln>
        </p:spPr>
        <p:txBody>
          <a:bodyPr/>
          <a:lstStyle/>
          <a:p>
            <a:pPr algn="ctr">
              <a:buNone/>
              <a:defRPr sz="1800" b="1" i="0">
                <a:solidFill>
                  <a:srgbClr val="C89B4A"/>
                </a:solidFill>
                <a:latin typeface="Times New Roman" panose="02020603050405020304"/>
                <a:ea typeface="Times New Roman" panose="02020603050405020304"/>
                <a:cs typeface="Times New Roman" panose="02020603050405020304"/>
              </a:defRPr>
            </a:pPr>
            <a:r>
              <a:rPr sz="1800" b="1" i="0">
                <a:solidFill>
                  <a:srgbClr val="C89B4A"/>
                </a:solidFill>
                <a:latin typeface="Times New Roman" panose="02020603050405020304" pitchFamily="18" charset="0"/>
                <a:ea typeface="Times New Roman" panose="02020603050405020304"/>
                <a:cs typeface="Times New Roman" panose="02020603050405020304"/>
              </a:rPr>
              <a:t>vs</a:t>
            </a:r>
          </a:p>
        </p:txBody>
      </p:sp>
      <p:sp>
        <p:nvSpPr>
          <p:cNvPr id="17" name="矩形: 圆角 16"/>
          <p:cNvSpPr>
            <a:spLocks noGrp="1"/>
          </p:cNvSpPr>
          <p:nvPr/>
        </p:nvSpPr>
        <p:spPr>
          <a:xfrm>
            <a:off x="1714500" y="5219700"/>
            <a:ext cx="8763000" cy="781050"/>
          </a:xfrm>
          <a:prstGeom prst="roundRect">
            <a:avLst>
              <a:gd name="adj" fmla="val 9756"/>
            </a:avLst>
          </a:prstGeom>
          <a:solidFill>
            <a:srgbClr val="FFF9F0"/>
          </a:solidFill>
          <a:ln w="9525">
            <a:solidFill>
              <a:srgbClr val="E8DCCB"/>
            </a:solidFill>
            <a:prstDash val="solid"/>
          </a:ln>
        </p:spPr>
      </p:sp>
      <p:sp>
        <p:nvSpPr>
          <p:cNvPr id="18" name="矩形 17"/>
          <p:cNvSpPr>
            <a:spLocks noGrp="1"/>
          </p:cNvSpPr>
          <p:nvPr/>
        </p:nvSpPr>
        <p:spPr>
          <a:xfrm>
            <a:off x="1714500" y="5219700"/>
            <a:ext cx="57150" cy="781050"/>
          </a:xfrm>
          <a:prstGeom prst="rect">
            <a:avLst/>
          </a:prstGeom>
          <a:solidFill>
            <a:srgbClr val="C89B4A"/>
          </a:solidFill>
          <a:ln w="0">
            <a:solidFill>
              <a:srgbClr val="C89B4A"/>
            </a:solidFill>
            <a:prstDash val="solid"/>
          </a:ln>
        </p:spPr>
      </p:sp>
      <p:sp>
        <p:nvSpPr>
          <p:cNvPr id="19" name="矩形 18"/>
          <p:cNvSpPr>
            <a:spLocks noGrp="1"/>
          </p:cNvSpPr>
          <p:nvPr/>
        </p:nvSpPr>
        <p:spPr>
          <a:xfrm>
            <a:off x="1885950" y="5334000"/>
            <a:ext cx="8477250" cy="285750"/>
          </a:xfrm>
          <a:prstGeom prst="rect">
            <a:avLst/>
          </a:prstGeom>
          <a:noFill/>
          <a:ln w="0">
            <a:noFill/>
            <a:prstDash val="solid"/>
          </a:ln>
        </p:spPr>
        <p:txBody>
          <a:bodyPr/>
          <a:lstStyle/>
          <a:p>
            <a:pPr algn="l">
              <a:buNone/>
              <a:defRPr sz="1575" b="1" i="0">
                <a:solidFill>
                  <a:srgbClr val="1E2433"/>
                </a:solidFill>
                <a:latin typeface="Times New Roman" panose="02020603050405020304"/>
                <a:ea typeface="Times New Roman" panose="02020603050405020304"/>
                <a:cs typeface="Times New Roman" panose="02020603050405020304"/>
              </a:defRPr>
            </a:pPr>
            <a:r>
              <a:rPr sz="1575" b="1" i="0">
                <a:solidFill>
                  <a:srgbClr val="1E2433"/>
                </a:solidFill>
                <a:latin typeface="Times New Roman" panose="02020603050405020304" pitchFamily="18" charset="0"/>
                <a:ea typeface="Times New Roman" panose="02020603050405020304"/>
                <a:cs typeface="Times New Roman" panose="02020603050405020304"/>
              </a:rPr>
              <a:t>What this slide does</a:t>
            </a:r>
          </a:p>
        </p:txBody>
      </p:sp>
      <p:sp>
        <p:nvSpPr>
          <p:cNvPr id="20" name="矩形 19"/>
          <p:cNvSpPr>
            <a:spLocks noGrp="1"/>
          </p:cNvSpPr>
          <p:nvPr/>
        </p:nvSpPr>
        <p:spPr>
          <a:xfrm>
            <a:off x="1885950" y="5676900"/>
            <a:ext cx="8477250" cy="209550"/>
          </a:xfrm>
          <a:prstGeom prst="rect">
            <a:avLst/>
          </a:prstGeom>
          <a:noFill/>
          <a:ln w="0">
            <a:noFill/>
            <a:prstDash val="solid"/>
          </a:ln>
        </p:spPr>
        <p:txBody>
          <a:bodyPr/>
          <a:lstStyle/>
          <a:p>
            <a:pPr algn="l">
              <a:buNone/>
              <a:defRPr sz="1275" b="0" i="0">
                <a:solidFill>
                  <a:srgbClr val="5E6675"/>
                </a:solidFill>
                <a:latin typeface="Times New Roman" panose="02020603050405020304"/>
                <a:ea typeface="Times New Roman" panose="02020603050405020304"/>
                <a:cs typeface="Times New Roman" panose="02020603050405020304"/>
              </a:defRPr>
            </a:pPr>
            <a:r>
              <a:rPr sz="1275" b="0" i="0">
                <a:solidFill>
                  <a:srgbClr val="5E6675"/>
                </a:solidFill>
                <a:latin typeface="Times New Roman" panose="02020603050405020304" pitchFamily="18" charset="0"/>
                <a:ea typeface="Times New Roman" panose="02020603050405020304"/>
                <a:cs typeface="Times New Roman" panose="02020603050405020304"/>
              </a:rPr>
              <a:t>It separates the behavioral fact of reduced search from the normative question of whether reduced search actually harms posterior judgment.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a:xfrm>
          <a:off x="0" y="0"/>
          <a:ext cx="0" cy="0"/>
          <a:chOff x="0" y="0"/>
          <a:chExt cx="0" cy="0"/>
        </a:xfrm>
      </p:grpSpPr>
      <p:sp>
        <p:nvSpPr>
          <p:cNvPr id="9" name="椭圆 8"/>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EXISTING WORK</a:t>
            </a:r>
          </a:p>
        </p:txBody>
      </p:sp>
      <p:sp>
        <p:nvSpPr>
          <p:cNvPr id="6" name="矩形 5"/>
          <p:cNvSpPr>
            <a:spLocks noGrp="1"/>
          </p:cNvSpPr>
          <p:nvPr/>
        </p:nvSpPr>
        <p:spPr>
          <a:xfrm>
            <a:off x="914400" y="914400"/>
            <a:ext cx="10096500" cy="704850"/>
          </a:xfrm>
          <a:prstGeom prst="rect">
            <a:avLst/>
          </a:prstGeom>
          <a:noFill/>
          <a:ln w="0">
            <a:noFill/>
            <a:prstDash val="solid"/>
          </a:ln>
        </p:spPr>
        <p:txBody>
          <a:bodyPr/>
          <a:lstStyle/>
          <a:p>
            <a:pPr algn="l">
              <a:buNone/>
              <a:defRPr sz="2250" b="1" i="0">
                <a:solidFill>
                  <a:srgbClr val="1E2433"/>
                </a:solidFill>
                <a:latin typeface="Times New Roman" panose="02020603050405020304"/>
                <a:ea typeface="Times New Roman" panose="02020603050405020304"/>
                <a:cs typeface="Times New Roman" panose="02020603050405020304"/>
              </a:defRPr>
            </a:pPr>
            <a:r>
              <a:rPr sz="2250" b="1" i="0">
                <a:solidFill>
                  <a:srgbClr val="1E2433"/>
                </a:solidFill>
                <a:latin typeface="Times New Roman" panose="02020603050405020304" pitchFamily="18" charset="0"/>
                <a:ea typeface="Times New Roman" panose="02020603050405020304"/>
                <a:cs typeface="Times New Roman" panose="02020603050405020304"/>
              </a:rPr>
              <a:t>The literature gives us reduced search and automation bias, but not a direct account of information calibration</a:t>
            </a: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This literature map shows the closest targets and clarifies why the paper must distinguish search behavior from evidentiary sufficiency and posterior quality.</a:t>
            </a:r>
          </a:p>
        </p:txBody>
      </p:sp>
      <p:sp>
        <p:nvSpPr>
          <p:cNvPr id="8" name="矩形: 圆角 7"/>
          <p:cNvSpPr>
            <a:spLocks noGrp="1"/>
          </p:cNvSpPr>
          <p:nvPr/>
        </p:nvSpPr>
        <p:spPr>
          <a:xfrm>
            <a:off x="914400" y="2152650"/>
            <a:ext cx="10287000" cy="4171950"/>
          </a:xfrm>
          <a:prstGeom prst="roundRect">
            <a:avLst>
              <a:gd name="adj" fmla="val 2740"/>
            </a:avLst>
          </a:prstGeom>
          <a:solidFill>
            <a:srgbClr val="FFFDFC"/>
          </a:solidFill>
          <a:ln w="9525">
            <a:solidFill>
              <a:srgbClr val="E8DCCB"/>
            </a:solidFill>
            <a:prstDash val="solid"/>
          </a:ln>
        </p:spPr>
      </p:sp>
      <p:pic>
        <p:nvPicPr>
          <p:cNvPr id="18" name="图片 17"/>
          <p:cNvPicPr>
            <a:picLocks noChangeAspect="1"/>
          </p:cNvPicPr>
          <p:nvPr/>
        </p:nvPicPr>
        <p:blipFill>
          <a:blip r:embed="rId3"/>
          <a:stretch>
            <a:fillRect/>
          </a:stretch>
        </p:blipFill>
        <p:spPr>
          <a:xfrm>
            <a:off x="1445462" y="2286000"/>
            <a:ext cx="9224876" cy="39052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a:xfrm>
          <a:off x="0" y="0"/>
          <a:ext cx="0" cy="0"/>
          <a:chOff x="0" y="0"/>
          <a:chExt cx="0" cy="0"/>
        </a:xfrm>
      </p:grpSpPr>
      <p:sp>
        <p:nvSpPr>
          <p:cNvPr id="23" name="椭圆 22"/>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TRADITIONAL BENCHMARK</a:t>
            </a:r>
          </a:p>
        </p:txBody>
      </p:sp>
      <p:sp>
        <p:nvSpPr>
          <p:cNvPr id="6" name="矩形 5"/>
          <p:cNvSpPr>
            <a:spLocks noGrp="1"/>
          </p:cNvSpPr>
          <p:nvPr/>
        </p:nvSpPr>
        <p:spPr>
          <a:xfrm>
            <a:off x="914400" y="914400"/>
            <a:ext cx="10001250" cy="704850"/>
          </a:xfrm>
          <a:prstGeom prst="rect">
            <a:avLst/>
          </a:prstGeom>
          <a:noFill/>
          <a:ln w="0">
            <a:noFill/>
            <a:prstDash val="solid"/>
          </a:ln>
        </p:spPr>
        <p:txBody>
          <a:bodyPr/>
          <a:lstStyle/>
          <a:p>
            <a:pPr algn="l">
              <a:buNone/>
              <a:defRPr sz="2325" b="1" i="0">
                <a:solidFill>
                  <a:srgbClr val="1E2433"/>
                </a:solidFill>
                <a:latin typeface="Times New Roman" panose="02020603050405020304"/>
                <a:ea typeface="Times New Roman" panose="02020603050405020304"/>
                <a:cs typeface="Times New Roman" panose="02020603050405020304"/>
              </a:defRPr>
            </a:pPr>
            <a:r>
              <a:rPr sz="2325" b="1" i="0">
                <a:solidFill>
                  <a:srgbClr val="1E2433"/>
                </a:solidFill>
                <a:latin typeface="Times New Roman" panose="02020603050405020304" pitchFamily="18" charset="0"/>
                <a:ea typeface="Times New Roman" panose="02020603050405020304"/>
                <a:cs typeface="Times New Roman" panose="02020603050405020304"/>
              </a:rPr>
              <a:t>The standard benchmark says people should stop when extra evidence is no longer worth its cost</a:t>
            </a: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Under a rational search view, less search is not itself a failure. It becomes a problem only when people stop too early.</a:t>
            </a:r>
          </a:p>
        </p:txBody>
      </p:sp>
      <p:sp>
        <p:nvSpPr>
          <p:cNvPr id="8" name="矩形: 圆角 7"/>
          <p:cNvSpPr>
            <a:spLocks noGrp="1"/>
          </p:cNvSpPr>
          <p:nvPr/>
        </p:nvSpPr>
        <p:spPr>
          <a:xfrm>
            <a:off x="914400" y="2343150"/>
            <a:ext cx="3086100" cy="2362200"/>
          </a:xfrm>
          <a:prstGeom prst="roundRect">
            <a:avLst>
              <a:gd name="adj" fmla="val 3226"/>
            </a:avLst>
          </a:prstGeom>
          <a:solidFill>
            <a:srgbClr val="FFF9F0"/>
          </a:solidFill>
          <a:ln w="9525">
            <a:solidFill>
              <a:srgbClr val="E8DCCB"/>
            </a:solidFill>
            <a:prstDash val="solid"/>
          </a:ln>
        </p:spPr>
      </p:sp>
      <p:sp>
        <p:nvSpPr>
          <p:cNvPr id="9" name="矩形 8"/>
          <p:cNvSpPr>
            <a:spLocks noGrp="1"/>
          </p:cNvSpPr>
          <p:nvPr/>
        </p:nvSpPr>
        <p:spPr>
          <a:xfrm>
            <a:off x="914400" y="2343150"/>
            <a:ext cx="57150" cy="2362200"/>
          </a:xfrm>
          <a:prstGeom prst="rect">
            <a:avLst/>
          </a:prstGeom>
          <a:solidFill>
            <a:srgbClr val="78836A"/>
          </a:solidFill>
          <a:ln w="0">
            <a:solidFill>
              <a:srgbClr val="78836A"/>
            </a:solidFill>
            <a:prstDash val="solid"/>
          </a:ln>
        </p:spPr>
      </p:sp>
      <p:sp>
        <p:nvSpPr>
          <p:cNvPr id="10" name="矩形 9"/>
          <p:cNvSpPr>
            <a:spLocks noGrp="1"/>
          </p:cNvSpPr>
          <p:nvPr/>
        </p:nvSpPr>
        <p:spPr>
          <a:xfrm>
            <a:off x="1085850" y="2457450"/>
            <a:ext cx="2800350" cy="285750"/>
          </a:xfrm>
          <a:prstGeom prst="rect">
            <a:avLst/>
          </a:prstGeom>
          <a:noFill/>
          <a:ln w="0">
            <a:noFill/>
            <a:prstDash val="solid"/>
          </a:ln>
        </p:spPr>
        <p:txBody>
          <a:bodyPr/>
          <a:lstStyle/>
          <a:p>
            <a:pPr algn="l">
              <a:buNone/>
              <a:defRPr sz="1800" b="1" i="0">
                <a:solidFill>
                  <a:srgbClr val="1E2433"/>
                </a:solidFill>
                <a:latin typeface="Times New Roman" panose="02020603050405020304"/>
                <a:ea typeface="Times New Roman" panose="02020603050405020304"/>
                <a:cs typeface="Times New Roman" panose="02020603050405020304"/>
              </a:defRPr>
            </a:pPr>
            <a:r>
              <a:rPr sz="1800" b="1" i="0">
                <a:solidFill>
                  <a:srgbClr val="1E2433"/>
                </a:solidFill>
                <a:latin typeface="Times New Roman" panose="02020603050405020304" pitchFamily="18" charset="0"/>
                <a:ea typeface="Times New Roman" panose="02020603050405020304"/>
                <a:cs typeface="Times New Roman" panose="02020603050405020304"/>
              </a:rPr>
              <a:t>Step 1</a:t>
            </a:r>
          </a:p>
        </p:txBody>
      </p:sp>
      <p:sp>
        <p:nvSpPr>
          <p:cNvPr id="11" name="矩形 10"/>
          <p:cNvSpPr>
            <a:spLocks noGrp="1"/>
          </p:cNvSpPr>
          <p:nvPr/>
        </p:nvSpPr>
        <p:spPr>
          <a:xfrm>
            <a:off x="1085850" y="2800350"/>
            <a:ext cx="2800350" cy="1790700"/>
          </a:xfrm>
          <a:prstGeom prst="rect">
            <a:avLst/>
          </a:prstGeom>
          <a:noFill/>
          <a:ln w="0">
            <a:noFill/>
            <a:prstDash val="solid"/>
          </a:ln>
        </p:spPr>
        <p:txBody>
          <a:bodyPr/>
          <a:lstStyle/>
          <a:p>
            <a:pPr algn="l">
              <a:buNone/>
              <a:defRPr sz="1500" b="0" i="0">
                <a:solidFill>
                  <a:srgbClr val="5E6675"/>
                </a:solidFill>
                <a:latin typeface="Times New Roman" panose="02020603050405020304"/>
                <a:ea typeface="Times New Roman" panose="02020603050405020304"/>
                <a:cs typeface="Times New Roman" panose="02020603050405020304"/>
              </a:defRPr>
            </a:pPr>
            <a:r>
              <a:rPr sz="1500" b="0" i="0">
                <a:solidFill>
                  <a:srgbClr val="5E6675"/>
                </a:solidFill>
                <a:latin typeface="Times New Roman" panose="02020603050405020304" pitchFamily="18" charset="0"/>
                <a:ea typeface="Times New Roman" panose="02020603050405020304"/>
                <a:cs typeface="Times New Roman" panose="02020603050405020304"/>
              </a:rPr>
              <a:t>Users weigh the expected value of additional evidence against the cost of getting it.</a:t>
            </a:r>
          </a:p>
        </p:txBody>
      </p:sp>
      <p:sp>
        <p:nvSpPr>
          <p:cNvPr id="12" name="矩形: 圆角 11"/>
          <p:cNvSpPr>
            <a:spLocks noGrp="1"/>
          </p:cNvSpPr>
          <p:nvPr/>
        </p:nvSpPr>
        <p:spPr>
          <a:xfrm>
            <a:off x="4552950" y="2343150"/>
            <a:ext cx="3086100" cy="2362200"/>
          </a:xfrm>
          <a:prstGeom prst="roundRect">
            <a:avLst>
              <a:gd name="adj" fmla="val 3226"/>
            </a:avLst>
          </a:prstGeom>
          <a:solidFill>
            <a:srgbClr val="FFF9F0"/>
          </a:solidFill>
          <a:ln w="9525">
            <a:solidFill>
              <a:srgbClr val="E8DCCB"/>
            </a:solidFill>
            <a:prstDash val="solid"/>
          </a:ln>
        </p:spPr>
      </p:sp>
      <p:sp>
        <p:nvSpPr>
          <p:cNvPr id="13" name="矩形 12"/>
          <p:cNvSpPr>
            <a:spLocks noGrp="1"/>
          </p:cNvSpPr>
          <p:nvPr/>
        </p:nvSpPr>
        <p:spPr>
          <a:xfrm>
            <a:off x="4552950" y="2343150"/>
            <a:ext cx="57150" cy="2362200"/>
          </a:xfrm>
          <a:prstGeom prst="rect">
            <a:avLst/>
          </a:prstGeom>
          <a:solidFill>
            <a:srgbClr val="C89B4A"/>
          </a:solidFill>
          <a:ln w="0">
            <a:solidFill>
              <a:srgbClr val="C89B4A"/>
            </a:solidFill>
            <a:prstDash val="solid"/>
          </a:ln>
        </p:spPr>
      </p:sp>
      <p:sp>
        <p:nvSpPr>
          <p:cNvPr id="14" name="矩形 13"/>
          <p:cNvSpPr>
            <a:spLocks noGrp="1"/>
          </p:cNvSpPr>
          <p:nvPr/>
        </p:nvSpPr>
        <p:spPr>
          <a:xfrm>
            <a:off x="4724400" y="2457450"/>
            <a:ext cx="2800350" cy="285750"/>
          </a:xfrm>
          <a:prstGeom prst="rect">
            <a:avLst/>
          </a:prstGeom>
          <a:noFill/>
          <a:ln w="0">
            <a:noFill/>
            <a:prstDash val="solid"/>
          </a:ln>
        </p:spPr>
        <p:txBody>
          <a:bodyPr/>
          <a:lstStyle/>
          <a:p>
            <a:pPr algn="l">
              <a:buNone/>
              <a:defRPr sz="1800" b="1" i="0">
                <a:solidFill>
                  <a:srgbClr val="1E2433"/>
                </a:solidFill>
                <a:latin typeface="Times New Roman" panose="02020603050405020304"/>
                <a:ea typeface="Times New Roman" panose="02020603050405020304"/>
                <a:cs typeface="Times New Roman" panose="02020603050405020304"/>
              </a:defRPr>
            </a:pPr>
            <a:r>
              <a:rPr sz="1800" b="1" i="0">
                <a:solidFill>
                  <a:srgbClr val="1E2433"/>
                </a:solidFill>
                <a:latin typeface="Times New Roman" panose="02020603050405020304" pitchFamily="18" charset="0"/>
                <a:ea typeface="Times New Roman" panose="02020603050405020304"/>
                <a:cs typeface="Times New Roman" panose="02020603050405020304"/>
              </a:rPr>
              <a:t>Step 2</a:t>
            </a:r>
          </a:p>
        </p:txBody>
      </p:sp>
      <p:sp>
        <p:nvSpPr>
          <p:cNvPr id="15" name="矩形 14"/>
          <p:cNvSpPr>
            <a:spLocks noGrp="1"/>
          </p:cNvSpPr>
          <p:nvPr/>
        </p:nvSpPr>
        <p:spPr>
          <a:xfrm>
            <a:off x="4724400" y="2800350"/>
            <a:ext cx="2800350" cy="1790700"/>
          </a:xfrm>
          <a:prstGeom prst="rect">
            <a:avLst/>
          </a:prstGeom>
          <a:noFill/>
          <a:ln w="0">
            <a:noFill/>
            <a:prstDash val="solid"/>
          </a:ln>
        </p:spPr>
        <p:txBody>
          <a:bodyPr/>
          <a:lstStyle/>
          <a:p>
            <a:pPr algn="l">
              <a:buNone/>
              <a:defRPr sz="1500" b="0" i="0">
                <a:solidFill>
                  <a:srgbClr val="5E6675"/>
                </a:solidFill>
                <a:latin typeface="Times New Roman" panose="02020603050405020304"/>
                <a:ea typeface="Times New Roman" panose="02020603050405020304"/>
                <a:cs typeface="Times New Roman" panose="02020603050405020304"/>
              </a:defRPr>
            </a:pPr>
            <a:r>
              <a:rPr sz="1500" b="0" i="0">
                <a:solidFill>
                  <a:srgbClr val="5E6675"/>
                </a:solidFill>
                <a:latin typeface="Times New Roman" panose="02020603050405020304" pitchFamily="18" charset="0"/>
                <a:ea typeface="Times New Roman" panose="02020603050405020304"/>
                <a:cs typeface="Times New Roman" panose="02020603050405020304"/>
              </a:rPr>
              <a:t>They continue searching if more evidence is still likely to change the posterior enough to matter.</a:t>
            </a:r>
          </a:p>
        </p:txBody>
      </p:sp>
      <p:sp>
        <p:nvSpPr>
          <p:cNvPr id="16" name="矩形: 圆角 15"/>
          <p:cNvSpPr>
            <a:spLocks noGrp="1"/>
          </p:cNvSpPr>
          <p:nvPr/>
        </p:nvSpPr>
        <p:spPr>
          <a:xfrm>
            <a:off x="8191500" y="2343150"/>
            <a:ext cx="3009900" cy="2362200"/>
          </a:xfrm>
          <a:prstGeom prst="roundRect">
            <a:avLst>
              <a:gd name="adj" fmla="val 3226"/>
            </a:avLst>
          </a:prstGeom>
          <a:solidFill>
            <a:srgbClr val="FFF9F0"/>
          </a:solidFill>
          <a:ln w="9525">
            <a:solidFill>
              <a:srgbClr val="E8DCCB"/>
            </a:solidFill>
            <a:prstDash val="solid"/>
          </a:ln>
        </p:spPr>
      </p:sp>
      <p:sp>
        <p:nvSpPr>
          <p:cNvPr id="17" name="矩形 16"/>
          <p:cNvSpPr>
            <a:spLocks noGrp="1"/>
          </p:cNvSpPr>
          <p:nvPr/>
        </p:nvSpPr>
        <p:spPr>
          <a:xfrm>
            <a:off x="8191500" y="2343150"/>
            <a:ext cx="57150" cy="2362200"/>
          </a:xfrm>
          <a:prstGeom prst="rect">
            <a:avLst/>
          </a:prstGeom>
          <a:solidFill>
            <a:srgbClr val="B45A3C"/>
          </a:solidFill>
          <a:ln w="0">
            <a:solidFill>
              <a:srgbClr val="B45A3C"/>
            </a:solidFill>
            <a:prstDash val="solid"/>
          </a:ln>
        </p:spPr>
      </p:sp>
      <p:sp>
        <p:nvSpPr>
          <p:cNvPr id="18" name="矩形 17"/>
          <p:cNvSpPr>
            <a:spLocks noGrp="1"/>
          </p:cNvSpPr>
          <p:nvPr/>
        </p:nvSpPr>
        <p:spPr>
          <a:xfrm>
            <a:off x="8362950" y="2457450"/>
            <a:ext cx="2724150" cy="285750"/>
          </a:xfrm>
          <a:prstGeom prst="rect">
            <a:avLst/>
          </a:prstGeom>
          <a:noFill/>
          <a:ln w="0">
            <a:noFill/>
            <a:prstDash val="solid"/>
          </a:ln>
        </p:spPr>
        <p:txBody>
          <a:bodyPr/>
          <a:lstStyle/>
          <a:p>
            <a:pPr algn="l">
              <a:buNone/>
              <a:defRPr sz="1800" b="1" i="0">
                <a:solidFill>
                  <a:srgbClr val="1E2433"/>
                </a:solidFill>
                <a:latin typeface="Times New Roman" panose="02020603050405020304"/>
                <a:ea typeface="Times New Roman" panose="02020603050405020304"/>
                <a:cs typeface="Times New Roman" panose="02020603050405020304"/>
              </a:defRPr>
            </a:pPr>
            <a:r>
              <a:rPr sz="1800" b="1" i="0">
                <a:solidFill>
                  <a:srgbClr val="1E2433"/>
                </a:solidFill>
                <a:latin typeface="Times New Roman" panose="02020603050405020304" pitchFamily="18" charset="0"/>
                <a:ea typeface="Times New Roman" panose="02020603050405020304"/>
                <a:cs typeface="Times New Roman" panose="02020603050405020304"/>
              </a:rPr>
              <a:t>Implication</a:t>
            </a:r>
          </a:p>
        </p:txBody>
      </p:sp>
      <p:sp>
        <p:nvSpPr>
          <p:cNvPr id="19" name="矩形 18"/>
          <p:cNvSpPr>
            <a:spLocks noGrp="1"/>
          </p:cNvSpPr>
          <p:nvPr/>
        </p:nvSpPr>
        <p:spPr>
          <a:xfrm>
            <a:off x="8362950" y="2800350"/>
            <a:ext cx="2724150" cy="1790700"/>
          </a:xfrm>
          <a:prstGeom prst="rect">
            <a:avLst/>
          </a:prstGeom>
          <a:noFill/>
          <a:ln w="0">
            <a:noFill/>
            <a:prstDash val="solid"/>
          </a:ln>
        </p:spPr>
        <p:txBody>
          <a:bodyPr/>
          <a:lstStyle/>
          <a:p>
            <a:pPr algn="l">
              <a:buNone/>
              <a:defRPr sz="1500" b="0" i="0">
                <a:solidFill>
                  <a:srgbClr val="5E6675"/>
                </a:solidFill>
                <a:latin typeface="Times New Roman" panose="02020603050405020304"/>
                <a:ea typeface="Times New Roman" panose="02020603050405020304"/>
                <a:cs typeface="Times New Roman" panose="02020603050405020304"/>
              </a:defRPr>
            </a:pPr>
            <a:r>
              <a:rPr sz="1500" b="0" i="0">
                <a:solidFill>
                  <a:srgbClr val="5E6675"/>
                </a:solidFill>
                <a:latin typeface="Times New Roman" panose="02020603050405020304" pitchFamily="18" charset="0"/>
                <a:ea typeface="Times New Roman" panose="02020603050405020304"/>
                <a:cs typeface="Times New Roman" panose="02020603050405020304"/>
              </a:rPr>
              <a:t>Reduced search is rational when information has already been efficiently compressed, but not when sufficiency is overestimated.</a:t>
            </a:r>
          </a:p>
        </p:txBody>
      </p:sp>
      <p:sp>
        <p:nvSpPr>
          <p:cNvPr id="20" name="矩形 19"/>
          <p:cNvSpPr>
            <a:spLocks noGrp="1"/>
          </p:cNvSpPr>
          <p:nvPr/>
        </p:nvSpPr>
        <p:spPr>
          <a:xfrm>
            <a:off x="4095750" y="3352800"/>
            <a:ext cx="457200" cy="228600"/>
          </a:xfrm>
          <a:prstGeom prst="rect">
            <a:avLst/>
          </a:prstGeom>
          <a:noFill/>
          <a:ln w="0">
            <a:noFill/>
            <a:prstDash val="solid"/>
          </a:ln>
        </p:spPr>
        <p:txBody>
          <a:bodyPr/>
          <a:lstStyle/>
          <a:p>
            <a:pPr algn="ctr">
              <a:buNone/>
              <a:defRPr sz="1800" b="1" i="0">
                <a:solidFill>
                  <a:srgbClr val="5E6675"/>
                </a:solidFill>
                <a:latin typeface="Times New Roman" panose="02020603050405020304"/>
                <a:ea typeface="Times New Roman" panose="02020603050405020304"/>
                <a:cs typeface="Times New Roman" panose="02020603050405020304"/>
              </a:defRPr>
            </a:pPr>
            <a:r>
              <a:rPr sz="1800" b="1" i="0">
                <a:solidFill>
                  <a:srgbClr val="5E6675"/>
                </a:solidFill>
                <a:latin typeface="Times New Roman" panose="02020603050405020304" pitchFamily="18" charset="0"/>
                <a:ea typeface="Times New Roman" panose="02020603050405020304"/>
                <a:cs typeface="Times New Roman" panose="02020603050405020304"/>
              </a:rPr>
              <a:t>→</a:t>
            </a:r>
          </a:p>
        </p:txBody>
      </p:sp>
      <p:sp>
        <p:nvSpPr>
          <p:cNvPr id="21" name="矩形 20"/>
          <p:cNvSpPr>
            <a:spLocks noGrp="1"/>
          </p:cNvSpPr>
          <p:nvPr/>
        </p:nvSpPr>
        <p:spPr>
          <a:xfrm>
            <a:off x="7734300" y="3352800"/>
            <a:ext cx="457200" cy="228600"/>
          </a:xfrm>
          <a:prstGeom prst="rect">
            <a:avLst/>
          </a:prstGeom>
          <a:noFill/>
          <a:ln w="0">
            <a:noFill/>
            <a:prstDash val="solid"/>
          </a:ln>
        </p:spPr>
        <p:txBody>
          <a:bodyPr/>
          <a:lstStyle/>
          <a:p>
            <a:pPr algn="ctr">
              <a:buNone/>
              <a:defRPr sz="1800" b="1" i="0">
                <a:solidFill>
                  <a:srgbClr val="5E6675"/>
                </a:solidFill>
                <a:latin typeface="Times New Roman" panose="02020603050405020304"/>
                <a:ea typeface="Times New Roman" panose="02020603050405020304"/>
                <a:cs typeface="Times New Roman" panose="02020603050405020304"/>
              </a:defRPr>
            </a:pPr>
            <a:r>
              <a:rPr sz="1800" b="1" i="0">
                <a:solidFill>
                  <a:srgbClr val="5E6675"/>
                </a:solidFill>
                <a:latin typeface="Times New Roman" panose="02020603050405020304" pitchFamily="18" charset="0"/>
                <a:ea typeface="Times New Roman" panose="02020603050405020304"/>
                <a:cs typeface="Times New Roman" panose="02020603050405020304"/>
              </a:rPr>
              <a:t>→</a:t>
            </a:r>
          </a:p>
        </p:txBody>
      </p:sp>
      <p:sp>
        <p:nvSpPr>
          <p:cNvPr id="22" name="矩形 21"/>
          <p:cNvSpPr>
            <a:spLocks noGrp="1"/>
          </p:cNvSpPr>
          <p:nvPr/>
        </p:nvSpPr>
        <p:spPr>
          <a:xfrm>
            <a:off x="1581150" y="5219700"/>
            <a:ext cx="9029700" cy="457200"/>
          </a:xfrm>
          <a:prstGeom prst="rect">
            <a:avLst/>
          </a:prstGeom>
          <a:noFill/>
          <a:ln w="0">
            <a:noFill/>
            <a:prstDash val="solid"/>
          </a:ln>
        </p:spPr>
        <p:txBody>
          <a:bodyPr/>
          <a:lstStyle/>
          <a:p>
            <a:pPr algn="ctr">
              <a:buNone/>
              <a:defRPr sz="1650" b="1" i="0">
                <a:solidFill>
                  <a:srgbClr val="B45A3C"/>
                </a:solidFill>
                <a:latin typeface="Times New Roman" panose="02020603050405020304"/>
                <a:ea typeface="Times New Roman" panose="02020603050405020304"/>
                <a:cs typeface="Times New Roman" panose="02020603050405020304"/>
              </a:defRPr>
            </a:pPr>
            <a:r>
              <a:rPr sz="1650" b="1" i="0">
                <a:solidFill>
                  <a:srgbClr val="B45A3C"/>
                </a:solidFill>
                <a:latin typeface="Times New Roman" panose="02020603050405020304" pitchFamily="18" charset="0"/>
                <a:ea typeface="Times New Roman" panose="02020603050405020304"/>
                <a:cs typeface="Times New Roman" panose="02020603050405020304"/>
              </a:rPr>
              <a:t>This is why the main question is not whether AI reduces search, but whether it changes the stopping rule in a way that remains normatively justified.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a:xfrm>
          <a:off x="0" y="0"/>
          <a:ext cx="0" cy="0"/>
          <a:chOff x="0" y="0"/>
          <a:chExt cx="0" cy="0"/>
        </a:xfrm>
      </p:grpSpPr>
      <p:sp>
        <p:nvSpPr>
          <p:cNvPr id="20" name="椭圆 19"/>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RESEARCH QUESTIONS</a:t>
            </a:r>
          </a:p>
        </p:txBody>
      </p:sp>
      <p:sp>
        <p:nvSpPr>
          <p:cNvPr id="6" name="矩形 5"/>
          <p:cNvSpPr>
            <a:spLocks noGrp="1"/>
          </p:cNvSpPr>
          <p:nvPr/>
        </p:nvSpPr>
        <p:spPr>
          <a:xfrm>
            <a:off x="914400" y="914400"/>
            <a:ext cx="8191500" cy="704850"/>
          </a:xfrm>
          <a:prstGeom prst="rect">
            <a:avLst/>
          </a:prstGeom>
          <a:noFill/>
          <a:ln w="0">
            <a:noFill/>
            <a:prstDash val="solid"/>
          </a:ln>
        </p:spPr>
        <p:txBody>
          <a:bodyPr/>
          <a:lstStyle/>
          <a:p>
            <a:pPr algn="l">
              <a:buNone/>
              <a:defRPr sz="2700" b="1" i="0">
                <a:solidFill>
                  <a:srgbClr val="1E2433"/>
                </a:solidFill>
                <a:latin typeface="Times New Roman" panose="02020603050405020304"/>
                <a:ea typeface="Times New Roman" panose="02020603050405020304"/>
                <a:cs typeface="Times New Roman" panose="02020603050405020304"/>
              </a:defRPr>
            </a:pPr>
            <a:r>
              <a:rPr sz="2700" b="1" i="0">
                <a:solidFill>
                  <a:srgbClr val="1E2433"/>
                </a:solidFill>
                <a:latin typeface="Times New Roman" panose="02020603050405020304" pitchFamily="18" charset="0"/>
                <a:ea typeface="Times New Roman" panose="02020603050405020304"/>
                <a:cs typeface="Times New Roman" panose="02020603050405020304"/>
              </a:rPr>
              <a:t>The study asks three linked questions</a:t>
            </a: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sequence runs from behavior, to normative evaluation, to metacognitive calibration.</a:t>
            </a:r>
          </a:p>
        </p:txBody>
      </p:sp>
      <p:sp>
        <p:nvSpPr>
          <p:cNvPr id="8" name="矩形: 圆角 7"/>
          <p:cNvSpPr>
            <a:spLocks noGrp="1"/>
          </p:cNvSpPr>
          <p:nvPr/>
        </p:nvSpPr>
        <p:spPr>
          <a:xfrm>
            <a:off x="914400" y="2266950"/>
            <a:ext cx="3086100" cy="2819400"/>
          </a:xfrm>
          <a:prstGeom prst="roundRect">
            <a:avLst>
              <a:gd name="adj" fmla="val 2703"/>
            </a:avLst>
          </a:prstGeom>
          <a:solidFill>
            <a:srgbClr val="FFF9F0"/>
          </a:solidFill>
          <a:ln w="9525">
            <a:solidFill>
              <a:srgbClr val="E8DCCB"/>
            </a:solidFill>
            <a:prstDash val="solid"/>
          </a:ln>
        </p:spPr>
      </p:sp>
      <p:sp>
        <p:nvSpPr>
          <p:cNvPr id="9" name="矩形 8"/>
          <p:cNvSpPr>
            <a:spLocks noGrp="1"/>
          </p:cNvSpPr>
          <p:nvPr/>
        </p:nvSpPr>
        <p:spPr>
          <a:xfrm>
            <a:off x="914400" y="2266950"/>
            <a:ext cx="57150" cy="2819400"/>
          </a:xfrm>
          <a:prstGeom prst="rect">
            <a:avLst/>
          </a:prstGeom>
          <a:solidFill>
            <a:srgbClr val="B45A3C"/>
          </a:solidFill>
          <a:ln w="0">
            <a:solidFill>
              <a:srgbClr val="B45A3C"/>
            </a:solidFill>
            <a:prstDash val="solid"/>
          </a:ln>
        </p:spPr>
      </p:sp>
      <p:sp>
        <p:nvSpPr>
          <p:cNvPr id="10" name="矩形 9"/>
          <p:cNvSpPr>
            <a:spLocks noGrp="1"/>
          </p:cNvSpPr>
          <p:nvPr/>
        </p:nvSpPr>
        <p:spPr>
          <a:xfrm>
            <a:off x="1085850" y="2381250"/>
            <a:ext cx="2800350" cy="285750"/>
          </a:xfrm>
          <a:prstGeom prst="rect">
            <a:avLst/>
          </a:prstGeom>
          <a:noFill/>
          <a:ln w="0">
            <a:noFill/>
            <a:prstDash val="solid"/>
          </a:ln>
        </p:spPr>
        <p:txBody>
          <a:bodyPr/>
          <a:lstStyle/>
          <a:p>
            <a:pPr algn="l">
              <a:buNone/>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pitchFamily="18" charset="0"/>
                <a:ea typeface="Times New Roman" panose="02020603050405020304"/>
                <a:cs typeface="Times New Roman" panose="02020603050405020304"/>
              </a:rPr>
              <a:t>RQ1</a:t>
            </a:r>
          </a:p>
        </p:txBody>
      </p:sp>
      <p:sp>
        <p:nvSpPr>
          <p:cNvPr id="11" name="矩形 10"/>
          <p:cNvSpPr>
            <a:spLocks noGrp="1"/>
          </p:cNvSpPr>
          <p:nvPr/>
        </p:nvSpPr>
        <p:spPr>
          <a:xfrm>
            <a:off x="1085850" y="2724150"/>
            <a:ext cx="2800350" cy="2247900"/>
          </a:xfrm>
          <a:prstGeom prst="rect">
            <a:avLst/>
          </a:prstGeom>
          <a:noFill/>
          <a:ln w="0">
            <a:noFill/>
            <a:prstDash val="solid"/>
          </a:ln>
        </p:spPr>
        <p:txBody>
          <a:bodyPr/>
          <a:lstStyle/>
          <a:p>
            <a:pPr algn="l">
              <a:buNone/>
              <a:defRPr sz="1650" b="0" i="0">
                <a:solidFill>
                  <a:srgbClr val="5E6675"/>
                </a:solidFill>
                <a:latin typeface="Times New Roman" panose="02020603050405020304"/>
                <a:ea typeface="Times New Roman" panose="02020603050405020304"/>
                <a:cs typeface="Times New Roman" panose="02020603050405020304"/>
              </a:defRPr>
            </a:pPr>
            <a:r>
              <a:rPr sz="1650" b="0" i="0">
                <a:solidFill>
                  <a:srgbClr val="5E6675"/>
                </a:solidFill>
                <a:latin typeface="Times New Roman" panose="02020603050405020304" pitchFamily="18" charset="0"/>
                <a:ea typeface="Times New Roman" panose="02020603050405020304"/>
                <a:cs typeface="Times New Roman" panose="02020603050405020304"/>
              </a:rPr>
              <a:t>Does an AI-labeled summary lower the stopping threshold for additional search?</a:t>
            </a:r>
          </a:p>
        </p:txBody>
      </p:sp>
      <p:sp>
        <p:nvSpPr>
          <p:cNvPr id="12" name="矩形: 圆角 11"/>
          <p:cNvSpPr>
            <a:spLocks noGrp="1"/>
          </p:cNvSpPr>
          <p:nvPr/>
        </p:nvSpPr>
        <p:spPr>
          <a:xfrm>
            <a:off x="4552950" y="2266950"/>
            <a:ext cx="3086100" cy="2819400"/>
          </a:xfrm>
          <a:prstGeom prst="roundRect">
            <a:avLst>
              <a:gd name="adj" fmla="val 2703"/>
            </a:avLst>
          </a:prstGeom>
          <a:solidFill>
            <a:srgbClr val="FFF9F0"/>
          </a:solidFill>
          <a:ln w="9525">
            <a:solidFill>
              <a:srgbClr val="E8DCCB"/>
            </a:solidFill>
            <a:prstDash val="solid"/>
          </a:ln>
        </p:spPr>
      </p:sp>
      <p:sp>
        <p:nvSpPr>
          <p:cNvPr id="13" name="矩形 12"/>
          <p:cNvSpPr>
            <a:spLocks noGrp="1"/>
          </p:cNvSpPr>
          <p:nvPr/>
        </p:nvSpPr>
        <p:spPr>
          <a:xfrm>
            <a:off x="4552950" y="2266950"/>
            <a:ext cx="57150" cy="2819400"/>
          </a:xfrm>
          <a:prstGeom prst="rect">
            <a:avLst/>
          </a:prstGeom>
          <a:solidFill>
            <a:srgbClr val="C89B4A"/>
          </a:solidFill>
          <a:ln w="0">
            <a:solidFill>
              <a:srgbClr val="C89B4A"/>
            </a:solidFill>
            <a:prstDash val="solid"/>
          </a:ln>
        </p:spPr>
      </p:sp>
      <p:sp>
        <p:nvSpPr>
          <p:cNvPr id="14" name="矩形 13"/>
          <p:cNvSpPr>
            <a:spLocks noGrp="1"/>
          </p:cNvSpPr>
          <p:nvPr/>
        </p:nvSpPr>
        <p:spPr>
          <a:xfrm>
            <a:off x="4724400" y="2381250"/>
            <a:ext cx="2800350" cy="285750"/>
          </a:xfrm>
          <a:prstGeom prst="rect">
            <a:avLst/>
          </a:prstGeom>
          <a:noFill/>
          <a:ln w="0">
            <a:noFill/>
            <a:prstDash val="solid"/>
          </a:ln>
        </p:spPr>
        <p:txBody>
          <a:bodyPr/>
          <a:lstStyle/>
          <a:p>
            <a:pPr algn="l">
              <a:buNone/>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pitchFamily="18" charset="0"/>
                <a:ea typeface="Times New Roman" panose="02020603050405020304"/>
                <a:cs typeface="Times New Roman" panose="02020603050405020304"/>
              </a:rPr>
              <a:t>RQ2</a:t>
            </a:r>
          </a:p>
        </p:txBody>
      </p:sp>
      <p:sp>
        <p:nvSpPr>
          <p:cNvPr id="15" name="矩形 14"/>
          <p:cNvSpPr>
            <a:spLocks noGrp="1"/>
          </p:cNvSpPr>
          <p:nvPr/>
        </p:nvSpPr>
        <p:spPr>
          <a:xfrm>
            <a:off x="4724400" y="2724150"/>
            <a:ext cx="2800350" cy="2247900"/>
          </a:xfrm>
          <a:prstGeom prst="rect">
            <a:avLst/>
          </a:prstGeom>
          <a:noFill/>
          <a:ln w="0">
            <a:noFill/>
            <a:prstDash val="solid"/>
          </a:ln>
        </p:spPr>
        <p:txBody>
          <a:bodyPr/>
          <a:lstStyle/>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When search falls, is that rational information compression or harmful information-acquisition deviation?</a:t>
            </a:r>
          </a:p>
        </p:txBody>
      </p:sp>
      <p:sp>
        <p:nvSpPr>
          <p:cNvPr id="16" name="矩形: 圆角 15"/>
          <p:cNvSpPr>
            <a:spLocks noGrp="1"/>
          </p:cNvSpPr>
          <p:nvPr/>
        </p:nvSpPr>
        <p:spPr>
          <a:xfrm>
            <a:off x="8191500" y="2266950"/>
            <a:ext cx="3009900" cy="2819400"/>
          </a:xfrm>
          <a:prstGeom prst="roundRect">
            <a:avLst>
              <a:gd name="adj" fmla="val 2703"/>
            </a:avLst>
          </a:prstGeom>
          <a:solidFill>
            <a:srgbClr val="FFF9F0"/>
          </a:solidFill>
          <a:ln w="9525">
            <a:solidFill>
              <a:srgbClr val="E8DCCB"/>
            </a:solidFill>
            <a:prstDash val="solid"/>
          </a:ln>
        </p:spPr>
      </p:sp>
      <p:sp>
        <p:nvSpPr>
          <p:cNvPr id="17" name="矩形 16"/>
          <p:cNvSpPr>
            <a:spLocks noGrp="1"/>
          </p:cNvSpPr>
          <p:nvPr/>
        </p:nvSpPr>
        <p:spPr>
          <a:xfrm>
            <a:off x="8191500" y="2266950"/>
            <a:ext cx="57150" cy="2819400"/>
          </a:xfrm>
          <a:prstGeom prst="rect">
            <a:avLst/>
          </a:prstGeom>
          <a:solidFill>
            <a:srgbClr val="78836A"/>
          </a:solidFill>
          <a:ln w="0">
            <a:solidFill>
              <a:srgbClr val="78836A"/>
            </a:solidFill>
            <a:prstDash val="solid"/>
          </a:ln>
        </p:spPr>
      </p:sp>
      <p:sp>
        <p:nvSpPr>
          <p:cNvPr id="18" name="矩形 17"/>
          <p:cNvSpPr>
            <a:spLocks noGrp="1"/>
          </p:cNvSpPr>
          <p:nvPr/>
        </p:nvSpPr>
        <p:spPr>
          <a:xfrm>
            <a:off x="8362950" y="2381250"/>
            <a:ext cx="2724150" cy="285750"/>
          </a:xfrm>
          <a:prstGeom prst="rect">
            <a:avLst/>
          </a:prstGeom>
          <a:noFill/>
          <a:ln w="0">
            <a:noFill/>
            <a:prstDash val="solid"/>
          </a:ln>
        </p:spPr>
        <p:txBody>
          <a:bodyPr/>
          <a:lstStyle/>
          <a:p>
            <a:pPr algn="l">
              <a:buNone/>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pitchFamily="18" charset="0"/>
                <a:ea typeface="Times New Roman" panose="02020603050405020304"/>
                <a:cs typeface="Times New Roman" panose="02020603050405020304"/>
              </a:rPr>
              <a:t>RQ3</a:t>
            </a:r>
          </a:p>
        </p:txBody>
      </p:sp>
      <p:sp>
        <p:nvSpPr>
          <p:cNvPr id="19" name="矩形 18"/>
          <p:cNvSpPr>
            <a:spLocks noGrp="1"/>
          </p:cNvSpPr>
          <p:nvPr/>
        </p:nvSpPr>
        <p:spPr>
          <a:xfrm>
            <a:off x="8362950" y="2724150"/>
            <a:ext cx="2724150" cy="2247900"/>
          </a:xfrm>
          <a:prstGeom prst="rect">
            <a:avLst/>
          </a:prstGeom>
          <a:noFill/>
          <a:ln w="0">
            <a:noFill/>
            <a:prstDash val="solid"/>
          </a:ln>
        </p:spPr>
        <p:txBody>
          <a:bodyPr/>
          <a:lstStyle/>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Does subjective information mastery become misaligned with objective judgment quality?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a:xfrm>
          <a:off x="0" y="0"/>
          <a:ext cx="0" cy="0"/>
          <a:chOff x="0" y="0"/>
          <a:chExt cx="0" cy="0"/>
        </a:xfrm>
      </p:grpSpPr>
      <p:sp>
        <p:nvSpPr>
          <p:cNvPr id="24" name="椭圆 23"/>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lang="en-US" sz="1050" b="1" i="0">
                <a:solidFill>
                  <a:srgbClr val="B45A3C"/>
                </a:solidFill>
                <a:latin typeface="Times New Roman" panose="02020603050405020304" pitchFamily="18" charset="0"/>
                <a:ea typeface="Times New Roman" panose="02020603050405020304"/>
                <a:cs typeface="Times New Roman" panose="02020603050405020304"/>
              </a:rPr>
              <a:t>TASK PROTOTYPE</a:t>
            </a:r>
            <a:endParaRPr sz="1050" b="1" i="0">
              <a:solidFill>
                <a:srgbClr val="B45A3C"/>
              </a:solidFill>
              <a:latin typeface="Times New Roman" panose="02020603050405020304" pitchFamily="18" charset="0"/>
              <a:ea typeface="Times New Roman" panose="02020603050405020304"/>
              <a:cs typeface="Times New Roman" panose="02020603050405020304"/>
            </a:endParaRPr>
          </a:p>
        </p:txBody>
      </p:sp>
      <p:sp>
        <p:nvSpPr>
          <p:cNvPr id="6" name="矩形 5"/>
          <p:cNvSpPr>
            <a:spLocks noGrp="1"/>
          </p:cNvSpPr>
          <p:nvPr/>
        </p:nvSpPr>
        <p:spPr>
          <a:xfrm>
            <a:off x="914400" y="914400"/>
            <a:ext cx="9525000" cy="704850"/>
          </a:xfrm>
          <a:prstGeom prst="rect">
            <a:avLst/>
          </a:prstGeom>
          <a:noFill/>
          <a:ln w="0">
            <a:noFill/>
            <a:prstDash val="solid"/>
          </a:ln>
        </p:spPr>
        <p:txBody>
          <a:bodyPr/>
          <a:lstStyle/>
          <a:p>
            <a:pPr algn="l">
              <a:buNone/>
              <a:defRPr sz="2475" b="1" i="0">
                <a:solidFill>
                  <a:srgbClr val="1E2433"/>
                </a:solidFill>
                <a:latin typeface="Times New Roman" panose="02020603050405020304"/>
                <a:ea typeface="Times New Roman" panose="02020603050405020304"/>
                <a:cs typeface="Times New Roman" panose="02020603050405020304"/>
              </a:defRPr>
            </a:pPr>
            <a:r>
              <a:rPr lang="en-US" sz="2475" b="1" i="0">
                <a:solidFill>
                  <a:srgbClr val="1E2433"/>
                </a:solidFill>
                <a:latin typeface="Times New Roman" panose="02020603050405020304" pitchFamily="18" charset="0"/>
                <a:ea typeface="Times New Roman" panose="02020603050405020304"/>
                <a:cs typeface="Times New Roman" panose="02020603050405020304"/>
              </a:rPr>
              <a:t>An AI summary-assisted evidence search task in a company-risk judgment setting</a:t>
            </a:r>
            <a:endParaRPr sz="247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lang="en-US" sz="1350" b="0" i="0">
                <a:solidFill>
                  <a:srgbClr val="5E6675"/>
                </a:solidFill>
                <a:latin typeface="Times New Roman" panose="02020603050405020304" pitchFamily="18" charset="0"/>
                <a:ea typeface="Times New Roman" panose="02020603050405020304"/>
                <a:cs typeface="Times New Roman" panose="02020603050405020304"/>
              </a:rPr>
              <a:t>The task adapts a classic urn-drawing / bookbag-and-poker-chip belief-updating paradigm to a company-risk setting. Participants either enter the full evidence pool directly or begin with a summary-first answer, then decide whether to inspect additional evidence under the same search cost.</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8" name="矩形: 圆角 7"/>
          <p:cNvSpPr>
            <a:spLocks noGrp="1"/>
          </p:cNvSpPr>
          <p:nvPr/>
        </p:nvSpPr>
        <p:spPr>
          <a:xfrm>
            <a:off x="914400" y="2266950"/>
            <a:ext cx="4762500" cy="1409700"/>
          </a:xfrm>
          <a:prstGeom prst="roundRect">
            <a:avLst>
              <a:gd name="adj" fmla="val 5405"/>
            </a:avLst>
          </a:prstGeom>
          <a:solidFill>
            <a:srgbClr val="FFF9F0"/>
          </a:solidFill>
          <a:ln w="9525">
            <a:solidFill>
              <a:srgbClr val="E8DCCB"/>
            </a:solidFill>
            <a:prstDash val="solid"/>
          </a:ln>
        </p:spPr>
      </p:sp>
      <p:sp>
        <p:nvSpPr>
          <p:cNvPr id="9" name="矩形 8"/>
          <p:cNvSpPr>
            <a:spLocks noGrp="1"/>
          </p:cNvSpPr>
          <p:nvPr/>
        </p:nvSpPr>
        <p:spPr>
          <a:xfrm>
            <a:off x="914400" y="2266950"/>
            <a:ext cx="57150" cy="1409700"/>
          </a:xfrm>
          <a:prstGeom prst="rect">
            <a:avLst/>
          </a:prstGeom>
          <a:solidFill>
            <a:srgbClr val="B45A3C"/>
          </a:solidFill>
          <a:ln w="0">
            <a:solidFill>
              <a:srgbClr val="B45A3C"/>
            </a:solidFill>
            <a:prstDash val="solid"/>
          </a:ln>
        </p:spPr>
      </p:sp>
      <p:sp>
        <p:nvSpPr>
          <p:cNvPr id="10" name="矩形 9"/>
          <p:cNvSpPr>
            <a:spLocks noGrp="1"/>
          </p:cNvSpPr>
          <p:nvPr/>
        </p:nvSpPr>
        <p:spPr>
          <a:xfrm>
            <a:off x="1085850" y="2381250"/>
            <a:ext cx="4476750" cy="285750"/>
          </a:xfrm>
          <a:prstGeom prst="rect">
            <a:avLst/>
          </a:prstGeom>
          <a:noFill/>
          <a:ln w="0">
            <a:noFill/>
            <a:prstDash val="solid"/>
          </a:ln>
        </p:spPr>
        <p:txBody>
          <a:bodyPr/>
          <a:lstStyle/>
          <a:p>
            <a:pPr algn="l">
              <a:buNone/>
              <a:defRPr sz="1725" b="1" i="0">
                <a:solidFill>
                  <a:srgbClr val="1E2433"/>
                </a:solidFill>
                <a:latin typeface="Times New Roman" panose="02020603050405020304"/>
                <a:ea typeface="Times New Roman" panose="02020603050405020304"/>
                <a:cs typeface="Times New Roman" panose="02020603050405020304"/>
              </a:defRPr>
            </a:pPr>
            <a:r>
              <a:rPr lang="en-US" sz="1725" b="1" i="0">
                <a:solidFill>
                  <a:srgbClr val="1E2433"/>
                </a:solidFill>
                <a:latin typeface="Times New Roman" panose="02020603050405020304" pitchFamily="18" charset="0"/>
                <a:ea typeface="Times New Roman" panose="02020603050405020304"/>
                <a:cs typeface="Times New Roman" panose="02020603050405020304"/>
              </a:rPr>
              <a:t>Classical Bayesian prototype</a:t>
            </a:r>
            <a:endParaRPr sz="172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1" name="矩形 10"/>
          <p:cNvSpPr>
            <a:spLocks noGrp="1"/>
          </p:cNvSpPr>
          <p:nvPr/>
        </p:nvSpPr>
        <p:spPr>
          <a:xfrm>
            <a:off x="1085850" y="2724150"/>
            <a:ext cx="4476750" cy="838200"/>
          </a:xfrm>
          <a:prstGeom prst="rect">
            <a:avLst/>
          </a:prstGeom>
          <a:noFill/>
          <a:ln w="0">
            <a:noFill/>
            <a:prstDash val="solid"/>
          </a:ln>
        </p:spPr>
        <p:txBody>
          <a:bodyPr/>
          <a:lstStyle/>
          <a:p>
            <a:pPr algn="l">
              <a:buNone/>
              <a:defRPr sz="1275" b="0" i="0">
                <a:solidFill>
                  <a:srgbClr val="5E6675"/>
                </a:solidFill>
                <a:latin typeface="Times New Roman" panose="02020603050405020304"/>
                <a:ea typeface="Times New Roman" panose="02020603050405020304"/>
                <a:cs typeface="Times New Roman" panose="02020603050405020304"/>
              </a:defRPr>
            </a:pPr>
            <a:r>
              <a:rPr lang="en-US" sz="1275" b="0" i="0">
                <a:solidFill>
                  <a:srgbClr val="5E6675"/>
                </a:solidFill>
                <a:latin typeface="Times New Roman" panose="02020603050405020304" pitchFamily="18" charset="0"/>
                <a:ea typeface="Times New Roman" panose="02020603050405020304"/>
                <a:cs typeface="Times New Roman" panose="02020603050405020304"/>
              </a:rPr>
              <a:t>A fixed evidence environment allows posterior judgments to be benchmarked against a normative updating rule.</a:t>
            </a:r>
            <a:endParaRPr sz="127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2" name="矩形: 圆角 11"/>
          <p:cNvSpPr>
            <a:spLocks noGrp="1"/>
          </p:cNvSpPr>
          <p:nvPr/>
        </p:nvSpPr>
        <p:spPr>
          <a:xfrm>
            <a:off x="6438900" y="2266950"/>
            <a:ext cx="4762500" cy="1409700"/>
          </a:xfrm>
          <a:prstGeom prst="roundRect">
            <a:avLst>
              <a:gd name="adj" fmla="val 5405"/>
            </a:avLst>
          </a:prstGeom>
          <a:solidFill>
            <a:srgbClr val="FFF9F0"/>
          </a:solidFill>
          <a:ln w="9525">
            <a:solidFill>
              <a:srgbClr val="E8DCCB"/>
            </a:solidFill>
            <a:prstDash val="solid"/>
          </a:ln>
        </p:spPr>
      </p:sp>
      <p:sp>
        <p:nvSpPr>
          <p:cNvPr id="13" name="矩形 12"/>
          <p:cNvSpPr>
            <a:spLocks noGrp="1"/>
          </p:cNvSpPr>
          <p:nvPr/>
        </p:nvSpPr>
        <p:spPr>
          <a:xfrm>
            <a:off x="6438900" y="2266950"/>
            <a:ext cx="57150" cy="1409700"/>
          </a:xfrm>
          <a:prstGeom prst="rect">
            <a:avLst/>
          </a:prstGeom>
          <a:solidFill>
            <a:srgbClr val="C89B4A"/>
          </a:solidFill>
          <a:ln w="0">
            <a:solidFill>
              <a:srgbClr val="C89B4A"/>
            </a:solidFill>
            <a:prstDash val="solid"/>
          </a:ln>
        </p:spPr>
      </p:sp>
      <p:sp>
        <p:nvSpPr>
          <p:cNvPr id="14" name="矩形 13"/>
          <p:cNvSpPr>
            <a:spLocks noGrp="1"/>
          </p:cNvSpPr>
          <p:nvPr/>
        </p:nvSpPr>
        <p:spPr>
          <a:xfrm>
            <a:off x="6610350" y="2381250"/>
            <a:ext cx="4476750" cy="285750"/>
          </a:xfrm>
          <a:prstGeom prst="rect">
            <a:avLst/>
          </a:prstGeom>
          <a:noFill/>
          <a:ln w="0">
            <a:noFill/>
            <a:prstDash val="solid"/>
          </a:ln>
        </p:spPr>
        <p:txBody>
          <a:bodyPr/>
          <a:lstStyle/>
          <a:p>
            <a:pPr algn="l">
              <a:buNone/>
              <a:defRPr sz="1725" b="1" i="0">
                <a:solidFill>
                  <a:srgbClr val="1E2433"/>
                </a:solidFill>
                <a:latin typeface="Times New Roman" panose="02020603050405020304"/>
                <a:ea typeface="Times New Roman" panose="02020603050405020304"/>
                <a:cs typeface="Times New Roman" panose="02020603050405020304"/>
              </a:defRPr>
            </a:pPr>
            <a:r>
              <a:rPr lang="en-US" sz="1725" b="1" i="0">
                <a:solidFill>
                  <a:srgbClr val="1E2433"/>
                </a:solidFill>
                <a:latin typeface="Times New Roman" panose="02020603050405020304" pitchFamily="18" charset="0"/>
                <a:ea typeface="Times New Roman" panose="02020603050405020304"/>
                <a:cs typeface="Times New Roman" panose="02020603050405020304"/>
              </a:rPr>
              <a:t>Company-risk contextualization</a:t>
            </a:r>
            <a:endParaRPr sz="172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5" name="矩形 14"/>
          <p:cNvSpPr>
            <a:spLocks noGrp="1"/>
          </p:cNvSpPr>
          <p:nvPr/>
        </p:nvSpPr>
        <p:spPr>
          <a:xfrm>
            <a:off x="6610350" y="2724150"/>
            <a:ext cx="4476750" cy="838200"/>
          </a:xfrm>
          <a:prstGeom prst="rect">
            <a:avLst/>
          </a:prstGeom>
          <a:noFill/>
          <a:ln w="0">
            <a:noFill/>
            <a:prstDash val="solid"/>
          </a:ln>
        </p:spPr>
        <p:txBody>
          <a:bodyPr/>
          <a:lstStyle/>
          <a:p>
            <a:pPr algn="l">
              <a:buNone/>
              <a:defRPr sz="1275" b="0" i="0">
                <a:solidFill>
                  <a:srgbClr val="5E6675"/>
                </a:solidFill>
                <a:latin typeface="Times New Roman" panose="02020603050405020304"/>
                <a:ea typeface="Times New Roman" panose="02020603050405020304"/>
                <a:cs typeface="Times New Roman" panose="02020603050405020304"/>
              </a:defRPr>
            </a:pPr>
            <a:r>
              <a:rPr lang="en-US" sz="1275" b="0" i="0">
                <a:solidFill>
                  <a:srgbClr val="5E6675"/>
                </a:solidFill>
                <a:latin typeface="Times New Roman" panose="02020603050405020304" pitchFamily="18" charset="0"/>
                <a:ea typeface="Times New Roman" panose="02020603050405020304"/>
                <a:cs typeface="Times New Roman" panose="02020603050405020304"/>
              </a:rPr>
              <a:t>The abstract belief-updating task is reframed as judging whether a focal company faces substantial hidden risk.</a:t>
            </a:r>
            <a:endParaRPr sz="127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6" name="矩形: 圆角 15"/>
          <p:cNvSpPr>
            <a:spLocks noGrp="1"/>
          </p:cNvSpPr>
          <p:nvPr/>
        </p:nvSpPr>
        <p:spPr>
          <a:xfrm>
            <a:off x="914400" y="3943350"/>
            <a:ext cx="4762500" cy="1409700"/>
          </a:xfrm>
          <a:prstGeom prst="roundRect">
            <a:avLst>
              <a:gd name="adj" fmla="val 5405"/>
            </a:avLst>
          </a:prstGeom>
          <a:solidFill>
            <a:srgbClr val="FFF9F0"/>
          </a:solidFill>
          <a:ln w="9525">
            <a:solidFill>
              <a:srgbClr val="E8DCCB"/>
            </a:solidFill>
            <a:prstDash val="solid"/>
          </a:ln>
        </p:spPr>
      </p:sp>
      <p:sp>
        <p:nvSpPr>
          <p:cNvPr id="17" name="矩形 16"/>
          <p:cNvSpPr>
            <a:spLocks noGrp="1"/>
          </p:cNvSpPr>
          <p:nvPr/>
        </p:nvSpPr>
        <p:spPr>
          <a:xfrm>
            <a:off x="914400" y="3943350"/>
            <a:ext cx="57150" cy="1409700"/>
          </a:xfrm>
          <a:prstGeom prst="rect">
            <a:avLst/>
          </a:prstGeom>
          <a:solidFill>
            <a:srgbClr val="B45A3C"/>
          </a:solidFill>
          <a:ln w="0">
            <a:solidFill>
              <a:srgbClr val="B45A3C"/>
            </a:solidFill>
            <a:prstDash val="solid"/>
          </a:ln>
        </p:spPr>
      </p:sp>
      <p:sp>
        <p:nvSpPr>
          <p:cNvPr id="18" name="矩形 17"/>
          <p:cNvSpPr>
            <a:spLocks noGrp="1"/>
          </p:cNvSpPr>
          <p:nvPr/>
        </p:nvSpPr>
        <p:spPr>
          <a:xfrm>
            <a:off x="1085850" y="4057650"/>
            <a:ext cx="4476750" cy="285750"/>
          </a:xfrm>
          <a:prstGeom prst="rect">
            <a:avLst/>
          </a:prstGeom>
          <a:noFill/>
          <a:ln w="0">
            <a:noFill/>
            <a:prstDash val="solid"/>
          </a:ln>
        </p:spPr>
        <p:txBody>
          <a:bodyPr/>
          <a:lstStyle/>
          <a:p>
            <a:pPr algn="l">
              <a:buNone/>
              <a:defRPr sz="1725" b="1" i="0">
                <a:solidFill>
                  <a:srgbClr val="1E2433"/>
                </a:solidFill>
                <a:latin typeface="Times New Roman" panose="02020603050405020304"/>
                <a:ea typeface="Times New Roman" panose="02020603050405020304"/>
                <a:cs typeface="Times New Roman" panose="02020603050405020304"/>
              </a:defRPr>
            </a:pPr>
            <a:r>
              <a:rPr lang="en-US" sz="1725" b="1" i="0">
                <a:solidFill>
                  <a:srgbClr val="1E2433"/>
                </a:solidFill>
                <a:latin typeface="Times New Roman" panose="02020603050405020304" pitchFamily="18" charset="0"/>
                <a:ea typeface="Times New Roman" panose="02020603050405020304"/>
                <a:cs typeface="Times New Roman" panose="02020603050405020304"/>
              </a:rPr>
              <a:t>Summary-first presentation</a:t>
            </a:r>
            <a:endParaRPr sz="172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9" name="矩形 18"/>
          <p:cNvSpPr>
            <a:spLocks noGrp="1"/>
          </p:cNvSpPr>
          <p:nvPr/>
        </p:nvSpPr>
        <p:spPr>
          <a:xfrm>
            <a:off x="1085850" y="4400550"/>
            <a:ext cx="4476750" cy="838200"/>
          </a:xfrm>
          <a:prstGeom prst="rect">
            <a:avLst/>
          </a:prstGeom>
          <a:noFill/>
          <a:ln w="0">
            <a:noFill/>
            <a:prstDash val="solid"/>
          </a:ln>
        </p:spPr>
        <p:txBody>
          <a:bodyPr/>
          <a:lstStyle/>
          <a:p>
            <a:pPr algn="l">
              <a:buNone/>
              <a:defRPr sz="1275" b="0" i="0">
                <a:solidFill>
                  <a:srgbClr val="5E6675"/>
                </a:solidFill>
                <a:latin typeface="Times New Roman" panose="02020603050405020304"/>
                <a:ea typeface="Times New Roman" panose="02020603050405020304"/>
                <a:cs typeface="Times New Roman" panose="02020603050405020304"/>
              </a:defRPr>
            </a:pPr>
            <a:r>
              <a:rPr lang="en-US" sz="1275" b="0" i="0">
                <a:solidFill>
                  <a:srgbClr val="5E6675"/>
                </a:solidFill>
                <a:latin typeface="Times New Roman" panose="02020603050405020304" pitchFamily="18" charset="0"/>
                <a:ea typeface="Times New Roman" panose="02020603050405020304"/>
                <a:cs typeface="Times New Roman" panose="02020603050405020304"/>
              </a:rPr>
              <a:t>Some participants receive an initial answer before they see raw evidence, recreating a generative-AI interaction sequence.</a:t>
            </a:r>
            <a:endParaRPr sz="127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20" name="矩形: 圆角 19"/>
          <p:cNvSpPr>
            <a:spLocks noGrp="1"/>
          </p:cNvSpPr>
          <p:nvPr/>
        </p:nvSpPr>
        <p:spPr>
          <a:xfrm>
            <a:off x="6438900" y="3943350"/>
            <a:ext cx="4762500" cy="1409700"/>
          </a:xfrm>
          <a:prstGeom prst="roundRect">
            <a:avLst>
              <a:gd name="adj" fmla="val 5405"/>
            </a:avLst>
          </a:prstGeom>
          <a:solidFill>
            <a:srgbClr val="FFF9F0"/>
          </a:solidFill>
          <a:ln w="9525">
            <a:solidFill>
              <a:srgbClr val="E8DCCB"/>
            </a:solidFill>
            <a:prstDash val="solid"/>
          </a:ln>
        </p:spPr>
      </p:sp>
      <p:sp>
        <p:nvSpPr>
          <p:cNvPr id="21" name="矩形 20"/>
          <p:cNvSpPr>
            <a:spLocks noGrp="1"/>
          </p:cNvSpPr>
          <p:nvPr/>
        </p:nvSpPr>
        <p:spPr>
          <a:xfrm>
            <a:off x="6438900" y="3943350"/>
            <a:ext cx="57150" cy="1409700"/>
          </a:xfrm>
          <a:prstGeom prst="rect">
            <a:avLst/>
          </a:prstGeom>
          <a:solidFill>
            <a:srgbClr val="C89B4A"/>
          </a:solidFill>
          <a:ln w="0">
            <a:solidFill>
              <a:srgbClr val="C89B4A"/>
            </a:solidFill>
            <a:prstDash val="solid"/>
          </a:ln>
        </p:spPr>
      </p:sp>
      <p:sp>
        <p:nvSpPr>
          <p:cNvPr id="22" name="矩形 21"/>
          <p:cNvSpPr>
            <a:spLocks noGrp="1"/>
          </p:cNvSpPr>
          <p:nvPr/>
        </p:nvSpPr>
        <p:spPr>
          <a:xfrm>
            <a:off x="6610350" y="4057650"/>
            <a:ext cx="4476750" cy="285750"/>
          </a:xfrm>
          <a:prstGeom prst="rect">
            <a:avLst/>
          </a:prstGeom>
          <a:noFill/>
          <a:ln w="0">
            <a:noFill/>
            <a:prstDash val="solid"/>
          </a:ln>
        </p:spPr>
        <p:txBody>
          <a:bodyPr/>
          <a:lstStyle/>
          <a:p>
            <a:pPr algn="l">
              <a:buNone/>
              <a:defRPr sz="1725" b="1" i="0">
                <a:solidFill>
                  <a:srgbClr val="1E2433"/>
                </a:solidFill>
                <a:latin typeface="Times New Roman" panose="02020603050405020304"/>
                <a:ea typeface="Times New Roman" panose="02020603050405020304"/>
                <a:cs typeface="Times New Roman" panose="02020603050405020304"/>
              </a:defRPr>
            </a:pPr>
            <a:r>
              <a:rPr lang="en-US" sz="1725" b="1" i="0">
                <a:solidFill>
                  <a:srgbClr val="1E2433"/>
                </a:solidFill>
                <a:latin typeface="Times New Roman" panose="02020603050405020304" pitchFamily="18" charset="0"/>
                <a:ea typeface="Times New Roman" panose="02020603050405020304"/>
                <a:cs typeface="Times New Roman" panose="02020603050405020304"/>
              </a:rPr>
              <a:t>Common follow-on search</a:t>
            </a:r>
            <a:endParaRPr sz="172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23" name="矩形 22"/>
          <p:cNvSpPr>
            <a:spLocks noGrp="1"/>
          </p:cNvSpPr>
          <p:nvPr/>
        </p:nvSpPr>
        <p:spPr>
          <a:xfrm>
            <a:off x="6610350" y="4400550"/>
            <a:ext cx="4476750" cy="838200"/>
          </a:xfrm>
          <a:prstGeom prst="rect">
            <a:avLst/>
          </a:prstGeom>
          <a:noFill/>
          <a:ln w="0">
            <a:noFill/>
            <a:prstDash val="solid"/>
          </a:ln>
        </p:spPr>
        <p:txBody>
          <a:bodyPr/>
          <a:lstStyle/>
          <a:p>
            <a:pPr algn="l">
              <a:buNone/>
              <a:defRPr sz="1275" b="0" i="0">
                <a:solidFill>
                  <a:srgbClr val="5E6675"/>
                </a:solidFill>
                <a:latin typeface="Times New Roman" panose="02020603050405020304"/>
                <a:ea typeface="Times New Roman" panose="02020603050405020304"/>
                <a:cs typeface="Times New Roman" panose="02020603050405020304"/>
              </a:defRPr>
            </a:pPr>
            <a:r>
              <a:rPr lang="en-US" sz="1275" b="0" i="0">
                <a:solidFill>
                  <a:srgbClr val="5E6675"/>
                </a:solidFill>
                <a:latin typeface="Times New Roman" panose="02020603050405020304" pitchFamily="18" charset="0"/>
                <a:ea typeface="Times New Roman" panose="02020603050405020304"/>
                <a:cs typeface="Times New Roman" panose="02020603050405020304"/>
              </a:rPr>
              <a:t>All groups can inspect additional evidence from the same full pool at the same marginal search cost.</a:t>
            </a:r>
            <a:endParaRPr sz="1275" b="0" i="0">
              <a:solidFill>
                <a:srgbClr val="5E6675"/>
              </a:solidFill>
              <a:latin typeface="Times New Roman" panose="02020603050405020304" pitchFamily="18" charset="0"/>
              <a:ea typeface="Times New Roman" panose="02020603050405020304"/>
              <a:cs typeface="Times New Roman" panose="020206030504050203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a:xfrm>
          <a:off x="0" y="0"/>
          <a:ext cx="0" cy="0"/>
          <a:chOff x="0" y="0"/>
          <a:chExt cx="0" cy="0"/>
        </a:xfrm>
      </p:grpSpPr>
      <p:sp>
        <p:nvSpPr>
          <p:cNvPr id="32" name="椭圆 31"/>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DESIGN</a:t>
            </a:r>
          </a:p>
        </p:txBody>
      </p:sp>
      <p:sp>
        <p:nvSpPr>
          <p:cNvPr id="6" name="矩形 5"/>
          <p:cNvSpPr>
            <a:spLocks noGrp="1"/>
          </p:cNvSpPr>
          <p:nvPr/>
        </p:nvSpPr>
        <p:spPr>
          <a:xfrm>
            <a:off x="914400" y="914400"/>
            <a:ext cx="9715500" cy="704850"/>
          </a:xfrm>
          <a:prstGeom prst="rect">
            <a:avLst/>
          </a:prstGeom>
          <a:noFill/>
          <a:ln w="0">
            <a:noFill/>
            <a:prstDash val="solid"/>
          </a:ln>
        </p:spPr>
        <p:txBody>
          <a:bodyPr/>
          <a:lstStyle/>
          <a:p>
            <a:pPr algn="l">
              <a:buNone/>
              <a:defRPr sz="2475" b="1" i="0">
                <a:solidFill>
                  <a:srgbClr val="1E2433"/>
                </a:solidFill>
                <a:latin typeface="Times New Roman" panose="02020603050405020304"/>
                <a:ea typeface="Times New Roman" panose="02020603050405020304"/>
                <a:cs typeface="Times New Roman" panose="02020603050405020304"/>
              </a:defRPr>
            </a:pPr>
            <a:r>
              <a:rPr sz="2475" b="1" i="0">
                <a:solidFill>
                  <a:srgbClr val="1E2433"/>
                </a:solidFill>
                <a:latin typeface="Times New Roman" panose="02020603050405020304" pitchFamily="18" charset="0"/>
                <a:ea typeface="Times New Roman" panose="02020603050405020304"/>
                <a:cs typeface="Times New Roman" panose="02020603050405020304"/>
              </a:rPr>
              <a:t>The experiment has five groups built on one shared evidence pool</a:t>
            </a: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One baseline enters the full evidence pool directly, and four summary groups vary completeness and source label.</a:t>
            </a:r>
          </a:p>
        </p:txBody>
      </p:sp>
      <p:sp>
        <p:nvSpPr>
          <p:cNvPr id="8" name="矩形: 圆角 7"/>
          <p:cNvSpPr>
            <a:spLocks noGrp="1"/>
          </p:cNvSpPr>
          <p:nvPr/>
        </p:nvSpPr>
        <p:spPr>
          <a:xfrm>
            <a:off x="914400" y="2381250"/>
            <a:ext cx="1905000" cy="2038350"/>
          </a:xfrm>
          <a:prstGeom prst="roundRect">
            <a:avLst>
              <a:gd name="adj" fmla="val 4000"/>
            </a:avLst>
          </a:prstGeom>
          <a:solidFill>
            <a:srgbClr val="FFF9F0"/>
          </a:solidFill>
          <a:ln w="9525">
            <a:solidFill>
              <a:srgbClr val="E8DCCB"/>
            </a:solidFill>
            <a:prstDash val="solid"/>
          </a:ln>
        </p:spPr>
      </p:sp>
      <p:sp>
        <p:nvSpPr>
          <p:cNvPr id="9" name="矩形 8"/>
          <p:cNvSpPr>
            <a:spLocks noGrp="1"/>
          </p:cNvSpPr>
          <p:nvPr/>
        </p:nvSpPr>
        <p:spPr>
          <a:xfrm>
            <a:off x="914400" y="2381250"/>
            <a:ext cx="57150" cy="2038350"/>
          </a:xfrm>
          <a:prstGeom prst="rect">
            <a:avLst/>
          </a:prstGeom>
          <a:solidFill>
            <a:srgbClr val="78836A"/>
          </a:solidFill>
          <a:ln w="0">
            <a:solidFill>
              <a:srgbClr val="78836A"/>
            </a:solidFill>
            <a:prstDash val="solid"/>
          </a:ln>
        </p:spPr>
      </p:sp>
      <p:sp>
        <p:nvSpPr>
          <p:cNvPr id="10" name="矩形 9"/>
          <p:cNvSpPr>
            <a:spLocks noGrp="1"/>
          </p:cNvSpPr>
          <p:nvPr/>
        </p:nvSpPr>
        <p:spPr>
          <a:xfrm>
            <a:off x="1085850" y="2495550"/>
            <a:ext cx="1619250" cy="285750"/>
          </a:xfrm>
          <a:prstGeom prst="rect">
            <a:avLst/>
          </a:prstGeom>
          <a:noFill/>
          <a:ln w="0">
            <a:noFill/>
            <a:prstDash val="solid"/>
          </a:ln>
        </p:spPr>
        <p:txBody>
          <a:bodyPr/>
          <a:lstStyle/>
          <a:p>
            <a:pPr algn="l">
              <a:buNone/>
              <a:defRPr sz="1650" b="1" i="0">
                <a:solidFill>
                  <a:srgbClr val="1E2433"/>
                </a:solidFill>
                <a:latin typeface="Times New Roman" panose="02020603050405020304"/>
                <a:ea typeface="Times New Roman" panose="02020603050405020304"/>
                <a:cs typeface="Times New Roman" panose="02020603050405020304"/>
              </a:defRPr>
            </a:pPr>
            <a:r>
              <a:rPr sz="1650" b="1" i="0">
                <a:solidFill>
                  <a:srgbClr val="1E2433"/>
                </a:solidFill>
                <a:latin typeface="Times New Roman" panose="02020603050405020304" pitchFamily="18" charset="0"/>
                <a:ea typeface="Times New Roman" panose="02020603050405020304"/>
                <a:cs typeface="Times New Roman" panose="02020603050405020304"/>
              </a:rPr>
              <a:t>Baseline</a:t>
            </a:r>
          </a:p>
        </p:txBody>
      </p:sp>
      <p:sp>
        <p:nvSpPr>
          <p:cNvPr id="11" name="矩形 10"/>
          <p:cNvSpPr>
            <a:spLocks noGrp="1"/>
          </p:cNvSpPr>
          <p:nvPr/>
        </p:nvSpPr>
        <p:spPr>
          <a:xfrm>
            <a:off x="1085850" y="2838450"/>
            <a:ext cx="1619250" cy="14668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No summary</a:t>
            </a: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Direct entry to the evidence pool</a:t>
            </a:r>
          </a:p>
        </p:txBody>
      </p:sp>
      <p:sp>
        <p:nvSpPr>
          <p:cNvPr id="12" name="矩形: 圆角 11"/>
          <p:cNvSpPr>
            <a:spLocks noGrp="1"/>
          </p:cNvSpPr>
          <p:nvPr/>
        </p:nvSpPr>
        <p:spPr>
          <a:xfrm>
            <a:off x="3048000" y="2381250"/>
            <a:ext cx="2038350" cy="2038350"/>
          </a:xfrm>
          <a:prstGeom prst="roundRect">
            <a:avLst>
              <a:gd name="adj" fmla="val 3738"/>
            </a:avLst>
          </a:prstGeom>
          <a:solidFill>
            <a:srgbClr val="FFF9F0"/>
          </a:solidFill>
          <a:ln w="9525">
            <a:solidFill>
              <a:srgbClr val="E8DCCB"/>
            </a:solidFill>
            <a:prstDash val="solid"/>
          </a:ln>
        </p:spPr>
      </p:sp>
      <p:sp>
        <p:nvSpPr>
          <p:cNvPr id="13" name="矩形 12"/>
          <p:cNvSpPr>
            <a:spLocks noGrp="1"/>
          </p:cNvSpPr>
          <p:nvPr/>
        </p:nvSpPr>
        <p:spPr>
          <a:xfrm>
            <a:off x="3048000" y="2381250"/>
            <a:ext cx="57150" cy="2038350"/>
          </a:xfrm>
          <a:prstGeom prst="rect">
            <a:avLst/>
          </a:prstGeom>
          <a:solidFill>
            <a:srgbClr val="C89B4A"/>
          </a:solidFill>
          <a:ln w="0">
            <a:solidFill>
              <a:srgbClr val="C89B4A"/>
            </a:solidFill>
            <a:prstDash val="solid"/>
          </a:ln>
        </p:spPr>
      </p:sp>
      <p:sp>
        <p:nvSpPr>
          <p:cNvPr id="14" name="矩形 13"/>
          <p:cNvSpPr>
            <a:spLocks noGrp="1"/>
          </p:cNvSpPr>
          <p:nvPr/>
        </p:nvSpPr>
        <p:spPr>
          <a:xfrm>
            <a:off x="3219450" y="2495550"/>
            <a:ext cx="175260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Complete</a:t>
            </a:r>
          </a:p>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No label</a:t>
            </a:r>
          </a:p>
        </p:txBody>
      </p:sp>
      <p:sp>
        <p:nvSpPr>
          <p:cNvPr id="15" name="矩形 14"/>
          <p:cNvSpPr>
            <a:spLocks noGrp="1"/>
          </p:cNvSpPr>
          <p:nvPr/>
        </p:nvSpPr>
        <p:spPr>
          <a:xfrm>
            <a:off x="3219450" y="2838450"/>
            <a:ext cx="1752600" cy="14668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Representative summary</a:t>
            </a:r>
          </a:p>
        </p:txBody>
      </p:sp>
      <p:sp>
        <p:nvSpPr>
          <p:cNvPr id="16" name="矩形: 圆角 15"/>
          <p:cNvSpPr>
            <a:spLocks noGrp="1"/>
          </p:cNvSpPr>
          <p:nvPr/>
        </p:nvSpPr>
        <p:spPr>
          <a:xfrm>
            <a:off x="5219700" y="2381250"/>
            <a:ext cx="2038350" cy="2038350"/>
          </a:xfrm>
          <a:prstGeom prst="roundRect">
            <a:avLst>
              <a:gd name="adj" fmla="val 3738"/>
            </a:avLst>
          </a:prstGeom>
          <a:solidFill>
            <a:srgbClr val="FFF9F0"/>
          </a:solidFill>
          <a:ln w="9525">
            <a:solidFill>
              <a:srgbClr val="E8DCCB"/>
            </a:solidFill>
            <a:prstDash val="solid"/>
          </a:ln>
        </p:spPr>
      </p:sp>
      <p:sp>
        <p:nvSpPr>
          <p:cNvPr id="17" name="矩形 16"/>
          <p:cNvSpPr>
            <a:spLocks noGrp="1"/>
          </p:cNvSpPr>
          <p:nvPr/>
        </p:nvSpPr>
        <p:spPr>
          <a:xfrm>
            <a:off x="5219700" y="2381250"/>
            <a:ext cx="57150" cy="2038350"/>
          </a:xfrm>
          <a:prstGeom prst="rect">
            <a:avLst/>
          </a:prstGeom>
          <a:solidFill>
            <a:srgbClr val="B45A3C"/>
          </a:solidFill>
          <a:ln w="0">
            <a:solidFill>
              <a:srgbClr val="B45A3C"/>
            </a:solidFill>
            <a:prstDash val="solid"/>
          </a:ln>
        </p:spPr>
      </p:sp>
      <p:sp>
        <p:nvSpPr>
          <p:cNvPr id="18" name="矩形 17"/>
          <p:cNvSpPr>
            <a:spLocks noGrp="1"/>
          </p:cNvSpPr>
          <p:nvPr/>
        </p:nvSpPr>
        <p:spPr>
          <a:xfrm>
            <a:off x="5391150" y="2495550"/>
            <a:ext cx="175260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Complete</a:t>
            </a:r>
          </a:p>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AI label</a:t>
            </a:r>
          </a:p>
        </p:txBody>
      </p:sp>
      <p:sp>
        <p:nvSpPr>
          <p:cNvPr id="19" name="矩形 18"/>
          <p:cNvSpPr>
            <a:spLocks noGrp="1"/>
          </p:cNvSpPr>
          <p:nvPr/>
        </p:nvSpPr>
        <p:spPr>
          <a:xfrm>
            <a:off x="5391150" y="2838450"/>
            <a:ext cx="1752600" cy="14668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Representative summary</a:t>
            </a:r>
          </a:p>
        </p:txBody>
      </p:sp>
      <p:sp>
        <p:nvSpPr>
          <p:cNvPr id="20" name="矩形: 圆角 19"/>
          <p:cNvSpPr>
            <a:spLocks noGrp="1"/>
          </p:cNvSpPr>
          <p:nvPr/>
        </p:nvSpPr>
        <p:spPr>
          <a:xfrm>
            <a:off x="7391400" y="2381250"/>
            <a:ext cx="2038350" cy="2038350"/>
          </a:xfrm>
          <a:prstGeom prst="roundRect">
            <a:avLst>
              <a:gd name="adj" fmla="val 3738"/>
            </a:avLst>
          </a:prstGeom>
          <a:solidFill>
            <a:srgbClr val="FFF9F0"/>
          </a:solidFill>
          <a:ln w="9525">
            <a:solidFill>
              <a:srgbClr val="E8DCCB"/>
            </a:solidFill>
            <a:prstDash val="solid"/>
          </a:ln>
        </p:spPr>
      </p:sp>
      <p:sp>
        <p:nvSpPr>
          <p:cNvPr id="21" name="矩形 20"/>
          <p:cNvSpPr>
            <a:spLocks noGrp="1"/>
          </p:cNvSpPr>
          <p:nvPr/>
        </p:nvSpPr>
        <p:spPr>
          <a:xfrm>
            <a:off x="7391400" y="2381250"/>
            <a:ext cx="57150" cy="2038350"/>
          </a:xfrm>
          <a:prstGeom prst="rect">
            <a:avLst/>
          </a:prstGeom>
          <a:solidFill>
            <a:srgbClr val="C89B4A"/>
          </a:solidFill>
          <a:ln w="0">
            <a:solidFill>
              <a:srgbClr val="C89B4A"/>
            </a:solidFill>
            <a:prstDash val="solid"/>
          </a:ln>
        </p:spPr>
      </p:sp>
      <p:sp>
        <p:nvSpPr>
          <p:cNvPr id="22" name="矩形 21"/>
          <p:cNvSpPr>
            <a:spLocks noGrp="1"/>
          </p:cNvSpPr>
          <p:nvPr/>
        </p:nvSpPr>
        <p:spPr>
          <a:xfrm>
            <a:off x="7562850" y="2495550"/>
            <a:ext cx="175260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An AI summary-assisted evidence search task in a company-risk judgment setting</a:t>
            </a:r>
          </a:p>
        </p:txBody>
      </p:sp>
      <p:sp>
        <p:nvSpPr>
          <p:cNvPr id="23" name="矩形 22"/>
          <p:cNvSpPr>
            <a:spLocks noGrp="1"/>
          </p:cNvSpPr>
          <p:nvPr/>
        </p:nvSpPr>
        <p:spPr>
          <a:xfrm>
            <a:off x="7562850" y="2838450"/>
            <a:ext cx="1752600" cy="14668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design adapts a classic urn-drawing / bookbag-and-poker-chip belief-updating task and adds summary-first presentation plus follow-on evidence search.</a:t>
            </a:r>
          </a:p>
        </p:txBody>
      </p:sp>
      <p:sp>
        <p:nvSpPr>
          <p:cNvPr id="24" name="矩形: 圆角 23"/>
          <p:cNvSpPr>
            <a:spLocks noGrp="1"/>
          </p:cNvSpPr>
          <p:nvPr/>
        </p:nvSpPr>
        <p:spPr>
          <a:xfrm>
            <a:off x="9563100" y="2381250"/>
            <a:ext cx="2038350" cy="2038350"/>
          </a:xfrm>
          <a:prstGeom prst="roundRect">
            <a:avLst>
              <a:gd name="adj" fmla="val 3738"/>
            </a:avLst>
          </a:prstGeom>
          <a:solidFill>
            <a:srgbClr val="FFF9F0"/>
          </a:solidFill>
          <a:ln w="9525">
            <a:solidFill>
              <a:srgbClr val="E8DCCB"/>
            </a:solidFill>
            <a:prstDash val="solid"/>
          </a:ln>
        </p:spPr>
      </p:sp>
      <p:sp>
        <p:nvSpPr>
          <p:cNvPr id="25" name="矩形 24"/>
          <p:cNvSpPr>
            <a:spLocks noGrp="1"/>
          </p:cNvSpPr>
          <p:nvPr/>
        </p:nvSpPr>
        <p:spPr>
          <a:xfrm>
            <a:off x="9563100" y="2381250"/>
            <a:ext cx="57150" cy="2038350"/>
          </a:xfrm>
          <a:prstGeom prst="rect">
            <a:avLst/>
          </a:prstGeom>
          <a:solidFill>
            <a:srgbClr val="B45A3C"/>
          </a:solidFill>
          <a:ln w="0">
            <a:solidFill>
              <a:srgbClr val="B45A3C"/>
            </a:solidFill>
            <a:prstDash val="solid"/>
          </a:ln>
        </p:spPr>
      </p:sp>
      <p:sp>
        <p:nvSpPr>
          <p:cNvPr id="26" name="矩形 25"/>
          <p:cNvSpPr>
            <a:spLocks noGrp="1"/>
          </p:cNvSpPr>
          <p:nvPr/>
        </p:nvSpPr>
        <p:spPr>
          <a:xfrm>
            <a:off x="9734550" y="2495550"/>
            <a:ext cx="175260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Incomplete</a:t>
            </a:r>
          </a:p>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AI label</a:t>
            </a:r>
          </a:p>
        </p:txBody>
      </p:sp>
      <p:sp>
        <p:nvSpPr>
          <p:cNvPr id="27" name="矩形 26"/>
          <p:cNvSpPr>
            <a:spLocks noGrp="1"/>
          </p:cNvSpPr>
          <p:nvPr/>
        </p:nvSpPr>
        <p:spPr>
          <a:xfrm>
            <a:off x="9734550" y="2838450"/>
            <a:ext cx="1752600" cy="14668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Incomplete summary</a:t>
            </a:r>
          </a:p>
        </p:txBody>
      </p:sp>
      <p:sp>
        <p:nvSpPr>
          <p:cNvPr id="28" name="矩形: 圆角 27"/>
          <p:cNvSpPr>
            <a:spLocks noGrp="1"/>
          </p:cNvSpPr>
          <p:nvPr/>
        </p:nvSpPr>
        <p:spPr>
          <a:xfrm>
            <a:off x="1714500" y="4953000"/>
            <a:ext cx="8763000" cy="876300"/>
          </a:xfrm>
          <a:prstGeom prst="roundRect">
            <a:avLst>
              <a:gd name="adj" fmla="val 8696"/>
            </a:avLst>
          </a:prstGeom>
          <a:solidFill>
            <a:srgbClr val="FFF9F0"/>
          </a:solidFill>
          <a:ln w="9525">
            <a:solidFill>
              <a:srgbClr val="E8DCCB"/>
            </a:solidFill>
            <a:prstDash val="solid"/>
          </a:ln>
        </p:spPr>
      </p:sp>
      <p:sp>
        <p:nvSpPr>
          <p:cNvPr id="29" name="矩形 28"/>
          <p:cNvSpPr>
            <a:spLocks noGrp="1"/>
          </p:cNvSpPr>
          <p:nvPr/>
        </p:nvSpPr>
        <p:spPr>
          <a:xfrm>
            <a:off x="1714500" y="4953000"/>
            <a:ext cx="57150" cy="876300"/>
          </a:xfrm>
          <a:prstGeom prst="rect">
            <a:avLst/>
          </a:prstGeom>
          <a:solidFill>
            <a:srgbClr val="B45A3C"/>
          </a:solidFill>
          <a:ln w="0">
            <a:solidFill>
              <a:srgbClr val="B45A3C"/>
            </a:solidFill>
            <a:prstDash val="solid"/>
          </a:ln>
        </p:spPr>
      </p:sp>
      <p:sp>
        <p:nvSpPr>
          <p:cNvPr id="30" name="矩形 29"/>
          <p:cNvSpPr>
            <a:spLocks noGrp="1"/>
          </p:cNvSpPr>
          <p:nvPr/>
        </p:nvSpPr>
        <p:spPr>
          <a:xfrm>
            <a:off x="1885950" y="5067300"/>
            <a:ext cx="8477250" cy="285750"/>
          </a:xfrm>
          <a:prstGeom prst="rect">
            <a:avLst/>
          </a:prstGeom>
          <a:noFill/>
          <a:ln w="0">
            <a:noFill/>
            <a:prstDash val="solid"/>
          </a:ln>
        </p:spPr>
        <p:txBody>
          <a:bodyPr/>
          <a:lstStyle/>
          <a:p>
            <a:pPr algn="l">
              <a:buNone/>
              <a:defRPr sz="1650" b="1" i="0">
                <a:solidFill>
                  <a:srgbClr val="1E2433"/>
                </a:solidFill>
                <a:latin typeface="Times New Roman" panose="02020603050405020304"/>
                <a:ea typeface="Times New Roman" panose="02020603050405020304"/>
                <a:cs typeface="Times New Roman" panose="02020603050405020304"/>
              </a:defRPr>
            </a:pPr>
            <a:r>
              <a:rPr sz="1650" b="1" i="0">
                <a:solidFill>
                  <a:srgbClr val="1E2433"/>
                </a:solidFill>
                <a:latin typeface="Times New Roman" panose="02020603050405020304" pitchFamily="18" charset="0"/>
                <a:ea typeface="Times New Roman" panose="02020603050405020304"/>
                <a:cs typeface="Times New Roman" panose="02020603050405020304"/>
              </a:rPr>
              <a:t>Why five groups instead of a full six-cell matrix</a:t>
            </a:r>
          </a:p>
        </p:txBody>
      </p:sp>
      <p:sp>
        <p:nvSpPr>
          <p:cNvPr id="31" name="矩形 30"/>
          <p:cNvSpPr>
            <a:spLocks noGrp="1"/>
          </p:cNvSpPr>
          <p:nvPr/>
        </p:nvSpPr>
        <p:spPr>
          <a:xfrm>
            <a:off x="1885950" y="5410200"/>
            <a:ext cx="8477250" cy="30480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no-summary baseline does not need a representative versus incomplete split because everyone in that condition enters the same full evidence pool directly.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a:xfrm>
          <a:off x="0" y="0"/>
          <a:ext cx="0" cy="0"/>
          <a:chOff x="0" y="0"/>
          <a:chExt cx="0" cy="0"/>
        </a:xfrm>
      </p:grpSpPr>
      <p:sp>
        <p:nvSpPr>
          <p:cNvPr id="41" name="椭圆 40"/>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IDENTIFICATION</a:t>
            </a:r>
          </a:p>
        </p:txBody>
      </p:sp>
      <p:sp>
        <p:nvSpPr>
          <p:cNvPr id="6" name="矩形 5"/>
          <p:cNvSpPr>
            <a:spLocks noGrp="1"/>
          </p:cNvSpPr>
          <p:nvPr/>
        </p:nvSpPr>
        <p:spPr>
          <a:xfrm>
            <a:off x="914400" y="914400"/>
            <a:ext cx="9334500" cy="704850"/>
          </a:xfrm>
          <a:prstGeom prst="rect">
            <a:avLst/>
          </a:prstGeom>
          <a:noFill/>
          <a:ln w="0">
            <a:noFill/>
            <a:prstDash val="solid"/>
          </a:ln>
        </p:spPr>
        <p:txBody>
          <a:bodyPr/>
          <a:lstStyle/>
          <a:p>
            <a:pPr algn="l">
              <a:buNone/>
              <a:defRPr sz="2550" b="1" i="0">
                <a:solidFill>
                  <a:srgbClr val="1E2433"/>
                </a:solidFill>
                <a:latin typeface="Times New Roman" panose="02020603050405020304"/>
                <a:ea typeface="Times New Roman" panose="02020603050405020304"/>
                <a:cs typeface="Times New Roman" panose="02020603050405020304"/>
              </a:defRPr>
            </a:pPr>
            <a:r>
              <a:rPr sz="2550" b="1" i="0">
                <a:solidFill>
                  <a:srgbClr val="1E2433"/>
                </a:solidFill>
                <a:latin typeface="Times New Roman" panose="02020603050405020304" pitchFamily="18" charset="0"/>
                <a:ea typeface="Times New Roman" panose="02020603050405020304"/>
                <a:cs typeface="Times New Roman" panose="02020603050405020304"/>
              </a:rPr>
              <a:t>The same summary text isolates the AI label effect</a:t>
            </a: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content stays the same while the label changes, and every participant then moves through the same additional-search sequence.</a:t>
            </a:r>
          </a:p>
        </p:txBody>
      </p:sp>
      <p:sp>
        <p:nvSpPr>
          <p:cNvPr id="8" name="矩形: 圆角 7"/>
          <p:cNvSpPr>
            <a:spLocks noGrp="1"/>
          </p:cNvSpPr>
          <p:nvPr/>
        </p:nvSpPr>
        <p:spPr>
          <a:xfrm>
            <a:off x="914400" y="2247900"/>
            <a:ext cx="4762500" cy="2038350"/>
          </a:xfrm>
          <a:prstGeom prst="roundRect">
            <a:avLst>
              <a:gd name="adj" fmla="val 3738"/>
            </a:avLst>
          </a:prstGeom>
          <a:solidFill>
            <a:srgbClr val="FFF9F0"/>
          </a:solidFill>
          <a:ln w="9525">
            <a:solidFill>
              <a:srgbClr val="E8DCCB"/>
            </a:solidFill>
            <a:prstDash val="solid"/>
          </a:ln>
        </p:spPr>
      </p:sp>
      <p:sp>
        <p:nvSpPr>
          <p:cNvPr id="9" name="矩形 8"/>
          <p:cNvSpPr>
            <a:spLocks noGrp="1"/>
          </p:cNvSpPr>
          <p:nvPr/>
        </p:nvSpPr>
        <p:spPr>
          <a:xfrm>
            <a:off x="914400" y="2247900"/>
            <a:ext cx="57150" cy="2038350"/>
          </a:xfrm>
          <a:prstGeom prst="rect">
            <a:avLst/>
          </a:prstGeom>
          <a:solidFill>
            <a:srgbClr val="C89B4A"/>
          </a:solidFill>
          <a:ln w="0">
            <a:solidFill>
              <a:srgbClr val="C89B4A"/>
            </a:solidFill>
            <a:prstDash val="solid"/>
          </a:ln>
        </p:spPr>
      </p:sp>
      <p:sp>
        <p:nvSpPr>
          <p:cNvPr id="10" name="矩形 9"/>
          <p:cNvSpPr>
            <a:spLocks noGrp="1"/>
          </p:cNvSpPr>
          <p:nvPr/>
        </p:nvSpPr>
        <p:spPr>
          <a:xfrm>
            <a:off x="1085850" y="2362200"/>
            <a:ext cx="4476750" cy="285750"/>
          </a:xfrm>
          <a:prstGeom prst="rect">
            <a:avLst/>
          </a:prstGeom>
          <a:noFill/>
          <a:ln w="0">
            <a:noFill/>
            <a:prstDash val="solid"/>
          </a:ln>
        </p:spPr>
        <p:txBody>
          <a:bodyPr/>
          <a:lstStyle/>
          <a:p>
            <a:pPr algn="l">
              <a:buNone/>
              <a:defRPr sz="1875" b="1" i="0">
                <a:solidFill>
                  <a:srgbClr val="1E2433"/>
                </a:solidFill>
                <a:latin typeface="Times New Roman" panose="02020603050405020304"/>
                <a:ea typeface="Times New Roman" panose="02020603050405020304"/>
                <a:cs typeface="Times New Roman" panose="02020603050405020304"/>
              </a:defRPr>
            </a:pPr>
            <a:r>
              <a:rPr sz="1875" b="1" i="0">
                <a:solidFill>
                  <a:srgbClr val="1E2433"/>
                </a:solidFill>
                <a:latin typeface="Times New Roman" panose="02020603050405020304" pitchFamily="18" charset="0"/>
                <a:ea typeface="Times New Roman" panose="02020603050405020304"/>
                <a:cs typeface="Times New Roman" panose="02020603050405020304"/>
              </a:rPr>
              <a:t>Unlabeled summary</a:t>
            </a:r>
          </a:p>
        </p:txBody>
      </p:sp>
      <p:sp>
        <p:nvSpPr>
          <p:cNvPr id="11" name="矩形 10"/>
          <p:cNvSpPr>
            <a:spLocks noGrp="1"/>
          </p:cNvSpPr>
          <p:nvPr/>
        </p:nvSpPr>
        <p:spPr>
          <a:xfrm>
            <a:off x="1085850" y="2705100"/>
            <a:ext cx="4476750" cy="1466850"/>
          </a:xfrm>
          <a:prstGeom prst="rect">
            <a:avLst/>
          </a:prstGeom>
          <a:noFill/>
          <a:ln w="0">
            <a:noFill/>
            <a:prstDash val="solid"/>
          </a:ln>
        </p:spPr>
        <p:txBody>
          <a:bodyPr/>
          <a:lstStyle/>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The participant sees a summary of the exact same initial evidence, but the source is not identified as AI.</a:t>
            </a:r>
          </a:p>
        </p:txBody>
      </p:sp>
      <p:sp>
        <p:nvSpPr>
          <p:cNvPr id="12" name="矩形: 圆角 11"/>
          <p:cNvSpPr>
            <a:spLocks noGrp="1"/>
          </p:cNvSpPr>
          <p:nvPr/>
        </p:nvSpPr>
        <p:spPr>
          <a:xfrm>
            <a:off x="6477000" y="2247900"/>
            <a:ext cx="4724400" cy="2038350"/>
          </a:xfrm>
          <a:prstGeom prst="roundRect">
            <a:avLst>
              <a:gd name="adj" fmla="val 3738"/>
            </a:avLst>
          </a:prstGeom>
          <a:solidFill>
            <a:srgbClr val="FFF9F0"/>
          </a:solidFill>
          <a:ln w="9525">
            <a:solidFill>
              <a:srgbClr val="E8DCCB"/>
            </a:solidFill>
            <a:prstDash val="solid"/>
          </a:ln>
        </p:spPr>
      </p:sp>
      <p:sp>
        <p:nvSpPr>
          <p:cNvPr id="13" name="矩形 12"/>
          <p:cNvSpPr>
            <a:spLocks noGrp="1"/>
          </p:cNvSpPr>
          <p:nvPr/>
        </p:nvSpPr>
        <p:spPr>
          <a:xfrm>
            <a:off x="6477000" y="2247900"/>
            <a:ext cx="57150" cy="2038350"/>
          </a:xfrm>
          <a:prstGeom prst="rect">
            <a:avLst/>
          </a:prstGeom>
          <a:solidFill>
            <a:srgbClr val="B45A3C"/>
          </a:solidFill>
          <a:ln w="0">
            <a:solidFill>
              <a:srgbClr val="B45A3C"/>
            </a:solidFill>
            <a:prstDash val="solid"/>
          </a:ln>
        </p:spPr>
      </p:sp>
      <p:sp>
        <p:nvSpPr>
          <p:cNvPr id="14" name="矩形 13"/>
          <p:cNvSpPr>
            <a:spLocks noGrp="1"/>
          </p:cNvSpPr>
          <p:nvPr/>
        </p:nvSpPr>
        <p:spPr>
          <a:xfrm>
            <a:off x="6648450" y="2362200"/>
            <a:ext cx="4438650" cy="285750"/>
          </a:xfrm>
          <a:prstGeom prst="rect">
            <a:avLst/>
          </a:prstGeom>
          <a:noFill/>
          <a:ln w="0">
            <a:noFill/>
            <a:prstDash val="solid"/>
          </a:ln>
        </p:spPr>
        <p:txBody>
          <a:bodyPr/>
          <a:lstStyle/>
          <a:p>
            <a:pPr algn="l">
              <a:buNone/>
              <a:defRPr sz="1875" b="1" i="0">
                <a:solidFill>
                  <a:srgbClr val="1E2433"/>
                </a:solidFill>
                <a:latin typeface="Times New Roman" panose="02020603050405020304"/>
                <a:ea typeface="Times New Roman" panose="02020603050405020304"/>
                <a:cs typeface="Times New Roman" panose="02020603050405020304"/>
              </a:defRPr>
            </a:pPr>
            <a:r>
              <a:rPr sz="1875" b="1" i="0">
                <a:solidFill>
                  <a:srgbClr val="1E2433"/>
                </a:solidFill>
                <a:latin typeface="Times New Roman" panose="02020603050405020304" pitchFamily="18" charset="0"/>
                <a:ea typeface="Times New Roman" panose="02020603050405020304"/>
                <a:cs typeface="Times New Roman" panose="02020603050405020304"/>
              </a:rPr>
              <a:t>AI-labeled summary</a:t>
            </a:r>
          </a:p>
        </p:txBody>
      </p:sp>
      <p:sp>
        <p:nvSpPr>
          <p:cNvPr id="15" name="矩形 14"/>
          <p:cNvSpPr>
            <a:spLocks noGrp="1"/>
          </p:cNvSpPr>
          <p:nvPr/>
        </p:nvSpPr>
        <p:spPr>
          <a:xfrm>
            <a:off x="6648450" y="2705100"/>
            <a:ext cx="4438650" cy="1466850"/>
          </a:xfrm>
          <a:prstGeom prst="rect">
            <a:avLst/>
          </a:prstGeom>
          <a:noFill/>
          <a:ln w="0">
            <a:noFill/>
            <a:prstDash val="solid"/>
          </a:ln>
        </p:spPr>
        <p:txBody>
          <a:bodyPr/>
          <a:lstStyle/>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The participant sees the very same summary text, but now the system explicitly says the summary was generated by AI.</a:t>
            </a:r>
          </a:p>
        </p:txBody>
      </p:sp>
      <p:sp>
        <p:nvSpPr>
          <p:cNvPr id="16" name="矩形 15"/>
          <p:cNvSpPr>
            <a:spLocks noGrp="1"/>
          </p:cNvSpPr>
          <p:nvPr/>
        </p:nvSpPr>
        <p:spPr>
          <a:xfrm>
            <a:off x="914400" y="4629150"/>
            <a:ext cx="2476500" cy="228600"/>
          </a:xfrm>
          <a:prstGeom prst="rect">
            <a:avLst/>
          </a:prstGeom>
          <a:noFill/>
          <a:ln w="0">
            <a:noFill/>
            <a:prstDash val="solid"/>
          </a:ln>
        </p:spPr>
        <p:txBody>
          <a:bodyPr/>
          <a:lstStyle/>
          <a:p>
            <a:pPr algn="l">
              <a:buNone/>
              <a:defRPr sz="1575" b="1" i="0">
                <a:solidFill>
                  <a:srgbClr val="B45A3C"/>
                </a:solidFill>
                <a:latin typeface="Times New Roman" panose="02020603050405020304"/>
                <a:ea typeface="Times New Roman" panose="02020603050405020304"/>
                <a:cs typeface="Times New Roman" panose="02020603050405020304"/>
              </a:defRPr>
            </a:pPr>
            <a:r>
              <a:rPr sz="1575" b="1" i="0">
                <a:solidFill>
                  <a:srgbClr val="B45A3C"/>
                </a:solidFill>
                <a:latin typeface="Times New Roman" panose="02020603050405020304" pitchFamily="18" charset="0"/>
                <a:ea typeface="Times New Roman" panose="02020603050405020304"/>
                <a:cs typeface="Times New Roman" panose="02020603050405020304"/>
              </a:rPr>
              <a:t>Participant sequence</a:t>
            </a:r>
          </a:p>
        </p:txBody>
      </p:sp>
      <p:sp>
        <p:nvSpPr>
          <p:cNvPr id="17" name="矩形: 圆角 16"/>
          <p:cNvSpPr>
            <a:spLocks noGrp="1"/>
          </p:cNvSpPr>
          <p:nvPr/>
        </p:nvSpPr>
        <p:spPr>
          <a:xfrm>
            <a:off x="914400" y="4991100"/>
            <a:ext cx="1790700" cy="1028700"/>
          </a:xfrm>
          <a:prstGeom prst="roundRect">
            <a:avLst>
              <a:gd name="adj" fmla="val 7407"/>
            </a:avLst>
          </a:prstGeom>
          <a:solidFill>
            <a:srgbClr val="FFF9F0"/>
          </a:solidFill>
          <a:ln w="9525">
            <a:solidFill>
              <a:srgbClr val="E8DCCB"/>
            </a:solidFill>
            <a:prstDash val="solid"/>
          </a:ln>
        </p:spPr>
      </p:sp>
      <p:sp>
        <p:nvSpPr>
          <p:cNvPr id="18" name="矩形 17"/>
          <p:cNvSpPr>
            <a:spLocks noGrp="1"/>
          </p:cNvSpPr>
          <p:nvPr/>
        </p:nvSpPr>
        <p:spPr>
          <a:xfrm>
            <a:off x="914400" y="4991100"/>
            <a:ext cx="57150" cy="1028700"/>
          </a:xfrm>
          <a:prstGeom prst="rect">
            <a:avLst/>
          </a:prstGeom>
          <a:solidFill>
            <a:srgbClr val="B45A3C"/>
          </a:solidFill>
          <a:ln w="0">
            <a:solidFill>
              <a:srgbClr val="B45A3C"/>
            </a:solidFill>
            <a:prstDash val="solid"/>
          </a:ln>
        </p:spPr>
      </p:sp>
      <p:sp>
        <p:nvSpPr>
          <p:cNvPr id="19" name="矩形 18"/>
          <p:cNvSpPr>
            <a:spLocks noGrp="1"/>
          </p:cNvSpPr>
          <p:nvPr/>
        </p:nvSpPr>
        <p:spPr>
          <a:xfrm>
            <a:off x="1085850" y="5105400"/>
            <a:ext cx="150495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See prior</a:t>
            </a:r>
          </a:p>
        </p:txBody>
      </p:sp>
      <p:sp>
        <p:nvSpPr>
          <p:cNvPr id="20" name="矩形 19"/>
          <p:cNvSpPr>
            <a:spLocks noGrp="1"/>
          </p:cNvSpPr>
          <p:nvPr/>
        </p:nvSpPr>
        <p:spPr>
          <a:xfrm>
            <a:off x="1085850" y="5448300"/>
            <a:ext cx="1504950" cy="457200"/>
          </a:xfrm>
          <a:prstGeom prst="rect">
            <a:avLst/>
          </a:prstGeom>
          <a:noFill/>
          <a:ln w="0">
            <a:noFill/>
            <a:prstDash val="solid"/>
          </a:ln>
        </p:spPr>
        <p:txBody>
          <a:bodyPr/>
          <a:lstStyle/>
          <a:p>
            <a:pPr algn="l">
              <a:buNone/>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pitchFamily="18" charset="0"/>
                <a:ea typeface="Times New Roman" panose="02020603050405020304"/>
                <a:cs typeface="Times New Roman" panose="02020603050405020304"/>
              </a:rPr>
              <a:t>Start from the same prior</a:t>
            </a:r>
          </a:p>
        </p:txBody>
      </p:sp>
      <p:sp>
        <p:nvSpPr>
          <p:cNvPr id="21" name="矩形 20"/>
          <p:cNvSpPr>
            <a:spLocks noGrp="1"/>
          </p:cNvSpPr>
          <p:nvPr/>
        </p:nvSpPr>
        <p:spPr>
          <a:xfrm>
            <a:off x="2762250" y="5505450"/>
            <a:ext cx="171450" cy="19050"/>
          </a:xfrm>
          <a:prstGeom prst="rect">
            <a:avLst/>
          </a:prstGeom>
          <a:solidFill>
            <a:srgbClr val="B45A3C"/>
          </a:solidFill>
          <a:ln w="0">
            <a:solidFill>
              <a:srgbClr val="B45A3C"/>
            </a:solidFill>
            <a:prstDash val="solid"/>
          </a:ln>
        </p:spPr>
      </p:sp>
      <p:sp>
        <p:nvSpPr>
          <p:cNvPr id="22" name="矩形: 圆角 21"/>
          <p:cNvSpPr>
            <a:spLocks noGrp="1"/>
          </p:cNvSpPr>
          <p:nvPr/>
        </p:nvSpPr>
        <p:spPr>
          <a:xfrm>
            <a:off x="2971800" y="4991100"/>
            <a:ext cx="1790700" cy="1028700"/>
          </a:xfrm>
          <a:prstGeom prst="roundRect">
            <a:avLst>
              <a:gd name="adj" fmla="val 7407"/>
            </a:avLst>
          </a:prstGeom>
          <a:solidFill>
            <a:srgbClr val="FFF9F0"/>
          </a:solidFill>
          <a:ln w="9525">
            <a:solidFill>
              <a:srgbClr val="E8DCCB"/>
            </a:solidFill>
            <a:prstDash val="solid"/>
          </a:ln>
        </p:spPr>
      </p:sp>
      <p:sp>
        <p:nvSpPr>
          <p:cNvPr id="23" name="矩形 22"/>
          <p:cNvSpPr>
            <a:spLocks noGrp="1"/>
          </p:cNvSpPr>
          <p:nvPr/>
        </p:nvSpPr>
        <p:spPr>
          <a:xfrm>
            <a:off x="2971800" y="4991100"/>
            <a:ext cx="57150" cy="1028700"/>
          </a:xfrm>
          <a:prstGeom prst="rect">
            <a:avLst/>
          </a:prstGeom>
          <a:solidFill>
            <a:srgbClr val="B45A3C"/>
          </a:solidFill>
          <a:ln w="0">
            <a:solidFill>
              <a:srgbClr val="B45A3C"/>
            </a:solidFill>
            <a:prstDash val="solid"/>
          </a:ln>
        </p:spPr>
      </p:sp>
      <p:sp>
        <p:nvSpPr>
          <p:cNvPr id="24" name="矩形 23"/>
          <p:cNvSpPr>
            <a:spLocks noGrp="1"/>
          </p:cNvSpPr>
          <p:nvPr/>
        </p:nvSpPr>
        <p:spPr>
          <a:xfrm>
            <a:off x="3143250" y="5105400"/>
            <a:ext cx="150495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Read summary</a:t>
            </a:r>
          </a:p>
        </p:txBody>
      </p:sp>
      <p:sp>
        <p:nvSpPr>
          <p:cNvPr id="25" name="矩形 24"/>
          <p:cNvSpPr>
            <a:spLocks noGrp="1"/>
          </p:cNvSpPr>
          <p:nvPr/>
        </p:nvSpPr>
        <p:spPr>
          <a:xfrm>
            <a:off x="3143250" y="5448300"/>
            <a:ext cx="1504950" cy="457200"/>
          </a:xfrm>
          <a:prstGeom prst="rect">
            <a:avLst/>
          </a:prstGeom>
          <a:noFill/>
          <a:ln w="0">
            <a:noFill/>
            <a:prstDash val="solid"/>
          </a:ln>
        </p:spPr>
        <p:txBody>
          <a:bodyPr/>
          <a:lstStyle/>
          <a:p>
            <a:pPr algn="l">
              <a:buNone/>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pitchFamily="18" charset="0"/>
                <a:ea typeface="Times New Roman" panose="02020603050405020304"/>
                <a:cs typeface="Times New Roman" panose="02020603050405020304"/>
              </a:rPr>
              <a:t>Or skip summary in baseline</a:t>
            </a:r>
          </a:p>
        </p:txBody>
      </p:sp>
      <p:sp>
        <p:nvSpPr>
          <p:cNvPr id="26" name="矩形 25"/>
          <p:cNvSpPr>
            <a:spLocks noGrp="1"/>
          </p:cNvSpPr>
          <p:nvPr/>
        </p:nvSpPr>
        <p:spPr>
          <a:xfrm>
            <a:off x="4819650" y="5505450"/>
            <a:ext cx="171450" cy="19050"/>
          </a:xfrm>
          <a:prstGeom prst="rect">
            <a:avLst/>
          </a:prstGeom>
          <a:solidFill>
            <a:srgbClr val="B45A3C"/>
          </a:solidFill>
          <a:ln w="0">
            <a:solidFill>
              <a:srgbClr val="B45A3C"/>
            </a:solidFill>
            <a:prstDash val="solid"/>
          </a:ln>
        </p:spPr>
      </p:sp>
      <p:sp>
        <p:nvSpPr>
          <p:cNvPr id="27" name="矩形: 圆角 26"/>
          <p:cNvSpPr>
            <a:spLocks noGrp="1"/>
          </p:cNvSpPr>
          <p:nvPr/>
        </p:nvSpPr>
        <p:spPr>
          <a:xfrm>
            <a:off x="5029200" y="4991100"/>
            <a:ext cx="1790700" cy="1028700"/>
          </a:xfrm>
          <a:prstGeom prst="roundRect">
            <a:avLst>
              <a:gd name="adj" fmla="val 7407"/>
            </a:avLst>
          </a:prstGeom>
          <a:solidFill>
            <a:srgbClr val="FFF9F0"/>
          </a:solidFill>
          <a:ln w="9525">
            <a:solidFill>
              <a:srgbClr val="E8DCCB"/>
            </a:solidFill>
            <a:prstDash val="solid"/>
          </a:ln>
        </p:spPr>
      </p:sp>
      <p:sp>
        <p:nvSpPr>
          <p:cNvPr id="28" name="矩形 27"/>
          <p:cNvSpPr>
            <a:spLocks noGrp="1"/>
          </p:cNvSpPr>
          <p:nvPr/>
        </p:nvSpPr>
        <p:spPr>
          <a:xfrm>
            <a:off x="5029200" y="4991100"/>
            <a:ext cx="57150" cy="1028700"/>
          </a:xfrm>
          <a:prstGeom prst="rect">
            <a:avLst/>
          </a:prstGeom>
          <a:solidFill>
            <a:srgbClr val="C89B4A"/>
          </a:solidFill>
          <a:ln w="0">
            <a:solidFill>
              <a:srgbClr val="C89B4A"/>
            </a:solidFill>
            <a:prstDash val="solid"/>
          </a:ln>
        </p:spPr>
      </p:sp>
      <p:sp>
        <p:nvSpPr>
          <p:cNvPr id="29" name="矩形 28"/>
          <p:cNvSpPr>
            <a:spLocks noGrp="1"/>
          </p:cNvSpPr>
          <p:nvPr/>
        </p:nvSpPr>
        <p:spPr>
          <a:xfrm>
            <a:off x="5200650" y="5105400"/>
            <a:ext cx="150495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Choose search</a:t>
            </a:r>
          </a:p>
        </p:txBody>
      </p:sp>
      <p:sp>
        <p:nvSpPr>
          <p:cNvPr id="30" name="矩形 29"/>
          <p:cNvSpPr>
            <a:spLocks noGrp="1"/>
          </p:cNvSpPr>
          <p:nvPr/>
        </p:nvSpPr>
        <p:spPr>
          <a:xfrm>
            <a:off x="5200650" y="5448300"/>
            <a:ext cx="1504950" cy="457200"/>
          </a:xfrm>
          <a:prstGeom prst="rect">
            <a:avLst/>
          </a:prstGeom>
          <a:noFill/>
          <a:ln w="0">
            <a:noFill/>
            <a:prstDash val="solid"/>
          </a:ln>
        </p:spPr>
        <p:txBody>
          <a:bodyPr/>
          <a:lstStyle/>
          <a:p>
            <a:pPr algn="l">
              <a:buNone/>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pitchFamily="18" charset="0"/>
                <a:ea typeface="Times New Roman" panose="02020603050405020304"/>
                <a:cs typeface="Times New Roman" panose="02020603050405020304"/>
              </a:rPr>
              <a:t>Open more evidence or stop</a:t>
            </a:r>
          </a:p>
        </p:txBody>
      </p:sp>
      <p:sp>
        <p:nvSpPr>
          <p:cNvPr id="31" name="矩形 30"/>
          <p:cNvSpPr>
            <a:spLocks noGrp="1"/>
          </p:cNvSpPr>
          <p:nvPr/>
        </p:nvSpPr>
        <p:spPr>
          <a:xfrm>
            <a:off x="6877050" y="5505450"/>
            <a:ext cx="171450" cy="19050"/>
          </a:xfrm>
          <a:prstGeom prst="rect">
            <a:avLst/>
          </a:prstGeom>
          <a:solidFill>
            <a:srgbClr val="B45A3C"/>
          </a:solidFill>
          <a:ln w="0">
            <a:solidFill>
              <a:srgbClr val="B45A3C"/>
            </a:solidFill>
            <a:prstDash val="solid"/>
          </a:ln>
        </p:spPr>
      </p:sp>
      <p:sp>
        <p:nvSpPr>
          <p:cNvPr id="32" name="矩形: 圆角 31"/>
          <p:cNvSpPr>
            <a:spLocks noGrp="1"/>
          </p:cNvSpPr>
          <p:nvPr/>
        </p:nvSpPr>
        <p:spPr>
          <a:xfrm>
            <a:off x="7086600" y="4991100"/>
            <a:ext cx="1790700" cy="1028700"/>
          </a:xfrm>
          <a:prstGeom prst="roundRect">
            <a:avLst>
              <a:gd name="adj" fmla="val 7407"/>
            </a:avLst>
          </a:prstGeom>
          <a:solidFill>
            <a:srgbClr val="FFF9F0"/>
          </a:solidFill>
          <a:ln w="9525">
            <a:solidFill>
              <a:srgbClr val="E8DCCB"/>
            </a:solidFill>
            <a:prstDash val="solid"/>
          </a:ln>
        </p:spPr>
      </p:sp>
      <p:sp>
        <p:nvSpPr>
          <p:cNvPr id="33" name="矩形 32"/>
          <p:cNvSpPr>
            <a:spLocks noGrp="1"/>
          </p:cNvSpPr>
          <p:nvPr/>
        </p:nvSpPr>
        <p:spPr>
          <a:xfrm>
            <a:off x="7086600" y="4991100"/>
            <a:ext cx="57150" cy="1028700"/>
          </a:xfrm>
          <a:prstGeom prst="rect">
            <a:avLst/>
          </a:prstGeom>
          <a:solidFill>
            <a:srgbClr val="B45A3C"/>
          </a:solidFill>
          <a:ln w="0">
            <a:solidFill>
              <a:srgbClr val="B45A3C"/>
            </a:solidFill>
            <a:prstDash val="solid"/>
          </a:ln>
        </p:spPr>
      </p:sp>
      <p:sp>
        <p:nvSpPr>
          <p:cNvPr id="34" name="矩形 33"/>
          <p:cNvSpPr>
            <a:spLocks noGrp="1"/>
          </p:cNvSpPr>
          <p:nvPr/>
        </p:nvSpPr>
        <p:spPr>
          <a:xfrm>
            <a:off x="7258050" y="5105400"/>
            <a:ext cx="150495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Report posterior</a:t>
            </a:r>
          </a:p>
        </p:txBody>
      </p:sp>
      <p:sp>
        <p:nvSpPr>
          <p:cNvPr id="35" name="矩形 34"/>
          <p:cNvSpPr>
            <a:spLocks noGrp="1"/>
          </p:cNvSpPr>
          <p:nvPr/>
        </p:nvSpPr>
        <p:spPr>
          <a:xfrm>
            <a:off x="7258050" y="5448300"/>
            <a:ext cx="1504950" cy="457200"/>
          </a:xfrm>
          <a:prstGeom prst="rect">
            <a:avLst/>
          </a:prstGeom>
          <a:noFill/>
          <a:ln w="0">
            <a:noFill/>
            <a:prstDash val="solid"/>
          </a:ln>
        </p:spPr>
        <p:txBody>
          <a:bodyPr/>
          <a:lstStyle/>
          <a:p>
            <a:pPr algn="l">
              <a:buNone/>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pitchFamily="18" charset="0"/>
                <a:ea typeface="Times New Roman" panose="02020603050405020304"/>
                <a:cs typeface="Times New Roman" panose="02020603050405020304"/>
              </a:rPr>
              <a:t>Give the final probability</a:t>
            </a:r>
          </a:p>
        </p:txBody>
      </p:sp>
      <p:sp>
        <p:nvSpPr>
          <p:cNvPr id="36" name="矩形 35"/>
          <p:cNvSpPr>
            <a:spLocks noGrp="1"/>
          </p:cNvSpPr>
          <p:nvPr/>
        </p:nvSpPr>
        <p:spPr>
          <a:xfrm>
            <a:off x="8934450" y="5505450"/>
            <a:ext cx="171450" cy="19050"/>
          </a:xfrm>
          <a:prstGeom prst="rect">
            <a:avLst/>
          </a:prstGeom>
          <a:solidFill>
            <a:srgbClr val="B45A3C"/>
          </a:solidFill>
          <a:ln w="0">
            <a:solidFill>
              <a:srgbClr val="B45A3C"/>
            </a:solidFill>
            <a:prstDash val="solid"/>
          </a:ln>
        </p:spPr>
      </p:sp>
      <p:sp>
        <p:nvSpPr>
          <p:cNvPr id="37" name="矩形: 圆角 36"/>
          <p:cNvSpPr>
            <a:spLocks noGrp="1"/>
          </p:cNvSpPr>
          <p:nvPr/>
        </p:nvSpPr>
        <p:spPr>
          <a:xfrm>
            <a:off x="9144000" y="4991100"/>
            <a:ext cx="1790700" cy="1028700"/>
          </a:xfrm>
          <a:prstGeom prst="roundRect">
            <a:avLst>
              <a:gd name="adj" fmla="val 7407"/>
            </a:avLst>
          </a:prstGeom>
          <a:solidFill>
            <a:srgbClr val="FFF9F0"/>
          </a:solidFill>
          <a:ln w="9525">
            <a:solidFill>
              <a:srgbClr val="E8DCCB"/>
            </a:solidFill>
            <a:prstDash val="solid"/>
          </a:ln>
        </p:spPr>
      </p:sp>
      <p:sp>
        <p:nvSpPr>
          <p:cNvPr id="38" name="矩形 37"/>
          <p:cNvSpPr>
            <a:spLocks noGrp="1"/>
          </p:cNvSpPr>
          <p:nvPr/>
        </p:nvSpPr>
        <p:spPr>
          <a:xfrm>
            <a:off x="9144000" y="4991100"/>
            <a:ext cx="57150" cy="1028700"/>
          </a:xfrm>
          <a:prstGeom prst="rect">
            <a:avLst/>
          </a:prstGeom>
          <a:solidFill>
            <a:srgbClr val="B45A3C"/>
          </a:solidFill>
          <a:ln w="0">
            <a:solidFill>
              <a:srgbClr val="B45A3C"/>
            </a:solidFill>
            <a:prstDash val="solid"/>
          </a:ln>
        </p:spPr>
      </p:sp>
      <p:sp>
        <p:nvSpPr>
          <p:cNvPr id="39" name="矩形 38"/>
          <p:cNvSpPr>
            <a:spLocks noGrp="1"/>
          </p:cNvSpPr>
          <p:nvPr/>
        </p:nvSpPr>
        <p:spPr>
          <a:xfrm>
            <a:off x="9315450" y="5105400"/>
            <a:ext cx="150495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Rate mastery</a:t>
            </a:r>
          </a:p>
        </p:txBody>
      </p:sp>
      <p:sp>
        <p:nvSpPr>
          <p:cNvPr id="40" name="矩形 39"/>
          <p:cNvSpPr>
            <a:spLocks noGrp="1"/>
          </p:cNvSpPr>
          <p:nvPr/>
        </p:nvSpPr>
        <p:spPr>
          <a:xfrm>
            <a:off x="9315450" y="5448300"/>
            <a:ext cx="1504950" cy="457200"/>
          </a:xfrm>
          <a:prstGeom prst="rect">
            <a:avLst/>
          </a:prstGeom>
          <a:noFill/>
          <a:ln w="0">
            <a:noFill/>
            <a:prstDash val="solid"/>
          </a:ln>
        </p:spPr>
        <p:txBody>
          <a:bodyPr/>
          <a:lstStyle/>
          <a:p>
            <a:pPr algn="l">
              <a:buNone/>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pitchFamily="18" charset="0"/>
                <a:ea typeface="Times New Roman" panose="02020603050405020304"/>
                <a:cs typeface="Times New Roman" panose="02020603050405020304"/>
              </a:rPr>
              <a:t>Report confidence and ownership</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1E8"/>
        </a:solidFill>
        <a:effectLst/>
      </p:bgPr>
    </p:bg>
    <p:spTree>
      <p:nvGrpSpPr>
        <p:cNvPr id="1" name=""/>
        <p:cNvGrpSpPr/>
        <p:nvPr/>
      </p:nvGrpSpPr>
      <p:grpSpPr>
        <a:xfrm>
          <a:off x="0" y="0"/>
          <a:ext cx="0" cy="0"/>
          <a:chOff x="0" y="0"/>
          <a:chExt cx="0" cy="0"/>
        </a:xfrm>
      </p:grpSpPr>
      <p:sp>
        <p:nvSpPr>
          <p:cNvPr id="24" name="椭圆 23"/>
          <p:cNvSpPr>
            <a:spLocks noGrp="1"/>
          </p:cNvSpPr>
          <p:nvPr/>
        </p:nvSpPr>
        <p:spPr>
          <a:xfrm>
            <a:off x="9715500" y="-342900"/>
            <a:ext cx="2514600" cy="2247900"/>
          </a:xfrm>
          <a:prstGeom prst="ellipse">
            <a:avLst/>
          </a:prstGeom>
          <a:solidFill>
            <a:srgbClr val="EEE3D2"/>
          </a:solidFill>
          <a:ln w="0">
            <a:noFill/>
            <a:prstDash val="solid"/>
          </a:ln>
        </p:spPr>
      </p:sp>
      <p:sp>
        <p:nvSpPr>
          <p:cNvPr id="2" name="椭圆 1"/>
          <p:cNvSpPr>
            <a:spLocks noGrp="1"/>
          </p:cNvSpPr>
          <p:nvPr/>
        </p:nvSpPr>
        <p:spPr>
          <a:xfrm>
            <a:off x="-704850" y="5105400"/>
            <a:ext cx="1866900" cy="1866900"/>
          </a:xfrm>
          <a:prstGeom prst="ellipse">
            <a:avLst/>
          </a:prstGeom>
          <a:solidFill>
            <a:srgbClr val="EEE3D2"/>
          </a:solidFill>
          <a:ln w="0">
            <a:noFill/>
            <a:prstDash val="solid"/>
          </a:ln>
        </p:spPr>
      </p:sp>
      <p:sp>
        <p:nvSpPr>
          <p:cNvPr id="3" name="矩形 2"/>
          <p:cNvSpPr>
            <a:spLocks noGrp="1"/>
          </p:cNvSpPr>
          <p:nvPr/>
        </p:nvSpPr>
        <p:spPr>
          <a:xfrm>
            <a:off x="552450" y="457200"/>
            <a:ext cx="19050" cy="5943600"/>
          </a:xfrm>
          <a:prstGeom prst="rect">
            <a:avLst/>
          </a:prstGeom>
          <a:solidFill>
            <a:srgbClr val="E7D9C8"/>
          </a:solidFill>
          <a:ln w="0">
            <a:solidFill>
              <a:srgbClr val="E7D9C8"/>
            </a:solidFill>
            <a:prstDash val="solid"/>
          </a:ln>
        </p:spPr>
      </p:sp>
      <p:sp>
        <p:nvSpPr>
          <p:cNvPr id="4" name="矩形 3"/>
          <p:cNvSpPr>
            <a:spLocks noGrp="1"/>
          </p:cNvSpPr>
          <p:nvPr/>
        </p:nvSpPr>
        <p:spPr>
          <a:xfrm>
            <a:off x="914400" y="657225"/>
            <a:ext cx="171450" cy="171450"/>
          </a:xfrm>
          <a:prstGeom prst="rect">
            <a:avLst/>
          </a:prstGeom>
          <a:solidFill>
            <a:srgbClr val="BE643F"/>
          </a:solidFill>
          <a:ln w="0">
            <a:solidFill>
              <a:srgbClr val="BE643F"/>
            </a:solidFill>
            <a:prstDash val="solid"/>
          </a:ln>
        </p:spPr>
      </p:sp>
      <p:sp>
        <p:nvSpPr>
          <p:cNvPr id="5" name="矩形 4"/>
          <p:cNvSpPr>
            <a:spLocks noGrp="1"/>
          </p:cNvSpPr>
          <p:nvPr/>
        </p:nvSpPr>
        <p:spPr>
          <a:xfrm>
            <a:off x="1257300" y="571500"/>
            <a:ext cx="2857500" cy="228600"/>
          </a:xfrm>
          <a:prstGeom prst="rect">
            <a:avLst/>
          </a:prstGeom>
          <a:noFill/>
          <a:ln w="0">
            <a:noFill/>
            <a:prstDash val="solid"/>
          </a:ln>
        </p:spPr>
        <p:txBody>
          <a:bodyPr/>
          <a:lstStyle/>
          <a:p>
            <a:pPr>
              <a:defRPr sz="975" b="1">
                <a:solidFill>
                  <a:srgbClr val="BE643F"/>
                </a:solidFill>
              </a:defRPr>
            </a:pPr>
            <a:r>
              <a:rPr sz="975" b="1">
                <a:solidFill>
                  <a:srgbClr val="BE643F"/>
                </a:solidFill>
                <a:latin typeface="Times New Roman" panose="02020603050405020304" pitchFamily="18" charset="0"/>
              </a:rPr>
              <a:t>RESULT PATTERNS</a:t>
            </a:r>
          </a:p>
        </p:txBody>
      </p:sp>
      <p:sp>
        <p:nvSpPr>
          <p:cNvPr id="6" name="矩形 5"/>
          <p:cNvSpPr>
            <a:spLocks noGrp="1"/>
          </p:cNvSpPr>
          <p:nvPr/>
        </p:nvSpPr>
        <p:spPr>
          <a:xfrm>
            <a:off x="1009650" y="1028700"/>
            <a:ext cx="9715500" cy="704850"/>
          </a:xfrm>
          <a:prstGeom prst="rect">
            <a:avLst/>
          </a:prstGeom>
          <a:noFill/>
          <a:ln w="0">
            <a:noFill/>
            <a:prstDash val="solid"/>
          </a:ln>
        </p:spPr>
        <p:txBody>
          <a:bodyPr/>
          <a:lstStyle/>
          <a:p>
            <a:pPr>
              <a:defRPr sz="2325" b="1">
                <a:solidFill>
                  <a:srgbClr val="232B3A"/>
                </a:solidFill>
              </a:defRPr>
            </a:pPr>
            <a:r>
              <a:rPr sz="2325" b="1">
                <a:solidFill>
                  <a:srgbClr val="232B3A"/>
                </a:solidFill>
                <a:latin typeface="Times New Roman" panose="02020603050405020304" pitchFamily="18" charset="0"/>
              </a:rPr>
              <a:t>Different result patterns would support different hypotheses</a:t>
            </a:r>
          </a:p>
        </p:txBody>
      </p:sp>
      <p:sp>
        <p:nvSpPr>
          <p:cNvPr id="7" name="矩形 6"/>
          <p:cNvSpPr>
            <a:spLocks noGrp="1"/>
          </p:cNvSpPr>
          <p:nvPr/>
        </p:nvSpPr>
        <p:spPr>
          <a:xfrm>
            <a:off x="1009650" y="1752600"/>
            <a:ext cx="10096500" cy="495300"/>
          </a:xfrm>
          <a:prstGeom prst="rect">
            <a:avLst/>
          </a:prstGeom>
          <a:noFill/>
          <a:ln w="0">
            <a:noFill/>
            <a:prstDash val="solid"/>
          </a:ln>
        </p:spPr>
        <p:txBody>
          <a:bodyPr/>
          <a:lstStyle/>
          <a:p>
            <a:pPr>
              <a:defRPr sz="1350">
                <a:solidFill>
                  <a:srgbClr val="667085"/>
                </a:solidFill>
              </a:defRPr>
            </a:pPr>
            <a:r>
              <a:rPr sz="1350">
                <a:solidFill>
                  <a:srgbClr val="667085"/>
                </a:solidFill>
                <a:latin typeface="Times New Roman" panose="02020603050405020304" pitchFamily="18" charset="0"/>
              </a:rPr>
              <a:t>Once the experiment is in place, the key issue is how the observed result pattern maps onto the three research questions.</a:t>
            </a:r>
          </a:p>
        </p:txBody>
      </p:sp>
      <p:sp>
        <p:nvSpPr>
          <p:cNvPr id="8" name="矩形: 圆角 7"/>
          <p:cNvSpPr>
            <a:spLocks noGrp="1"/>
          </p:cNvSpPr>
          <p:nvPr/>
        </p:nvSpPr>
        <p:spPr>
          <a:xfrm>
            <a:off x="914400" y="2362200"/>
            <a:ext cx="4762500" cy="1676400"/>
          </a:xfrm>
          <a:prstGeom prst="roundRect">
            <a:avLst>
              <a:gd name="adj" fmla="val 6818"/>
            </a:avLst>
          </a:prstGeom>
          <a:solidFill>
            <a:srgbClr val="FEFCF8"/>
          </a:solidFill>
          <a:ln w="9525">
            <a:solidFill>
              <a:srgbClr val="F0E2D1"/>
            </a:solidFill>
            <a:prstDash val="solid"/>
          </a:ln>
        </p:spPr>
      </p:sp>
      <p:sp>
        <p:nvSpPr>
          <p:cNvPr id="9" name="矩形 8"/>
          <p:cNvSpPr>
            <a:spLocks noGrp="1"/>
          </p:cNvSpPr>
          <p:nvPr/>
        </p:nvSpPr>
        <p:spPr>
          <a:xfrm>
            <a:off x="914400" y="2362200"/>
            <a:ext cx="57150" cy="1676400"/>
          </a:xfrm>
          <a:prstGeom prst="rect">
            <a:avLst/>
          </a:prstGeom>
          <a:solidFill>
            <a:srgbClr val="BE643F"/>
          </a:solidFill>
          <a:ln w="0">
            <a:solidFill>
              <a:srgbClr val="BE643F"/>
            </a:solidFill>
            <a:prstDash val="solid"/>
          </a:ln>
        </p:spPr>
      </p:sp>
      <p:sp>
        <p:nvSpPr>
          <p:cNvPr id="10" name="矩形 9"/>
          <p:cNvSpPr>
            <a:spLocks noGrp="1"/>
          </p:cNvSpPr>
          <p:nvPr/>
        </p:nvSpPr>
        <p:spPr>
          <a:xfrm>
            <a:off x="1181100" y="2533650"/>
            <a:ext cx="4305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RQ1: stopping-threshold effect</a:t>
            </a:r>
          </a:p>
        </p:txBody>
      </p:sp>
      <p:sp>
        <p:nvSpPr>
          <p:cNvPr id="11" name="矩形 10"/>
          <p:cNvSpPr>
            <a:spLocks noGrp="1"/>
          </p:cNvSpPr>
          <p:nvPr/>
        </p:nvSpPr>
        <p:spPr>
          <a:xfrm>
            <a:off x="1181100" y="2914650"/>
            <a:ext cx="4305300" cy="97155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If the AI-labeled summary group searches less, stops earlier, or is willing to pay less for extra evidence than the unlabeled-summary group, that supports the claim that the AI label shifts the search stopping threshold.</a:t>
            </a:r>
          </a:p>
        </p:txBody>
      </p:sp>
      <p:sp>
        <p:nvSpPr>
          <p:cNvPr id="12" name="矩形: 圆角 11"/>
          <p:cNvSpPr>
            <a:spLocks noGrp="1"/>
          </p:cNvSpPr>
          <p:nvPr/>
        </p:nvSpPr>
        <p:spPr>
          <a:xfrm>
            <a:off x="6438900" y="2362200"/>
            <a:ext cx="4762500" cy="1676400"/>
          </a:xfrm>
          <a:prstGeom prst="roundRect">
            <a:avLst>
              <a:gd name="adj" fmla="val 6818"/>
            </a:avLst>
          </a:prstGeom>
          <a:solidFill>
            <a:srgbClr val="FEFCF8"/>
          </a:solidFill>
          <a:ln w="9525">
            <a:solidFill>
              <a:srgbClr val="F0E2D1"/>
            </a:solidFill>
            <a:prstDash val="solid"/>
          </a:ln>
        </p:spPr>
      </p:sp>
      <p:sp>
        <p:nvSpPr>
          <p:cNvPr id="13" name="矩形 12"/>
          <p:cNvSpPr>
            <a:spLocks noGrp="1"/>
          </p:cNvSpPr>
          <p:nvPr/>
        </p:nvSpPr>
        <p:spPr>
          <a:xfrm>
            <a:off x="6438900" y="2362200"/>
            <a:ext cx="57150" cy="1676400"/>
          </a:xfrm>
          <a:prstGeom prst="rect">
            <a:avLst/>
          </a:prstGeom>
          <a:solidFill>
            <a:srgbClr val="7A8A68"/>
          </a:solidFill>
          <a:ln w="0">
            <a:solidFill>
              <a:srgbClr val="7A8A68"/>
            </a:solidFill>
            <a:prstDash val="solid"/>
          </a:ln>
        </p:spPr>
      </p:sp>
      <p:sp>
        <p:nvSpPr>
          <p:cNvPr id="14" name="矩形 13"/>
          <p:cNvSpPr>
            <a:spLocks noGrp="1"/>
          </p:cNvSpPr>
          <p:nvPr/>
        </p:nvSpPr>
        <p:spPr>
          <a:xfrm>
            <a:off x="6705600" y="2533650"/>
            <a:ext cx="4305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RQ2: efficient compression</a:t>
            </a:r>
          </a:p>
        </p:txBody>
      </p:sp>
      <p:sp>
        <p:nvSpPr>
          <p:cNvPr id="15" name="矩形 14"/>
          <p:cNvSpPr>
            <a:spLocks noGrp="1"/>
          </p:cNvSpPr>
          <p:nvPr/>
        </p:nvSpPr>
        <p:spPr>
          <a:xfrm>
            <a:off x="6705600" y="2914650"/>
            <a:ext cx="4305300" cy="97155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If search falls under representative summaries without worse full-information performance, the reduction in search is consistent with efficient information compression rather than harmful under-search.</a:t>
            </a:r>
          </a:p>
        </p:txBody>
      </p:sp>
      <p:sp>
        <p:nvSpPr>
          <p:cNvPr id="16" name="矩形: 圆角 15"/>
          <p:cNvSpPr>
            <a:spLocks noGrp="1"/>
          </p:cNvSpPr>
          <p:nvPr/>
        </p:nvSpPr>
        <p:spPr>
          <a:xfrm>
            <a:off x="914400" y="4286250"/>
            <a:ext cx="4762500" cy="1676400"/>
          </a:xfrm>
          <a:prstGeom prst="roundRect">
            <a:avLst>
              <a:gd name="adj" fmla="val 6818"/>
            </a:avLst>
          </a:prstGeom>
          <a:solidFill>
            <a:srgbClr val="FEFCF8"/>
          </a:solidFill>
          <a:ln w="9525">
            <a:solidFill>
              <a:srgbClr val="F0E2D1"/>
            </a:solidFill>
            <a:prstDash val="solid"/>
          </a:ln>
        </p:spPr>
      </p:sp>
      <p:sp>
        <p:nvSpPr>
          <p:cNvPr id="17" name="矩形 16"/>
          <p:cNvSpPr>
            <a:spLocks noGrp="1"/>
          </p:cNvSpPr>
          <p:nvPr/>
        </p:nvSpPr>
        <p:spPr>
          <a:xfrm>
            <a:off x="914400" y="4286250"/>
            <a:ext cx="57150" cy="1676400"/>
          </a:xfrm>
          <a:prstGeom prst="rect">
            <a:avLst/>
          </a:prstGeom>
          <a:solidFill>
            <a:srgbClr val="B45A44"/>
          </a:solidFill>
          <a:ln w="0">
            <a:solidFill>
              <a:srgbClr val="B45A44"/>
            </a:solidFill>
            <a:prstDash val="solid"/>
          </a:ln>
        </p:spPr>
      </p:sp>
      <p:sp>
        <p:nvSpPr>
          <p:cNvPr id="18" name="矩形 17"/>
          <p:cNvSpPr>
            <a:spLocks noGrp="1"/>
          </p:cNvSpPr>
          <p:nvPr/>
        </p:nvSpPr>
        <p:spPr>
          <a:xfrm>
            <a:off x="1181100" y="4457700"/>
            <a:ext cx="4305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RQ2: harmful under-search</a:t>
            </a:r>
          </a:p>
        </p:txBody>
      </p:sp>
      <p:sp>
        <p:nvSpPr>
          <p:cNvPr id="19" name="矩形 18"/>
          <p:cNvSpPr>
            <a:spLocks noGrp="1"/>
          </p:cNvSpPr>
          <p:nvPr/>
        </p:nvSpPr>
        <p:spPr>
          <a:xfrm>
            <a:off x="1181100" y="4838700"/>
            <a:ext cx="4305300" cy="97155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If search still falls under incomplete summaries and full-information deviation grows, the result supports harmful information-acquisition deviation caused by overestimated sufficiency.</a:t>
            </a:r>
          </a:p>
        </p:txBody>
      </p:sp>
      <p:sp>
        <p:nvSpPr>
          <p:cNvPr id="20" name="矩形: 圆角 19"/>
          <p:cNvSpPr>
            <a:spLocks noGrp="1"/>
          </p:cNvSpPr>
          <p:nvPr/>
        </p:nvSpPr>
        <p:spPr>
          <a:xfrm>
            <a:off x="6438900" y="4286250"/>
            <a:ext cx="4762500" cy="1676400"/>
          </a:xfrm>
          <a:prstGeom prst="roundRect">
            <a:avLst>
              <a:gd name="adj" fmla="val 6818"/>
            </a:avLst>
          </a:prstGeom>
          <a:solidFill>
            <a:srgbClr val="FEFCF8"/>
          </a:solidFill>
          <a:ln w="9525">
            <a:solidFill>
              <a:srgbClr val="F0E2D1"/>
            </a:solidFill>
            <a:prstDash val="solid"/>
          </a:ln>
        </p:spPr>
      </p:sp>
      <p:sp>
        <p:nvSpPr>
          <p:cNvPr id="21" name="矩形 20"/>
          <p:cNvSpPr>
            <a:spLocks noGrp="1"/>
          </p:cNvSpPr>
          <p:nvPr/>
        </p:nvSpPr>
        <p:spPr>
          <a:xfrm>
            <a:off x="6438900" y="4286250"/>
            <a:ext cx="57150" cy="1676400"/>
          </a:xfrm>
          <a:prstGeom prst="rect">
            <a:avLst/>
          </a:prstGeom>
          <a:solidFill>
            <a:srgbClr val="D1A63A"/>
          </a:solidFill>
          <a:ln w="0">
            <a:solidFill>
              <a:srgbClr val="D1A63A"/>
            </a:solidFill>
            <a:prstDash val="solid"/>
          </a:ln>
        </p:spPr>
      </p:sp>
      <p:sp>
        <p:nvSpPr>
          <p:cNvPr id="22" name="矩形 21"/>
          <p:cNvSpPr>
            <a:spLocks noGrp="1"/>
          </p:cNvSpPr>
          <p:nvPr/>
        </p:nvSpPr>
        <p:spPr>
          <a:xfrm>
            <a:off x="6705600" y="4457700"/>
            <a:ext cx="4305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RQ3: calibration mismatch</a:t>
            </a:r>
          </a:p>
        </p:txBody>
      </p:sp>
      <p:sp>
        <p:nvSpPr>
          <p:cNvPr id="23" name="矩形 22"/>
          <p:cNvSpPr>
            <a:spLocks noGrp="1"/>
          </p:cNvSpPr>
          <p:nvPr/>
        </p:nvSpPr>
        <p:spPr>
          <a:xfrm>
            <a:off x="6705600" y="4838700"/>
            <a:ext cx="4305300" cy="97155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If AI-summary users show better posterior quality but lower subjective mastery or epistemic ownership, the result supports a mismatch between objective updating quality and subjective information mastery.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1E8"/>
        </a:solidFill>
        <a:effectLst/>
      </p:bgPr>
    </p:bg>
    <p:spTree>
      <p:nvGrpSpPr>
        <p:cNvPr id="1" name=""/>
        <p:cNvGrpSpPr/>
        <p:nvPr/>
      </p:nvGrpSpPr>
      <p:grpSpPr>
        <a:xfrm>
          <a:off x="0" y="0"/>
          <a:ext cx="0" cy="0"/>
          <a:chOff x="0" y="0"/>
          <a:chExt cx="0" cy="0"/>
        </a:xfrm>
      </p:grpSpPr>
      <p:sp>
        <p:nvSpPr>
          <p:cNvPr id="23" name="椭圆 22"/>
          <p:cNvSpPr>
            <a:spLocks noGrp="1"/>
          </p:cNvSpPr>
          <p:nvPr/>
        </p:nvSpPr>
        <p:spPr>
          <a:xfrm>
            <a:off x="9715500" y="-342900"/>
            <a:ext cx="2514600" cy="2247900"/>
          </a:xfrm>
          <a:prstGeom prst="ellipse">
            <a:avLst/>
          </a:prstGeom>
          <a:solidFill>
            <a:srgbClr val="EEE3D2"/>
          </a:solidFill>
          <a:ln w="0">
            <a:noFill/>
            <a:prstDash val="solid"/>
          </a:ln>
        </p:spPr>
      </p:sp>
      <p:sp>
        <p:nvSpPr>
          <p:cNvPr id="2" name="椭圆 1"/>
          <p:cNvSpPr>
            <a:spLocks noGrp="1"/>
          </p:cNvSpPr>
          <p:nvPr/>
        </p:nvSpPr>
        <p:spPr>
          <a:xfrm>
            <a:off x="-704850" y="5105400"/>
            <a:ext cx="1866900" cy="1866900"/>
          </a:xfrm>
          <a:prstGeom prst="ellipse">
            <a:avLst/>
          </a:prstGeom>
          <a:solidFill>
            <a:srgbClr val="EEE3D2"/>
          </a:solidFill>
          <a:ln w="0">
            <a:noFill/>
            <a:prstDash val="solid"/>
          </a:ln>
        </p:spPr>
      </p:sp>
      <p:sp>
        <p:nvSpPr>
          <p:cNvPr id="3" name="矩形 2"/>
          <p:cNvSpPr>
            <a:spLocks noGrp="1"/>
          </p:cNvSpPr>
          <p:nvPr/>
        </p:nvSpPr>
        <p:spPr>
          <a:xfrm>
            <a:off x="552450" y="457200"/>
            <a:ext cx="19050" cy="5943600"/>
          </a:xfrm>
          <a:prstGeom prst="rect">
            <a:avLst/>
          </a:prstGeom>
          <a:solidFill>
            <a:srgbClr val="E7D9C8"/>
          </a:solidFill>
          <a:ln w="0">
            <a:solidFill>
              <a:srgbClr val="E7D9C8"/>
            </a:solidFill>
            <a:prstDash val="solid"/>
          </a:ln>
        </p:spPr>
      </p:sp>
      <p:sp>
        <p:nvSpPr>
          <p:cNvPr id="4" name="矩形 3"/>
          <p:cNvSpPr>
            <a:spLocks noGrp="1"/>
          </p:cNvSpPr>
          <p:nvPr/>
        </p:nvSpPr>
        <p:spPr>
          <a:xfrm>
            <a:off x="914400" y="657225"/>
            <a:ext cx="171450" cy="171450"/>
          </a:xfrm>
          <a:prstGeom prst="rect">
            <a:avLst/>
          </a:prstGeom>
          <a:solidFill>
            <a:srgbClr val="BE643F"/>
          </a:solidFill>
          <a:ln w="0">
            <a:solidFill>
              <a:srgbClr val="BE643F"/>
            </a:solidFill>
            <a:prstDash val="solid"/>
          </a:ln>
        </p:spPr>
      </p:sp>
      <p:sp>
        <p:nvSpPr>
          <p:cNvPr id="5" name="矩形 4"/>
          <p:cNvSpPr>
            <a:spLocks noGrp="1"/>
          </p:cNvSpPr>
          <p:nvPr/>
        </p:nvSpPr>
        <p:spPr>
          <a:xfrm>
            <a:off x="1257300" y="571500"/>
            <a:ext cx="2857500" cy="228600"/>
          </a:xfrm>
          <a:prstGeom prst="rect">
            <a:avLst/>
          </a:prstGeom>
          <a:noFill/>
          <a:ln w="0">
            <a:noFill/>
            <a:prstDash val="solid"/>
          </a:ln>
        </p:spPr>
        <p:txBody>
          <a:bodyPr/>
          <a:lstStyle/>
          <a:p>
            <a:pPr>
              <a:defRPr sz="975" b="1">
                <a:solidFill>
                  <a:srgbClr val="BE643F"/>
                </a:solidFill>
              </a:defRPr>
            </a:pPr>
            <a:r>
              <a:rPr sz="975" b="1">
                <a:solidFill>
                  <a:srgbClr val="BE643F"/>
                </a:solidFill>
                <a:latin typeface="Times New Roman" panose="02020603050405020304" pitchFamily="18" charset="0"/>
              </a:rPr>
              <a:t>EXPECTED CONTRIBUTIONS</a:t>
            </a:r>
          </a:p>
        </p:txBody>
      </p:sp>
      <p:sp>
        <p:nvSpPr>
          <p:cNvPr id="6" name="矩形 5"/>
          <p:cNvSpPr>
            <a:spLocks noGrp="1"/>
          </p:cNvSpPr>
          <p:nvPr/>
        </p:nvSpPr>
        <p:spPr>
          <a:xfrm>
            <a:off x="1009650" y="1028700"/>
            <a:ext cx="9144000" cy="685800"/>
          </a:xfrm>
          <a:prstGeom prst="rect">
            <a:avLst/>
          </a:prstGeom>
          <a:noFill/>
          <a:ln w="0">
            <a:noFill/>
            <a:prstDash val="solid"/>
          </a:ln>
        </p:spPr>
        <p:txBody>
          <a:bodyPr/>
          <a:lstStyle/>
          <a:p>
            <a:pPr>
              <a:defRPr sz="2325" b="1">
                <a:solidFill>
                  <a:srgbClr val="232B3A"/>
                </a:solidFill>
              </a:defRPr>
            </a:pPr>
            <a:r>
              <a:rPr sz="2325" b="1">
                <a:solidFill>
                  <a:srgbClr val="232B3A"/>
                </a:solidFill>
                <a:latin typeface="Times New Roman" panose="02020603050405020304" pitchFamily="18" charset="0"/>
              </a:rPr>
              <a:t>Expected contributions</a:t>
            </a:r>
          </a:p>
        </p:txBody>
      </p:sp>
      <p:sp>
        <p:nvSpPr>
          <p:cNvPr id="7" name="矩形 6"/>
          <p:cNvSpPr>
            <a:spLocks noGrp="1"/>
          </p:cNvSpPr>
          <p:nvPr/>
        </p:nvSpPr>
        <p:spPr>
          <a:xfrm>
            <a:off x="1009650" y="1752600"/>
            <a:ext cx="10096500" cy="495300"/>
          </a:xfrm>
          <a:prstGeom prst="rect">
            <a:avLst/>
          </a:prstGeom>
          <a:noFill/>
          <a:ln w="0">
            <a:noFill/>
            <a:prstDash val="solid"/>
          </a:ln>
        </p:spPr>
        <p:txBody>
          <a:bodyPr/>
          <a:lstStyle/>
          <a:p>
            <a:pPr>
              <a:defRPr sz="1350">
                <a:solidFill>
                  <a:srgbClr val="667085"/>
                </a:solidFill>
              </a:defRPr>
            </a:pPr>
            <a:r>
              <a:rPr sz="1350">
                <a:solidFill>
                  <a:srgbClr val="667085"/>
                </a:solidFill>
                <a:latin typeface="Times New Roman" panose="02020603050405020304" pitchFamily="18" charset="0"/>
              </a:rPr>
              <a:t>The paper contributes by identifying where AI changes additional search, posterior updating, and subjective information mastery.</a:t>
            </a:r>
          </a:p>
        </p:txBody>
      </p:sp>
      <p:sp>
        <p:nvSpPr>
          <p:cNvPr id="8" name="矩形: 圆角 7"/>
          <p:cNvSpPr>
            <a:spLocks noGrp="1"/>
          </p:cNvSpPr>
          <p:nvPr/>
        </p:nvSpPr>
        <p:spPr>
          <a:xfrm>
            <a:off x="914400" y="2400300"/>
            <a:ext cx="3238500" cy="2533650"/>
          </a:xfrm>
          <a:prstGeom prst="roundRect">
            <a:avLst>
              <a:gd name="adj" fmla="val 4511"/>
            </a:avLst>
          </a:prstGeom>
          <a:solidFill>
            <a:srgbClr val="FEFCF8"/>
          </a:solidFill>
          <a:ln w="9525">
            <a:solidFill>
              <a:srgbClr val="F0E2D1"/>
            </a:solidFill>
            <a:prstDash val="solid"/>
          </a:ln>
        </p:spPr>
      </p:sp>
      <p:sp>
        <p:nvSpPr>
          <p:cNvPr id="9" name="矩形 8"/>
          <p:cNvSpPr>
            <a:spLocks noGrp="1"/>
          </p:cNvSpPr>
          <p:nvPr/>
        </p:nvSpPr>
        <p:spPr>
          <a:xfrm>
            <a:off x="914400" y="2400300"/>
            <a:ext cx="57150" cy="2533650"/>
          </a:xfrm>
          <a:prstGeom prst="rect">
            <a:avLst/>
          </a:prstGeom>
          <a:solidFill>
            <a:srgbClr val="BE643F"/>
          </a:solidFill>
          <a:ln w="0">
            <a:solidFill>
              <a:srgbClr val="BE643F"/>
            </a:solidFill>
            <a:prstDash val="solid"/>
          </a:ln>
        </p:spPr>
      </p:sp>
      <p:sp>
        <p:nvSpPr>
          <p:cNvPr id="10" name="矩形 9"/>
          <p:cNvSpPr>
            <a:spLocks noGrp="1"/>
          </p:cNvSpPr>
          <p:nvPr/>
        </p:nvSpPr>
        <p:spPr>
          <a:xfrm>
            <a:off x="1181100" y="2571750"/>
            <a:ext cx="2781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Theoretical move</a:t>
            </a:r>
          </a:p>
        </p:txBody>
      </p:sp>
      <p:sp>
        <p:nvSpPr>
          <p:cNvPr id="11" name="矩形 10"/>
          <p:cNvSpPr>
            <a:spLocks noGrp="1"/>
          </p:cNvSpPr>
          <p:nvPr/>
        </p:nvSpPr>
        <p:spPr>
          <a:xfrm>
            <a:off x="1181100" y="2952750"/>
            <a:ext cx="2781300" cy="182880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The paper shifts the focus from generic trust and automation bias to an evidence-to-belief mechanism: how AI changes users' judgments of evidentiary sufficiency and the stopping rule for further search.</a:t>
            </a:r>
          </a:p>
        </p:txBody>
      </p:sp>
      <p:sp>
        <p:nvSpPr>
          <p:cNvPr id="12" name="矩形: 圆角 11"/>
          <p:cNvSpPr>
            <a:spLocks noGrp="1"/>
          </p:cNvSpPr>
          <p:nvPr/>
        </p:nvSpPr>
        <p:spPr>
          <a:xfrm>
            <a:off x="4476750" y="2400300"/>
            <a:ext cx="3238500" cy="2533650"/>
          </a:xfrm>
          <a:prstGeom prst="roundRect">
            <a:avLst>
              <a:gd name="adj" fmla="val 4511"/>
            </a:avLst>
          </a:prstGeom>
          <a:solidFill>
            <a:srgbClr val="FEFCF8"/>
          </a:solidFill>
          <a:ln w="9525">
            <a:solidFill>
              <a:srgbClr val="F0E2D1"/>
            </a:solidFill>
            <a:prstDash val="solid"/>
          </a:ln>
        </p:spPr>
      </p:sp>
      <p:sp>
        <p:nvSpPr>
          <p:cNvPr id="13" name="矩形 12"/>
          <p:cNvSpPr>
            <a:spLocks noGrp="1"/>
          </p:cNvSpPr>
          <p:nvPr/>
        </p:nvSpPr>
        <p:spPr>
          <a:xfrm>
            <a:off x="4476750" y="2400300"/>
            <a:ext cx="57150" cy="2533650"/>
          </a:xfrm>
          <a:prstGeom prst="rect">
            <a:avLst/>
          </a:prstGeom>
          <a:solidFill>
            <a:srgbClr val="D1A63A"/>
          </a:solidFill>
          <a:ln w="0">
            <a:solidFill>
              <a:srgbClr val="D1A63A"/>
            </a:solidFill>
            <a:prstDash val="solid"/>
          </a:ln>
        </p:spPr>
      </p:sp>
      <p:sp>
        <p:nvSpPr>
          <p:cNvPr id="14" name="矩形 13"/>
          <p:cNvSpPr>
            <a:spLocks noGrp="1"/>
          </p:cNvSpPr>
          <p:nvPr/>
        </p:nvSpPr>
        <p:spPr>
          <a:xfrm>
            <a:off x="4743450" y="2571750"/>
            <a:ext cx="2781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Method contribution</a:t>
            </a:r>
          </a:p>
        </p:txBody>
      </p:sp>
      <p:sp>
        <p:nvSpPr>
          <p:cNvPr id="15" name="矩形 14"/>
          <p:cNvSpPr>
            <a:spLocks noGrp="1"/>
          </p:cNvSpPr>
          <p:nvPr/>
        </p:nvSpPr>
        <p:spPr>
          <a:xfrm>
            <a:off x="4743450" y="2952750"/>
            <a:ext cx="2781300" cy="182880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It extends a classic Bayesian belief-updating paradigm into a company-risk task with summary-first presentation, follow-on evidence search, and same-summary source-label identification.</a:t>
            </a:r>
          </a:p>
        </p:txBody>
      </p:sp>
      <p:sp>
        <p:nvSpPr>
          <p:cNvPr id="16" name="矩形: 圆角 15"/>
          <p:cNvSpPr>
            <a:spLocks noGrp="1"/>
          </p:cNvSpPr>
          <p:nvPr/>
        </p:nvSpPr>
        <p:spPr>
          <a:xfrm>
            <a:off x="8039100" y="2400300"/>
            <a:ext cx="3162300" cy="2533650"/>
          </a:xfrm>
          <a:prstGeom prst="roundRect">
            <a:avLst>
              <a:gd name="adj" fmla="val 4511"/>
            </a:avLst>
          </a:prstGeom>
          <a:solidFill>
            <a:srgbClr val="FEFCF8"/>
          </a:solidFill>
          <a:ln w="9525">
            <a:solidFill>
              <a:srgbClr val="F0E2D1"/>
            </a:solidFill>
            <a:prstDash val="solid"/>
          </a:ln>
        </p:spPr>
      </p:sp>
      <p:sp>
        <p:nvSpPr>
          <p:cNvPr id="17" name="矩形 16"/>
          <p:cNvSpPr>
            <a:spLocks noGrp="1"/>
          </p:cNvSpPr>
          <p:nvPr/>
        </p:nvSpPr>
        <p:spPr>
          <a:xfrm>
            <a:off x="8039100" y="2400300"/>
            <a:ext cx="57150" cy="2533650"/>
          </a:xfrm>
          <a:prstGeom prst="rect">
            <a:avLst/>
          </a:prstGeom>
          <a:solidFill>
            <a:srgbClr val="7A8A68"/>
          </a:solidFill>
          <a:ln w="0">
            <a:solidFill>
              <a:srgbClr val="7A8A68"/>
            </a:solidFill>
            <a:prstDash val="solid"/>
          </a:ln>
        </p:spPr>
      </p:sp>
      <p:sp>
        <p:nvSpPr>
          <p:cNvPr id="18" name="矩形 17"/>
          <p:cNvSpPr>
            <a:spLocks noGrp="1"/>
          </p:cNvSpPr>
          <p:nvPr/>
        </p:nvSpPr>
        <p:spPr>
          <a:xfrm>
            <a:off x="8305800" y="2571750"/>
            <a:ext cx="27051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Substantive contribution</a:t>
            </a:r>
          </a:p>
        </p:txBody>
      </p:sp>
      <p:sp>
        <p:nvSpPr>
          <p:cNvPr id="19" name="矩形 18"/>
          <p:cNvSpPr>
            <a:spLocks noGrp="1"/>
          </p:cNvSpPr>
          <p:nvPr/>
        </p:nvSpPr>
        <p:spPr>
          <a:xfrm>
            <a:off x="8305800" y="2952750"/>
            <a:ext cx="2705100" cy="182880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The paper distinguishes efficient compression from harmful under-search and shows how objective posterior quality can separate from subjective mastery and epistemic ownership.</a:t>
            </a:r>
          </a:p>
        </p:txBody>
      </p:sp>
      <p:sp>
        <p:nvSpPr>
          <p:cNvPr id="20" name="矩形: 圆角 19"/>
          <p:cNvSpPr>
            <a:spLocks noGrp="1"/>
          </p:cNvSpPr>
          <p:nvPr/>
        </p:nvSpPr>
        <p:spPr>
          <a:xfrm>
            <a:off x="1638300" y="5276850"/>
            <a:ext cx="8839200" cy="704850"/>
          </a:xfrm>
          <a:prstGeom prst="roundRect">
            <a:avLst>
              <a:gd name="adj" fmla="val 16216"/>
            </a:avLst>
          </a:prstGeom>
          <a:solidFill>
            <a:srgbClr val="FCFAF6"/>
          </a:solidFill>
          <a:ln w="9525">
            <a:solidFill>
              <a:srgbClr val="F0E2D1"/>
            </a:solidFill>
            <a:prstDash val="solid"/>
          </a:ln>
        </p:spPr>
      </p:sp>
      <p:sp>
        <p:nvSpPr>
          <p:cNvPr id="21" name="矩形 20"/>
          <p:cNvSpPr>
            <a:spLocks noGrp="1"/>
          </p:cNvSpPr>
          <p:nvPr/>
        </p:nvSpPr>
        <p:spPr>
          <a:xfrm>
            <a:off x="1638300" y="5276850"/>
            <a:ext cx="57150" cy="704850"/>
          </a:xfrm>
          <a:prstGeom prst="rect">
            <a:avLst/>
          </a:prstGeom>
          <a:solidFill>
            <a:srgbClr val="BE643F"/>
          </a:solidFill>
          <a:ln w="0">
            <a:solidFill>
              <a:srgbClr val="BE643F"/>
            </a:solidFill>
            <a:prstDash val="solid"/>
          </a:ln>
        </p:spPr>
      </p:sp>
      <p:sp>
        <p:nvSpPr>
          <p:cNvPr id="22" name="矩形 21"/>
          <p:cNvSpPr>
            <a:spLocks noGrp="1"/>
          </p:cNvSpPr>
          <p:nvPr/>
        </p:nvSpPr>
        <p:spPr>
          <a:xfrm>
            <a:off x="1924050" y="5448300"/>
            <a:ext cx="8286750" cy="342900"/>
          </a:xfrm>
          <a:prstGeom prst="rect">
            <a:avLst/>
          </a:prstGeom>
          <a:noFill/>
          <a:ln w="0">
            <a:noFill/>
            <a:prstDash val="solid"/>
          </a:ln>
        </p:spPr>
        <p:txBody>
          <a:bodyPr/>
          <a:lstStyle/>
          <a:p>
            <a:pPr algn="ctr">
              <a:defRPr sz="1350" i="1">
                <a:solidFill>
                  <a:srgbClr val="667085"/>
                </a:solidFill>
              </a:defRPr>
            </a:pPr>
            <a:r>
              <a:rPr sz="1350" i="1">
                <a:solidFill>
                  <a:srgbClr val="667085"/>
                </a:solidFill>
                <a:latin typeface="Times New Roman" panose="02020603050405020304" pitchFamily="18" charset="0"/>
              </a:rPr>
              <a:t>Taken together, the paper asks not only whether AI reduces search, but whether it changes when users feel they have already seen enough.</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2267</Words>
  <Application>Microsoft Office PowerPoint</Application>
  <PresentationFormat>宽屏</PresentationFormat>
  <Paragraphs>206</Paragraphs>
  <Slides>11</Slides>
  <Notes>11</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11</vt:i4>
      </vt:variant>
    </vt:vector>
  </HeadingPairs>
  <TitlesOfParts>
    <vt:vector size="14" baseType="lpstr">
      <vt:lpstr>Calibri</vt:lpstr>
      <vt:lpstr>Times New Roman</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Xiangyu XU</cp:lastModifiedBy>
  <cp:revision>6</cp:revision>
  <dcterms:created xsi:type="dcterms:W3CDTF">2026-07-06T06:02:00Z</dcterms:created>
  <dcterms:modified xsi:type="dcterms:W3CDTF">2026-07-06T07:15:08Z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E2795E8A0ADB45B4ABD05B24C1A19A28_12</vt:lpwstr>
  </property>
</Properties>
</file>