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919c2be1794555" /><Relationship Type="http://schemas.openxmlformats.org/officeDocument/2006/relationships/extended-properties" Target="/docProps/app.xml" Id="R9b73cab7003f438e" /><Relationship Type="http://schemas.openxmlformats.org/officeDocument/2006/relationships/officeDocument" Target="/ppt/presentation.xml" Id="R9e33aaff915943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5343d59664f8d"/>
  </p:sldMasterIdLst>
  <p:notesMasterIdLst>
    <p:notesMasterId xmlns:r="http://schemas.openxmlformats.org/officeDocument/2006/relationships" r:id="R4709f15024b541de"/>
  </p:notesMasterIdLst>
  <p:sldIdLst>
    <p:sldId xmlns:r="http://schemas.openxmlformats.org/officeDocument/2006/relationships" id="256" r:id="R86780c78a0fe4055"/>
    <p:sldId xmlns:r="http://schemas.openxmlformats.org/officeDocument/2006/relationships" id="257" r:id="Rb2538a7cfdf545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f2a44018bb4c1d" /><Relationship Type="http://schemas.openxmlformats.org/officeDocument/2006/relationships/slideMaster" Target="/ppt/slideMasters/slideMaster1.xml" Id="Rc8f5343d59664f8d" /><Relationship Type="http://schemas.openxmlformats.org/officeDocument/2006/relationships/notesMaster" Target="/ppt/notesMasters/notesMaster1.xml" Id="R4709f15024b541de" /><Relationship Type="http://schemas.openxmlformats.org/officeDocument/2006/relationships/presProps" Target="/ppt/presProps.xml" Id="R83b1a7e9d6684d63" /><Relationship Type="http://schemas.openxmlformats.org/officeDocument/2006/relationships/tableStyles" Target="/ppt/tableStyles.xml" Id="Rcc1adc1477144ec2" /><Relationship Type="http://schemas.openxmlformats.org/officeDocument/2006/relationships/slide" Target="/ppt/slides/slide1.xml" Id="R86780c78a0fe4055" /><Relationship Type="http://schemas.openxmlformats.org/officeDocument/2006/relationships/slide" Target="/ppt/slides/slide2.xml" Id="Rb2538a7cfdf545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6baa3e70ae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f77228c48b4782" /><Relationship Type="http://schemas.openxmlformats.org/officeDocument/2006/relationships/notesMaster" Target="/ppt/notesMasters/notesMaster1.xml" Id="R52d4ffe313274f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50905164864d04" /><Relationship Type="http://schemas.openxmlformats.org/officeDocument/2006/relationships/notesMaster" Target="/ppt/notesMasters/notesMaster1.xml" Id="R30fbde18da7d45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3992f66f0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292c39146e4f68" /><Relationship Type="http://schemas.openxmlformats.org/officeDocument/2006/relationships/slideLayout" Target="/ppt/slideLayouts/slideLayout1.xml" Id="R41e94de7dbf34d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e94de7dbf34d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9c5ed516444d5" /><Relationship Type="http://schemas.openxmlformats.org/officeDocument/2006/relationships/notesSlide" Target="/ppt/notesSlides/notesSlide1.xml" Id="R98ce40449c094c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b705d92354d9a" /><Relationship Type="http://schemas.openxmlformats.org/officeDocument/2006/relationships/notesSlide" Target="/ppt/notesSlides/notesSlide2.xml" Id="R657ae4518e954a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E155C-DC0C-45FB-9948-0831D710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50FBD-51E6-4238-800A-58FE79A5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BC576-5916-4E14-9664-14CB8C71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9926CB-7946-4ECD-82FA-09A5E423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13036-F9BB-4568-BDC0-BB31DF21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1 EXPERIMENT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32C3C-9173-4013-8AA1-493EADF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One baseline and four summary conditions feed into one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56770-C2ED-4E53-86B7-37585FC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 first chart shows the 5-group design. The second chart shows how one participant moves through the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95DF6-FDDB-467E-8A6A-C3A4D74F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1. Condition Assignment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CFE2F-0087-4DD1-BC60-8D7E9F9E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1 no-summary baseline + 2 summary labels x 2 summary types = 5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8EBAF-B5AC-4E13-9C07-B64286E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A8E6C-2E61-4BAF-BFC7-0948317E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7E3CB-7635-493E-B24D-0AD1F57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A7DF6-8EED-4D8A-8D31-2008AD07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G1  No-summary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BC5FF-71D4-4E93-A8C3-C4F52F01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Participants skip the summary and enter the common full evidence pool directly.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2D703-C6F9-4F99-8569-3EB30D8B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825FA-78D9-4646-916F-EB398CA4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Unlabeled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BB62E-A17C-458D-850C-8E75AD98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AI-labeled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912A7-5AB3-4D85-9073-859E7FB7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Summary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4AB9F-C915-407F-BDCC-FB73CC6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Complete</a:t>
            </a:r>
          </a:p>
          <a:p xmlns:a="http://schemas.openxmlformats.org/drawingml/2006/main">
            <a:pPr algn="r">
              <a:buNone/>
              <a:def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7717A-7288-4C32-A11A-0DDB6F59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Incomplete</a:t>
            </a:r>
          </a:p>
          <a:p xmlns:a="http://schemas.openxmlformats.org/drawingml/2006/main">
            <a:pPr algn="r">
              <a:buNone/>
              <a:def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F5586-08C8-4A53-BF29-4093B3B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2A68E-262A-47B9-828C-AC2498F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2593F-C454-4514-8480-0E4C5223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8B637-2B24-4143-A8A9-430ADF8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67050"/>
            <a:ext cx="2114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Unlabeled + complete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6954F-D0CA-4BFB-ADA5-A6F290F8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B282A-A4FA-4622-B682-DF6F32B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4DE5AA-206B-44B4-97E6-D2F511F4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AA87E-3C9E-492A-8898-BF0330A5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114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AI-labeled + 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E8FAB9-882C-4EE0-8B84-CA4BF76D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D8477-E7FF-4147-97B1-19CE9248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66F"/>
          </a:solidFill>
          <a:ln xmlns:a="http://schemas.openxmlformats.org/drawingml/2006/main" w="0">
            <a:solidFill>
              <a:srgbClr val="7B866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5F145E-5CE9-414A-B048-F06D05C1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861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3A518-FD94-4431-B37A-A3D0CD95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71900"/>
            <a:ext cx="2114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Unlabeled + incomplete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04C67A-E03E-4F1F-8EFB-C0614183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D9EDA1-DCD5-402D-BD4E-A4619240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66F"/>
          </a:solidFill>
          <a:ln xmlns:a="http://schemas.openxmlformats.org/drawingml/2006/main" w="0">
            <a:solidFill>
              <a:srgbClr val="7B866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A69498-E770-4AC6-B46B-28F3A0AE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E9BE5B-95DD-4B6F-B6CC-1C207B51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71900"/>
            <a:ext cx="2114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AI-labeled + incomplete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5BA093-D7CC-42ED-81CD-838C4DAF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All groups ultimately face the same full evidence pool; only the initial summary exposure changes.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B0E678-60AF-4192-92A9-A727492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C54D28-B35D-42D4-8037-CE43BE14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2. Participant Journey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064ABB-1A80-41E8-A86C-DF9A94A5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Every participant then moves through the same search-and-update sequence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82359E-7E96-4979-905F-B2CCC992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4AE1D8-DC30-4123-B36C-C5740EF7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43C975-68A9-4760-87CB-D5CA2EC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606626-62F1-4A00-BFA6-E48DEDC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Task instruction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Report prior belief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FED0BC-5644-4BB6-A9AB-5AC4B998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8BF643-98AD-4030-9EE0-7123FFD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0DD78F-CB37-4EA5-A5BE-4919A572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FB48FE-1B03-4A2A-BD89-8D7FF672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Assigned to one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of the 5 groups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DC1270-2EE7-4645-BF67-A4062EA9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592182-A3B4-4885-B072-802ECA57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FCDDFE-3002-4D96-A149-7883FC54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CACB9C-3FEA-430F-A461-C894E525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Initial information stage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Baseline: no summary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Others: one of four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summary conditions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1724A3-1133-4C0B-B3B7-D247C7D5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F8404A-CD5F-4A82-88B0-B99E6E31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355140-A742-4129-A388-6813E453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8D0368-28CD-4172-ACF3-B0DE55A4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Search the evidence pool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Pay cost per card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Stop whenever ready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380991-73E6-463E-87F6-C62D520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170D7C-A01A-47B3-ACAD-AEF42EE2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6B6F22-3B57-4FFC-9AD4-494BDEA5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122C5C-A0B9-4077-AB14-80E09FA8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Report final posterior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Make final choice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C96FFD-72BB-449C-A71D-3882485A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4C3ABD-F9B3-4FC7-ABFC-7222874C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F9BF98-7548-4BE4-BA71-3C88AFD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BB26BC-36FE-4398-B15E-229A66F6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Post-task measures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Confidence, perceived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information, ownership,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and comprehension check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5A8BF4-500F-4F04-9F04-A5886922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582284-640B-404D-A166-BC1AB98A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D6A737-3D3C-4AE3-9FEA-2739873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B4AA9B-D458-4E68-AA28-4B441D90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0D794A-7E2B-4459-9FA0-399FF4B1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061F732-109F-4A6D-8B0A-FDDAF888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Key identification: summary groups share the same full evidence pool and search cost; within matched summaries, only the AI source label changes.</a:t>
            </a:r>
          </a:p>
        </p:txBody>
      </p:sp>
    </p:spTree>
    <p:extLst>
      <p:ext uri="{BB962C8B-B14F-4D97-AF65-F5344CB8AC3E}">
        <p14:creationId xmlns:p14="http://schemas.microsoft.com/office/powerpoint/2010/main" val="412568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39504E-8FBB-44EA-B6AD-2A62C3E1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-10668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9679C-54F9-40E2-85C9-0E6B8A87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B61B0-7548-4129-8D31-2DD4C95D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9EBCF-E0A0-48E4-98C7-8464A498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9965-0628-4385-8F38-116AC0E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RQ IDENTIFICATION LOGIC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8961E-5818-43E2-B1B5-05EAA752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three research questions rely on different comparisons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E3215-A7AA-422F-A121-D4C43E51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097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simplified table translates the 5-group design into an audience-friendly logic map for the defense.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E9147-2E30-4DCC-935B-5B92D1DF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0DBF8-5780-4EC9-829A-517CE4CE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Research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5F5C3-DE4B-4FE0-BAB7-B85F1FD2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812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EF7B6-D5A1-4C98-AB7A-159E830B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2447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What is manipulated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CBD97-95AB-4B6F-8F22-5BA25A62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8120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667D4-E14C-4984-A048-CDC92067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764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Key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D0B18-8A8B-4AC2-A543-D391B5DD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981200"/>
            <a:ext cx="33623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A227F-E966-4EBF-B24F-08AFB7D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764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How to read the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6369D-76D3-49D2-A0FA-85072F9B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E33838-D40E-4214-8767-082BF159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RQ1</a:t>
            </a:r>
          </a:p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Does the AI label change the stopping threshold for further search?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26178-3DBB-41D7-9294-0F8FDF5F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2714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371A9-7CC0-48A0-BFC3-8A00ADCA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527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Matched summary groups see the same summary text. Only the AI source label changes, while the evidence pool and search cost stay the same.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B7F46-3214-4DCE-87A5-8334C84E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4574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4E18B-015A-4CB0-995D-506AA1BB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52700"/>
            <a:ext cx="182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AI-labeled summary</a:t>
            </a:r>
          </a:p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vs.</a:t>
            </a:r>
          </a:p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Unlabeled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FDF38-EB8A-4ADA-9060-8F6B342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457450"/>
            <a:ext cx="3362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21A4C5-87B2-4784-BFE9-60FB283D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Less search suggests the AI label lowered the perceived value of extra evidence. More search suggests verification or AI skepticism.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8554B-9826-452B-8855-767A86EC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D8F10-DEB5-41A3-847E-2857ABDD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RQ2</a:t>
            </a:r>
          </a:p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When search falls, is that efficient compression or harmful under-search?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B84973-379E-402E-80F3-E2009EB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24250"/>
            <a:ext cx="2714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06BE23-89CC-498B-B68C-925C83AD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19500"/>
            <a:ext cx="24479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Summary type changes against the same full evidence pool. One summary is complete; the other omits key counterevidence.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FE788-116E-40BC-994C-A817E7DD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5242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D2A608-E930-498D-A918-D37068BC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19500"/>
            <a:ext cx="182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Complete summary</a:t>
            </a:r>
          </a:p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vs.</a:t>
            </a:r>
          </a:p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Incomplete summary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5EB9C8-4B4E-466C-A812-70459634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524250"/>
            <a:ext cx="33623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4FA89B-F56B-4476-A0D2-E978E212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19500"/>
            <a:ext cx="3095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Less search is efficient compression if final judgments stay close to the full-information benchmark. It is harmful when less search produces larger Bayesian deviation.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023254-8888-4A28-9F18-93E796B1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190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8ED5A3-DCC0-4A74-BEAB-4876A086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1924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RQ3</a:t>
            </a:r>
          </a:p>
          <a:p xmlns:a="http://schemas.openxmlformats.org/drawingml/2006/main">
            <a:pPr algn="l">
              <a:def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Does AI create a mismatch between judgment quality and subjective mastery?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25AEF-D594-4EF0-B163-E4AC65C6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91050"/>
            <a:ext cx="2714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473286-AE09-4AFC-A0CB-C7F0F9DE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86300"/>
            <a:ext cx="24479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After the final decision, the study compares confidence, perceived information, understanding, and ownership with Bayesian deviation and comprehension.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F0CCCD-AEB8-48AA-931D-37397143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91050"/>
            <a:ext cx="2095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F7CD78-ED23-4A59-BD44-99908768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86300"/>
            <a:ext cx="1828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Baseline vs.</a:t>
            </a:r>
          </a:p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four summary groups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Label effect within</a:t>
            </a:r>
          </a:p>
          <a:p xmlns:a="http://schemas.openxmlformats.org/drawingml/2006/main">
            <a:pPr algn="ctr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summary groups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786E46-5E6E-48C1-923C-D973422C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591050"/>
            <a:ext cx="33623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18E530-76C8-49FF-B1AB-F162055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86300"/>
            <a:ext cx="3095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Good judgment with low ownership suggests under-ownership. Poor judgment with high confidence suggests false mastery.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5A1491-4386-4A93-A7A6-56CEAFA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AC4FF4-FD02-4F9C-A8F6-BAEC77E6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15025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 table highlights identification logic rather than every downstream variable.</a:t>
            </a:r>
          </a:p>
        </p:txBody>
      </p:sp>
    </p:spTree>
    <p:extLst>
      <p:ext uri="{BB962C8B-B14F-4D97-AF65-F5344CB8AC3E}">
        <p14:creationId xmlns:p14="http://schemas.microsoft.com/office/powerpoint/2010/main" val="4866073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2026-07-04T18:11:34.8590000Z</dcterms:created>
  <dcterms:modified xsi:type="dcterms:W3CDTF">2026-07-04T18:11:34.8590000Z</dcterms:modified>
</coreProperties>
</file>