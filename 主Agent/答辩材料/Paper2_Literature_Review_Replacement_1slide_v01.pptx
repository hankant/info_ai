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52a44952884ed4" /><Relationship Type="http://schemas.openxmlformats.org/officeDocument/2006/relationships/extended-properties" Target="/docProps/app.xml" Id="Rdc1bed7f526e43ec" /><Relationship Type="http://schemas.openxmlformats.org/officeDocument/2006/relationships/officeDocument" Target="/ppt/presentation.xml" Id="Rf68ab1ef941d4738" /></Relationships>
</file>

<file path=ppt/presentation.xml><?xml version="1.0" encoding="utf-8"?>
<p:presentation xmlns:p="http://schemas.openxmlformats.org/presentationml/2006/main">
  <p:sldMasterIdLst>
    <p:sldMasterId xmlns:r="http://schemas.openxmlformats.org/officeDocument/2006/relationships" id="2147483648" r:id="Rc45e7378045d4bc6"/>
  </p:sldMasterIdLst>
  <p:notesMasterIdLst>
    <p:notesMasterId xmlns:r="http://schemas.openxmlformats.org/officeDocument/2006/relationships" r:id="Rff940087b5e54d88"/>
  </p:notesMasterIdLst>
  <p:sldIdLst>
    <p:sldId xmlns:r="http://schemas.openxmlformats.org/officeDocument/2006/relationships" id="256" r:id="R30c0ff8b6d234cf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0d104e9dc6e4846" /><Relationship Type="http://schemas.openxmlformats.org/officeDocument/2006/relationships/slideMaster" Target="/ppt/slideMasters/slideMaster1.xml" Id="Rc45e7378045d4bc6" /><Relationship Type="http://schemas.openxmlformats.org/officeDocument/2006/relationships/notesMaster" Target="/ppt/notesMasters/notesMaster1.xml" Id="Rff940087b5e54d88" /><Relationship Type="http://schemas.openxmlformats.org/officeDocument/2006/relationships/presProps" Target="/ppt/presProps.xml" Id="R06d0c9e22b9e44ed" /><Relationship Type="http://schemas.openxmlformats.org/officeDocument/2006/relationships/tableStyles" Target="/ppt/tableStyles.xml" Id="R98236de4eccd4101" /><Relationship Type="http://schemas.openxmlformats.org/officeDocument/2006/relationships/slide" Target="/ppt/slides/slide1.xml" Id="R30c0ff8b6d234c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14f1ada6a842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7876518ac44986" /><Relationship Type="http://schemas.openxmlformats.org/officeDocument/2006/relationships/notesMaster" Target="/ppt/notesMasters/notesMaster1.xml" Id="R530b9e8c837e47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replacement slide makes the literature review more concrete and citation anchored.</a:t>
            </a:r>
          </a:p>
          <a:p xmlns:a="http://schemas.openxmlformats.org/drawingml/2006/main">
            <a:r>
              <a:t>Lee and See (2004) frame trust in automation as appropriate reliance, which is a useful starting point because the question is not whether people simply trust AI, but whether they rely on it appropriately.</a:t>
            </a:r>
          </a:p>
          <a:p xmlns:a="http://schemas.openxmlformats.org/drawingml/2006/main">
            <a:r>
              <a:t>The advice-taking literature shows that people often discount external advice and overweight their own judgment. That matters because Paper 2 studies self judgment versus AI judgment as competing decision sources.</a:t>
            </a:r>
          </a:p>
          <a:p xmlns:a="http://schemas.openxmlformats.org/drawingml/2006/main">
            <a:r>
              <a:t>Algorithm aversion and appreciation provide the immediate empirical background. Dietvorst, Simmons, and Massey (2015) show that people can reject algorithms after seeing them err, while Logg, Minson, and Moore (2019) show that algorithmic advice can also be appreciated in some contexts. So the point is not a fixed dislike of algorithms.</a:t>
            </a:r>
          </a:p>
          <a:p xmlns:a="http://schemas.openxmlformats.org/drawingml/2006/main">
            <a:r>
              <a:t>EWA then provides the learning language: choices in repeated settings can reflect attraction updating from prior feedback. This is why Paper 2 shifts the unit of analysis from one-shot adoption to a repeated reliance path.</a:t>
            </a:r>
          </a:p>
          <a:p xmlns:a="http://schemas.openxmlformats.org/drawingml/2006/main">
            <a:r>
              <a:t>Full APA references used: Lee, J. D., &amp; See, K. A. (2004). Trust in automation: Designing for appropriate reliance. Human Factors, 46(1), 50-80. Dietvorst, B. J., Simmons, J. P., &amp; Massey, C. (2015). Algorithm aversion: People erroneously avoid algorithms after seeing them err. Journal of Experimental Psychology: General, 144(1), 114-126. Logg, J. M., Minson, J. A., &amp; Moore, D. A. (2019). Algorithm appreciation: People prefer algorithmic to human judgment. Organizational Behavior and Human Decision Processes, 151, 90-103. Yaniv, I., &amp; Kleinberger, E. (2000). Advice taking in decision making: Egocentric discounting and reputation formation. Organizational Behavior and Human Decision Processes, 83(2), 260-281. Bonaccio, S., &amp; Dalal, R. S. (2006). Advice taking and decision-making: An integrative literature review, and implications for the organizational sciences. Organizational Behavior and Human Decision Processes, 101(2), 127-151. Camerer, C., &amp; Ho, T.-H. (1999). Experience-weighted attraction learning in normal form games. Econometrica, 67(4), 827-874.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3e9f5faf8a42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646feb8c6d4f92" /><Relationship Type="http://schemas.openxmlformats.org/officeDocument/2006/relationships/slideLayout" Target="/ppt/slideLayouts/slideLayout1.xml" Id="R5cc25ea77a9946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c25ea77a9946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d5193e3e1054bf8" /><Relationship Type="http://schemas.openxmlformats.org/officeDocument/2006/relationships/notesSlide" Target="/ppt/notesSlides/notesSlide1.xml" Id="Rae50ab6fb05a4bd3" /></Relationships>
</file>

<file path=ppt/slides/slide1.xml><?xml version="1.0" encoding="utf-8"?>
<p:sld xmlns:p="http://schemas.openxmlformats.org/presentationml/2006/main">
  <p:cSld>
    <p:bg>
      <p:bgPr>
        <a:solidFill xmlns:a="http://schemas.openxmlformats.org/drawingml/2006/main">
          <a:srgbClr val="F5F0E6"/>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100D536-D4F6-482F-AE58-19A3015A81B5}"/>
              </a:ext>
            </a:extLst>
          </p:cNvPr>
          <p:cNvSpPr>
            <a:spLocks xmlns:a="http://schemas.openxmlformats.org/drawingml/2006/main" noGrp="1"/>
          </p:cNvSpPr>
          <p:nvPr/>
        </p:nvSpPr>
        <p:spPr>
          <a:xfrm xmlns:a="http://schemas.openxmlformats.org/drawingml/2006/main">
            <a:off x="552450" y="457200"/>
            <a:ext cx="0" cy="5943600"/>
          </a:xfrm>
          <a:prstGeom xmlns:a="http://schemas.openxmlformats.org/drawingml/2006/main" prst="line">
            <a:avLst/>
          </a:prstGeom>
          <a:ln xmlns:a="http://schemas.openxmlformats.org/drawingml/2006/main" w="9525">
            <a:solidFill>
              <a:srgbClr val="D8CCBB"/>
            </a:solidFill>
            <a:prstDash val="solid"/>
          </a:ln>
        </p:spPr>
      </p:sp>
      <p:sp>
        <p:nvSpPr>
          <p:cNvPr id="2" name="">
            <a:extLst xmlns:a="http://schemas.openxmlformats.org/drawingml/2006/main">
              <a:ext uri="{FF2B5EF4-FFF2-40B4-BE49-F238E27FC236}">
                <a16:creationId xmlns:a16="http://schemas.microsoft.com/office/drawing/2014/main" id="{B9CF0E34-7F6D-4629-8C76-24511667E3D3}"/>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ellipse">
            <a:avLst/>
          </a:prstGeom>
          <a:solidFill xmlns:a="http://schemas.openxmlformats.org/drawingml/2006/main">
            <a:srgbClr val="B77845"/>
          </a:solidFill>
          <a:ln xmlns:a="http://schemas.openxmlformats.org/drawingml/2006/main" w="9525">
            <a:solidFill>
              <a:srgbClr val="B77845"/>
            </a:solidFill>
            <a:prstDash val="solid"/>
          </a:ln>
        </p:spPr>
      </p:sp>
      <p:sp>
        <p:nvSpPr>
          <p:cNvPr id="3" name="">
            <a:extLst xmlns:a="http://schemas.openxmlformats.org/drawingml/2006/main">
              <a:ext uri="{FF2B5EF4-FFF2-40B4-BE49-F238E27FC236}">
                <a16:creationId xmlns:a16="http://schemas.microsoft.com/office/drawing/2014/main" id="{B3F5B745-7616-4B72-8011-1088FBD39ABF}"/>
              </a:ext>
            </a:extLst>
          </p:cNvPr>
          <p:cNvSpPr>
            <a:spLocks xmlns:a="http://schemas.openxmlformats.org/drawingml/2006/main" noGrp="1"/>
          </p:cNvSpPr>
          <p:nvPr/>
        </p:nvSpPr>
        <p:spPr>
          <a:xfrm xmlns:a="http://schemas.openxmlformats.org/drawingml/2006/main">
            <a:off x="1219200" y="5905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B77845"/>
                </a:solidFill>
                <a:latin typeface="Times New Roman"/>
                <a:ea typeface="Times New Roman"/>
                <a:cs typeface="Times New Roman"/>
              </a:defRPr>
            </a:pPr>
            <a:r>
              <a:rPr sz="900" b="1" i="0">
                <a:solidFill>
                  <a:srgbClr val="B77845"/>
                </a:solidFill>
                <a:latin typeface="Times New Roman"/>
                <a:ea typeface="Times New Roman"/>
                <a:cs typeface="Times New Roman"/>
              </a:rPr>
              <a:t>EXISTING WORK</a:t>
            </a:r>
          </a:p>
        </p:txBody>
      </p:sp>
      <p:sp>
        <p:nvSpPr>
          <p:cNvPr id="4" name="">
            <a:extLst xmlns:a="http://schemas.openxmlformats.org/drawingml/2006/main">
              <a:ext uri="{FF2B5EF4-FFF2-40B4-BE49-F238E27FC236}">
                <a16:creationId xmlns:a16="http://schemas.microsoft.com/office/drawing/2014/main" id="{D31DFFA2-586D-4E71-B1B7-EF6F58C6BE6E}"/>
              </a:ext>
            </a:extLst>
          </p:cNvPr>
          <p:cNvSpPr>
            <a:spLocks xmlns:a="http://schemas.openxmlformats.org/drawingml/2006/main" noGrp="1"/>
          </p:cNvSpPr>
          <p:nvPr/>
        </p:nvSpPr>
        <p:spPr>
          <a:xfrm xmlns:a="http://schemas.openxmlformats.org/drawingml/2006/main">
            <a:off x="914400" y="952500"/>
            <a:ext cx="914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625" b="1" i="0">
                <a:solidFill>
                  <a:srgbClr val="231D17"/>
                </a:solidFill>
                <a:latin typeface="Times New Roman"/>
                <a:ea typeface="Times New Roman"/>
                <a:cs typeface="Times New Roman"/>
              </a:defRPr>
            </a:pPr>
            <a:r>
              <a:rPr sz="2625" b="1" i="0">
                <a:solidFill>
                  <a:srgbClr val="231D17"/>
                </a:solidFill>
                <a:latin typeface="Times New Roman"/>
                <a:ea typeface="Times New Roman"/>
                <a:cs typeface="Times New Roman"/>
              </a:rPr>
              <a:t>Existing Work Explains Adoption Better Than Reliance Paths</a:t>
            </a:r>
          </a:p>
        </p:txBody>
      </p:sp>
      <p:sp>
        <p:nvSpPr>
          <p:cNvPr id="5" name="">
            <a:extLst xmlns:a="http://schemas.openxmlformats.org/drawingml/2006/main">
              <a:ext uri="{FF2B5EF4-FFF2-40B4-BE49-F238E27FC236}">
                <a16:creationId xmlns:a16="http://schemas.microsoft.com/office/drawing/2014/main" id="{54C82CB8-6E6D-4FD5-A2B7-F93994CD0905}"/>
              </a:ext>
            </a:extLst>
          </p:cNvPr>
          <p:cNvSpPr>
            <a:spLocks xmlns:a="http://schemas.openxmlformats.org/drawingml/2006/main" noGrp="1"/>
          </p:cNvSpPr>
          <p:nvPr/>
        </p:nvSpPr>
        <p:spPr>
          <a:xfrm xmlns:a="http://schemas.openxmlformats.org/drawingml/2006/main">
            <a:off x="914400" y="146685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329"/>
          </a:bodyPr>
          <a:lstStyle xmlns:a="http://schemas.openxmlformats.org/drawingml/2006/main"/>
          <a:p xmlns:a="http://schemas.openxmlformats.org/drawingml/2006/main">
            <a:pPr algn="l">
              <a:lnSpc>
                <a:spcPct val="105000"/>
              </a:lnSpc>
              <a:buNone/>
              <a:defRPr sz="1313" b="0" i="0">
                <a:solidFill>
                  <a:srgbClr val="6F665C"/>
                </a:solidFill>
                <a:latin typeface="Times New Roman"/>
                <a:ea typeface="Times New Roman"/>
                <a:cs typeface="Times New Roman"/>
              </a:defRPr>
            </a:pPr>
            <a:r>
              <a:rPr sz="1313" b="0" i="0">
                <a:solidFill>
                  <a:srgbClr val="6F665C"/>
                </a:solidFill>
                <a:latin typeface="Times New Roman"/>
                <a:ea typeface="Times New Roman"/>
                <a:cs typeface="Times New Roman"/>
              </a:rPr>
              <a:t>The literature already explains trust, advice use, and algorithm error reactions. The unresolved question is how feedback history reshapes later self-versus-AI reliance.</a:t>
            </a:r>
          </a:p>
        </p:txBody>
      </p:sp>
      <p:sp>
        <p:nvSpPr>
          <p:cNvPr id="6" name="">
            <a:extLst xmlns:a="http://schemas.openxmlformats.org/drawingml/2006/main">
              <a:ext uri="{FF2B5EF4-FFF2-40B4-BE49-F238E27FC236}">
                <a16:creationId xmlns:a16="http://schemas.microsoft.com/office/drawing/2014/main" id="{8DFEB189-18F8-47CF-96B3-D3BC14C2CFBA}"/>
              </a:ext>
            </a:extLst>
          </p:cNvPr>
          <p:cNvSpPr>
            <a:spLocks xmlns:a="http://schemas.openxmlformats.org/drawingml/2006/main" noGrp="1"/>
          </p:cNvSpPr>
          <p:nvPr/>
        </p:nvSpPr>
        <p:spPr>
          <a:xfrm xmlns:a="http://schemas.openxmlformats.org/drawingml/2006/main">
            <a:off x="914400" y="2114550"/>
            <a:ext cx="314325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8CCBB"/>
            </a:solidFill>
            <a:prstDash val="solid"/>
          </a:ln>
        </p:spPr>
      </p:sp>
      <p:sp>
        <p:nvSpPr>
          <p:cNvPr id="7" name="">
            <a:extLst xmlns:a="http://schemas.openxmlformats.org/drawingml/2006/main">
              <a:ext uri="{FF2B5EF4-FFF2-40B4-BE49-F238E27FC236}">
                <a16:creationId xmlns:a16="http://schemas.microsoft.com/office/drawing/2014/main" id="{FE4D1B2A-6E33-4B30-8C24-F145930E0264}"/>
              </a:ext>
            </a:extLst>
          </p:cNvPr>
          <p:cNvSpPr>
            <a:spLocks xmlns:a="http://schemas.openxmlformats.org/drawingml/2006/main" noGrp="1"/>
          </p:cNvSpPr>
          <p:nvPr/>
        </p:nvSpPr>
        <p:spPr>
          <a:xfrm xmlns:a="http://schemas.openxmlformats.org/drawingml/2006/main">
            <a:off x="914400" y="2114550"/>
            <a:ext cx="47625" cy="1200150"/>
          </a:xfrm>
          <a:prstGeom xmlns:a="http://schemas.openxmlformats.org/drawingml/2006/main" prst="roundRect">
            <a:avLst>
              <a:gd name="adj" fmla="val 40000"/>
            </a:avLst>
          </a:prstGeom>
          <a:solidFill xmlns:a="http://schemas.openxmlformats.org/drawingml/2006/main">
            <a:srgbClr val="B77845"/>
          </a:solidFill>
          <a:ln xmlns:a="http://schemas.openxmlformats.org/drawingml/2006/main" w="9525">
            <a:solidFill>
              <a:srgbClr val="B77845"/>
            </a:solidFill>
            <a:prstDash val="solid"/>
          </a:ln>
        </p:spPr>
      </p:sp>
      <p:sp>
        <p:nvSpPr>
          <p:cNvPr id="8" name="">
            <a:extLst xmlns:a="http://schemas.openxmlformats.org/drawingml/2006/main">
              <a:ext uri="{FF2B5EF4-FFF2-40B4-BE49-F238E27FC236}">
                <a16:creationId xmlns:a16="http://schemas.microsoft.com/office/drawing/2014/main" id="{F2C46D88-7A01-479D-A4C6-12C828C8A8F3}"/>
              </a:ext>
            </a:extLst>
          </p:cNvPr>
          <p:cNvSpPr>
            <a:spLocks xmlns:a="http://schemas.openxmlformats.org/drawingml/2006/main" noGrp="1"/>
          </p:cNvSpPr>
          <p:nvPr/>
        </p:nvSpPr>
        <p:spPr>
          <a:xfrm xmlns:a="http://schemas.openxmlformats.org/drawingml/2006/main">
            <a:off x="1123950" y="224790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232"/>
          </a:bodyPr>
          <a:lstStyle xmlns:a="http://schemas.openxmlformats.org/drawingml/2006/main"/>
          <a:p xmlns:a="http://schemas.openxmlformats.org/drawingml/2006/main">
            <a:pPr algn="l">
              <a:lnSpc>
                <a:spcPct val="98000"/>
              </a:lnSpc>
              <a:buNone/>
              <a:defRPr sz="1275" b="1" i="0">
                <a:solidFill>
                  <a:srgbClr val="B77845"/>
                </a:solidFill>
                <a:latin typeface="Times New Roman"/>
                <a:ea typeface="Times New Roman"/>
                <a:cs typeface="Times New Roman"/>
              </a:defRPr>
            </a:pPr>
            <a:r>
              <a:rPr sz="1275" b="1" i="0">
                <a:solidFill>
                  <a:srgbClr val="B77845"/>
                </a:solidFill>
                <a:latin typeface="Times New Roman"/>
                <a:ea typeface="Times New Roman"/>
                <a:cs typeface="Times New Roman"/>
              </a:rPr>
              <a:t>Automation trust and appropriate reliance</a:t>
            </a:r>
          </a:p>
        </p:txBody>
      </p:sp>
      <p:sp>
        <p:nvSpPr>
          <p:cNvPr id="9" name="">
            <a:extLst xmlns:a="http://schemas.openxmlformats.org/drawingml/2006/main">
              <a:ext uri="{FF2B5EF4-FFF2-40B4-BE49-F238E27FC236}">
                <a16:creationId xmlns:a16="http://schemas.microsoft.com/office/drawing/2014/main" id="{F2BFDEDB-CCD1-4414-9032-489D05C06584}"/>
              </a:ext>
            </a:extLst>
          </p:cNvPr>
          <p:cNvSpPr>
            <a:spLocks xmlns:a="http://schemas.openxmlformats.org/drawingml/2006/main" noGrp="1"/>
          </p:cNvSpPr>
          <p:nvPr/>
        </p:nvSpPr>
        <p:spPr>
          <a:xfrm xmlns:a="http://schemas.openxmlformats.org/drawingml/2006/main">
            <a:off x="1123950" y="2647950"/>
            <a:ext cx="2724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293"/>
          </a:bodyPr>
          <a:lstStyle xmlns:a="http://schemas.openxmlformats.org/drawingml/2006/main"/>
          <a:p xmlns:a="http://schemas.openxmlformats.org/drawingml/2006/main">
            <a:pPr algn="l">
              <a:lnSpc>
                <a:spcPct val="106000"/>
              </a:lnSpc>
              <a:buNone/>
              <a:defRPr sz="1043" b="0" i="0">
                <a:solidFill>
                  <a:srgbClr val="231D17"/>
                </a:solidFill>
                <a:latin typeface="Times New Roman"/>
                <a:ea typeface="Times New Roman"/>
                <a:cs typeface="Times New Roman"/>
              </a:defRPr>
            </a:pPr>
            <a:r>
              <a:rPr sz="1043" b="0" i="0">
                <a:solidFill>
                  <a:srgbClr val="231D17"/>
                </a:solidFill>
                <a:latin typeface="Times New Roman"/>
                <a:ea typeface="Times New Roman"/>
                <a:cs typeface="Times New Roman"/>
              </a:rPr>
              <a:t>The key issue is not blind trust, but calibrated reliance on automation when its capabilities and limits are understood.</a:t>
            </a:r>
          </a:p>
        </p:txBody>
      </p:sp>
      <p:sp>
        <p:nvSpPr>
          <p:cNvPr id="10" name="">
            <a:extLst xmlns:a="http://schemas.openxmlformats.org/drawingml/2006/main">
              <a:ext uri="{FF2B5EF4-FFF2-40B4-BE49-F238E27FC236}">
                <a16:creationId xmlns:a16="http://schemas.microsoft.com/office/drawing/2014/main" id="{8D0C1CA0-46F9-406E-AD94-6E8557C0393B}"/>
              </a:ext>
            </a:extLst>
          </p:cNvPr>
          <p:cNvSpPr>
            <a:spLocks xmlns:a="http://schemas.openxmlformats.org/drawingml/2006/main" noGrp="1"/>
          </p:cNvSpPr>
          <p:nvPr/>
        </p:nvSpPr>
        <p:spPr>
          <a:xfrm xmlns:a="http://schemas.openxmlformats.org/drawingml/2006/main">
            <a:off x="1123950" y="3105150"/>
            <a:ext cx="2724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15" b="0" i="1">
                <a:solidFill>
                  <a:srgbClr val="6F665C"/>
                </a:solidFill>
                <a:latin typeface="Times New Roman"/>
                <a:ea typeface="Times New Roman"/>
                <a:cs typeface="Times New Roman"/>
              </a:defRPr>
            </a:pPr>
            <a:r>
              <a:rPr sz="915" b="0" i="1">
                <a:solidFill>
                  <a:srgbClr val="6F665C"/>
                </a:solidFill>
                <a:latin typeface="Times New Roman"/>
                <a:ea typeface="Times New Roman"/>
                <a:cs typeface="Times New Roman"/>
              </a:rPr>
              <a:t>(Lee &amp; See, 2004)</a:t>
            </a:r>
          </a:p>
        </p:txBody>
      </p:sp>
      <p:sp>
        <p:nvSpPr>
          <p:cNvPr id="11" name="">
            <a:extLst xmlns:a="http://schemas.openxmlformats.org/drawingml/2006/main">
              <a:ext uri="{FF2B5EF4-FFF2-40B4-BE49-F238E27FC236}">
                <a16:creationId xmlns:a16="http://schemas.microsoft.com/office/drawing/2014/main" id="{6057DC5B-CBC4-4258-AD83-5383E04F7FC0}"/>
              </a:ext>
            </a:extLst>
          </p:cNvPr>
          <p:cNvSpPr>
            <a:spLocks xmlns:a="http://schemas.openxmlformats.org/drawingml/2006/main" noGrp="1"/>
          </p:cNvSpPr>
          <p:nvPr/>
        </p:nvSpPr>
        <p:spPr>
          <a:xfrm xmlns:a="http://schemas.openxmlformats.org/drawingml/2006/main">
            <a:off x="4343400" y="2114550"/>
            <a:ext cx="314325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8CCBB"/>
            </a:solidFill>
            <a:prstDash val="solid"/>
          </a:ln>
        </p:spPr>
      </p:sp>
      <p:sp>
        <p:nvSpPr>
          <p:cNvPr id="12" name="">
            <a:extLst xmlns:a="http://schemas.openxmlformats.org/drawingml/2006/main">
              <a:ext uri="{FF2B5EF4-FFF2-40B4-BE49-F238E27FC236}">
                <a16:creationId xmlns:a16="http://schemas.microsoft.com/office/drawing/2014/main" id="{A68279A4-812F-4157-9ACF-34B6CE36B58E}"/>
              </a:ext>
            </a:extLst>
          </p:cNvPr>
          <p:cNvSpPr>
            <a:spLocks xmlns:a="http://schemas.openxmlformats.org/drawingml/2006/main" noGrp="1"/>
          </p:cNvSpPr>
          <p:nvPr/>
        </p:nvSpPr>
        <p:spPr>
          <a:xfrm xmlns:a="http://schemas.openxmlformats.org/drawingml/2006/main">
            <a:off x="4343400" y="2114550"/>
            <a:ext cx="47625" cy="1200150"/>
          </a:xfrm>
          <a:prstGeom xmlns:a="http://schemas.openxmlformats.org/drawingml/2006/main" prst="roundRect">
            <a:avLst>
              <a:gd name="adj" fmla="val 40000"/>
            </a:avLst>
          </a:prstGeom>
          <a:solidFill xmlns:a="http://schemas.openxmlformats.org/drawingml/2006/main">
            <a:srgbClr val="818A68"/>
          </a:solidFill>
          <a:ln xmlns:a="http://schemas.openxmlformats.org/drawingml/2006/main" w="9525">
            <a:solidFill>
              <a:srgbClr val="818A68"/>
            </a:solidFill>
            <a:prstDash val="solid"/>
          </a:ln>
        </p:spPr>
      </p:sp>
      <p:sp>
        <p:nvSpPr>
          <p:cNvPr id="13" name="">
            <a:extLst xmlns:a="http://schemas.openxmlformats.org/drawingml/2006/main">
              <a:ext uri="{FF2B5EF4-FFF2-40B4-BE49-F238E27FC236}">
                <a16:creationId xmlns:a16="http://schemas.microsoft.com/office/drawing/2014/main" id="{A9591673-183D-4EB7-BBBC-D93F05848AF0}"/>
              </a:ext>
            </a:extLst>
          </p:cNvPr>
          <p:cNvSpPr>
            <a:spLocks xmlns:a="http://schemas.openxmlformats.org/drawingml/2006/main" noGrp="1"/>
          </p:cNvSpPr>
          <p:nvPr/>
        </p:nvSpPr>
        <p:spPr>
          <a:xfrm xmlns:a="http://schemas.openxmlformats.org/drawingml/2006/main">
            <a:off x="4552950" y="224790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521"/>
          </a:bodyPr>
          <a:lstStyle xmlns:a="http://schemas.openxmlformats.org/drawingml/2006/main"/>
          <a:p xmlns:a="http://schemas.openxmlformats.org/drawingml/2006/main">
            <a:pPr algn="l">
              <a:lnSpc>
                <a:spcPct val="98000"/>
              </a:lnSpc>
              <a:buNone/>
              <a:defRPr sz="1275" b="1" i="0">
                <a:solidFill>
                  <a:srgbClr val="818A68"/>
                </a:solidFill>
                <a:latin typeface="Times New Roman"/>
                <a:ea typeface="Times New Roman"/>
                <a:cs typeface="Times New Roman"/>
              </a:defRPr>
            </a:pPr>
            <a:r>
              <a:rPr sz="1275" b="1" i="0">
                <a:solidFill>
                  <a:srgbClr val="818A68"/>
                </a:solidFill>
                <a:latin typeface="Times New Roman"/>
                <a:ea typeface="Times New Roman"/>
                <a:cs typeface="Times New Roman"/>
              </a:rPr>
              <a:t>Advice taking and egocentric discounting</a:t>
            </a:r>
          </a:p>
        </p:txBody>
      </p:sp>
      <p:sp>
        <p:nvSpPr>
          <p:cNvPr id="14" name="">
            <a:extLst xmlns:a="http://schemas.openxmlformats.org/drawingml/2006/main">
              <a:ext uri="{FF2B5EF4-FFF2-40B4-BE49-F238E27FC236}">
                <a16:creationId xmlns:a16="http://schemas.microsoft.com/office/drawing/2014/main" id="{B00832B4-527C-460A-A1AD-8BA683FA5305}"/>
              </a:ext>
            </a:extLst>
          </p:cNvPr>
          <p:cNvSpPr>
            <a:spLocks xmlns:a="http://schemas.openxmlformats.org/drawingml/2006/main" noGrp="1"/>
          </p:cNvSpPr>
          <p:nvPr/>
        </p:nvSpPr>
        <p:spPr>
          <a:xfrm xmlns:a="http://schemas.openxmlformats.org/drawingml/2006/main">
            <a:off x="4552950" y="2647950"/>
            <a:ext cx="2724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811"/>
          </a:bodyPr>
          <a:lstStyle xmlns:a="http://schemas.openxmlformats.org/drawingml/2006/main"/>
          <a:p xmlns:a="http://schemas.openxmlformats.org/drawingml/2006/main">
            <a:pPr algn="l">
              <a:lnSpc>
                <a:spcPct val="106000"/>
              </a:lnSpc>
              <a:buNone/>
              <a:defRPr sz="1043" b="0" i="0">
                <a:solidFill>
                  <a:srgbClr val="231D17"/>
                </a:solidFill>
                <a:latin typeface="Times New Roman"/>
                <a:ea typeface="Times New Roman"/>
                <a:cs typeface="Times New Roman"/>
              </a:defRPr>
            </a:pPr>
            <a:r>
              <a:rPr sz="1043" b="0" i="0">
                <a:solidFill>
                  <a:srgbClr val="231D17"/>
                </a:solidFill>
                <a:latin typeface="Times New Roman"/>
                <a:ea typeface="Times New Roman"/>
                <a:cs typeface="Times New Roman"/>
              </a:rPr>
              <a:t>People often discount external advice and overweight their own judgment, even when advice could improve decisions.</a:t>
            </a:r>
          </a:p>
        </p:txBody>
      </p:sp>
      <p:sp>
        <p:nvSpPr>
          <p:cNvPr id="15" name="">
            <a:extLst xmlns:a="http://schemas.openxmlformats.org/drawingml/2006/main">
              <a:ext uri="{FF2B5EF4-FFF2-40B4-BE49-F238E27FC236}">
                <a16:creationId xmlns:a16="http://schemas.microsoft.com/office/drawing/2014/main" id="{D35DEC92-D328-4EBB-992E-703BD6690A72}"/>
              </a:ext>
            </a:extLst>
          </p:cNvPr>
          <p:cNvSpPr>
            <a:spLocks xmlns:a="http://schemas.openxmlformats.org/drawingml/2006/main" noGrp="1"/>
          </p:cNvSpPr>
          <p:nvPr/>
        </p:nvSpPr>
        <p:spPr>
          <a:xfrm xmlns:a="http://schemas.openxmlformats.org/drawingml/2006/main">
            <a:off x="4552950" y="3105150"/>
            <a:ext cx="2724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15" b="0" i="1">
                <a:solidFill>
                  <a:srgbClr val="6F665C"/>
                </a:solidFill>
                <a:latin typeface="Times New Roman"/>
                <a:ea typeface="Times New Roman"/>
                <a:cs typeface="Times New Roman"/>
              </a:defRPr>
            </a:pPr>
            <a:r>
              <a:rPr sz="915" b="0" i="1">
                <a:solidFill>
                  <a:srgbClr val="6F665C"/>
                </a:solidFill>
                <a:latin typeface="Times New Roman"/>
                <a:ea typeface="Times New Roman"/>
                <a:cs typeface="Times New Roman"/>
              </a:rPr>
              <a:t>(Yaniv &amp; Kleinberger, 2000; Bonaccio &amp; Dalal, 2006)</a:t>
            </a:r>
          </a:p>
        </p:txBody>
      </p:sp>
      <p:sp>
        <p:nvSpPr>
          <p:cNvPr id="16" name="">
            <a:extLst xmlns:a="http://schemas.openxmlformats.org/drawingml/2006/main">
              <a:ext uri="{FF2B5EF4-FFF2-40B4-BE49-F238E27FC236}">
                <a16:creationId xmlns:a16="http://schemas.microsoft.com/office/drawing/2014/main" id="{903384A9-6CA6-465A-BA3E-3F5FB8FEC87C}"/>
              </a:ext>
            </a:extLst>
          </p:cNvPr>
          <p:cNvSpPr>
            <a:spLocks xmlns:a="http://schemas.openxmlformats.org/drawingml/2006/main" noGrp="1"/>
          </p:cNvSpPr>
          <p:nvPr/>
        </p:nvSpPr>
        <p:spPr>
          <a:xfrm xmlns:a="http://schemas.openxmlformats.org/drawingml/2006/main">
            <a:off x="914400" y="3486150"/>
            <a:ext cx="314325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8CCBB"/>
            </a:solidFill>
            <a:prstDash val="solid"/>
          </a:ln>
        </p:spPr>
      </p:sp>
      <p:sp>
        <p:nvSpPr>
          <p:cNvPr id="17" name="">
            <a:extLst xmlns:a="http://schemas.openxmlformats.org/drawingml/2006/main">
              <a:ext uri="{FF2B5EF4-FFF2-40B4-BE49-F238E27FC236}">
                <a16:creationId xmlns:a16="http://schemas.microsoft.com/office/drawing/2014/main" id="{FCBAC798-F7BF-4FA3-BD40-912C76C3A31A}"/>
              </a:ext>
            </a:extLst>
          </p:cNvPr>
          <p:cNvSpPr>
            <a:spLocks xmlns:a="http://schemas.openxmlformats.org/drawingml/2006/main" noGrp="1"/>
          </p:cNvSpPr>
          <p:nvPr/>
        </p:nvSpPr>
        <p:spPr>
          <a:xfrm xmlns:a="http://schemas.openxmlformats.org/drawingml/2006/main">
            <a:off x="914400" y="3486150"/>
            <a:ext cx="47625" cy="1200150"/>
          </a:xfrm>
          <a:prstGeom xmlns:a="http://schemas.openxmlformats.org/drawingml/2006/main" prst="roundRect">
            <a:avLst>
              <a:gd name="adj" fmla="val 40000"/>
            </a:avLst>
          </a:prstGeom>
          <a:solidFill xmlns:a="http://schemas.openxmlformats.org/drawingml/2006/main">
            <a:srgbClr val="23384A"/>
          </a:solidFill>
          <a:ln xmlns:a="http://schemas.openxmlformats.org/drawingml/2006/main" w="9525">
            <a:solidFill>
              <a:srgbClr val="23384A"/>
            </a:solidFill>
            <a:prstDash val="solid"/>
          </a:ln>
        </p:spPr>
      </p:sp>
      <p:sp>
        <p:nvSpPr>
          <p:cNvPr id="18" name="">
            <a:extLst xmlns:a="http://schemas.openxmlformats.org/drawingml/2006/main">
              <a:ext uri="{FF2B5EF4-FFF2-40B4-BE49-F238E27FC236}">
                <a16:creationId xmlns:a16="http://schemas.microsoft.com/office/drawing/2014/main" id="{B4D7CFCE-CD96-4AB2-8EE0-CA3DE5AF775D}"/>
              </a:ext>
            </a:extLst>
          </p:cNvPr>
          <p:cNvSpPr>
            <a:spLocks xmlns:a="http://schemas.openxmlformats.org/drawingml/2006/main" noGrp="1"/>
          </p:cNvSpPr>
          <p:nvPr/>
        </p:nvSpPr>
        <p:spPr>
          <a:xfrm xmlns:a="http://schemas.openxmlformats.org/drawingml/2006/main">
            <a:off x="1123950" y="361950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275" b="1" i="0">
                <a:solidFill>
                  <a:srgbClr val="23384A"/>
                </a:solidFill>
                <a:latin typeface="Times New Roman"/>
                <a:ea typeface="Times New Roman"/>
                <a:cs typeface="Times New Roman"/>
              </a:defRPr>
            </a:pPr>
            <a:r>
              <a:rPr sz="1275" b="1" i="0">
                <a:solidFill>
                  <a:srgbClr val="23384A"/>
                </a:solidFill>
                <a:latin typeface="Times New Roman"/>
                <a:ea typeface="Times New Roman"/>
                <a:cs typeface="Times New Roman"/>
              </a:rPr>
              <a:t>Algorithm aversion and appreciation</a:t>
            </a:r>
          </a:p>
        </p:txBody>
      </p:sp>
      <p:sp>
        <p:nvSpPr>
          <p:cNvPr id="19" name="">
            <a:extLst xmlns:a="http://schemas.openxmlformats.org/drawingml/2006/main">
              <a:ext uri="{FF2B5EF4-FFF2-40B4-BE49-F238E27FC236}">
                <a16:creationId xmlns:a16="http://schemas.microsoft.com/office/drawing/2014/main" id="{EBC912BD-3DAC-4D2B-9FFC-8CC42C3D921E}"/>
              </a:ext>
            </a:extLst>
          </p:cNvPr>
          <p:cNvSpPr>
            <a:spLocks xmlns:a="http://schemas.openxmlformats.org/drawingml/2006/main" noGrp="1"/>
          </p:cNvSpPr>
          <p:nvPr/>
        </p:nvSpPr>
        <p:spPr>
          <a:xfrm xmlns:a="http://schemas.openxmlformats.org/drawingml/2006/main">
            <a:off x="1123950" y="4019550"/>
            <a:ext cx="2724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9131"/>
          </a:bodyPr>
          <a:lstStyle xmlns:a="http://schemas.openxmlformats.org/drawingml/2006/main"/>
          <a:p xmlns:a="http://schemas.openxmlformats.org/drawingml/2006/main">
            <a:pPr algn="l">
              <a:lnSpc>
                <a:spcPct val="106000"/>
              </a:lnSpc>
              <a:buNone/>
              <a:defRPr sz="1043" b="0" i="0">
                <a:solidFill>
                  <a:srgbClr val="231D17"/>
                </a:solidFill>
                <a:latin typeface="Times New Roman"/>
                <a:ea typeface="Times New Roman"/>
                <a:cs typeface="Times New Roman"/>
              </a:defRPr>
            </a:pPr>
            <a:r>
              <a:rPr sz="1043" b="0" i="0">
                <a:solidFill>
                  <a:srgbClr val="231D17"/>
                </a:solidFill>
                <a:latin typeface="Times New Roman"/>
                <a:ea typeface="Times New Roman"/>
                <a:cs typeface="Times New Roman"/>
              </a:rPr>
              <a:t>Algorithmic sources can be punished after visible errors, but algorithmic advice can also be preferred in some judgment tasks.</a:t>
            </a:r>
          </a:p>
        </p:txBody>
      </p:sp>
      <p:sp>
        <p:nvSpPr>
          <p:cNvPr id="20" name="">
            <a:extLst xmlns:a="http://schemas.openxmlformats.org/drawingml/2006/main">
              <a:ext uri="{FF2B5EF4-FFF2-40B4-BE49-F238E27FC236}">
                <a16:creationId xmlns:a16="http://schemas.microsoft.com/office/drawing/2014/main" id="{600D6E89-103C-443C-AC63-93059DCD51A3}"/>
              </a:ext>
            </a:extLst>
          </p:cNvPr>
          <p:cNvSpPr>
            <a:spLocks xmlns:a="http://schemas.openxmlformats.org/drawingml/2006/main" noGrp="1"/>
          </p:cNvSpPr>
          <p:nvPr/>
        </p:nvSpPr>
        <p:spPr>
          <a:xfrm xmlns:a="http://schemas.openxmlformats.org/drawingml/2006/main">
            <a:off x="1123950" y="4476750"/>
            <a:ext cx="2724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15" b="0" i="1">
                <a:solidFill>
                  <a:srgbClr val="6F665C"/>
                </a:solidFill>
                <a:latin typeface="Times New Roman"/>
                <a:ea typeface="Times New Roman"/>
                <a:cs typeface="Times New Roman"/>
              </a:defRPr>
            </a:pPr>
            <a:r>
              <a:rPr sz="915" b="0" i="1">
                <a:solidFill>
                  <a:srgbClr val="6F665C"/>
                </a:solidFill>
                <a:latin typeface="Times New Roman"/>
                <a:ea typeface="Times New Roman"/>
                <a:cs typeface="Times New Roman"/>
              </a:rPr>
              <a:t>(Dietvorst et al., 2015; Logg et al., 2019)</a:t>
            </a:r>
          </a:p>
        </p:txBody>
      </p:sp>
      <p:sp>
        <p:nvSpPr>
          <p:cNvPr id="21" name="">
            <a:extLst xmlns:a="http://schemas.openxmlformats.org/drawingml/2006/main">
              <a:ext uri="{FF2B5EF4-FFF2-40B4-BE49-F238E27FC236}">
                <a16:creationId xmlns:a16="http://schemas.microsoft.com/office/drawing/2014/main" id="{2D5D079D-04EF-4964-A530-72762571A502}"/>
              </a:ext>
            </a:extLst>
          </p:cNvPr>
          <p:cNvSpPr>
            <a:spLocks xmlns:a="http://schemas.openxmlformats.org/drawingml/2006/main" noGrp="1"/>
          </p:cNvSpPr>
          <p:nvPr/>
        </p:nvSpPr>
        <p:spPr>
          <a:xfrm xmlns:a="http://schemas.openxmlformats.org/drawingml/2006/main">
            <a:off x="4343400" y="3486150"/>
            <a:ext cx="314325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8CCBB"/>
            </a:solidFill>
            <a:prstDash val="solid"/>
          </a:ln>
        </p:spPr>
      </p:sp>
      <p:sp>
        <p:nvSpPr>
          <p:cNvPr id="22" name="">
            <a:extLst xmlns:a="http://schemas.openxmlformats.org/drawingml/2006/main">
              <a:ext uri="{FF2B5EF4-FFF2-40B4-BE49-F238E27FC236}">
                <a16:creationId xmlns:a16="http://schemas.microsoft.com/office/drawing/2014/main" id="{6F879224-0D58-42B9-83B9-1CC2424D7D17}"/>
              </a:ext>
            </a:extLst>
          </p:cNvPr>
          <p:cNvSpPr>
            <a:spLocks xmlns:a="http://schemas.openxmlformats.org/drawingml/2006/main" noGrp="1"/>
          </p:cNvSpPr>
          <p:nvPr/>
        </p:nvSpPr>
        <p:spPr>
          <a:xfrm xmlns:a="http://schemas.openxmlformats.org/drawingml/2006/main">
            <a:off x="4343400" y="3486150"/>
            <a:ext cx="47625" cy="1200150"/>
          </a:xfrm>
          <a:prstGeom xmlns:a="http://schemas.openxmlformats.org/drawingml/2006/main" prst="roundRect">
            <a:avLst>
              <a:gd name="adj" fmla="val 40000"/>
            </a:avLst>
          </a:prstGeom>
          <a:solidFill xmlns:a="http://schemas.openxmlformats.org/drawingml/2006/main">
            <a:srgbClr val="B77845"/>
          </a:solidFill>
          <a:ln xmlns:a="http://schemas.openxmlformats.org/drawingml/2006/main" w="9525">
            <a:solidFill>
              <a:srgbClr val="B77845"/>
            </a:solidFill>
            <a:prstDash val="solid"/>
          </a:ln>
        </p:spPr>
      </p:sp>
      <p:sp>
        <p:nvSpPr>
          <p:cNvPr id="23" name="">
            <a:extLst xmlns:a="http://schemas.openxmlformats.org/drawingml/2006/main">
              <a:ext uri="{FF2B5EF4-FFF2-40B4-BE49-F238E27FC236}">
                <a16:creationId xmlns:a16="http://schemas.microsoft.com/office/drawing/2014/main" id="{5A21E42D-5CAC-441F-B1DF-786C6B6D0E84}"/>
              </a:ext>
            </a:extLst>
          </p:cNvPr>
          <p:cNvSpPr>
            <a:spLocks xmlns:a="http://schemas.openxmlformats.org/drawingml/2006/main" noGrp="1"/>
          </p:cNvSpPr>
          <p:nvPr/>
        </p:nvSpPr>
        <p:spPr>
          <a:xfrm xmlns:a="http://schemas.openxmlformats.org/drawingml/2006/main">
            <a:off x="4552950" y="361950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32"/>
          </a:bodyPr>
          <a:lstStyle xmlns:a="http://schemas.openxmlformats.org/drawingml/2006/main"/>
          <a:p xmlns:a="http://schemas.openxmlformats.org/drawingml/2006/main">
            <a:pPr algn="l">
              <a:lnSpc>
                <a:spcPct val="98000"/>
              </a:lnSpc>
              <a:buNone/>
              <a:defRPr sz="1275" b="1" i="0">
                <a:solidFill>
                  <a:srgbClr val="B77845"/>
                </a:solidFill>
                <a:latin typeface="Times New Roman"/>
                <a:ea typeface="Times New Roman"/>
                <a:cs typeface="Times New Roman"/>
              </a:defRPr>
            </a:pPr>
            <a:r>
              <a:rPr sz="1275" b="1" i="0">
                <a:solidFill>
                  <a:srgbClr val="B77845"/>
                </a:solidFill>
                <a:latin typeface="Times New Roman"/>
                <a:ea typeface="Times New Roman"/>
                <a:cs typeface="Times New Roman"/>
              </a:rPr>
              <a:t>Repeated feedback and attraction updating</a:t>
            </a:r>
          </a:p>
        </p:txBody>
      </p:sp>
      <p:sp>
        <p:nvSpPr>
          <p:cNvPr id="24" name="">
            <a:extLst xmlns:a="http://schemas.openxmlformats.org/drawingml/2006/main">
              <a:ext uri="{FF2B5EF4-FFF2-40B4-BE49-F238E27FC236}">
                <a16:creationId xmlns:a16="http://schemas.microsoft.com/office/drawing/2014/main" id="{3C4D19C4-73D7-40F6-9878-44E5A89FD854}"/>
              </a:ext>
            </a:extLst>
          </p:cNvPr>
          <p:cNvSpPr>
            <a:spLocks xmlns:a="http://schemas.openxmlformats.org/drawingml/2006/main" noGrp="1"/>
          </p:cNvSpPr>
          <p:nvPr/>
        </p:nvSpPr>
        <p:spPr>
          <a:xfrm xmlns:a="http://schemas.openxmlformats.org/drawingml/2006/main">
            <a:off x="4552950" y="4019550"/>
            <a:ext cx="2724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43" b="0" i="0">
                <a:solidFill>
                  <a:srgbClr val="231D17"/>
                </a:solidFill>
                <a:latin typeface="Times New Roman"/>
                <a:ea typeface="Times New Roman"/>
                <a:cs typeface="Times New Roman"/>
              </a:defRPr>
            </a:pPr>
            <a:r>
              <a:rPr sz="1043" b="0" i="0">
                <a:solidFill>
                  <a:srgbClr val="231D17"/>
                </a:solidFill>
                <a:latin typeface="Times New Roman"/>
                <a:ea typeface="Times New Roman"/>
                <a:cs typeface="Times New Roman"/>
              </a:rPr>
              <a:t>EWA gives a language for repeated choices: past feedback changes the attraction of later options.</a:t>
            </a:r>
          </a:p>
        </p:txBody>
      </p:sp>
      <p:sp>
        <p:nvSpPr>
          <p:cNvPr id="25" name="">
            <a:extLst xmlns:a="http://schemas.openxmlformats.org/drawingml/2006/main">
              <a:ext uri="{FF2B5EF4-FFF2-40B4-BE49-F238E27FC236}">
                <a16:creationId xmlns:a16="http://schemas.microsoft.com/office/drawing/2014/main" id="{E5525E8B-3422-4187-ACA5-DFC048C8E363}"/>
              </a:ext>
            </a:extLst>
          </p:cNvPr>
          <p:cNvSpPr>
            <a:spLocks xmlns:a="http://schemas.openxmlformats.org/drawingml/2006/main" noGrp="1"/>
          </p:cNvSpPr>
          <p:nvPr/>
        </p:nvSpPr>
        <p:spPr>
          <a:xfrm xmlns:a="http://schemas.openxmlformats.org/drawingml/2006/main">
            <a:off x="4552950" y="4476750"/>
            <a:ext cx="2724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15" b="0" i="1">
                <a:solidFill>
                  <a:srgbClr val="6F665C"/>
                </a:solidFill>
                <a:latin typeface="Times New Roman"/>
                <a:ea typeface="Times New Roman"/>
                <a:cs typeface="Times New Roman"/>
              </a:defRPr>
            </a:pPr>
            <a:r>
              <a:rPr sz="915" b="0" i="1">
                <a:solidFill>
                  <a:srgbClr val="6F665C"/>
                </a:solidFill>
                <a:latin typeface="Times New Roman"/>
                <a:ea typeface="Times New Roman"/>
                <a:cs typeface="Times New Roman"/>
              </a:rPr>
              <a:t>(Camerer &amp; Ho, 1999)</a:t>
            </a:r>
          </a:p>
        </p:txBody>
      </p:sp>
      <p:sp>
        <p:nvSpPr>
          <p:cNvPr id="26" name="">
            <a:extLst xmlns:a="http://schemas.openxmlformats.org/drawingml/2006/main">
              <a:ext uri="{FF2B5EF4-FFF2-40B4-BE49-F238E27FC236}">
                <a16:creationId xmlns:a16="http://schemas.microsoft.com/office/drawing/2014/main" id="{6138B6FB-BE48-4972-B0C3-416B62CCCD6C}"/>
              </a:ext>
            </a:extLst>
          </p:cNvPr>
          <p:cNvSpPr>
            <a:spLocks xmlns:a="http://schemas.openxmlformats.org/drawingml/2006/main" noGrp="1"/>
          </p:cNvSpPr>
          <p:nvPr/>
        </p:nvSpPr>
        <p:spPr>
          <a:xfrm xmlns:a="http://schemas.openxmlformats.org/drawingml/2006/main">
            <a:off x="7810500" y="2114550"/>
            <a:ext cx="3429000" cy="2381250"/>
          </a:xfrm>
          <a:prstGeom xmlns:a="http://schemas.openxmlformats.org/drawingml/2006/main" prst="roundRect">
            <a:avLst>
              <a:gd name="adj" fmla="val 4800"/>
            </a:avLst>
          </a:prstGeom>
          <a:solidFill xmlns:a="http://schemas.openxmlformats.org/drawingml/2006/main">
            <a:srgbClr val="FBF7F0"/>
          </a:solidFill>
          <a:ln xmlns:a="http://schemas.openxmlformats.org/drawingml/2006/main" w="9525">
            <a:solidFill>
              <a:srgbClr val="D8CCBB"/>
            </a:solidFill>
            <a:prstDash val="solid"/>
          </a:ln>
        </p:spPr>
      </p:sp>
      <p:sp>
        <p:nvSpPr>
          <p:cNvPr id="27" name="">
            <a:extLst xmlns:a="http://schemas.openxmlformats.org/drawingml/2006/main">
              <a:ext uri="{FF2B5EF4-FFF2-40B4-BE49-F238E27FC236}">
                <a16:creationId xmlns:a16="http://schemas.microsoft.com/office/drawing/2014/main" id="{C86EEB10-0082-4F3C-B72F-18C5C941CC5E}"/>
              </a:ext>
            </a:extLst>
          </p:cNvPr>
          <p:cNvSpPr>
            <a:spLocks xmlns:a="http://schemas.openxmlformats.org/drawingml/2006/main" noGrp="1"/>
          </p:cNvSpPr>
          <p:nvPr/>
        </p:nvSpPr>
        <p:spPr>
          <a:xfrm xmlns:a="http://schemas.openxmlformats.org/drawingml/2006/main">
            <a:off x="8077200" y="23431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5000"/>
              </a:lnSpc>
              <a:buNone/>
              <a:defRPr sz="1875" b="1" i="0">
                <a:solidFill>
                  <a:srgbClr val="231D17"/>
                </a:solidFill>
                <a:latin typeface="Times New Roman"/>
                <a:ea typeface="Times New Roman"/>
                <a:cs typeface="Times New Roman"/>
              </a:defRPr>
            </a:pPr>
            <a:r>
              <a:rPr sz="1875" b="1" i="0">
                <a:solidFill>
                  <a:srgbClr val="231D17"/>
                </a:solidFill>
                <a:latin typeface="Times New Roman"/>
                <a:ea typeface="Times New Roman"/>
                <a:cs typeface="Times New Roman"/>
              </a:rPr>
              <a:t>What remains missing</a:t>
            </a:r>
          </a:p>
        </p:txBody>
      </p:sp>
      <p:sp>
        <p:nvSpPr>
          <p:cNvPr id="28" name="">
            <a:extLst xmlns:a="http://schemas.openxmlformats.org/drawingml/2006/main">
              <a:ext uri="{FF2B5EF4-FFF2-40B4-BE49-F238E27FC236}">
                <a16:creationId xmlns:a16="http://schemas.microsoft.com/office/drawing/2014/main" id="{1D7E10FD-2517-4444-803E-282046C38CF5}"/>
              </a:ext>
            </a:extLst>
          </p:cNvPr>
          <p:cNvSpPr>
            <a:spLocks xmlns:a="http://schemas.openxmlformats.org/drawingml/2006/main" noGrp="1"/>
          </p:cNvSpPr>
          <p:nvPr/>
        </p:nvSpPr>
        <p:spPr>
          <a:xfrm xmlns:a="http://schemas.openxmlformats.org/drawingml/2006/main">
            <a:off x="7943850" y="2857500"/>
            <a:ext cx="400050" cy="400050"/>
          </a:xfrm>
          <a:prstGeom xmlns:a="http://schemas.openxmlformats.org/drawingml/2006/main" prst="ellipse">
            <a:avLst/>
          </a:prstGeom>
          <a:solidFill xmlns:a="http://schemas.openxmlformats.org/drawingml/2006/main">
            <a:srgbClr val="23384A"/>
          </a:solidFill>
          <a:ln xmlns:a="http://schemas.openxmlformats.org/drawingml/2006/main" w="9525">
            <a:solidFill>
              <a:srgbClr val="23384A"/>
            </a:solidFill>
            <a:prstDash val="solid"/>
          </a:ln>
        </p:spPr>
      </p:sp>
      <p:sp>
        <p:nvSpPr>
          <p:cNvPr id="29" name="">
            <a:extLst xmlns:a="http://schemas.openxmlformats.org/drawingml/2006/main">
              <a:ext uri="{FF2B5EF4-FFF2-40B4-BE49-F238E27FC236}">
                <a16:creationId xmlns:a16="http://schemas.microsoft.com/office/drawing/2014/main" id="{6962B9DA-DE48-40DE-B0A7-D9C70B3B7C26}"/>
              </a:ext>
            </a:extLst>
          </p:cNvPr>
          <p:cNvSpPr>
            <a:spLocks xmlns:a="http://schemas.openxmlformats.org/drawingml/2006/main" noGrp="1"/>
          </p:cNvSpPr>
          <p:nvPr/>
        </p:nvSpPr>
        <p:spPr>
          <a:xfrm xmlns:a="http://schemas.openxmlformats.org/drawingml/2006/main">
            <a:off x="8077200" y="2962275"/>
            <a:ext cx="133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4656"/>
          </a:bodyPr>
          <a:lstStyle xmlns:a="http://schemas.openxmlformats.org/drawingml/2006/main"/>
          <a:p xmlns:a="http://schemas.openxmlformats.org/drawingml/2006/main">
            <a:pPr algn="ctr">
              <a:lnSpc>
                <a:spcPct val="105000"/>
              </a:lnSpc>
              <a:buNone/>
              <a:defRPr sz="1125" b="1" i="0">
                <a:solidFill>
                  <a:srgbClr val="F5F0E6"/>
                </a:solidFill>
                <a:latin typeface="Times New Roman"/>
                <a:ea typeface="Times New Roman"/>
                <a:cs typeface="Times New Roman"/>
              </a:defRPr>
            </a:pPr>
            <a:r>
              <a:rPr sz="1125" b="1" i="0">
                <a:solidFill>
                  <a:srgbClr val="F5F0E6"/>
                </a:solidFill>
                <a:latin typeface="Times New Roman"/>
                <a:ea typeface="Times New Roman"/>
                <a:cs typeface="Times New Roman"/>
              </a:rPr>
              <a:t>1</a:t>
            </a:r>
          </a:p>
        </p:txBody>
      </p:sp>
      <p:sp>
        <p:nvSpPr>
          <p:cNvPr id="30" name="">
            <a:extLst xmlns:a="http://schemas.openxmlformats.org/drawingml/2006/main">
              <a:ext uri="{FF2B5EF4-FFF2-40B4-BE49-F238E27FC236}">
                <a16:creationId xmlns:a16="http://schemas.microsoft.com/office/drawing/2014/main" id="{E17929C5-FB88-4767-9BDF-6A84381C986C}"/>
              </a:ext>
            </a:extLst>
          </p:cNvPr>
          <p:cNvSpPr>
            <a:spLocks xmlns:a="http://schemas.openxmlformats.org/drawingml/2006/main" noGrp="1"/>
          </p:cNvSpPr>
          <p:nvPr/>
        </p:nvSpPr>
        <p:spPr>
          <a:xfrm xmlns:a="http://schemas.openxmlformats.org/drawingml/2006/main">
            <a:off x="8515350" y="28384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231D17"/>
                </a:solidFill>
                <a:latin typeface="Times New Roman"/>
                <a:ea typeface="Times New Roman"/>
                <a:cs typeface="Times New Roman"/>
              </a:defRPr>
            </a:pPr>
            <a:r>
              <a:rPr sz="1350" b="1" i="0">
                <a:solidFill>
                  <a:srgbClr val="231D17"/>
                </a:solidFill>
                <a:latin typeface="Times New Roman"/>
                <a:ea typeface="Times New Roman"/>
                <a:cs typeface="Times New Roman"/>
              </a:rPr>
              <a:t>Multi-round learning</a:t>
            </a:r>
          </a:p>
        </p:txBody>
      </p:sp>
      <p:sp>
        <p:nvSpPr>
          <p:cNvPr id="31" name="">
            <a:extLst xmlns:a="http://schemas.openxmlformats.org/drawingml/2006/main">
              <a:ext uri="{FF2B5EF4-FFF2-40B4-BE49-F238E27FC236}">
                <a16:creationId xmlns:a16="http://schemas.microsoft.com/office/drawing/2014/main" id="{D324AFB7-A31E-4BE1-AF03-3D1A168EEF5F}"/>
              </a:ext>
            </a:extLst>
          </p:cNvPr>
          <p:cNvSpPr>
            <a:spLocks xmlns:a="http://schemas.openxmlformats.org/drawingml/2006/main" noGrp="1"/>
          </p:cNvSpPr>
          <p:nvPr/>
        </p:nvSpPr>
        <p:spPr>
          <a:xfrm xmlns:a="http://schemas.openxmlformats.org/drawingml/2006/main">
            <a:off x="8515350" y="312420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65" b="0" i="0">
                <a:solidFill>
                  <a:srgbClr val="6F665C"/>
                </a:solidFill>
                <a:latin typeface="Times New Roman"/>
                <a:ea typeface="Times New Roman"/>
                <a:cs typeface="Times New Roman"/>
              </a:defRPr>
            </a:pPr>
            <a:r>
              <a:rPr sz="1065" b="0" i="0">
                <a:solidFill>
                  <a:srgbClr val="6F665C"/>
                </a:solidFill>
                <a:latin typeface="Times New Roman"/>
                <a:ea typeface="Times New Roman"/>
                <a:cs typeface="Times New Roman"/>
              </a:rPr>
              <a:t>Most evidence is still closer to one-shot adoption or short-term calibration.</a:t>
            </a:r>
          </a:p>
        </p:txBody>
      </p:sp>
      <p:sp>
        <p:nvSpPr>
          <p:cNvPr id="32" name="">
            <a:extLst xmlns:a="http://schemas.openxmlformats.org/drawingml/2006/main">
              <a:ext uri="{FF2B5EF4-FFF2-40B4-BE49-F238E27FC236}">
                <a16:creationId xmlns:a16="http://schemas.microsoft.com/office/drawing/2014/main" id="{06C6767E-AE11-41A3-AC95-AC70BA2947AF}"/>
              </a:ext>
            </a:extLst>
          </p:cNvPr>
          <p:cNvSpPr>
            <a:spLocks xmlns:a="http://schemas.openxmlformats.org/drawingml/2006/main" noGrp="1"/>
          </p:cNvSpPr>
          <p:nvPr/>
        </p:nvSpPr>
        <p:spPr>
          <a:xfrm xmlns:a="http://schemas.openxmlformats.org/drawingml/2006/main">
            <a:off x="7943850" y="3676650"/>
            <a:ext cx="400050" cy="400050"/>
          </a:xfrm>
          <a:prstGeom xmlns:a="http://schemas.openxmlformats.org/drawingml/2006/main" prst="ellipse">
            <a:avLst/>
          </a:prstGeom>
          <a:solidFill xmlns:a="http://schemas.openxmlformats.org/drawingml/2006/main">
            <a:srgbClr val="23384A"/>
          </a:solidFill>
          <a:ln xmlns:a="http://schemas.openxmlformats.org/drawingml/2006/main" w="9525">
            <a:solidFill>
              <a:srgbClr val="23384A"/>
            </a:solidFill>
            <a:prstDash val="solid"/>
          </a:ln>
        </p:spPr>
      </p:sp>
      <p:sp>
        <p:nvSpPr>
          <p:cNvPr id="33" name="">
            <a:extLst xmlns:a="http://schemas.openxmlformats.org/drawingml/2006/main">
              <a:ext uri="{FF2B5EF4-FFF2-40B4-BE49-F238E27FC236}">
                <a16:creationId xmlns:a16="http://schemas.microsoft.com/office/drawing/2014/main" id="{467C1905-F947-414C-978C-B7F87883929A}"/>
              </a:ext>
            </a:extLst>
          </p:cNvPr>
          <p:cNvSpPr>
            <a:spLocks xmlns:a="http://schemas.openxmlformats.org/drawingml/2006/main" noGrp="1"/>
          </p:cNvSpPr>
          <p:nvPr/>
        </p:nvSpPr>
        <p:spPr>
          <a:xfrm xmlns:a="http://schemas.openxmlformats.org/drawingml/2006/main">
            <a:off x="8077200" y="3781425"/>
            <a:ext cx="133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4656"/>
          </a:bodyPr>
          <a:lstStyle xmlns:a="http://schemas.openxmlformats.org/drawingml/2006/main"/>
          <a:p xmlns:a="http://schemas.openxmlformats.org/drawingml/2006/main">
            <a:pPr algn="ctr">
              <a:lnSpc>
                <a:spcPct val="105000"/>
              </a:lnSpc>
              <a:buNone/>
              <a:defRPr sz="1125" b="1" i="0">
                <a:solidFill>
                  <a:srgbClr val="F5F0E6"/>
                </a:solidFill>
                <a:latin typeface="Times New Roman"/>
                <a:ea typeface="Times New Roman"/>
                <a:cs typeface="Times New Roman"/>
              </a:defRPr>
            </a:pPr>
            <a:r>
              <a:rPr sz="1125" b="1" i="0">
                <a:solidFill>
                  <a:srgbClr val="F5F0E6"/>
                </a:solidFill>
                <a:latin typeface="Times New Roman"/>
                <a:ea typeface="Times New Roman"/>
                <a:cs typeface="Times New Roman"/>
              </a:rPr>
              <a:t>2</a:t>
            </a:r>
          </a:p>
        </p:txBody>
      </p:sp>
      <p:sp>
        <p:nvSpPr>
          <p:cNvPr id="34" name="">
            <a:extLst xmlns:a="http://schemas.openxmlformats.org/drawingml/2006/main">
              <a:ext uri="{FF2B5EF4-FFF2-40B4-BE49-F238E27FC236}">
                <a16:creationId xmlns:a16="http://schemas.microsoft.com/office/drawing/2014/main" id="{1D1CD022-6675-474E-8683-274B2797E3F8}"/>
              </a:ext>
            </a:extLst>
          </p:cNvPr>
          <p:cNvSpPr>
            <a:spLocks xmlns:a="http://schemas.openxmlformats.org/drawingml/2006/main" noGrp="1"/>
          </p:cNvSpPr>
          <p:nvPr/>
        </p:nvSpPr>
        <p:spPr>
          <a:xfrm xmlns:a="http://schemas.openxmlformats.org/drawingml/2006/main">
            <a:off x="8515350" y="36576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231D17"/>
                </a:solidFill>
                <a:latin typeface="Times New Roman"/>
                <a:ea typeface="Times New Roman"/>
                <a:cs typeface="Times New Roman"/>
              </a:defRPr>
            </a:pPr>
            <a:r>
              <a:rPr sz="1350" b="1" i="0">
                <a:solidFill>
                  <a:srgbClr val="231D17"/>
                </a:solidFill>
                <a:latin typeface="Times New Roman"/>
                <a:ea typeface="Times New Roman"/>
                <a:cs typeface="Times New Roman"/>
              </a:rPr>
              <a:t>Source-specific shock</a:t>
            </a:r>
          </a:p>
        </p:txBody>
      </p:sp>
      <p:sp>
        <p:nvSpPr>
          <p:cNvPr id="35" name="">
            <a:extLst xmlns:a="http://schemas.openxmlformats.org/drawingml/2006/main">
              <a:ext uri="{FF2B5EF4-FFF2-40B4-BE49-F238E27FC236}">
                <a16:creationId xmlns:a16="http://schemas.microsoft.com/office/drawing/2014/main" id="{267FC664-3D6D-4801-A870-CAAD1D2051ED}"/>
              </a:ext>
            </a:extLst>
          </p:cNvPr>
          <p:cNvSpPr>
            <a:spLocks xmlns:a="http://schemas.openxmlformats.org/drawingml/2006/main" noGrp="1"/>
          </p:cNvSpPr>
          <p:nvPr/>
        </p:nvSpPr>
        <p:spPr>
          <a:xfrm xmlns:a="http://schemas.openxmlformats.org/drawingml/2006/main">
            <a:off x="8515350" y="39433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65" b="0" i="0">
                <a:solidFill>
                  <a:srgbClr val="6F665C"/>
                </a:solidFill>
                <a:latin typeface="Times New Roman"/>
                <a:ea typeface="Times New Roman"/>
                <a:cs typeface="Times New Roman"/>
              </a:defRPr>
            </a:pPr>
            <a:r>
              <a:rPr sz="1065" b="0" i="0">
                <a:solidFill>
                  <a:srgbClr val="6F665C"/>
                </a:solidFill>
                <a:latin typeface="Times New Roman"/>
                <a:ea typeface="Times New Roman"/>
                <a:cs typeface="Times New Roman"/>
              </a:rPr>
              <a:t>Less is known about whether comparable AI errors carry extra diagnostic weight.</a:t>
            </a:r>
          </a:p>
        </p:txBody>
      </p:sp>
      <p:sp>
        <p:nvSpPr>
          <p:cNvPr id="36" name="">
            <a:extLst xmlns:a="http://schemas.openxmlformats.org/drawingml/2006/main">
              <a:ext uri="{FF2B5EF4-FFF2-40B4-BE49-F238E27FC236}">
                <a16:creationId xmlns:a16="http://schemas.microsoft.com/office/drawing/2014/main" id="{A499C9E6-604E-47EE-AA9B-7B12705BFB5E}"/>
              </a:ext>
            </a:extLst>
          </p:cNvPr>
          <p:cNvSpPr>
            <a:spLocks xmlns:a="http://schemas.openxmlformats.org/drawingml/2006/main" noGrp="1"/>
          </p:cNvSpPr>
          <p:nvPr/>
        </p:nvSpPr>
        <p:spPr>
          <a:xfrm xmlns:a="http://schemas.openxmlformats.org/drawingml/2006/main">
            <a:off x="7810500" y="4743450"/>
            <a:ext cx="3429000" cy="819150"/>
          </a:xfrm>
          <a:prstGeom xmlns:a="http://schemas.openxmlformats.org/drawingml/2006/main" prst="roundRect">
            <a:avLst>
              <a:gd name="adj" fmla="val 13953"/>
            </a:avLst>
          </a:prstGeom>
          <a:solidFill xmlns:a="http://schemas.openxmlformats.org/drawingml/2006/main">
            <a:srgbClr val="23384A"/>
          </a:solidFill>
          <a:ln xmlns:a="http://schemas.openxmlformats.org/drawingml/2006/main" w="9525">
            <a:solidFill>
              <a:srgbClr val="23384A"/>
            </a:solidFill>
            <a:prstDash val="solid"/>
          </a:ln>
        </p:spPr>
      </p:sp>
      <p:sp>
        <p:nvSpPr>
          <p:cNvPr id="37" name="">
            <a:extLst xmlns:a="http://schemas.openxmlformats.org/drawingml/2006/main">
              <a:ext uri="{FF2B5EF4-FFF2-40B4-BE49-F238E27FC236}">
                <a16:creationId xmlns:a16="http://schemas.microsoft.com/office/drawing/2014/main" id="{5AC38301-F678-4352-B574-2964B3466C27}"/>
              </a:ext>
            </a:extLst>
          </p:cNvPr>
          <p:cNvSpPr>
            <a:spLocks xmlns:a="http://schemas.openxmlformats.org/drawingml/2006/main" noGrp="1"/>
          </p:cNvSpPr>
          <p:nvPr/>
        </p:nvSpPr>
        <p:spPr>
          <a:xfrm xmlns:a="http://schemas.openxmlformats.org/drawingml/2006/main">
            <a:off x="8077200" y="49149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4781"/>
          </a:bodyPr>
          <a:lstStyle xmlns:a="http://schemas.openxmlformats.org/drawingml/2006/main"/>
          <a:p xmlns:a="http://schemas.openxmlformats.org/drawingml/2006/main">
            <a:pPr algn="ctr">
              <a:lnSpc>
                <a:spcPct val="108000"/>
              </a:lnSpc>
              <a:buNone/>
              <a:defRPr sz="1350" b="1" i="0">
                <a:solidFill>
                  <a:srgbClr val="F5F0E6"/>
                </a:solidFill>
                <a:latin typeface="Times New Roman"/>
                <a:ea typeface="Times New Roman"/>
                <a:cs typeface="Times New Roman"/>
              </a:defRPr>
            </a:pPr>
            <a:r>
              <a:rPr sz="1350" b="1" i="0">
                <a:solidFill>
                  <a:srgbClr val="F5F0E6"/>
                </a:solidFill>
                <a:latin typeface="Times New Roman"/>
                <a:ea typeface="Times New Roman"/>
                <a:cs typeface="Times New Roman"/>
              </a:rPr>
              <a:t>Paper 2 therefore studies dynamic reliance after localized AI error shocks under performance parity.</a:t>
            </a:r>
          </a:p>
        </p:txBody>
      </p:sp>
      <p:sp>
        <p:nvSpPr>
          <p:cNvPr id="38" name="">
            <a:extLst xmlns:a="http://schemas.openxmlformats.org/drawingml/2006/main">
              <a:ext uri="{FF2B5EF4-FFF2-40B4-BE49-F238E27FC236}">
                <a16:creationId xmlns:a16="http://schemas.microsoft.com/office/drawing/2014/main" id="{560A0A20-5351-4CB9-8C9B-FA819756F5BF}"/>
              </a:ext>
            </a:extLst>
          </p:cNvPr>
          <p:cNvSpPr>
            <a:spLocks xmlns:a="http://schemas.openxmlformats.org/drawingml/2006/main" noGrp="1"/>
          </p:cNvSpPr>
          <p:nvPr/>
        </p:nvSpPr>
        <p:spPr>
          <a:xfrm xmlns:a="http://schemas.openxmlformats.org/drawingml/2006/main">
            <a:off x="914400" y="5810250"/>
            <a:ext cx="10325100" cy="419100"/>
          </a:xfrm>
          <a:prstGeom xmlns:a="http://schemas.openxmlformats.org/drawingml/2006/main" prst="roundRect">
            <a:avLst>
              <a:gd name="adj" fmla="val 18182"/>
            </a:avLst>
          </a:prstGeom>
          <a:solidFill xmlns:a="http://schemas.openxmlformats.org/drawingml/2006/main">
            <a:srgbClr val="EFE6D8"/>
          </a:solidFill>
          <a:ln xmlns:a="http://schemas.openxmlformats.org/drawingml/2006/main" w="9525">
            <a:solidFill>
              <a:srgbClr val="D8CCBB"/>
            </a:solidFill>
            <a:prstDash val="solid"/>
          </a:ln>
        </p:spPr>
      </p:sp>
      <p:sp>
        <p:nvSpPr>
          <p:cNvPr id="39" name="">
            <a:extLst xmlns:a="http://schemas.openxmlformats.org/drawingml/2006/main">
              <a:ext uri="{FF2B5EF4-FFF2-40B4-BE49-F238E27FC236}">
                <a16:creationId xmlns:a16="http://schemas.microsoft.com/office/drawing/2014/main" id="{82B6E283-EFDF-4839-ABA0-0983289CD34C}"/>
              </a:ext>
            </a:extLst>
          </p:cNvPr>
          <p:cNvSpPr>
            <a:spLocks xmlns:a="http://schemas.openxmlformats.org/drawingml/2006/main" noGrp="1"/>
          </p:cNvSpPr>
          <p:nvPr/>
        </p:nvSpPr>
        <p:spPr>
          <a:xfrm xmlns:a="http://schemas.openxmlformats.org/drawingml/2006/main">
            <a:off x="1200150" y="5924550"/>
            <a:ext cx="9753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286"/>
          </a:bodyPr>
          <a:lstStyle xmlns:a="http://schemas.openxmlformats.org/drawingml/2006/main"/>
          <a:p xmlns:a="http://schemas.openxmlformats.org/drawingml/2006/main">
            <a:pPr algn="ctr">
              <a:lnSpc>
                <a:spcPct val="105000"/>
              </a:lnSpc>
              <a:buNone/>
              <a:defRPr sz="1200" b="1" i="0">
                <a:solidFill>
                  <a:srgbClr val="231D17"/>
                </a:solidFill>
                <a:latin typeface="Times New Roman"/>
                <a:ea typeface="Times New Roman"/>
                <a:cs typeface="Times New Roman"/>
              </a:defRPr>
            </a:pPr>
            <a:r>
              <a:rPr sz="1200" b="1" i="0">
                <a:solidFill>
                  <a:srgbClr val="231D17"/>
                </a:solidFill>
                <a:latin typeface="Times New Roman"/>
                <a:ea typeface="Times New Roman"/>
                <a:cs typeface="Times New Roman"/>
              </a:rPr>
              <a:t>Slide takeaway: the gap is not that AI trust is unstudied; it is that error reactions are rarely tracked as path-dependent reliance updating.</a:t>
            </a:r>
          </a:p>
        </p:txBody>
      </p:sp>
    </p:spTree>
    <p:extLst>
      <p:ext uri="{BB962C8B-B14F-4D97-AF65-F5344CB8AC3E}">
        <p14:creationId xmlns:p14="http://schemas.microsoft.com/office/powerpoint/2010/main" val="2930129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2026-07-06T10:43:38.5540000Z</dcterms:created>
  <dcterms:modified xsi:type="dcterms:W3CDTF">2026-07-06T10:43:38.5540000Z</dcterms:modified>
</coreProperties>
</file>