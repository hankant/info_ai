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2bcc63232f48db" /><Relationship Type="http://schemas.openxmlformats.org/officeDocument/2006/relationships/extended-properties" Target="/docProps/app.xml" Id="R5dd2e287cd5c4250" /><Relationship Type="http://schemas.openxmlformats.org/officeDocument/2006/relationships/officeDocument" Target="/ppt/presentation.xml" Id="R84b1dde17c084f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3c11336da5469f"/>
  </p:sldMasterIdLst>
  <p:notesMasterIdLst>
    <p:notesMasterId xmlns:r="http://schemas.openxmlformats.org/officeDocument/2006/relationships" r:id="Ra314a5a04f394482"/>
  </p:notesMasterIdLst>
  <p:sldIdLst>
    <p:sldId xmlns:r="http://schemas.openxmlformats.org/officeDocument/2006/relationships" id="256" r:id="R4bd16782e4e84064"/>
    <p:sldId xmlns:r="http://schemas.openxmlformats.org/officeDocument/2006/relationships" id="257" r:id="Ra2a3315e0e184464"/>
    <p:sldId xmlns:r="http://schemas.openxmlformats.org/officeDocument/2006/relationships" id="258" r:id="R378fc80e72d34620"/>
    <p:sldId xmlns:r="http://schemas.openxmlformats.org/officeDocument/2006/relationships" id="259" r:id="Rcb045042eeb44d41"/>
    <p:sldId xmlns:r="http://schemas.openxmlformats.org/officeDocument/2006/relationships" id="260" r:id="Rcc448722f25c43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974b69d4ae452f" /><Relationship Type="http://schemas.openxmlformats.org/officeDocument/2006/relationships/slideMaster" Target="/ppt/slideMasters/slideMaster1.xml" Id="Rf83c11336da5469f" /><Relationship Type="http://schemas.openxmlformats.org/officeDocument/2006/relationships/notesMaster" Target="/ppt/notesMasters/notesMaster1.xml" Id="Ra314a5a04f394482" /><Relationship Type="http://schemas.openxmlformats.org/officeDocument/2006/relationships/presProps" Target="/ppt/presProps.xml" Id="R67170d29e2f244c0" /><Relationship Type="http://schemas.openxmlformats.org/officeDocument/2006/relationships/tableStyles" Target="/ppt/tableStyles.xml" Id="Rf34e61ab92834293" /><Relationship Type="http://schemas.openxmlformats.org/officeDocument/2006/relationships/slide" Target="/ppt/slides/slide1.xml" Id="R4bd16782e4e84064" /><Relationship Type="http://schemas.openxmlformats.org/officeDocument/2006/relationships/slide" Target="/ppt/slides/slide2.xml" Id="Ra2a3315e0e184464" /><Relationship Type="http://schemas.openxmlformats.org/officeDocument/2006/relationships/slide" Target="/ppt/slides/slide3.xml" Id="R378fc80e72d34620" /><Relationship Type="http://schemas.openxmlformats.org/officeDocument/2006/relationships/slide" Target="/ppt/slides/slide4.xml" Id="Rcb045042eeb44d41" /><Relationship Type="http://schemas.openxmlformats.org/officeDocument/2006/relationships/slide" Target="/ppt/slides/slide5.xml" Id="Rcc448722f25c43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833ef85c74f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5a97ff96bc44dc" /><Relationship Type="http://schemas.openxmlformats.org/officeDocument/2006/relationships/notesMaster" Target="/ppt/notesMasters/notesMaster1.xml" Id="Rd75c423b4bd44f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1dcde55e314e95" /><Relationship Type="http://schemas.openxmlformats.org/officeDocument/2006/relationships/notesMaster" Target="/ppt/notesMasters/notesMaster1.xml" Id="Rd536c12967004a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73fc5986d74433" /><Relationship Type="http://schemas.openxmlformats.org/officeDocument/2006/relationships/notesMaster" Target="/ppt/notesMasters/notesMaster1.xml" Id="R7bb0d7b4122847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9c6ed5d0e14cf9" /><Relationship Type="http://schemas.openxmlformats.org/officeDocument/2006/relationships/notesMaster" Target="/ppt/notesMasters/notesMaster1.xml" Id="R2a590677ca0f4e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4217494f8945f1" /><Relationship Type="http://schemas.openxmlformats.org/officeDocument/2006/relationships/notesMaster" Target="/ppt/notesMasters/notesMaster1.xml" Id="R9b320f6f424643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ef7bd04734a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b321ba864f4ac8" /><Relationship Type="http://schemas.openxmlformats.org/officeDocument/2006/relationships/slideLayout" Target="/ppt/slideLayouts/slideLayout1.xml" Id="Rdb239f77406c47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239f77406c47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bdadb7201440f" /><Relationship Type="http://schemas.openxmlformats.org/officeDocument/2006/relationships/notesSlide" Target="/ppt/notesSlides/notesSlide1.xml" Id="R62f40b1e9c5244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46d6bdb044068" /><Relationship Type="http://schemas.openxmlformats.org/officeDocument/2006/relationships/notesSlide" Target="/ppt/notesSlides/notesSlide2.xml" Id="R21f813d5a02342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ed92bbcd34695" /><Relationship Type="http://schemas.openxmlformats.org/officeDocument/2006/relationships/notesSlide" Target="/ppt/notesSlides/notesSlide3.xml" Id="R3db47f5aa51f42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25e2eb0104316" /><Relationship Type="http://schemas.openxmlformats.org/officeDocument/2006/relationships/notesSlide" Target="/ppt/notesSlides/notesSlide4.xml" Id="Rea266e0eaf0b42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390551f83417c" /><Relationship Type="http://schemas.openxmlformats.org/officeDocument/2006/relationships/notesSlide" Target="/ppt/notesSlides/notesSlide5.xml" Id="Rf953a361774145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CC204B-3179-44D8-81E7-FEAB9CD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0">
            <a:solidFill>
              <a:srgbClr val="1F2A4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37A29-86EF-4A74-8CA8-A69E3647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4062"/>
          </a:solidFill>
          <a:ln xmlns:a="http://schemas.openxmlformats.org/drawingml/2006/main" w="0">
            <a:solidFill>
              <a:srgbClr val="3140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96497-882C-4AF6-8BA4-F01DE5F1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554"/>
          </a:solidFill>
          <a:ln xmlns:a="http://schemas.openxmlformats.org/drawingml/2006/main" w="0">
            <a:solidFill>
              <a:srgbClr val="2735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DC890-D599-49A0-8FE6-67D1CCA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EFDAA85-D395-4DE1-98D7-873FCD92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79C07FF-7E19-4104-BF41-50865A70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DOCTORAL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7CFF7-BFDF-478D-B3F2-B4058F0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609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AI as Decision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CA5DD-ABAC-468E-8D1E-A5AFDD4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DD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DDE7"/>
                </a:solidFill>
                <a:latin typeface="Aptos"/>
                <a:ea typeface="Aptos"/>
                <a:cs typeface="Aptos"/>
              </a:rPr>
              <a:t>生成式 AI 如何重构高风险决策中的信念、依赖与责任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F7BC5-2FD6-4ACB-B366-0520013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Xu | 博士论文答辩总领引言 | 2026年7月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911F2-DFFC-4047-8D5E-1BF8C1E0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6E328-5B26-4BFC-9065-3C8A799D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DB497-1322-46F4-9FAB-49DCD4A5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763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旧理解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4B6D-4CBC-4BA3-8748-198E3629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478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外部工具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112DA-5C4B-40D6-B599-619F832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859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CE6"/>
                </a:solidFill>
                <a:latin typeface="Aptos"/>
                <a:ea typeface="Aptos"/>
                <a:cs typeface="Aptos"/>
              </a:rPr>
              <a:t>提供信息、建议或执行效率。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76047-05A3-4996-9D4E-774241E0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8571E-12B6-45F9-9B1E-92DC7E5E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5516C-F448-49BC-8642-A0CFBC0B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新理解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658D2-68D2-405C-B0A2-69AAFDD2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决策架构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EF8D6-EA3D-48DE-8BC5-56DEFFEC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147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CE6"/>
                </a:solidFill>
                <a:latin typeface="Aptos"/>
                <a:ea typeface="Aptos"/>
                <a:cs typeface="Aptos"/>
              </a:rPr>
              <a:t>重排证据、行动阈值与责任关系。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5BD51-27D3-4547-A140-05BC1569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8C82F-B218-49F6-A5E6-74D3E21A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4FFA7-7B17-4112-B63B-124E393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338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核心问题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31015-7C78-4200-AC34-8E97670A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053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为什么是一个课题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4030D-34E5-4E98-BC05-4A8E687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CE6"/>
                </a:solidFill>
                <a:latin typeface="Aptos"/>
                <a:ea typeface="Aptos"/>
                <a:cs typeface="Aptos"/>
              </a:rPr>
              <a:t>因为三篇识别的是同一 AI-mediated decision process。</a:t>
            </a:r>
          </a:p>
        </p:txBody>
      </p:sp>
      <p:cxnSp>
        <p:nvCxnSpPr>
          <p:cNvPr id="79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144000" y="2171700"/>
            <a:ext cx="5715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89B4A"/>
            </a:solidFill>
            <a:prstDash val="solid"/>
            <a:head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5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9144000" y="3600450"/>
            <a:ext cx="5715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89B4A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D0981-74B2-474B-BBC5-CDD361A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D7DCE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7DCE7"/>
                </a:solidFill>
                <a:latin typeface="Aptos"/>
                <a:ea typeface="Aptos"/>
                <a:cs typeface="Aptos"/>
              </a:rPr>
              <a:t>总领引言基于主Agent总框架与三篇文章映射。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17D40-2546-45E1-B5EF-1B71676B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C89B4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89B4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90603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8DCD4-B3A9-43A9-9636-6301648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E1FE3-3025-4189-ABD5-70DD71F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4B50C-AA6A-4AF1-918F-ABDC2835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06DD-4C17-467F-A888-3DE4648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ED8AC3-5B34-40FA-994E-891DCFB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634ED8-D3EA-49E9-BBEA-98737AC9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总问题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5B24-C435-404E-9859-EF3CBE3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666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AI 不是外部工具，它在重写决策过程本身。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40841-F33B-4F60-A7DB-4BD1955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现有研究常问 AI 是否更准、是否被采纳、是否该问责；本课题更进一步，问它是否重构了决策 architecture。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1982E-BCBD-4F34-A9C2-610D8E43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8B511-A69D-4108-BA0E-1D6DCF4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FACBB-8ECA-4AAE-A3E9-78952C3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AI 先组织证据与解释，再让人决定是否继续验证。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2EDA6-59F5-49AE-9B0B-AEBB4A6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D2272-86A5-48D4-8C1F-630C7A0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它改变的不只是结果，也改变依赖如何被校准、行动何时被触发。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1E046-AA38-4284-AA6B-8F3E1B2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85529-8CB3-4DDC-9B83-0A823D3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一旦 AI 进入执行链条，责任关系也会被随之重排。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29D49-83B2-492F-9A36-C6988EA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3429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5C835-8862-466B-9549-8D694E0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57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1829A-5E76-48CB-B589-B342600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ARCHITECTURE TURN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40875-1A42-43C0-84C3-85E102E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为什么这很重要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17304-94AA-4AD0-AB49-4B1F655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F557-BD78-4306-AF40-3364D71F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908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重排信念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CF72C-0B05-4899-B130-DD62B7A4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C5ECB-3ADF-431F-8E94-99CDBAC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8137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触发行动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9C01C-CA3E-42E3-BEA4-B1D27B4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D4"/>
          </a:solidFill>
          <a:ln xmlns:a="http://schemas.openxmlformats.org/drawingml/2006/main" w="0">
            <a:solidFill>
              <a:srgbClr val="E6E0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8EC10-EBD0-40A8-80FE-2A51AC9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719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重写责任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8FF79-CD46-45DB-98A3-BF020AA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因此，三篇论文必须被放在同一个过程框架下理解。</a:t>
            </a:r>
          </a:p>
        </p:txBody>
      </p:sp>
    </p:spTree>
    <p:extLst>
      <p:ext uri="{BB962C8B-B14F-4D97-AF65-F5344CB8AC3E}">
        <p14:creationId xmlns:p14="http://schemas.microsoft.com/office/powerpoint/2010/main" val="299027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0B490-F503-4348-8B85-ABC6868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DD532-520B-4FA3-A150-B0726C45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B2CFD-2CA2-49DC-ADC9-0EC550F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E1879-730D-446E-A681-5200E119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F3E2A9B-A207-46C6-932C-1D7A34A7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AD13DF-8328-4108-8536-78DE4AE0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SHARED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BA439-45F1-4AC3-B4A6-912461C3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三篇文章共享同一条高风险 AI 决策链。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7F08D-0A37-4E3E-8D4E-3B8CC885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Belief Formation → Risk Appraisal / Reliance Calibration → Responsibility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A54A5-6AE4-4CD9-BA49-9F6F2914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05D0A-D15A-4B18-AE34-F4777E0F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BD551-3543-4A54-B6C7-8C10B1E1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2FB1B-FAD5-44A7-9AA6-A9CA9D00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STAGE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7F4DF-FE0B-4EA2-A277-0769B4B8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Belief 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4F90E-477F-4FE3-8C31-2D9B560D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A1044-8F37-43A7-9572-735DFDD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evidence → belief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2C7F7-C882-4711-ACB6-7412EA7D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8E49D-6A06-4751-B27E-54A37664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AI 改变“人相信什么”。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D1B18-855A-44E7-8FC6-FF0F0FC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DBA94-3785-4DAC-ADEB-937FEC7D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这是后续依赖与责任的起点。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8094C-2003-4BEE-89F1-B0352219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同一高风险判断一旦被 AI 中介化，链条最前端就不再中性。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EBA97-5994-4F1D-91D2-354C1BFC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8CE64-4F1F-4917-9536-3A1F1007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F40BC-79C6-4E57-A66B-83E25CA1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STAGE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9F7CB-0813-4F95-96E3-B10C45B8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Risk Appraisal /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Reliance Calibration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5312F-76D1-409A-8A01-64D2502B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A1277-C91F-4AC7-A2F4-B08F55D1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belief / feedback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→ action threshold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B8AC7-F07C-4D4C-AFB4-A301E55A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1FD0A-02DD-412B-889B-C8E414F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AI 改变“何时依赖、何时行动”。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11C56-1D95-471B-B830-3B030A0C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B617C-0AEF-466A-A187-F61F883E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反馈会继续重塑授权阈值。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4902D-7F0D-4B30-B813-392A5DE4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第二篇研究的是这个中段如何在重复互动中被重新校准。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B56D3-4A38-4C8D-83BC-F2CD169B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4499CE-5F78-426B-8EC0-70A07C51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BC5510-7182-4C6E-A31E-3CF4B88E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STAGE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E947F6-A9CD-425F-8C5E-7695ADE3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Responsibility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C1D993-2EF9-48EE-B140-1CF4C38F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9BA36-73F0-4D88-AA45-B58BD5F9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action → responsibility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CDBB11-5167-450A-A4DB-3D77224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300760-3BED-445F-A2B2-609BBD80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AI 参与行动后，后果不再自动归于单一主体。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62EBC5-E7B6-41D5-8F3C-74FC6940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AD32CB-CB15-4A12-A134-64A2049F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问题从 blame 扩展到 ownership architecture。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99488E-876D-420E-B5B3-732150B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三篇不是并列应用题，而是同一次高风险决策的连续环节。</a:t>
            </a:r>
          </a:p>
        </p:txBody>
      </p:sp>
    </p:spTree>
    <p:extLst>
      <p:ext uri="{BB962C8B-B14F-4D97-AF65-F5344CB8AC3E}">
        <p14:creationId xmlns:p14="http://schemas.microsoft.com/office/powerpoint/2010/main" val="20827991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A6DC-0A3F-4A0A-92B4-BA0F34D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2403-E887-43FB-83EA-DB4457C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8DA2-B957-4A3C-82FD-2DE6CD4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913-3A1F-45AD-BFCB-4FF13DD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54E1A-7423-4892-8495-56FA188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E9CF0-3CE7-4F3E-866B-4A58D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PAPER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459D-4D7E-4F6F-8463-4CCF3B6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三篇论文分别隔离这条链上的不同映射。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7445-2287-4552-AFC7-2C7FF02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统一性来自同一决策过程；独立性来自不同任务、反馈结构、行为数据与因变量。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0A81-00FF-408D-875D-30888C7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392D-CC58-42B5-9FDE-337AF7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1BBA-3882-466F-8589-8A07F62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0D9D-AA3A-49C9-BF32-0C10E99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PAPER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AA9D4-3CF3-4FEB-964A-ACB91C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evidence → belief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A554-105E-4B63-86E8-B06F9C8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Answer-first 结构如何改变证据搜索、贝叶斯更新与主观掌握感。记忆点：Belief anchoring。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5D2B-01BB-4540-AE2E-6CCD153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B27-3BC4-4B29-889D-AA7BA3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0984-4EAE-4789-BFC6-FC920CD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PAPER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3C395-EDFA-4ABF-8F2A-5ADEF5B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belief / feedback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→ action threshold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ACEB-AC25-49ED-9971-D1A20F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早期 AI 错误作为校准冲击，识别依赖如何在有限重复中被重估。记忆点：Calibration shock。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24A-54AC-4D04-BC9B-B45F95C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CA49-7978-4E65-BCA5-5F3D91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DF29-299C-40D9-94C3-FEBC3C2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PAPER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E2BB-D340-4117-9CCE-DF05C1C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action → responsibility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7ECA-4258-4C86-981A-EBAF483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AI 参与行动后，ownership、责任分享与 credit/blame allocation 如何被重写。记忆点：Ownership dilution。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4D6A-FCD9-4551-8EBE-79CA433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A393-3DFA-48AF-A635-0FFDFA9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9CFB-0A1E-4FDA-92AC-B00D63C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UNITY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AB15C-07F1-476D-B2BA-A04344E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同一过程，分层识别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310E3-1BD9-411D-BFAA-BC0C2E6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这不是三个松散实验，而是对同一 AI-mediated high-risk decision process 的层级拆解。</a:t>
            </a:r>
          </a:p>
        </p:txBody>
      </p:sp>
    </p:spTree>
    <p:extLst>
      <p:ext uri="{BB962C8B-B14F-4D97-AF65-F5344CB8AC3E}">
        <p14:creationId xmlns:p14="http://schemas.microsoft.com/office/powerpoint/2010/main" val="1694884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31AFAC-A811-4506-9EE6-ED6A2F4B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0868E-2E4A-4755-B655-3776EF53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DCDA0-B520-4C6E-BA0A-E5C09B32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33631-AFA0-432E-B55D-1EB695C8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ACD987-1F0A-42D1-9961-3024CD8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BA5193-3942-47C1-9EB6-448E4D9A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6174C-9EAE-4F18-B203-FC84E7A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这不是三个松散实验，而是同一决策链的分层识别。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06241-72EE-4F09-9A44-2BFACD15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统一性不在于都谈 AI，而在于都识别高风险 AI 决策链条上的一个关键环节。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4BF8E-884E-4856-9F94-33636F9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4AB93-355B-44B4-B9A5-2846659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6DF73-638F-419D-9BA9-D58A2707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EC75C-94F4-46B5-AD41-B1EEE30D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共同问题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3F307-9F94-48E4-A1A5-A1BFF18B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都在问 AI 如何改变高风险决策。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6B0F5-DE73-433E-8E49-4C3F6667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D8148-829A-4CF8-A848-A82B583E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5EC26-BBB2-41ED-898D-A4B72018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识别方式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2A9A1-3CD2-4807-BF33-6479DDC7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Paper 1 看 belief，Paper 2 看 threshold，Paper 3 看 responsibility。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FABD5-B9C3-49DC-8315-FBEC63F3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2EA11-D077-4409-BCE7-6D7E431C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A6919-BCFB-483C-B8D4-D5DE5283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19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独立性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AC472-23C9-4C3B-B76F-5459D7C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任务、反馈、行为数据和理论口径都不同。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1EF7A-55D7-4ACC-95D8-EBE847ED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937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0FD9E-642F-4BB3-96D0-46C13BA5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29717-9624-470E-B2B7-46F868F1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03A13-9322-4627-B297-6483987C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下面进入第一篇“双重贝叶斯偏离”：先看 AI 如何改变 evidence → belief。</a:t>
            </a:r>
          </a:p>
        </p:txBody>
      </p:sp>
    </p:spTree>
    <p:extLst>
      <p:ext uri="{BB962C8B-B14F-4D97-AF65-F5344CB8AC3E}">
        <p14:creationId xmlns:p14="http://schemas.microsoft.com/office/powerpoint/2010/main" val="1237911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2026-07-03T06:49:58.4730000Z</dcterms:created>
  <dcterms:modified xsi:type="dcterms:W3CDTF">2026-07-03T06:49:58.4730000Z</dcterms:modified>
</coreProperties>
</file>