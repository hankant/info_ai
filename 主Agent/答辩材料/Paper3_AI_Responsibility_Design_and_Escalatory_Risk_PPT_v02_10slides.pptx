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8f27b875bb4482" /><Relationship Type="http://schemas.openxmlformats.org/officeDocument/2006/relationships/extended-properties" Target="/docProps/app.xml" Id="Rc5a5fcaeed404a96" /><Relationship Type="http://schemas.openxmlformats.org/officeDocument/2006/relationships/officeDocument" Target="/ppt/presentation.xml" Id="R14a5ebdd6835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997fcb885a4e94"/>
  </p:sldMasterIdLst>
  <p:notesMasterIdLst>
    <p:notesMasterId xmlns:r="http://schemas.openxmlformats.org/officeDocument/2006/relationships" r:id="R669fd7c5f4a4426b"/>
  </p:notesMasterIdLst>
  <p:sldIdLst>
    <p:sldId xmlns:r="http://schemas.openxmlformats.org/officeDocument/2006/relationships" id="256" r:id="R7d7ee1012871471d"/>
    <p:sldId xmlns:r="http://schemas.openxmlformats.org/officeDocument/2006/relationships" id="257" r:id="R5be7008dd34c4dec"/>
    <p:sldId xmlns:r="http://schemas.openxmlformats.org/officeDocument/2006/relationships" id="258" r:id="R4f9ee054022e4e42"/>
    <p:sldId xmlns:r="http://schemas.openxmlformats.org/officeDocument/2006/relationships" id="259" r:id="R364fe96a8bd74172"/>
    <p:sldId xmlns:r="http://schemas.openxmlformats.org/officeDocument/2006/relationships" id="260" r:id="R2d26efd0eae44f37"/>
    <p:sldId xmlns:r="http://schemas.openxmlformats.org/officeDocument/2006/relationships" id="261" r:id="R246282e72722407c"/>
    <p:sldId xmlns:r="http://schemas.openxmlformats.org/officeDocument/2006/relationships" id="262" r:id="Rdb6f0c49b771423e"/>
    <p:sldId xmlns:r="http://schemas.openxmlformats.org/officeDocument/2006/relationships" id="263" r:id="Rf2c0a8183a9f40b5"/>
    <p:sldId xmlns:r="http://schemas.openxmlformats.org/officeDocument/2006/relationships" id="264" r:id="R44fbf7226aac4a69"/>
    <p:sldId xmlns:r="http://schemas.openxmlformats.org/officeDocument/2006/relationships" id="265" r:id="R098737b6aacf42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cf0e55aac54daa" /><Relationship Type="http://schemas.openxmlformats.org/officeDocument/2006/relationships/slideMaster" Target="/ppt/slideMasters/slideMaster1.xml" Id="R91997fcb885a4e94" /><Relationship Type="http://schemas.openxmlformats.org/officeDocument/2006/relationships/notesMaster" Target="/ppt/notesMasters/notesMaster1.xml" Id="R669fd7c5f4a4426b" /><Relationship Type="http://schemas.openxmlformats.org/officeDocument/2006/relationships/presProps" Target="/ppt/presProps.xml" Id="R29793102854d4c13" /><Relationship Type="http://schemas.openxmlformats.org/officeDocument/2006/relationships/tableStyles" Target="/ppt/tableStyles.xml" Id="Ra174b1225f6b4242" /><Relationship Type="http://schemas.openxmlformats.org/officeDocument/2006/relationships/slide" Target="/ppt/slides/slide1.xml" Id="R7d7ee1012871471d" /><Relationship Type="http://schemas.openxmlformats.org/officeDocument/2006/relationships/slide" Target="/ppt/slides/slide2.xml" Id="R5be7008dd34c4dec" /><Relationship Type="http://schemas.openxmlformats.org/officeDocument/2006/relationships/slide" Target="/ppt/slides/slide3.xml" Id="R4f9ee054022e4e42" /><Relationship Type="http://schemas.openxmlformats.org/officeDocument/2006/relationships/slide" Target="/ppt/slides/slide4.xml" Id="R364fe96a8bd74172" /><Relationship Type="http://schemas.openxmlformats.org/officeDocument/2006/relationships/slide" Target="/ppt/slides/slide5.xml" Id="R2d26efd0eae44f37" /><Relationship Type="http://schemas.openxmlformats.org/officeDocument/2006/relationships/slide" Target="/ppt/slides/slide6.xml" Id="R246282e72722407c" /><Relationship Type="http://schemas.openxmlformats.org/officeDocument/2006/relationships/slide" Target="/ppt/slides/slide7.xml" Id="Rdb6f0c49b771423e" /><Relationship Type="http://schemas.openxmlformats.org/officeDocument/2006/relationships/slide" Target="/ppt/slides/slide8.xml" Id="Rf2c0a8183a9f40b5" /><Relationship Type="http://schemas.openxmlformats.org/officeDocument/2006/relationships/slide" Target="/ppt/slides/slide9.xml" Id="R44fbf7226aac4a69" /><Relationship Type="http://schemas.openxmlformats.org/officeDocument/2006/relationships/slide" Target="/ppt/slides/slide10.xml" Id="R098737b6aacf42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fdd93d0b1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dba50a23a4b34" /><Relationship Type="http://schemas.openxmlformats.org/officeDocument/2006/relationships/notesMaster" Target="/ppt/notesMasters/notesMaster1.xml" Id="R146a94912d5e44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929247d3b545e8" /><Relationship Type="http://schemas.openxmlformats.org/officeDocument/2006/relationships/notesMaster" Target="/ppt/notesMasters/notesMaster1.xml" Id="R1b1dbc9c4c5244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0199624a7d41cb" /><Relationship Type="http://schemas.openxmlformats.org/officeDocument/2006/relationships/notesMaster" Target="/ppt/notesMasters/notesMaster1.xml" Id="R7fc8a1bd485b48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c86c7f1d554468" /><Relationship Type="http://schemas.openxmlformats.org/officeDocument/2006/relationships/notesMaster" Target="/ppt/notesMasters/notesMaster1.xml" Id="Re2946494c7814e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ef7f4196c4083" /><Relationship Type="http://schemas.openxmlformats.org/officeDocument/2006/relationships/notesMaster" Target="/ppt/notesMasters/notesMaster1.xml" Id="Rf487e525080d41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81858d1d3c41f0" /><Relationship Type="http://schemas.openxmlformats.org/officeDocument/2006/relationships/notesMaster" Target="/ppt/notesMasters/notesMaster1.xml" Id="R902ffdd300464b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65443ee66443be" /><Relationship Type="http://schemas.openxmlformats.org/officeDocument/2006/relationships/notesMaster" Target="/ppt/notesMasters/notesMaster1.xml" Id="Ree3716a7d1c343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d1f794b9154f0d" /><Relationship Type="http://schemas.openxmlformats.org/officeDocument/2006/relationships/notesMaster" Target="/ppt/notesMasters/notesMaster1.xml" Id="R3e20261561074e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42b40aa0e14e2c" /><Relationship Type="http://schemas.openxmlformats.org/officeDocument/2006/relationships/notesMaster" Target="/ppt/notesMasters/notesMaster1.xml" Id="Rf1113d2d5ad443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96ccf8958341ee" /><Relationship Type="http://schemas.openxmlformats.org/officeDocument/2006/relationships/notesMaster" Target="/ppt/notesMasters/notesMaster1.xml" Id="Rfd2d8e321b7f46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I move to the third paper in the dissertation.</a:t>
            </a:r>
          </a:p>
          <a:p xmlns:a="http://schemas.openxmlformats.org/drawingml/2006/main">
            <a:r>
              <a:t>If the first paper studies belief formation and the second studies reliance calibration, this paper asks what happens once a consequential action has to be owned.</a:t>
            </a:r>
          </a:p>
          <a:p xmlns:a="http://schemas.openxmlformats.org/drawingml/2006/main">
            <a:r>
              <a:t>The core question is not simply whether AI is used.</a:t>
            </a:r>
          </a:p>
          <a:p xmlns:a="http://schemas.openxmlformats.org/drawingml/2006/main">
            <a:r>
              <a:t>It is whether AI system design changes who feels accountable for the final move before the outcome is even known.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want to begin with a concrete decision scene rather than with theory.</a:t>
            </a:r>
          </a:p>
          <a:p xmlns:a="http://schemas.openxmlformats.org/drawingml/2006/main">
            <a:r>
              <a:t>In more and more high-risk settings, people do not decide alone anymore. They see an AI analysis before they act, and sometimes they must confirm or disclose how they used it.</a:t>
            </a:r>
          </a:p>
          <a:p xmlns:a="http://schemas.openxmlformats.org/drawingml/2006/main">
            <a:r>
              <a:t>That means the key shift is not only what information enters the room.</a:t>
            </a:r>
          </a:p>
          <a:p xmlns:a="http://schemas.openxmlformats.org/drawingml/2006/main">
            <a:r>
              <a:t>It is also whether the final choice still feels fully like my own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is not empty. In fact, it is already quite rich.</a:t>
            </a:r>
          </a:p>
          <a:p xmlns:a="http://schemas.openxmlformats.org/drawingml/2006/main">
            <a:r>
              <a:t>But most studies isolate one piece at a time: trust in AI, delegation to another decision agent, or blame once the outcome is already known.</a:t>
            </a:r>
          </a:p>
          <a:p xmlns:a="http://schemas.openxmlformats.org/drawingml/2006/main">
            <a:r>
              <a:t>What remains underdeveloped is the process question.</a:t>
            </a:r>
          </a:p>
          <a:p xmlns:a="http://schemas.openxmlformats.org/drawingml/2006/main">
            <a:r>
              <a:t>How does responsibility design inside an AI-supported system change risky choice before the outcome arrives?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point here is not to reject traditional theory.</a:t>
            </a:r>
          </a:p>
          <a:p xmlns:a="http://schemas.openxmlformats.org/drawingml/2006/main">
            <a:r>
              <a:t>Rationalist conflict theory and behavioral risk theory both help us understand escalation.</a:t>
            </a:r>
          </a:p>
          <a:p xmlns:a="http://schemas.openxmlformats.org/drawingml/2006/main">
            <a:r>
              <a:t>But they usually start from the assumption that responsibility cost is already given in the environment.</a:t>
            </a:r>
          </a:p>
          <a:p xmlns:a="http://schemas.openxmlformats.org/drawingml/2006/main">
            <a:r>
              <a:t>What AI support may change is exactly that background condition: the accountability structure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condenses the literature critique into one visual field.</a:t>
            </a:r>
          </a:p>
          <a:p xmlns:a="http://schemas.openxmlformats.org/drawingml/2006/main">
            <a:r>
              <a:t>The problem is not that nobody studies AI responsibility.</a:t>
            </a:r>
          </a:p>
          <a:p xmlns:a="http://schemas.openxmlformats.org/drawingml/2006/main">
            <a:r>
              <a:t>The problem is that most work stays at the level of attribution after the outcome, or treats AI participation as one coarse condition.</a:t>
            </a:r>
          </a:p>
          <a:p xmlns:a="http://schemas.openxmlformats.org/drawingml/2006/main">
            <a:r>
              <a:t>My question is more design-specific: which interventions inside an AI-supported process actually change ownership, accountability, and risky action before the outcome is known?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questions all push in the same direction.</a:t>
            </a:r>
          </a:p>
          <a:p xmlns:a="http://schemas.openxmlformats.org/drawingml/2006/main">
            <a:r>
              <a:t>Instead of treating AI support as one broad treatment, I ask whether different responsibility designs change how the human actor experiences final agency.</a:t>
            </a:r>
          </a:p>
          <a:p xmlns:a="http://schemas.openxmlformats.org/drawingml/2006/main">
            <a:r>
              <a:t>That is why the questions move from AI support itself, to ownership and felt accountability, and then back to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an obvious misunderstanding.</a:t>
            </a:r>
          </a:p>
          <a:p xmlns:a="http://schemas.openxmlformats.org/drawingml/2006/main">
            <a:r>
              <a:t>The broader theory does speak in terms of AI moving closer to action, but the present experiment does not claim to operationalize every role position at once.</a:t>
            </a:r>
          </a:p>
          <a:p xmlns:a="http://schemas.openxmlformats.org/drawingml/2006/main">
            <a:r>
              <a:t>Instead, it focuses on two concrete interventions inside the same AI-supported decision process: confirm and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the experimental environment is appropriate before we get lost in design detail.</a:t>
            </a:r>
          </a:p>
          <a:p xmlns:a="http://schemas.openxmlformats.org/drawingml/2006/main">
            <a:r>
              <a:t>Hawk-Dove is useful because escalation is not just a generic risk preference. It is a consequential move with external loss if both sides escalate.</a:t>
            </a:r>
          </a:p>
          <a:p xmlns:a="http://schemas.openxmlformats.org/drawingml/2006/main">
            <a:r>
              <a:t>The flow on the right then makes the design transparent: keep the strategic environment fixed, vary the responsibility architecture inside the process, and observe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valuable method page in the deck.</a:t>
            </a:r>
          </a:p>
          <a:p xmlns:a="http://schemas.openxmlformats.org/drawingml/2006/main">
            <a:r>
              <a:t>The point is to let the committee see, in one field, how each research question maps onto a manipulation, what comparison identifies it, and what mechanism that contrast is supposed to isolate.</a:t>
            </a:r>
          </a:p>
          <a:p xmlns:a="http://schemas.openxmlformats.org/drawingml/2006/main">
            <a:r>
              <a:t>That is what keeps the experiment from collapsing into a vague AI-versus-no-AI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end by emphasizing that the contribution is not another generic claim about trust in AI.</a:t>
            </a:r>
          </a:p>
          <a:p xmlns:a="http://schemas.openxmlformats.org/drawingml/2006/main">
            <a:r>
              <a:t>The contribution is to identify where responsibility changes inside an AI-supported decision process, and to test whether those changes can be seen in behavior before outcomes arrive.</a:t>
            </a:r>
          </a:p>
          <a:p xmlns:a="http://schemas.openxmlformats.org/drawingml/2006/main">
            <a:r>
              <a:t>That is what makes Paper 3 the responsibility link in the larger dissertation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6d73bd63440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0b57fbc5d04720" /><Relationship Type="http://schemas.openxmlformats.org/officeDocument/2006/relationships/slideLayout" Target="/ppt/slideLayouts/slideLayout1.xml" Id="Rabdb294348f54a6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db294348f54a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50a6a0ccb4bb0" /><Relationship Type="http://schemas.openxmlformats.org/officeDocument/2006/relationships/notesSlide" Target="/ppt/notesSlides/notesSlide1.xml" Id="R413b6fcd4674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2fea8b56e43fa" /><Relationship Type="http://schemas.openxmlformats.org/officeDocument/2006/relationships/notesSlide" Target="/ppt/notesSlides/notesSlide2.xml" Id="Rf546604554df4b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c7a0ef68c4ff2" /><Relationship Type="http://schemas.openxmlformats.org/officeDocument/2006/relationships/notesSlide" Target="/ppt/notesSlides/notesSlide3.xml" Id="R1570a8856e0d4c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dacdc967a42ee" /><Relationship Type="http://schemas.openxmlformats.org/officeDocument/2006/relationships/notesSlide" Target="/ppt/notesSlides/notesSlide4.xml" Id="R23cee2a1511f4d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2fd99b3404dfa" /><Relationship Type="http://schemas.openxmlformats.org/officeDocument/2006/relationships/image" Target="/ppt/media/image.png" Id="Rdf05e318771841db" /><Relationship Type="http://schemas.openxmlformats.org/officeDocument/2006/relationships/notesSlide" Target="/ppt/notesSlides/notesSlide5.xml" Id="R7422df26714543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a56e52bd44bdf" /><Relationship Type="http://schemas.openxmlformats.org/officeDocument/2006/relationships/notesSlide" Target="/ppt/notesSlides/notesSlide6.xml" Id="R3ab69342d49d43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6a2643044c0b" /><Relationship Type="http://schemas.openxmlformats.org/officeDocument/2006/relationships/notesSlide" Target="/ppt/notesSlides/notesSlide7.xml" Id="Rdf7a91bf52fa4d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ec18c6df844c4" /><Relationship Type="http://schemas.openxmlformats.org/officeDocument/2006/relationships/notesSlide" Target="/ppt/notesSlides/notesSlide8.xml" Id="R05406e7afc8941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f0a279d00449a" /><Relationship Type="http://schemas.openxmlformats.org/officeDocument/2006/relationships/image" Target="/ppt/media/image2.png" Id="R4561556837284324" /><Relationship Type="http://schemas.openxmlformats.org/officeDocument/2006/relationships/notesSlide" Target="/ppt/notesSlides/notesSlide9.xml" Id="R7c7a841170524d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563069dad4766" /><Relationship Type="http://schemas.openxmlformats.org/officeDocument/2006/relationships/notesSlide" Target="/ppt/notesSlides/notesSlide10.xml" Id="Rb1c9f1fac0a049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36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73213C-7271-4EB7-8265-31170C62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7D4CE"/>
                </a:solidFill>
              </a:defRPr>
            </a:pPr>
            <a:r>
              <a:rPr sz="1350" b="1">
                <a:solidFill>
                  <a:srgbClr val="D7D4CE"/>
                </a:solidFill>
              </a:rPr>
              <a:t>DISSERTATION SECTION III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DE0AC74-BF1C-4F11-B37D-C753F3A6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Paper 3: AI Responsibility Design and Escalatory Risk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628CBC-098D-4BAC-89E0-5332B37F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3DDD3"/>
                </a:solidFill>
              </a:defRPr>
            </a:pPr>
            <a:r>
              <a:rPr sz="1650">
                <a:solidFill>
                  <a:srgbClr val="E3DDD3"/>
                </a:solidFill>
              </a:rPr>
              <a:t>The paper studies how AI-supported decision systems reshape felt accountability, decisional ownership, and escalatory choice before outcomes occur.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F273EF2-38A4-4BF0-8053-502A8B28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9144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384"/>
          </a:solidFill>
          <a:ln xmlns:a="http://schemas.openxmlformats.org/drawingml/2006/main" w="0">
            <a:solidFill>
              <a:srgbClr val="A99384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0BC2FF4-9DDA-47D4-940A-A8B2A55F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Belief formation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C43B419-7DF1-47B3-9C71-BB88C565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72E4777-57AF-4C1B-8294-CEBEC263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Reliance calibration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B9B4817-168B-4146-8871-0B4D04E6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95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AA0E87C-5E5A-4953-858F-05878223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7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Responsibility design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6B14868-F23C-44C7-A2DD-3A9C2F34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95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3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15F935B-199F-42C3-8106-17B8C335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i="1">
                <a:solidFill>
                  <a:srgbClr val="D7D4CE"/>
                </a:solidFill>
              </a:defRPr>
            </a:pPr>
            <a:r>
              <a:rPr sz="1050" i="1">
                <a:solidFill>
                  <a:srgbClr val="D7D4CE"/>
                </a:solidFill>
              </a:rPr>
              <a:t>Action → responsibility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70A096-295E-4AF3-A6B1-EEBFEA56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5F09B2D-C693-4473-9CC8-06947820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31B0CB-8C66-46BE-90B8-C330A861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37038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F400A33-2650-4463-98E7-180BA3F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A motivating example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B5C16B-6C4E-4860-AB49-883CEB9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When AI enters the decision room, who still owns the risk?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0D0C11B-ABE0-4747-BFDC-DED6FBA5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3F098255-0CCF-47CF-A1BC-D14F3B25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8298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3364A"/>
          </a:solidFill>
          <a:ln xmlns:a="http://schemas.openxmlformats.org/drawingml/2006/main" w="0">
            <a:solidFill>
              <a:srgbClr val="2336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D0119D9-7755-431F-A683-60830014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95425"/>
            <a:ext cx="75438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Crisis room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3928ED13-DF11-4AB4-873E-6D7F94C4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47800"/>
            <a:ext cx="1257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6F7C60"/>
          </a:solidFill>
          <a:ln xmlns:a="http://schemas.openxmlformats.org/drawingml/2006/main" w="0">
            <a:solidFill>
              <a:srgbClr val="6F7C6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379B34-5391-4EC8-B452-FC049591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954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Hospital triage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A500591-CFC6-4582-9DFB-688F9FC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47800"/>
            <a:ext cx="112014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A66A4D"/>
          </a:solidFill>
          <a:ln xmlns:a="http://schemas.openxmlformats.org/drawingml/2006/main" w="0">
            <a:solidFill>
              <a:srgbClr val="A66A4D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F3B55E9-16C0-459C-9484-3E491959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95425"/>
            <a:ext cx="8915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Public agency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5AC18CE-03F7-4CED-B66A-4A65F669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11F42AF-2D6C-4EDA-A57A-7CF58480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Human-only room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BB8D14A-EDD5-46E3-81C6-D0F0358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28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A person reviews the strategic situation, the trade-offs, and the possible downside.</a:t>
            </a:r>
          </a:p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The final move is still experienced as clearly personal.</a:t>
            </a:r>
          </a:p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Information, action, and responsibility remain tightly bundled.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6418603-2F58-4B9B-BF16-790AA0D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9B5D58"/>
                </a:solidFill>
              </a:defRPr>
            </a:pPr>
            <a:r>
              <a:rPr sz="1500" i="1">
                <a:solidFill>
                  <a:srgbClr val="9B5D58"/>
                </a:solidFill>
              </a:rPr>
              <a:t>Ownership and accountability stay inside one human decision point.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9E7A6635-58C1-48A1-9D7F-9DAF7D5F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6DA8ED1-D02B-482C-93AC-DF728AE1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AI-embedded decision room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BB680E6-3329-4ACE-B005-8896342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28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The decision maker now sees an AI analysis before acting.</a:t>
            </a:r>
          </a:p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The system may also require confirmation or disclosure of AI use.</a:t>
            </a:r>
          </a:p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• The final move can start to feel shared, staged, or partially offloaded.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0613046-DDEE-4837-8EE2-66F1DC6A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9B5D58"/>
                </a:solidFill>
              </a:defRPr>
            </a:pPr>
            <a:r>
              <a:rPr sz="1500" i="1">
                <a:solidFill>
                  <a:srgbClr val="9B5D58"/>
                </a:solidFill>
              </a:rPr>
              <a:t>The key shift is not only informational. It is also about who feels accountable for the final act.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4E178D4-430F-4242-909C-D3435F3F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4D79E00-54D7-49ED-AA7B-1D6C4034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F2BD35F-200F-4F96-A5F4-35FFA39D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3447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C67640-6623-485C-B0EF-CA165E60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What current research already explains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A158420-E1D1-48CA-90B7-A3E1B580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Existing work studies trust, delegation, and blame mostly in separate literatures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7D93D53-434F-4203-AF7C-62D22850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8D7D9FC7-5BBA-44D0-9175-95E94FEC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857500" cy="3429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E39D8AF-6FA1-4FA2-BBBA-FB18A4C9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Trust in AI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038CF1-B76A-434B-9777-17D7680F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428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When do people rely on algorithmic advice, and when do they resist it?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1AF0ED-CB9E-46EB-B2F0-4A711AAB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i="1">
                <a:solidFill>
                  <a:srgbClr val="5F6875"/>
                </a:solidFill>
              </a:defRPr>
            </a:pPr>
            <a:r>
              <a:rPr sz="1050" i="1">
                <a:solidFill>
                  <a:srgbClr val="5F6875"/>
                </a:solidFill>
              </a:rPr>
              <a:t>Dietvorst et al. (2015); Logg et al. (2019)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BA245975-B0A4-4CFE-96BA-2A7D57E4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2857500" cy="3429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DED5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FB405E3-8D52-4E97-B357-9522A8D5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Delegation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40C5FF8-EB04-470A-9B95-B3934AAD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428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Will people pass difficult choices to another agent to avoid responsibility?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4ABD093-853A-4BC1-9FAB-9A096668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243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i="1">
                <a:solidFill>
                  <a:srgbClr val="5F6875"/>
                </a:solidFill>
              </a:defRPr>
            </a:pPr>
            <a:r>
              <a:rPr sz="1050" i="1">
                <a:solidFill>
                  <a:srgbClr val="5F6875"/>
                </a:solidFill>
              </a:rPr>
              <a:t>Steffel et al. (2016); Chevrier &amp; Teixeira (2024)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66C8276-6061-4B15-BD0D-25E56179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2857500" cy="3429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E9E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C4DD04E-0885-4151-85C4-5E53D18C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Blame after outcomes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088D9A1-65B8-4526-A294-D5CC8147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428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C2430"/>
                </a:solidFill>
              </a:defRPr>
            </a:pPr>
            <a:r>
              <a:rPr sz="1500">
                <a:solidFill>
                  <a:srgbClr val="1C2430"/>
                </a:solidFill>
              </a:rPr>
              <a:t>Once harm occurs, how is blame redistributed across the user, the system, and the developer?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2340678-332E-4016-BA8D-DFDB130B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243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i="1">
                <a:solidFill>
                  <a:srgbClr val="5F6875"/>
                </a:solidFill>
              </a:defRPr>
            </a:pPr>
            <a:r>
              <a:rPr sz="1050" i="1">
                <a:solidFill>
                  <a:srgbClr val="5F6875"/>
                </a:solidFill>
              </a:rPr>
              <a:t>Kirchkamp &amp; Strobel (2019); Coeckelbergh (2020)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43E86DD-AB21-4B3C-907F-F721DDFC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i="1">
                <a:solidFill>
                  <a:srgbClr val="9B5D58"/>
                </a:solidFill>
              </a:defRPr>
            </a:pPr>
            <a:r>
              <a:rPr sz="1650" i="1">
                <a:solidFill>
                  <a:srgbClr val="9B5D58"/>
                </a:solidFill>
              </a:rPr>
              <a:t>These literatures are valuable, but they rarely connect AI system design to the full path from decision structure to risky behavior.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D0430BF-9CDA-469E-B1CB-FC19C6CB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F9E145F-5490-4792-B966-79422D4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515035E-F2AB-417D-BB51-008E667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0475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2EFDD7-BDDD-46E0-9839-56647F74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The benchmark most theories start from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A76529E-113A-4B68-BD39-D5933653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Traditional theories explain strategic risk well, but they usually treat responsibility cost as fixed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9C88CD6-863D-408D-BD5C-38C07E7D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3AF927F-A1B4-42B3-9D25-C558DD76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8577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0F07E5-D1F4-4FBE-B253-5482C0EA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3364A"/>
                </a:solidFill>
              </a:defRPr>
            </a:pPr>
            <a:r>
              <a:rPr sz="1875" b="1">
                <a:solidFill>
                  <a:srgbClr val="23364A"/>
                </a:solidFill>
              </a:rPr>
              <a:t>Rationalist conflict theories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3E2C803-005A-47DB-B905-BF73758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Conflict escalates because of bargaining failure, information asymmetry, or commitment problems.</a:t>
            </a:r>
          </a:p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The decision maker is still assumed to bear the consequences of the choice.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587A914-8971-4A24-92E7-02C59B1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Fearon (1995); Powell (2006)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6A1A3031-4C1A-4A61-B026-C3417E0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48577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4BA8459-F84F-4BC7-B093-45B3788A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3364A"/>
                </a:solidFill>
              </a:defRPr>
            </a:pPr>
            <a:r>
              <a:rPr sz="1875" b="1">
                <a:solidFill>
                  <a:srgbClr val="23364A"/>
                </a:solidFill>
              </a:rPr>
              <a:t>Behavioral risk theories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DD19A82-2364-47F2-BC1D-1EB5466A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Loss aversion, framing, and affect can change whether people escalate or restrain.</a:t>
            </a:r>
          </a:p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But responsibility structure itself is rarely modeled as the variable that shifts choice.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882492-9F00-415E-B04A-18E569F8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Kahneman &amp; Tversky (1979); Loewenstein et al. (2001)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32673D1B-8026-4A01-B3D4-6B9FCA33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76750"/>
            <a:ext cx="87249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364A"/>
          </a:solidFill>
          <a:ln xmlns:a="http://schemas.openxmlformats.org/drawingml/2006/main" w="0">
            <a:solidFill>
              <a:srgbClr val="23364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6AE1756-B595-44BF-BA5F-DE8D6037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815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Paper 3 adds the missing variable: in AI-supported systems, accountability can become part of the choice architecture itself.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954AE4E-C6B8-471A-980E-FB434654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55E911E-4589-4F5E-B245-7073414F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DD1D475-2ABD-44C5-A331-C0E206AA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98557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1AB06F4-DC7E-4EF9-AECE-DB959BD4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What is still missing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9A5D9B-A403-4C19-9A2C-B5444081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The literature points to a design-level gap inside AI-supported decisions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53DA7F8-65E2-419E-AD15-BB3C3BA4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pic>
        <p:nvPicPr>
          <p:cNvPr id="1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5e318771841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8787" y="1257300"/>
            <a:ext cx="10535376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2C0D3BC-668C-41EB-9860-FA3D6D6B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9B5D58"/>
                </a:solidFill>
              </a:defRPr>
            </a:pPr>
            <a:r>
              <a:rPr sz="1125" i="1">
                <a:solidFill>
                  <a:srgbClr val="9B5D58"/>
                </a:solidFill>
              </a:rPr>
              <a:t>The gap is not whether AI responsibility matters. It is whether specific AI-system interventions change high-risk behavior before outcomes occur.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D9EEF56-900A-45FF-B6A6-7995BFE9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D59DAD0-612F-4BCE-AAF2-93BA47C4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1FDA45-5CAB-46AC-90DE-548EB968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63876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11F1037-666B-4957-B74B-3FDDD335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Research questions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7A366F0-ECF1-41F0-870A-0E95ADC1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How AI accountability design reshapes high-risk choice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C437E42-8BA0-494D-B2F9-54236FE7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2656A16D-483B-4926-884E-1A400A25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3009900" cy="32194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23364A"/>
          </a:solidFill>
          <a:ln xmlns:a="http://schemas.openxmlformats.org/drawingml/2006/main" w="0">
            <a:solidFill>
              <a:srgbClr val="2336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5AB1A7-7A77-4875-B7D3-F54F0B10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43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The move is from AI presence to responsibility design.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991781E-93A2-4DFD-A413-40939D19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5DED3"/>
                </a:solidFill>
              </a:defRPr>
            </a:pPr>
            <a:r>
              <a:rPr sz="1425">
                <a:solidFill>
                  <a:srgbClr val="E5DED3"/>
                </a:solidFill>
              </a:rPr>
              <a:t>The paper distinguishes structural accountability from felt accountability, then asks whether both change behavior.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8B19BF72-4018-48C4-8D26-E2C15A33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19250"/>
            <a:ext cx="701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33A2A8B-5F42-4F69-91F5-A9FE68B5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C2430"/>
                </a:solidFill>
              </a:defRPr>
            </a:pPr>
            <a:r>
              <a:rPr sz="1575">
                <a:solidFill>
                  <a:srgbClr val="1C2430"/>
                </a:solidFill>
              </a:rPr>
              <a:t>RQ1. Does AI support itself change strategic escalation?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3B621531-C28B-438D-8E00-AAECF592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52700"/>
            <a:ext cx="701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81132A-1F56-45D2-A46E-28E3F1F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C2430"/>
                </a:solidFill>
              </a:defRPr>
            </a:pPr>
            <a:r>
              <a:rPr sz="1575">
                <a:solidFill>
                  <a:srgbClr val="1C2430"/>
                </a:solidFill>
              </a:rPr>
              <a:t>RQ2. Does confirmation strengthen decisional ownership and felt accountability?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C706D124-5E8E-447B-8812-7C6288EB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701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A7B2C6E-52C5-4072-8687-1A5D312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576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C2430"/>
                </a:solidFill>
              </a:defRPr>
            </a:pPr>
            <a:r>
              <a:rPr sz="1575">
                <a:solidFill>
                  <a:srgbClr val="1C2430"/>
                </a:solidFill>
              </a:rPr>
              <a:t>RQ3. Does AI-use disclosure strengthen answerability or normalize shared responsibility?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E3684C25-7538-43E2-80BA-ADC7F802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19600"/>
            <a:ext cx="701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605816D-B4CB-460C-BC63-478BAEBF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910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C2430"/>
                </a:solidFill>
              </a:defRPr>
            </a:pPr>
            <a:r>
              <a:rPr sz="1575">
                <a:solidFill>
                  <a:srgbClr val="1C2430"/>
                </a:solidFill>
              </a:rPr>
              <a:t>RQ4. Do these responsibility changes line up with observable escalation behavior?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C415C58-028A-42AD-82ED-A5B1AC7B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435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i="1">
                <a:solidFill>
                  <a:srgbClr val="9B5D58"/>
                </a:solidFill>
              </a:defRPr>
            </a:pPr>
            <a:r>
              <a:rPr sz="1575" i="1">
                <a:solidFill>
                  <a:srgbClr val="9B5D58"/>
                </a:solidFill>
              </a:rPr>
              <a:t>The question is not who gets blamed after failure. It is how AI-supported systems reshape responsibility before action is taken.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F67DF99-87BA-4E49-9851-D95E1D27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F053F0E-31FC-4635-918D-B49AB0EC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116CEE2-4B75-4A36-AAD5-D85E5B5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19589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A05269-3976-4090-9B09-82370892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Framing and alignment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2A4483-AE96-4E39-A210-646BB1C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Role proximity motivates the theory, but confirm and disclosure are the current tests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C04BBC-DBF1-45B9-8E2E-6B1DA25E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10AAFC6-4048-421B-AFCD-03C622EA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5720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7AE3190-2F1A-4D72-AA15-1A75D048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81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Broader analytical motivation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D8B1AC8-69BB-4A4C-8EF9-E382A8B7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3790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AI can enter as analysis, advice, or delegated action.</a:t>
            </a:r>
          </a:p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As AI moves closer to the final act, ownership may weaken.</a:t>
            </a:r>
          </a:p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That broader map motivates the paper.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7C6B918-32AE-4D41-907E-17C27E6F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i="1">
                <a:solidFill>
                  <a:srgbClr val="A66A4D"/>
                </a:solidFill>
              </a:defRPr>
            </a:pPr>
            <a:r>
              <a:rPr sz="1350" i="1">
                <a:solidFill>
                  <a:srgbClr val="A66A4D"/>
                </a:solidFill>
              </a:rPr>
              <a:t>Role proximity remains the conceptual backdrop.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6E06C280-4DE9-4A00-8BF8-442D6780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485775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D30BDBE-D5FC-4053-ABA7-4D665C67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Current operational test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609342D-1576-4139-8F58-8C50D080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4000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Human-only vs AI-baseline identifies AI support per se.</a:t>
            </a:r>
          </a:p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AI-confirm tests whether explicit human passage re-anchors final agency.</a:t>
            </a:r>
          </a:p>
          <a:p xmlns:a="http://schemas.openxmlformats.org/drawingml/2006/main"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</a:rPr>
              <a:t>• AI-disclosure tests whether visibility and traceability change answerability.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34929FC-E508-42E9-8F41-E0DD549E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i="1">
                <a:solidFill>
                  <a:srgbClr val="6F7C60"/>
                </a:solidFill>
              </a:defRPr>
            </a:pPr>
            <a:r>
              <a:rPr sz="1350" i="1">
                <a:solidFill>
                  <a:srgbClr val="6F7C60"/>
                </a:solidFill>
              </a:rPr>
              <a:t>The current experiment operationalizes responsibility design through confirm and disclosure.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5829CCC-9F25-4EE2-AD07-DF44AB76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05450"/>
            <a:ext cx="80391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64A"/>
          </a:solidFill>
          <a:ln xmlns:a="http://schemas.openxmlformats.org/drawingml/2006/main" w="0">
            <a:solidFill>
              <a:srgbClr val="23364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793C5DC-40D4-4C79-9C94-9E984FA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57850"/>
            <a:ext cx="739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So the theory is broader than the experiment, but the current test still identifies two design moves.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438847F-147D-48A0-956B-31DE36EC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31B1361-F1BB-400B-BBF2-2B080F33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EADB929-208A-41A4-B73B-882B9B05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3938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8A30703-ABD5-4266-B40B-569B8305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Experimental prototype and participant flow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F6AA75-9C41-4F15-B835-EA93ABC1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A repeated Hawk-Dove environment makes responsibility design testable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849E305-F3F0-49B6-8396-735EAF93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82835AE4-990C-4676-9625-E83CB8A0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543300" cy="3924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CEAA6C4-37DB-45D0-B804-641FCFC5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28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Why this prototype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2CEA94-76AF-426C-AC7C-0AC51E74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2933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Escalation can deliver a unilateral gain.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Mutual escalation generates shared loss.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The choice is both risky and consequential for another party.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That makes responsibility structure behaviorally meaningful.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205B817-C9F9-488B-AE4D-B2DDF96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i="1">
                <a:solidFill>
                  <a:srgbClr val="5F6875"/>
                </a:solidFill>
              </a:defRPr>
            </a:pPr>
            <a:r>
              <a:rPr sz="1200" i="1">
                <a:solidFill>
                  <a:srgbClr val="5F6875"/>
                </a:solidFill>
              </a:rPr>
              <a:t>Illustrative payoff logic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A49D969-230C-4E47-A3B9-39EBEF9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8382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3364A"/>
          </a:solidFill>
          <a:ln xmlns:a="http://schemas.openxmlformats.org/drawingml/2006/main" w="0">
            <a:solidFill>
              <a:srgbClr val="23364A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0A654783-BC30-475D-A4A0-111A500E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81500"/>
            <a:ext cx="8382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3364A"/>
          </a:solidFill>
          <a:ln xmlns:a="http://schemas.openxmlformats.org/drawingml/2006/main" w="0">
            <a:solidFill>
              <a:srgbClr val="23364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B91EC9-7412-4601-A550-8761DB62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1D654E2-6530-450C-8486-E34BC11F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DFD5CC-885C-468E-82F8-4CFE500B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3364A"/>
                </a:solidFill>
              </a:defRPr>
            </a:pPr>
            <a:r>
              <a:rPr sz="1350" b="1">
                <a:solidFill>
                  <a:srgbClr val="23364A"/>
                </a:solidFill>
              </a:rPr>
              <a:t>R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7025AAD-48D8-4437-B511-339EA933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91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3364A"/>
                </a:solidFill>
              </a:defRPr>
            </a:pPr>
            <a:r>
              <a:rPr sz="1350" b="1">
                <a:solidFill>
                  <a:srgbClr val="23364A"/>
                </a:solidFill>
              </a:rPr>
              <a:t>E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20186804-2CD5-44B9-A29F-1DF902BE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38700"/>
            <a:ext cx="8382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192DEDE-7B65-442D-9990-5A6CB707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339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50, 50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34E2E786-7ADB-410B-8847-C8685114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38700"/>
            <a:ext cx="8382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EF8FEE9-67A0-4EDB-BB21-6A08419F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339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20, 80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6A95E6F-631C-4799-91A7-0D2CEC04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95900"/>
            <a:ext cx="8382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1158ADE-1B5D-4139-A9C2-62CBB982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911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80, 20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5D94AF6E-6F1A-4992-B5CB-144CF9E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95900"/>
            <a:ext cx="8382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93B06C5-56B0-4654-B03D-F3A985D9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911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10, 10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CE9BF9A-5A95-43C8-9444-101D0352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573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3364A"/>
                </a:solidFill>
              </a:defRPr>
            </a:pPr>
            <a:r>
              <a:rPr sz="1650" b="1">
                <a:solidFill>
                  <a:srgbClr val="23364A"/>
                </a:solidFill>
              </a:rPr>
              <a:t>Condition logic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6057256B-B02F-45C4-9A9F-8886EC6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3364A"/>
          </a:solidFill>
          <a:ln xmlns:a="http://schemas.openxmlformats.org/drawingml/2006/main" w="0">
            <a:solidFill>
              <a:srgbClr val="23364A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DEA925C-F733-4B6D-8561-27C0422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098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Human-only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34BD84C7-E8D3-412B-B843-8509057E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A66A4D"/>
          </a:solidFill>
          <a:ln xmlns:a="http://schemas.openxmlformats.org/drawingml/2006/main" w="0">
            <a:solidFill>
              <a:srgbClr val="A66A4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733AA85-778D-4D6A-95BA-91A345C6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AI-baseline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2CAC929A-DA62-40D6-99BA-CE968084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6F7C60"/>
          </a:solidFill>
          <a:ln xmlns:a="http://schemas.openxmlformats.org/drawingml/2006/main" w="0">
            <a:solidFill>
              <a:srgbClr val="6F7C60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4B71B74-1641-472F-BCF3-CC86F22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AI-confirm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E72F997F-6FF7-44B6-9AEE-2804A61A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9B5D58"/>
          </a:solidFill>
          <a:ln xmlns:a="http://schemas.openxmlformats.org/drawingml/2006/main" w="0">
            <a:solidFill>
              <a:srgbClr val="9B5D58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85D1A72-613F-4AA8-97CF-D39165A5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AI-disclosure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B0802EE-C11C-4E2B-A943-504DC357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48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3364A"/>
                </a:solidFill>
              </a:defRPr>
            </a:pPr>
            <a:r>
              <a:rPr sz="1650" b="1">
                <a:solidFill>
                  <a:srgbClr val="23364A"/>
                </a:solidFill>
              </a:rPr>
              <a:t>One participant, one round</a:t>
            </a: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C8C147FA-1684-4B00-9573-6DFDC4B4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1162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0A36378-05F4-435D-A04F-C5F6B8C3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147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See payoff matrix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D2C2B00-6A68-42AD-98A6-DC5F5975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671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22A03A7B-7E07-4B4D-B573-D496B9C1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1162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B95E5212-7811-4DB1-8C3F-DE57A53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See AI analysis if assigned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A35FD86-79A4-4F39-BE41-26049AE6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F2A4D798-D506-4012-9C19-0014D54F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1162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BED05158-96D6-41D0-8478-BAEB635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Confirm or disclose if assigned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B6FA411-1C98-4AF7-A7B8-A882B63C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A8662096-AFAC-47F9-A34E-9AD416DE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1162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E7DD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A60FD4-94C6-4A83-ADBD-FBECAEF2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Choose escalate or restrain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3D3D4C8-A542-4EEC-93C2-3E7EEBE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671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D60035D3-AEFB-4CDE-A88A-9FBAFF3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1162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9F6F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C91FFA36-B108-49CE-95F5-0A31256D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Observe round outcome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9499A837-1947-49F9-8BBC-61671877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530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i="1">
                <a:solidFill>
                  <a:srgbClr val="9B5D58"/>
                </a:solidFill>
              </a:defRPr>
            </a:pPr>
            <a:r>
              <a:rPr sz="1425" i="1">
                <a:solidFill>
                  <a:srgbClr val="9B5D58"/>
                </a:solidFill>
              </a:rPr>
              <a:t>The prototype holds the strategic environment fixed and varies the responsibility architecture inside the same risky choice structure.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AA12090-17C0-487A-9285-6CDFFFA2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07D00D6-5E99-4DF0-B9BA-0B7A51EB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B0D6649-05EB-405C-8745-EB8FA61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9786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76D6E1-031B-4160-9B0C-FD278CBE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Core method table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0DE16A-983F-45F9-ACC2-D6BE2B87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Each manipulation is tied to a distinct comparison and identification claim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7970F1-AB86-4346-99E7-07AB09CD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pic>
        <p:nvPicPr>
          <p:cNvPr id="1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1556837284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718265"/>
            <a:ext cx="10591800" cy="3764369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C694CED-3D4A-4B80-A0EB-7C7410C1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9B5D58"/>
                </a:solidFill>
              </a:defRPr>
            </a:pPr>
            <a:r>
              <a:rPr sz="1125" i="1">
                <a:solidFill>
                  <a:srgbClr val="9B5D58"/>
                </a:solidFill>
              </a:rPr>
              <a:t>This is the key method page: the design is not just AI versus no AI, but a set of contrasts about responsibility architecture.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5B18914-97A4-4E84-820C-1434EA82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96BD45F-BB36-407C-B050-84BC71F9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5FCF9FB-0442-45B7-9D6E-FF3A793C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3588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8DBADE-2F59-45F3-819E-FDE89D1B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67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</a:rPr>
              <a:t>Expected contrasts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60CE25-32C5-4D60-96F0-7F18FFE9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C2430"/>
                </a:solidFill>
              </a:defRPr>
            </a:pPr>
            <a:r>
              <a:rPr sz="2250" b="1">
                <a:solidFill>
                  <a:srgbClr val="1C2430"/>
                </a:solidFill>
              </a:rPr>
              <a:t>The paper identifies where AI changes responsibility before outcomes occur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5AD9993-35BC-4D03-B6E7-72356214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B8A30C0-685D-4629-96CE-4F6928AD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048000" cy="32194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0A35E2E-A1E9-409C-A623-59D257C5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Expected pattern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BA9E620-4669-4F0E-AED3-9A1F7D45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43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AI support may already shift escalation and responsibility perception.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Confirm may raise ownership by making human passage explicit.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Disclosure may strengthen answerability or normalize responsibility sharing.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F34FD1CF-3A73-4443-A9B6-9B5DE523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048000" cy="32194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9DED5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BACD360-AA0D-47BA-99FD-72D33704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Mechanism interpretation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5FB615D-F0B0-4B05-B1F5-A18FC0D3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43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Structural accountability and felt accountability do not have to move together.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If behavior changes move with ownership and answerability, the responsibility mechanism is more credible.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If not, competing mechanisms remain on the table.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008D8140-584A-4A26-BE04-CA31639D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14500"/>
            <a:ext cx="3048000" cy="32194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7E9E0"/>
          </a:solidFill>
          <a:ln xmlns:a="http://schemas.openxmlformats.org/drawingml/2006/main" w="9525">
            <a:solidFill>
              <a:srgbClr val="B7ADA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ED38236-5336-4060-8C83-8C4ED51C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81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Dissertation role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94256AC-1333-4443-9F09-413D9FAC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243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Paper 1 studies how AI changes evidence and belief formation.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Paper 2 studies how repeated feedback reshapes reliance calibration.</a:t>
            </a:r>
          </a:p>
          <a:p xmlns:a="http://schemas.openxmlformats.org/drawingml/2006/main"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Paper 3 studies how AI-supported action reorganizes responsibility.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340C069-FDD5-4CD1-AED0-991A0E33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89344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3364A"/>
          </a:solidFill>
          <a:ln xmlns:a="http://schemas.openxmlformats.org/drawingml/2006/main" w="0">
            <a:solidFill>
              <a:srgbClr val="23364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F0B08F-250A-412F-9342-C4740EA6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483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The central claim is simple: what matters is not only whether people use AI, but how AI system design reorganizes responsibility before action is taken.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7318A64-D206-4082-AF10-8515AA32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A0"/>
          </a:solidFill>
          <a:ln xmlns:a="http://schemas.openxmlformats.org/drawingml/2006/main" w="0">
            <a:solidFill>
              <a:srgbClr val="B7ADA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31AA186-0F2F-497A-911B-0EE910AF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8DE52B5-56E9-4A35-A237-646A64F2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728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2026-07-06T08:07:54.2110000Z</dcterms:created>
  <dcterms:modified xsi:type="dcterms:W3CDTF">2026-07-06T08:07:54.2110000Z</dcterms:modified>
</coreProperties>
</file>