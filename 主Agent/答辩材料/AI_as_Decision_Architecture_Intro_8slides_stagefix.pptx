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f5e027a3154366" /><Relationship Type="http://schemas.openxmlformats.org/officeDocument/2006/relationships/extended-properties" Target="/docProps/app.xml" Id="Re618d7f8909e41aa" /><Relationship Type="http://schemas.openxmlformats.org/officeDocument/2006/relationships/officeDocument" Target="/ppt/presentation.xml" Id="R18f14d80980649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f65c2bebec43e0"/>
  </p:sldMasterIdLst>
  <p:notesMasterIdLst>
    <p:notesMasterId xmlns:r="http://schemas.openxmlformats.org/officeDocument/2006/relationships" r:id="R17a45814042247b2"/>
  </p:notesMasterIdLst>
  <p:sldIdLst>
    <p:sldId xmlns:r="http://schemas.openxmlformats.org/officeDocument/2006/relationships" id="256" r:id="R3f4e17ef151e431f"/>
    <p:sldId xmlns:r="http://schemas.openxmlformats.org/officeDocument/2006/relationships" id="257" r:id="R62c5152c6ee84fd6"/>
    <p:sldId xmlns:r="http://schemas.openxmlformats.org/officeDocument/2006/relationships" id="258" r:id="R07cb234133014f08"/>
    <p:sldId xmlns:r="http://schemas.openxmlformats.org/officeDocument/2006/relationships" id="259" r:id="R0631cb510ab94fca"/>
    <p:sldId xmlns:r="http://schemas.openxmlformats.org/officeDocument/2006/relationships" id="260" r:id="R7210c1c7d605488b"/>
    <p:sldId xmlns:r="http://schemas.openxmlformats.org/officeDocument/2006/relationships" id="261" r:id="Rd035b447ee5d4bfa"/>
    <p:sldId xmlns:r="http://schemas.openxmlformats.org/officeDocument/2006/relationships" id="262" r:id="R302261100cf34774"/>
    <p:sldId xmlns:r="http://schemas.openxmlformats.org/officeDocument/2006/relationships" id="263" r:id="R5fa56239d0ad44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2e2f2000ee4516" /><Relationship Type="http://schemas.openxmlformats.org/officeDocument/2006/relationships/slideMaster" Target="/ppt/slideMasters/slideMaster1.xml" Id="R13f65c2bebec43e0" /><Relationship Type="http://schemas.openxmlformats.org/officeDocument/2006/relationships/notesMaster" Target="/ppt/notesMasters/notesMaster1.xml" Id="R17a45814042247b2" /><Relationship Type="http://schemas.openxmlformats.org/officeDocument/2006/relationships/presProps" Target="/ppt/presProps.xml" Id="R946a0622c8894880" /><Relationship Type="http://schemas.openxmlformats.org/officeDocument/2006/relationships/tableStyles" Target="/ppt/tableStyles.xml" Id="Rb4575887f2a94ca4" /><Relationship Type="http://schemas.openxmlformats.org/officeDocument/2006/relationships/slide" Target="/ppt/slides/slide1.xml" Id="R3f4e17ef151e431f" /><Relationship Type="http://schemas.openxmlformats.org/officeDocument/2006/relationships/slide" Target="/ppt/slides/slide2.xml" Id="R62c5152c6ee84fd6" /><Relationship Type="http://schemas.openxmlformats.org/officeDocument/2006/relationships/slide" Target="/ppt/slides/slide3.xml" Id="R07cb234133014f08" /><Relationship Type="http://schemas.openxmlformats.org/officeDocument/2006/relationships/slide" Target="/ppt/slides/slide4.xml" Id="R0631cb510ab94fca" /><Relationship Type="http://schemas.openxmlformats.org/officeDocument/2006/relationships/slide" Target="/ppt/slides/slide5.xml" Id="R7210c1c7d605488b" /><Relationship Type="http://schemas.openxmlformats.org/officeDocument/2006/relationships/slide" Target="/ppt/slides/slide6.xml" Id="Rd035b447ee5d4bfa" /><Relationship Type="http://schemas.openxmlformats.org/officeDocument/2006/relationships/slide" Target="/ppt/slides/slide7.xml" Id="R302261100cf34774" /><Relationship Type="http://schemas.openxmlformats.org/officeDocument/2006/relationships/slide" Target="/ppt/slides/slide8.xml" Id="R5fa56239d0ad44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bf5ba8a8394c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5db635ce5d43e7" /><Relationship Type="http://schemas.openxmlformats.org/officeDocument/2006/relationships/notesMaster" Target="/ppt/notesMasters/notesMaster1.xml" Id="Rf3bdc382e8ff45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e7a46a468c4948" /><Relationship Type="http://schemas.openxmlformats.org/officeDocument/2006/relationships/notesMaster" Target="/ppt/notesMasters/notesMaster1.xml" Id="R19dd18a4ef0849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86faeb027c4ddb" /><Relationship Type="http://schemas.openxmlformats.org/officeDocument/2006/relationships/notesMaster" Target="/ppt/notesMasters/notesMaster1.xml" Id="Rbe0a3edb7f7748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0ea6c6a124496f" /><Relationship Type="http://schemas.openxmlformats.org/officeDocument/2006/relationships/notesMaster" Target="/ppt/notesMasters/notesMaster1.xml" Id="R4b827682a8c648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fedaf3a80c404a" /><Relationship Type="http://schemas.openxmlformats.org/officeDocument/2006/relationships/notesMaster" Target="/ppt/notesMasters/notesMaster1.xml" Id="Rc1acf4dfcb0342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ce36e6ed6a411a" /><Relationship Type="http://schemas.openxmlformats.org/officeDocument/2006/relationships/notesMaster" Target="/ppt/notesMasters/notesMaster1.xml" Id="Rc7f6dfc936334a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6d26e966984d7a" /><Relationship Type="http://schemas.openxmlformats.org/officeDocument/2006/relationships/notesMaster" Target="/ppt/notesMasters/notesMaster1.xml" Id="R3a9f441eb2714e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194b0c090f416b" /><Relationship Type="http://schemas.openxmlformats.org/officeDocument/2006/relationships/notesMaster" Target="/ppt/notesMasters/notesMaster1.xml" Id="R8718d37b827b45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want to begin with the broader puzzle rather than with the framework term itself.</a:t>
            </a:r>
          </a:p>
          <a:p xmlns:a="http://schemas.openxmlformats.org/drawingml/2006/main">
            <a:r>
              <a:t>Today, AI is entering more real decision settings, including crisis judgment, organizational governance, public administration, healthcare, and other high-risk contexts.</a:t>
            </a:r>
          </a:p>
          <a:p xmlns:a="http://schemas.openxmlformats.org/drawingml/2006/main">
            <a:r>
              <a:t>That means AI is no longer only a laboratory system or a stand-alone tool. It is increasingly embedded in real organizational and institutional decision chains.</a:t>
            </a:r>
          </a:p>
          <a:p xmlns:a="http://schemas.openxmlformats.org/drawingml/2006/main">
            <a:r>
              <a:t>So the opening question is why that broader shift changes the governance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Once AI is embedded in real decision environments, governance can no longer focus only on model performance, safety standards, and compliance.</a:t>
            </a:r>
          </a:p>
          <a:p xmlns:a="http://schemas.openxmlformats.org/drawingml/2006/main">
            <a:r>
              <a:t>Those remain necessary, but they are no longer sufficient.</a:t>
            </a:r>
          </a:p>
          <a:p xmlns:a="http://schemas.openxmlformats.org/drawingml/2006/main">
            <a:r>
              <a:t>Failure may also come from the human side: how people interpret AI output, how they change their reliance, and how they act once AI becomes part of the process.</a:t>
            </a:r>
          </a:p>
          <a:p xmlns:a="http://schemas.openxmlformats.org/drawingml/2006/main">
            <a:r>
              <a:t>That is why the human-AI interaction itself becomes a governance object.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the literature gap becomes visible.</a:t>
            </a:r>
          </a:p>
          <a:p xmlns:a="http://schemas.openxmlformats.org/drawingml/2006/main">
            <a:r>
              <a:t>A large body of work studies whether AI improves prediction or judgment accuracy.</a:t>
            </a:r>
          </a:p>
          <a:p xmlns:a="http://schemas.openxmlformats.org/drawingml/2006/main">
            <a:r>
              <a:t>Another stream studies trust, advice taking, adoption, or delegation.</a:t>
            </a:r>
          </a:p>
          <a:p xmlns:a="http://schemas.openxmlformats.org/drawingml/2006/main">
            <a:r>
              <a:t>A third stream studies blame and responsibility after AI-assisted outcomes.</a:t>
            </a:r>
          </a:p>
          <a:p xmlns:a="http://schemas.openxmlformats.org/drawingml/2006/main">
            <a:r>
              <a:t>These are important contributions, but governance needs to understand how these mechanisms connect inside one behavioral process rather than treating them as separate problems.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second motivation is that generative AI should not be treated as only a stronger version of traditional algorithmic tools.</a:t>
            </a:r>
          </a:p>
          <a:p xmlns:a="http://schemas.openxmlformats.org/drawingml/2006/main">
            <a:r>
              <a:t>Traditional systems often provide an output that people then interpret before acting.</a:t>
            </a:r>
          </a:p>
          <a:p xmlns:a="http://schemas.openxmlformats.org/drawingml/2006/main">
            <a:r>
              <a:t>Generative AI more often presents an answer first, together with a fluent and coherent natural-language rationale, while verification becomes optional and delayed.</a:t>
            </a:r>
          </a:p>
          <a:p xmlns:a="http://schemas.openxmlformats.org/drawingml/2006/main">
            <a:r>
              <a:t>So the key difference is not only the source of output. It is the sequence of judgment and the persuasive force of the explanation.</a:t>
            </a:r>
          </a:p>
          <a:p xmlns:a="http://schemas.openxmlformats.org/drawingml/2006/main">
            <a:r>
              <a:t>That is why the governance problem begins earlier, at the point where explanation and verification are reorganized by the interface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Once we take that sequence seriously, behavioral science becomes foundational rather than optional.</a:t>
            </a:r>
          </a:p>
          <a:p xmlns:a="http://schemas.openxmlformats.org/drawingml/2006/main">
            <a:r>
              <a:t>Governance failure may come from people forming incorrect beliefs after interacting with AI.</a:t>
            </a:r>
          </a:p>
          <a:p xmlns:a="http://schemas.openxmlformats.org/drawingml/2006/main">
            <a:r>
              <a:t>It may come from shifted risk judgments and inappropriate reliance.</a:t>
            </a:r>
          </a:p>
          <a:p xmlns:a="http://schemas.openxmlformats.org/drawingml/2006/main">
            <a:r>
              <a:t>It may also come from responsibility being reassigned once AI participates in action.</a:t>
            </a:r>
          </a:p>
          <a:p xmlns:a="http://schemas.openxmlformats.org/drawingml/2006/main">
            <a:r>
              <a:t>Technical error is therefore only one failure path; behavioral distortion is another.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leads to the shared process that organizes the dissertation.</a:t>
            </a:r>
          </a:p>
          <a:p xmlns:a="http://schemas.openxmlformats.org/drawingml/2006/main">
            <a:r>
              <a:t>First, there is belief formation: what do people come to believe after interacting with AI?</a:t>
            </a:r>
          </a:p>
          <a:p xmlns:a="http://schemas.openxmlformats.org/drawingml/2006/main">
            <a:r>
              <a:t>Second, there is risk appraisal and reliance calibration: given those beliefs and later feedback, when do people rely, delegate, or act?</a:t>
            </a:r>
          </a:p>
          <a:p xmlns:a="http://schemas.openxmlformats.org/drawingml/2006/main">
            <a:r>
              <a:t>Third, there is responsibility: once action occurs, how are ownership, blame, and accountability assigned?</a:t>
            </a:r>
          </a:p>
          <a:p xmlns:a="http://schemas.openxmlformats.org/drawingml/2006/main">
            <a:r>
              <a:t>The point is that these are not isolated topics. They are connected stages of one AI-mediated high-risk decision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dissertation narrows that broader governance problem into a more specific theoretical object: AI as decision architecture.</a:t>
            </a:r>
          </a:p>
          <a:p xmlns:a="http://schemas.openxmlformats.org/drawingml/2006/main">
            <a:r>
              <a:t>I use this as an integrative analytical framework, not as a claim that the theory is already fully settled.</a:t>
            </a:r>
          </a:p>
          <a:p xmlns:a="http://schemas.openxmlformats.org/drawingml/2006/main">
            <a:r>
              <a:t>The framework highlights four things AI can restructure: information flow, cognitive burden, action thresholds, and responsibility relations.</a:t>
            </a:r>
          </a:p>
          <a:p xmlns:a="http://schemas.openxmlformats.org/drawingml/2006/main">
            <a:r>
              <a:t>In other words, AI matters not only because it produces content, but because it reorganizes how consequential human decisions are reached.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the three papers fit together.</a:t>
            </a:r>
          </a:p>
          <a:p xmlns:a="http://schemas.openxmlformats.org/drawingml/2006/main">
            <a:r>
              <a:t>Paper 1 studies the mapping from evidence to belief.</a:t>
            </a:r>
          </a:p>
          <a:p xmlns:a="http://schemas.openxmlformats.org/drawingml/2006/main">
            <a:r>
              <a:t>Paper 2 studies how belief and feedback recalibrate action thresholds and reliance under repeated interaction.</a:t>
            </a:r>
          </a:p>
          <a:p xmlns:a="http://schemas.openxmlformats.org/drawingml/2006/main">
            <a:r>
              <a:t>Paper 3 studies how action connects to responsibility attribution once AI-assisted outcomes occur.</a:t>
            </a:r>
          </a:p>
          <a:p xmlns:a="http://schemas.openxmlformats.org/drawingml/2006/main">
            <a:r>
              <a:t>This also explains why I begin with Paper 1.</a:t>
            </a:r>
          </a:p>
          <a:p xmlns:a="http://schemas.openxmlformats.org/drawingml/2006/main">
            <a:r>
              <a:t>If the evidence-to-belief mapping is already reshaped by answer-first AI, later reliance and responsibility are built on that altered base.</a:t>
            </a:r>
          </a:p>
          <a:p xmlns:a="http://schemas.openxmlformats.org/drawingml/2006/main">
            <a:r>
              <a:t>So the first paper is the natural starting point for the dissertation's empirical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fb809a54340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6580d6aa9c468a" /><Relationship Type="http://schemas.openxmlformats.org/officeDocument/2006/relationships/slideLayout" Target="/ppt/slideLayouts/slideLayout1.xml" Id="R65424dd5f99f47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424dd5f99f47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e92a38755416c" /><Relationship Type="http://schemas.openxmlformats.org/officeDocument/2006/relationships/notesSlide" Target="/ppt/notesSlides/notesSlide1.xml" Id="R26109f06f28448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21c6d041c49f8" /><Relationship Type="http://schemas.openxmlformats.org/officeDocument/2006/relationships/notesSlide" Target="/ppt/notesSlides/notesSlide2.xml" Id="R10d3eda9813e48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089eab4ee48b5" /><Relationship Type="http://schemas.openxmlformats.org/officeDocument/2006/relationships/notesSlide" Target="/ppt/notesSlides/notesSlide3.xml" Id="R05884306009f42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123dfecb948b2" /><Relationship Type="http://schemas.openxmlformats.org/officeDocument/2006/relationships/notesSlide" Target="/ppt/notesSlides/notesSlide4.xml" Id="R033334fb9ff04b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cfbbfc25c4fa0" /><Relationship Type="http://schemas.openxmlformats.org/officeDocument/2006/relationships/notesSlide" Target="/ppt/notesSlides/notesSlide5.xml" Id="R4d6c3d49bf0a40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4f4ec95934d82" /><Relationship Type="http://schemas.openxmlformats.org/officeDocument/2006/relationships/notesSlide" Target="/ppt/notesSlides/notesSlide6.xml" Id="R422475bdbe954b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28325d39b47f5" /><Relationship Type="http://schemas.openxmlformats.org/officeDocument/2006/relationships/notesSlide" Target="/ppt/notesSlides/notesSlide7.xml" Id="R05bd88ceeb464e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d7b494aad4d9a" /><Relationship Type="http://schemas.openxmlformats.org/officeDocument/2006/relationships/notesSlide" Target="/ppt/notesSlides/notesSlide8.xml" Id="R058a5787cf664e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CC204B-3179-44D8-81E7-FEAB9CD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0">
            <a:solidFill>
              <a:srgbClr val="1F2A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37A29-86EF-4A74-8CA8-A69E3647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4062"/>
          </a:solidFill>
          <a:ln xmlns:a="http://schemas.openxmlformats.org/drawingml/2006/main" w="0">
            <a:solidFill>
              <a:srgbClr val="3140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96497-882C-4AF6-8BA4-F01DE5F1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554"/>
          </a:solidFill>
          <a:ln xmlns:a="http://schemas.openxmlformats.org/drawingml/2006/main" w="0">
            <a:solidFill>
              <a:srgbClr val="2735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DC890-D599-49A0-8FE6-67D1CCA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EFDAA85-D395-4DE1-98D7-873FCD92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79C07FF-7E19-4104-BF41-50865A70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DOCTORAL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7CFF7-BFDF-478D-B3F2-B4058F0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609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The Puzzle That Motivates the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CA5DD-ABAC-468E-8D1E-A5AFDD4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DDE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D8DDE7"/>
                </a:solidFill>
                <a:latin typeface="Times New Roman"/>
                <a:ea typeface="Times New Roman"/>
                <a:cs typeface="Times New Roman"/>
              </a:rPr>
              <a:t>AI is entering more real decision settings, but governance still often looks at the model before it looks at the human-AI decision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F7BC5-2FD6-4ACB-B366-0520013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Xu | Doctoral Project Intro | July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911F2-DFFC-4047-8D5E-1BF8C1E0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6E328-5B26-4BFC-9065-3C8A799D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DB497-1322-46F4-9FAB-49DCD4A5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763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REAL SETTINGS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4B6D-4CBC-4BA3-8748-198E3629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478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Where AI is entering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112DA-5C4B-40D6-B599-619F832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859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Crisis judgment, organizational governance, public administration, healthcare, and other high-risk settings.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76047-05A3-4996-9D4E-774241E0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8571E-12B6-45F9-9B1E-92DC7E5E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5516C-F448-49BC-8642-A0CFBC0B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WHAT CHANGES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658D2-68D2-405C-B0A2-69AAFDD2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Embedded decision chains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EF8D6-EA3D-48DE-8BC5-56DEFFEC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147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AI is no longer only a lab system or a stand-alone tool. It is becoming part of real organizational and institutional processes.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5BD51-27D3-4547-A140-05BC1569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8C82F-B218-49F6-A5E6-74D3E21A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4FFA7-7B17-4112-B63B-124E393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338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WHY THIS MATTERS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31015-7C78-4200-AC34-8E97670A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053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Governance cannot stop at the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4030D-34E5-4E98-BC05-4A8E687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Once AI is embedded in consequential decision chains, governance must also explain what happens to the human side of the interaction.</a:t>
            </a:r>
          </a:p>
        </p:txBody>
      </p:sp>
      <p:cxnSp>
        <p:nvCxnSpPr>
          <p:cNvPr id="79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144000" y="2171700"/>
            <a:ext cx="5715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89B4A"/>
            </a:solidFill>
            <a:prstDash val="solid"/>
            <a:head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5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9144000" y="3600450"/>
            <a:ext cx="5715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89B4A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D0981-74B2-474B-BBC5-CDD361A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D7DCE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D7DCE7"/>
                </a:solidFill>
                <a:latin typeface="Times New Roman"/>
                <a:ea typeface="Times New Roman"/>
                <a:cs typeface="Times New Roman"/>
              </a:rPr>
              <a:t>The dissertation starts from that broader shift.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17D40-2546-45E1-B5EF-1B71676B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90603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8DCD4-B3A9-43A9-9636-6301648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E1FE3-3025-4189-ABD5-70DD71F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4B50C-AA6A-4AF1-918F-ABDC2835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06DD-4C17-467F-A888-3DE4648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ED8AC3-5B34-40FA-994E-891DCFB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634ED8-D3EA-49E9-BBEA-98737AC9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GOVERNANCE LENS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5B24-C435-404E-9859-EF3CBE3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666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Model performance and compliance are necessary, but no longer sufficient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40841-F33B-4F60-A7DB-4BD1955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Once AI is used inside human decision environments, failure may also come from how people interpret, rely on, and act with AI.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1982E-BCBD-4F34-A9C2-610D8E43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8B511-A69D-4108-BA0E-1D6DCF4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FACBB-8ECA-4AAE-A3E9-78952C3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AI governance still needs performance, safety, and compliance.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2EDA6-59F5-49AE-9B0B-AEBB4A6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D2272-86A5-48D4-8C1F-630C7A0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But those tools alone cannot explain what happens when humans and AI make decisions together.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1E046-AA38-4284-AA6B-8F3E1B2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85529-8CB3-4DDC-9B83-0A823D3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That is why the human-AI interaction becomes a governance object in its own right.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29D49-83B2-492F-9A36-C6988EA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3429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5C835-8862-466B-9549-8D694E0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57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1829A-5E76-48CB-B589-B342600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USUAL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40875-1A42-43C0-84C3-85E102E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we already study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17304-94AA-4AD0-AB49-4B1F655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F557-BD78-4306-AF40-3364D71F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908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Model 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CF72C-0B05-4899-B130-DD62B7A4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C5ECB-3ADF-431F-8E94-99CDBAC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8137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Safety and standards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9C01C-CA3E-42E3-BEA4-B1D27B4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D4"/>
          </a:solidFill>
          <a:ln xmlns:a="http://schemas.openxmlformats.org/drawingml/2006/main" w="0">
            <a:solidFill>
              <a:srgbClr val="E6E0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8EC10-EBD0-40A8-80FE-2A51AC9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719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Compliance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8FF79-CD46-45DB-98A3-BF020AA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The missing layer is what happens to human judgment and behavior once AI is embedded in the process.</a:t>
            </a:r>
          </a:p>
        </p:txBody>
      </p:sp>
    </p:spTree>
    <p:extLst>
      <p:ext uri="{BB962C8B-B14F-4D97-AF65-F5344CB8AC3E}">
        <p14:creationId xmlns:p14="http://schemas.microsoft.com/office/powerpoint/2010/main" val="299027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A6DC-0A3F-4A0A-92B4-BA0F34D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2403-E887-43FB-83EA-DB4457C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8DA2-B957-4A3C-82FD-2DE6CD4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913-3A1F-45AD-BFCB-4FF13DD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54E1A-7423-4892-8495-56FA188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E9CF0-3CE7-4F3E-866B-4A58D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CURRENT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459D-4D7E-4F6F-8463-4CCF3B6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Existing research still tends to study prediction, reliance, and blame separately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7445-2287-4552-AFC7-2C7FF02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That separation is analytically useful, but it leaves a governance gap once those mechanisms interact inside one decision process.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0A81-00FF-408D-875D-30888C7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392D-CC58-42B5-9FDE-337AF7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1BBA-3882-466F-8589-8A07F62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0D9D-AA3A-49C9-BF32-0C10E99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AA9D4-3CF3-4FEB-964A-ACB91C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Better prediction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A554-105E-4B63-86E8-B06F9C8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Many studies ask whether AI improves judgment quality or forecast accuracy.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5D2B-01BB-4540-AE2E-6CCD153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B27-3BC4-4B29-889D-AA7BA3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0984-4EAE-4789-BFC6-FC920CD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RELIANCE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3C395-EDFA-4ABF-8F2A-5ADEF5B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Adoption and 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ACEB-AC25-49ED-9971-D1A20F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Another stream asks whether people accept, follow, or delegate to AI advice.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24A-54AC-4D04-BC9B-B45F95C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CA49-7978-4E65-BCA5-5F3D91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DF29-299C-40D9-94C3-FEBC3C2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RESPONSIBILITY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E2BB-D340-4117-9CCE-DF05C1C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Blame after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7ECA-4258-4C86-981A-EBAF483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 third stream asks who should be blamed or credited after AI-assisted outcomes.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4D6A-FCD9-4551-8EBE-79CA433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A393-3DFA-48AF-A635-0FFDFA9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9CFB-0A1E-4FDA-92AC-B00D63C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MISSING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AB15C-07F1-476D-B2BA-A04344E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One connected process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310E3-1BD9-411D-BFAA-BC0C2E6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What is often missing is how belief formation, reliance calibration, and responsibility attribution unfold together.</a:t>
            </a:r>
          </a:p>
        </p:txBody>
      </p:sp>
    </p:spTree>
    <p:extLst>
      <p:ext uri="{BB962C8B-B14F-4D97-AF65-F5344CB8AC3E}">
        <p14:creationId xmlns:p14="http://schemas.microsoft.com/office/powerpoint/2010/main" val="1694884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1EB7C-52B2-440D-9936-DCB450FE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9D56D-D635-4A98-A6BA-E50774BC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FF709-8614-4ABF-AAFE-878C7596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8123F-0F5A-4B2D-AA3B-0850D3E3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8C6C39-218E-4CD0-9844-4542C3B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9417DA-8928-4764-984B-668CB0C9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WHY GENERATIVE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F673A-CE72-4FCE-B814-A964A1A4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Generative AI changes the sequence of judgment, not only the source of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2CCEA-62DD-4924-8AF7-A52200A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Because transformer-based systems deliver fluent narrative explanations, they can persuade before verification begins.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67B5C-42FF-43B0-A315-32CD1B90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46DA4-C44F-4A1F-B9E7-3EA74E5B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Traditional algorithms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36D5E-67A0-40D4-A787-4A1BA553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Generative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EE045-D2BA-4108-8F3D-881149D2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6CCEE-8000-426A-8EE9-025AD978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554DC-DAB8-4F96-9AF7-1A27045F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Model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0291B-927A-4FC9-83D5-3EBA0ACF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1BF14-0592-4A58-871B-18F2B967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2FC73-3F5D-4D9C-8F46-64B214DA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User 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72AC8-B088-41FD-824E-071CCA15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EFD8D-5772-4946-83D3-1627ACE6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0352C-DC15-41AB-A3D6-ADEF84B0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Final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21A67-A17E-4F25-B9B8-147C16DA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A75357-147E-4EA8-8CAB-78AB5790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CD336-0E93-42B9-B4CB-460E250F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Answer-first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13167C-4798-480B-9FA7-1C09B728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D7E310-2938-4CB1-982B-540B67A4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1B8BD-E27B-40FD-BAFB-DCE5E52E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004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Coherent natural-language rationale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206845-DFA2-4F1E-A49F-AD4053C9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48FA0-C43E-48B4-8EC9-42F6E603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18278E-E92B-406D-B9B6-93CBEA09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Optional verification</a:t>
            </a:r>
          </a:p>
        </p:txBody>
      </p:sp>
      <p:cxnSp>
        <p:nvCxnSpPr>
          <p:cNvPr id="101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667000" y="31813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667000" y="40576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103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286750" y="31813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A3C"/>
            </a:solidFill>
            <a:prstDash val="solid"/>
            <a:headEnd type="arrow" w="med" len="med"/>
          </a:ln>
        </p:spPr>
      </p:cxnSp>
      <p:cxnSp>
        <p:nvCxnSpPr>
          <p:cNvPr id="104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286750" y="40576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A3C"/>
            </a:solidFill>
            <a:prstDash val="solid"/>
            <a:head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2425C9-BC31-4F0C-AD15-37C0C3E3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1733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9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2B7927-93BC-410D-AC1C-E81F2F36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A6C79-8FFC-4B4E-9806-A38849BD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194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SHIFT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EC1616-2DE6-4617-A4D2-D8BD1920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From tool-like outputs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to conversational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mediation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89F1DC-ADED-4684-B76D-DF7A8EFB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The governance problem begins when a coherent explanation can shape judgment before verification really starts.</a:t>
            </a:r>
          </a:p>
        </p:txBody>
      </p:sp>
    </p:spTree>
    <p:extLst>
      <p:ext uri="{BB962C8B-B14F-4D97-AF65-F5344CB8AC3E}">
        <p14:creationId xmlns:p14="http://schemas.microsoft.com/office/powerpoint/2010/main" val="13462928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8DCD4-B3A9-43A9-9636-6301648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E1FE3-3025-4189-ABD5-70DD71F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4B50C-AA6A-4AF1-918F-ABDC2835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06DD-4C17-467F-A888-3DE4648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ED8AC3-5B34-40FA-994E-891DCFB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634ED8-D3EA-49E9-BBEA-98737AC9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BEHAVIORAL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5B24-C435-404E-9859-EF3CBE3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666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Behavioral science explains how the same model can produce different governance 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40841-F33B-4F60-A7DB-4BD1955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Different users can form different beliefs, thresholds, and responsibility intuitions from the same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1982E-BCBD-4F34-A9C2-610D8E43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8B511-A69D-4108-BA0E-1D6DCF4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FACBB-8ECA-4AAE-A3E9-78952C3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Governance failure may come from incorrect beliefs formed after interacting with AI.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2EDA6-59F5-49AE-9B0B-AEBB4A6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D2272-86A5-48D4-8C1F-630C7A0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It may come from shifted risk judgments and inappropriate reliance.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1E046-AA38-4284-AA6B-8F3E1B2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85529-8CB3-4DDC-9B83-0A823D3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It may also come from responsibility being reassigned once AI participates in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29D49-83B2-492F-9A36-C6988EA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3429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5C835-8862-466B-9549-8D694E0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57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1829A-5E76-48CB-B589-B342600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FAILURE PATHS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40875-1A42-43C0-84C3-85E102E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must be explained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17304-94AA-4AD0-AB49-4B1F655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F557-BD78-4306-AF40-3364D71F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908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formation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CF72C-0B05-4899-B130-DD62B7A4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C5ECB-3ADF-431F-8E94-99CDBAC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8137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Reliance calibration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9C01C-CA3E-42E3-BEA4-B1D27B4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D4"/>
          </a:solidFill>
          <a:ln xmlns:a="http://schemas.openxmlformats.org/drawingml/2006/main" w="0">
            <a:solidFill>
              <a:srgbClr val="E6E0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8EC10-EBD0-40A8-80FE-2A51AC9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719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Responsibility attribution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8FF79-CD46-45DB-98A3-BF020AA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Technical error is only one governance failure path; behavioral distortion is another.</a:t>
            </a:r>
          </a:p>
        </p:txBody>
      </p:sp>
    </p:spTree>
    <p:extLst>
      <p:ext uri="{BB962C8B-B14F-4D97-AF65-F5344CB8AC3E}">
        <p14:creationId xmlns:p14="http://schemas.microsoft.com/office/powerpoint/2010/main" val="299027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0B490-F503-4348-8B85-ABC6868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DD532-520B-4FA3-A150-B0726C45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B2CFD-2CA2-49DC-ADC9-0EC550F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E1879-730D-446E-A681-5200E119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F3E2A9B-A207-46C6-932C-1D7A34A7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AD13DF-8328-4108-8536-78DE4AE0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SHARED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BA439-45F1-4AC3-B4A6-912461C3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Governance failure can emerge at three stages of one behavioral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7F08D-0A37-4E3E-8D4E-3B8CC885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Belief Formation -&gt; Risk Appraisal / Reliance Calibration -&gt; Responsibility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A54A5-6AE4-4CD9-BA49-9F6F2914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05D0A-D15A-4B18-AE34-F4777E0F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BD551-3543-4A54-B6C7-8C10B1E1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2FB1B-FAD5-44A7-9AA6-A9CA9D00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STAGE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7F4DF-FE0B-4EA2-A277-0769B4B8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4F90E-477F-4FE3-8C31-2D9B560D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A1044-8F37-43A7-9572-735DFDD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evidence -&gt; belief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2C7F7-C882-4711-ACB6-7412EA7D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8E49D-6A06-4751-B27E-54A37664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do people come to believe after interacting with AI?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D1B18-855A-44E7-8FC6-FF0F0FC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DBA94-3785-4DAC-ADEB-937FEC7D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Incorrect beliefs can arise before anyone acts.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8094C-2003-4BEE-89F1-B0352219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This is where AI first enters the decision architecture.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EBA97-5994-4F1D-91D2-354C1BFC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8CE64-4F1F-4917-9536-3A1F1007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F40BC-79C6-4E57-A66B-83E25CA1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STAGE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9F7CB-0813-4F95-96E3-B10C45B8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Risk Appraisal /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Reliance Calibration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5312F-76D1-409A-8A01-64D2502B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A1277-C91F-4AC7-A2F4-B08F55D1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/ feedback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-&gt; action threshold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B8AC7-F07C-4D4C-AFB4-A301E55A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1FD0A-02DD-412B-889B-C8E414F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How do beliefs and feedback change delegation and action?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11C56-1D95-471B-B830-3B030A0C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B617C-0AEF-466A-A187-F61F883E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Reliance can become too high, too low, or too sticky.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4902D-7F0D-4B30-B813-392A5DE4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This is where people recalibrate under repetition and consequence.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B56D3-4A38-4C8D-83BC-F2CD169B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4499CE-5F78-426B-8EC0-70A07C51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BC5510-7182-4C6E-A31E-3CF4B88E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STAGE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E947F6-A9CD-425F-8C5E-7695ADE3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Responsibility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C1D993-2EF9-48EE-B140-1CF4C38F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9BA36-73F0-4D88-AA45-B58BD5F9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action -&gt; responsibility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CDBB11-5167-450A-A4DB-3D77224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300760-3BED-445F-A2B2-609BBD80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Who owns outcomes once AI participates in action?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62EBC5-E7B6-41D5-8F3C-74FC6940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AD32CB-CB15-4A12-A134-64A2049F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Credit, blame, and accountability no longer map cleanly onto one actor.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99488E-876D-420E-B5B3-732150B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Governance must explain not only decisions but also consequence-bearing.</a:t>
            </a:r>
          </a:p>
        </p:txBody>
      </p:sp>
    </p:spTree>
    <p:extLst>
      <p:ext uri="{BB962C8B-B14F-4D97-AF65-F5344CB8AC3E}">
        <p14:creationId xmlns:p14="http://schemas.microsoft.com/office/powerpoint/2010/main" val="20827991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A6DC-0A3F-4A0A-92B4-BA0F34D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2403-E887-43FB-83EA-DB4457C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8DA2-B957-4A3C-82FD-2DE6CD4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913-3A1F-45AD-BFCB-4FF13DD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54E1A-7423-4892-8495-56FA188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E9CF0-3CE7-4F3E-866B-4A58D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DECISION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459D-4D7E-4F6F-8463-4CCF3B6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This dissertation narrows the governance problem into AI as decision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7445-2287-4552-AFC7-2C7FF02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Decision architecture is used here as an integrative framework, not as a fully settled theory.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0A81-00FF-408D-875D-30888C7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392D-CC58-42B5-9FDE-337AF7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1BBA-3882-466F-8589-8A07F62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0D9D-AA3A-49C9-BF32-0C10E99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INFORMATION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AA9D4-3CF3-4FEB-964A-ACB91C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reaches the person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A554-105E-4B63-86E8-B06F9C8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AI can reorder evidence, summary, explanation, and verification.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5D2B-01BB-4540-AE2E-6CCD153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B27-3BC4-4B29-889D-AA7BA3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0984-4EAE-4789-BFC6-FC920CD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COGNITIVE BURDEN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3C395-EDFA-4ABF-8F2A-5ADEF5B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must be processed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ACEB-AC25-49ED-9971-D1A20F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It changes what people feel they need to inspect, infer, or own themselves.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24A-54AC-4D04-BC9B-B45F95C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CA49-7978-4E65-BCA5-5F3D91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DF29-299C-40D9-94C3-FEBC3C2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ACTION THRESHOLDS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E2BB-D340-4117-9CCE-DF05C1C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When action is triggered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7ECA-4258-4C86-981A-EBAF483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It recalibrates reliance, delegation, and the point at which people act.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4D6A-FCD9-4551-8EBE-79CA433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A393-3DFA-48AF-A635-0FFDFA9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9CFB-0A1E-4FDA-92AC-B00D63C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RESPONSIBILITY RELATIONS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AB15C-07F1-476D-B2BA-A04344E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Who bears consequences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310E3-1BD9-411D-BFAA-BC0C2E6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It reshapes ownership, accountability, and responsibility sharing after action.</a:t>
            </a:r>
          </a:p>
        </p:txBody>
      </p:sp>
    </p:spTree>
    <p:extLst>
      <p:ext uri="{BB962C8B-B14F-4D97-AF65-F5344CB8AC3E}">
        <p14:creationId xmlns:p14="http://schemas.microsoft.com/office/powerpoint/2010/main" val="1694884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A6DC-0A3F-4A0A-92B4-BA0F34D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2403-E887-43FB-83EA-DB4457C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8DA2-B957-4A3C-82FD-2DE6CD4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913-3A1F-45AD-BFCB-4FF13DD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54E1A-7423-4892-8495-56FA188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E9CF0-3CE7-4F3E-866B-4A58D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459D-4D7E-4F6F-8463-4CCF3B6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three papers isolate different mappings within the same decision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7445-2287-4552-AFC7-2C7FF02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Unity comes from one process; independence comes from different mechanisms, tasks, and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0A81-00FF-408D-875D-30888C7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392D-CC58-42B5-9FDE-337AF7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1BBA-3882-466F-8589-8A07F62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0D9D-AA3A-49C9-BF32-0C10E99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AA9D4-3CF3-4FEB-964A-ACB91C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evidence -&gt; belief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A554-105E-4B63-86E8-B06F9C8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How answer-first AI changes evidence search, Bayesian updating, and subjective mastery.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5D2B-01BB-4540-AE2E-6CCD153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B27-3BC4-4B29-889D-AA7BA3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0984-4EAE-4789-BFC6-FC920CD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3C395-EDFA-4ABF-8F2A-5ADEF5B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/ feedback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-&gt; action threshold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ACEB-AC25-49ED-9971-D1A20F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How early AI error recalibrates reliance under repeated feedback.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24A-54AC-4D04-BC9B-B45F95C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CA49-7978-4E65-BCA5-5F3D91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DF29-299C-40D9-94C3-FEBC3C2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E2BB-D340-4117-9CCE-DF05C1C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action -&gt; responsibility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7ECA-4258-4C86-981A-EBAF483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How AI-assisted action redistributes ownership and responsibility attribution.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4D6A-FCD9-4551-8EBE-79CA433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A393-3DFA-48AF-A635-0FFDFA9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9CFB-0A1E-4FDA-92AC-B00D63C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AB15C-07F1-476D-B2BA-A04344E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Why begin with Paper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310E3-1BD9-411D-BFAA-BC0C2E6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Later reliance and responsibility rest on a belief base AI may already have reshaped.</a:t>
            </a:r>
          </a:p>
        </p:txBody>
      </p:sp>
    </p:spTree>
    <p:extLst>
      <p:ext uri="{BB962C8B-B14F-4D97-AF65-F5344CB8AC3E}">
        <p14:creationId xmlns:p14="http://schemas.microsoft.com/office/powerpoint/2010/main" val="169488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2026-07-05T12:52:42.7290000Z</dcterms:created>
  <dcterms:modified xsi:type="dcterms:W3CDTF">2026-07-05T12:52:42.7290000Z</dcterms:modified>
</coreProperties>
</file>