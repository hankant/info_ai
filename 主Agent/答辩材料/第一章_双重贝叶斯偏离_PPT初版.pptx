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cefdf86ae48be" /><Relationship Type="http://schemas.openxmlformats.org/officeDocument/2006/relationships/extended-properties" Target="/docProps/app.xml" Id="R3801ba7b7b384f8b" /><Relationship Type="http://schemas.openxmlformats.org/officeDocument/2006/relationships/officeDocument" Target="/ppt/presentation.xml" Id="R12f3cd2abc87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ccf921482446e3"/>
  </p:sldMasterIdLst>
  <p:notesMasterIdLst>
    <p:notesMasterId xmlns:r="http://schemas.openxmlformats.org/officeDocument/2006/relationships" r:id="R411acb8c8b944497"/>
  </p:notesMasterIdLst>
  <p:sldIdLst>
    <p:sldId xmlns:r="http://schemas.openxmlformats.org/officeDocument/2006/relationships" id="256" r:id="R5ffdb6ba76904fd3"/>
    <p:sldId xmlns:r="http://schemas.openxmlformats.org/officeDocument/2006/relationships" id="257" r:id="R3b43df0d62984adb"/>
    <p:sldId xmlns:r="http://schemas.openxmlformats.org/officeDocument/2006/relationships" id="258" r:id="Rc94bef85eb4a41a7"/>
    <p:sldId xmlns:r="http://schemas.openxmlformats.org/officeDocument/2006/relationships" id="259" r:id="R6440368efa444649"/>
    <p:sldId xmlns:r="http://schemas.openxmlformats.org/officeDocument/2006/relationships" id="260" r:id="Rbd6c74cf60f54f35"/>
    <p:sldId xmlns:r="http://schemas.openxmlformats.org/officeDocument/2006/relationships" id="261" r:id="Rcf715658bf8c4351"/>
    <p:sldId xmlns:r="http://schemas.openxmlformats.org/officeDocument/2006/relationships" id="262" r:id="Rda20e1879fcb42d5"/>
    <p:sldId xmlns:r="http://schemas.openxmlformats.org/officeDocument/2006/relationships" id="263" r:id="R49f09da4817f48fc"/>
    <p:sldId xmlns:r="http://schemas.openxmlformats.org/officeDocument/2006/relationships" id="264" r:id="Rd83a7d2311174124"/>
    <p:sldId xmlns:r="http://schemas.openxmlformats.org/officeDocument/2006/relationships" id="265" r:id="Raa62a19f27244e67"/>
    <p:sldId xmlns:r="http://schemas.openxmlformats.org/officeDocument/2006/relationships" id="266" r:id="R089e08eda9d44b4f"/>
    <p:sldId xmlns:r="http://schemas.openxmlformats.org/officeDocument/2006/relationships" id="267" r:id="R1582d21a02324f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b9176cb074018" /><Relationship Type="http://schemas.openxmlformats.org/officeDocument/2006/relationships/slideMaster" Target="/ppt/slideMasters/slideMaster1.xml" Id="R3bccf921482446e3" /><Relationship Type="http://schemas.openxmlformats.org/officeDocument/2006/relationships/notesMaster" Target="/ppt/notesMasters/notesMaster1.xml" Id="R411acb8c8b944497" /><Relationship Type="http://schemas.openxmlformats.org/officeDocument/2006/relationships/presProps" Target="/ppt/presProps.xml" Id="R14fffbcbeecf4c05" /><Relationship Type="http://schemas.openxmlformats.org/officeDocument/2006/relationships/tableStyles" Target="/ppt/tableStyles.xml" Id="R81f2c0b57f4d42e0" /><Relationship Type="http://schemas.openxmlformats.org/officeDocument/2006/relationships/slide" Target="/ppt/slides/slide1.xml" Id="R5ffdb6ba76904fd3" /><Relationship Type="http://schemas.openxmlformats.org/officeDocument/2006/relationships/slide" Target="/ppt/slides/slide2.xml" Id="R3b43df0d62984adb" /><Relationship Type="http://schemas.openxmlformats.org/officeDocument/2006/relationships/slide" Target="/ppt/slides/slide3.xml" Id="Rc94bef85eb4a41a7" /><Relationship Type="http://schemas.openxmlformats.org/officeDocument/2006/relationships/slide" Target="/ppt/slides/slide4.xml" Id="R6440368efa444649" /><Relationship Type="http://schemas.openxmlformats.org/officeDocument/2006/relationships/slide" Target="/ppt/slides/slide5.xml" Id="Rbd6c74cf60f54f35" /><Relationship Type="http://schemas.openxmlformats.org/officeDocument/2006/relationships/slide" Target="/ppt/slides/slide6.xml" Id="Rcf715658bf8c4351" /><Relationship Type="http://schemas.openxmlformats.org/officeDocument/2006/relationships/slide" Target="/ppt/slides/slide7.xml" Id="Rda20e1879fcb42d5" /><Relationship Type="http://schemas.openxmlformats.org/officeDocument/2006/relationships/slide" Target="/ppt/slides/slide8.xml" Id="R49f09da4817f48fc" /><Relationship Type="http://schemas.openxmlformats.org/officeDocument/2006/relationships/slide" Target="/ppt/slides/slide9.xml" Id="Rd83a7d2311174124" /><Relationship Type="http://schemas.openxmlformats.org/officeDocument/2006/relationships/slide" Target="/ppt/slides/slide10.xml" Id="Raa62a19f27244e67" /><Relationship Type="http://schemas.openxmlformats.org/officeDocument/2006/relationships/slide" Target="/ppt/slides/slide11.xml" Id="R089e08eda9d44b4f" /><Relationship Type="http://schemas.openxmlformats.org/officeDocument/2006/relationships/slide" Target="/ppt/slides/slide12.xml" Id="R1582d21a02324f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0495620fe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1ccddf9364394" /><Relationship Type="http://schemas.openxmlformats.org/officeDocument/2006/relationships/notesMaster" Target="/ppt/notesMasters/notesMaster1.xml" Id="R369773c1fd124c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d5657dc27c4668" /><Relationship Type="http://schemas.openxmlformats.org/officeDocument/2006/relationships/notesMaster" Target="/ppt/notesMasters/notesMaster1.xml" Id="R5f7efc7b997c48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f08b20368d42eb" /><Relationship Type="http://schemas.openxmlformats.org/officeDocument/2006/relationships/notesMaster" Target="/ppt/notesMasters/notesMaster1.xml" Id="Rec38eb1b1c46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708b700098490a" /><Relationship Type="http://schemas.openxmlformats.org/officeDocument/2006/relationships/notesMaster" Target="/ppt/notesMasters/notesMaster1.xml" Id="R0ad884e6538d4a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02d3fba27495c" /><Relationship Type="http://schemas.openxmlformats.org/officeDocument/2006/relationships/notesMaster" Target="/ppt/notesMasters/notesMaster1.xml" Id="R2c291a3fb24e47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52a72bc4224d4e" /><Relationship Type="http://schemas.openxmlformats.org/officeDocument/2006/relationships/notesMaster" Target="/ppt/notesMasters/notesMaster1.xml" Id="Rf3b7b3ac227c4f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80db77ba94dca" /><Relationship Type="http://schemas.openxmlformats.org/officeDocument/2006/relationships/notesMaster" Target="/ppt/notesMasters/notesMaster1.xml" Id="R9b0b1fb4a26443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e28e1ad4d9492c" /><Relationship Type="http://schemas.openxmlformats.org/officeDocument/2006/relationships/notesMaster" Target="/ppt/notesMasters/notesMaster1.xml" Id="R9a75b915d66543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ef0ebecce64a1a" /><Relationship Type="http://schemas.openxmlformats.org/officeDocument/2006/relationships/notesMaster" Target="/ppt/notesMasters/notesMaster1.xml" Id="Rf31c2527f67241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ad81d967941f9" /><Relationship Type="http://schemas.openxmlformats.org/officeDocument/2006/relationships/notesMaster" Target="/ppt/notesMasters/notesMaster1.xml" Id="R04e7866d33c04a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0227b00b894cb1" /><Relationship Type="http://schemas.openxmlformats.org/officeDocument/2006/relationships/notesMaster" Target="/ppt/notesMasters/notesMaster1.xml" Id="Rc32e390e4fd341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27b32a4c714266" /><Relationship Type="http://schemas.openxmlformats.org/officeDocument/2006/relationships/notesMaster" Target="/ppt/notesMasters/notesMaster1.xml" Id="Rb91a635dbf1249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18a8adb59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70a22a872467c" /><Relationship Type="http://schemas.openxmlformats.org/officeDocument/2006/relationships/slideLayout" Target="/ppt/slideLayouts/slideLayout1.xml" Id="Rad19f24a25d6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19f24a25d6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176c92e644005" /><Relationship Type="http://schemas.openxmlformats.org/officeDocument/2006/relationships/notesSlide" Target="/ppt/notesSlides/notesSlide1.xml" Id="Rece7b353216a4f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f984f5e81453b" /><Relationship Type="http://schemas.openxmlformats.org/officeDocument/2006/relationships/notesSlide" Target="/ppt/notesSlides/notesSlide2.xml" Id="R7070c95570f44f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c8bbc69a47fe" /><Relationship Type="http://schemas.openxmlformats.org/officeDocument/2006/relationships/notesSlide" Target="/ppt/notesSlides/notesSlide3.xml" Id="R2ca0102b3fca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0d934aba44f9b" /><Relationship Type="http://schemas.openxmlformats.org/officeDocument/2006/relationships/notesSlide" Target="/ppt/notesSlides/notesSlide4.xml" Id="R47a32f34adfa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c8611445a4a47" /><Relationship Type="http://schemas.openxmlformats.org/officeDocument/2006/relationships/notesSlide" Target="/ppt/notesSlides/notesSlide5.xml" Id="R514234f849a3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d4c65bfa64c6e" /><Relationship Type="http://schemas.openxmlformats.org/officeDocument/2006/relationships/notesSlide" Target="/ppt/notesSlides/notesSlide6.xml" Id="Rcf2b66bcfd994b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df4d24ce415e" /><Relationship Type="http://schemas.openxmlformats.org/officeDocument/2006/relationships/notesSlide" Target="/ppt/notesSlides/notesSlide7.xml" Id="R28b325d84afc4c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019b770da4c46" /><Relationship Type="http://schemas.openxmlformats.org/officeDocument/2006/relationships/notesSlide" Target="/ppt/notesSlides/notesSlide8.xml" Id="R01ffe6353fd946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d3b7e13054862" /><Relationship Type="http://schemas.openxmlformats.org/officeDocument/2006/relationships/notesSlide" Target="/ppt/notesSlides/notesSlide9.xml" Id="R495a150fedc648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bb23286af43e6" /><Relationship Type="http://schemas.openxmlformats.org/officeDocument/2006/relationships/notesSlide" Target="/ppt/notesSlides/notesSlide10.xml" Id="Rb5290ce2d9fb45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e110559cd48ec" /><Relationship Type="http://schemas.openxmlformats.org/officeDocument/2006/relationships/notesSlide" Target="/ppt/notesSlides/notesSlide11.xml" Id="R69da1461186e48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a71138bd04516" /><Relationship Type="http://schemas.openxmlformats.org/officeDocument/2006/relationships/notesSlide" Target="/ppt/notesSlides/notesSlide12.xml" Id="Reb33bfbd0d7d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B3FF38-4649-4CD9-B471-F960C75B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第一章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67329-348C-43FF-A049-8133F15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8461E-06BB-4312-BAA4-261B8C60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111"/>
                </a:solidFill>
              </a:defRPr>
            </a:pPr>
            <a:r>
              <a:rPr sz="4125" b="1">
                <a:solidFill>
                  <a:srgbClr val="111111"/>
                </a:solidFill>
              </a:rPr>
              <a:t>算法权威与双重贝叶斯偏离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422E2-FF59-474B-9841-BB8A907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385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生成式 AI 如何重塑证据抽样与信念更新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68B69-EF0F-43D9-BDF3-EF7A7E18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924B8-9372-4FA8-B694-50342B51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核心线索：AI 不只是给答案，而是改变人判断证据是否已经足够。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DCC4B-0873-4645-87C9-6CC12F3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B756A-0B97-4A28-A5C3-3A4FA1FD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1478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3F20D-2783-4857-BFC4-D3914F5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研究动机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44978-7C5B-421C-B496-F367ABFF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生成式 AI 的关键变化，是先给出一个看似完整的解释。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0739B-8B8D-447A-8FD5-7A4D0562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传统搜索让用户先面对证据，再形成解释。生成式 AI 则常常先给出结论、理由和证据组织方式。用户因此可能在真正接触证据之前，就已经获得一个被算法预解释的判断框架。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01E0D-B407-4441-BE8D-C11F0E4A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810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7CDE-68D5-4060-A520-FB100F2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这改变了两个判断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B9664-6830-4339-A759-C8A238E1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我还需要继续找证据吗？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后来的反向证据还重要吗？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0BA83-E748-454A-9FA8-ADA8C0C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C815C-B272-4144-87D7-2AB5227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0057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31C14-0499-4F03-A509-B3A38E8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核心张力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D1CA5-285F-4A9E-91FE-3A6F0F25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少搜索不一定是坏事，关键是少搜索之后判断有没有变差。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BB215-D17F-4546-AAEC-3AB7242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如果 summary 已经有效压缩了高质量证据，少查阅原始材料可能是理性的信息成本节约。只有当用户在 summary 不充分时仍然停止搜索，并且后验更偏离规范基准，才构成有害的信息获取偏离。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EA855-2F0B-4F0A-A3D5-E848F1E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810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89C8E-A0CD-47CA-ABC0-9241D62D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本章避免一个误判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F08B6-1166-4205-A0A0-058CCFFF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不是：AI 让人少搜索，所以判断更差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而是：少搜索在什么条件下才变成贝叶斯偏离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E589-924D-4F76-964E-D394F97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4AC0F-FBC7-4237-B6F9-81833773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6736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6A2DD-7C8B-4CF0-A4C0-BF8CE5DB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文献缺口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6CD7A-05FE-4D73-97A9-AED0AB5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现有 AI 判断研究多看“是否采纳答案”，较少拆开信念形成的两个阶段。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F7567-D977-4AEB-B665-B155E2A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algorithmic trust、automation bias 和 algorithm aversion 解释了人是否相信、采纳或回避算法。但生成式 AI 的特殊性在于，它先组织证据、处理冲突并生成叙事。因此，需要研究它如何改变搜索停止规则和后验更新规则。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8C91-C654-4A0B-9E3A-39F04D66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810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E630D-87D7-451A-964B-9F83478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本文补上的缺口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DAAFA-0098-4921-9AC9-3AFA3AA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信息获取：用户是否过早停止抽样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信息处理：用户是否低估反向证据诊断性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4DBB6-7D36-4B61-AFEC-96553CD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286F4-E068-4A19-AFF9-B2A7C1DB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4474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21AC2-4583-4CCE-B3E0-DD68287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理论入口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606C6-795E-4711-B074-8C54B47B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perceived signal structure 描述用户如何想象 AI 背后的证据过程。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12DA6-6CD4-4C65-AA03-42B09D12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用户看到的不是单独一句答案。他们还会推断 AI 看过多少证据、覆盖多少维度、是否处理过反方信息，以及 summary 是否能代表完整证据环境。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B0499-E1FA-411E-A760-6B99C94D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810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7CBF9-3D76-4106-BB2C-6B819E12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它不是简单信任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5D5B7-1C8B-4FBC-BEDC-998D88D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信任问：这个答案对不对？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算法权威问：AI 是否已经替我充分处理了证据？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6F101-C4D9-4826-ABE9-9173499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0AF01-9FFD-4C6B-A913-E59FEBA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0832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C291A-3B31-45AB-92CE-BA4DB6D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理论机制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CA05F-574D-4C54-88BF-58491991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双重贝叶斯偏离不是一个偏差，而是两个阶段的偏离。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B7E1-C49A-4D1C-9DE8-406D440B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E92EC-117E-4BCB-AA59-919171E6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73722-6287-4A14-922E-462D299A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路径一：看得更少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0C966-16C0-4F7F-B69C-724A93ED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143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AI summary 看起来完整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→ 用户高估证据覆盖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→ 额外搜索价值下降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→ 过早停止抽样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4C650-A289-479D-9F4F-FDC67E40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信息获取偏离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C9DE-5019-4937-89AD-B2F9526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路径二：更新更少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45C95-082C-49D6-B5D0-D1F0A9DC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4143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AI 叙事压缩模糊性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→ 反向证据像局部例外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→ 诊断性被低估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→ 后验更新不足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DCC25-B861-4C48-8878-7B49446E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信息处理偏离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81B43-0EA5-4C4C-8151-A9F797D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13C1E-7F68-4977-AEBA-6146054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3797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9201E-19E6-4A10-B0D4-BCFDDF39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C512F-1B6B-4B7F-ACE6-539A50E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这篇文章不问“AI 是否让人少搜索”，而问少搜索意味着什么。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99535-E010-4830-9DA6-71EB801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RQ1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BA4B2-A5F1-4079-AC0A-49C567C4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47875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343B0-1B4F-4E8E-A586-8B82B4A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193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AI summary 与 AI 标签是否改变后续搜索停止阈值？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043DF-9707-4CE8-8157-8A86071F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RQ2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2BE83-D5C7-4638-90A4-4CDE821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14675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0A10-9EF9-488A-9905-590209B4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861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搜索减少是理性信息压缩，还是贝叶斯意义上的信息获取偏离？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71826-C997-41C7-B8A1-3E1D4F68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RQ3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969D3-7C9B-481D-9B77-DACD095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81475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4D94B-AE71-46F7-A1B9-369C2D08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529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客观判断质量与主观信息掌握感是否发生错配？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35391-8AE2-463A-9DD2-482A245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EAB75-E7C3-4ECA-B1A0-F9579FC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9871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D52ED-0803-4228-98EB-358E185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8C3CA-8B56-49C6-AD2C-AFD34D7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同一段 summary，只改变来源标签；再改变 summary 是否代表完整证据。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40393-59D4-4380-8C86-44E0F057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信息呈现方式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1830C-CBE0-49D8-A885-41E6BEDB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证据环境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C36E-B6C4-4B39-B2EB-2EAD25E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ACA2E-2378-44C4-A891-C2A511C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No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C12C0-D442-46D6-A533-E2CAA2C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17C7E-92C7-4C82-AD5B-0302CA4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Unlabeled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4B862-6686-4945-A532-1427032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B7B03-9A6C-4317-9824-A26BAB8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AI-labeled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4066C-FAAE-426C-A953-697D1CE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30572-7269-4DD5-B22B-9ED068A5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Representative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2169B-2D5B-4479-9C50-64DC458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2F955-27DA-4372-90C4-977670B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条件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32AC1-6A7A-41E3-B999-7C76782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74C8B-8976-44C0-8C7A-45EF20C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71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条件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6829C-66DE-45C8-ADF6-6812409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CA36F-7066-4CE8-8019-595B374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71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条件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1613C-BE83-414B-844F-0FF343C0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70CD4-3D31-4259-804E-F963EAF9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Incomplete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62E8D-2360-4C40-A06C-D1043AE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FF7EF-54F7-40CB-A4D1-C5B0A53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14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条件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0A335-2F03-40B8-A319-258E2897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28823-9515-47F7-96B5-101C03A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14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条件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F8771-0412-448B-9F37-2ADD701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94F94-7223-4368-8F12-F96A8F65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14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条件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93E06-1906-4D58-9FE9-74467F0B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关键识别：AI-labeled 与 unlabeled 的正文完全相同，因此差异来自来源标签，而不是内容。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7C652-24CB-4CA4-8CB9-AEB4187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DBAF5-7E00-4896-8C2B-EC2140E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5786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26B576-7906-4768-943D-5B4EDB07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贝叶斯基准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6E8F-3A2E-427D-A089-D870D8CA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可计算的规范后验，是这篇文章的识别支点。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21940-7940-4FDD-8462-343A59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C6918-8330-4F8F-9FBF-92964D44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公司风险判断任务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E7665-5F4C-4EFB-90F9-840C7546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固定证据库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每条证据有预设诊断强度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利好 / 利空信号对应 likelihood ratio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被试报告高风险后验概率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A638B-DD23-4FA4-AC8B-03250E8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5442A-0478-4B06-B8A9-10596236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规范更新公式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3D15-2434-4667-A3B6-782D992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logit(posterior)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= logit(prior) + Σ log(LRj)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BD79B-E63F-446D-9076-D3EC63E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它允许我们判断：用户到底是没看到证据，还是看到了但没有正确吸收。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78B04-E36E-4A7B-B290-6B66D097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48D68-C611-4A10-9524-40E236A9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6947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FC040-3550-4215-B4EC-E1739EA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核心指标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ED730-BEB0-4572-B441-ABE38B33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两个 deviation 把“少看”和“少更”拆开。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AC3AD-2D50-4A1B-9DE4-40603E9A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F66D8-6A3A-4632-9D56-AB23913F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Conditional Bayesian deviation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81ED8-76C5-4B10-ACF6-3F3FC44E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报告后验 vs 实际接触信息集下的规范后验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396B5-5D02-434E-A8A7-FCBDC7E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衡量是否正确吸收已看到的信息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CE8B-48D8-4177-96CC-FBCFEC80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0F27F-B507-40CA-92BF-30C68838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Full-information deviation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3E85F-076F-4E81-93F0-9CE497EC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报告后验 vs 完整证据集下的规范后验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2EEF1-B7E3-4771-B55D-41B9D50D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衡量是否因搜索不足偏离完整信息判断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AF23F-644B-486F-AF5B-9517F90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2BD7-BC2B-448A-85B5-B90B046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Calibration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D0E33-11E1-4EAD-A287-3FB83B4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主观掌握感 − 客观表现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5B681-4079-4CAF-B07A-DF8FC22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43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衡量 epistemic ownership 与判断质量是否错配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C2961-1127-4F69-BE65-38759B57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F9B7D-98F2-49D3-B250-C1D33FB8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66560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1BACB-AC2E-4841-9A4B-988F543E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识别逻辑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8169D-DC1C-48BD-86F5-44EF02E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实验设计让三种机制能够被分开观察。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A7F45-6810-4CC3-A91C-8ECC224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same-summary source-label design 分离内容效应与 AI 标签效应；representative 与 incomplete summary 分离理性信息压缩和有害偏离；两个 Bayesian deviation 指标分离信息获取不足和信息处理不足。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553BD-1094-4A08-AB63-FF1A48A1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810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E1FAE-7B7C-4992-B1CE-DB6A17D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如果出现关键模式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07DBF-FDE0-44E2-B978-EF7DCC0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AI 标签降低搜索，但 representative 条件下判断不差：理性压缩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AI 标签降低搜索，且 incomplete 条件下 full-information deviation 上升：有害偏离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6D589-ECE9-4798-9ECD-CEB0378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64B9A-8749-4680-89A8-C67AF829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4111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03B1C-CFAC-4954-8AD0-26A89D76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本章贡献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710D-E8DD-4D7D-8021-249EC2EA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第一章要建立一个更细的判断框架：AI 改变的是形成信念的过程。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E224E-141A-4484-9118-6C95388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8C560-6A94-46C2-BD68-A4CCB78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理论贡献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8DEBD-1FA9-4698-9671-649E4FD1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从 algorithmic advice 转向 algorithmic meaning-making agent。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24CBB-BDAC-4C63-89B8-490C2786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CB4D-5B37-4456-886C-C0C266BB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机制贡献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851FA-32BE-45D3-ABD9-03019136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38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区分信息获取偏离与信息处理偏离。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EA2B7-5EFB-46A9-8A91-9A5ED27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928CC-76C5-4A9C-A5AC-B2AB88F1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方法贡献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AD25B-162B-45B6-8005-1A3DA22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用固定证据库和 likelihood ratio 建立可计算贝叶斯基准。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B6EB1-5582-4FB3-A660-B721EE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6CE82-B021-46BE-BF0B-1217F409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答辩价值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B35BA-A4C6-420D-AAFE-0545209A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为后三篇中的授权与责任问题提供共同的问题意识。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04745-AD3D-4B36-99FF-EC74E291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一句话收束：AI 不只是改变人接受哪个答案，也改变人什么时候觉得证据已经足够。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53047-24F3-48F2-9E27-E0D6221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第一章｜双重贝叶斯偏离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F4701-E5C1-4CCB-B1C4-6D2A1E67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2919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2026-07-01T14:05:00.3470000Z</dcterms:created>
  <dcterms:modified xsi:type="dcterms:W3CDTF">2026-07-01T14:05:00.3470000Z</dcterms:modified>
</coreProperties>
</file>