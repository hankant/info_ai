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411f341b1e4f80" /><Relationship Type="http://schemas.openxmlformats.org/officeDocument/2006/relationships/extended-properties" Target="/docProps/app.xml" Id="Rdbdb4df103ce4752" /><Relationship Type="http://schemas.openxmlformats.org/officeDocument/2006/relationships/officeDocument" Target="/ppt/presentation.xml" Id="R9403713b8bde4993" /></Relationships>
</file>

<file path=ppt/presentation.xml><?xml version="1.0" encoding="utf-8"?>
<p:presentation xmlns:p="http://schemas.openxmlformats.org/presentationml/2006/main">
  <p:sldMasterIdLst>
    <p:sldMasterId xmlns:r="http://schemas.openxmlformats.org/officeDocument/2006/relationships" id="2147483648" r:id="R41c29a4b3a9e4d4d"/>
  </p:sldMasterIdLst>
  <p:notesMasterIdLst>
    <p:notesMasterId xmlns:r="http://schemas.openxmlformats.org/officeDocument/2006/relationships" r:id="R22ec062b86ef43e1"/>
  </p:notesMasterIdLst>
  <p:sldIdLst>
    <p:sldId xmlns:r="http://schemas.openxmlformats.org/officeDocument/2006/relationships" id="256" r:id="R53e92017b22e4ffa"/>
    <p:sldId xmlns:r="http://schemas.openxmlformats.org/officeDocument/2006/relationships" id="257" r:id="R3e1e74d9ff4c4fe5"/>
    <p:sldId xmlns:r="http://schemas.openxmlformats.org/officeDocument/2006/relationships" id="258" r:id="Rd065b363fde64a8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5bb31abd0b492d" /><Relationship Type="http://schemas.openxmlformats.org/officeDocument/2006/relationships/slideMaster" Target="/ppt/slideMasters/slideMaster1.xml" Id="R41c29a4b3a9e4d4d" /><Relationship Type="http://schemas.openxmlformats.org/officeDocument/2006/relationships/notesMaster" Target="/ppt/notesMasters/notesMaster1.xml" Id="R22ec062b86ef43e1" /><Relationship Type="http://schemas.openxmlformats.org/officeDocument/2006/relationships/presProps" Target="/ppt/presProps.xml" Id="R2b4862e3c43f408e" /><Relationship Type="http://schemas.openxmlformats.org/officeDocument/2006/relationships/tableStyles" Target="/ppt/tableStyles.xml" Id="Ra82c141c963440a7" /><Relationship Type="http://schemas.openxmlformats.org/officeDocument/2006/relationships/slide" Target="/ppt/slides/slide1.xml" Id="R53e92017b22e4ffa" /><Relationship Type="http://schemas.openxmlformats.org/officeDocument/2006/relationships/slide" Target="/ppt/slides/slide2.xml" Id="R3e1e74d9ff4c4fe5" /><Relationship Type="http://schemas.openxmlformats.org/officeDocument/2006/relationships/slide" Target="/ppt/slides/slide3.xml" Id="Rd065b363fde64a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9a617cc1ae4f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14f260903b4dc2" /><Relationship Type="http://schemas.openxmlformats.org/officeDocument/2006/relationships/notesMaster" Target="/ppt/notesMasters/notesMaster1.xml" Id="Rec78c2c8eaf44c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75c805338c476e" /><Relationship Type="http://schemas.openxmlformats.org/officeDocument/2006/relationships/notesMaster" Target="/ppt/notesMasters/notesMaster1.xml" Id="Rfdf1d62783244c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b5514268c9434a" /><Relationship Type="http://schemas.openxmlformats.org/officeDocument/2006/relationships/notesMaster" Target="/ppt/notesMasters/notesMaster1.xml" Id="Re636b9f92cea43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why the design is intentionally minimal. The experiment is not trying to vary the game, the payoff structure, or the quality of the AI analysis at the same time. Those are held constant. What changes is the responsibility architecture around the same decision. That is why the comparison is cleaner: if outcomes differ across conditions, the interpretation is not that one AI answer was better than another. It is that different accountability interventions changed how participants understood ownership, visibility, and responsibility.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mechanism slide. The paper is not saying that AI directly makes people escalate. The proposed chain is more specific. First, the system intervention changes the accountability environment. For example, disclosure changes visibility and traceability, while confirmation changes whether the human actively passes through the AI stage. Second, these structural changes may change subjective responsibility, such as felt accountability, decisional ownership, and responsibility sharing. Third, if those responsibility perceptions change, they may affect whether participants choose escalation or restraint.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method map is meant to keep the identification logic very clear. RQ1 asks what changes when we move from a human-only environment to an AI-supported decision environment. RQ2 isolates the confirmation condition, which is about human passage and ownership. RQ3 isolates disclosure, which is about visibility and responsibility sharing. RQ4 then asks whether changes in responsibility perceptions are aligned with changes in escalation. This keeps the method claim narrow and defensible.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538ea015ea4c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76d03c1fb34761" /><Relationship Type="http://schemas.openxmlformats.org/officeDocument/2006/relationships/slideLayout" Target="/ppt/slideLayouts/slideLayout1.xml" Id="Rbb30e5541db24c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30e5541db24c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b0685be95d4d7d" /><Relationship Type="http://schemas.openxmlformats.org/officeDocument/2006/relationships/notesSlide" Target="/ppt/notesSlides/notesSlide1.xml" Id="R649e15ca4af446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ad6e71cf3a845d7" /><Relationship Type="http://schemas.openxmlformats.org/officeDocument/2006/relationships/notesSlide" Target="/ppt/notesSlides/notesSlide2.xml" Id="Rd565c904c02a4d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aed053fde04a91" /><Relationship Type="http://schemas.openxmlformats.org/officeDocument/2006/relationships/notesSlide" Target="/ppt/notesSlides/notesSlide3.xml" Id="R7a81c14aee254979" /></Relationships>
</file>

<file path=ppt/slides/slide1.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18945034-D11B-4D05-9DEA-30A73BE68F90}"/>
              </a:ext>
            </a:extLst>
          </p:cNvPr>
          <p:cNvSpPr>
            <a:spLocks xmlns:a="http://schemas.openxmlformats.org/drawingml/2006/main" noGrp="1"/>
          </p:cNvSpPr>
          <p:nvPr/>
        </p:nvSpPr>
        <p:spPr>
          <a:xfrm xmlns:a="http://schemas.openxmlformats.org/drawingml/2006/main">
            <a:off x="857250" y="704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nSpc>
                <a:spcPct val="108000"/>
              </a:lnSpc>
              <a:buNone/>
              <a:defRPr sz="1050" b="1">
                <a:solidFill>
                  <a:srgbClr val="BE7A46"/>
                </a:solidFill>
                <a:latin typeface="Times New Roman"/>
                <a:ea typeface="Times New Roman"/>
                <a:cs typeface="Times New Roman"/>
              </a:defRPr>
            </a:pPr>
            <a:r>
              <a:rPr sz="1050" b="1">
                <a:solidFill>
                  <a:srgbClr val="BE7A46"/>
                </a:solidFill>
                <a:latin typeface="Times New Roman"/>
                <a:ea typeface="Times New Roman"/>
                <a:cs typeface="Times New Roman"/>
              </a:rPr>
              <a:t>PAPER 3  ·  METHOD LOGIC</a:t>
            </a:r>
          </a:p>
        </p:txBody>
      </p:sp>
      <p:sp>
        <p:nvSpPr>
          <p:cNvPr id="2" name="title">
            <a:extLst xmlns:a="http://schemas.openxmlformats.org/drawingml/2006/main">
              <a:ext uri="{FF2B5EF4-FFF2-40B4-BE49-F238E27FC236}">
                <a16:creationId xmlns:a16="http://schemas.microsoft.com/office/drawing/2014/main" id="{C1651D03-0AD5-4ACB-81F8-0C30E0F7C563}"/>
              </a:ext>
            </a:extLst>
          </p:cNvPr>
          <p:cNvSpPr>
            <a:spLocks xmlns:a="http://schemas.openxmlformats.org/drawingml/2006/main" noGrp="1"/>
          </p:cNvSpPr>
          <p:nvPr/>
        </p:nvSpPr>
        <p:spPr>
          <a:xfrm xmlns:a="http://schemas.openxmlformats.org/drawingml/2006/main">
            <a:off x="857250" y="1104900"/>
            <a:ext cx="847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nSpc>
                <a:spcPct val="108000"/>
              </a:lnSpc>
              <a:buNone/>
              <a:defRPr sz="3225" b="1">
                <a:solidFill>
                  <a:srgbClr val="1F1A17"/>
                </a:solidFill>
                <a:latin typeface="Times New Roman"/>
                <a:ea typeface="Times New Roman"/>
                <a:cs typeface="Times New Roman"/>
              </a:defRPr>
            </a:pPr>
            <a:r>
              <a:rPr sz="3225" b="1">
                <a:solidFill>
                  <a:srgbClr val="1F1A17"/>
                </a:solidFill>
                <a:latin typeface="Times New Roman"/>
                <a:ea typeface="Times New Roman"/>
                <a:cs typeface="Times New Roman"/>
              </a:rPr>
              <a:t>Why a Minimal Design?</a:t>
            </a:r>
          </a:p>
        </p:txBody>
      </p:sp>
      <p:sp>
        <p:nvSpPr>
          <p:cNvPr id="3" name="subtitle">
            <a:extLst xmlns:a="http://schemas.openxmlformats.org/drawingml/2006/main">
              <a:ext uri="{FF2B5EF4-FFF2-40B4-BE49-F238E27FC236}">
                <a16:creationId xmlns:a16="http://schemas.microsoft.com/office/drawing/2014/main" id="{8424B6EF-B930-4792-B5F1-B09024DE9F6E}"/>
              </a:ext>
            </a:extLst>
          </p:cNvPr>
          <p:cNvSpPr>
            <a:spLocks xmlns:a="http://schemas.openxmlformats.org/drawingml/2006/main" noGrp="1"/>
          </p:cNvSpPr>
          <p:nvPr/>
        </p:nvSpPr>
        <p:spPr>
          <a:xfrm xmlns:a="http://schemas.openxmlformats.org/drawingml/2006/main">
            <a:off x="857250" y="1762125"/>
            <a:ext cx="981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108000"/>
              </a:lnSpc>
              <a:buNone/>
              <a:defRPr sz="1650">
                <a:solidFill>
                  <a:srgbClr val="6F665E"/>
                </a:solidFill>
                <a:latin typeface="Times New Roman"/>
                <a:ea typeface="Times New Roman"/>
                <a:cs typeface="Times New Roman"/>
              </a:defRPr>
            </a:pPr>
            <a:r>
              <a:rPr sz="1650">
                <a:solidFill>
                  <a:srgbClr val="6F665E"/>
                </a:solidFill>
                <a:latin typeface="Times New Roman"/>
                <a:ea typeface="Times New Roman"/>
                <a:cs typeface="Times New Roman"/>
              </a:rPr>
              <a:t>The strategic game and AI analysis are held constant, while the responsibility architecture is varied.</a:t>
            </a:r>
          </a:p>
        </p:txBody>
      </p:sp>
      <p:sp>
        <p:nvSpPr>
          <p:cNvPr id="4" name="top-rule">
            <a:extLst xmlns:a="http://schemas.openxmlformats.org/drawingml/2006/main">
              <a:ext uri="{FF2B5EF4-FFF2-40B4-BE49-F238E27FC236}">
                <a16:creationId xmlns:a16="http://schemas.microsoft.com/office/drawing/2014/main" id="{BD563961-8091-4B4B-9A69-C940243D95D5}"/>
              </a:ext>
            </a:extLst>
          </p:cNvPr>
          <p:cNvSpPr>
            <a:spLocks xmlns:a="http://schemas.openxmlformats.org/drawingml/2006/main" noGrp="1"/>
          </p:cNvSpPr>
          <p:nvPr/>
        </p:nvSpPr>
        <p:spPr>
          <a:xfrm xmlns:a="http://schemas.openxmlformats.org/drawingml/2006/main">
            <a:off x="857250" y="2343150"/>
            <a:ext cx="10477500" cy="11430"/>
          </a:xfrm>
          <a:prstGeom xmlns:a="http://schemas.openxmlformats.org/drawingml/2006/main" prst="rect">
            <a:avLst/>
          </a:prstGeom>
          <a:solidFill xmlns:a="http://schemas.openxmlformats.org/drawingml/2006/main">
            <a:srgbClr val="D7C7AE"/>
          </a:solidFill>
          <a:ln xmlns:a="http://schemas.openxmlformats.org/drawingml/2006/main" w="0">
            <a:noFill/>
            <a:prstDash val="solid"/>
          </a:ln>
        </p:spPr>
      </p:sp>
      <p:sp>
        <p:nvSpPr>
          <p:cNvPr id="5" name="s1-h-0-box">
            <a:extLst xmlns:a="http://schemas.openxmlformats.org/drawingml/2006/main">
              <a:ext uri="{FF2B5EF4-FFF2-40B4-BE49-F238E27FC236}">
                <a16:creationId xmlns:a16="http://schemas.microsoft.com/office/drawing/2014/main" id="{8A5B470B-C84D-42B5-A5FC-70A3B3E6DFAB}"/>
              </a:ext>
            </a:extLst>
          </p:cNvPr>
          <p:cNvSpPr>
            <a:spLocks xmlns:a="http://schemas.openxmlformats.org/drawingml/2006/main" noGrp="1"/>
          </p:cNvSpPr>
          <p:nvPr/>
        </p:nvSpPr>
        <p:spPr>
          <a:xfrm xmlns:a="http://schemas.openxmlformats.org/drawingml/2006/main">
            <a:off x="857250" y="2724150"/>
            <a:ext cx="3000375" cy="476250"/>
          </a:xfrm>
          <a:prstGeom xmlns:a="http://schemas.openxmlformats.org/drawingml/2006/main" prst="rect">
            <a:avLst/>
          </a:prstGeom>
          <a:solidFill xmlns:a="http://schemas.openxmlformats.org/drawingml/2006/main">
            <a:srgbClr val="EFE5D4"/>
          </a:solidFill>
          <a:ln xmlns:a="http://schemas.openxmlformats.org/drawingml/2006/main" w="9525">
            <a:solidFill>
              <a:srgbClr val="D7C7AE"/>
            </a:solidFill>
            <a:prstDash val="solid"/>
          </a:ln>
        </p:spPr>
      </p:sp>
      <p:sp>
        <p:nvSpPr>
          <p:cNvPr id="6" name="s1-h-0-text">
            <a:extLst xmlns:a="http://schemas.openxmlformats.org/drawingml/2006/main">
              <a:ext uri="{FF2B5EF4-FFF2-40B4-BE49-F238E27FC236}">
                <a16:creationId xmlns:a16="http://schemas.microsoft.com/office/drawing/2014/main" id="{E2F0830B-CE0D-4BD7-ABB4-A4D67FF49E3A}"/>
              </a:ext>
            </a:extLst>
          </p:cNvPr>
          <p:cNvSpPr>
            <a:spLocks xmlns:a="http://schemas.openxmlformats.org/drawingml/2006/main" noGrp="1"/>
          </p:cNvSpPr>
          <p:nvPr/>
        </p:nvSpPr>
        <p:spPr>
          <a:xfrm xmlns:a="http://schemas.openxmlformats.org/drawingml/2006/main">
            <a:off x="1028700" y="2857500"/>
            <a:ext cx="26574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1F1A17"/>
                </a:solidFill>
                <a:latin typeface="Times New Roman"/>
                <a:ea typeface="Times New Roman"/>
                <a:cs typeface="Times New Roman"/>
              </a:defRPr>
            </a:pPr>
            <a:r>
              <a:rPr sz="1575" b="1" i="0">
                <a:solidFill>
                  <a:srgbClr val="1F1A17"/>
                </a:solidFill>
                <a:latin typeface="Times New Roman"/>
                <a:ea typeface="Times New Roman"/>
                <a:cs typeface="Times New Roman"/>
              </a:rPr>
              <a:t>Held Constant</a:t>
            </a:r>
          </a:p>
        </p:txBody>
      </p:sp>
      <p:sp>
        <p:nvSpPr>
          <p:cNvPr id="7" name="s1-h-1-box">
            <a:extLst xmlns:a="http://schemas.openxmlformats.org/drawingml/2006/main">
              <a:ext uri="{FF2B5EF4-FFF2-40B4-BE49-F238E27FC236}">
                <a16:creationId xmlns:a16="http://schemas.microsoft.com/office/drawing/2014/main" id="{D74B6A19-84F4-4740-A8B7-F66F34FB60C3}"/>
              </a:ext>
            </a:extLst>
          </p:cNvPr>
          <p:cNvSpPr>
            <a:spLocks xmlns:a="http://schemas.openxmlformats.org/drawingml/2006/main" noGrp="1"/>
          </p:cNvSpPr>
          <p:nvPr/>
        </p:nvSpPr>
        <p:spPr>
          <a:xfrm xmlns:a="http://schemas.openxmlformats.org/drawingml/2006/main">
            <a:off x="3857625" y="2724150"/>
            <a:ext cx="3000375" cy="476250"/>
          </a:xfrm>
          <a:prstGeom xmlns:a="http://schemas.openxmlformats.org/drawingml/2006/main" prst="rect">
            <a:avLst/>
          </a:prstGeom>
          <a:solidFill xmlns:a="http://schemas.openxmlformats.org/drawingml/2006/main">
            <a:srgbClr val="EFE5D4"/>
          </a:solidFill>
          <a:ln xmlns:a="http://schemas.openxmlformats.org/drawingml/2006/main" w="9525">
            <a:solidFill>
              <a:srgbClr val="D7C7AE"/>
            </a:solidFill>
            <a:prstDash val="solid"/>
          </a:ln>
        </p:spPr>
      </p:sp>
      <p:sp>
        <p:nvSpPr>
          <p:cNvPr id="8" name="s1-h-1-text">
            <a:extLst xmlns:a="http://schemas.openxmlformats.org/drawingml/2006/main">
              <a:ext uri="{FF2B5EF4-FFF2-40B4-BE49-F238E27FC236}">
                <a16:creationId xmlns:a16="http://schemas.microsoft.com/office/drawing/2014/main" id="{BBE29BF3-463E-4631-9EBA-2F8681D26232}"/>
              </a:ext>
            </a:extLst>
          </p:cNvPr>
          <p:cNvSpPr>
            <a:spLocks xmlns:a="http://schemas.openxmlformats.org/drawingml/2006/main" noGrp="1"/>
          </p:cNvSpPr>
          <p:nvPr/>
        </p:nvSpPr>
        <p:spPr>
          <a:xfrm xmlns:a="http://schemas.openxmlformats.org/drawingml/2006/main">
            <a:off x="4029075" y="2857500"/>
            <a:ext cx="26574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1F1A17"/>
                </a:solidFill>
                <a:latin typeface="Times New Roman"/>
                <a:ea typeface="Times New Roman"/>
                <a:cs typeface="Times New Roman"/>
              </a:defRPr>
            </a:pPr>
            <a:r>
              <a:rPr sz="1575" b="1" i="0">
                <a:solidFill>
                  <a:srgbClr val="1F1A17"/>
                </a:solidFill>
                <a:latin typeface="Times New Roman"/>
                <a:ea typeface="Times New Roman"/>
                <a:cs typeface="Times New Roman"/>
              </a:rPr>
              <a:t>Varied</a:t>
            </a:r>
          </a:p>
        </p:txBody>
      </p:sp>
      <p:sp>
        <p:nvSpPr>
          <p:cNvPr id="9" name="s1-h-2-box">
            <a:extLst xmlns:a="http://schemas.openxmlformats.org/drawingml/2006/main">
              <a:ext uri="{FF2B5EF4-FFF2-40B4-BE49-F238E27FC236}">
                <a16:creationId xmlns:a16="http://schemas.microsoft.com/office/drawing/2014/main" id="{655A7873-DEF2-44E0-8F0C-9C4A0E723E01}"/>
              </a:ext>
            </a:extLst>
          </p:cNvPr>
          <p:cNvSpPr>
            <a:spLocks xmlns:a="http://schemas.openxmlformats.org/drawingml/2006/main" noGrp="1"/>
          </p:cNvSpPr>
          <p:nvPr/>
        </p:nvSpPr>
        <p:spPr>
          <a:xfrm xmlns:a="http://schemas.openxmlformats.org/drawingml/2006/main">
            <a:off x="6858000" y="2724150"/>
            <a:ext cx="4476750" cy="476250"/>
          </a:xfrm>
          <a:prstGeom xmlns:a="http://schemas.openxmlformats.org/drawingml/2006/main" prst="rect">
            <a:avLst/>
          </a:prstGeom>
          <a:solidFill xmlns:a="http://schemas.openxmlformats.org/drawingml/2006/main">
            <a:srgbClr val="243747"/>
          </a:solidFill>
          <a:ln xmlns:a="http://schemas.openxmlformats.org/drawingml/2006/main" w="9525">
            <a:solidFill>
              <a:srgbClr val="D7C7AE"/>
            </a:solidFill>
            <a:prstDash val="solid"/>
          </a:ln>
        </p:spPr>
      </p:sp>
      <p:sp>
        <p:nvSpPr>
          <p:cNvPr id="10" name="s1-h-2-text">
            <a:extLst xmlns:a="http://schemas.openxmlformats.org/drawingml/2006/main">
              <a:ext uri="{FF2B5EF4-FFF2-40B4-BE49-F238E27FC236}">
                <a16:creationId xmlns:a16="http://schemas.microsoft.com/office/drawing/2014/main" id="{5DE10B4A-D548-46E1-87FF-12E4119ACA61}"/>
              </a:ext>
            </a:extLst>
          </p:cNvPr>
          <p:cNvSpPr>
            <a:spLocks xmlns:a="http://schemas.openxmlformats.org/drawingml/2006/main" noGrp="1"/>
          </p:cNvSpPr>
          <p:nvPr/>
        </p:nvSpPr>
        <p:spPr>
          <a:xfrm xmlns:a="http://schemas.openxmlformats.org/drawingml/2006/main">
            <a:off x="7029450" y="2857500"/>
            <a:ext cx="4133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F3EBDD"/>
                </a:solidFill>
                <a:latin typeface="Times New Roman"/>
                <a:ea typeface="Times New Roman"/>
                <a:cs typeface="Times New Roman"/>
              </a:defRPr>
            </a:pPr>
            <a:r>
              <a:rPr sz="1575" b="1" i="0">
                <a:solidFill>
                  <a:srgbClr val="F3EBDD"/>
                </a:solidFill>
                <a:latin typeface="Times New Roman"/>
                <a:ea typeface="Times New Roman"/>
                <a:cs typeface="Times New Roman"/>
              </a:rPr>
              <a:t>Identifies</a:t>
            </a:r>
          </a:p>
        </p:txBody>
      </p:sp>
      <p:sp>
        <p:nvSpPr>
          <p:cNvPr id="11" name="s1-r0-c0-box">
            <a:extLst xmlns:a="http://schemas.openxmlformats.org/drawingml/2006/main">
              <a:ext uri="{FF2B5EF4-FFF2-40B4-BE49-F238E27FC236}">
                <a16:creationId xmlns:a16="http://schemas.microsoft.com/office/drawing/2014/main" id="{6AFAE8F8-F082-4B73-8AEC-FC8699F173E1}"/>
              </a:ext>
            </a:extLst>
          </p:cNvPr>
          <p:cNvSpPr>
            <a:spLocks xmlns:a="http://schemas.openxmlformats.org/drawingml/2006/main" noGrp="1"/>
          </p:cNvSpPr>
          <p:nvPr/>
        </p:nvSpPr>
        <p:spPr>
          <a:xfrm xmlns:a="http://schemas.openxmlformats.org/drawingml/2006/main">
            <a:off x="857250" y="3200400"/>
            <a:ext cx="3000375" cy="704850"/>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12" name="s1-r0-c0-text">
            <a:extLst xmlns:a="http://schemas.openxmlformats.org/drawingml/2006/main">
              <a:ext uri="{FF2B5EF4-FFF2-40B4-BE49-F238E27FC236}">
                <a16:creationId xmlns:a16="http://schemas.microsoft.com/office/drawing/2014/main" id="{14D31B92-5E8F-4B57-ACEF-264774B818FA}"/>
              </a:ext>
            </a:extLst>
          </p:cNvPr>
          <p:cNvSpPr>
            <a:spLocks xmlns:a="http://schemas.openxmlformats.org/drawingml/2006/main" noGrp="1"/>
          </p:cNvSpPr>
          <p:nvPr/>
        </p:nvSpPr>
        <p:spPr>
          <a:xfrm xmlns:a="http://schemas.openxmlformats.org/drawingml/2006/main">
            <a:off x="1028700" y="3333750"/>
            <a:ext cx="26574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365" b="0" i="0">
                <a:solidFill>
                  <a:srgbClr val="1F1A17"/>
                </a:solidFill>
                <a:latin typeface="Times New Roman"/>
                <a:ea typeface="Times New Roman"/>
                <a:cs typeface="Times New Roman"/>
              </a:defRPr>
            </a:pPr>
            <a:r>
              <a:rPr sz="1365" b="0" i="0">
                <a:solidFill>
                  <a:srgbClr val="1F1A17"/>
                </a:solidFill>
                <a:latin typeface="Times New Roman"/>
                <a:ea typeface="Times New Roman"/>
                <a:cs typeface="Times New Roman"/>
              </a:rPr>
              <a:t>Same Hawk-Dove game</a:t>
            </a:r>
          </a:p>
        </p:txBody>
      </p:sp>
      <p:sp>
        <p:nvSpPr>
          <p:cNvPr id="13" name="s1-r0-c1-box">
            <a:extLst xmlns:a="http://schemas.openxmlformats.org/drawingml/2006/main">
              <a:ext uri="{FF2B5EF4-FFF2-40B4-BE49-F238E27FC236}">
                <a16:creationId xmlns:a16="http://schemas.microsoft.com/office/drawing/2014/main" id="{39C39EF6-52B2-455B-AAFE-87383F7D63A4}"/>
              </a:ext>
            </a:extLst>
          </p:cNvPr>
          <p:cNvSpPr>
            <a:spLocks xmlns:a="http://schemas.openxmlformats.org/drawingml/2006/main" noGrp="1"/>
          </p:cNvSpPr>
          <p:nvPr/>
        </p:nvSpPr>
        <p:spPr>
          <a:xfrm xmlns:a="http://schemas.openxmlformats.org/drawingml/2006/main">
            <a:off x="3857625" y="3200400"/>
            <a:ext cx="3000375" cy="704850"/>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14" name="s1-r0-c1-text">
            <a:extLst xmlns:a="http://schemas.openxmlformats.org/drawingml/2006/main">
              <a:ext uri="{FF2B5EF4-FFF2-40B4-BE49-F238E27FC236}">
                <a16:creationId xmlns:a16="http://schemas.microsoft.com/office/drawing/2014/main" id="{03E3A0EB-752E-4B6C-9150-F0C4EEEBDC41}"/>
              </a:ext>
            </a:extLst>
          </p:cNvPr>
          <p:cNvSpPr>
            <a:spLocks xmlns:a="http://schemas.openxmlformats.org/drawingml/2006/main" noGrp="1"/>
          </p:cNvSpPr>
          <p:nvPr/>
        </p:nvSpPr>
        <p:spPr>
          <a:xfrm xmlns:a="http://schemas.openxmlformats.org/drawingml/2006/main">
            <a:off x="4029075" y="3333750"/>
            <a:ext cx="26574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365" b="0" i="0">
                <a:solidFill>
                  <a:srgbClr val="1F1A17"/>
                </a:solidFill>
                <a:latin typeface="Times New Roman"/>
                <a:ea typeface="Times New Roman"/>
                <a:cs typeface="Times New Roman"/>
              </a:defRPr>
            </a:pPr>
            <a:r>
              <a:rPr sz="1365" b="0" i="0">
                <a:solidFill>
                  <a:srgbClr val="1F1A17"/>
                </a:solidFill>
                <a:latin typeface="Times New Roman"/>
                <a:ea typeface="Times New Roman"/>
                <a:cs typeface="Times New Roman"/>
              </a:rPr>
              <a:t>Different accountability interventions</a:t>
            </a:r>
          </a:p>
        </p:txBody>
      </p:sp>
      <p:sp>
        <p:nvSpPr>
          <p:cNvPr id="15" name="s1-r0-c2-box">
            <a:extLst xmlns:a="http://schemas.openxmlformats.org/drawingml/2006/main">
              <a:ext uri="{FF2B5EF4-FFF2-40B4-BE49-F238E27FC236}">
                <a16:creationId xmlns:a16="http://schemas.microsoft.com/office/drawing/2014/main" id="{7E686E5D-E1F9-4F81-859A-051CA2F149A9}"/>
              </a:ext>
            </a:extLst>
          </p:cNvPr>
          <p:cNvSpPr>
            <a:spLocks xmlns:a="http://schemas.openxmlformats.org/drawingml/2006/main" noGrp="1"/>
          </p:cNvSpPr>
          <p:nvPr/>
        </p:nvSpPr>
        <p:spPr>
          <a:xfrm xmlns:a="http://schemas.openxmlformats.org/drawingml/2006/main">
            <a:off x="6858000" y="3200400"/>
            <a:ext cx="4476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7C7AE"/>
            </a:solidFill>
            <a:prstDash val="solid"/>
          </a:ln>
        </p:spPr>
      </p:sp>
      <p:sp>
        <p:nvSpPr>
          <p:cNvPr id="16" name="s1-r0-c2-text">
            <a:extLst xmlns:a="http://schemas.openxmlformats.org/drawingml/2006/main">
              <a:ext uri="{FF2B5EF4-FFF2-40B4-BE49-F238E27FC236}">
                <a16:creationId xmlns:a16="http://schemas.microsoft.com/office/drawing/2014/main" id="{330CBB9A-9AA9-4D3C-A3BF-7B7B3415BFE9}"/>
              </a:ext>
            </a:extLst>
          </p:cNvPr>
          <p:cNvSpPr>
            <a:spLocks xmlns:a="http://schemas.openxmlformats.org/drawingml/2006/main" noGrp="1"/>
          </p:cNvSpPr>
          <p:nvPr/>
        </p:nvSpPr>
        <p:spPr>
          <a:xfrm xmlns:a="http://schemas.openxmlformats.org/drawingml/2006/main">
            <a:off x="7029450" y="3333750"/>
            <a:ext cx="4133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10" b="1" i="0">
                <a:solidFill>
                  <a:srgbClr val="243747"/>
                </a:solidFill>
                <a:latin typeface="Times New Roman"/>
                <a:ea typeface="Times New Roman"/>
                <a:cs typeface="Times New Roman"/>
              </a:defRPr>
            </a:pPr>
            <a:r>
              <a:rPr sz="1410" b="1" i="0">
                <a:solidFill>
                  <a:srgbClr val="243747"/>
                </a:solidFill>
                <a:latin typeface="Times New Roman"/>
                <a:ea typeface="Times New Roman"/>
                <a:cs typeface="Times New Roman"/>
              </a:rPr>
              <a:t>Responsibility architecture, not game incentives</a:t>
            </a:r>
          </a:p>
        </p:txBody>
      </p:sp>
      <p:sp>
        <p:nvSpPr>
          <p:cNvPr id="17" name="s1-r1-c0-box">
            <a:extLst xmlns:a="http://schemas.openxmlformats.org/drawingml/2006/main">
              <a:ext uri="{FF2B5EF4-FFF2-40B4-BE49-F238E27FC236}">
                <a16:creationId xmlns:a16="http://schemas.microsoft.com/office/drawing/2014/main" id="{6C2D2376-A0F0-4E01-9F48-E697BA9FE4BA}"/>
              </a:ext>
            </a:extLst>
          </p:cNvPr>
          <p:cNvSpPr>
            <a:spLocks xmlns:a="http://schemas.openxmlformats.org/drawingml/2006/main" noGrp="1"/>
          </p:cNvSpPr>
          <p:nvPr/>
        </p:nvSpPr>
        <p:spPr>
          <a:xfrm xmlns:a="http://schemas.openxmlformats.org/drawingml/2006/main">
            <a:off x="857250" y="3905250"/>
            <a:ext cx="3000375" cy="704850"/>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18" name="s1-r1-c0-text">
            <a:extLst xmlns:a="http://schemas.openxmlformats.org/drawingml/2006/main">
              <a:ext uri="{FF2B5EF4-FFF2-40B4-BE49-F238E27FC236}">
                <a16:creationId xmlns:a16="http://schemas.microsoft.com/office/drawing/2014/main" id="{30F44CB7-E9FB-47B4-B5D8-1DCE98C2ED7B}"/>
              </a:ext>
            </a:extLst>
          </p:cNvPr>
          <p:cNvSpPr>
            <a:spLocks xmlns:a="http://schemas.openxmlformats.org/drawingml/2006/main" noGrp="1"/>
          </p:cNvSpPr>
          <p:nvPr/>
        </p:nvSpPr>
        <p:spPr>
          <a:xfrm xmlns:a="http://schemas.openxmlformats.org/drawingml/2006/main">
            <a:off x="1028700" y="4038600"/>
            <a:ext cx="26574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365" b="0" i="0">
                <a:solidFill>
                  <a:srgbClr val="1F1A17"/>
                </a:solidFill>
                <a:latin typeface="Times New Roman"/>
                <a:ea typeface="Times New Roman"/>
                <a:cs typeface="Times New Roman"/>
              </a:defRPr>
            </a:pPr>
            <a:r>
              <a:rPr sz="1365" b="0" i="0">
                <a:solidFill>
                  <a:srgbClr val="1F1A17"/>
                </a:solidFill>
                <a:latin typeface="Times New Roman"/>
                <a:ea typeface="Times New Roman"/>
                <a:cs typeface="Times New Roman"/>
              </a:rPr>
              <a:t>Same AI analysis content</a:t>
            </a:r>
          </a:p>
        </p:txBody>
      </p:sp>
      <p:sp>
        <p:nvSpPr>
          <p:cNvPr id="19" name="s1-r1-c1-box">
            <a:extLst xmlns:a="http://schemas.openxmlformats.org/drawingml/2006/main">
              <a:ext uri="{FF2B5EF4-FFF2-40B4-BE49-F238E27FC236}">
                <a16:creationId xmlns:a16="http://schemas.microsoft.com/office/drawing/2014/main" id="{FC04894F-57A4-4CF5-8ECC-4D471F45B15D}"/>
              </a:ext>
            </a:extLst>
          </p:cNvPr>
          <p:cNvSpPr>
            <a:spLocks xmlns:a="http://schemas.openxmlformats.org/drawingml/2006/main" noGrp="1"/>
          </p:cNvSpPr>
          <p:nvPr/>
        </p:nvSpPr>
        <p:spPr>
          <a:xfrm xmlns:a="http://schemas.openxmlformats.org/drawingml/2006/main">
            <a:off x="3857625" y="3905250"/>
            <a:ext cx="3000375" cy="704850"/>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20" name="s1-r1-c1-text">
            <a:extLst xmlns:a="http://schemas.openxmlformats.org/drawingml/2006/main">
              <a:ext uri="{FF2B5EF4-FFF2-40B4-BE49-F238E27FC236}">
                <a16:creationId xmlns:a16="http://schemas.microsoft.com/office/drawing/2014/main" id="{51594F92-CC5E-4AB8-AD2B-B9700178DA5E}"/>
              </a:ext>
            </a:extLst>
          </p:cNvPr>
          <p:cNvSpPr>
            <a:spLocks xmlns:a="http://schemas.openxmlformats.org/drawingml/2006/main" noGrp="1"/>
          </p:cNvSpPr>
          <p:nvPr/>
        </p:nvSpPr>
        <p:spPr>
          <a:xfrm xmlns:a="http://schemas.openxmlformats.org/drawingml/2006/main">
            <a:off x="4029075" y="4038600"/>
            <a:ext cx="26574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365" b="0" i="0">
                <a:solidFill>
                  <a:srgbClr val="1F1A17"/>
                </a:solidFill>
                <a:latin typeface="Times New Roman"/>
                <a:ea typeface="Times New Roman"/>
                <a:cs typeface="Times New Roman"/>
              </a:defRPr>
            </a:pPr>
            <a:r>
              <a:rPr sz="1365" b="0" i="0">
                <a:solidFill>
                  <a:srgbClr val="1F1A17"/>
                </a:solidFill>
                <a:latin typeface="Times New Roman"/>
                <a:ea typeface="Times New Roman"/>
                <a:cs typeface="Times New Roman"/>
              </a:rPr>
              <a:t>Confirmation vs disclosure</a:t>
            </a:r>
          </a:p>
        </p:txBody>
      </p:sp>
      <p:sp>
        <p:nvSpPr>
          <p:cNvPr id="21" name="s1-r1-c2-box">
            <a:extLst xmlns:a="http://schemas.openxmlformats.org/drawingml/2006/main">
              <a:ext uri="{FF2B5EF4-FFF2-40B4-BE49-F238E27FC236}">
                <a16:creationId xmlns:a16="http://schemas.microsoft.com/office/drawing/2014/main" id="{D4C83674-7578-4C5F-9A45-F0AE8B82A7ED}"/>
              </a:ext>
            </a:extLst>
          </p:cNvPr>
          <p:cNvSpPr>
            <a:spLocks xmlns:a="http://schemas.openxmlformats.org/drawingml/2006/main" noGrp="1"/>
          </p:cNvSpPr>
          <p:nvPr/>
        </p:nvSpPr>
        <p:spPr>
          <a:xfrm xmlns:a="http://schemas.openxmlformats.org/drawingml/2006/main">
            <a:off x="6858000" y="3905250"/>
            <a:ext cx="4476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7C7AE"/>
            </a:solidFill>
            <a:prstDash val="solid"/>
          </a:ln>
        </p:spPr>
      </p:sp>
      <p:sp>
        <p:nvSpPr>
          <p:cNvPr id="22" name="s1-r1-c2-text">
            <a:extLst xmlns:a="http://schemas.openxmlformats.org/drawingml/2006/main">
              <a:ext uri="{FF2B5EF4-FFF2-40B4-BE49-F238E27FC236}">
                <a16:creationId xmlns:a16="http://schemas.microsoft.com/office/drawing/2014/main" id="{585F0065-8BC1-4EB3-B28D-B57BB1EAB73C}"/>
              </a:ext>
            </a:extLst>
          </p:cNvPr>
          <p:cNvSpPr>
            <a:spLocks xmlns:a="http://schemas.openxmlformats.org/drawingml/2006/main" noGrp="1"/>
          </p:cNvSpPr>
          <p:nvPr/>
        </p:nvSpPr>
        <p:spPr>
          <a:xfrm xmlns:a="http://schemas.openxmlformats.org/drawingml/2006/main">
            <a:off x="7029450" y="4038600"/>
            <a:ext cx="4133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10" b="1" i="0">
                <a:solidFill>
                  <a:srgbClr val="243747"/>
                </a:solidFill>
                <a:latin typeface="Times New Roman"/>
                <a:ea typeface="Times New Roman"/>
                <a:cs typeface="Times New Roman"/>
              </a:defRPr>
            </a:pPr>
            <a:r>
              <a:rPr sz="1410" b="1" i="0">
                <a:solidFill>
                  <a:srgbClr val="243747"/>
                </a:solidFill>
                <a:latin typeface="Times New Roman"/>
                <a:ea typeface="Times New Roman"/>
                <a:cs typeface="Times New Roman"/>
              </a:rPr>
              <a:t>Human passage, visibility, and responsibility sharing</a:t>
            </a:r>
          </a:p>
        </p:txBody>
      </p:sp>
      <p:sp>
        <p:nvSpPr>
          <p:cNvPr id="23" name="s1-r2-c0-box">
            <a:extLst xmlns:a="http://schemas.openxmlformats.org/drawingml/2006/main">
              <a:ext uri="{FF2B5EF4-FFF2-40B4-BE49-F238E27FC236}">
                <a16:creationId xmlns:a16="http://schemas.microsoft.com/office/drawing/2014/main" id="{6671EA15-CC01-433D-8DE4-951A10F51902}"/>
              </a:ext>
            </a:extLst>
          </p:cNvPr>
          <p:cNvSpPr>
            <a:spLocks xmlns:a="http://schemas.openxmlformats.org/drawingml/2006/main" noGrp="1"/>
          </p:cNvSpPr>
          <p:nvPr/>
        </p:nvSpPr>
        <p:spPr>
          <a:xfrm xmlns:a="http://schemas.openxmlformats.org/drawingml/2006/main">
            <a:off x="857250" y="4610100"/>
            <a:ext cx="3000375" cy="704850"/>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24" name="s1-r2-c0-text">
            <a:extLst xmlns:a="http://schemas.openxmlformats.org/drawingml/2006/main">
              <a:ext uri="{FF2B5EF4-FFF2-40B4-BE49-F238E27FC236}">
                <a16:creationId xmlns:a16="http://schemas.microsoft.com/office/drawing/2014/main" id="{40B1D994-E65B-458D-AA97-D64DDB215919}"/>
              </a:ext>
            </a:extLst>
          </p:cNvPr>
          <p:cNvSpPr>
            <a:spLocks xmlns:a="http://schemas.openxmlformats.org/drawingml/2006/main" noGrp="1"/>
          </p:cNvSpPr>
          <p:nvPr/>
        </p:nvSpPr>
        <p:spPr>
          <a:xfrm xmlns:a="http://schemas.openxmlformats.org/drawingml/2006/main">
            <a:off x="1028700" y="4743450"/>
            <a:ext cx="26574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365" b="0" i="0">
                <a:solidFill>
                  <a:srgbClr val="1F1A17"/>
                </a:solidFill>
                <a:latin typeface="Times New Roman"/>
                <a:ea typeface="Times New Roman"/>
                <a:cs typeface="Times New Roman"/>
              </a:defRPr>
            </a:pPr>
            <a:r>
              <a:rPr sz="1365" b="0" i="0">
                <a:solidFill>
                  <a:srgbClr val="1F1A17"/>
                </a:solidFill>
                <a:latin typeface="Times New Roman"/>
                <a:ea typeface="Times New Roman"/>
                <a:cs typeface="Times New Roman"/>
              </a:rPr>
              <a:t>Same choices and payoff logic</a:t>
            </a:r>
          </a:p>
        </p:txBody>
      </p:sp>
      <p:sp>
        <p:nvSpPr>
          <p:cNvPr id="25" name="s1-r2-c1-box">
            <a:extLst xmlns:a="http://schemas.openxmlformats.org/drawingml/2006/main">
              <a:ext uri="{FF2B5EF4-FFF2-40B4-BE49-F238E27FC236}">
                <a16:creationId xmlns:a16="http://schemas.microsoft.com/office/drawing/2014/main" id="{E22F87AE-CD6E-49EA-9B4B-41C3EE8973D8}"/>
              </a:ext>
            </a:extLst>
          </p:cNvPr>
          <p:cNvSpPr>
            <a:spLocks xmlns:a="http://schemas.openxmlformats.org/drawingml/2006/main" noGrp="1"/>
          </p:cNvSpPr>
          <p:nvPr/>
        </p:nvSpPr>
        <p:spPr>
          <a:xfrm xmlns:a="http://schemas.openxmlformats.org/drawingml/2006/main">
            <a:off x="3857625" y="4610100"/>
            <a:ext cx="3000375" cy="704850"/>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26" name="s1-r2-c1-text">
            <a:extLst xmlns:a="http://schemas.openxmlformats.org/drawingml/2006/main">
              <a:ext uri="{FF2B5EF4-FFF2-40B4-BE49-F238E27FC236}">
                <a16:creationId xmlns:a16="http://schemas.microsoft.com/office/drawing/2014/main" id="{B3569FC7-4EDD-47A6-99F3-3A9D260E9C87}"/>
              </a:ext>
            </a:extLst>
          </p:cNvPr>
          <p:cNvSpPr>
            <a:spLocks xmlns:a="http://schemas.openxmlformats.org/drawingml/2006/main" noGrp="1"/>
          </p:cNvSpPr>
          <p:nvPr/>
        </p:nvSpPr>
        <p:spPr>
          <a:xfrm xmlns:a="http://schemas.openxmlformats.org/drawingml/2006/main">
            <a:off x="4029075" y="4743450"/>
            <a:ext cx="26574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365" b="0" i="0">
                <a:solidFill>
                  <a:srgbClr val="1F1A17"/>
                </a:solidFill>
                <a:latin typeface="Times New Roman"/>
                <a:ea typeface="Times New Roman"/>
                <a:cs typeface="Times New Roman"/>
              </a:defRPr>
            </a:pPr>
            <a:r>
              <a:rPr sz="1365" b="0" i="0">
                <a:solidFill>
                  <a:srgbClr val="1F1A17"/>
                </a:solidFill>
                <a:latin typeface="Times New Roman"/>
                <a:ea typeface="Times New Roman"/>
                <a:cs typeface="Times New Roman"/>
              </a:rPr>
              <a:t>Only the accountability layer changes</a:t>
            </a:r>
          </a:p>
        </p:txBody>
      </p:sp>
      <p:sp>
        <p:nvSpPr>
          <p:cNvPr id="27" name="s1-r2-c2-box">
            <a:extLst xmlns:a="http://schemas.openxmlformats.org/drawingml/2006/main">
              <a:ext uri="{FF2B5EF4-FFF2-40B4-BE49-F238E27FC236}">
                <a16:creationId xmlns:a16="http://schemas.microsoft.com/office/drawing/2014/main" id="{B5A2D4A0-995C-47AE-87E4-C1AE1241DC9C}"/>
              </a:ext>
            </a:extLst>
          </p:cNvPr>
          <p:cNvSpPr>
            <a:spLocks xmlns:a="http://schemas.openxmlformats.org/drawingml/2006/main" noGrp="1"/>
          </p:cNvSpPr>
          <p:nvPr/>
        </p:nvSpPr>
        <p:spPr>
          <a:xfrm xmlns:a="http://schemas.openxmlformats.org/drawingml/2006/main">
            <a:off x="6858000" y="4610100"/>
            <a:ext cx="4476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D7C7AE"/>
            </a:solidFill>
            <a:prstDash val="solid"/>
          </a:ln>
        </p:spPr>
      </p:sp>
      <p:sp>
        <p:nvSpPr>
          <p:cNvPr id="28" name="s1-r2-c2-text">
            <a:extLst xmlns:a="http://schemas.openxmlformats.org/drawingml/2006/main">
              <a:ext uri="{FF2B5EF4-FFF2-40B4-BE49-F238E27FC236}">
                <a16:creationId xmlns:a16="http://schemas.microsoft.com/office/drawing/2014/main" id="{5B87C4A8-5D31-4561-8320-FFCC86F2A30B}"/>
              </a:ext>
            </a:extLst>
          </p:cNvPr>
          <p:cNvSpPr>
            <a:spLocks xmlns:a="http://schemas.openxmlformats.org/drawingml/2006/main" noGrp="1"/>
          </p:cNvSpPr>
          <p:nvPr/>
        </p:nvSpPr>
        <p:spPr>
          <a:xfrm xmlns:a="http://schemas.openxmlformats.org/drawingml/2006/main">
            <a:off x="7029450" y="4743450"/>
            <a:ext cx="4133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10" b="1" i="0">
                <a:solidFill>
                  <a:srgbClr val="243747"/>
                </a:solidFill>
                <a:latin typeface="Times New Roman"/>
                <a:ea typeface="Times New Roman"/>
                <a:cs typeface="Times New Roman"/>
              </a:defRPr>
            </a:pPr>
            <a:r>
              <a:rPr sz="1410" b="1" i="0">
                <a:solidFill>
                  <a:srgbClr val="243747"/>
                </a:solidFill>
                <a:latin typeface="Times New Roman"/>
                <a:ea typeface="Times New Roman"/>
                <a:cs typeface="Times New Roman"/>
              </a:rPr>
              <a:t>Clean identification, not AI quality or advice content</a:t>
            </a:r>
          </a:p>
        </p:txBody>
      </p:sp>
      <p:sp>
        <p:nvSpPr>
          <p:cNvPr id="29" name="bottom-takeaway">
            <a:extLst xmlns:a="http://schemas.openxmlformats.org/drawingml/2006/main">
              <a:ext uri="{FF2B5EF4-FFF2-40B4-BE49-F238E27FC236}">
                <a16:creationId xmlns:a16="http://schemas.microsoft.com/office/drawing/2014/main" id="{E6F5230C-4D3A-4812-82DF-8EBB75BF4BB0}"/>
              </a:ext>
            </a:extLst>
          </p:cNvPr>
          <p:cNvSpPr>
            <a:spLocks xmlns:a="http://schemas.openxmlformats.org/drawingml/2006/main" noGrp="1"/>
          </p:cNvSpPr>
          <p:nvPr/>
        </p:nvSpPr>
        <p:spPr>
          <a:xfrm xmlns:a="http://schemas.openxmlformats.org/drawingml/2006/main">
            <a:off x="1123950" y="561975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gn="ctr">
              <a:lnSpc>
                <a:spcPct val="108000"/>
              </a:lnSpc>
              <a:buNone/>
              <a:defRPr sz="1575" i="1">
                <a:solidFill>
                  <a:srgbClr val="BE7A46"/>
                </a:solidFill>
                <a:latin typeface="Times New Roman"/>
                <a:ea typeface="Times New Roman"/>
                <a:cs typeface="Times New Roman"/>
              </a:defRPr>
            </a:pPr>
            <a:r>
              <a:rPr sz="1575" i="1">
                <a:solidFill>
                  <a:srgbClr val="BE7A46"/>
                </a:solidFill>
                <a:latin typeface="Times New Roman"/>
                <a:ea typeface="Times New Roman"/>
                <a:cs typeface="Times New Roman"/>
              </a:rPr>
              <a:t>Minimal does not mean thin: the source of variation is deliberately located in responsibility design.</a:t>
            </a:r>
          </a:p>
        </p:txBody>
      </p:sp>
      <p:sp>
        <p:nvSpPr>
          <p:cNvPr id="30" name="bottom-rule">
            <a:extLst xmlns:a="http://schemas.openxmlformats.org/drawingml/2006/main">
              <a:ext uri="{FF2B5EF4-FFF2-40B4-BE49-F238E27FC236}">
                <a16:creationId xmlns:a16="http://schemas.microsoft.com/office/drawing/2014/main" id="{F9F6DC24-8AD6-4079-B4E2-1EA2CEA53E0B}"/>
              </a:ext>
            </a:extLst>
          </p:cNvPr>
          <p:cNvSpPr>
            <a:spLocks xmlns:a="http://schemas.openxmlformats.org/drawingml/2006/main" noGrp="1"/>
          </p:cNvSpPr>
          <p:nvPr/>
        </p:nvSpPr>
        <p:spPr>
          <a:xfrm xmlns:a="http://schemas.openxmlformats.org/drawingml/2006/main">
            <a:off x="857250" y="6172200"/>
            <a:ext cx="10477500" cy="11430"/>
          </a:xfrm>
          <a:prstGeom xmlns:a="http://schemas.openxmlformats.org/drawingml/2006/main" prst="rect">
            <a:avLst/>
          </a:prstGeom>
          <a:solidFill xmlns:a="http://schemas.openxmlformats.org/drawingml/2006/main">
            <a:srgbClr val="D7C7AE"/>
          </a:solidFill>
          <a:ln xmlns:a="http://schemas.openxmlformats.org/drawingml/2006/main" w="0">
            <a:noFill/>
            <a:prstDash val="solid"/>
          </a:ln>
        </p:spPr>
      </p:sp>
      <p:sp>
        <p:nvSpPr>
          <p:cNvPr id="31" name="footer">
            <a:extLst xmlns:a="http://schemas.openxmlformats.org/drawingml/2006/main">
              <a:ext uri="{FF2B5EF4-FFF2-40B4-BE49-F238E27FC236}">
                <a16:creationId xmlns:a16="http://schemas.microsoft.com/office/drawing/2014/main" id="{0655C049-9B10-4B6A-AB57-023EB709E0E0}"/>
              </a:ext>
            </a:extLst>
          </p:cNvPr>
          <p:cNvSpPr>
            <a:spLocks xmlns:a="http://schemas.openxmlformats.org/drawingml/2006/main" noGrp="1"/>
          </p:cNvSpPr>
          <p:nvPr/>
        </p:nvSpPr>
        <p:spPr>
          <a:xfrm xmlns:a="http://schemas.openxmlformats.org/drawingml/2006/main">
            <a:off x="857250" y="64008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nSpc>
                <a:spcPct val="108000"/>
              </a:lnSpc>
              <a:buNone/>
              <a:defRPr sz="900" b="1">
                <a:solidFill>
                  <a:srgbClr val="5F6A72"/>
                </a:solidFill>
                <a:latin typeface="Times New Roman"/>
                <a:ea typeface="Times New Roman"/>
                <a:cs typeface="Times New Roman"/>
              </a:defRPr>
            </a:pPr>
            <a:r>
              <a:rPr sz="900" b="1">
                <a:solidFill>
                  <a:srgbClr val="5F6A72"/>
                </a:solidFill>
                <a:latin typeface="Times New Roman"/>
                <a:ea typeface="Times New Roman"/>
                <a:cs typeface="Times New Roman"/>
              </a:rPr>
              <a:t>PAPER 3</a:t>
            </a:r>
          </a:p>
        </p:txBody>
      </p:sp>
    </p:spTree>
    <p:extLst>
      <p:ext uri="{BB962C8B-B14F-4D97-AF65-F5344CB8AC3E}">
        <p14:creationId xmlns:p14="http://schemas.microsoft.com/office/powerpoint/2010/main" val="1972778365"/>
      </p:ext>
    </p:extLst>
  </p:cSld>
</p:sld>
</file>

<file path=ppt/slides/slide2.xml><?xml version="1.0" encoding="utf-8"?>
<p:sld xmlns:p="http://schemas.openxmlformats.org/presentationml/2006/main">
  <p:cSld>
    <p:bg>
      <p:bgPr>
        <a:solidFill xmlns:a="http://schemas.openxmlformats.org/drawingml/2006/main">
          <a:srgbClr val="243747"/>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D65BFDCB-3CD0-42B9-B78F-079922097CD4}"/>
              </a:ext>
            </a:extLst>
          </p:cNvPr>
          <p:cNvSpPr>
            <a:spLocks xmlns:a="http://schemas.openxmlformats.org/drawingml/2006/main" noGrp="1"/>
          </p:cNvSpPr>
          <p:nvPr/>
        </p:nvSpPr>
        <p:spPr>
          <a:xfrm xmlns:a="http://schemas.openxmlformats.org/drawingml/2006/main">
            <a:off x="857250" y="704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nSpc>
                <a:spcPct val="108000"/>
              </a:lnSpc>
              <a:buNone/>
              <a:defRPr sz="1050" b="1">
                <a:solidFill>
                  <a:srgbClr val="D6A06F"/>
                </a:solidFill>
                <a:latin typeface="Times New Roman"/>
                <a:ea typeface="Times New Roman"/>
                <a:cs typeface="Times New Roman"/>
              </a:defRPr>
            </a:pPr>
            <a:r>
              <a:rPr sz="1050" b="1">
                <a:solidFill>
                  <a:srgbClr val="D6A06F"/>
                </a:solidFill>
                <a:latin typeface="Times New Roman"/>
                <a:ea typeface="Times New Roman"/>
                <a:cs typeface="Times New Roman"/>
              </a:rPr>
              <a:t>PAPER 3  ·  METHOD LOGIC</a:t>
            </a:r>
          </a:p>
        </p:txBody>
      </p:sp>
      <p:sp>
        <p:nvSpPr>
          <p:cNvPr id="2" name="title">
            <a:extLst xmlns:a="http://schemas.openxmlformats.org/drawingml/2006/main">
              <a:ext uri="{FF2B5EF4-FFF2-40B4-BE49-F238E27FC236}">
                <a16:creationId xmlns:a16="http://schemas.microsoft.com/office/drawing/2014/main" id="{A786E419-2D0B-4700-960E-86E32D2BEC0F}"/>
              </a:ext>
            </a:extLst>
          </p:cNvPr>
          <p:cNvSpPr>
            <a:spLocks xmlns:a="http://schemas.openxmlformats.org/drawingml/2006/main" noGrp="1"/>
          </p:cNvSpPr>
          <p:nvPr/>
        </p:nvSpPr>
        <p:spPr>
          <a:xfrm xmlns:a="http://schemas.openxmlformats.org/drawingml/2006/main">
            <a:off x="857250" y="1104900"/>
            <a:ext cx="847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nSpc>
                <a:spcPct val="108000"/>
              </a:lnSpc>
              <a:buNone/>
              <a:defRPr sz="3225" b="1">
                <a:solidFill>
                  <a:srgbClr val="F3EBDD"/>
                </a:solidFill>
                <a:latin typeface="Times New Roman"/>
                <a:ea typeface="Times New Roman"/>
                <a:cs typeface="Times New Roman"/>
              </a:defRPr>
            </a:pPr>
            <a:r>
              <a:rPr sz="3225" b="1">
                <a:solidFill>
                  <a:srgbClr val="F3EBDD"/>
                </a:solidFill>
                <a:latin typeface="Times New Roman"/>
                <a:ea typeface="Times New Roman"/>
                <a:cs typeface="Times New Roman"/>
              </a:rPr>
              <a:t>Mechanism: From System Design to Escalation</a:t>
            </a:r>
          </a:p>
        </p:txBody>
      </p:sp>
      <p:sp>
        <p:nvSpPr>
          <p:cNvPr id="3" name="subtitle">
            <a:extLst xmlns:a="http://schemas.openxmlformats.org/drawingml/2006/main">
              <a:ext uri="{FF2B5EF4-FFF2-40B4-BE49-F238E27FC236}">
                <a16:creationId xmlns:a16="http://schemas.microsoft.com/office/drawing/2014/main" id="{137949BA-CCEE-4761-864F-8738ED0954FE}"/>
              </a:ext>
            </a:extLst>
          </p:cNvPr>
          <p:cNvSpPr>
            <a:spLocks xmlns:a="http://schemas.openxmlformats.org/drawingml/2006/main" noGrp="1"/>
          </p:cNvSpPr>
          <p:nvPr/>
        </p:nvSpPr>
        <p:spPr>
          <a:xfrm xmlns:a="http://schemas.openxmlformats.org/drawingml/2006/main">
            <a:off x="857250" y="1762125"/>
            <a:ext cx="981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108000"/>
              </a:lnSpc>
              <a:buNone/>
              <a:defRPr sz="1650">
                <a:solidFill>
                  <a:srgbClr val="E8DDCB"/>
                </a:solidFill>
                <a:latin typeface="Times New Roman"/>
                <a:ea typeface="Times New Roman"/>
                <a:cs typeface="Times New Roman"/>
              </a:defRPr>
            </a:pPr>
            <a:r>
              <a:rPr sz="1650">
                <a:solidFill>
                  <a:srgbClr val="E8DDCB"/>
                </a:solidFill>
                <a:latin typeface="Times New Roman"/>
                <a:ea typeface="Times New Roman"/>
                <a:cs typeface="Times New Roman"/>
              </a:rPr>
              <a:t>AI-system interventions may change behavior by reshaping structural accountability and subjective responsibility.</a:t>
            </a:r>
          </a:p>
        </p:txBody>
      </p:sp>
      <p:sp>
        <p:nvSpPr>
          <p:cNvPr id="4" name="top-rule">
            <a:extLst xmlns:a="http://schemas.openxmlformats.org/drawingml/2006/main">
              <a:ext uri="{FF2B5EF4-FFF2-40B4-BE49-F238E27FC236}">
                <a16:creationId xmlns:a16="http://schemas.microsoft.com/office/drawing/2014/main" id="{8E0E9D42-1DAA-4AB9-9A68-8A0BC55ADB8C}"/>
              </a:ext>
            </a:extLst>
          </p:cNvPr>
          <p:cNvSpPr>
            <a:spLocks xmlns:a="http://schemas.openxmlformats.org/drawingml/2006/main" noGrp="1"/>
          </p:cNvSpPr>
          <p:nvPr/>
        </p:nvSpPr>
        <p:spPr>
          <a:xfrm xmlns:a="http://schemas.openxmlformats.org/drawingml/2006/main">
            <a:off x="857250" y="2343150"/>
            <a:ext cx="10477500" cy="11430"/>
          </a:xfrm>
          <a:prstGeom xmlns:a="http://schemas.openxmlformats.org/drawingml/2006/main" prst="rect">
            <a:avLst/>
          </a:prstGeom>
          <a:solidFill xmlns:a="http://schemas.openxmlformats.org/drawingml/2006/main">
            <a:srgbClr val="D6A06F"/>
          </a:solidFill>
          <a:ln xmlns:a="http://schemas.openxmlformats.org/drawingml/2006/main" w="0">
            <a:noFill/>
            <a:prstDash val="solid"/>
          </a:ln>
        </p:spPr>
      </p:sp>
      <p:sp>
        <p:nvSpPr>
          <p:cNvPr id="5" name="node-1">
            <a:extLst xmlns:a="http://schemas.openxmlformats.org/drawingml/2006/main">
              <a:ext uri="{FF2B5EF4-FFF2-40B4-BE49-F238E27FC236}">
                <a16:creationId xmlns:a16="http://schemas.microsoft.com/office/drawing/2014/main" id="{CDA804BE-8EED-49A2-8282-25521161EC09}"/>
              </a:ext>
            </a:extLst>
          </p:cNvPr>
          <p:cNvSpPr>
            <a:spLocks xmlns:a="http://schemas.openxmlformats.org/drawingml/2006/main" noGrp="1"/>
          </p:cNvSpPr>
          <p:nvPr/>
        </p:nvSpPr>
        <p:spPr>
          <a:xfrm xmlns:a="http://schemas.openxmlformats.org/drawingml/2006/main">
            <a:off x="857250" y="2895600"/>
            <a:ext cx="2305050" cy="1733550"/>
          </a:xfrm>
          <a:prstGeom xmlns:a="http://schemas.openxmlformats.org/drawingml/2006/main" prst="roundRect">
            <a:avLst>
              <a:gd name="adj" fmla="val 6593"/>
            </a:avLst>
          </a:prstGeom>
          <a:solidFill xmlns:a="http://schemas.openxmlformats.org/drawingml/2006/main">
            <a:srgbClr val="172938"/>
          </a:solidFill>
          <a:ln xmlns:a="http://schemas.openxmlformats.org/drawingml/2006/main" w="13335">
            <a:solidFill>
              <a:srgbClr val="BE7A46"/>
            </a:solidFill>
            <a:prstDash val="solid"/>
          </a:ln>
        </p:spPr>
      </p:sp>
      <p:sp>
        <p:nvSpPr>
          <p:cNvPr id="6" name="node-1-title">
            <a:extLst xmlns:a="http://schemas.openxmlformats.org/drawingml/2006/main">
              <a:ext uri="{FF2B5EF4-FFF2-40B4-BE49-F238E27FC236}">
                <a16:creationId xmlns:a16="http://schemas.microsoft.com/office/drawing/2014/main" id="{A61C4ACD-52E2-4F42-B24B-33015695A1D5}"/>
              </a:ext>
            </a:extLst>
          </p:cNvPr>
          <p:cNvSpPr>
            <a:spLocks xmlns:a="http://schemas.openxmlformats.org/drawingml/2006/main" noGrp="1"/>
          </p:cNvSpPr>
          <p:nvPr/>
        </p:nvSpPr>
        <p:spPr>
          <a:xfrm xmlns:a="http://schemas.openxmlformats.org/drawingml/2006/main">
            <a:off x="1066800" y="3124200"/>
            <a:ext cx="188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ctr">
              <a:lnSpc>
                <a:spcPct val="108000"/>
              </a:lnSpc>
              <a:buNone/>
              <a:defRPr sz="1575" b="1">
                <a:solidFill>
                  <a:srgbClr val="F3EBDD"/>
                </a:solidFill>
                <a:latin typeface="Times New Roman"/>
                <a:ea typeface="Times New Roman"/>
                <a:cs typeface="Times New Roman"/>
              </a:defRPr>
            </a:pPr>
            <a:r>
              <a:rPr sz="1575" b="1">
                <a:solidFill>
                  <a:srgbClr val="F3EBDD"/>
                </a:solidFill>
                <a:latin typeface="Times New Roman"/>
                <a:ea typeface="Times New Roman"/>
                <a:cs typeface="Times New Roman"/>
              </a:rPr>
              <a:t>AI-system</a:t>
            </a:r>
          </a:p>
          <a:p xmlns:a="http://schemas.openxmlformats.org/drawingml/2006/main">
            <a:pPr algn="ctr">
              <a:lnSpc>
                <a:spcPct val="108000"/>
              </a:lnSpc>
              <a:buNone/>
              <a:defRPr sz="1575" b="1">
                <a:solidFill>
                  <a:srgbClr val="F3EBDD"/>
                </a:solidFill>
                <a:latin typeface="Times New Roman"/>
                <a:ea typeface="Times New Roman"/>
                <a:cs typeface="Times New Roman"/>
              </a:defRPr>
            </a:pPr>
            <a:r>
              <a:rPr sz="1575" b="1">
                <a:solidFill>
                  <a:srgbClr val="F3EBDD"/>
                </a:solidFill>
                <a:latin typeface="Times New Roman"/>
                <a:ea typeface="Times New Roman"/>
                <a:cs typeface="Times New Roman"/>
              </a:rPr>
              <a:t>intervention</a:t>
            </a:r>
          </a:p>
        </p:txBody>
      </p:sp>
      <p:sp>
        <p:nvSpPr>
          <p:cNvPr id="7" name="node-1-body">
            <a:extLst xmlns:a="http://schemas.openxmlformats.org/drawingml/2006/main">
              <a:ext uri="{FF2B5EF4-FFF2-40B4-BE49-F238E27FC236}">
                <a16:creationId xmlns:a16="http://schemas.microsoft.com/office/drawing/2014/main" id="{CD5A68AF-E3E9-4EBC-B5A2-5FACC23AF10F}"/>
              </a:ext>
            </a:extLst>
          </p:cNvPr>
          <p:cNvSpPr>
            <a:spLocks xmlns:a="http://schemas.openxmlformats.org/drawingml/2006/main" noGrp="1"/>
          </p:cNvSpPr>
          <p:nvPr/>
        </p:nvSpPr>
        <p:spPr>
          <a:xfrm xmlns:a="http://schemas.openxmlformats.org/drawingml/2006/main">
            <a:off x="1047750" y="3752850"/>
            <a:ext cx="1924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ctr">
              <a:lnSpc>
                <a:spcPct val="102000"/>
              </a:lnSpc>
              <a:buNone/>
              <a:defRPr sz="1245">
                <a:solidFill>
                  <a:srgbClr val="D6CCBC"/>
                </a:solidFill>
                <a:latin typeface="Times New Roman"/>
                <a:ea typeface="Times New Roman"/>
                <a:cs typeface="Times New Roman"/>
              </a:defRPr>
            </a:pPr>
            <a:r>
              <a:rPr sz="1245">
                <a:solidFill>
                  <a:srgbClr val="D6CCBC"/>
                </a:solidFill>
                <a:latin typeface="Times New Roman"/>
                <a:ea typeface="Times New Roman"/>
                <a:cs typeface="Times New Roman"/>
              </a:rPr>
              <a:t>confirmation</a:t>
            </a:r>
          </a:p>
          <a:p xmlns:a="http://schemas.openxmlformats.org/drawingml/2006/main">
            <a:pPr algn="ctr">
              <a:lnSpc>
                <a:spcPct val="102000"/>
              </a:lnSpc>
              <a:buNone/>
              <a:defRPr sz="1245">
                <a:solidFill>
                  <a:srgbClr val="D6CCBC"/>
                </a:solidFill>
                <a:latin typeface="Times New Roman"/>
                <a:ea typeface="Times New Roman"/>
                <a:cs typeface="Times New Roman"/>
              </a:defRPr>
            </a:pPr>
            <a:r>
              <a:rPr sz="1245">
                <a:solidFill>
                  <a:srgbClr val="D6CCBC"/>
                </a:solidFill>
                <a:latin typeface="Times New Roman"/>
                <a:ea typeface="Times New Roman"/>
                <a:cs typeface="Times New Roman"/>
              </a:rPr>
              <a:t>disclosure</a:t>
            </a:r>
          </a:p>
        </p:txBody>
      </p:sp>
      <p:sp>
        <p:nvSpPr>
          <p:cNvPr id="8" name="arrow-1">
            <a:extLst xmlns:a="http://schemas.openxmlformats.org/drawingml/2006/main">
              <a:ext uri="{FF2B5EF4-FFF2-40B4-BE49-F238E27FC236}">
                <a16:creationId xmlns:a16="http://schemas.microsoft.com/office/drawing/2014/main" id="{C678E7F2-85E9-479B-924E-EECEB472B0BE}"/>
              </a:ext>
            </a:extLst>
          </p:cNvPr>
          <p:cNvSpPr>
            <a:spLocks xmlns:a="http://schemas.openxmlformats.org/drawingml/2006/main" noGrp="1"/>
          </p:cNvSpPr>
          <p:nvPr/>
        </p:nvSpPr>
        <p:spPr>
          <a:xfrm xmlns:a="http://schemas.openxmlformats.org/drawingml/2006/main">
            <a:off x="3238500" y="36004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gn="ctr">
              <a:lnSpc>
                <a:spcPct val="108000"/>
              </a:lnSpc>
              <a:buNone/>
              <a:defRPr sz="2550" b="1">
                <a:solidFill>
                  <a:srgbClr val="D6A06F"/>
                </a:solidFill>
                <a:latin typeface="Times New Roman"/>
                <a:ea typeface="Times New Roman"/>
                <a:cs typeface="Times New Roman"/>
              </a:defRPr>
            </a:pPr>
            <a:r>
              <a:rPr sz="2550" b="1">
                <a:solidFill>
                  <a:srgbClr val="D6A06F"/>
                </a:solidFill>
                <a:latin typeface="Times New Roman"/>
                <a:ea typeface="Times New Roman"/>
                <a:cs typeface="Times New Roman"/>
              </a:rPr>
              <a:t>→</a:t>
            </a:r>
          </a:p>
        </p:txBody>
      </p:sp>
      <p:sp>
        <p:nvSpPr>
          <p:cNvPr id="9" name="node-2">
            <a:extLst xmlns:a="http://schemas.openxmlformats.org/drawingml/2006/main">
              <a:ext uri="{FF2B5EF4-FFF2-40B4-BE49-F238E27FC236}">
                <a16:creationId xmlns:a16="http://schemas.microsoft.com/office/drawing/2014/main" id="{8D1EC941-2348-485F-98EF-5B2D94B26C4C}"/>
              </a:ext>
            </a:extLst>
          </p:cNvPr>
          <p:cNvSpPr>
            <a:spLocks xmlns:a="http://schemas.openxmlformats.org/drawingml/2006/main" noGrp="1"/>
          </p:cNvSpPr>
          <p:nvPr/>
        </p:nvSpPr>
        <p:spPr>
          <a:xfrm xmlns:a="http://schemas.openxmlformats.org/drawingml/2006/main">
            <a:off x="3609975" y="2895600"/>
            <a:ext cx="2305050" cy="1733550"/>
          </a:xfrm>
          <a:prstGeom xmlns:a="http://schemas.openxmlformats.org/drawingml/2006/main" prst="roundRect">
            <a:avLst>
              <a:gd name="adj" fmla="val 6593"/>
            </a:avLst>
          </a:prstGeom>
          <a:solidFill xmlns:a="http://schemas.openxmlformats.org/drawingml/2006/main">
            <a:srgbClr val="F3EBDD"/>
          </a:solidFill>
          <a:ln xmlns:a="http://schemas.openxmlformats.org/drawingml/2006/main" w="13335">
            <a:solidFill>
              <a:srgbClr val="7F8B77"/>
            </a:solidFill>
            <a:prstDash val="solid"/>
          </a:ln>
        </p:spPr>
      </p:sp>
      <p:sp>
        <p:nvSpPr>
          <p:cNvPr id="10" name="node-2-title">
            <a:extLst xmlns:a="http://schemas.openxmlformats.org/drawingml/2006/main">
              <a:ext uri="{FF2B5EF4-FFF2-40B4-BE49-F238E27FC236}">
                <a16:creationId xmlns:a16="http://schemas.microsoft.com/office/drawing/2014/main" id="{1B7F6316-7D6C-414C-AFCE-F3D75F11F9FD}"/>
              </a:ext>
            </a:extLst>
          </p:cNvPr>
          <p:cNvSpPr>
            <a:spLocks xmlns:a="http://schemas.openxmlformats.org/drawingml/2006/main" noGrp="1"/>
          </p:cNvSpPr>
          <p:nvPr/>
        </p:nvSpPr>
        <p:spPr>
          <a:xfrm xmlns:a="http://schemas.openxmlformats.org/drawingml/2006/main">
            <a:off x="3819525" y="3124200"/>
            <a:ext cx="188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ctr">
              <a:lnSpc>
                <a:spcPct val="108000"/>
              </a:lnSpc>
              <a:buNone/>
              <a:defRPr sz="1575" b="1">
                <a:solidFill>
                  <a:srgbClr val="1F1A17"/>
                </a:solidFill>
                <a:latin typeface="Times New Roman"/>
                <a:ea typeface="Times New Roman"/>
                <a:cs typeface="Times New Roman"/>
              </a:defRPr>
            </a:pPr>
            <a:r>
              <a:rPr sz="1575" b="1">
                <a:solidFill>
                  <a:srgbClr val="1F1A17"/>
                </a:solidFill>
                <a:latin typeface="Times New Roman"/>
                <a:ea typeface="Times New Roman"/>
                <a:cs typeface="Times New Roman"/>
              </a:rPr>
              <a:t>Structural</a:t>
            </a:r>
          </a:p>
          <a:p xmlns:a="http://schemas.openxmlformats.org/drawingml/2006/main">
            <a:pPr algn="ctr">
              <a:lnSpc>
                <a:spcPct val="108000"/>
              </a:lnSpc>
              <a:buNone/>
              <a:defRPr sz="1575" b="1">
                <a:solidFill>
                  <a:srgbClr val="1F1A17"/>
                </a:solidFill>
                <a:latin typeface="Times New Roman"/>
                <a:ea typeface="Times New Roman"/>
                <a:cs typeface="Times New Roman"/>
              </a:defRPr>
            </a:pPr>
            <a:r>
              <a:rPr sz="1575" b="1">
                <a:solidFill>
                  <a:srgbClr val="1F1A17"/>
                </a:solidFill>
                <a:latin typeface="Times New Roman"/>
                <a:ea typeface="Times New Roman"/>
                <a:cs typeface="Times New Roman"/>
              </a:rPr>
              <a:t>accountability</a:t>
            </a:r>
          </a:p>
        </p:txBody>
      </p:sp>
      <p:sp>
        <p:nvSpPr>
          <p:cNvPr id="11" name="node-2-body">
            <a:extLst xmlns:a="http://schemas.openxmlformats.org/drawingml/2006/main">
              <a:ext uri="{FF2B5EF4-FFF2-40B4-BE49-F238E27FC236}">
                <a16:creationId xmlns:a16="http://schemas.microsoft.com/office/drawing/2014/main" id="{69134CC4-564B-4BCF-A940-63646458FD5C}"/>
              </a:ext>
            </a:extLst>
          </p:cNvPr>
          <p:cNvSpPr>
            <a:spLocks xmlns:a="http://schemas.openxmlformats.org/drawingml/2006/main" noGrp="1"/>
          </p:cNvSpPr>
          <p:nvPr/>
        </p:nvSpPr>
        <p:spPr>
          <a:xfrm xmlns:a="http://schemas.openxmlformats.org/drawingml/2006/main">
            <a:off x="3800475" y="3752850"/>
            <a:ext cx="1924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visibility</a:t>
            </a:r>
          </a:p>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traceability</a:t>
            </a:r>
          </a:p>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attribution</a:t>
            </a:r>
          </a:p>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evaluability</a:t>
            </a:r>
          </a:p>
        </p:txBody>
      </p:sp>
      <p:sp>
        <p:nvSpPr>
          <p:cNvPr id="12" name="arrow-2">
            <a:extLst xmlns:a="http://schemas.openxmlformats.org/drawingml/2006/main">
              <a:ext uri="{FF2B5EF4-FFF2-40B4-BE49-F238E27FC236}">
                <a16:creationId xmlns:a16="http://schemas.microsoft.com/office/drawing/2014/main" id="{D2EE24DC-2144-4EE4-8B4A-36B8EAFC707C}"/>
              </a:ext>
            </a:extLst>
          </p:cNvPr>
          <p:cNvSpPr>
            <a:spLocks xmlns:a="http://schemas.openxmlformats.org/drawingml/2006/main" noGrp="1"/>
          </p:cNvSpPr>
          <p:nvPr/>
        </p:nvSpPr>
        <p:spPr>
          <a:xfrm xmlns:a="http://schemas.openxmlformats.org/drawingml/2006/main">
            <a:off x="5991225" y="36004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gn="ctr">
              <a:lnSpc>
                <a:spcPct val="108000"/>
              </a:lnSpc>
              <a:buNone/>
              <a:defRPr sz="2550" b="1">
                <a:solidFill>
                  <a:srgbClr val="D6A06F"/>
                </a:solidFill>
                <a:latin typeface="Times New Roman"/>
                <a:ea typeface="Times New Roman"/>
                <a:cs typeface="Times New Roman"/>
              </a:defRPr>
            </a:pPr>
            <a:r>
              <a:rPr sz="2550" b="1">
                <a:solidFill>
                  <a:srgbClr val="D6A06F"/>
                </a:solidFill>
                <a:latin typeface="Times New Roman"/>
                <a:ea typeface="Times New Roman"/>
                <a:cs typeface="Times New Roman"/>
              </a:rPr>
              <a:t>→</a:t>
            </a:r>
          </a:p>
        </p:txBody>
      </p:sp>
      <p:sp>
        <p:nvSpPr>
          <p:cNvPr id="13" name="node-3">
            <a:extLst xmlns:a="http://schemas.openxmlformats.org/drawingml/2006/main">
              <a:ext uri="{FF2B5EF4-FFF2-40B4-BE49-F238E27FC236}">
                <a16:creationId xmlns:a16="http://schemas.microsoft.com/office/drawing/2014/main" id="{E673460E-0782-4DBE-AFD6-F311010BEC28}"/>
              </a:ext>
            </a:extLst>
          </p:cNvPr>
          <p:cNvSpPr>
            <a:spLocks xmlns:a="http://schemas.openxmlformats.org/drawingml/2006/main" noGrp="1"/>
          </p:cNvSpPr>
          <p:nvPr/>
        </p:nvSpPr>
        <p:spPr>
          <a:xfrm xmlns:a="http://schemas.openxmlformats.org/drawingml/2006/main">
            <a:off x="6362700" y="2895600"/>
            <a:ext cx="2305050" cy="1733550"/>
          </a:xfrm>
          <a:prstGeom xmlns:a="http://schemas.openxmlformats.org/drawingml/2006/main" prst="roundRect">
            <a:avLst>
              <a:gd name="adj" fmla="val 6593"/>
            </a:avLst>
          </a:prstGeom>
          <a:solidFill xmlns:a="http://schemas.openxmlformats.org/drawingml/2006/main">
            <a:srgbClr val="F3EBDD"/>
          </a:solidFill>
          <a:ln xmlns:a="http://schemas.openxmlformats.org/drawingml/2006/main" w="13335">
            <a:solidFill>
              <a:srgbClr val="BE7A46"/>
            </a:solidFill>
            <a:prstDash val="solid"/>
          </a:ln>
        </p:spPr>
      </p:sp>
      <p:sp>
        <p:nvSpPr>
          <p:cNvPr id="14" name="node-3-title">
            <a:extLst xmlns:a="http://schemas.openxmlformats.org/drawingml/2006/main">
              <a:ext uri="{FF2B5EF4-FFF2-40B4-BE49-F238E27FC236}">
                <a16:creationId xmlns:a16="http://schemas.microsoft.com/office/drawing/2014/main" id="{9365B450-BA08-49E8-ACF3-6477BAA837CF}"/>
              </a:ext>
            </a:extLst>
          </p:cNvPr>
          <p:cNvSpPr>
            <a:spLocks xmlns:a="http://schemas.openxmlformats.org/drawingml/2006/main" noGrp="1"/>
          </p:cNvSpPr>
          <p:nvPr/>
        </p:nvSpPr>
        <p:spPr>
          <a:xfrm xmlns:a="http://schemas.openxmlformats.org/drawingml/2006/main">
            <a:off x="6572250" y="3124200"/>
            <a:ext cx="188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ctr">
              <a:lnSpc>
                <a:spcPct val="108000"/>
              </a:lnSpc>
              <a:buNone/>
              <a:defRPr sz="1575" b="1">
                <a:solidFill>
                  <a:srgbClr val="1F1A17"/>
                </a:solidFill>
                <a:latin typeface="Times New Roman"/>
                <a:ea typeface="Times New Roman"/>
                <a:cs typeface="Times New Roman"/>
              </a:defRPr>
            </a:pPr>
            <a:r>
              <a:rPr sz="1575" b="1">
                <a:solidFill>
                  <a:srgbClr val="1F1A17"/>
                </a:solidFill>
                <a:latin typeface="Times New Roman"/>
                <a:ea typeface="Times New Roman"/>
                <a:cs typeface="Times New Roman"/>
              </a:rPr>
              <a:t>Subjective</a:t>
            </a:r>
          </a:p>
          <a:p xmlns:a="http://schemas.openxmlformats.org/drawingml/2006/main">
            <a:pPr algn="ctr">
              <a:lnSpc>
                <a:spcPct val="108000"/>
              </a:lnSpc>
              <a:buNone/>
              <a:defRPr sz="1575" b="1">
                <a:solidFill>
                  <a:srgbClr val="1F1A17"/>
                </a:solidFill>
                <a:latin typeface="Times New Roman"/>
                <a:ea typeface="Times New Roman"/>
                <a:cs typeface="Times New Roman"/>
              </a:defRPr>
            </a:pPr>
            <a:r>
              <a:rPr sz="1575" b="1">
                <a:solidFill>
                  <a:srgbClr val="1F1A17"/>
                </a:solidFill>
                <a:latin typeface="Times New Roman"/>
                <a:ea typeface="Times New Roman"/>
                <a:cs typeface="Times New Roman"/>
              </a:rPr>
              <a:t>responsibility</a:t>
            </a:r>
          </a:p>
        </p:txBody>
      </p:sp>
      <p:sp>
        <p:nvSpPr>
          <p:cNvPr id="15" name="node-3-body">
            <a:extLst xmlns:a="http://schemas.openxmlformats.org/drawingml/2006/main">
              <a:ext uri="{FF2B5EF4-FFF2-40B4-BE49-F238E27FC236}">
                <a16:creationId xmlns:a16="http://schemas.microsoft.com/office/drawing/2014/main" id="{77E4C7E9-5AB7-4886-977F-11D961559752}"/>
              </a:ext>
            </a:extLst>
          </p:cNvPr>
          <p:cNvSpPr>
            <a:spLocks xmlns:a="http://schemas.openxmlformats.org/drawingml/2006/main" noGrp="1"/>
          </p:cNvSpPr>
          <p:nvPr/>
        </p:nvSpPr>
        <p:spPr>
          <a:xfrm xmlns:a="http://schemas.openxmlformats.org/drawingml/2006/main">
            <a:off x="6553200" y="3752850"/>
            <a:ext cx="1924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felt accountability</a:t>
            </a:r>
          </a:p>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ownership</a:t>
            </a:r>
          </a:p>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responsibility sharing</a:t>
            </a:r>
          </a:p>
        </p:txBody>
      </p:sp>
      <p:sp>
        <p:nvSpPr>
          <p:cNvPr id="16" name="arrow-3">
            <a:extLst xmlns:a="http://schemas.openxmlformats.org/drawingml/2006/main">
              <a:ext uri="{FF2B5EF4-FFF2-40B4-BE49-F238E27FC236}">
                <a16:creationId xmlns:a16="http://schemas.microsoft.com/office/drawing/2014/main" id="{5F9EC52B-AA83-4271-B8A7-DAD97E770E4B}"/>
              </a:ext>
            </a:extLst>
          </p:cNvPr>
          <p:cNvSpPr>
            <a:spLocks xmlns:a="http://schemas.openxmlformats.org/drawingml/2006/main" noGrp="1"/>
          </p:cNvSpPr>
          <p:nvPr/>
        </p:nvSpPr>
        <p:spPr>
          <a:xfrm xmlns:a="http://schemas.openxmlformats.org/drawingml/2006/main">
            <a:off x="8743950" y="36004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gn="ctr">
              <a:lnSpc>
                <a:spcPct val="108000"/>
              </a:lnSpc>
              <a:buNone/>
              <a:defRPr sz="2550" b="1">
                <a:solidFill>
                  <a:srgbClr val="D6A06F"/>
                </a:solidFill>
                <a:latin typeface="Times New Roman"/>
                <a:ea typeface="Times New Roman"/>
                <a:cs typeface="Times New Roman"/>
              </a:defRPr>
            </a:pPr>
            <a:r>
              <a:rPr sz="2550" b="1">
                <a:solidFill>
                  <a:srgbClr val="D6A06F"/>
                </a:solidFill>
                <a:latin typeface="Times New Roman"/>
                <a:ea typeface="Times New Roman"/>
                <a:cs typeface="Times New Roman"/>
              </a:rPr>
              <a:t>→</a:t>
            </a:r>
          </a:p>
        </p:txBody>
      </p:sp>
      <p:sp>
        <p:nvSpPr>
          <p:cNvPr id="17" name="node-4">
            <a:extLst xmlns:a="http://schemas.openxmlformats.org/drawingml/2006/main">
              <a:ext uri="{FF2B5EF4-FFF2-40B4-BE49-F238E27FC236}">
                <a16:creationId xmlns:a16="http://schemas.microsoft.com/office/drawing/2014/main" id="{00B233FE-6B1D-4475-A493-3A11FB960202}"/>
              </a:ext>
            </a:extLst>
          </p:cNvPr>
          <p:cNvSpPr>
            <a:spLocks xmlns:a="http://schemas.openxmlformats.org/drawingml/2006/main" noGrp="1"/>
          </p:cNvSpPr>
          <p:nvPr/>
        </p:nvSpPr>
        <p:spPr>
          <a:xfrm xmlns:a="http://schemas.openxmlformats.org/drawingml/2006/main">
            <a:off x="9115425" y="2895600"/>
            <a:ext cx="2305050" cy="1733550"/>
          </a:xfrm>
          <a:prstGeom xmlns:a="http://schemas.openxmlformats.org/drawingml/2006/main" prst="roundRect">
            <a:avLst>
              <a:gd name="adj" fmla="val 6593"/>
            </a:avLst>
          </a:prstGeom>
          <a:solidFill xmlns:a="http://schemas.openxmlformats.org/drawingml/2006/main">
            <a:srgbClr val="F3EBDD"/>
          </a:solidFill>
          <a:ln xmlns:a="http://schemas.openxmlformats.org/drawingml/2006/main" w="13335">
            <a:solidFill>
              <a:srgbClr val="D6A06F"/>
            </a:solidFill>
            <a:prstDash val="solid"/>
          </a:ln>
        </p:spPr>
      </p:sp>
      <p:sp>
        <p:nvSpPr>
          <p:cNvPr id="18" name="node-4-title">
            <a:extLst xmlns:a="http://schemas.openxmlformats.org/drawingml/2006/main">
              <a:ext uri="{FF2B5EF4-FFF2-40B4-BE49-F238E27FC236}">
                <a16:creationId xmlns:a16="http://schemas.microsoft.com/office/drawing/2014/main" id="{8B50E014-F397-4081-891E-D9B82C5E5369}"/>
              </a:ext>
            </a:extLst>
          </p:cNvPr>
          <p:cNvSpPr>
            <a:spLocks xmlns:a="http://schemas.openxmlformats.org/drawingml/2006/main" noGrp="1"/>
          </p:cNvSpPr>
          <p:nvPr/>
        </p:nvSpPr>
        <p:spPr>
          <a:xfrm xmlns:a="http://schemas.openxmlformats.org/drawingml/2006/main">
            <a:off x="9324975" y="3124200"/>
            <a:ext cx="1885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ctr">
              <a:lnSpc>
                <a:spcPct val="108000"/>
              </a:lnSpc>
              <a:buNone/>
              <a:defRPr sz="1575" b="1">
                <a:solidFill>
                  <a:srgbClr val="1F1A17"/>
                </a:solidFill>
                <a:latin typeface="Times New Roman"/>
                <a:ea typeface="Times New Roman"/>
                <a:cs typeface="Times New Roman"/>
              </a:defRPr>
            </a:pPr>
            <a:r>
              <a:rPr sz="1575" b="1">
                <a:solidFill>
                  <a:srgbClr val="1F1A17"/>
                </a:solidFill>
                <a:latin typeface="Times New Roman"/>
                <a:ea typeface="Times New Roman"/>
                <a:cs typeface="Times New Roman"/>
              </a:rPr>
              <a:t>Escalatory</a:t>
            </a:r>
          </a:p>
          <a:p xmlns:a="http://schemas.openxmlformats.org/drawingml/2006/main">
            <a:pPr algn="ctr">
              <a:lnSpc>
                <a:spcPct val="108000"/>
              </a:lnSpc>
              <a:buNone/>
              <a:defRPr sz="1575" b="1">
                <a:solidFill>
                  <a:srgbClr val="1F1A17"/>
                </a:solidFill>
                <a:latin typeface="Times New Roman"/>
                <a:ea typeface="Times New Roman"/>
                <a:cs typeface="Times New Roman"/>
              </a:defRPr>
            </a:pPr>
            <a:r>
              <a:rPr sz="1575" b="1">
                <a:solidFill>
                  <a:srgbClr val="1F1A17"/>
                </a:solidFill>
                <a:latin typeface="Times New Roman"/>
                <a:ea typeface="Times New Roman"/>
                <a:cs typeface="Times New Roman"/>
              </a:rPr>
              <a:t>choice</a:t>
            </a:r>
          </a:p>
        </p:txBody>
      </p:sp>
      <p:sp>
        <p:nvSpPr>
          <p:cNvPr id="19" name="node-4-body">
            <a:extLst xmlns:a="http://schemas.openxmlformats.org/drawingml/2006/main">
              <a:ext uri="{FF2B5EF4-FFF2-40B4-BE49-F238E27FC236}">
                <a16:creationId xmlns:a16="http://schemas.microsoft.com/office/drawing/2014/main" id="{003BCBF5-ED3D-4BFB-87E5-631B1A48B539}"/>
              </a:ext>
            </a:extLst>
          </p:cNvPr>
          <p:cNvSpPr>
            <a:spLocks xmlns:a="http://schemas.openxmlformats.org/drawingml/2006/main" noGrp="1"/>
          </p:cNvSpPr>
          <p:nvPr/>
        </p:nvSpPr>
        <p:spPr>
          <a:xfrm xmlns:a="http://schemas.openxmlformats.org/drawingml/2006/main">
            <a:off x="9305925" y="3752850"/>
            <a:ext cx="1924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Escalate</a:t>
            </a:r>
          </a:p>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vs.</a:t>
            </a:r>
          </a:p>
          <a:p xmlns:a="http://schemas.openxmlformats.org/drawingml/2006/main">
            <a:pPr algn="ctr">
              <a:lnSpc>
                <a:spcPct val="102000"/>
              </a:lnSpc>
              <a:buNone/>
              <a:defRPr sz="1245">
                <a:solidFill>
                  <a:srgbClr val="243747"/>
                </a:solidFill>
                <a:latin typeface="Times New Roman"/>
                <a:ea typeface="Times New Roman"/>
                <a:cs typeface="Times New Roman"/>
              </a:defRPr>
            </a:pPr>
            <a:r>
              <a:rPr sz="1245">
                <a:solidFill>
                  <a:srgbClr val="243747"/>
                </a:solidFill>
                <a:latin typeface="Times New Roman"/>
                <a:ea typeface="Times New Roman"/>
                <a:cs typeface="Times New Roman"/>
              </a:rPr>
              <a:t>Restrain</a:t>
            </a:r>
          </a:p>
        </p:txBody>
      </p:sp>
      <p:sp>
        <p:nvSpPr>
          <p:cNvPr id="20" name="mechanism-caption">
            <a:extLst xmlns:a="http://schemas.openxmlformats.org/drawingml/2006/main">
              <a:ext uri="{FF2B5EF4-FFF2-40B4-BE49-F238E27FC236}">
                <a16:creationId xmlns:a16="http://schemas.microsoft.com/office/drawing/2014/main" id="{24341249-71A5-42E1-B7BD-15AD0C690138}"/>
              </a:ext>
            </a:extLst>
          </p:cNvPr>
          <p:cNvSpPr>
            <a:spLocks xmlns:a="http://schemas.openxmlformats.org/drawingml/2006/main" noGrp="1"/>
          </p:cNvSpPr>
          <p:nvPr/>
        </p:nvSpPr>
        <p:spPr>
          <a:xfrm xmlns:a="http://schemas.openxmlformats.org/drawingml/2006/main">
            <a:off x="1238250" y="51054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gn="ctr">
              <a:lnSpc>
                <a:spcPct val="108000"/>
              </a:lnSpc>
              <a:buNone/>
              <a:defRPr sz="1650" i="1">
                <a:solidFill>
                  <a:srgbClr val="F3EBDD"/>
                </a:solidFill>
                <a:latin typeface="Times New Roman"/>
                <a:ea typeface="Times New Roman"/>
                <a:cs typeface="Times New Roman"/>
              </a:defRPr>
            </a:pPr>
            <a:r>
              <a:rPr sz="1650" i="1">
                <a:solidFill>
                  <a:srgbClr val="F3EBDD"/>
                </a:solidFill>
                <a:latin typeface="Times New Roman"/>
                <a:ea typeface="Times New Roman"/>
                <a:cs typeface="Times New Roman"/>
              </a:rPr>
              <a:t>The mechanism claim is not that AI directly causes escalation. The claim is that system design can first reorganize accountability, and that change may travel into action.</a:t>
            </a:r>
          </a:p>
        </p:txBody>
      </p:sp>
      <p:sp>
        <p:nvSpPr>
          <p:cNvPr id="21" name="bottom-rule">
            <a:extLst xmlns:a="http://schemas.openxmlformats.org/drawingml/2006/main">
              <a:ext uri="{FF2B5EF4-FFF2-40B4-BE49-F238E27FC236}">
                <a16:creationId xmlns:a16="http://schemas.microsoft.com/office/drawing/2014/main" id="{171F4EF6-CA18-4F13-95A8-2A0532DE2C30}"/>
              </a:ext>
            </a:extLst>
          </p:cNvPr>
          <p:cNvSpPr>
            <a:spLocks xmlns:a="http://schemas.openxmlformats.org/drawingml/2006/main" noGrp="1"/>
          </p:cNvSpPr>
          <p:nvPr/>
        </p:nvSpPr>
        <p:spPr>
          <a:xfrm xmlns:a="http://schemas.openxmlformats.org/drawingml/2006/main">
            <a:off x="857250" y="6172200"/>
            <a:ext cx="10477500" cy="11430"/>
          </a:xfrm>
          <a:prstGeom xmlns:a="http://schemas.openxmlformats.org/drawingml/2006/main" prst="rect">
            <a:avLst/>
          </a:prstGeom>
          <a:solidFill xmlns:a="http://schemas.openxmlformats.org/drawingml/2006/main">
            <a:srgbClr val="D6A06F"/>
          </a:solidFill>
          <a:ln xmlns:a="http://schemas.openxmlformats.org/drawingml/2006/main" w="0">
            <a:noFill/>
            <a:prstDash val="solid"/>
          </a:ln>
        </p:spPr>
      </p:sp>
      <p:sp>
        <p:nvSpPr>
          <p:cNvPr id="22" name="footer">
            <a:extLst xmlns:a="http://schemas.openxmlformats.org/drawingml/2006/main">
              <a:ext uri="{FF2B5EF4-FFF2-40B4-BE49-F238E27FC236}">
                <a16:creationId xmlns:a16="http://schemas.microsoft.com/office/drawing/2014/main" id="{9D1B6446-6026-4BB2-8F49-F38F7F426AE8}"/>
              </a:ext>
            </a:extLst>
          </p:cNvPr>
          <p:cNvSpPr>
            <a:spLocks xmlns:a="http://schemas.openxmlformats.org/drawingml/2006/main" noGrp="1"/>
          </p:cNvSpPr>
          <p:nvPr/>
        </p:nvSpPr>
        <p:spPr>
          <a:xfrm xmlns:a="http://schemas.openxmlformats.org/drawingml/2006/main">
            <a:off x="857250" y="64008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nSpc>
                <a:spcPct val="108000"/>
              </a:lnSpc>
              <a:buNone/>
              <a:defRPr sz="900" b="1">
                <a:solidFill>
                  <a:srgbClr val="9DAAB0"/>
                </a:solidFill>
                <a:latin typeface="Times New Roman"/>
                <a:ea typeface="Times New Roman"/>
                <a:cs typeface="Times New Roman"/>
              </a:defRPr>
            </a:pPr>
            <a:r>
              <a:rPr sz="900" b="1">
                <a:solidFill>
                  <a:srgbClr val="9DAAB0"/>
                </a:solidFill>
                <a:latin typeface="Times New Roman"/>
                <a:ea typeface="Times New Roman"/>
                <a:cs typeface="Times New Roman"/>
              </a:rPr>
              <a:t>PAPER 3</a:t>
            </a:r>
          </a:p>
        </p:txBody>
      </p:sp>
    </p:spTree>
    <p:extLst>
      <p:ext uri="{BB962C8B-B14F-4D97-AF65-F5344CB8AC3E}">
        <p14:creationId xmlns:p14="http://schemas.microsoft.com/office/powerpoint/2010/main" val="1564502529"/>
      </p:ext>
    </p:extLst>
  </p:cSld>
</p:sld>
</file>

<file path=ppt/slides/slide3.xml><?xml version="1.0" encoding="utf-8"?>
<p:sld xmlns:p="http://schemas.openxmlformats.org/presentationml/2006/main">
  <p:cSld>
    <p:bg>
      <p:bgPr>
        <a:solidFill xmlns:a="http://schemas.openxmlformats.org/drawingml/2006/main">
          <a:srgbClr val="FBF7EF"/>
        </a:solidFill>
      </p:bgPr>
    </p:bg>
    <p:spTree>
      <p:nvGrpSpPr>
        <p:cNvPr id="1" name=""/>
        <p:cNvGrpSpPr/>
        <p:nvPr/>
      </p:nvGrpSpPr>
      <p:grpSpPr>
        <a:xfrm xmlns:a="http://schemas.openxmlformats.org/drawingml/2006/main"/>
      </p:grpSpPr>
      <p:sp>
        <p:nvSpPr>
          <p:cNvPr id="1" name="eyebrow">
            <a:extLst xmlns:a="http://schemas.openxmlformats.org/drawingml/2006/main">
              <a:ext uri="{FF2B5EF4-FFF2-40B4-BE49-F238E27FC236}">
                <a16:creationId xmlns:a16="http://schemas.microsoft.com/office/drawing/2014/main" id="{2526DF77-21B3-4F2E-979A-8115179F606F}"/>
              </a:ext>
            </a:extLst>
          </p:cNvPr>
          <p:cNvSpPr>
            <a:spLocks xmlns:a="http://schemas.openxmlformats.org/drawingml/2006/main" noGrp="1"/>
          </p:cNvSpPr>
          <p:nvPr/>
        </p:nvSpPr>
        <p:spPr>
          <a:xfrm xmlns:a="http://schemas.openxmlformats.org/drawingml/2006/main">
            <a:off x="857250" y="704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nSpc>
                <a:spcPct val="108000"/>
              </a:lnSpc>
              <a:buNone/>
              <a:defRPr sz="1050" b="1">
                <a:solidFill>
                  <a:srgbClr val="BE7A46"/>
                </a:solidFill>
                <a:latin typeface="Times New Roman"/>
                <a:ea typeface="Times New Roman"/>
                <a:cs typeface="Times New Roman"/>
              </a:defRPr>
            </a:pPr>
            <a:r>
              <a:rPr sz="1050" b="1">
                <a:solidFill>
                  <a:srgbClr val="BE7A46"/>
                </a:solidFill>
                <a:latin typeface="Times New Roman"/>
                <a:ea typeface="Times New Roman"/>
                <a:cs typeface="Times New Roman"/>
              </a:rPr>
              <a:t>PAPER 3  ·  METHOD LOGIC</a:t>
            </a:r>
          </a:p>
        </p:txBody>
      </p:sp>
      <p:sp>
        <p:nvSpPr>
          <p:cNvPr id="2" name="title">
            <a:extLst xmlns:a="http://schemas.openxmlformats.org/drawingml/2006/main">
              <a:ext uri="{FF2B5EF4-FFF2-40B4-BE49-F238E27FC236}">
                <a16:creationId xmlns:a16="http://schemas.microsoft.com/office/drawing/2014/main" id="{AF1A334B-8B84-410A-9DA7-6AA2D68880E8}"/>
              </a:ext>
            </a:extLst>
          </p:cNvPr>
          <p:cNvSpPr>
            <a:spLocks xmlns:a="http://schemas.openxmlformats.org/drawingml/2006/main" noGrp="1"/>
          </p:cNvSpPr>
          <p:nvPr/>
        </p:nvSpPr>
        <p:spPr>
          <a:xfrm xmlns:a="http://schemas.openxmlformats.org/drawingml/2006/main">
            <a:off x="857250" y="1104900"/>
            <a:ext cx="847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nSpc>
                <a:spcPct val="108000"/>
              </a:lnSpc>
              <a:buNone/>
              <a:defRPr sz="3225" b="1">
                <a:solidFill>
                  <a:srgbClr val="1F1A17"/>
                </a:solidFill>
                <a:latin typeface="Times New Roman"/>
                <a:ea typeface="Times New Roman"/>
                <a:cs typeface="Times New Roman"/>
              </a:defRPr>
            </a:pPr>
            <a:r>
              <a:rPr sz="3225" b="1">
                <a:solidFill>
                  <a:srgbClr val="1F1A17"/>
                </a:solidFill>
                <a:latin typeface="Times New Roman"/>
                <a:ea typeface="Times New Roman"/>
                <a:cs typeface="Times New Roman"/>
              </a:rPr>
              <a:t>Method Map: What Each Contrast Identifies</a:t>
            </a:r>
          </a:p>
        </p:txBody>
      </p:sp>
      <p:sp>
        <p:nvSpPr>
          <p:cNvPr id="3" name="subtitle">
            <a:extLst xmlns:a="http://schemas.openxmlformats.org/drawingml/2006/main">
              <a:ext uri="{FF2B5EF4-FFF2-40B4-BE49-F238E27FC236}">
                <a16:creationId xmlns:a16="http://schemas.microsoft.com/office/drawing/2014/main" id="{A6882444-AB8F-4D10-932F-56F1E3EF79E3}"/>
              </a:ext>
            </a:extLst>
          </p:cNvPr>
          <p:cNvSpPr>
            <a:spLocks xmlns:a="http://schemas.openxmlformats.org/drawingml/2006/main" noGrp="1"/>
          </p:cNvSpPr>
          <p:nvPr/>
        </p:nvSpPr>
        <p:spPr>
          <a:xfrm xmlns:a="http://schemas.openxmlformats.org/drawingml/2006/main">
            <a:off x="857250" y="1762125"/>
            <a:ext cx="981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p xmlns:a="http://schemas.openxmlformats.org/drawingml/2006/main">
            <a:pPr>
              <a:lnSpc>
                <a:spcPct val="108000"/>
              </a:lnSpc>
              <a:buNone/>
              <a:defRPr sz="1650">
                <a:solidFill>
                  <a:srgbClr val="6F665E"/>
                </a:solidFill>
                <a:latin typeface="Times New Roman"/>
                <a:ea typeface="Times New Roman"/>
                <a:cs typeface="Times New Roman"/>
              </a:defRPr>
            </a:pPr>
            <a:r>
              <a:rPr sz="1650">
                <a:solidFill>
                  <a:srgbClr val="6F665E"/>
                </a:solidFill>
                <a:latin typeface="Times New Roman"/>
                <a:ea typeface="Times New Roman"/>
                <a:cs typeface="Times New Roman"/>
              </a:rPr>
              <a:t>Each comparison isolates a different component of AI responsibility design.</a:t>
            </a:r>
          </a:p>
        </p:txBody>
      </p:sp>
      <p:sp>
        <p:nvSpPr>
          <p:cNvPr id="4" name="top-rule">
            <a:extLst xmlns:a="http://schemas.openxmlformats.org/drawingml/2006/main">
              <a:ext uri="{FF2B5EF4-FFF2-40B4-BE49-F238E27FC236}">
                <a16:creationId xmlns:a16="http://schemas.microsoft.com/office/drawing/2014/main" id="{A21CD901-455B-4ADD-9453-881FCFDB6F85}"/>
              </a:ext>
            </a:extLst>
          </p:cNvPr>
          <p:cNvSpPr>
            <a:spLocks xmlns:a="http://schemas.openxmlformats.org/drawingml/2006/main" noGrp="1"/>
          </p:cNvSpPr>
          <p:nvPr/>
        </p:nvSpPr>
        <p:spPr>
          <a:xfrm xmlns:a="http://schemas.openxmlformats.org/drawingml/2006/main">
            <a:off x="857250" y="2343150"/>
            <a:ext cx="10477500" cy="11430"/>
          </a:xfrm>
          <a:prstGeom xmlns:a="http://schemas.openxmlformats.org/drawingml/2006/main" prst="rect">
            <a:avLst/>
          </a:prstGeom>
          <a:solidFill xmlns:a="http://schemas.openxmlformats.org/drawingml/2006/main">
            <a:srgbClr val="D7C7AE"/>
          </a:solidFill>
          <a:ln xmlns:a="http://schemas.openxmlformats.org/drawingml/2006/main" w="0">
            <a:noFill/>
            <a:prstDash val="solid"/>
          </a:ln>
        </p:spPr>
      </p:sp>
      <p:sp>
        <p:nvSpPr>
          <p:cNvPr id="5" name="s3-h-0-box">
            <a:extLst xmlns:a="http://schemas.openxmlformats.org/drawingml/2006/main">
              <a:ext uri="{FF2B5EF4-FFF2-40B4-BE49-F238E27FC236}">
                <a16:creationId xmlns:a16="http://schemas.microsoft.com/office/drawing/2014/main" id="{084808D2-9A83-4EC4-966F-BF0927E08448}"/>
              </a:ext>
            </a:extLst>
          </p:cNvPr>
          <p:cNvSpPr>
            <a:spLocks xmlns:a="http://schemas.openxmlformats.org/drawingml/2006/main" noGrp="1"/>
          </p:cNvSpPr>
          <p:nvPr/>
        </p:nvSpPr>
        <p:spPr>
          <a:xfrm xmlns:a="http://schemas.openxmlformats.org/drawingml/2006/main">
            <a:off x="952500" y="2800350"/>
            <a:ext cx="1190625" cy="476250"/>
          </a:xfrm>
          <a:prstGeom xmlns:a="http://schemas.openxmlformats.org/drawingml/2006/main" prst="rect">
            <a:avLst/>
          </a:prstGeom>
          <a:solidFill xmlns:a="http://schemas.openxmlformats.org/drawingml/2006/main">
            <a:srgbClr val="BE7A46"/>
          </a:solidFill>
          <a:ln xmlns:a="http://schemas.openxmlformats.org/drawingml/2006/main" w="9525">
            <a:solidFill>
              <a:srgbClr val="D7C7AE"/>
            </a:solidFill>
            <a:prstDash val="solid"/>
          </a:ln>
        </p:spPr>
      </p:sp>
      <p:sp>
        <p:nvSpPr>
          <p:cNvPr id="6" name="s3-h-0-text">
            <a:extLst xmlns:a="http://schemas.openxmlformats.org/drawingml/2006/main">
              <a:ext uri="{FF2B5EF4-FFF2-40B4-BE49-F238E27FC236}">
                <a16:creationId xmlns:a16="http://schemas.microsoft.com/office/drawing/2014/main" id="{ED223924-D75C-4B67-A300-0EE024D68333}"/>
              </a:ext>
            </a:extLst>
          </p:cNvPr>
          <p:cNvSpPr>
            <a:spLocks xmlns:a="http://schemas.openxmlformats.org/drawingml/2006/main" noGrp="1"/>
          </p:cNvSpPr>
          <p:nvPr/>
        </p:nvSpPr>
        <p:spPr>
          <a:xfrm xmlns:a="http://schemas.openxmlformats.org/drawingml/2006/main">
            <a:off x="1123950" y="2933700"/>
            <a:ext cx="8477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F3EBDD"/>
                </a:solidFill>
                <a:latin typeface="Times New Roman"/>
                <a:ea typeface="Times New Roman"/>
                <a:cs typeface="Times New Roman"/>
              </a:defRPr>
            </a:pPr>
            <a:r>
              <a:rPr sz="1575" b="1" i="0">
                <a:solidFill>
                  <a:srgbClr val="F3EBDD"/>
                </a:solidFill>
                <a:latin typeface="Times New Roman"/>
                <a:ea typeface="Times New Roman"/>
                <a:cs typeface="Times New Roman"/>
              </a:rPr>
              <a:t>RQ</a:t>
            </a:r>
          </a:p>
        </p:txBody>
      </p:sp>
      <p:sp>
        <p:nvSpPr>
          <p:cNvPr id="7" name="s3-h-1-box">
            <a:extLst xmlns:a="http://schemas.openxmlformats.org/drawingml/2006/main">
              <a:ext uri="{FF2B5EF4-FFF2-40B4-BE49-F238E27FC236}">
                <a16:creationId xmlns:a16="http://schemas.microsoft.com/office/drawing/2014/main" id="{FA22E368-A332-4EB4-854E-A31D1D5E435A}"/>
              </a:ext>
            </a:extLst>
          </p:cNvPr>
          <p:cNvSpPr>
            <a:spLocks xmlns:a="http://schemas.openxmlformats.org/drawingml/2006/main" noGrp="1"/>
          </p:cNvSpPr>
          <p:nvPr/>
        </p:nvSpPr>
        <p:spPr>
          <a:xfrm xmlns:a="http://schemas.openxmlformats.org/drawingml/2006/main">
            <a:off x="2143125" y="2800350"/>
            <a:ext cx="3905250" cy="476250"/>
          </a:xfrm>
          <a:prstGeom xmlns:a="http://schemas.openxmlformats.org/drawingml/2006/main" prst="rect">
            <a:avLst/>
          </a:prstGeom>
          <a:solidFill xmlns:a="http://schemas.openxmlformats.org/drawingml/2006/main">
            <a:srgbClr val="243747"/>
          </a:solidFill>
          <a:ln xmlns:a="http://schemas.openxmlformats.org/drawingml/2006/main" w="9525">
            <a:solidFill>
              <a:srgbClr val="D7C7AE"/>
            </a:solidFill>
            <a:prstDash val="solid"/>
          </a:ln>
        </p:spPr>
      </p:sp>
      <p:sp>
        <p:nvSpPr>
          <p:cNvPr id="8" name="s3-h-1-text">
            <a:extLst xmlns:a="http://schemas.openxmlformats.org/drawingml/2006/main">
              <a:ext uri="{FF2B5EF4-FFF2-40B4-BE49-F238E27FC236}">
                <a16:creationId xmlns:a16="http://schemas.microsoft.com/office/drawing/2014/main" id="{9756630D-F9F6-41AA-89FC-A8EAC1943D90}"/>
              </a:ext>
            </a:extLst>
          </p:cNvPr>
          <p:cNvSpPr>
            <a:spLocks xmlns:a="http://schemas.openxmlformats.org/drawingml/2006/main" noGrp="1"/>
          </p:cNvSpPr>
          <p:nvPr/>
        </p:nvSpPr>
        <p:spPr>
          <a:xfrm xmlns:a="http://schemas.openxmlformats.org/drawingml/2006/main">
            <a:off x="2314575" y="2933700"/>
            <a:ext cx="3562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F3EBDD"/>
                </a:solidFill>
                <a:latin typeface="Times New Roman"/>
                <a:ea typeface="Times New Roman"/>
                <a:cs typeface="Times New Roman"/>
              </a:defRPr>
            </a:pPr>
            <a:r>
              <a:rPr sz="1575" b="1" i="0">
                <a:solidFill>
                  <a:srgbClr val="F3EBDD"/>
                </a:solidFill>
                <a:latin typeface="Times New Roman"/>
                <a:ea typeface="Times New Roman"/>
                <a:cs typeface="Times New Roman"/>
              </a:rPr>
              <a:t>Comparison</a:t>
            </a:r>
          </a:p>
        </p:txBody>
      </p:sp>
      <p:sp>
        <p:nvSpPr>
          <p:cNvPr id="9" name="s3-h-2-box">
            <a:extLst xmlns:a="http://schemas.openxmlformats.org/drawingml/2006/main">
              <a:ext uri="{FF2B5EF4-FFF2-40B4-BE49-F238E27FC236}">
                <a16:creationId xmlns:a16="http://schemas.microsoft.com/office/drawing/2014/main" id="{ECE246D3-6635-44DE-8F75-235B93B2F806}"/>
              </a:ext>
            </a:extLst>
          </p:cNvPr>
          <p:cNvSpPr>
            <a:spLocks xmlns:a="http://schemas.openxmlformats.org/drawingml/2006/main" noGrp="1"/>
          </p:cNvSpPr>
          <p:nvPr/>
        </p:nvSpPr>
        <p:spPr>
          <a:xfrm xmlns:a="http://schemas.openxmlformats.org/drawingml/2006/main">
            <a:off x="6048375" y="2800350"/>
            <a:ext cx="5191125" cy="476250"/>
          </a:xfrm>
          <a:prstGeom xmlns:a="http://schemas.openxmlformats.org/drawingml/2006/main" prst="rect">
            <a:avLst/>
          </a:prstGeom>
          <a:solidFill xmlns:a="http://schemas.openxmlformats.org/drawingml/2006/main">
            <a:srgbClr val="243747"/>
          </a:solidFill>
          <a:ln xmlns:a="http://schemas.openxmlformats.org/drawingml/2006/main" w="9525">
            <a:solidFill>
              <a:srgbClr val="D7C7AE"/>
            </a:solidFill>
            <a:prstDash val="solid"/>
          </a:ln>
        </p:spPr>
      </p:sp>
      <p:sp>
        <p:nvSpPr>
          <p:cNvPr id="10" name="s3-h-2-text">
            <a:extLst xmlns:a="http://schemas.openxmlformats.org/drawingml/2006/main">
              <a:ext uri="{FF2B5EF4-FFF2-40B4-BE49-F238E27FC236}">
                <a16:creationId xmlns:a16="http://schemas.microsoft.com/office/drawing/2014/main" id="{CEB1A55D-3123-41E8-9144-23446E16D06C}"/>
              </a:ext>
            </a:extLst>
          </p:cNvPr>
          <p:cNvSpPr>
            <a:spLocks xmlns:a="http://schemas.openxmlformats.org/drawingml/2006/main" noGrp="1"/>
          </p:cNvSpPr>
          <p:nvPr/>
        </p:nvSpPr>
        <p:spPr>
          <a:xfrm xmlns:a="http://schemas.openxmlformats.org/drawingml/2006/main">
            <a:off x="6219825" y="2933700"/>
            <a:ext cx="48482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F3EBDD"/>
                </a:solidFill>
                <a:latin typeface="Times New Roman"/>
                <a:ea typeface="Times New Roman"/>
                <a:cs typeface="Times New Roman"/>
              </a:defRPr>
            </a:pPr>
            <a:r>
              <a:rPr sz="1575" b="1" i="0">
                <a:solidFill>
                  <a:srgbClr val="F3EBDD"/>
                </a:solidFill>
                <a:latin typeface="Times New Roman"/>
                <a:ea typeface="Times New Roman"/>
                <a:cs typeface="Times New Roman"/>
              </a:rPr>
              <a:t>Identifies</a:t>
            </a:r>
          </a:p>
        </p:txBody>
      </p:sp>
      <p:sp>
        <p:nvSpPr>
          <p:cNvPr id="11" name="s3-r0-c0-box">
            <a:extLst xmlns:a="http://schemas.openxmlformats.org/drawingml/2006/main">
              <a:ext uri="{FF2B5EF4-FFF2-40B4-BE49-F238E27FC236}">
                <a16:creationId xmlns:a16="http://schemas.microsoft.com/office/drawing/2014/main" id="{D314622F-3B87-4D93-B50B-6A471AB4312C}"/>
              </a:ext>
            </a:extLst>
          </p:cNvPr>
          <p:cNvSpPr>
            <a:spLocks xmlns:a="http://schemas.openxmlformats.org/drawingml/2006/main" noGrp="1"/>
          </p:cNvSpPr>
          <p:nvPr/>
        </p:nvSpPr>
        <p:spPr>
          <a:xfrm xmlns:a="http://schemas.openxmlformats.org/drawingml/2006/main">
            <a:off x="952500" y="3276600"/>
            <a:ext cx="1190625" cy="581025"/>
          </a:xfrm>
          <a:prstGeom xmlns:a="http://schemas.openxmlformats.org/drawingml/2006/main" prst="rect">
            <a:avLst/>
          </a:prstGeom>
          <a:solidFill xmlns:a="http://schemas.openxmlformats.org/drawingml/2006/main">
            <a:srgbClr val="EFE5D4"/>
          </a:solidFill>
          <a:ln xmlns:a="http://schemas.openxmlformats.org/drawingml/2006/main" w="9525">
            <a:solidFill>
              <a:srgbClr val="D7C7AE"/>
            </a:solidFill>
            <a:prstDash val="solid"/>
          </a:ln>
        </p:spPr>
      </p:sp>
      <p:sp>
        <p:nvSpPr>
          <p:cNvPr id="12" name="s3-r0-c0-text">
            <a:extLst xmlns:a="http://schemas.openxmlformats.org/drawingml/2006/main">
              <a:ext uri="{FF2B5EF4-FFF2-40B4-BE49-F238E27FC236}">
                <a16:creationId xmlns:a16="http://schemas.microsoft.com/office/drawing/2014/main" id="{FC979138-3B91-4922-B8E1-A2832E3EBC9A}"/>
              </a:ext>
            </a:extLst>
          </p:cNvPr>
          <p:cNvSpPr>
            <a:spLocks xmlns:a="http://schemas.openxmlformats.org/drawingml/2006/main" noGrp="1"/>
          </p:cNvSpPr>
          <p:nvPr/>
        </p:nvSpPr>
        <p:spPr>
          <a:xfrm xmlns:a="http://schemas.openxmlformats.org/drawingml/2006/main">
            <a:off x="1123950" y="3409950"/>
            <a:ext cx="8477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BE7A46"/>
                </a:solidFill>
                <a:latin typeface="Times New Roman"/>
                <a:ea typeface="Times New Roman"/>
                <a:cs typeface="Times New Roman"/>
              </a:defRPr>
            </a:pPr>
            <a:r>
              <a:rPr sz="1575" b="1" i="0">
                <a:solidFill>
                  <a:srgbClr val="BE7A46"/>
                </a:solidFill>
                <a:latin typeface="Times New Roman"/>
                <a:ea typeface="Times New Roman"/>
                <a:cs typeface="Times New Roman"/>
              </a:rPr>
              <a:t>RQ1</a:t>
            </a:r>
          </a:p>
        </p:txBody>
      </p:sp>
      <p:sp>
        <p:nvSpPr>
          <p:cNvPr id="13" name="s3-r0-c1-box">
            <a:extLst xmlns:a="http://schemas.openxmlformats.org/drawingml/2006/main">
              <a:ext uri="{FF2B5EF4-FFF2-40B4-BE49-F238E27FC236}">
                <a16:creationId xmlns:a16="http://schemas.microsoft.com/office/drawing/2014/main" id="{55104733-0AA1-469D-BC6B-992BB7A235B1}"/>
              </a:ext>
            </a:extLst>
          </p:cNvPr>
          <p:cNvSpPr>
            <a:spLocks xmlns:a="http://schemas.openxmlformats.org/drawingml/2006/main" noGrp="1"/>
          </p:cNvSpPr>
          <p:nvPr/>
        </p:nvSpPr>
        <p:spPr>
          <a:xfrm xmlns:a="http://schemas.openxmlformats.org/drawingml/2006/main">
            <a:off x="2143125" y="3276600"/>
            <a:ext cx="3905250" cy="581025"/>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14" name="s3-r0-c1-text">
            <a:extLst xmlns:a="http://schemas.openxmlformats.org/drawingml/2006/main">
              <a:ext uri="{FF2B5EF4-FFF2-40B4-BE49-F238E27FC236}">
                <a16:creationId xmlns:a16="http://schemas.microsoft.com/office/drawing/2014/main" id="{DD889A58-C401-4305-AFA6-15F403CBC4E5}"/>
              </a:ext>
            </a:extLst>
          </p:cNvPr>
          <p:cNvSpPr>
            <a:spLocks xmlns:a="http://schemas.openxmlformats.org/drawingml/2006/main" noGrp="1"/>
          </p:cNvSpPr>
          <p:nvPr/>
        </p:nvSpPr>
        <p:spPr>
          <a:xfrm xmlns:a="http://schemas.openxmlformats.org/drawingml/2006/main">
            <a:off x="2314575" y="3409950"/>
            <a:ext cx="3562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25" b="0" i="0">
                <a:solidFill>
                  <a:srgbClr val="1F1A17"/>
                </a:solidFill>
                <a:latin typeface="Times New Roman"/>
                <a:ea typeface="Times New Roman"/>
                <a:cs typeface="Times New Roman"/>
              </a:defRPr>
            </a:pPr>
            <a:r>
              <a:rPr sz="1425" b="0" i="0">
                <a:solidFill>
                  <a:srgbClr val="1F1A17"/>
                </a:solidFill>
                <a:latin typeface="Times New Roman"/>
                <a:ea typeface="Times New Roman"/>
                <a:cs typeface="Times New Roman"/>
              </a:rPr>
              <a:t>Human-only vs AI-baseline</a:t>
            </a:r>
          </a:p>
        </p:txBody>
      </p:sp>
      <p:sp>
        <p:nvSpPr>
          <p:cNvPr id="15" name="s3-r0-c2-box">
            <a:extLst xmlns:a="http://schemas.openxmlformats.org/drawingml/2006/main">
              <a:ext uri="{FF2B5EF4-FFF2-40B4-BE49-F238E27FC236}">
                <a16:creationId xmlns:a16="http://schemas.microsoft.com/office/drawing/2014/main" id="{96F3694B-5BB2-46E6-BA91-066554AC4B09}"/>
              </a:ext>
            </a:extLst>
          </p:cNvPr>
          <p:cNvSpPr>
            <a:spLocks xmlns:a="http://schemas.openxmlformats.org/drawingml/2006/main" noGrp="1"/>
          </p:cNvSpPr>
          <p:nvPr/>
        </p:nvSpPr>
        <p:spPr>
          <a:xfrm xmlns:a="http://schemas.openxmlformats.org/drawingml/2006/main">
            <a:off x="6048375" y="3276600"/>
            <a:ext cx="5191125" cy="581025"/>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16" name="s3-r0-c2-text">
            <a:extLst xmlns:a="http://schemas.openxmlformats.org/drawingml/2006/main">
              <a:ext uri="{FF2B5EF4-FFF2-40B4-BE49-F238E27FC236}">
                <a16:creationId xmlns:a16="http://schemas.microsoft.com/office/drawing/2014/main" id="{72EEA7DA-3420-47A6-B041-5BBC11A7C720}"/>
              </a:ext>
            </a:extLst>
          </p:cNvPr>
          <p:cNvSpPr>
            <a:spLocks xmlns:a="http://schemas.openxmlformats.org/drawingml/2006/main" noGrp="1"/>
          </p:cNvSpPr>
          <p:nvPr/>
        </p:nvSpPr>
        <p:spPr>
          <a:xfrm xmlns:a="http://schemas.openxmlformats.org/drawingml/2006/main">
            <a:off x="6219825" y="3409950"/>
            <a:ext cx="48482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25" b="1" i="0">
                <a:solidFill>
                  <a:srgbClr val="243747"/>
                </a:solidFill>
                <a:latin typeface="Times New Roman"/>
                <a:ea typeface="Times New Roman"/>
                <a:cs typeface="Times New Roman"/>
              </a:defRPr>
            </a:pPr>
            <a:r>
              <a:rPr sz="1425" b="1" i="0">
                <a:solidFill>
                  <a:srgbClr val="243747"/>
                </a:solidFill>
                <a:latin typeface="Times New Roman"/>
                <a:ea typeface="Times New Roman"/>
                <a:cs typeface="Times New Roman"/>
              </a:rPr>
              <a:t>AI-supported decision environment effect</a:t>
            </a:r>
          </a:p>
        </p:txBody>
      </p:sp>
      <p:sp>
        <p:nvSpPr>
          <p:cNvPr id="17" name="s3-r1-c0-box">
            <a:extLst xmlns:a="http://schemas.openxmlformats.org/drawingml/2006/main">
              <a:ext uri="{FF2B5EF4-FFF2-40B4-BE49-F238E27FC236}">
                <a16:creationId xmlns:a16="http://schemas.microsoft.com/office/drawing/2014/main" id="{42C12C75-3E21-4F75-AA01-9BC49A44C266}"/>
              </a:ext>
            </a:extLst>
          </p:cNvPr>
          <p:cNvSpPr>
            <a:spLocks xmlns:a="http://schemas.openxmlformats.org/drawingml/2006/main" noGrp="1"/>
          </p:cNvSpPr>
          <p:nvPr/>
        </p:nvSpPr>
        <p:spPr>
          <a:xfrm xmlns:a="http://schemas.openxmlformats.org/drawingml/2006/main">
            <a:off x="952500" y="3857625"/>
            <a:ext cx="1190625" cy="581025"/>
          </a:xfrm>
          <a:prstGeom xmlns:a="http://schemas.openxmlformats.org/drawingml/2006/main" prst="rect">
            <a:avLst/>
          </a:prstGeom>
          <a:solidFill xmlns:a="http://schemas.openxmlformats.org/drawingml/2006/main">
            <a:srgbClr val="EFE5D4"/>
          </a:solidFill>
          <a:ln xmlns:a="http://schemas.openxmlformats.org/drawingml/2006/main" w="9525">
            <a:solidFill>
              <a:srgbClr val="D7C7AE"/>
            </a:solidFill>
            <a:prstDash val="solid"/>
          </a:ln>
        </p:spPr>
      </p:sp>
      <p:sp>
        <p:nvSpPr>
          <p:cNvPr id="18" name="s3-r1-c0-text">
            <a:extLst xmlns:a="http://schemas.openxmlformats.org/drawingml/2006/main">
              <a:ext uri="{FF2B5EF4-FFF2-40B4-BE49-F238E27FC236}">
                <a16:creationId xmlns:a16="http://schemas.microsoft.com/office/drawing/2014/main" id="{213831A8-EB5D-47AF-97C5-C0E0BB35B636}"/>
              </a:ext>
            </a:extLst>
          </p:cNvPr>
          <p:cNvSpPr>
            <a:spLocks xmlns:a="http://schemas.openxmlformats.org/drawingml/2006/main" noGrp="1"/>
          </p:cNvSpPr>
          <p:nvPr/>
        </p:nvSpPr>
        <p:spPr>
          <a:xfrm xmlns:a="http://schemas.openxmlformats.org/drawingml/2006/main">
            <a:off x="1123950" y="3990975"/>
            <a:ext cx="8477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BE7A46"/>
                </a:solidFill>
                <a:latin typeface="Times New Roman"/>
                <a:ea typeface="Times New Roman"/>
                <a:cs typeface="Times New Roman"/>
              </a:defRPr>
            </a:pPr>
            <a:r>
              <a:rPr sz="1575" b="1" i="0">
                <a:solidFill>
                  <a:srgbClr val="BE7A46"/>
                </a:solidFill>
                <a:latin typeface="Times New Roman"/>
                <a:ea typeface="Times New Roman"/>
                <a:cs typeface="Times New Roman"/>
              </a:rPr>
              <a:t>RQ2</a:t>
            </a:r>
          </a:p>
        </p:txBody>
      </p:sp>
      <p:sp>
        <p:nvSpPr>
          <p:cNvPr id="19" name="s3-r1-c1-box">
            <a:extLst xmlns:a="http://schemas.openxmlformats.org/drawingml/2006/main">
              <a:ext uri="{FF2B5EF4-FFF2-40B4-BE49-F238E27FC236}">
                <a16:creationId xmlns:a16="http://schemas.microsoft.com/office/drawing/2014/main" id="{47CC1339-183A-49EF-86B8-C0D7F8817396}"/>
              </a:ext>
            </a:extLst>
          </p:cNvPr>
          <p:cNvSpPr>
            <a:spLocks xmlns:a="http://schemas.openxmlformats.org/drawingml/2006/main" noGrp="1"/>
          </p:cNvSpPr>
          <p:nvPr/>
        </p:nvSpPr>
        <p:spPr>
          <a:xfrm xmlns:a="http://schemas.openxmlformats.org/drawingml/2006/main">
            <a:off x="2143125" y="3857625"/>
            <a:ext cx="390525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7C7AE"/>
            </a:solidFill>
            <a:prstDash val="solid"/>
          </a:ln>
        </p:spPr>
      </p:sp>
      <p:sp>
        <p:nvSpPr>
          <p:cNvPr id="20" name="s3-r1-c1-text">
            <a:extLst xmlns:a="http://schemas.openxmlformats.org/drawingml/2006/main">
              <a:ext uri="{FF2B5EF4-FFF2-40B4-BE49-F238E27FC236}">
                <a16:creationId xmlns:a16="http://schemas.microsoft.com/office/drawing/2014/main" id="{AF2CABFE-0966-4E7F-868E-27BA45B522FE}"/>
              </a:ext>
            </a:extLst>
          </p:cNvPr>
          <p:cNvSpPr>
            <a:spLocks xmlns:a="http://schemas.openxmlformats.org/drawingml/2006/main" noGrp="1"/>
          </p:cNvSpPr>
          <p:nvPr/>
        </p:nvSpPr>
        <p:spPr>
          <a:xfrm xmlns:a="http://schemas.openxmlformats.org/drawingml/2006/main">
            <a:off x="2314575" y="3990975"/>
            <a:ext cx="3562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25" b="0" i="0">
                <a:solidFill>
                  <a:srgbClr val="1F1A17"/>
                </a:solidFill>
                <a:latin typeface="Times New Roman"/>
                <a:ea typeface="Times New Roman"/>
                <a:cs typeface="Times New Roman"/>
              </a:defRPr>
            </a:pPr>
            <a:r>
              <a:rPr sz="1425" b="0" i="0">
                <a:solidFill>
                  <a:srgbClr val="1F1A17"/>
                </a:solidFill>
                <a:latin typeface="Times New Roman"/>
                <a:ea typeface="Times New Roman"/>
                <a:cs typeface="Times New Roman"/>
              </a:rPr>
              <a:t>AI-baseline vs AI-confirm</a:t>
            </a:r>
          </a:p>
        </p:txBody>
      </p:sp>
      <p:sp>
        <p:nvSpPr>
          <p:cNvPr id="21" name="s3-r1-c2-box">
            <a:extLst xmlns:a="http://schemas.openxmlformats.org/drawingml/2006/main">
              <a:ext uri="{FF2B5EF4-FFF2-40B4-BE49-F238E27FC236}">
                <a16:creationId xmlns:a16="http://schemas.microsoft.com/office/drawing/2014/main" id="{53E66B8C-0A72-43B4-930A-DC1A6B5FBF0E}"/>
              </a:ext>
            </a:extLst>
          </p:cNvPr>
          <p:cNvSpPr>
            <a:spLocks xmlns:a="http://schemas.openxmlformats.org/drawingml/2006/main" noGrp="1"/>
          </p:cNvSpPr>
          <p:nvPr/>
        </p:nvSpPr>
        <p:spPr>
          <a:xfrm xmlns:a="http://schemas.openxmlformats.org/drawingml/2006/main">
            <a:off x="6048375" y="3857625"/>
            <a:ext cx="51911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7C7AE"/>
            </a:solidFill>
            <a:prstDash val="solid"/>
          </a:ln>
        </p:spPr>
      </p:sp>
      <p:sp>
        <p:nvSpPr>
          <p:cNvPr id="22" name="s3-r1-c2-text">
            <a:extLst xmlns:a="http://schemas.openxmlformats.org/drawingml/2006/main">
              <a:ext uri="{FF2B5EF4-FFF2-40B4-BE49-F238E27FC236}">
                <a16:creationId xmlns:a16="http://schemas.microsoft.com/office/drawing/2014/main" id="{A1F03529-EB71-44B6-8F29-9DD98895E616}"/>
              </a:ext>
            </a:extLst>
          </p:cNvPr>
          <p:cNvSpPr>
            <a:spLocks xmlns:a="http://schemas.openxmlformats.org/drawingml/2006/main" noGrp="1"/>
          </p:cNvSpPr>
          <p:nvPr/>
        </p:nvSpPr>
        <p:spPr>
          <a:xfrm xmlns:a="http://schemas.openxmlformats.org/drawingml/2006/main">
            <a:off x="6219825" y="3990975"/>
            <a:ext cx="48482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25" b="1" i="0">
                <a:solidFill>
                  <a:srgbClr val="243747"/>
                </a:solidFill>
                <a:latin typeface="Times New Roman"/>
                <a:ea typeface="Times New Roman"/>
                <a:cs typeface="Times New Roman"/>
              </a:defRPr>
            </a:pPr>
            <a:r>
              <a:rPr sz="1425" b="1" i="0">
                <a:solidFill>
                  <a:srgbClr val="243747"/>
                </a:solidFill>
                <a:latin typeface="Times New Roman"/>
                <a:ea typeface="Times New Roman"/>
                <a:cs typeface="Times New Roman"/>
              </a:rPr>
              <a:t>Human passage and decisional ownership</a:t>
            </a:r>
          </a:p>
        </p:txBody>
      </p:sp>
      <p:sp>
        <p:nvSpPr>
          <p:cNvPr id="23" name="s3-r2-c0-box">
            <a:extLst xmlns:a="http://schemas.openxmlformats.org/drawingml/2006/main">
              <a:ext uri="{FF2B5EF4-FFF2-40B4-BE49-F238E27FC236}">
                <a16:creationId xmlns:a16="http://schemas.microsoft.com/office/drawing/2014/main" id="{2EA339E9-869D-476B-8E33-6134DAFB8D87}"/>
              </a:ext>
            </a:extLst>
          </p:cNvPr>
          <p:cNvSpPr>
            <a:spLocks xmlns:a="http://schemas.openxmlformats.org/drawingml/2006/main" noGrp="1"/>
          </p:cNvSpPr>
          <p:nvPr/>
        </p:nvSpPr>
        <p:spPr>
          <a:xfrm xmlns:a="http://schemas.openxmlformats.org/drawingml/2006/main">
            <a:off x="952500" y="4438650"/>
            <a:ext cx="1190625" cy="581025"/>
          </a:xfrm>
          <a:prstGeom xmlns:a="http://schemas.openxmlformats.org/drawingml/2006/main" prst="rect">
            <a:avLst/>
          </a:prstGeom>
          <a:solidFill xmlns:a="http://schemas.openxmlformats.org/drawingml/2006/main">
            <a:srgbClr val="EFE5D4"/>
          </a:solidFill>
          <a:ln xmlns:a="http://schemas.openxmlformats.org/drawingml/2006/main" w="9525">
            <a:solidFill>
              <a:srgbClr val="D7C7AE"/>
            </a:solidFill>
            <a:prstDash val="solid"/>
          </a:ln>
        </p:spPr>
      </p:sp>
      <p:sp>
        <p:nvSpPr>
          <p:cNvPr id="24" name="s3-r2-c0-text">
            <a:extLst xmlns:a="http://schemas.openxmlformats.org/drawingml/2006/main">
              <a:ext uri="{FF2B5EF4-FFF2-40B4-BE49-F238E27FC236}">
                <a16:creationId xmlns:a16="http://schemas.microsoft.com/office/drawing/2014/main" id="{BB63A076-7A43-413D-8F3E-D624E7F46EE1}"/>
              </a:ext>
            </a:extLst>
          </p:cNvPr>
          <p:cNvSpPr>
            <a:spLocks xmlns:a="http://schemas.openxmlformats.org/drawingml/2006/main" noGrp="1"/>
          </p:cNvSpPr>
          <p:nvPr/>
        </p:nvSpPr>
        <p:spPr>
          <a:xfrm xmlns:a="http://schemas.openxmlformats.org/drawingml/2006/main">
            <a:off x="1123950" y="4572000"/>
            <a:ext cx="8477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BE7A46"/>
                </a:solidFill>
                <a:latin typeface="Times New Roman"/>
                <a:ea typeface="Times New Roman"/>
                <a:cs typeface="Times New Roman"/>
              </a:defRPr>
            </a:pPr>
            <a:r>
              <a:rPr sz="1575" b="1" i="0">
                <a:solidFill>
                  <a:srgbClr val="BE7A46"/>
                </a:solidFill>
                <a:latin typeface="Times New Roman"/>
                <a:ea typeface="Times New Roman"/>
                <a:cs typeface="Times New Roman"/>
              </a:rPr>
              <a:t>RQ3</a:t>
            </a:r>
          </a:p>
        </p:txBody>
      </p:sp>
      <p:sp>
        <p:nvSpPr>
          <p:cNvPr id="25" name="s3-r2-c1-box">
            <a:extLst xmlns:a="http://schemas.openxmlformats.org/drawingml/2006/main">
              <a:ext uri="{FF2B5EF4-FFF2-40B4-BE49-F238E27FC236}">
                <a16:creationId xmlns:a16="http://schemas.microsoft.com/office/drawing/2014/main" id="{F2C93B6D-C66E-4BEA-A06B-705F400973B0}"/>
              </a:ext>
            </a:extLst>
          </p:cNvPr>
          <p:cNvSpPr>
            <a:spLocks xmlns:a="http://schemas.openxmlformats.org/drawingml/2006/main" noGrp="1"/>
          </p:cNvSpPr>
          <p:nvPr/>
        </p:nvSpPr>
        <p:spPr>
          <a:xfrm xmlns:a="http://schemas.openxmlformats.org/drawingml/2006/main">
            <a:off x="2143125" y="4438650"/>
            <a:ext cx="3905250" cy="581025"/>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26" name="s3-r2-c1-text">
            <a:extLst xmlns:a="http://schemas.openxmlformats.org/drawingml/2006/main">
              <a:ext uri="{FF2B5EF4-FFF2-40B4-BE49-F238E27FC236}">
                <a16:creationId xmlns:a16="http://schemas.microsoft.com/office/drawing/2014/main" id="{36D43CF2-4E4F-41B9-AE6A-CD386928B870}"/>
              </a:ext>
            </a:extLst>
          </p:cNvPr>
          <p:cNvSpPr>
            <a:spLocks xmlns:a="http://schemas.openxmlformats.org/drawingml/2006/main" noGrp="1"/>
          </p:cNvSpPr>
          <p:nvPr/>
        </p:nvSpPr>
        <p:spPr>
          <a:xfrm xmlns:a="http://schemas.openxmlformats.org/drawingml/2006/main">
            <a:off x="2314575" y="4572000"/>
            <a:ext cx="3562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25" b="0" i="0">
                <a:solidFill>
                  <a:srgbClr val="1F1A17"/>
                </a:solidFill>
                <a:latin typeface="Times New Roman"/>
                <a:ea typeface="Times New Roman"/>
                <a:cs typeface="Times New Roman"/>
              </a:defRPr>
            </a:pPr>
            <a:r>
              <a:rPr sz="1425" b="0" i="0">
                <a:solidFill>
                  <a:srgbClr val="1F1A17"/>
                </a:solidFill>
                <a:latin typeface="Times New Roman"/>
                <a:ea typeface="Times New Roman"/>
                <a:cs typeface="Times New Roman"/>
              </a:rPr>
              <a:t>AI-baseline vs AI-disclosure</a:t>
            </a:r>
          </a:p>
        </p:txBody>
      </p:sp>
      <p:sp>
        <p:nvSpPr>
          <p:cNvPr id="27" name="s3-r2-c2-box">
            <a:extLst xmlns:a="http://schemas.openxmlformats.org/drawingml/2006/main">
              <a:ext uri="{FF2B5EF4-FFF2-40B4-BE49-F238E27FC236}">
                <a16:creationId xmlns:a16="http://schemas.microsoft.com/office/drawing/2014/main" id="{8EFD9C18-9C7F-4A35-9DE9-2E0F76FDB213}"/>
              </a:ext>
            </a:extLst>
          </p:cNvPr>
          <p:cNvSpPr>
            <a:spLocks xmlns:a="http://schemas.openxmlformats.org/drawingml/2006/main" noGrp="1"/>
          </p:cNvSpPr>
          <p:nvPr/>
        </p:nvSpPr>
        <p:spPr>
          <a:xfrm xmlns:a="http://schemas.openxmlformats.org/drawingml/2006/main">
            <a:off x="6048375" y="4438650"/>
            <a:ext cx="5191125" cy="581025"/>
          </a:xfrm>
          <a:prstGeom xmlns:a="http://schemas.openxmlformats.org/drawingml/2006/main" prst="rect">
            <a:avLst/>
          </a:prstGeom>
          <a:solidFill xmlns:a="http://schemas.openxmlformats.org/drawingml/2006/main">
            <a:srgbClr val="FBF7EF"/>
          </a:solidFill>
          <a:ln xmlns:a="http://schemas.openxmlformats.org/drawingml/2006/main" w="9525">
            <a:solidFill>
              <a:srgbClr val="D7C7AE"/>
            </a:solidFill>
            <a:prstDash val="solid"/>
          </a:ln>
        </p:spPr>
      </p:sp>
      <p:sp>
        <p:nvSpPr>
          <p:cNvPr id="28" name="s3-r2-c2-text">
            <a:extLst xmlns:a="http://schemas.openxmlformats.org/drawingml/2006/main">
              <a:ext uri="{FF2B5EF4-FFF2-40B4-BE49-F238E27FC236}">
                <a16:creationId xmlns:a16="http://schemas.microsoft.com/office/drawing/2014/main" id="{E9A70CC3-87C9-4D49-A59E-74F650CFAB38}"/>
              </a:ext>
            </a:extLst>
          </p:cNvPr>
          <p:cNvSpPr>
            <a:spLocks xmlns:a="http://schemas.openxmlformats.org/drawingml/2006/main" noGrp="1"/>
          </p:cNvSpPr>
          <p:nvPr/>
        </p:nvSpPr>
        <p:spPr>
          <a:xfrm xmlns:a="http://schemas.openxmlformats.org/drawingml/2006/main">
            <a:off x="6219825" y="4572000"/>
            <a:ext cx="48482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25" b="1" i="0">
                <a:solidFill>
                  <a:srgbClr val="243747"/>
                </a:solidFill>
                <a:latin typeface="Times New Roman"/>
                <a:ea typeface="Times New Roman"/>
                <a:cs typeface="Times New Roman"/>
              </a:defRPr>
            </a:pPr>
            <a:r>
              <a:rPr sz="1425" b="1" i="0">
                <a:solidFill>
                  <a:srgbClr val="243747"/>
                </a:solidFill>
                <a:latin typeface="Times New Roman"/>
                <a:ea typeface="Times New Roman"/>
                <a:cs typeface="Times New Roman"/>
              </a:rPr>
              <a:t>Visibility and responsibility sharing</a:t>
            </a:r>
          </a:p>
        </p:txBody>
      </p:sp>
      <p:sp>
        <p:nvSpPr>
          <p:cNvPr id="29" name="s3-r3-c0-box">
            <a:extLst xmlns:a="http://schemas.openxmlformats.org/drawingml/2006/main">
              <a:ext uri="{FF2B5EF4-FFF2-40B4-BE49-F238E27FC236}">
                <a16:creationId xmlns:a16="http://schemas.microsoft.com/office/drawing/2014/main" id="{666312A3-EFEB-4CD3-8FA0-86465A2CAD6C}"/>
              </a:ext>
            </a:extLst>
          </p:cNvPr>
          <p:cNvSpPr>
            <a:spLocks xmlns:a="http://schemas.openxmlformats.org/drawingml/2006/main" noGrp="1"/>
          </p:cNvSpPr>
          <p:nvPr/>
        </p:nvSpPr>
        <p:spPr>
          <a:xfrm xmlns:a="http://schemas.openxmlformats.org/drawingml/2006/main">
            <a:off x="952500" y="5019675"/>
            <a:ext cx="1190625" cy="581025"/>
          </a:xfrm>
          <a:prstGeom xmlns:a="http://schemas.openxmlformats.org/drawingml/2006/main" prst="rect">
            <a:avLst/>
          </a:prstGeom>
          <a:solidFill xmlns:a="http://schemas.openxmlformats.org/drawingml/2006/main">
            <a:srgbClr val="EFE5D4"/>
          </a:solidFill>
          <a:ln xmlns:a="http://schemas.openxmlformats.org/drawingml/2006/main" w="9525">
            <a:solidFill>
              <a:srgbClr val="D7C7AE"/>
            </a:solidFill>
            <a:prstDash val="solid"/>
          </a:ln>
        </p:spPr>
      </p:sp>
      <p:sp>
        <p:nvSpPr>
          <p:cNvPr id="30" name="s3-r3-c0-text">
            <a:extLst xmlns:a="http://schemas.openxmlformats.org/drawingml/2006/main">
              <a:ext uri="{FF2B5EF4-FFF2-40B4-BE49-F238E27FC236}">
                <a16:creationId xmlns:a16="http://schemas.microsoft.com/office/drawing/2014/main" id="{E71072F9-20D5-4E6C-B47C-BCAB15814832}"/>
              </a:ext>
            </a:extLst>
          </p:cNvPr>
          <p:cNvSpPr>
            <a:spLocks xmlns:a="http://schemas.openxmlformats.org/drawingml/2006/main" noGrp="1"/>
          </p:cNvSpPr>
          <p:nvPr/>
        </p:nvSpPr>
        <p:spPr>
          <a:xfrm xmlns:a="http://schemas.openxmlformats.org/drawingml/2006/main">
            <a:off x="1123950" y="5153025"/>
            <a:ext cx="8477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lnSpc>
                <a:spcPct val="108000"/>
              </a:lnSpc>
              <a:buNone/>
              <a:defRPr sz="1575" b="1" i="0">
                <a:solidFill>
                  <a:srgbClr val="BE7A46"/>
                </a:solidFill>
                <a:latin typeface="Times New Roman"/>
                <a:ea typeface="Times New Roman"/>
                <a:cs typeface="Times New Roman"/>
              </a:defRPr>
            </a:pPr>
            <a:r>
              <a:rPr sz="1575" b="1" i="0">
                <a:solidFill>
                  <a:srgbClr val="BE7A46"/>
                </a:solidFill>
                <a:latin typeface="Times New Roman"/>
                <a:ea typeface="Times New Roman"/>
                <a:cs typeface="Times New Roman"/>
              </a:rPr>
              <a:t>RQ4</a:t>
            </a:r>
          </a:p>
        </p:txBody>
      </p:sp>
      <p:sp>
        <p:nvSpPr>
          <p:cNvPr id="31" name="s3-r3-c1-box">
            <a:extLst xmlns:a="http://schemas.openxmlformats.org/drawingml/2006/main">
              <a:ext uri="{FF2B5EF4-FFF2-40B4-BE49-F238E27FC236}">
                <a16:creationId xmlns:a16="http://schemas.microsoft.com/office/drawing/2014/main" id="{DAA186FE-FA80-4E12-AE54-D5F061C712EC}"/>
              </a:ext>
            </a:extLst>
          </p:cNvPr>
          <p:cNvSpPr>
            <a:spLocks xmlns:a="http://schemas.openxmlformats.org/drawingml/2006/main" noGrp="1"/>
          </p:cNvSpPr>
          <p:nvPr/>
        </p:nvSpPr>
        <p:spPr>
          <a:xfrm xmlns:a="http://schemas.openxmlformats.org/drawingml/2006/main">
            <a:off x="2143125" y="5019675"/>
            <a:ext cx="390525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7C7AE"/>
            </a:solidFill>
            <a:prstDash val="solid"/>
          </a:ln>
        </p:spPr>
      </p:sp>
      <p:sp>
        <p:nvSpPr>
          <p:cNvPr id="32" name="s3-r3-c1-text">
            <a:extLst xmlns:a="http://schemas.openxmlformats.org/drawingml/2006/main">
              <a:ext uri="{FF2B5EF4-FFF2-40B4-BE49-F238E27FC236}">
                <a16:creationId xmlns:a16="http://schemas.microsoft.com/office/drawing/2014/main" id="{C542FB7D-8EFE-4A97-A32D-7BA775C770C9}"/>
              </a:ext>
            </a:extLst>
          </p:cNvPr>
          <p:cNvSpPr>
            <a:spLocks xmlns:a="http://schemas.openxmlformats.org/drawingml/2006/main" noGrp="1"/>
          </p:cNvSpPr>
          <p:nvPr/>
        </p:nvSpPr>
        <p:spPr>
          <a:xfrm xmlns:a="http://schemas.openxmlformats.org/drawingml/2006/main">
            <a:off x="2314575" y="5153025"/>
            <a:ext cx="35623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25" b="0" i="0">
                <a:solidFill>
                  <a:srgbClr val="1F1A17"/>
                </a:solidFill>
                <a:latin typeface="Times New Roman"/>
                <a:ea typeface="Times New Roman"/>
                <a:cs typeface="Times New Roman"/>
              </a:defRPr>
            </a:pPr>
            <a:r>
              <a:rPr sz="1425" b="0" i="0">
                <a:solidFill>
                  <a:srgbClr val="1F1A17"/>
                </a:solidFill>
                <a:latin typeface="Times New Roman"/>
                <a:ea typeface="Times New Roman"/>
                <a:cs typeface="Times New Roman"/>
              </a:rPr>
              <a:t>Confirm vs disclosure + mechanisms</a:t>
            </a:r>
          </a:p>
        </p:txBody>
      </p:sp>
      <p:sp>
        <p:nvSpPr>
          <p:cNvPr id="33" name="s3-r3-c2-box">
            <a:extLst xmlns:a="http://schemas.openxmlformats.org/drawingml/2006/main">
              <a:ext uri="{FF2B5EF4-FFF2-40B4-BE49-F238E27FC236}">
                <a16:creationId xmlns:a16="http://schemas.microsoft.com/office/drawing/2014/main" id="{113BECAF-3D09-4334-BCC4-4C54E6E3E4DE}"/>
              </a:ext>
            </a:extLst>
          </p:cNvPr>
          <p:cNvSpPr>
            <a:spLocks xmlns:a="http://schemas.openxmlformats.org/drawingml/2006/main" noGrp="1"/>
          </p:cNvSpPr>
          <p:nvPr/>
        </p:nvSpPr>
        <p:spPr>
          <a:xfrm xmlns:a="http://schemas.openxmlformats.org/drawingml/2006/main">
            <a:off x="6048375" y="5019675"/>
            <a:ext cx="51911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7C7AE"/>
            </a:solidFill>
            <a:prstDash val="solid"/>
          </a:ln>
        </p:spPr>
      </p:sp>
      <p:sp>
        <p:nvSpPr>
          <p:cNvPr id="34" name="s3-r3-c2-text">
            <a:extLst xmlns:a="http://schemas.openxmlformats.org/drawingml/2006/main">
              <a:ext uri="{FF2B5EF4-FFF2-40B4-BE49-F238E27FC236}">
                <a16:creationId xmlns:a16="http://schemas.microsoft.com/office/drawing/2014/main" id="{41E7F15A-0169-428E-B907-FB1988C9C76E}"/>
              </a:ext>
            </a:extLst>
          </p:cNvPr>
          <p:cNvSpPr>
            <a:spLocks xmlns:a="http://schemas.openxmlformats.org/drawingml/2006/main" noGrp="1"/>
          </p:cNvSpPr>
          <p:nvPr/>
        </p:nvSpPr>
        <p:spPr>
          <a:xfrm xmlns:a="http://schemas.openxmlformats.org/drawingml/2006/main">
            <a:off x="6219825" y="5153025"/>
            <a:ext cx="48482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l">
              <a:lnSpc>
                <a:spcPct val="108000"/>
              </a:lnSpc>
              <a:buNone/>
              <a:defRPr sz="1425" b="1" i="0">
                <a:solidFill>
                  <a:srgbClr val="243747"/>
                </a:solidFill>
                <a:latin typeface="Times New Roman"/>
                <a:ea typeface="Times New Roman"/>
                <a:cs typeface="Times New Roman"/>
              </a:defRPr>
            </a:pPr>
            <a:r>
              <a:rPr sz="1425" b="1" i="0">
                <a:solidFill>
                  <a:srgbClr val="243747"/>
                </a:solidFill>
                <a:latin typeface="Times New Roman"/>
                <a:ea typeface="Times New Roman"/>
                <a:cs typeface="Times New Roman"/>
              </a:rPr>
              <a:t>Whether responsibility perceptions explain escalation</a:t>
            </a:r>
          </a:p>
        </p:txBody>
      </p:sp>
      <p:sp>
        <p:nvSpPr>
          <p:cNvPr id="35" name="bottom-note">
            <a:extLst xmlns:a="http://schemas.openxmlformats.org/drawingml/2006/main">
              <a:ext uri="{FF2B5EF4-FFF2-40B4-BE49-F238E27FC236}">
                <a16:creationId xmlns:a16="http://schemas.microsoft.com/office/drawing/2014/main" id="{D3B11375-8977-4A08-855F-5F8EF554696A}"/>
              </a:ext>
            </a:extLst>
          </p:cNvPr>
          <p:cNvSpPr>
            <a:spLocks xmlns:a="http://schemas.openxmlformats.org/drawingml/2006/main" noGrp="1"/>
          </p:cNvSpPr>
          <p:nvPr/>
        </p:nvSpPr>
        <p:spPr>
          <a:xfrm xmlns:a="http://schemas.openxmlformats.org/drawingml/2006/main">
            <a:off x="1123950" y="58293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gn="ctr">
              <a:lnSpc>
                <a:spcPct val="108000"/>
              </a:lnSpc>
              <a:buNone/>
              <a:defRPr sz="1500" i="1">
                <a:solidFill>
                  <a:srgbClr val="BE7A46"/>
                </a:solidFill>
                <a:latin typeface="Times New Roman"/>
                <a:ea typeface="Times New Roman"/>
                <a:cs typeface="Times New Roman"/>
              </a:defRPr>
            </a:pPr>
            <a:r>
              <a:rPr sz="1500" i="1">
                <a:solidFill>
                  <a:srgbClr val="BE7A46"/>
                </a:solidFill>
                <a:latin typeface="Times New Roman"/>
                <a:ea typeface="Times New Roman"/>
                <a:cs typeface="Times New Roman"/>
              </a:rPr>
              <a:t>This keeps the method claim narrow: accountability design effects, not every possible AI role.</a:t>
            </a:r>
          </a:p>
        </p:txBody>
      </p:sp>
      <p:sp>
        <p:nvSpPr>
          <p:cNvPr id="36" name="bottom-rule">
            <a:extLst xmlns:a="http://schemas.openxmlformats.org/drawingml/2006/main">
              <a:ext uri="{FF2B5EF4-FFF2-40B4-BE49-F238E27FC236}">
                <a16:creationId xmlns:a16="http://schemas.microsoft.com/office/drawing/2014/main" id="{D645B75C-5738-4728-9C55-CC36CA638218}"/>
              </a:ext>
            </a:extLst>
          </p:cNvPr>
          <p:cNvSpPr>
            <a:spLocks xmlns:a="http://schemas.openxmlformats.org/drawingml/2006/main" noGrp="1"/>
          </p:cNvSpPr>
          <p:nvPr/>
        </p:nvSpPr>
        <p:spPr>
          <a:xfrm xmlns:a="http://schemas.openxmlformats.org/drawingml/2006/main">
            <a:off x="857250" y="6172200"/>
            <a:ext cx="10477500" cy="11430"/>
          </a:xfrm>
          <a:prstGeom xmlns:a="http://schemas.openxmlformats.org/drawingml/2006/main" prst="rect">
            <a:avLst/>
          </a:prstGeom>
          <a:solidFill xmlns:a="http://schemas.openxmlformats.org/drawingml/2006/main">
            <a:srgbClr val="D7C7AE"/>
          </a:solidFill>
          <a:ln xmlns:a="http://schemas.openxmlformats.org/drawingml/2006/main" w="0">
            <a:noFill/>
            <a:prstDash val="solid"/>
          </a:ln>
        </p:spPr>
      </p:sp>
      <p:sp>
        <p:nvSpPr>
          <p:cNvPr id="37" name="footer">
            <a:extLst xmlns:a="http://schemas.openxmlformats.org/drawingml/2006/main">
              <a:ext uri="{FF2B5EF4-FFF2-40B4-BE49-F238E27FC236}">
                <a16:creationId xmlns:a16="http://schemas.microsoft.com/office/drawing/2014/main" id="{C73D6B41-C27E-4149-BB27-9A9B302E67EE}"/>
              </a:ext>
            </a:extLst>
          </p:cNvPr>
          <p:cNvSpPr>
            <a:spLocks xmlns:a="http://schemas.openxmlformats.org/drawingml/2006/main" noGrp="1"/>
          </p:cNvSpPr>
          <p:nvPr/>
        </p:nvSpPr>
        <p:spPr>
          <a:xfrm xmlns:a="http://schemas.openxmlformats.org/drawingml/2006/main">
            <a:off x="857250" y="64008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lstStyle xmlns:a="http://schemas.openxmlformats.org/drawingml/2006/main"/>
          <a:p xmlns:a="http://schemas.openxmlformats.org/drawingml/2006/main">
            <a:pPr>
              <a:lnSpc>
                <a:spcPct val="108000"/>
              </a:lnSpc>
              <a:buNone/>
              <a:defRPr sz="900" b="1">
                <a:solidFill>
                  <a:srgbClr val="5F6A72"/>
                </a:solidFill>
                <a:latin typeface="Times New Roman"/>
                <a:ea typeface="Times New Roman"/>
                <a:cs typeface="Times New Roman"/>
              </a:defRPr>
            </a:pPr>
            <a:r>
              <a:rPr sz="900" b="1">
                <a:solidFill>
                  <a:srgbClr val="5F6A72"/>
                </a:solidFill>
                <a:latin typeface="Times New Roman"/>
                <a:ea typeface="Times New Roman"/>
                <a:cs typeface="Times New Roman"/>
              </a:rPr>
              <a:t>PAPER 3</a:t>
            </a:r>
          </a:p>
        </p:txBody>
      </p:sp>
    </p:spTree>
    <p:extLst>
      <p:ext uri="{BB962C8B-B14F-4D97-AF65-F5344CB8AC3E}">
        <p14:creationId xmlns:p14="http://schemas.microsoft.com/office/powerpoint/2010/main" val="17430445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2026-07-06T15:15:05.2380000Z</dcterms:created>
  <dcterms:modified xsi:type="dcterms:W3CDTF">2026-07-06T15:15:05.2380000Z</dcterms:modified>
</coreProperties>
</file>