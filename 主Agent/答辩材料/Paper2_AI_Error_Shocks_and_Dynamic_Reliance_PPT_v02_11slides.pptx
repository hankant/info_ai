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69" r:id="rId6"/>
    <p:sldId id="260" r:id="rId7"/>
    <p:sldId id="261" r:id="rId8"/>
    <p:sldId id="270" r:id="rId9"/>
    <p:sldId id="263" r:id="rId10"/>
    <p:sldId id="268" r:id="rId11"/>
    <p:sldId id="265" r:id="rId12"/>
    <p:sldId id="264" r:id="rId13"/>
    <p:sldId id="267" r:id="rId14"/>
    <p:sldId id="266" r:id="rId1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oleObject" Target=""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Balanced</c:f>
              <c:strCache>
                <c:ptCount val="1"/>
                <c:pt idx="0">
                  <c:v>Balanced</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{54,52,55,56}</c:f>
              <c:numCache>
                <c:formatCode>General</c:formatCode>
                <c:ptCount val="4"/>
                <c:pt idx="0">
                  <c:v>54</c:v>
                </c:pt>
                <c:pt idx="1">
                  <c:v>52</c:v>
                </c:pt>
                <c:pt idx="2">
                  <c:v>55</c:v>
                </c:pt>
                <c:pt idx="3">
                  <c:v>56</c:v>
                </c:pt>
              </c:numCache>
            </c:numRef>
          </c:val>
          <c:smooth val="0"/>
        </c:ser>
        <c:ser>
          <c:idx val="1"/>
          <c:order val="1"/>
          <c:tx>
            <c:strRef>
              <c:f>Early Shock</c:f>
              <c:strCache>
                <c:ptCount val="1"/>
                <c:pt idx="0">
                  <c:v>Early Shock</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{54,36,40,44}</c:f>
              <c:numCache>
                <c:formatCode>General</c:formatCode>
                <c:ptCount val="4"/>
                <c:pt idx="0">
                  <c:v>54</c:v>
                </c:pt>
                <c:pt idx="1">
                  <c:v>36</c:v>
                </c:pt>
                <c:pt idx="2">
                  <c:v>40</c:v>
                </c:pt>
                <c:pt idx="3">
                  <c:v>44</c:v>
                </c:pt>
              </c:numCache>
            </c:numRef>
          </c:val>
          <c:smooth val="0"/>
        </c:ser>
        <c:ser>
          <c:idx val="2"/>
          <c:order val="2"/>
          <c:tx>
            <c:strRef>
              <c:f>Mid Shock</c:f>
              <c:strCache>
                <c:ptCount val="1"/>
                <c:pt idx="0">
                  <c:v>Mid Shock</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{54,50,37,42}</c:f>
              <c:numCache>
                <c:formatCode>General</c:formatCode>
                <c:ptCount val="4"/>
                <c:pt idx="0">
                  <c:v>54</c:v>
                </c:pt>
                <c:pt idx="1">
                  <c:v>50</c:v>
                </c:pt>
                <c:pt idx="2">
                  <c:v>37</c:v>
                </c:pt>
                <c:pt idx="3">
                  <c:v>42</c:v>
                </c:pt>
              </c:numCache>
            </c:numRef>
          </c:val>
          <c:smooth val="0"/>
        </c:ser>
        <c:dLbls>
          <c:showLegendKey val="1"/>
          <c:showVal val="1"/>
          <c:showCatName val="1"/>
          <c:showSerName val="1"/>
          <c:showPercent val="1"/>
          <c:showBubbleSize val="1"/>
        </c:dLbls>
        <c:marker val="0"/>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D8CCBB"/>
              </a:solidFill>
              <a:prstDash val="solid"/>
              <a:round/>
            </a:ln>
          </c:spPr>
        </c:majorGridlines>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50112"/>
        <c:crosses val="autoZero"/>
        <c:crossBetween val="between"/>
      </c:valAx>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c89554e0-413e-427c-8165-c5403faf2faa}"/>
      </c:ext>
    </c:extLst>
  </c:chart>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Now I will move to the second paper of my dissertation.</a:t>
            </a:r>
            <a:endParaRPr lang="en-US" altLang="zh-CN"/>
          </a:p>
          <a:p>
            <a:r>
              <a:rPr lang="en-US" altLang="zh-CN"/>
              <a:t>The question here is not whether people trust AI in general.</a:t>
            </a:r>
            <a:endParaRPr lang="en-US" altLang="zh-CN"/>
          </a:p>
          <a:p>
            <a:r>
              <a:rPr lang="en-US" altLang="zh-CN"/>
              <a:t>The question is how their reliance changes over time, especially after they see AI make a mistake.</a:t>
            </a:r>
            <a:endParaRPr lang="en-US" altLang="zh-CN"/>
          </a:p>
          <a:p>
            <a:r>
              <a:rPr lang="en-US" altLang="zh-CN"/>
              <a:t>So this paper studies dynamic reliance.</a:t>
            </a:r>
            <a:endParaRPr lang="en-US" altLang="zh-CN"/>
          </a:p>
          <a:p>
            <a:r>
              <a:rPr lang="en-US" altLang="zh-CN"/>
              <a:t>It asks what happens after a local AI failure enters a repeated decision process.</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When we use the same AI system, our trust is not always the same.</a:t>
            </a:r>
            <a:endParaRPr lang="en-US" altLang="zh-CN"/>
          </a:p>
          <a:p>
            <a:r>
              <a:rPr lang="en-US" altLang="zh-CN"/>
              <a:t>For example, we may trust AI to help write an email.</a:t>
            </a:r>
            <a:endParaRPr lang="en-US" altLang="zh-CN"/>
          </a:p>
          <a:p>
            <a:r>
              <a:rPr lang="en-US" altLang="zh-CN"/>
              <a:t>But we may become much more cautious when asking about medical advice, investment decisions, or research support.</a:t>
            </a:r>
            <a:endParaRPr lang="en-US" altLang="zh-CN"/>
          </a:p>
          <a:p>
            <a:r>
              <a:rPr lang="en-US" altLang="zh-CN"/>
              <a:t>So trust in AI is not fixed.</a:t>
            </a:r>
            <a:endParaRPr lang="en-US" altLang="zh-CN"/>
          </a:p>
          <a:p>
            <a:r>
              <a:rPr lang="en-US" altLang="zh-CN"/>
              <a:t>The puzzle in this paper is more specific.</a:t>
            </a:r>
            <a:endParaRPr lang="en-US" altLang="zh-CN"/>
          </a:p>
          <a:p>
            <a:r>
              <a:rPr lang="en-US" altLang="zh-CN"/>
              <a:t>If AI makes an early mistake, and later performs well again, do people come back?</a:t>
            </a:r>
            <a:endParaRPr lang="en-US" altLang="zh-CN"/>
          </a:p>
          <a:p>
            <a:r>
              <a:rPr lang="en-US" altLang="zh-CN"/>
              <a:t>So the key issue is not whether people dislike errors.</a:t>
            </a:r>
            <a:endParaRPr lang="en-US" altLang="zh-CN"/>
          </a:p>
          <a:p>
            <a:r>
              <a:rPr lang="en-US" altLang="zh-CN"/>
              <a:t>The key issue is whether reliance recovers.</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Existing research already tells us a lot about AI trust.</a:t>
            </a:r>
            <a:endParaRPr lang="en-US" altLang="zh-CN"/>
          </a:p>
          <a:p>
            <a:r>
              <a:rPr lang="en-US" altLang="zh-CN"/>
              <a:t>But many of them focus on one-shot decisions.</a:t>
            </a:r>
            <a:endParaRPr lang="en-US" altLang="zh-CN"/>
          </a:p>
          <a:p>
            <a:r>
              <a:rPr lang="en-US" altLang="zh-CN"/>
              <a:t>They can explain what people do right after an AI error.</a:t>
            </a:r>
            <a:endParaRPr lang="en-US" altLang="zh-CN"/>
          </a:p>
          <a:p>
            <a:r>
              <a:rPr lang="en-US" altLang="zh-CN"/>
              <a:t>But they tell us less about what happens later.</a:t>
            </a:r>
            <a:endParaRPr lang="en-US" altLang="zh-CN"/>
          </a:p>
          <a:p>
            <a:r>
              <a:rPr lang="en-US" altLang="zh-CN"/>
              <a:t>In real human-AI interaction, people do not use AI only once.</a:t>
            </a:r>
            <a:endParaRPr lang="en-US" altLang="zh-CN"/>
          </a:p>
          <a:p>
            <a:r>
              <a:rPr lang="en-US" altLang="zh-CN"/>
              <a:t>They interact with it repeatedly.</a:t>
            </a:r>
            <a:endParaRPr lang="en-US" altLang="zh-CN"/>
          </a:p>
          <a:p>
            <a:r>
              <a:rPr lang="en-US" altLang="zh-CN"/>
              <a:t>Anothor gap a miss by AI and a miss by oneself </a:t>
            </a:r>
            <a:r>
              <a:rPr lang="en-US" altLang="zh-CN"/>
              <a:t>will be treated as performance signals.</a:t>
            </a:r>
            <a:endParaRPr lang="en-US" altLang="zh-CN"/>
          </a:p>
          <a:p>
            <a:r>
              <a:rPr lang="en-US" altLang="zh-CN"/>
              <a:t>So this paper asks how reliance evolves across rounds.</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The gap has two parts.</a:t>
            </a:r>
            <a:endParaRPr lang="en-US" altLang="zh-CN"/>
          </a:p>
          <a:p>
            <a:r>
              <a:rPr lang="en-US" altLang="zh-CN"/>
              <a:t>First, most existing studies are not truly multi-round.</a:t>
            </a:r>
            <a:endParaRPr lang="en-US" altLang="zh-CN"/>
          </a:p>
          <a:p>
            <a:r>
              <a:rPr lang="en-US" altLang="zh-CN"/>
              <a:t>They do not show whether early AI failures change later reliance paths.</a:t>
            </a:r>
            <a:endParaRPr lang="en-US" altLang="zh-CN"/>
          </a:p>
          <a:p>
            <a:r>
              <a:rPr lang="en-US" altLang="zh-CN"/>
              <a:t>Second, many studies do not isolate AI-specific asymmetry.</a:t>
            </a:r>
            <a:endParaRPr lang="en-US" altLang="zh-CN"/>
          </a:p>
          <a:p>
            <a:r>
              <a:rPr lang="en-US" altLang="zh-CN"/>
              <a:t>If AI performs worse, people rely on it less. That is not surprising.</a:t>
            </a:r>
            <a:endParaRPr lang="en-US" altLang="zh-CN"/>
          </a:p>
          <a:p>
            <a:r>
              <a:rPr lang="en-US" altLang="zh-CN"/>
              <a:t>The harder question is different.</a:t>
            </a:r>
            <a:endParaRPr lang="en-US" altLang="zh-CN"/>
          </a:p>
          <a:p>
            <a:r>
              <a:rPr lang="en-US" altLang="zh-CN"/>
              <a:t>When AI and human performance are matched overall, do people still punish AI errors more?</a:t>
            </a:r>
            <a:endParaRPr lang="en-US" altLang="zh-CN"/>
          </a:p>
          <a:p>
            <a:r>
              <a:rPr lang="en-US" altLang="zh-CN"/>
              <a:t>So this paper is not saying simply that people dislike algorithms.</a:t>
            </a:r>
            <a:endParaRPr lang="en-US" altLang="zh-CN"/>
          </a:p>
          <a:p>
            <a:r>
              <a:rPr lang="en-US" altLang="zh-CN"/>
              <a:t>It studies dynamic asymmetry under repeated feedback.</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The paper asks how people recalibrate reliance in repeated human-AI decisions.</a:t>
            </a:r>
            <a:endParaRPr lang="en-US" altLang="zh-CN"/>
          </a:p>
          <a:p>
            <a:r>
              <a:rPr lang="en-US" altLang="zh-CN"/>
              <a:t>In details, it asks what happens when AI has a local error shock.</a:t>
            </a:r>
            <a:endParaRPr lang="en-US" altLang="zh-CN"/>
          </a:p>
          <a:p>
            <a:r>
              <a:rPr lang="en-US" altLang="zh-CN"/>
              <a:t>Does reliance fall only temporarily?</a:t>
            </a:r>
            <a:endParaRPr lang="en-US" altLang="zh-CN"/>
          </a:p>
          <a:p>
            <a:r>
              <a:rPr lang="en-US" altLang="zh-CN"/>
              <a:t>Or does the error change the later path?</a:t>
            </a:r>
            <a:endParaRPr lang="en-US" altLang="zh-CN"/>
          </a:p>
          <a:p>
            <a:r>
              <a:rPr lang="en-US" altLang="zh-CN"/>
              <a:t>So the main object is the reliance path.</a:t>
            </a:r>
            <a:endParaRPr lang="en-US" altLang="zh-CN"/>
          </a:p>
          <a:p>
            <a:r>
              <a:rPr lang="en-US" altLang="zh-CN"/>
              <a:t>The framing is also important.</a:t>
            </a:r>
            <a:endParaRPr lang="en-US" altLang="zh-CN"/>
          </a:p>
          <a:p>
            <a:r>
              <a:rPr lang="en-US" altLang="zh-CN"/>
              <a:t>This is not static trust.</a:t>
            </a:r>
            <a:endParaRPr lang="en-US" altLang="zh-CN"/>
          </a:p>
          <a:p>
            <a:r>
              <a:rPr lang="en-US" altLang="zh-CN"/>
              <a:t>It is repeated-feedback reliance updating.</a:t>
            </a:r>
            <a:endParaRPr lang="en-US" altLang="zh-CN"/>
          </a:p>
          <a:p>
            <a:r>
              <a:rPr lang="en-US" altLang="zh-CN"/>
              <a:t>A local failure is treated as a calibration shock.</a:t>
            </a:r>
            <a:endParaRPr lang="en-US" altLang="zh-CN"/>
          </a:p>
          <a:p>
            <a:r>
              <a:rPr lang="en-US" altLang="zh-CN"/>
              <a:t>The reduced-form path is the main evidence.</a:t>
            </a:r>
            <a:endParaRPr lang="en-US" altLang="zh-CN"/>
          </a:p>
          <a:p>
            <a:r>
              <a:rPr lang="en-US" altLang="zh-CN"/>
              <a:t>The learning model comes later as a way to interpret the pattern.</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Before the treatment design, I want to state the main questions.</a:t>
            </a:r>
            <a:endParaRPr lang="en-US" altLang="zh-CN"/>
          </a:p>
          <a:p>
            <a:r>
              <a:rPr lang="en-US" altLang="zh-CN"/>
              <a:t>The overall question is simple:</a:t>
            </a:r>
            <a:endParaRPr lang="en-US" altLang="zh-CN"/>
          </a:p>
          <a:p>
            <a:r>
              <a:rPr lang="en-US" altLang="zh-CN"/>
              <a:t>How do people adjust their reliance on AI over repeated rounds?</a:t>
            </a:r>
            <a:endParaRPr lang="en-US" altLang="zh-CN"/>
          </a:p>
          <a:p>
            <a:r>
              <a:rPr lang="en-US" altLang="zh-CN"/>
              <a:t>So I am not studying one-time trust.</a:t>
            </a:r>
            <a:endParaRPr lang="en-US" altLang="zh-CN"/>
          </a:p>
          <a:p>
            <a:r>
              <a:rPr lang="en-US" altLang="zh-CN"/>
              <a:t>I am studying the reliance path.</a:t>
            </a:r>
            <a:endParaRPr lang="en-US" altLang="zh-CN"/>
          </a:p>
          <a:p>
            <a:r>
              <a:rPr lang="en-US" altLang="zh-CN"/>
              <a:t>H1 is about basic learning.</a:t>
            </a:r>
            <a:endParaRPr lang="en-US" altLang="zh-CN"/>
          </a:p>
          <a:p>
            <a:r>
              <a:rPr lang="en-US" altLang="zh-CN"/>
              <a:t>If AI does better, people should rely on it more.</a:t>
            </a:r>
            <a:endParaRPr lang="en-US" altLang="zh-CN"/>
          </a:p>
          <a:p>
            <a:r>
              <a:rPr lang="en-US" altLang="zh-CN"/>
              <a:t>If self does better, people should rely on AI less.</a:t>
            </a:r>
            <a:endParaRPr lang="en-US" altLang="zh-CN"/>
          </a:p>
          <a:p>
            <a:r>
              <a:rPr lang="en-US" altLang="zh-CN"/>
              <a:t>H2 is about AI error shocks.</a:t>
            </a:r>
            <a:endParaRPr lang="en-US" altLang="zh-CN"/>
          </a:p>
          <a:p>
            <a:r>
              <a:rPr lang="en-US" altLang="zh-CN"/>
              <a:t>If AI makes several mistakes in early period, people may reduce AI adoption more than when the same mistakes are spread out.</a:t>
            </a:r>
            <a:endParaRPr lang="en-US" altLang="zh-CN"/>
          </a:p>
          <a:p>
            <a:r>
              <a:rPr lang="en-US" altLang="zh-CN"/>
              <a:t>H3 is about recovery.</a:t>
            </a:r>
            <a:endParaRPr lang="en-US" altLang="zh-CN"/>
          </a:p>
          <a:p>
            <a:r>
              <a:rPr lang="en-US" altLang="zh-CN"/>
              <a:t>After the shock, does reliance come back?</a:t>
            </a:r>
            <a:endParaRPr lang="en-US" altLang="zh-CN"/>
          </a:p>
          <a:p>
            <a:r>
              <a:rPr lang="en-US" altLang="zh-CN"/>
              <a:t>Or does it stay low?</a:t>
            </a:r>
            <a:endParaRPr lang="en-US" altLang="zh-CN"/>
          </a:p>
          <a:p>
            <a:r>
              <a:rPr lang="en-US" altLang="zh-CN"/>
              <a:t>H4 is about timing</a:t>
            </a:r>
            <a:endParaRPr lang="en-US" altLang="zh-CN"/>
          </a:p>
          <a:p>
            <a:r>
              <a:rPr lang="en-US" altLang="zh-CN"/>
              <a:t>An early shock may shape first impressions.</a:t>
            </a:r>
            <a:endParaRPr lang="en-US" altLang="zh-CN"/>
          </a:p>
          <a:p>
            <a:r>
              <a:rPr lang="en-US" altLang="zh-CN"/>
              <a:t>A mid shock may break trust after it has already formed.</a:t>
            </a:r>
            <a:endParaRPr lang="en-US" altLang="zh-CN"/>
          </a:p>
          <a:p>
            <a:r>
              <a:rPr lang="en-US" altLang="zh-CN"/>
              <a:t>H5 is about asymmetry.</a:t>
            </a:r>
            <a:endParaRPr lang="en-US" altLang="zh-CN"/>
          </a:p>
          <a:p>
            <a:r>
              <a:rPr lang="en-US" altLang="zh-CN"/>
              <a:t>After similar mistakes, people may forgive themselves faster than they forgive AI.</a:t>
            </a:r>
            <a:endParaRPr lang="en-US" altLang="zh-CN"/>
          </a:p>
          <a:p>
            <a:r>
              <a:rPr lang="en-US" altLang="zh-CN"/>
              <a:t>So the central test is this:</a:t>
            </a:r>
            <a:endParaRPr lang="en-US" altLang="zh-CN"/>
          </a:p>
          <a:p>
            <a:r>
              <a:rPr lang="en-US" altLang="zh-CN"/>
              <a:t>With the same overall performance, does AI reliance recover in the same way?</a:t>
            </a:r>
            <a:endParaRPr lang="en-US" altLang="zh-CN"/>
          </a:p>
          <a:p>
            <a:r>
              <a:rPr lang="en-US" altLang="zh-CN"/>
              <a:t>Or do AI mistakes leave a longer shadow?</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Before showing the task, I want to explain what the experiment needs to do.</a:t>
            </a:r>
            <a:endParaRPr lang="en-US" altLang="zh-CN"/>
          </a:p>
          <a:p>
            <a:r>
              <a:rPr lang="en-US" altLang="zh-CN"/>
              <a:t>It has to create repeated opportunities for reliance updating.</a:t>
            </a:r>
            <a:endParaRPr lang="en-US" altLang="zh-CN"/>
          </a:p>
          <a:p>
            <a:r>
              <a:rPr lang="en-US" altLang="zh-CN"/>
              <a:t>Participants need to see feedback over many rounds.</a:t>
            </a:r>
            <a:endParaRPr lang="en-US" altLang="zh-CN"/>
          </a:p>
          <a:p>
            <a:r>
              <a:rPr lang="en-US" altLang="zh-CN"/>
              <a:t>They also need to see both chosen and unchosen outcomes.</a:t>
            </a:r>
            <a:endParaRPr lang="en-US" altLang="zh-CN"/>
          </a:p>
          <a:p>
            <a:r>
              <a:rPr lang="en-US" altLang="zh-CN"/>
              <a:t>Otherwise, they cannot compare themselves with AI.</a:t>
            </a:r>
            <a:endParaRPr lang="en-US" altLang="zh-CN"/>
          </a:p>
          <a:p>
            <a:r>
              <a:rPr lang="en-US" altLang="zh-CN"/>
              <a:t>The design also needs matched average performance.</a:t>
            </a:r>
            <a:endParaRPr lang="en-US" altLang="zh-CN"/>
          </a:p>
          <a:p>
            <a:r>
              <a:rPr lang="en-US" altLang="zh-CN"/>
              <a:t>If AI is simply worse, then lower reliance is not interesting.</a:t>
            </a:r>
            <a:endParaRPr lang="en-US" altLang="zh-CN"/>
          </a:p>
          <a:p>
            <a:r>
              <a:rPr lang="en-US" altLang="zh-CN"/>
              <a:t>So the goal is to hold overall quality constant and vary the path of errors.</a:t>
            </a:r>
            <a:endParaRPr lang="en-US" altLang="zh-CN"/>
          </a:p>
          <a:p>
            <a:r>
              <a:rPr lang="en-US" altLang="zh-CN"/>
              <a:t>That allows the paper to study path effects, not just quality differences.</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The experiment is simple.</a:t>
            </a:r>
            <a:endParaRPr lang="en-US" altLang="zh-CN"/>
          </a:p>
          <a:p>
            <a:r>
              <a:rPr lang="en-US" altLang="zh-CN"/>
              <a:t>Participants face three abstract channels. There are no real-world labels, </a:t>
            </a:r>
            <a:endParaRPr lang="en-US" altLang="zh-CN"/>
          </a:p>
          <a:p>
            <a:r>
              <a:rPr lang="en-US" altLang="zh-CN"/>
              <a:t>In each round, each channel generates a different payoff. Participants have 100 points, and they need to allocate these points across the three channels.</a:t>
            </a:r>
            <a:endParaRPr lang="en-US" altLang="zh-CN"/>
          </a:p>
          <a:p>
            <a:r>
              <a:rPr lang="en-US" altLang="zh-CN"/>
              <a:t>they see the AI’s recommendation. Then they choose whether to submit their own decision or follow the AI.</a:t>
            </a:r>
            <a:endParaRPr lang="en-US" altLang="zh-CN"/>
          </a:p>
          <a:p>
            <a:r>
              <a:rPr lang="en-US" altLang="zh-CN"/>
              <a:t>The payoff sequence is fixed in advance. So every participant faces the same 20 rounds. But we do not tell them this.</a:t>
            </a:r>
            <a:endParaRPr lang="en-US" altLang="zh-CN"/>
          </a:p>
          <a:p>
            <a:r>
              <a:rPr lang="en-US" altLang="zh-CN"/>
              <a:t>Instead, we tell them that the current payoff may be related to the previous round. This makes participants believe there may be an underlying pattern to learn.</a:t>
            </a:r>
            <a:endParaRPr lang="en-US" altLang="zh-CN"/>
          </a:p>
          <a:p>
            <a:r>
              <a:rPr lang="en-US" altLang="zh-CN"/>
              <a:t>The goal is to make the task difficult, but not impossible. Participants should feel uncertain enough to seek help from the AI, but the task should not be so simple that they can fully learn it after a few rounds.</a:t>
            </a:r>
            <a:endParaRPr lang="en-US" altLang="zh-CN"/>
          </a:p>
          <a:p>
            <a:r>
              <a:rPr lang="en-US" altLang="zh-CN"/>
              <a:t>This allows us to observe how reliance on AI changes over repeated interactions.</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is the visual simplification of the experiment. At the top, I only vary the timing structure of AI errors;</a:t>
            </a:r>
            <a:r>
              <a:rPr lang="en-US" altLang="zh-CN"/>
              <a:t>The important point is that overall performance is matched.</a:t>
            </a:r>
            <a:endParaRPr lang="en-US" altLang="zh-CN"/>
          </a:p>
          <a:p>
            <a:r>
              <a:rPr lang="en-US" altLang="zh-CN"/>
              <a:t>The total AI payoff is matched.</a:t>
            </a:r>
            <a:endParaRPr lang="en-US" altLang="zh-CN"/>
          </a:p>
          <a:p>
            <a:r>
              <a:rPr lang="en-US" altLang="zh-CN"/>
              <a:t>The number of errors is matched.</a:t>
            </a:r>
            <a:endParaRPr lang="en-US" altLang="zh-CN"/>
          </a:p>
          <a:p>
            <a:r>
              <a:rPr lang="en-US" altLang="zh-CN"/>
              <a:t>Average AI quality is matched.</a:t>
            </a:r>
            <a:endParaRPr lang="en-US" altLang="zh-CN"/>
          </a:p>
          <a:p>
            <a:r>
              <a:rPr lang="en-US" altLang="zh-CN"/>
              <a:t>And later recovery quality is matched.</a:t>
            </a:r>
            <a:endParaRPr lang="en-US" altLang="zh-CN"/>
          </a:p>
          <a:p>
            <a:r>
              <a:rPr lang="en-US" altLang="zh-CN"/>
              <a:t>So the difference is not that one AI is simply better or worse.</a:t>
            </a:r>
            <a:endParaRPr lang="en-US" altLang="zh-CN"/>
          </a:p>
          <a:p>
            <a:r>
              <a:rPr lang="en-US" altLang="zh-CN"/>
              <a:t>The difference is when the errors happen.</a:t>
            </a:r>
            <a:endParaRPr lang="en-US" altLang="zh-CN"/>
          </a:p>
          <a:p>
            <a:r>
              <a:rPr lang="en-US" altLang="zh-CN"/>
              <a:t>That lets me test whether the timing of AI failure changes later reliance.</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This table is the identification map of the paper.</a:t>
            </a:r>
            <a:endParaRPr lang="en-US" altLang="zh-CN"/>
          </a:p>
          <a:p>
            <a:r>
              <a:rPr lang="en-US" altLang="zh-CN"/>
              <a:t>Each hypothesis has a specific comparison.</a:t>
            </a:r>
            <a:endParaRPr lang="en-US" altLang="zh-CN"/>
          </a:p>
          <a:p>
            <a:r>
              <a:rPr lang="en-US" altLang="zh-CN"/>
              <a:t>First, I test whether reliance responds to relative performance.</a:t>
            </a:r>
            <a:endParaRPr lang="en-US" altLang="zh-CN"/>
          </a:p>
          <a:p>
            <a:r>
              <a:rPr lang="en-US" altLang="zh-CN"/>
              <a:t>Second, I test whether clustered AI errors create a larger penalty than balanced errors.</a:t>
            </a:r>
            <a:endParaRPr lang="en-US" altLang="zh-CN"/>
          </a:p>
          <a:p>
            <a:r>
              <a:rPr lang="en-US" altLang="zh-CN"/>
              <a:t>Third, I test whether reliance fully recovers after AI performance improves.</a:t>
            </a:r>
            <a:endParaRPr lang="en-US" altLang="zh-CN"/>
          </a:p>
          <a:p>
            <a:r>
              <a:rPr lang="en-US" altLang="zh-CN"/>
              <a:t>Fourth, I test whether early errors matter more than mid-stage errors.</a:t>
            </a:r>
            <a:endParaRPr lang="en-US" altLang="zh-CN"/>
          </a:p>
          <a:p>
            <a:r>
              <a:rPr lang="en-US" altLang="zh-CN"/>
              <a:t>Fifth, I test whether AI misses are punished more than comparable self misses.</a:t>
            </a:r>
            <a:endParaRPr lang="en-US" altLang="zh-CN"/>
          </a:p>
          <a:p>
            <a:r>
              <a:rPr lang="en-US" altLang="zh-CN"/>
              <a:t>The point is that this is not a vague AI-versus-human comparison.</a:t>
            </a:r>
            <a:endParaRPr lang="en-US" altLang="zh-CN"/>
          </a:p>
          <a:p>
            <a:r>
              <a:rPr lang="en-US" altLang="zh-CN"/>
              <a:t>Each comparison isolates one part of dynamic reliance.</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I use an EWA-inspired model to interpret the learning process.</a:t>
            </a:r>
            <a:endParaRPr lang="en-US" altLang="zh-CN"/>
          </a:p>
          <a:p>
            <a:r>
              <a:rPr lang="en-US" altLang="zh-CN"/>
              <a:t>But it is not the main identification strategy.</a:t>
            </a:r>
            <a:endParaRPr lang="en-US" altLang="zh-CN"/>
          </a:p>
          <a:p>
            <a:r>
              <a:rPr lang="en-US" altLang="zh-CN"/>
              <a:t>The main evidence comes from the experimental comparisons.</a:t>
            </a:r>
            <a:endParaRPr lang="en-US" altLang="zh-CN"/>
          </a:p>
          <a:p>
            <a:r>
              <a:rPr lang="en-US" altLang="zh-CN"/>
              <a:t>The model helps explain why the path changes.</a:t>
            </a:r>
            <a:endParaRPr lang="en-US" altLang="zh-CN"/>
          </a:p>
          <a:p>
            <a:r>
              <a:rPr lang="en-US" altLang="zh-CN"/>
              <a:t>This model is useful because participants repeatedly choose between their own judgment and AI judgment.</a:t>
            </a:r>
            <a:endParaRPr lang="en-US" altLang="zh-CN"/>
          </a:p>
          <a:p>
            <a:r>
              <a:rPr lang="en-US" altLang="zh-CN"/>
              <a:t>They also observe both actual and counterfactual feedback.</a:t>
            </a:r>
            <a:endParaRPr lang="en-US" altLang="zh-CN"/>
          </a:p>
          <a:p>
            <a:r>
              <a:rPr lang="en-US" altLang="zh-CN"/>
              <a:t>So we can think of people as updating the attraction of each source over time.</a:t>
            </a:r>
            <a:endParaRPr lang="en-US" altLang="zh-CN"/>
          </a:p>
          <a:p>
            <a:r>
              <a:rPr lang="en-US" altLang="zh-CN"/>
              <a:t>The key question is whether AI attraction drops more sharply after AI errors.</a:t>
            </a:r>
            <a:endParaRPr lang="en-US" altLang="zh-CN"/>
          </a:p>
          <a:p>
            <a:r>
              <a:rPr lang="en-US" altLang="zh-CN"/>
              <a:t>And whether that drop is harder to repair after early shocks.</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en-US" altLang="zh-CN"/>
          </a:p>
          <a:p>
            <a:r>
              <a:rPr lang="en-US" altLang="zh-CN"/>
              <a:t>In conclusion, the paper studies how people adjust their reliance on AI in dynamic task.</a:t>
            </a:r>
            <a:endParaRPr lang="en-US" altLang="zh-CN"/>
          </a:p>
          <a:p>
            <a:r>
              <a:rPr lang="en-US" altLang="zh-CN"/>
              <a:t>The broader point is this:</a:t>
            </a:r>
            <a:endParaRPr lang="en-US" altLang="zh-CN"/>
          </a:p>
          <a:p>
            <a:r>
              <a:rPr lang="en-US" altLang="zh-CN"/>
              <a:t>Many failures in human-AI systems may not come only from poor model performance.</a:t>
            </a:r>
            <a:endParaRPr lang="en-US" altLang="zh-CN"/>
          </a:p>
          <a:p>
            <a:r>
              <a:rPr lang="en-US" altLang="zh-CN"/>
              <a:t>They may come from the wrong reliance path that users develop during interaction.</a:t>
            </a:r>
            <a:endParaRPr lang="en-US" altLang="zh-CN"/>
          </a:p>
          <a:p>
            <a:r>
              <a:rPr lang="en-US" altLang="zh-CN"/>
              <a:t>So this experiment tries to identify three things.</a:t>
            </a:r>
            <a:endParaRPr lang="en-US" altLang="zh-CN"/>
          </a:p>
          <a:p>
            <a:r>
              <a:rPr lang="en-US" altLang="zh-CN"/>
              <a:t>How does this path form?</a:t>
            </a:r>
            <a:endParaRPr lang="en-US" altLang="zh-CN"/>
          </a:p>
          <a:p>
            <a:r>
              <a:rPr lang="en-US" altLang="zh-CN"/>
              <a:t>Can reliance recover after AI performance improves?</a:t>
            </a:r>
            <a:endParaRPr lang="en-US" altLang="zh-CN"/>
          </a:p>
          <a:p>
            <a:r>
              <a:rPr lang="en-US" altLang="zh-CN"/>
              <a:t>And how does this path affect later human use of AI?</a:t>
            </a:r>
            <a:endParaRPr lang="en-US" altLang="zh-CN"/>
          </a:p>
          <a:p>
            <a:r>
              <a:rPr lang="en-US" altLang="zh-CN"/>
              <a:t>That is the main content of Paper 2.</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notesSlide" Target="../notesSlides/notesSlide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0" Type="http://schemas.openxmlformats.org/officeDocument/2006/relationships/notesSlide" Target="../notesSlides/notesSlide5.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126"/>
        </a:solidFill>
        <a:effectLst/>
      </p:bgPr>
    </p:bg>
    <p:spTree>
      <p:nvGrpSpPr>
        <p:cNvPr id="1" name=""/>
        <p:cNvGrpSpPr/>
        <p:nvPr/>
      </p:nvGrpSpPr>
      <p:grpSpPr/>
      <p:sp>
        <p:nvSpPr>
          <p:cNvPr id="2" name="椭圆 1"/>
          <p:cNvSpPr>
            <a:spLocks noGrp="1"/>
          </p:cNvSpPr>
          <p:nvPr/>
        </p:nvSpPr>
        <p:spPr>
          <a:xfrm>
            <a:off x="8858250" y="-1047750"/>
            <a:ext cx="3429000" cy="3429000"/>
          </a:xfrm>
          <a:prstGeom prst="ellipse">
            <a:avLst/>
          </a:prstGeom>
          <a:solidFill>
            <a:srgbClr val="223239"/>
          </a:solidFill>
          <a:ln w="9525">
            <a:solidFill>
              <a:srgbClr val="223239"/>
            </a:solidFill>
            <a:prstDash val="solid"/>
          </a:ln>
        </p:spPr>
      </p:sp>
      <p:sp>
        <p:nvSpPr>
          <p:cNvPr id="3" name="椭圆 2"/>
          <p:cNvSpPr>
            <a:spLocks noGrp="1"/>
          </p:cNvSpPr>
          <p:nvPr/>
        </p:nvSpPr>
        <p:spPr>
          <a:xfrm>
            <a:off x="-952500" y="5143500"/>
            <a:ext cx="2286000" cy="2286000"/>
          </a:xfrm>
          <a:prstGeom prst="ellipse">
            <a:avLst/>
          </a:prstGeom>
          <a:solidFill>
            <a:srgbClr val="223239"/>
          </a:solidFill>
          <a:ln w="9525">
            <a:solidFill>
              <a:srgbClr val="223239"/>
            </a:solidFill>
            <a:prstDash val="solid"/>
          </a:ln>
        </p:spPr>
      </p:sp>
      <p:sp>
        <p:nvSpPr>
          <p:cNvPr id="4" name="矩形 3"/>
          <p:cNvSpPr>
            <a:spLocks noGrp="1"/>
          </p:cNvSpPr>
          <p:nvPr/>
        </p:nvSpPr>
        <p:spPr>
          <a:xfrm>
            <a:off x="838200" y="838200"/>
            <a:ext cx="2095500" cy="20955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E7D4C3"/>
                </a:solidFill>
                <a:latin typeface="Times New Roman" panose="02020603050405020304"/>
                <a:ea typeface="Times New Roman" panose="02020603050405020304"/>
                <a:cs typeface="Times New Roman" panose="02020603050405020304"/>
              </a:defRPr>
            </a:pPr>
            <a:r>
              <a:rPr sz="1125" b="1" i="0">
                <a:solidFill>
                  <a:srgbClr val="E7D4C3"/>
                </a:solidFill>
                <a:latin typeface="Times New Roman" panose="02020603050405020304"/>
                <a:ea typeface="Times New Roman" panose="02020603050405020304"/>
                <a:cs typeface="Times New Roman" panose="02020603050405020304"/>
              </a:rPr>
              <a:t>PAPER 2</a:t>
            </a:r>
            <a:endParaRPr sz="1125" b="1" i="0">
              <a:solidFill>
                <a:srgbClr val="E7D4C3"/>
              </a:solidFill>
              <a:latin typeface="Times New Roman" panose="02020603050405020304"/>
              <a:ea typeface="Times New Roman" panose="02020603050405020304"/>
              <a:cs typeface="Times New Roman" panose="02020603050405020304"/>
            </a:endParaRPr>
          </a:p>
        </p:txBody>
      </p:sp>
      <p:sp>
        <p:nvSpPr>
          <p:cNvPr id="5" name="直接连接符 4"/>
          <p:cNvSpPr>
            <a:spLocks noGrp="1"/>
          </p:cNvSpPr>
          <p:nvPr/>
        </p:nvSpPr>
        <p:spPr>
          <a:xfrm>
            <a:off x="800100" y="5962650"/>
            <a:ext cx="10591800" cy="9525"/>
          </a:xfrm>
          <a:prstGeom prst="line">
            <a:avLst/>
          </a:prstGeom>
          <a:ln w="9525">
            <a:solidFill>
              <a:srgbClr val="C9BAA8"/>
            </a:solidFill>
            <a:prstDash val="solid"/>
          </a:ln>
        </p:spPr>
      </p:sp>
      <p:sp>
        <p:nvSpPr>
          <p:cNvPr id="6" name="矩形 5"/>
          <p:cNvSpPr>
            <a:spLocks noGrp="1"/>
          </p:cNvSpPr>
          <p:nvPr/>
        </p:nvSpPr>
        <p:spPr>
          <a:xfrm>
            <a:off x="1200150" y="1733550"/>
            <a:ext cx="7239000" cy="1066800"/>
          </a:xfrm>
          <a:prstGeom prst="rect">
            <a:avLst/>
          </a:prstGeom>
          <a:noFill/>
          <a:ln w="0">
            <a:noFill/>
            <a:prstDash val="solid"/>
          </a:ln>
        </p:spPr>
        <p:txBody>
          <a:bodyPr wrap="square" lIns="0" tIns="0" rIns="0" bIns="0" anchor="t">
            <a:normAutofit/>
          </a:bodyPr>
          <a:lstStyle/>
          <a:p>
            <a:pPr algn="l">
              <a:lnSpc>
                <a:spcPct val="100000"/>
              </a:lnSpc>
              <a:buNone/>
              <a:defRPr sz="2550" b="1" i="0">
                <a:solidFill>
                  <a:srgbClr val="FFFFFF"/>
                </a:solidFill>
                <a:latin typeface="Times New Roman" panose="02020603050405020304"/>
                <a:ea typeface="Times New Roman" panose="02020603050405020304"/>
                <a:cs typeface="Times New Roman" panose="02020603050405020304"/>
              </a:defRPr>
            </a:pPr>
            <a:r>
              <a:rPr sz="2550" b="1" i="0">
                <a:solidFill>
                  <a:srgbClr val="FFFFFF"/>
                </a:solidFill>
                <a:latin typeface="Times New Roman" panose="02020603050405020304"/>
                <a:ea typeface="Times New Roman" panose="02020603050405020304"/>
                <a:cs typeface="Times New Roman" panose="02020603050405020304"/>
              </a:rPr>
              <a:t>AI Error Shocks and Dynamic Reliance</a:t>
            </a:r>
            <a:endParaRPr sz="2550" b="1" i="0">
              <a:solidFill>
                <a:srgbClr val="FFFFFF"/>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1200150" y="2952750"/>
            <a:ext cx="7239000" cy="685800"/>
          </a:xfrm>
          <a:prstGeom prst="rect">
            <a:avLst/>
          </a:prstGeom>
          <a:noFill/>
          <a:ln w="0">
            <a:noFill/>
            <a:prstDash val="solid"/>
          </a:ln>
        </p:spPr>
        <p:txBody>
          <a:bodyPr wrap="square" lIns="0" tIns="0" rIns="0" bIns="0" anchor="t">
            <a:normAutofit/>
          </a:bodyPr>
          <a:lstStyle/>
          <a:p>
            <a:pPr algn="l">
              <a:lnSpc>
                <a:spcPct val="108000"/>
              </a:lnSpc>
              <a:buNone/>
              <a:defRPr sz="1425" b="0" i="0">
                <a:solidFill>
                  <a:srgbClr val="D8CDC1"/>
                </a:solidFill>
                <a:latin typeface="Times New Roman" panose="02020603050405020304"/>
                <a:ea typeface="Times New Roman" panose="02020603050405020304"/>
                <a:cs typeface="Times New Roman" panose="02020603050405020304"/>
              </a:defRPr>
            </a:pPr>
            <a:r>
              <a:rPr sz="1425" b="0" i="0">
                <a:solidFill>
                  <a:srgbClr val="D8CDC1"/>
                </a:solidFill>
                <a:latin typeface="Times New Roman" panose="02020603050405020304"/>
                <a:ea typeface="Times New Roman" panose="02020603050405020304"/>
                <a:cs typeface="Times New Roman" panose="02020603050405020304"/>
              </a:rPr>
              <a:t>Repeated feedback, matched performance, and path-dependent under-reliance</a:t>
            </a:r>
            <a:endParaRPr sz="1425" b="0" i="0">
              <a:solidFill>
                <a:srgbClr val="D8CDC1"/>
              </a:solidFill>
              <a:latin typeface="Times New Roman" panose="02020603050405020304"/>
              <a:ea typeface="Times New Roman" panose="02020603050405020304"/>
              <a:cs typeface="Times New Roman" panose="02020603050405020304"/>
            </a:endParaRPr>
          </a:p>
        </p:txBody>
      </p:sp>
      <p:sp>
        <p:nvSpPr>
          <p:cNvPr id="8" name="圆角矩形 7"/>
          <p:cNvSpPr>
            <a:spLocks noGrp="1"/>
          </p:cNvSpPr>
          <p:nvPr/>
        </p:nvSpPr>
        <p:spPr>
          <a:xfrm>
            <a:off x="1200150" y="3981450"/>
            <a:ext cx="3962400" cy="1104900"/>
          </a:xfrm>
          <a:prstGeom prst="roundRect">
            <a:avLst>
              <a:gd name="adj" fmla="val 10345"/>
            </a:avLst>
          </a:prstGeom>
          <a:solidFill>
            <a:srgbClr val="F3EBDD"/>
          </a:solidFill>
          <a:ln w="9525">
            <a:solidFill>
              <a:srgbClr val="F3EBDD"/>
            </a:solidFill>
            <a:prstDash val="solid"/>
          </a:ln>
        </p:spPr>
      </p:sp>
      <p:sp>
        <p:nvSpPr>
          <p:cNvPr id="9" name="圆角矩形 8"/>
          <p:cNvSpPr>
            <a:spLocks noGrp="1"/>
          </p:cNvSpPr>
          <p:nvPr/>
        </p:nvSpPr>
        <p:spPr>
          <a:xfrm>
            <a:off x="1200150" y="3981450"/>
            <a:ext cx="57150" cy="1104900"/>
          </a:xfrm>
          <a:prstGeom prst="roundRect">
            <a:avLst>
              <a:gd name="adj" fmla="val 33333"/>
            </a:avLst>
          </a:prstGeom>
          <a:solidFill>
            <a:srgbClr val="B77845"/>
          </a:solidFill>
          <a:ln w="9525">
            <a:solidFill>
              <a:srgbClr val="B77845"/>
            </a:solidFill>
            <a:prstDash val="solid"/>
          </a:ln>
        </p:spPr>
      </p:sp>
      <p:sp>
        <p:nvSpPr>
          <p:cNvPr id="10" name="矩形 9"/>
          <p:cNvSpPr>
            <a:spLocks noGrp="1"/>
          </p:cNvSpPr>
          <p:nvPr/>
        </p:nvSpPr>
        <p:spPr>
          <a:xfrm>
            <a:off x="1428750" y="4171950"/>
            <a:ext cx="3390900" cy="22860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B77845"/>
                </a:solidFill>
                <a:latin typeface="Times New Roman" panose="02020603050405020304"/>
                <a:ea typeface="Times New Roman" panose="02020603050405020304"/>
                <a:cs typeface="Times New Roman" panose="02020603050405020304"/>
              </a:defRPr>
            </a:pPr>
            <a:r>
              <a:rPr sz="1125" b="1" i="0">
                <a:solidFill>
                  <a:srgbClr val="B77845"/>
                </a:solidFill>
                <a:latin typeface="Times New Roman" panose="02020603050405020304"/>
                <a:ea typeface="Times New Roman" panose="02020603050405020304"/>
                <a:cs typeface="Times New Roman" panose="02020603050405020304"/>
              </a:rPr>
              <a:t>Dissertation link</a:t>
            </a:r>
            <a:endParaRPr sz="1125" b="1" i="0">
              <a:solidFill>
                <a:srgbClr val="B77845"/>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1428750" y="4476750"/>
            <a:ext cx="3390900" cy="514350"/>
          </a:xfrm>
          <a:prstGeom prst="rect">
            <a:avLst/>
          </a:prstGeom>
          <a:noFill/>
          <a:ln w="0">
            <a:noFill/>
            <a:prstDash val="solid"/>
          </a:ln>
        </p:spPr>
        <p:txBody>
          <a:bodyPr wrap="square" lIns="0" tIns="0" rIns="0" bIns="0" anchor="t">
            <a:normAutofit/>
          </a:bodyPr>
          <a:lstStyle/>
          <a:p>
            <a:pPr algn="l">
              <a:lnSpc>
                <a:spcPct val="108000"/>
              </a:lnSpc>
              <a:buNone/>
              <a:defRPr sz="1350" b="0" i="0">
                <a:solidFill>
                  <a:srgbClr val="231D17"/>
                </a:solidFill>
                <a:latin typeface="Times New Roman" panose="02020603050405020304"/>
                <a:ea typeface="Times New Roman" panose="02020603050405020304"/>
                <a:cs typeface="Times New Roman" panose="02020603050405020304"/>
              </a:defRPr>
            </a:pPr>
            <a:r>
              <a:rPr sz="1350" b="0" i="0">
                <a:solidFill>
                  <a:srgbClr val="231D17"/>
                </a:solidFill>
                <a:latin typeface="Times New Roman" panose="02020603050405020304"/>
                <a:ea typeface="Times New Roman" panose="02020603050405020304"/>
                <a:cs typeface="Times New Roman" panose="02020603050405020304"/>
              </a:rPr>
              <a:t>This paper studies how feedback reshapes reliance calibration after local AI failures.</a:t>
            </a:r>
            <a:endParaRPr sz="1350" b="0" i="0">
              <a:solidFill>
                <a:srgbClr val="231D17"/>
              </a:solidFill>
              <a:latin typeface="Times New Roman" panose="02020603050405020304"/>
              <a:ea typeface="Times New Roman" panose="02020603050405020304"/>
              <a:cs typeface="Times New Roman" panose="02020603050405020304"/>
            </a:endParaRPr>
          </a:p>
        </p:txBody>
      </p:sp>
      <p:sp>
        <p:nvSpPr>
          <p:cNvPr id="12" name="圆角矩形 11"/>
          <p:cNvSpPr>
            <a:spLocks noGrp="1"/>
          </p:cNvSpPr>
          <p:nvPr/>
        </p:nvSpPr>
        <p:spPr>
          <a:xfrm>
            <a:off x="5391150" y="3981450"/>
            <a:ext cx="5143500" cy="1104900"/>
          </a:xfrm>
          <a:prstGeom prst="roundRect">
            <a:avLst>
              <a:gd name="adj" fmla="val 10345"/>
            </a:avLst>
          </a:prstGeom>
          <a:solidFill>
            <a:srgbClr val="F3EBDD"/>
          </a:solidFill>
          <a:ln w="9525">
            <a:solidFill>
              <a:srgbClr val="F3EBDD"/>
            </a:solidFill>
            <a:prstDash val="solid"/>
          </a:ln>
        </p:spPr>
      </p:sp>
      <p:sp>
        <p:nvSpPr>
          <p:cNvPr id="13" name="圆角矩形 12"/>
          <p:cNvSpPr>
            <a:spLocks noGrp="1"/>
          </p:cNvSpPr>
          <p:nvPr/>
        </p:nvSpPr>
        <p:spPr>
          <a:xfrm>
            <a:off x="5391150" y="3981450"/>
            <a:ext cx="57150" cy="1104900"/>
          </a:xfrm>
          <a:prstGeom prst="roundRect">
            <a:avLst>
              <a:gd name="adj" fmla="val 33333"/>
            </a:avLst>
          </a:prstGeom>
          <a:solidFill>
            <a:srgbClr val="818A68"/>
          </a:solidFill>
          <a:ln w="9525">
            <a:solidFill>
              <a:srgbClr val="818A68"/>
            </a:solidFill>
            <a:prstDash val="solid"/>
          </a:ln>
        </p:spPr>
      </p:sp>
      <p:sp>
        <p:nvSpPr>
          <p:cNvPr id="14" name="矩形 13"/>
          <p:cNvSpPr>
            <a:spLocks noGrp="1"/>
          </p:cNvSpPr>
          <p:nvPr/>
        </p:nvSpPr>
        <p:spPr>
          <a:xfrm>
            <a:off x="5619750" y="4171950"/>
            <a:ext cx="4572000" cy="22860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818A68"/>
                </a:solidFill>
                <a:latin typeface="Times New Roman" panose="02020603050405020304"/>
                <a:ea typeface="Times New Roman" panose="02020603050405020304"/>
                <a:cs typeface="Times New Roman" panose="02020603050405020304"/>
              </a:defRPr>
            </a:pPr>
            <a:r>
              <a:rPr sz="1125" b="1" i="0">
                <a:solidFill>
                  <a:srgbClr val="818A68"/>
                </a:solidFill>
                <a:latin typeface="Times New Roman" panose="02020603050405020304"/>
                <a:ea typeface="Times New Roman" panose="02020603050405020304"/>
                <a:cs typeface="Times New Roman" panose="02020603050405020304"/>
              </a:rPr>
              <a:t>Decision-process position</a:t>
            </a:r>
            <a:endParaRPr sz="1125" b="1" i="0">
              <a:solidFill>
                <a:srgbClr val="818A68"/>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5619750" y="4476750"/>
            <a:ext cx="4572000" cy="514350"/>
          </a:xfrm>
          <a:prstGeom prst="rect">
            <a:avLst/>
          </a:prstGeom>
          <a:noFill/>
          <a:ln w="0">
            <a:noFill/>
            <a:prstDash val="solid"/>
          </a:ln>
        </p:spPr>
        <p:txBody>
          <a:bodyPr wrap="square" lIns="0" tIns="0" rIns="0" bIns="0" anchor="t">
            <a:normAutofit/>
          </a:bodyPr>
          <a:lstStyle/>
          <a:p>
            <a:pPr algn="l">
              <a:lnSpc>
                <a:spcPct val="108000"/>
              </a:lnSpc>
              <a:buNone/>
              <a:defRPr sz="1350" b="0" i="0">
                <a:solidFill>
                  <a:srgbClr val="231D17"/>
                </a:solidFill>
                <a:latin typeface="Times New Roman" panose="02020603050405020304"/>
                <a:ea typeface="Times New Roman" panose="02020603050405020304"/>
                <a:cs typeface="Times New Roman" panose="02020603050405020304"/>
              </a:defRPr>
            </a:pPr>
            <a:r>
              <a:rPr sz="1350" b="0" i="0">
                <a:solidFill>
                  <a:srgbClr val="231D17"/>
                </a:solidFill>
                <a:latin typeface="Times New Roman" panose="02020603050405020304"/>
                <a:ea typeface="Times New Roman" panose="02020603050405020304"/>
                <a:cs typeface="Times New Roman" panose="02020603050405020304"/>
              </a:rPr>
              <a:t>Belief and feedback  -&gt;  reliance calibration  -&gt;  later action thresholds</a:t>
            </a:r>
            <a:endParaRPr sz="1350" b="0" i="0">
              <a:solidFill>
                <a:srgbClr val="231D17"/>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838200" y="6096000"/>
            <a:ext cx="5334000" cy="190500"/>
          </a:xfrm>
          <a:prstGeom prst="rect">
            <a:avLst/>
          </a:prstGeom>
          <a:noFill/>
          <a:ln w="0">
            <a:noFill/>
            <a:prstDash val="solid"/>
          </a:ln>
        </p:spPr>
        <p:txBody>
          <a:bodyPr wrap="square" lIns="0" tIns="0" rIns="0" bIns="0" anchor="t">
            <a:normAutofit/>
          </a:bodyPr>
          <a:lstStyle/>
          <a:p>
            <a:pPr algn="l">
              <a:lnSpc>
                <a:spcPct val="108000"/>
              </a:lnSpc>
              <a:buNone/>
              <a:defRPr sz="900" b="0" i="0">
                <a:solidFill>
                  <a:srgbClr val="C9BAA8"/>
                </a:solidFill>
                <a:latin typeface="Times New Roman" panose="02020603050405020304"/>
                <a:ea typeface="Times New Roman" panose="02020603050405020304"/>
                <a:cs typeface="Times New Roman" panose="02020603050405020304"/>
              </a:defRPr>
            </a:pPr>
            <a:r>
              <a:rPr sz="900" b="0" i="0">
                <a:solidFill>
                  <a:srgbClr val="C9BAA8"/>
                </a:solidFill>
                <a:latin typeface="Times New Roman" panose="02020603050405020304"/>
                <a:ea typeface="Times New Roman" panose="02020603050405020304"/>
                <a:cs typeface="Times New Roman" panose="02020603050405020304"/>
              </a:rPr>
              <a:t>Section deck for dissertation defense</a:t>
            </a:r>
            <a:endParaRPr sz="900" b="0" i="0">
              <a:solidFill>
                <a:srgbClr val="C9BAA8"/>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CONCRETE ENTRY POINT</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8322"/>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puzzle is not whether people dislike errors, but how later reliance recovers</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A single miss can matter differently when it is read as a problem of source quality rather than a temporary local mistake.</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custDataLst>
              <p:tags r:id="rId1"/>
            </p:custDataLst>
          </p:nvPr>
        </p:nvSpPr>
        <p:spPr>
          <a:xfrm>
            <a:off x="914400" y="2190750"/>
            <a:ext cx="4876800" cy="2724150"/>
          </a:xfrm>
          <a:prstGeom prst="roundRect">
            <a:avLst>
              <a:gd name="adj" fmla="val 4196"/>
            </a:avLst>
          </a:prstGeom>
          <a:solidFill>
            <a:srgbClr val="FFFFFF"/>
          </a:solidFill>
          <a:ln w="9525">
            <a:solidFill>
              <a:srgbClr val="D8CCBB"/>
            </a:solidFill>
            <a:prstDash val="solid"/>
          </a:ln>
        </p:spPr>
      </p:sp>
      <p:sp>
        <p:nvSpPr>
          <p:cNvPr id="8" name="圆角矩形 7"/>
          <p:cNvSpPr>
            <a:spLocks noGrp="1"/>
          </p:cNvSpPr>
          <p:nvPr>
            <p:custDataLst>
              <p:tags r:id="rId2"/>
            </p:custDataLst>
          </p:nvPr>
        </p:nvSpPr>
        <p:spPr>
          <a:xfrm>
            <a:off x="914400" y="2190750"/>
            <a:ext cx="57150" cy="2724150"/>
          </a:xfrm>
          <a:prstGeom prst="roundRect">
            <a:avLst>
              <a:gd name="adj" fmla="val 33333"/>
            </a:avLst>
          </a:prstGeom>
          <a:solidFill>
            <a:srgbClr val="3E4C5A"/>
          </a:solidFill>
          <a:ln w="9525">
            <a:solidFill>
              <a:srgbClr val="3E4C5A"/>
            </a:solidFill>
            <a:prstDash val="solid"/>
          </a:ln>
        </p:spPr>
      </p:sp>
      <p:sp>
        <p:nvSpPr>
          <p:cNvPr id="9" name="矩形 8"/>
          <p:cNvSpPr>
            <a:spLocks noGrp="1"/>
          </p:cNvSpPr>
          <p:nvPr>
            <p:custDataLst>
              <p:tags r:id="rId3"/>
            </p:custDataLst>
          </p:nvPr>
        </p:nvSpPr>
        <p:spPr>
          <a:xfrm>
            <a:off x="1199515" y="2348865"/>
            <a:ext cx="2040255" cy="228600"/>
          </a:xfrm>
          <a:prstGeom prst="rect">
            <a:avLst/>
          </a:prstGeom>
          <a:noFill/>
          <a:ln w="0">
            <a:noFill/>
            <a:prstDash val="solid"/>
          </a:ln>
        </p:spPr>
        <p:txBody>
          <a:bodyPr wrap="square" lIns="0" tIns="0" rIns="0" bIns="0" anchor="t">
            <a:normAutofit fontScale="90000"/>
          </a:bodyPr>
          <a:lstStyle/>
          <a:p>
            <a:pPr algn="l">
              <a:lnSpc>
                <a:spcPct val="108000"/>
              </a:lnSpc>
              <a:buNone/>
              <a:defRPr sz="1275" b="1" i="0">
                <a:solidFill>
                  <a:srgbClr val="3E4C5A"/>
                </a:solidFill>
                <a:latin typeface="Times New Roman" panose="02020603050405020304"/>
                <a:ea typeface="Times New Roman" panose="02020603050405020304"/>
                <a:cs typeface="Times New Roman" panose="02020603050405020304"/>
              </a:defRPr>
            </a:pPr>
            <a:r>
              <a:rPr lang="en-US" altLang="zh-CN" sz="1275" b="1" i="0">
                <a:solidFill>
                  <a:srgbClr val="3E4C5A"/>
                </a:solidFill>
                <a:latin typeface="Times New Roman" panose="02020603050405020304"/>
                <a:ea typeface="Times New Roman" panose="02020603050405020304"/>
                <a:cs typeface="Times New Roman" panose="02020603050405020304"/>
              </a:rPr>
              <a:t>Asymmetric Reliance Dynamics</a:t>
            </a:r>
            <a:endParaRPr lang="en-US" altLang="zh-CN" sz="1275" b="1" i="0">
              <a:solidFill>
                <a:srgbClr val="3E4C5A"/>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custDataLst>
              <p:tags r:id="rId4"/>
            </p:custDataLst>
          </p:nvPr>
        </p:nvSpPr>
        <p:spPr>
          <a:xfrm>
            <a:off x="1143000" y="2781300"/>
            <a:ext cx="4248150" cy="16192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75" b="0" i="0">
                <a:solidFill>
                  <a:srgbClr val="231D17"/>
                </a:solidFill>
                <a:latin typeface="Times New Roman" panose="02020603050405020304"/>
                <a:ea typeface="Times New Roman" panose="02020603050405020304"/>
                <a:cs typeface="Times New Roman" panose="02020603050405020304"/>
              </a:rPr>
              <a:t>when using the same AI system, such as Doubao or ChatGPT, our level of trust changes depending on the task. We may fully trust AI to help write emails, but become much more cautious when asking for medical advice, investment recommendations, or research support. In other words, trust in AI is not static—it continuously evolves according to task risk, AI performance, and users' previous experiences.</a:t>
            </a:r>
            <a:endParaRPr lang="en-US" altLang="zh-CN" sz="1275" b="0" i="0">
              <a:solidFill>
                <a:srgbClr val="231D17"/>
              </a:solidFill>
              <a:latin typeface="Times New Roman" panose="02020603050405020304"/>
              <a:ea typeface="Times New Roman" panose="02020603050405020304"/>
              <a:cs typeface="Times New Roman" panose="02020603050405020304"/>
            </a:endParaRPr>
          </a:p>
        </p:txBody>
      </p:sp>
      <p:sp>
        <p:nvSpPr>
          <p:cNvPr id="11" name="圆角矩形 10"/>
          <p:cNvSpPr>
            <a:spLocks noGrp="1"/>
          </p:cNvSpPr>
          <p:nvPr>
            <p:custDataLst>
              <p:tags r:id="rId5"/>
            </p:custDataLst>
          </p:nvPr>
        </p:nvSpPr>
        <p:spPr>
          <a:xfrm>
            <a:off x="6362700" y="2190750"/>
            <a:ext cx="4876800" cy="2724150"/>
          </a:xfrm>
          <a:prstGeom prst="roundRect">
            <a:avLst>
              <a:gd name="adj" fmla="val 4196"/>
            </a:avLst>
          </a:prstGeom>
          <a:solidFill>
            <a:srgbClr val="FFFFFF"/>
          </a:solidFill>
          <a:ln w="9525">
            <a:solidFill>
              <a:srgbClr val="D8CCBB"/>
            </a:solidFill>
            <a:prstDash val="solid"/>
          </a:ln>
        </p:spPr>
        <p:txBody>
          <a:bodyPr/>
          <a:p>
            <a:endParaRPr lang="zh-CN" altLang="en-US"/>
          </a:p>
        </p:txBody>
      </p:sp>
      <p:sp>
        <p:nvSpPr>
          <p:cNvPr id="12" name="圆角矩形 11"/>
          <p:cNvSpPr>
            <a:spLocks noGrp="1"/>
          </p:cNvSpPr>
          <p:nvPr>
            <p:custDataLst>
              <p:tags r:id="rId6"/>
            </p:custDataLst>
          </p:nvPr>
        </p:nvSpPr>
        <p:spPr>
          <a:xfrm>
            <a:off x="6362700" y="2190750"/>
            <a:ext cx="57150" cy="2724150"/>
          </a:xfrm>
          <a:prstGeom prst="roundRect">
            <a:avLst>
              <a:gd name="adj" fmla="val 33333"/>
            </a:avLst>
          </a:prstGeom>
          <a:solidFill>
            <a:srgbClr val="B77845"/>
          </a:solidFill>
          <a:ln w="9525">
            <a:solidFill>
              <a:srgbClr val="B77845"/>
            </a:solidFill>
            <a:prstDash val="solid"/>
          </a:ln>
        </p:spPr>
      </p:sp>
      <p:sp>
        <p:nvSpPr>
          <p:cNvPr id="13" name="矩形 12"/>
          <p:cNvSpPr>
            <a:spLocks noGrp="1"/>
          </p:cNvSpPr>
          <p:nvPr>
            <p:custDataLst>
              <p:tags r:id="rId7"/>
            </p:custDataLst>
          </p:nvPr>
        </p:nvSpPr>
        <p:spPr>
          <a:xfrm>
            <a:off x="6591300" y="2400300"/>
            <a:ext cx="20955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Why AI may be different</a:t>
            </a:r>
            <a:endParaRPr sz="1275" b="1" i="0">
              <a:solidFill>
                <a:srgbClr val="B77845"/>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custDataLst>
              <p:tags r:id="rId8"/>
            </p:custDataLst>
          </p:nvPr>
        </p:nvSpPr>
        <p:spPr>
          <a:xfrm>
            <a:off x="6591300" y="2781300"/>
            <a:ext cx="4356735" cy="1850390"/>
          </a:xfrm>
          <a:prstGeom prst="rect">
            <a:avLst/>
          </a:prstGeom>
          <a:noFill/>
          <a:ln w="0">
            <a:noFill/>
            <a:prstDash val="solid"/>
          </a:ln>
        </p:spPr>
        <p:txBody>
          <a:bodyPr wrap="square" lIns="0" tIns="0" rIns="0" bIns="0" anchor="t"/>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A single AI mistake may not feel like just one mistake. People may start to think the AI itself is unreliable.</a:t>
            </a:r>
            <a:endParaRPr lang="en-US" altLang="zh-CN" sz="120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And once that impression is formed, it can carry over to later rounds. Even if the AI performs well afterward, people may still remember the earlier failure.</a:t>
            </a:r>
            <a:endParaRPr lang="en-US" altLang="zh-CN" sz="120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So the key question is not simply whether people dislike AI errors. </a:t>
            </a:r>
            <a:r>
              <a:rPr lang="en-US" altLang="zh-CN" sz="1200" b="0" i="0">
                <a:solidFill>
                  <a:srgbClr val="231D17"/>
                </a:solidFill>
                <a:latin typeface="Times New Roman" panose="02020603050405020304"/>
                <a:ea typeface="Times New Roman" panose="02020603050405020304"/>
                <a:cs typeface="Times New Roman" panose="02020603050405020304"/>
              </a:rPr>
              <a:t>is how people's trust in AI changes over time during repeated interactions.</a:t>
            </a:r>
            <a:endParaRPr lang="en-US" altLang="zh-CN" sz="120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endParaRPr lang="en-US" altLang="zh-CN" sz="1200" b="0" i="0">
              <a:solidFill>
                <a:srgbClr val="231D17"/>
              </a:solidFill>
              <a:latin typeface="Times New Roman" panose="02020603050405020304"/>
              <a:ea typeface="Times New Roman" panose="02020603050405020304"/>
              <a:cs typeface="Times New Roman" panose="02020603050405020304"/>
            </a:endParaRPr>
          </a:p>
        </p:txBody>
      </p:sp>
      <p:sp>
        <p:nvSpPr>
          <p:cNvPr id="15" name="直接连接符 14"/>
          <p:cNvSpPr>
            <a:spLocks noGrp="1"/>
          </p:cNvSpPr>
          <p:nvPr/>
        </p:nvSpPr>
        <p:spPr>
          <a:xfrm>
            <a:off x="914400" y="5219700"/>
            <a:ext cx="10287000" cy="9525"/>
          </a:xfrm>
          <a:prstGeom prst="line">
            <a:avLst/>
          </a:prstGeom>
          <a:ln w="9525">
            <a:solidFill>
              <a:srgbClr val="D8CCBB"/>
            </a:solidFill>
            <a:prstDash val="solid"/>
          </a:ln>
        </p:spPr>
      </p:sp>
      <p:sp>
        <p:nvSpPr>
          <p:cNvPr id="16" name="矩形 15"/>
          <p:cNvSpPr>
            <a:spLocks noGrp="1"/>
          </p:cNvSpPr>
          <p:nvPr/>
        </p:nvSpPr>
        <p:spPr>
          <a:xfrm>
            <a:off x="914400" y="5429250"/>
            <a:ext cx="10287000" cy="4191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Puzzle: when later performance is matched again, does reliance return symmetrically, or does an early AI miss leave a longer shadow?</a:t>
            </a:r>
            <a:endParaRPr sz="1350" b="1"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EXISTING WORK</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矩形 4"/>
          <p:cNvSpPr>
            <a:spLocks noGrp="1"/>
          </p:cNvSpPr>
          <p:nvPr/>
        </p:nvSpPr>
        <p:spPr>
          <a:xfrm>
            <a:off x="914400" y="952500"/>
            <a:ext cx="9144000" cy="438150"/>
          </a:xfrm>
          <a:prstGeom prst="rect">
            <a:avLst/>
          </a:prstGeom>
          <a:noFill/>
          <a:ln w="0">
            <a:noFill/>
            <a:prstDash val="solid"/>
          </a:ln>
        </p:spPr>
        <p:txBody>
          <a:bodyPr wrap="square" lIns="0" tIns="0" rIns="0" bIns="0" anchor="t">
            <a:normAutofit/>
          </a:bodyPr>
          <a:lstStyle/>
          <a:p>
            <a:pPr algn="l">
              <a:lnSpc>
                <a:spcPct val="96000"/>
              </a:lnSpc>
              <a:buNone/>
              <a:defRPr sz="2625" b="1" i="0">
                <a:solidFill>
                  <a:srgbClr val="231D17"/>
                </a:solidFill>
                <a:latin typeface="Times New Roman" panose="02020603050405020304"/>
                <a:ea typeface="Times New Roman" panose="02020603050405020304"/>
                <a:cs typeface="Times New Roman" panose="02020603050405020304"/>
              </a:defRPr>
            </a:pPr>
            <a:r>
              <a:rPr sz="2625" b="1" i="0">
                <a:solidFill>
                  <a:srgbClr val="231D17"/>
                </a:solidFill>
                <a:latin typeface="Times New Roman" panose="02020603050405020304"/>
                <a:ea typeface="Times New Roman" panose="02020603050405020304"/>
                <a:cs typeface="Times New Roman" panose="02020603050405020304"/>
              </a:rPr>
              <a:t>Existing Work Explains Adoption Better Than Reliance Paths</a:t>
            </a:r>
            <a:endParaRPr sz="2625" b="1" i="0">
              <a:solidFill>
                <a:srgbClr val="231D17"/>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914400" y="1466850"/>
            <a:ext cx="9906000" cy="361950"/>
          </a:xfrm>
          <a:prstGeom prst="rect">
            <a:avLst/>
          </a:prstGeom>
          <a:noFill/>
          <a:ln w="0">
            <a:noFill/>
            <a:prstDash val="solid"/>
          </a:ln>
        </p:spPr>
        <p:txBody>
          <a:bodyPr wrap="square" lIns="0" tIns="0" rIns="0" bIns="0" anchor="t">
            <a:normAutofit fontScale="89329"/>
          </a:bodyPr>
          <a:lstStyle/>
          <a:p>
            <a:pPr algn="l">
              <a:lnSpc>
                <a:spcPct val="105000"/>
              </a:lnSpc>
              <a:buNone/>
              <a:defRPr sz="1315" b="0" i="0">
                <a:solidFill>
                  <a:srgbClr val="6F665C"/>
                </a:solidFill>
                <a:latin typeface="Times New Roman" panose="02020603050405020304"/>
                <a:ea typeface="Times New Roman" panose="02020603050405020304"/>
                <a:cs typeface="Times New Roman" panose="02020603050405020304"/>
              </a:defRPr>
            </a:pPr>
            <a:r>
              <a:rPr sz="1315" b="0" i="0">
                <a:solidFill>
                  <a:srgbClr val="6F665C"/>
                </a:solidFill>
                <a:latin typeface="Times New Roman" panose="02020603050405020304"/>
                <a:ea typeface="Times New Roman" panose="02020603050405020304"/>
                <a:cs typeface="Times New Roman" panose="02020603050405020304"/>
              </a:rPr>
              <a:t>The literature already explains trust, advice use, and algorithm error reactions. The unresolved question is how feedback history reshapes later self-versus-AI reliance.</a:t>
            </a:r>
            <a:endParaRPr sz="1315"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nvSpPr>
        <p:spPr>
          <a:xfrm>
            <a:off x="914400" y="2114550"/>
            <a:ext cx="3143250" cy="1200150"/>
          </a:xfrm>
          <a:prstGeom prst="roundRect">
            <a:avLst>
              <a:gd name="adj" fmla="val 6349"/>
            </a:avLst>
          </a:prstGeom>
          <a:solidFill>
            <a:srgbClr val="FFFFFF"/>
          </a:solidFill>
          <a:ln w="9525">
            <a:solidFill>
              <a:srgbClr val="D8CCBB"/>
            </a:solidFill>
            <a:prstDash val="solid"/>
          </a:ln>
        </p:spPr>
      </p:sp>
      <p:sp>
        <p:nvSpPr>
          <p:cNvPr id="8" name="圆角矩形 7"/>
          <p:cNvSpPr>
            <a:spLocks noGrp="1"/>
          </p:cNvSpPr>
          <p:nvPr/>
        </p:nvSpPr>
        <p:spPr>
          <a:xfrm>
            <a:off x="914400" y="2114550"/>
            <a:ext cx="47625" cy="1200150"/>
          </a:xfrm>
          <a:prstGeom prst="roundRect">
            <a:avLst>
              <a:gd name="adj" fmla="val 40000"/>
            </a:avLst>
          </a:prstGeom>
          <a:solidFill>
            <a:srgbClr val="B77845"/>
          </a:solidFill>
          <a:ln w="9525">
            <a:solidFill>
              <a:srgbClr val="B77845"/>
            </a:solidFill>
            <a:prstDash val="solid"/>
          </a:ln>
        </p:spPr>
      </p:sp>
      <p:sp>
        <p:nvSpPr>
          <p:cNvPr id="9" name="矩形 8"/>
          <p:cNvSpPr>
            <a:spLocks noGrp="1"/>
          </p:cNvSpPr>
          <p:nvPr/>
        </p:nvSpPr>
        <p:spPr>
          <a:xfrm>
            <a:off x="1123950" y="2247900"/>
            <a:ext cx="2724150" cy="323850"/>
          </a:xfrm>
          <a:prstGeom prst="rect">
            <a:avLst/>
          </a:prstGeom>
          <a:noFill/>
          <a:ln w="0">
            <a:noFill/>
            <a:prstDash val="solid"/>
          </a:ln>
        </p:spPr>
        <p:txBody>
          <a:bodyPr wrap="square" lIns="0" tIns="0" rIns="0" bIns="0" anchor="t">
            <a:normAutofit fontScale="92232"/>
          </a:bodyPr>
          <a:lstStyle/>
          <a:p>
            <a:pPr algn="l">
              <a:lnSpc>
                <a:spcPct val="9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Automation trust and appropriate reliance</a:t>
            </a:r>
            <a:endParaRPr sz="1275" b="1" i="0">
              <a:solidFill>
                <a:srgbClr val="B77845"/>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123950" y="2647950"/>
            <a:ext cx="2724150" cy="361950"/>
          </a:xfrm>
          <a:prstGeom prst="rect">
            <a:avLst/>
          </a:prstGeom>
          <a:noFill/>
          <a:ln w="0">
            <a:noFill/>
            <a:prstDash val="solid"/>
          </a:ln>
        </p:spPr>
        <p:txBody>
          <a:bodyPr wrap="square" lIns="0" tIns="0" rIns="0" bIns="0" anchor="t">
            <a:normAutofit fontScale="87293"/>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The key issue is not blind trust, but calibrated reliance on automation when its capabilities and limits are understood.</a:t>
            </a:r>
            <a:endParaRPr sz="1045" b="0" i="0">
              <a:solidFill>
                <a:srgbClr val="231D17"/>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1123950" y="31051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(Lee &amp; See, 2004)</a:t>
            </a:r>
            <a:endParaRPr sz="915" b="0" i="1">
              <a:solidFill>
                <a:srgbClr val="6F665C"/>
              </a:solidFill>
              <a:latin typeface="Times New Roman" panose="02020603050405020304"/>
              <a:ea typeface="Times New Roman" panose="02020603050405020304"/>
              <a:cs typeface="Times New Roman" panose="02020603050405020304"/>
            </a:endParaRPr>
          </a:p>
        </p:txBody>
      </p:sp>
      <p:sp>
        <p:nvSpPr>
          <p:cNvPr id="12" name="圆角矩形 11"/>
          <p:cNvSpPr>
            <a:spLocks noGrp="1"/>
          </p:cNvSpPr>
          <p:nvPr/>
        </p:nvSpPr>
        <p:spPr>
          <a:xfrm>
            <a:off x="4343400" y="2114550"/>
            <a:ext cx="3143250" cy="1200150"/>
          </a:xfrm>
          <a:prstGeom prst="roundRect">
            <a:avLst>
              <a:gd name="adj" fmla="val 6349"/>
            </a:avLst>
          </a:prstGeom>
          <a:solidFill>
            <a:srgbClr val="FFFFFF"/>
          </a:solidFill>
          <a:ln w="9525">
            <a:solidFill>
              <a:srgbClr val="D8CCBB"/>
            </a:solidFill>
            <a:prstDash val="solid"/>
          </a:ln>
        </p:spPr>
      </p:sp>
      <p:sp>
        <p:nvSpPr>
          <p:cNvPr id="13" name="圆角矩形 12"/>
          <p:cNvSpPr>
            <a:spLocks noGrp="1"/>
          </p:cNvSpPr>
          <p:nvPr/>
        </p:nvSpPr>
        <p:spPr>
          <a:xfrm>
            <a:off x="4343400" y="2114550"/>
            <a:ext cx="47625" cy="1200150"/>
          </a:xfrm>
          <a:prstGeom prst="roundRect">
            <a:avLst>
              <a:gd name="adj" fmla="val 40000"/>
            </a:avLst>
          </a:prstGeom>
          <a:solidFill>
            <a:srgbClr val="818A68"/>
          </a:solidFill>
          <a:ln w="9525">
            <a:solidFill>
              <a:srgbClr val="818A68"/>
            </a:solidFill>
            <a:prstDash val="solid"/>
          </a:ln>
        </p:spPr>
      </p:sp>
      <p:sp>
        <p:nvSpPr>
          <p:cNvPr id="14" name="矩形 13"/>
          <p:cNvSpPr>
            <a:spLocks noGrp="1"/>
          </p:cNvSpPr>
          <p:nvPr/>
        </p:nvSpPr>
        <p:spPr>
          <a:xfrm>
            <a:off x="4552950" y="2247900"/>
            <a:ext cx="2724150" cy="323850"/>
          </a:xfrm>
          <a:prstGeom prst="rect">
            <a:avLst/>
          </a:prstGeom>
          <a:noFill/>
          <a:ln w="0">
            <a:noFill/>
            <a:prstDash val="solid"/>
          </a:ln>
        </p:spPr>
        <p:txBody>
          <a:bodyPr wrap="square" lIns="0" tIns="0" rIns="0" bIns="0" anchor="t">
            <a:normAutofit fontScale="95521"/>
          </a:bodyPr>
          <a:lstStyle/>
          <a:p>
            <a:pPr algn="l">
              <a:lnSpc>
                <a:spcPct val="98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Advice taking and egocentric discounting</a:t>
            </a:r>
            <a:endParaRPr sz="1275" b="1" i="0">
              <a:solidFill>
                <a:srgbClr val="818A68"/>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4552950" y="2647950"/>
            <a:ext cx="2724150" cy="361950"/>
          </a:xfrm>
          <a:prstGeom prst="rect">
            <a:avLst/>
          </a:prstGeom>
          <a:noFill/>
          <a:ln w="0">
            <a:noFill/>
            <a:prstDash val="solid"/>
          </a:ln>
        </p:spPr>
        <p:txBody>
          <a:bodyPr wrap="square" lIns="0" tIns="0" rIns="0" bIns="0" anchor="t">
            <a:normAutofit fontScale="86811"/>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People often discount external advice and overweight their own judgment, even when advice could improve decisions.</a:t>
            </a:r>
            <a:endParaRPr sz="1045" b="0" i="0">
              <a:solidFill>
                <a:srgbClr val="231D17"/>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4552950" y="31051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(Yaniv &amp; Kleinberger, 2000; Bonaccio &amp; Dalal, 2006)</a:t>
            </a:r>
            <a:endParaRPr sz="915" b="0" i="1">
              <a:solidFill>
                <a:srgbClr val="6F665C"/>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914400" y="3486150"/>
            <a:ext cx="3143250" cy="1200150"/>
          </a:xfrm>
          <a:prstGeom prst="roundRect">
            <a:avLst>
              <a:gd name="adj" fmla="val 6349"/>
            </a:avLst>
          </a:prstGeom>
          <a:solidFill>
            <a:srgbClr val="FFFFFF"/>
          </a:solidFill>
          <a:ln w="9525">
            <a:solidFill>
              <a:srgbClr val="D8CCBB"/>
            </a:solidFill>
            <a:prstDash val="solid"/>
          </a:ln>
        </p:spPr>
      </p:sp>
      <p:sp>
        <p:nvSpPr>
          <p:cNvPr id="18" name="圆角矩形 17"/>
          <p:cNvSpPr>
            <a:spLocks noGrp="1"/>
          </p:cNvSpPr>
          <p:nvPr/>
        </p:nvSpPr>
        <p:spPr>
          <a:xfrm>
            <a:off x="914400" y="3486150"/>
            <a:ext cx="47625" cy="1200150"/>
          </a:xfrm>
          <a:prstGeom prst="roundRect">
            <a:avLst>
              <a:gd name="adj" fmla="val 40000"/>
            </a:avLst>
          </a:prstGeom>
          <a:solidFill>
            <a:srgbClr val="23384A"/>
          </a:solidFill>
          <a:ln w="9525">
            <a:solidFill>
              <a:srgbClr val="23384A"/>
            </a:solidFill>
            <a:prstDash val="solid"/>
          </a:ln>
        </p:spPr>
      </p:sp>
      <p:sp>
        <p:nvSpPr>
          <p:cNvPr id="19" name="矩形 18"/>
          <p:cNvSpPr>
            <a:spLocks noGrp="1"/>
          </p:cNvSpPr>
          <p:nvPr/>
        </p:nvSpPr>
        <p:spPr>
          <a:xfrm>
            <a:off x="1123950" y="3619500"/>
            <a:ext cx="2724150" cy="323850"/>
          </a:xfrm>
          <a:prstGeom prst="rect">
            <a:avLst/>
          </a:prstGeom>
          <a:noFill/>
          <a:ln w="0">
            <a:noFill/>
            <a:prstDash val="solid"/>
          </a:ln>
        </p:spPr>
        <p:txBody>
          <a:bodyPr wrap="square" lIns="0" tIns="0" rIns="0" bIns="0" anchor="t">
            <a:normAutofit/>
          </a:bodyPr>
          <a:lstStyle/>
          <a:p>
            <a:pPr algn="l">
              <a:lnSpc>
                <a:spcPct val="98000"/>
              </a:lnSpc>
              <a:buNone/>
              <a:defRPr sz="1275" b="1" i="0">
                <a:solidFill>
                  <a:srgbClr val="23384A"/>
                </a:solidFill>
                <a:latin typeface="Times New Roman" panose="02020603050405020304"/>
                <a:ea typeface="Times New Roman" panose="02020603050405020304"/>
                <a:cs typeface="Times New Roman" panose="02020603050405020304"/>
              </a:defRPr>
            </a:pPr>
            <a:r>
              <a:rPr sz="1275" b="1" i="0">
                <a:solidFill>
                  <a:srgbClr val="23384A"/>
                </a:solidFill>
                <a:latin typeface="Times New Roman" panose="02020603050405020304"/>
                <a:ea typeface="Times New Roman" panose="02020603050405020304"/>
                <a:cs typeface="Times New Roman" panose="02020603050405020304"/>
              </a:rPr>
              <a:t>Algorithm aversion and appreciation</a:t>
            </a:r>
            <a:endParaRPr sz="1275" b="1" i="0">
              <a:solidFill>
                <a:srgbClr val="23384A"/>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1123950" y="4019550"/>
            <a:ext cx="2724150" cy="361950"/>
          </a:xfrm>
          <a:prstGeom prst="rect">
            <a:avLst/>
          </a:prstGeom>
          <a:noFill/>
          <a:ln w="0">
            <a:noFill/>
            <a:prstDash val="solid"/>
          </a:ln>
        </p:spPr>
        <p:txBody>
          <a:bodyPr wrap="square" lIns="0" tIns="0" rIns="0" bIns="0" anchor="t">
            <a:normAutofit fontScale="79131"/>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Algorithmic sources can be punished after visible errors, but algorithmic advice can also be preferred in some judgment tasks.</a:t>
            </a:r>
            <a:endParaRPr sz="1045" b="0" i="0">
              <a:solidFill>
                <a:srgbClr val="231D17"/>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1123950" y="44767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(Dietvorst et al., 2015; Logg et al., 2019)</a:t>
            </a:r>
            <a:endParaRPr sz="915" b="0" i="1">
              <a:solidFill>
                <a:srgbClr val="6F665C"/>
              </a:solidFill>
              <a:latin typeface="Times New Roman" panose="02020603050405020304"/>
              <a:ea typeface="Times New Roman" panose="02020603050405020304"/>
              <a:cs typeface="Times New Roman" panose="02020603050405020304"/>
            </a:endParaRPr>
          </a:p>
        </p:txBody>
      </p:sp>
      <p:sp>
        <p:nvSpPr>
          <p:cNvPr id="22" name="圆角矩形 21"/>
          <p:cNvSpPr>
            <a:spLocks noGrp="1"/>
          </p:cNvSpPr>
          <p:nvPr/>
        </p:nvSpPr>
        <p:spPr>
          <a:xfrm>
            <a:off x="4343400" y="3486150"/>
            <a:ext cx="3143250" cy="1200150"/>
          </a:xfrm>
          <a:prstGeom prst="roundRect">
            <a:avLst>
              <a:gd name="adj" fmla="val 6349"/>
            </a:avLst>
          </a:prstGeom>
          <a:solidFill>
            <a:srgbClr val="FFFFFF"/>
          </a:solidFill>
          <a:ln w="9525">
            <a:solidFill>
              <a:srgbClr val="D8CCBB"/>
            </a:solidFill>
            <a:prstDash val="solid"/>
          </a:ln>
        </p:spPr>
      </p:sp>
      <p:sp>
        <p:nvSpPr>
          <p:cNvPr id="23" name="圆角矩形 22"/>
          <p:cNvSpPr>
            <a:spLocks noGrp="1"/>
          </p:cNvSpPr>
          <p:nvPr/>
        </p:nvSpPr>
        <p:spPr>
          <a:xfrm>
            <a:off x="4343400" y="3486150"/>
            <a:ext cx="47625" cy="1200150"/>
          </a:xfrm>
          <a:prstGeom prst="roundRect">
            <a:avLst>
              <a:gd name="adj" fmla="val 40000"/>
            </a:avLst>
          </a:prstGeom>
          <a:solidFill>
            <a:srgbClr val="B77845"/>
          </a:solidFill>
          <a:ln w="9525">
            <a:solidFill>
              <a:srgbClr val="B77845"/>
            </a:solidFill>
            <a:prstDash val="solid"/>
          </a:ln>
        </p:spPr>
      </p:sp>
      <p:sp>
        <p:nvSpPr>
          <p:cNvPr id="24" name="矩形 23"/>
          <p:cNvSpPr>
            <a:spLocks noGrp="1"/>
          </p:cNvSpPr>
          <p:nvPr/>
        </p:nvSpPr>
        <p:spPr>
          <a:xfrm>
            <a:off x="4552950" y="3619500"/>
            <a:ext cx="2724150" cy="323850"/>
          </a:xfrm>
          <a:prstGeom prst="rect">
            <a:avLst/>
          </a:prstGeom>
          <a:noFill/>
          <a:ln w="0">
            <a:noFill/>
            <a:prstDash val="solid"/>
          </a:ln>
        </p:spPr>
        <p:txBody>
          <a:bodyPr wrap="square" lIns="0" tIns="0" rIns="0" bIns="0" anchor="t">
            <a:normAutofit fontScale="90932"/>
          </a:bodyPr>
          <a:lstStyle/>
          <a:p>
            <a:pPr algn="l">
              <a:lnSpc>
                <a:spcPct val="9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Repeated feedback and attraction updating</a:t>
            </a:r>
            <a:endParaRPr sz="1275" b="1" i="0">
              <a:solidFill>
                <a:srgbClr val="B77845"/>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4552950" y="4019550"/>
            <a:ext cx="2724150" cy="361950"/>
          </a:xfrm>
          <a:prstGeom prst="rect">
            <a:avLst/>
          </a:prstGeom>
          <a:noFill/>
          <a:ln w="0">
            <a:noFill/>
            <a:prstDash val="solid"/>
          </a:ln>
        </p:spPr>
        <p:txBody>
          <a:bodyPr wrap="square" lIns="0" tIns="0" rIns="0" bIns="0" anchor="t">
            <a:normAutofit/>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EWA gives a language for repeated choices: past feedback changes the attraction of later options.</a:t>
            </a:r>
            <a:endParaRPr sz="1045" b="0" i="0">
              <a:solidFill>
                <a:srgbClr val="231D17"/>
              </a:solidFill>
              <a:latin typeface="Times New Roman" panose="02020603050405020304"/>
              <a:ea typeface="Times New Roman" panose="02020603050405020304"/>
              <a:cs typeface="Times New Roman" panose="02020603050405020304"/>
            </a:endParaRPr>
          </a:p>
        </p:txBody>
      </p:sp>
      <p:sp>
        <p:nvSpPr>
          <p:cNvPr id="26" name="矩形 25"/>
          <p:cNvSpPr>
            <a:spLocks noGrp="1"/>
          </p:cNvSpPr>
          <p:nvPr/>
        </p:nvSpPr>
        <p:spPr>
          <a:xfrm>
            <a:off x="4552950" y="44767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(Camerer &amp; Ho, 1999)</a:t>
            </a:r>
            <a:endParaRPr sz="915" b="0" i="1">
              <a:solidFill>
                <a:srgbClr val="6F665C"/>
              </a:solidFill>
              <a:latin typeface="Times New Roman" panose="02020603050405020304"/>
              <a:ea typeface="Times New Roman" panose="02020603050405020304"/>
              <a:cs typeface="Times New Roman" panose="02020603050405020304"/>
            </a:endParaRPr>
          </a:p>
        </p:txBody>
      </p:sp>
      <p:sp>
        <p:nvSpPr>
          <p:cNvPr id="27" name="圆角矩形 26"/>
          <p:cNvSpPr>
            <a:spLocks noGrp="1"/>
          </p:cNvSpPr>
          <p:nvPr/>
        </p:nvSpPr>
        <p:spPr>
          <a:xfrm>
            <a:off x="7810500" y="2114550"/>
            <a:ext cx="3429000" cy="2381250"/>
          </a:xfrm>
          <a:prstGeom prst="roundRect">
            <a:avLst>
              <a:gd name="adj" fmla="val 4800"/>
            </a:avLst>
          </a:prstGeom>
          <a:solidFill>
            <a:srgbClr val="FBF7F0"/>
          </a:solidFill>
          <a:ln w="9525">
            <a:solidFill>
              <a:srgbClr val="D8CCBB"/>
            </a:solidFill>
            <a:prstDash val="solid"/>
          </a:ln>
        </p:spPr>
      </p:sp>
      <p:sp>
        <p:nvSpPr>
          <p:cNvPr id="28" name="矩形 27"/>
          <p:cNvSpPr>
            <a:spLocks noGrp="1"/>
          </p:cNvSpPr>
          <p:nvPr/>
        </p:nvSpPr>
        <p:spPr>
          <a:xfrm>
            <a:off x="8077200" y="2343150"/>
            <a:ext cx="2667000" cy="285750"/>
          </a:xfrm>
          <a:prstGeom prst="rect">
            <a:avLst/>
          </a:prstGeom>
          <a:noFill/>
          <a:ln w="0">
            <a:noFill/>
            <a:prstDash val="solid"/>
          </a:ln>
        </p:spPr>
        <p:txBody>
          <a:bodyPr wrap="square" lIns="0" tIns="0" rIns="0" bIns="0" anchor="t">
            <a:normAutofit fontScale="95238"/>
          </a:bodyPr>
          <a:lstStyle/>
          <a:p>
            <a:pPr algn="l">
              <a:lnSpc>
                <a:spcPct val="105000"/>
              </a:lnSpc>
              <a:buNone/>
              <a:defRPr sz="1875" b="1" i="0">
                <a:solidFill>
                  <a:srgbClr val="231D17"/>
                </a:solidFill>
                <a:latin typeface="Times New Roman" panose="02020603050405020304"/>
                <a:ea typeface="Times New Roman" panose="02020603050405020304"/>
                <a:cs typeface="Times New Roman" panose="02020603050405020304"/>
              </a:defRPr>
            </a:pPr>
            <a:r>
              <a:rPr sz="1875" b="1" i="0">
                <a:solidFill>
                  <a:srgbClr val="231D17"/>
                </a:solidFill>
                <a:latin typeface="Times New Roman" panose="02020603050405020304"/>
                <a:ea typeface="Times New Roman" panose="02020603050405020304"/>
                <a:cs typeface="Times New Roman" panose="02020603050405020304"/>
              </a:rPr>
              <a:t>What remains missing</a:t>
            </a:r>
            <a:endParaRPr sz="1875" b="1" i="0">
              <a:solidFill>
                <a:srgbClr val="231D17"/>
              </a:solidFill>
              <a:latin typeface="Times New Roman" panose="02020603050405020304"/>
              <a:ea typeface="Times New Roman" panose="02020603050405020304"/>
              <a:cs typeface="Times New Roman" panose="02020603050405020304"/>
            </a:endParaRPr>
          </a:p>
        </p:txBody>
      </p:sp>
      <p:sp>
        <p:nvSpPr>
          <p:cNvPr id="29" name="椭圆 28"/>
          <p:cNvSpPr>
            <a:spLocks noGrp="1"/>
          </p:cNvSpPr>
          <p:nvPr/>
        </p:nvSpPr>
        <p:spPr>
          <a:xfrm>
            <a:off x="7943850" y="2857500"/>
            <a:ext cx="400050" cy="400050"/>
          </a:xfrm>
          <a:prstGeom prst="ellipse">
            <a:avLst/>
          </a:prstGeom>
          <a:solidFill>
            <a:srgbClr val="23384A"/>
          </a:solidFill>
          <a:ln w="9525">
            <a:solidFill>
              <a:srgbClr val="23384A"/>
            </a:solidFill>
            <a:prstDash val="solid"/>
          </a:ln>
        </p:spPr>
      </p:sp>
      <p:sp>
        <p:nvSpPr>
          <p:cNvPr id="30" name="矩形 29"/>
          <p:cNvSpPr>
            <a:spLocks noGrp="1"/>
          </p:cNvSpPr>
          <p:nvPr/>
        </p:nvSpPr>
        <p:spPr>
          <a:xfrm>
            <a:off x="8077200" y="2962275"/>
            <a:ext cx="133350" cy="152400"/>
          </a:xfrm>
          <a:prstGeom prst="rect">
            <a:avLst/>
          </a:prstGeom>
          <a:noFill/>
          <a:ln w="0">
            <a:noFill/>
            <a:prstDash val="solid"/>
          </a:ln>
        </p:spPr>
        <p:txBody>
          <a:bodyPr wrap="square" lIns="0" tIns="0" rIns="0" bIns="0" anchor="t">
            <a:normAutofit fontScale="84656"/>
          </a:bodyPr>
          <a:lstStyle/>
          <a:p>
            <a:pPr algn="ctr">
              <a:lnSpc>
                <a:spcPct val="105000"/>
              </a:lnSpc>
              <a:buNone/>
              <a:defRPr sz="1125" b="1" i="0">
                <a:solidFill>
                  <a:srgbClr val="F5F0E6"/>
                </a:solidFill>
                <a:latin typeface="Times New Roman" panose="02020603050405020304"/>
                <a:ea typeface="Times New Roman" panose="02020603050405020304"/>
                <a:cs typeface="Times New Roman" panose="02020603050405020304"/>
              </a:defRPr>
            </a:pPr>
            <a:r>
              <a:rPr sz="1125" b="1" i="0">
                <a:solidFill>
                  <a:srgbClr val="F5F0E6"/>
                </a:solidFill>
                <a:latin typeface="Times New Roman" panose="02020603050405020304"/>
                <a:ea typeface="Times New Roman" panose="02020603050405020304"/>
                <a:cs typeface="Times New Roman" panose="02020603050405020304"/>
              </a:rPr>
              <a:t>1</a:t>
            </a:r>
            <a:endParaRPr sz="1125" b="1" i="0">
              <a:solidFill>
                <a:srgbClr val="F5F0E6"/>
              </a:solidFill>
              <a:latin typeface="Times New Roman" panose="02020603050405020304"/>
              <a:ea typeface="Times New Roman" panose="02020603050405020304"/>
              <a:cs typeface="Times New Roman" panose="02020603050405020304"/>
            </a:endParaRPr>
          </a:p>
        </p:txBody>
      </p:sp>
      <p:sp>
        <p:nvSpPr>
          <p:cNvPr id="31" name="矩形 30"/>
          <p:cNvSpPr>
            <a:spLocks noGrp="1"/>
          </p:cNvSpPr>
          <p:nvPr/>
        </p:nvSpPr>
        <p:spPr>
          <a:xfrm>
            <a:off x="8515350" y="2838450"/>
            <a:ext cx="2381250" cy="2286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Multi-round learning</a:t>
            </a:r>
            <a:endParaRPr sz="1350" b="1" i="0">
              <a:solidFill>
                <a:srgbClr val="231D17"/>
              </a:solidFill>
              <a:latin typeface="Times New Roman" panose="02020603050405020304"/>
              <a:ea typeface="Times New Roman" panose="02020603050405020304"/>
              <a:cs typeface="Times New Roman" panose="02020603050405020304"/>
            </a:endParaRPr>
          </a:p>
        </p:txBody>
      </p:sp>
      <p:sp>
        <p:nvSpPr>
          <p:cNvPr id="32" name="矩形 31"/>
          <p:cNvSpPr>
            <a:spLocks noGrp="1"/>
          </p:cNvSpPr>
          <p:nvPr/>
        </p:nvSpPr>
        <p:spPr>
          <a:xfrm>
            <a:off x="8515350" y="3124200"/>
            <a:ext cx="2381250" cy="419100"/>
          </a:xfrm>
          <a:prstGeom prst="rect">
            <a:avLst/>
          </a:prstGeom>
          <a:noFill/>
          <a:ln w="0">
            <a:noFill/>
            <a:prstDash val="solid"/>
          </a:ln>
        </p:spPr>
        <p:txBody>
          <a:bodyPr wrap="square" lIns="0" tIns="0" rIns="0" bIns="0" anchor="t">
            <a:normAutofit/>
          </a:bodyPr>
          <a:lstStyle/>
          <a:p>
            <a:pPr algn="l">
              <a:lnSpc>
                <a:spcPct val="105000"/>
              </a:lnSpc>
              <a:buNone/>
              <a:defRPr sz="1065" b="0" i="0">
                <a:solidFill>
                  <a:srgbClr val="6F665C"/>
                </a:solidFill>
                <a:latin typeface="Times New Roman" panose="02020603050405020304"/>
                <a:ea typeface="Times New Roman" panose="02020603050405020304"/>
                <a:cs typeface="Times New Roman" panose="02020603050405020304"/>
              </a:defRPr>
            </a:pPr>
            <a:r>
              <a:rPr sz="1065" b="0" i="0">
                <a:solidFill>
                  <a:srgbClr val="6F665C"/>
                </a:solidFill>
                <a:latin typeface="Times New Roman" panose="02020603050405020304"/>
                <a:ea typeface="Times New Roman" panose="02020603050405020304"/>
                <a:cs typeface="Times New Roman" panose="02020603050405020304"/>
              </a:rPr>
              <a:t>Most evidence is still closer to one-shot adoption or short-term calibration.</a:t>
            </a:r>
            <a:endParaRPr sz="1065" b="0" i="0">
              <a:solidFill>
                <a:srgbClr val="6F665C"/>
              </a:solidFill>
              <a:latin typeface="Times New Roman" panose="02020603050405020304"/>
              <a:ea typeface="Times New Roman" panose="02020603050405020304"/>
              <a:cs typeface="Times New Roman" panose="02020603050405020304"/>
            </a:endParaRPr>
          </a:p>
        </p:txBody>
      </p:sp>
      <p:sp>
        <p:nvSpPr>
          <p:cNvPr id="33" name="椭圆 32"/>
          <p:cNvSpPr>
            <a:spLocks noGrp="1"/>
          </p:cNvSpPr>
          <p:nvPr/>
        </p:nvSpPr>
        <p:spPr>
          <a:xfrm>
            <a:off x="7943850" y="3676650"/>
            <a:ext cx="400050" cy="400050"/>
          </a:xfrm>
          <a:prstGeom prst="ellipse">
            <a:avLst/>
          </a:prstGeom>
          <a:solidFill>
            <a:srgbClr val="23384A"/>
          </a:solidFill>
          <a:ln w="9525">
            <a:solidFill>
              <a:srgbClr val="23384A"/>
            </a:solidFill>
            <a:prstDash val="solid"/>
          </a:ln>
        </p:spPr>
      </p:sp>
      <p:sp>
        <p:nvSpPr>
          <p:cNvPr id="34" name="矩形 33"/>
          <p:cNvSpPr>
            <a:spLocks noGrp="1"/>
          </p:cNvSpPr>
          <p:nvPr/>
        </p:nvSpPr>
        <p:spPr>
          <a:xfrm>
            <a:off x="8077200" y="3781425"/>
            <a:ext cx="133350" cy="152400"/>
          </a:xfrm>
          <a:prstGeom prst="rect">
            <a:avLst/>
          </a:prstGeom>
          <a:noFill/>
          <a:ln w="0">
            <a:noFill/>
            <a:prstDash val="solid"/>
          </a:ln>
        </p:spPr>
        <p:txBody>
          <a:bodyPr wrap="square" lIns="0" tIns="0" rIns="0" bIns="0" anchor="t">
            <a:normAutofit fontScale="84656"/>
          </a:bodyPr>
          <a:lstStyle/>
          <a:p>
            <a:pPr algn="ctr">
              <a:lnSpc>
                <a:spcPct val="105000"/>
              </a:lnSpc>
              <a:buNone/>
              <a:defRPr sz="1125" b="1" i="0">
                <a:solidFill>
                  <a:srgbClr val="F5F0E6"/>
                </a:solidFill>
                <a:latin typeface="Times New Roman" panose="02020603050405020304"/>
                <a:ea typeface="Times New Roman" panose="02020603050405020304"/>
                <a:cs typeface="Times New Roman" panose="02020603050405020304"/>
              </a:defRPr>
            </a:pPr>
            <a:r>
              <a:rPr sz="1125" b="1" i="0">
                <a:solidFill>
                  <a:srgbClr val="F5F0E6"/>
                </a:solidFill>
                <a:latin typeface="Times New Roman" panose="02020603050405020304"/>
                <a:ea typeface="Times New Roman" panose="02020603050405020304"/>
                <a:cs typeface="Times New Roman" panose="02020603050405020304"/>
              </a:rPr>
              <a:t>2</a:t>
            </a:r>
            <a:endParaRPr sz="1125" b="1" i="0">
              <a:solidFill>
                <a:srgbClr val="F5F0E6"/>
              </a:solidFill>
              <a:latin typeface="Times New Roman" panose="02020603050405020304"/>
              <a:ea typeface="Times New Roman" panose="02020603050405020304"/>
              <a:cs typeface="Times New Roman" panose="02020603050405020304"/>
            </a:endParaRPr>
          </a:p>
        </p:txBody>
      </p:sp>
      <p:sp>
        <p:nvSpPr>
          <p:cNvPr id="35" name="矩形 34"/>
          <p:cNvSpPr>
            <a:spLocks noGrp="1"/>
          </p:cNvSpPr>
          <p:nvPr/>
        </p:nvSpPr>
        <p:spPr>
          <a:xfrm>
            <a:off x="8515350" y="3657600"/>
            <a:ext cx="2381250" cy="2286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Source-specific shock</a:t>
            </a:r>
            <a:endParaRPr sz="1350" b="1" i="0">
              <a:solidFill>
                <a:srgbClr val="231D17"/>
              </a:solidFill>
              <a:latin typeface="Times New Roman" panose="02020603050405020304"/>
              <a:ea typeface="Times New Roman" panose="02020603050405020304"/>
              <a:cs typeface="Times New Roman" panose="02020603050405020304"/>
            </a:endParaRPr>
          </a:p>
        </p:txBody>
      </p:sp>
      <p:sp>
        <p:nvSpPr>
          <p:cNvPr id="36" name="矩形 35"/>
          <p:cNvSpPr>
            <a:spLocks noGrp="1"/>
          </p:cNvSpPr>
          <p:nvPr/>
        </p:nvSpPr>
        <p:spPr>
          <a:xfrm>
            <a:off x="8515350" y="3943350"/>
            <a:ext cx="2381250" cy="419100"/>
          </a:xfrm>
          <a:prstGeom prst="rect">
            <a:avLst/>
          </a:prstGeom>
          <a:noFill/>
          <a:ln w="0">
            <a:noFill/>
            <a:prstDash val="solid"/>
          </a:ln>
        </p:spPr>
        <p:txBody>
          <a:bodyPr wrap="square" lIns="0" tIns="0" rIns="0" bIns="0" anchor="t">
            <a:normAutofit/>
          </a:bodyPr>
          <a:lstStyle/>
          <a:p>
            <a:pPr algn="l">
              <a:lnSpc>
                <a:spcPct val="105000"/>
              </a:lnSpc>
              <a:buNone/>
              <a:defRPr sz="1065" b="0" i="0">
                <a:solidFill>
                  <a:srgbClr val="6F665C"/>
                </a:solidFill>
                <a:latin typeface="Times New Roman" panose="02020603050405020304"/>
                <a:ea typeface="Times New Roman" panose="02020603050405020304"/>
                <a:cs typeface="Times New Roman" panose="02020603050405020304"/>
              </a:defRPr>
            </a:pPr>
            <a:r>
              <a:rPr sz="1065" b="0" i="0">
                <a:solidFill>
                  <a:srgbClr val="6F665C"/>
                </a:solidFill>
                <a:latin typeface="Times New Roman" panose="02020603050405020304"/>
                <a:ea typeface="Times New Roman" panose="02020603050405020304"/>
                <a:cs typeface="Times New Roman" panose="02020603050405020304"/>
              </a:rPr>
              <a:t>Less is known about whether comparable AI errors carry extra diagnostic weight.</a:t>
            </a:r>
            <a:endParaRPr sz="1065" b="0" i="0">
              <a:solidFill>
                <a:srgbClr val="6F665C"/>
              </a:solidFill>
              <a:latin typeface="Times New Roman" panose="02020603050405020304"/>
              <a:ea typeface="Times New Roman" panose="02020603050405020304"/>
              <a:cs typeface="Times New Roman" panose="02020603050405020304"/>
            </a:endParaRPr>
          </a:p>
        </p:txBody>
      </p:sp>
      <p:sp>
        <p:nvSpPr>
          <p:cNvPr id="37" name="圆角矩形 36"/>
          <p:cNvSpPr>
            <a:spLocks noGrp="1"/>
          </p:cNvSpPr>
          <p:nvPr/>
        </p:nvSpPr>
        <p:spPr>
          <a:xfrm>
            <a:off x="7810500" y="4743450"/>
            <a:ext cx="3429000" cy="819150"/>
          </a:xfrm>
          <a:prstGeom prst="roundRect">
            <a:avLst>
              <a:gd name="adj" fmla="val 13953"/>
            </a:avLst>
          </a:prstGeom>
          <a:solidFill>
            <a:srgbClr val="23384A"/>
          </a:solidFill>
          <a:ln w="9525">
            <a:solidFill>
              <a:srgbClr val="23384A"/>
            </a:solidFill>
            <a:prstDash val="solid"/>
          </a:ln>
        </p:spPr>
      </p:sp>
      <p:sp>
        <p:nvSpPr>
          <p:cNvPr id="38" name="矩形 37"/>
          <p:cNvSpPr>
            <a:spLocks noGrp="1"/>
          </p:cNvSpPr>
          <p:nvPr/>
        </p:nvSpPr>
        <p:spPr>
          <a:xfrm>
            <a:off x="8077200" y="4914900"/>
            <a:ext cx="2857500" cy="457200"/>
          </a:xfrm>
          <a:prstGeom prst="rect">
            <a:avLst/>
          </a:prstGeom>
          <a:noFill/>
          <a:ln w="0">
            <a:noFill/>
            <a:prstDash val="solid"/>
          </a:ln>
        </p:spPr>
        <p:txBody>
          <a:bodyPr wrap="square" lIns="0" tIns="0" rIns="0" bIns="0" anchor="t">
            <a:normAutofit fontScale="74781"/>
          </a:bodyPr>
          <a:lstStyle/>
          <a:p>
            <a:pPr algn="ctr">
              <a:lnSpc>
                <a:spcPct val="108000"/>
              </a:lnSpc>
              <a:buNone/>
              <a:defRPr sz="1350" b="1" i="0">
                <a:solidFill>
                  <a:srgbClr val="F5F0E6"/>
                </a:solidFill>
                <a:latin typeface="Times New Roman" panose="02020603050405020304"/>
                <a:ea typeface="Times New Roman" panose="02020603050405020304"/>
                <a:cs typeface="Times New Roman" panose="02020603050405020304"/>
              </a:defRPr>
            </a:pPr>
            <a:r>
              <a:rPr sz="1350" b="1" i="0">
                <a:solidFill>
                  <a:srgbClr val="F5F0E6"/>
                </a:solidFill>
                <a:latin typeface="Times New Roman" panose="02020603050405020304"/>
                <a:ea typeface="Times New Roman" panose="02020603050405020304"/>
                <a:cs typeface="Times New Roman" panose="02020603050405020304"/>
              </a:rPr>
              <a:t>Paper 2 therefore studies dynamic reliance after localized AI error shocks under performance parity.</a:t>
            </a:r>
            <a:endParaRPr sz="1350" b="1" i="0">
              <a:solidFill>
                <a:srgbClr val="F5F0E6"/>
              </a:solidFill>
              <a:latin typeface="Times New Roman" panose="02020603050405020304"/>
              <a:ea typeface="Times New Roman" panose="02020603050405020304"/>
              <a:cs typeface="Times New Roman" panose="02020603050405020304"/>
            </a:endParaRPr>
          </a:p>
        </p:txBody>
      </p:sp>
      <p:sp>
        <p:nvSpPr>
          <p:cNvPr id="39" name="圆角矩形 38"/>
          <p:cNvSpPr>
            <a:spLocks noGrp="1"/>
          </p:cNvSpPr>
          <p:nvPr/>
        </p:nvSpPr>
        <p:spPr>
          <a:xfrm>
            <a:off x="914400" y="5810250"/>
            <a:ext cx="10325100" cy="419100"/>
          </a:xfrm>
          <a:prstGeom prst="roundRect">
            <a:avLst>
              <a:gd name="adj" fmla="val 18182"/>
            </a:avLst>
          </a:prstGeom>
          <a:solidFill>
            <a:srgbClr val="EFE6D8"/>
          </a:solidFill>
          <a:ln w="9525">
            <a:solidFill>
              <a:srgbClr val="D8CCBB"/>
            </a:solidFill>
            <a:prstDash val="solid"/>
          </a:ln>
        </p:spPr>
      </p:sp>
      <p:sp>
        <p:nvSpPr>
          <p:cNvPr id="40" name="矩形 39"/>
          <p:cNvSpPr>
            <a:spLocks noGrp="1"/>
          </p:cNvSpPr>
          <p:nvPr/>
        </p:nvSpPr>
        <p:spPr>
          <a:xfrm>
            <a:off x="1200150" y="5924550"/>
            <a:ext cx="9753600" cy="171450"/>
          </a:xfrm>
          <a:prstGeom prst="rect">
            <a:avLst/>
          </a:prstGeom>
          <a:noFill/>
          <a:ln w="0">
            <a:noFill/>
            <a:prstDash val="solid"/>
          </a:ln>
        </p:spPr>
        <p:txBody>
          <a:bodyPr wrap="square" lIns="0" tIns="0" rIns="0" bIns="0" anchor="t">
            <a:normAutofit fontScale="89286"/>
          </a:bodyPr>
          <a:lstStyle/>
          <a:p>
            <a:pPr algn="ctr">
              <a:lnSpc>
                <a:spcPct val="105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the gap is not that AI trust is unstudied; it is that error reactions are rarely tracked as path-dependent reliance updating.</a:t>
            </a:r>
            <a:endParaRPr sz="1200" b="1"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GAP</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gap has two parts: most work is not multi-round, and most work does not isolate AI-specific diagnostic asymmetry</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paper therefore targets a dynamic asymmetry problem under repeated feedback rather than a broad statement about distrust.</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nvSpPr>
        <p:spPr>
          <a:xfrm>
            <a:off x="914400" y="2286000"/>
            <a:ext cx="10287000" cy="990600"/>
          </a:xfrm>
          <a:prstGeom prst="roundRect">
            <a:avLst>
              <a:gd name="adj" fmla="val 11538"/>
            </a:avLst>
          </a:prstGeom>
          <a:solidFill>
            <a:srgbClr val="FFFFFF"/>
          </a:solidFill>
          <a:ln w="9525">
            <a:solidFill>
              <a:srgbClr val="D8CCBB"/>
            </a:solidFill>
            <a:prstDash val="solid"/>
          </a:ln>
        </p:spPr>
      </p:sp>
      <p:sp>
        <p:nvSpPr>
          <p:cNvPr id="8" name="圆角矩形 7"/>
          <p:cNvSpPr>
            <a:spLocks noGrp="1"/>
          </p:cNvSpPr>
          <p:nvPr/>
        </p:nvSpPr>
        <p:spPr>
          <a:xfrm>
            <a:off x="914400" y="2286000"/>
            <a:ext cx="57150" cy="9906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62050" y="2457450"/>
            <a:ext cx="2286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Gap 1: multi-round updating</a:t>
            </a:r>
            <a:endParaRPr sz="1350" b="1" i="0">
              <a:solidFill>
                <a:srgbClr val="B77845"/>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162050" y="2743200"/>
            <a:ext cx="9620250" cy="361950"/>
          </a:xfrm>
          <a:prstGeom prst="rect">
            <a:avLst/>
          </a:prstGeom>
          <a:noFill/>
          <a:ln w="0">
            <a:noFill/>
            <a:prstDash val="solid"/>
          </a:ln>
        </p:spPr>
        <p:txBody>
          <a:bodyPr wrap="square" lIns="0" tIns="0" rIns="0" bIns="0" anchor="t">
            <a:normAutofit lnSpcReduction="20000"/>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75" b="0" i="0">
                <a:solidFill>
                  <a:srgbClr val="231D17"/>
                </a:solidFill>
                <a:latin typeface="Times New Roman" panose="02020603050405020304"/>
                <a:ea typeface="Times New Roman" panose="02020603050405020304"/>
                <a:cs typeface="Times New Roman" panose="02020603050405020304"/>
              </a:rPr>
              <a:t>In the real world, people rarely interact with AI only once. Human–AI collaboration is an ongoing process. However, most previous studies have relied on one-shot experiments to measure trust and collaboration between humans and AI.</a:t>
            </a:r>
            <a:endParaRPr lang="en-US" altLang="zh-CN" sz="1275" b="0" i="0">
              <a:solidFill>
                <a:srgbClr val="231D17"/>
              </a:solidFill>
              <a:latin typeface="Times New Roman" panose="02020603050405020304"/>
              <a:ea typeface="Times New Roman" panose="02020603050405020304"/>
              <a:cs typeface="Times New Roman" panose="02020603050405020304"/>
            </a:endParaRPr>
          </a:p>
        </p:txBody>
      </p:sp>
      <p:sp>
        <p:nvSpPr>
          <p:cNvPr id="11" name="圆角矩形 10"/>
          <p:cNvSpPr>
            <a:spLocks noGrp="1"/>
          </p:cNvSpPr>
          <p:nvPr/>
        </p:nvSpPr>
        <p:spPr>
          <a:xfrm>
            <a:off x="914400" y="3581400"/>
            <a:ext cx="10287000" cy="990600"/>
          </a:xfrm>
          <a:prstGeom prst="roundRect">
            <a:avLst>
              <a:gd name="adj" fmla="val 11538"/>
            </a:avLst>
          </a:prstGeom>
          <a:solidFill>
            <a:srgbClr val="FFFFFF"/>
          </a:solidFill>
          <a:ln w="9525">
            <a:solidFill>
              <a:srgbClr val="D8CCBB"/>
            </a:solidFill>
            <a:prstDash val="solid"/>
          </a:ln>
        </p:spPr>
        <p:txBody>
          <a:bodyPr/>
          <a:p>
            <a:endParaRPr lang="zh-CN" altLang="en-US"/>
          </a:p>
        </p:txBody>
      </p:sp>
      <p:sp>
        <p:nvSpPr>
          <p:cNvPr id="12" name="圆角矩形 11"/>
          <p:cNvSpPr>
            <a:spLocks noGrp="1"/>
          </p:cNvSpPr>
          <p:nvPr/>
        </p:nvSpPr>
        <p:spPr>
          <a:xfrm>
            <a:off x="914400" y="3581400"/>
            <a:ext cx="57150" cy="990600"/>
          </a:xfrm>
          <a:prstGeom prst="roundRect">
            <a:avLst>
              <a:gd name="adj" fmla="val 33333"/>
            </a:avLst>
          </a:prstGeom>
          <a:solidFill>
            <a:srgbClr val="818A68"/>
          </a:solidFill>
          <a:ln w="9525">
            <a:solidFill>
              <a:srgbClr val="818A68"/>
            </a:solidFill>
            <a:prstDash val="solid"/>
          </a:ln>
        </p:spPr>
      </p:sp>
      <p:sp>
        <p:nvSpPr>
          <p:cNvPr id="13" name="矩形 12"/>
          <p:cNvSpPr>
            <a:spLocks noGrp="1"/>
          </p:cNvSpPr>
          <p:nvPr/>
        </p:nvSpPr>
        <p:spPr>
          <a:xfrm>
            <a:off x="1162050" y="3752850"/>
            <a:ext cx="2286000" cy="228600"/>
          </a:xfrm>
          <a:prstGeom prst="rect">
            <a:avLst/>
          </a:prstGeom>
          <a:noFill/>
          <a:ln w="0">
            <a:noFill/>
            <a:prstDash val="solid"/>
          </a:ln>
        </p:spPr>
        <p:txBody>
          <a:bodyPr wrap="square" lIns="0" tIns="0" rIns="0" bIns="0" anchor="t">
            <a:normAutofit fontScale="92280"/>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Gap 2: source-specific asymmetry</a:t>
            </a:r>
            <a:endParaRPr sz="1350" b="1" i="0">
              <a:solidFill>
                <a:srgbClr val="818A68"/>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1162050" y="4038600"/>
            <a:ext cx="9620250" cy="361950"/>
          </a:xfrm>
          <a:prstGeom prst="rect">
            <a:avLst/>
          </a:prstGeom>
          <a:noFill/>
          <a:ln w="0">
            <a:noFill/>
            <a:prstDash val="solid"/>
          </a:ln>
        </p:spPr>
        <p:txBody>
          <a:bodyPr wrap="square" lIns="0" tIns="0" rIns="0" bIns="0" anchor="t">
            <a:normAutofit/>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Without matched-performance comparisons, we cannot tell whether AI misses are treated as more diagnostic than comparable non-AI misses.</a:t>
            </a:r>
            <a:endParaRPr sz="1275" b="0" i="0">
              <a:solidFill>
                <a:srgbClr val="231D17"/>
              </a:solidFill>
              <a:latin typeface="Times New Roman" panose="02020603050405020304"/>
              <a:ea typeface="Times New Roman" panose="02020603050405020304"/>
              <a:cs typeface="Times New Roman" panose="02020603050405020304"/>
            </a:endParaRPr>
          </a:p>
        </p:txBody>
      </p:sp>
      <p:sp>
        <p:nvSpPr>
          <p:cNvPr id="15" name="圆角矩形 14"/>
          <p:cNvSpPr>
            <a:spLocks noGrp="1"/>
          </p:cNvSpPr>
          <p:nvPr/>
        </p:nvSpPr>
        <p:spPr>
          <a:xfrm>
            <a:off x="914400" y="4876800"/>
            <a:ext cx="10287000" cy="990600"/>
          </a:xfrm>
          <a:prstGeom prst="roundRect">
            <a:avLst>
              <a:gd name="adj" fmla="val 11538"/>
            </a:avLst>
          </a:prstGeom>
          <a:solidFill>
            <a:srgbClr val="FFFFFF"/>
          </a:solidFill>
          <a:ln w="9525">
            <a:solidFill>
              <a:srgbClr val="D8CCBB"/>
            </a:solidFill>
            <a:prstDash val="solid"/>
          </a:ln>
        </p:spPr>
      </p:sp>
      <p:sp>
        <p:nvSpPr>
          <p:cNvPr id="16" name="圆角矩形 15"/>
          <p:cNvSpPr>
            <a:spLocks noGrp="1"/>
          </p:cNvSpPr>
          <p:nvPr/>
        </p:nvSpPr>
        <p:spPr>
          <a:xfrm>
            <a:off x="914400" y="4876800"/>
            <a:ext cx="57150" cy="990600"/>
          </a:xfrm>
          <a:prstGeom prst="roundRect">
            <a:avLst>
              <a:gd name="adj" fmla="val 33333"/>
            </a:avLst>
          </a:prstGeom>
          <a:solidFill>
            <a:srgbClr val="3E4C5A"/>
          </a:solidFill>
          <a:ln w="9525">
            <a:solidFill>
              <a:srgbClr val="3E4C5A"/>
            </a:solidFill>
            <a:prstDash val="solid"/>
          </a:ln>
        </p:spPr>
      </p:sp>
      <p:sp>
        <p:nvSpPr>
          <p:cNvPr id="17" name="矩形 16"/>
          <p:cNvSpPr>
            <a:spLocks noGrp="1"/>
          </p:cNvSpPr>
          <p:nvPr/>
        </p:nvSpPr>
        <p:spPr>
          <a:xfrm>
            <a:off x="1162050" y="5048250"/>
            <a:ext cx="2286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3E4C5A"/>
                </a:solidFill>
                <a:latin typeface="Times New Roman" panose="02020603050405020304"/>
                <a:ea typeface="Times New Roman" panose="02020603050405020304"/>
                <a:cs typeface="Times New Roman" panose="02020603050405020304"/>
              </a:defRPr>
            </a:pPr>
            <a:r>
              <a:rPr sz="1350" b="1" i="0">
                <a:solidFill>
                  <a:srgbClr val="3E4C5A"/>
                </a:solidFill>
                <a:latin typeface="Times New Roman" panose="02020603050405020304"/>
                <a:ea typeface="Times New Roman" panose="02020603050405020304"/>
                <a:cs typeface="Times New Roman" panose="02020603050405020304"/>
              </a:rPr>
              <a:t>Punchline</a:t>
            </a:r>
            <a:endParaRPr sz="1350" b="1" i="0">
              <a:solidFill>
                <a:srgbClr val="3E4C5A"/>
              </a:solidFill>
              <a:latin typeface="Times New Roman" panose="02020603050405020304"/>
              <a:ea typeface="Times New Roman" panose="02020603050405020304"/>
              <a:cs typeface="Times New Roman" panose="02020603050405020304"/>
            </a:endParaRPr>
          </a:p>
        </p:txBody>
      </p:sp>
      <p:sp>
        <p:nvSpPr>
          <p:cNvPr id="18" name="矩形 17"/>
          <p:cNvSpPr>
            <a:spLocks noGrp="1"/>
          </p:cNvSpPr>
          <p:nvPr/>
        </p:nvSpPr>
        <p:spPr>
          <a:xfrm>
            <a:off x="1162050" y="5334000"/>
            <a:ext cx="9620250" cy="361950"/>
          </a:xfrm>
          <a:prstGeom prst="rect">
            <a:avLst/>
          </a:prstGeom>
          <a:noFill/>
          <a:ln w="0">
            <a:noFill/>
            <a:prstDash val="solid"/>
          </a:ln>
        </p:spPr>
        <p:txBody>
          <a:bodyPr wrap="square" lIns="0" tIns="0" rIns="0" bIns="0" anchor="t">
            <a:normAutofit/>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The target is dynamic asymmetry under repeated feedback, not a generic story that people simply dislike algorithms.</a:t>
            </a:r>
            <a:endParaRPr sz="1275" b="0"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RQ AND FRAMING</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These gaps lead to one framing: dynamic reliance after source-specific error shocks</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paper asks how local AI failures alter search-free learning about whether AI should be relied on later.</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custDataLst>
              <p:tags r:id="rId1"/>
            </p:custDataLst>
          </p:nvPr>
        </p:nvSpPr>
        <p:spPr>
          <a:xfrm>
            <a:off x="914400" y="2133600"/>
            <a:ext cx="4953000" cy="3219450"/>
          </a:xfrm>
          <a:prstGeom prst="roundRect">
            <a:avLst>
              <a:gd name="adj" fmla="val 3550"/>
            </a:avLst>
          </a:prstGeom>
          <a:solidFill>
            <a:srgbClr val="FFFFFF"/>
          </a:solidFill>
          <a:ln w="9525">
            <a:solidFill>
              <a:srgbClr val="D8CCBB"/>
            </a:solidFill>
            <a:prstDash val="solid"/>
          </a:ln>
        </p:spPr>
      </p:sp>
      <p:sp>
        <p:nvSpPr>
          <p:cNvPr id="8" name="圆角矩形 7"/>
          <p:cNvSpPr>
            <a:spLocks noGrp="1"/>
          </p:cNvSpPr>
          <p:nvPr>
            <p:custDataLst>
              <p:tags r:id="rId2"/>
            </p:custDataLst>
          </p:nvPr>
        </p:nvSpPr>
        <p:spPr>
          <a:xfrm>
            <a:off x="914400" y="2133600"/>
            <a:ext cx="57150" cy="321945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custDataLst>
              <p:tags r:id="rId3"/>
            </p:custDataLst>
          </p:nvPr>
        </p:nvSpPr>
        <p:spPr>
          <a:xfrm>
            <a:off x="1143000" y="236220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Research questions</a:t>
            </a:r>
            <a:endParaRPr sz="1350" b="1" i="0">
              <a:solidFill>
                <a:srgbClr val="B77845"/>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custDataLst>
              <p:tags r:id="rId4"/>
            </p:custDataLst>
          </p:nvPr>
        </p:nvSpPr>
        <p:spPr>
          <a:xfrm>
            <a:off x="1143000" y="2781300"/>
            <a:ext cx="4343400" cy="21526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In repeated human–AI decision-making tasks, how do people dynamically calibrate their reliance on AI based on the relative performance of themselves and the AI? When the AI experiences a localized error shock at a particular stage, how does this reliance trajectory change?</a:t>
            </a:r>
            <a:endParaRPr lang="en-US" altLang="zh-CN" sz="1350" b="0" i="0">
              <a:solidFill>
                <a:srgbClr val="231D17"/>
              </a:solidFill>
              <a:latin typeface="Times New Roman" panose="02020603050405020304"/>
              <a:ea typeface="Times New Roman" panose="02020603050405020304"/>
              <a:cs typeface="Times New Roman" panose="02020603050405020304"/>
            </a:endParaRPr>
          </a:p>
        </p:txBody>
      </p:sp>
      <p:sp>
        <p:nvSpPr>
          <p:cNvPr id="11" name="圆角矩形 10"/>
          <p:cNvSpPr>
            <a:spLocks noGrp="1"/>
          </p:cNvSpPr>
          <p:nvPr>
            <p:custDataLst>
              <p:tags r:id="rId5"/>
            </p:custDataLst>
          </p:nvPr>
        </p:nvSpPr>
        <p:spPr>
          <a:xfrm>
            <a:off x="6362700" y="2133600"/>
            <a:ext cx="4876800" cy="3219450"/>
          </a:xfrm>
          <a:prstGeom prst="roundRect">
            <a:avLst>
              <a:gd name="adj" fmla="val 3550"/>
            </a:avLst>
          </a:prstGeom>
          <a:solidFill>
            <a:srgbClr val="FFFFFF"/>
          </a:solidFill>
          <a:ln w="9525">
            <a:solidFill>
              <a:srgbClr val="D8CCBB"/>
            </a:solidFill>
            <a:prstDash val="solid"/>
          </a:ln>
        </p:spPr>
      </p:sp>
      <p:sp>
        <p:nvSpPr>
          <p:cNvPr id="12" name="圆角矩形 11"/>
          <p:cNvSpPr>
            <a:spLocks noGrp="1"/>
          </p:cNvSpPr>
          <p:nvPr>
            <p:custDataLst>
              <p:tags r:id="rId6"/>
            </p:custDataLst>
          </p:nvPr>
        </p:nvSpPr>
        <p:spPr>
          <a:xfrm>
            <a:off x="6362700" y="2133600"/>
            <a:ext cx="57150" cy="3219450"/>
          </a:xfrm>
          <a:prstGeom prst="roundRect">
            <a:avLst>
              <a:gd name="adj" fmla="val 33333"/>
            </a:avLst>
          </a:prstGeom>
          <a:solidFill>
            <a:srgbClr val="818A68"/>
          </a:solidFill>
          <a:ln w="9525">
            <a:solidFill>
              <a:srgbClr val="818A68"/>
            </a:solidFill>
            <a:prstDash val="solid"/>
          </a:ln>
        </p:spPr>
      </p:sp>
      <p:sp>
        <p:nvSpPr>
          <p:cNvPr id="13" name="矩形 12"/>
          <p:cNvSpPr>
            <a:spLocks noGrp="1"/>
          </p:cNvSpPr>
          <p:nvPr>
            <p:custDataLst>
              <p:tags r:id="rId7"/>
            </p:custDataLst>
          </p:nvPr>
        </p:nvSpPr>
        <p:spPr>
          <a:xfrm>
            <a:off x="6591300" y="236220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Analytical framing</a:t>
            </a:r>
            <a:endParaRPr sz="1350" b="1" i="0">
              <a:solidFill>
                <a:srgbClr val="818A68"/>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custDataLst>
              <p:tags r:id="rId8"/>
            </p:custDataLst>
          </p:nvPr>
        </p:nvSpPr>
        <p:spPr>
          <a:xfrm>
            <a:off x="6591300" y="2781300"/>
            <a:ext cx="4248150" cy="1962150"/>
          </a:xfrm>
          <a:prstGeom prst="rect">
            <a:avLst/>
          </a:prstGeom>
          <a:noFill/>
          <a:ln w="0">
            <a:noFill/>
            <a:prstDash val="solid"/>
          </a:ln>
        </p:spPr>
        <p:txBody>
          <a:bodyPr wrap="square" lIns="0" tIns="0" rIns="0" bIns="0" anchor="t">
            <a:normAutofit fontScale="90000" lnSpcReduction="20000"/>
          </a:bodyPr>
          <a:lstStyle/>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Reliance is learned over repeated feedback,</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not fixed after one AI suggestion.</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AI errors are treated as calibration shocks,</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not simply as lower accuracy.</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Performance parity makes the comparison identifiable:</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the AI and the human/self baseline are equally capable.</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We first identify path-level reliance changes,</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then use an EWA-inspired model to interpret the updating mechanism.</a:t>
            </a:r>
            <a:endParaRPr lang="en-US" altLang="zh-CN" sz="1350" b="0" i="0">
              <a:solidFill>
                <a:srgbClr val="231D17"/>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914400" y="5581650"/>
            <a:ext cx="10287000" cy="32385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Framing sentence: the dependent object is the reliance path, not the first post-error attitude.</a:t>
            </a:r>
            <a:endParaRPr sz="1350" b="1"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left-rail"/>
          <p:cNvSpPr>
            <a:spLocks noGrp="1"/>
          </p:cNvSpPr>
          <p:nvPr/>
        </p:nvSpPr>
        <p:spPr>
          <a:xfrm>
            <a:off x="552450" y="457200"/>
            <a:ext cx="19050" cy="5943600"/>
          </a:xfrm>
          <a:prstGeom prst="rect">
            <a:avLst/>
          </a:prstGeom>
          <a:solidFill>
            <a:srgbClr val="777F5D"/>
          </a:solidFill>
          <a:ln w="9525">
            <a:solidFill>
              <a:srgbClr val="777F5D"/>
            </a:solidFill>
            <a:prstDash val="solid"/>
          </a:ln>
        </p:spPr>
      </p:sp>
      <p:sp>
        <p:nvSpPr>
          <p:cNvPr id="3" name="eyebrow"/>
          <p:cNvSpPr>
            <a:spLocks noGrp="1"/>
          </p:cNvSpPr>
          <p:nvPr/>
        </p:nvSpPr>
        <p:spPr>
          <a:xfrm>
            <a:off x="914400" y="590550"/>
            <a:ext cx="3429000" cy="228600"/>
          </a:xfrm>
          <a:prstGeom prst="rect">
            <a:avLst/>
          </a:prstGeom>
          <a:noFill/>
          <a:ln w="0">
            <a:noFill/>
            <a:prstDash val="solid"/>
          </a:ln>
        </p:spPr>
        <p:txBody>
          <a:bodyPr/>
          <a:lstStyle/>
          <a:p>
            <a:pPr algn="l">
              <a:defRPr sz="975" b="1" i="0">
                <a:solidFill>
                  <a:srgbClr val="4B563E"/>
                </a:solidFill>
                <a:latin typeface="Times New Roman" panose="02020603050405020304"/>
                <a:ea typeface="Times New Roman" panose="02020603050405020304"/>
                <a:cs typeface="Times New Roman" panose="02020603050405020304"/>
              </a:defRPr>
            </a:pPr>
            <a:r>
              <a:rPr sz="975" b="1" i="0">
                <a:solidFill>
                  <a:srgbClr val="4B563E"/>
                </a:solidFill>
                <a:latin typeface="Times New Roman" panose="02020603050405020304"/>
                <a:ea typeface="Times New Roman" panose="02020603050405020304"/>
                <a:cs typeface="Times New Roman" panose="02020603050405020304"/>
              </a:rPr>
              <a:t>PAPER 2 · REPLACEMENT SLIDE</a:t>
            </a:r>
            <a:endParaRPr sz="975" b="1" i="0">
              <a:solidFill>
                <a:srgbClr val="4B563E"/>
              </a:solidFill>
              <a:latin typeface="Times New Roman" panose="02020603050405020304"/>
              <a:ea typeface="Times New Roman" panose="02020603050405020304"/>
              <a:cs typeface="Times New Roman" panose="02020603050405020304"/>
            </a:endParaRPr>
          </a:p>
        </p:txBody>
      </p:sp>
      <p:sp>
        <p:nvSpPr>
          <p:cNvPr id="4" name="title"/>
          <p:cNvSpPr>
            <a:spLocks noGrp="1"/>
          </p:cNvSpPr>
          <p:nvPr/>
        </p:nvSpPr>
        <p:spPr>
          <a:xfrm>
            <a:off x="914400" y="914400"/>
            <a:ext cx="7429500" cy="514350"/>
          </a:xfrm>
          <a:prstGeom prst="rect">
            <a:avLst/>
          </a:prstGeom>
          <a:noFill/>
          <a:ln w="0">
            <a:noFill/>
            <a:prstDash val="solid"/>
          </a:ln>
        </p:spPr>
        <p:txBody>
          <a:bodyPr/>
          <a:lstStyle/>
          <a:p>
            <a:pPr algn="l">
              <a:defRPr sz="2700" b="1" i="0">
                <a:solidFill>
                  <a:srgbClr val="18231C"/>
                </a:solidFill>
                <a:latin typeface="Times New Roman" panose="02020603050405020304"/>
                <a:ea typeface="Times New Roman" panose="02020603050405020304"/>
                <a:cs typeface="Times New Roman" panose="02020603050405020304"/>
              </a:defRPr>
            </a:pPr>
            <a:r>
              <a:rPr sz="2700" b="1" i="0">
                <a:solidFill>
                  <a:srgbClr val="18231C"/>
                </a:solidFill>
                <a:latin typeface="Times New Roman" panose="02020603050405020304"/>
                <a:ea typeface="Times New Roman" panose="02020603050405020304"/>
                <a:cs typeface="Times New Roman" panose="02020603050405020304"/>
              </a:rPr>
              <a:t>Research Questions and Hypotheses</a:t>
            </a:r>
            <a:endParaRPr sz="2700" b="1" i="0">
              <a:solidFill>
                <a:srgbClr val="18231C"/>
              </a:solidFill>
              <a:latin typeface="Times New Roman" panose="02020603050405020304"/>
              <a:ea typeface="Times New Roman" panose="02020603050405020304"/>
              <a:cs typeface="Times New Roman" panose="02020603050405020304"/>
            </a:endParaRPr>
          </a:p>
        </p:txBody>
      </p:sp>
      <p:sp>
        <p:nvSpPr>
          <p:cNvPr id="5" name="subtitle"/>
          <p:cNvSpPr>
            <a:spLocks noGrp="1"/>
          </p:cNvSpPr>
          <p:nvPr/>
        </p:nvSpPr>
        <p:spPr>
          <a:xfrm>
            <a:off x="914400" y="1352550"/>
            <a:ext cx="9620250" cy="323850"/>
          </a:xfrm>
          <a:prstGeom prst="rect">
            <a:avLst/>
          </a:prstGeom>
          <a:noFill/>
          <a:ln w="0">
            <a:noFill/>
            <a:prstDash val="solid"/>
          </a:ln>
        </p:spPr>
        <p:txBody>
          <a:bodyPr/>
          <a:lstStyle/>
          <a:p>
            <a:pPr algn="l">
              <a:defRPr sz="1350" b="0" i="0">
                <a:solidFill>
                  <a:srgbClr val="5E6556"/>
                </a:solidFill>
                <a:latin typeface="Times New Roman" panose="02020603050405020304"/>
                <a:ea typeface="Times New Roman" panose="02020603050405020304"/>
                <a:cs typeface="Times New Roman" panose="02020603050405020304"/>
              </a:defRPr>
            </a:pPr>
            <a:r>
              <a:rPr sz="1350" b="0" i="0">
                <a:solidFill>
                  <a:srgbClr val="5E6556"/>
                </a:solidFill>
                <a:latin typeface="Times New Roman" panose="02020603050405020304"/>
                <a:ea typeface="Times New Roman" panose="02020603050405020304"/>
                <a:cs typeface="Times New Roman" panose="02020603050405020304"/>
              </a:rPr>
              <a:t>The design compares how reliance changes after matched feedback, local AI shocks, and later recovery.</a:t>
            </a:r>
            <a:endParaRPr sz="1350" b="0" i="0">
              <a:solidFill>
                <a:srgbClr val="5E6556"/>
              </a:solidFill>
              <a:latin typeface="Times New Roman" panose="02020603050405020304"/>
              <a:ea typeface="Times New Roman" panose="02020603050405020304"/>
              <a:cs typeface="Times New Roman" panose="02020603050405020304"/>
            </a:endParaRPr>
          </a:p>
        </p:txBody>
      </p:sp>
      <p:sp>
        <p:nvSpPr>
          <p:cNvPr id="6" name="rq-card"/>
          <p:cNvSpPr>
            <a:spLocks noGrp="1"/>
          </p:cNvSpPr>
          <p:nvPr/>
        </p:nvSpPr>
        <p:spPr>
          <a:xfrm>
            <a:off x="914400" y="1790700"/>
            <a:ext cx="10287000" cy="819150"/>
          </a:xfrm>
          <a:prstGeom prst="roundRect">
            <a:avLst>
              <a:gd name="adj" fmla="val 13953"/>
            </a:avLst>
          </a:prstGeom>
          <a:solidFill>
            <a:srgbClr val="FFFDF6"/>
          </a:solidFill>
          <a:ln w="9525">
            <a:solidFill>
              <a:srgbClr val="D8CEBD"/>
            </a:solidFill>
            <a:prstDash val="solid"/>
          </a:ln>
        </p:spPr>
      </p:sp>
      <p:sp>
        <p:nvSpPr>
          <p:cNvPr id="7" name="rq-accent"/>
          <p:cNvSpPr>
            <a:spLocks noGrp="1"/>
          </p:cNvSpPr>
          <p:nvPr/>
        </p:nvSpPr>
        <p:spPr>
          <a:xfrm>
            <a:off x="914400" y="1790700"/>
            <a:ext cx="76200" cy="819150"/>
          </a:xfrm>
          <a:prstGeom prst="rect">
            <a:avLst/>
          </a:prstGeom>
          <a:solidFill>
            <a:srgbClr val="A9653B"/>
          </a:solidFill>
          <a:ln w="9525">
            <a:solidFill>
              <a:srgbClr val="A9653B"/>
            </a:solidFill>
            <a:prstDash val="solid"/>
          </a:ln>
        </p:spPr>
      </p:sp>
      <p:sp>
        <p:nvSpPr>
          <p:cNvPr id="8" name="rq-label"/>
          <p:cNvSpPr>
            <a:spLocks noGrp="1"/>
          </p:cNvSpPr>
          <p:nvPr/>
        </p:nvSpPr>
        <p:spPr>
          <a:xfrm>
            <a:off x="1143000" y="1952625"/>
            <a:ext cx="1524000" cy="228600"/>
          </a:xfrm>
          <a:prstGeom prst="rect">
            <a:avLst/>
          </a:prstGeom>
          <a:noFill/>
          <a:ln w="0">
            <a:noFill/>
            <a:prstDash val="solid"/>
          </a:ln>
        </p:spPr>
        <p:txBody>
          <a:bodyPr/>
          <a:lstStyle/>
          <a:p>
            <a:pPr algn="l">
              <a:defRPr sz="1350" b="1" i="0">
                <a:solidFill>
                  <a:srgbClr val="A9653B"/>
                </a:solidFill>
                <a:latin typeface="Times New Roman" panose="02020603050405020304"/>
                <a:ea typeface="Times New Roman" panose="02020603050405020304"/>
                <a:cs typeface="Times New Roman" panose="02020603050405020304"/>
              </a:defRPr>
            </a:pPr>
            <a:r>
              <a:rPr sz="1350" b="1" i="0">
                <a:solidFill>
                  <a:srgbClr val="A9653B"/>
                </a:solidFill>
                <a:latin typeface="Times New Roman" panose="02020603050405020304"/>
                <a:ea typeface="Times New Roman" panose="02020603050405020304"/>
                <a:cs typeface="Times New Roman" panose="02020603050405020304"/>
              </a:rPr>
              <a:t>Overall RQ</a:t>
            </a:r>
            <a:endParaRPr sz="1350" b="1" i="0">
              <a:solidFill>
                <a:srgbClr val="A9653B"/>
              </a:solidFill>
              <a:latin typeface="Times New Roman" panose="02020603050405020304"/>
              <a:ea typeface="Times New Roman" panose="02020603050405020304"/>
              <a:cs typeface="Times New Roman" panose="02020603050405020304"/>
            </a:endParaRPr>
          </a:p>
        </p:txBody>
      </p:sp>
      <p:sp>
        <p:nvSpPr>
          <p:cNvPr id="9" name="rq-text"/>
          <p:cNvSpPr>
            <a:spLocks noGrp="1"/>
          </p:cNvSpPr>
          <p:nvPr/>
        </p:nvSpPr>
        <p:spPr>
          <a:xfrm>
            <a:off x="2857500" y="1905000"/>
            <a:ext cx="7810500" cy="552450"/>
          </a:xfrm>
          <a:prstGeom prst="rect">
            <a:avLst/>
          </a:prstGeom>
          <a:noFill/>
          <a:ln w="0">
            <a:noFill/>
            <a:prstDash val="solid"/>
          </a:ln>
        </p:spPr>
        <p:txBody>
          <a:bodyPr/>
          <a:lstStyle/>
          <a:p>
            <a:pPr algn="l">
              <a:defRPr sz="1500" b="0" i="0">
                <a:solidFill>
                  <a:srgbClr val="18231C"/>
                </a:solidFill>
                <a:latin typeface="Times New Roman" panose="02020603050405020304"/>
                <a:ea typeface="Times New Roman" panose="02020603050405020304"/>
                <a:cs typeface="Times New Roman" panose="02020603050405020304"/>
              </a:defRPr>
            </a:pPr>
            <a:r>
              <a:rPr sz="1500" b="0" i="0">
                <a:solidFill>
                  <a:srgbClr val="18231C"/>
                </a:solidFill>
                <a:latin typeface="Times New Roman" panose="02020603050405020304"/>
                <a:ea typeface="Times New Roman" panose="02020603050405020304"/>
                <a:cs typeface="Times New Roman" panose="02020603050405020304"/>
              </a:rPr>
              <a:t>How do participants dynamically calibrate reliance on self vs. AI in repeated human-AI decisions, and how does a localized AI error shock reshape that reliance path?</a:t>
            </a:r>
            <a:endParaRPr sz="1500" b="0" i="0">
              <a:solidFill>
                <a:srgbClr val="18231C"/>
              </a:solidFill>
              <a:latin typeface="Times New Roman" panose="02020603050405020304"/>
              <a:ea typeface="Times New Roman" panose="02020603050405020304"/>
              <a:cs typeface="Times New Roman" panose="02020603050405020304"/>
            </a:endParaRPr>
          </a:p>
        </p:txBody>
      </p:sp>
      <p:sp>
        <p:nvSpPr>
          <p:cNvPr id="10" name="H1-card"/>
          <p:cNvSpPr>
            <a:spLocks noGrp="1"/>
          </p:cNvSpPr>
          <p:nvPr/>
        </p:nvSpPr>
        <p:spPr>
          <a:xfrm>
            <a:off x="914400" y="2876550"/>
            <a:ext cx="3200400" cy="1123950"/>
          </a:xfrm>
          <a:prstGeom prst="roundRect">
            <a:avLst>
              <a:gd name="adj" fmla="val 10169"/>
            </a:avLst>
          </a:prstGeom>
          <a:solidFill>
            <a:srgbClr val="FFFDF6"/>
          </a:solidFill>
          <a:ln w="9525">
            <a:solidFill>
              <a:srgbClr val="D8CEBD"/>
            </a:solidFill>
            <a:prstDash val="solid"/>
          </a:ln>
        </p:spPr>
      </p:sp>
      <p:sp>
        <p:nvSpPr>
          <p:cNvPr id="11" name="H1-stripe"/>
          <p:cNvSpPr>
            <a:spLocks noGrp="1"/>
          </p:cNvSpPr>
          <p:nvPr/>
        </p:nvSpPr>
        <p:spPr>
          <a:xfrm>
            <a:off x="914400" y="2876550"/>
            <a:ext cx="57150" cy="1123950"/>
          </a:xfrm>
          <a:prstGeom prst="rect">
            <a:avLst/>
          </a:prstGeom>
          <a:solidFill>
            <a:srgbClr val="777F5D"/>
          </a:solidFill>
          <a:ln w="9525">
            <a:solidFill>
              <a:srgbClr val="777F5D"/>
            </a:solidFill>
            <a:prstDash val="solid"/>
          </a:ln>
        </p:spPr>
      </p:sp>
      <p:sp>
        <p:nvSpPr>
          <p:cNvPr id="12" name="H1-label"/>
          <p:cNvSpPr>
            <a:spLocks noGrp="1"/>
          </p:cNvSpPr>
          <p:nvPr/>
        </p:nvSpPr>
        <p:spPr>
          <a:xfrm>
            <a:off x="1085850" y="301942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H1</a:t>
            </a:r>
            <a:endParaRPr sz="975" b="1" i="0">
              <a:solidFill>
                <a:srgbClr val="777F5D"/>
              </a:solidFill>
              <a:latin typeface="Times New Roman" panose="02020603050405020304"/>
              <a:ea typeface="Times New Roman" panose="02020603050405020304"/>
              <a:cs typeface="Times New Roman" panose="02020603050405020304"/>
            </a:endParaRPr>
          </a:p>
        </p:txBody>
      </p:sp>
      <p:sp>
        <p:nvSpPr>
          <p:cNvPr id="13" name="H1-title"/>
          <p:cNvSpPr>
            <a:spLocks noGrp="1"/>
          </p:cNvSpPr>
          <p:nvPr/>
        </p:nvSpPr>
        <p:spPr>
          <a:xfrm>
            <a:off x="16383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Dynamic calibration</a:t>
            </a:r>
            <a:endParaRPr sz="1500" b="1" i="0">
              <a:solidFill>
                <a:srgbClr val="18231C"/>
              </a:solidFill>
              <a:latin typeface="Times New Roman" panose="02020603050405020304"/>
              <a:ea typeface="Times New Roman" panose="02020603050405020304"/>
              <a:cs typeface="Times New Roman" panose="02020603050405020304"/>
            </a:endParaRPr>
          </a:p>
        </p:txBody>
      </p:sp>
      <p:sp>
        <p:nvSpPr>
          <p:cNvPr id="14" name="H1-body"/>
          <p:cNvSpPr>
            <a:spLocks noGrp="1"/>
          </p:cNvSpPr>
          <p:nvPr/>
        </p:nvSpPr>
        <p:spPr>
          <a:xfrm>
            <a:off x="10858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Reliance should follow repeated feedback about relative self-AI performance.</a:t>
            </a:r>
            <a:endParaRPr sz="1200" b="0" i="0">
              <a:solidFill>
                <a:srgbClr val="5E6556"/>
              </a:solidFill>
              <a:latin typeface="Times New Roman" panose="02020603050405020304"/>
              <a:ea typeface="Times New Roman" panose="02020603050405020304"/>
              <a:cs typeface="Times New Roman" panose="02020603050405020304"/>
            </a:endParaRPr>
          </a:p>
        </p:txBody>
      </p:sp>
      <p:sp>
        <p:nvSpPr>
          <p:cNvPr id="15" name="H2-card"/>
          <p:cNvSpPr>
            <a:spLocks noGrp="1"/>
          </p:cNvSpPr>
          <p:nvPr/>
        </p:nvSpPr>
        <p:spPr>
          <a:xfrm>
            <a:off x="4381500" y="2876550"/>
            <a:ext cx="3200400" cy="1123950"/>
          </a:xfrm>
          <a:prstGeom prst="roundRect">
            <a:avLst>
              <a:gd name="adj" fmla="val 10169"/>
            </a:avLst>
          </a:prstGeom>
          <a:solidFill>
            <a:srgbClr val="FFFDF6"/>
          </a:solidFill>
          <a:ln w="9525">
            <a:solidFill>
              <a:srgbClr val="D8CEBD"/>
            </a:solidFill>
            <a:prstDash val="solid"/>
          </a:ln>
        </p:spPr>
      </p:sp>
      <p:sp>
        <p:nvSpPr>
          <p:cNvPr id="16" name="H2-stripe"/>
          <p:cNvSpPr>
            <a:spLocks noGrp="1"/>
          </p:cNvSpPr>
          <p:nvPr/>
        </p:nvSpPr>
        <p:spPr>
          <a:xfrm>
            <a:off x="4381500" y="2876550"/>
            <a:ext cx="57150" cy="1123950"/>
          </a:xfrm>
          <a:prstGeom prst="rect">
            <a:avLst/>
          </a:prstGeom>
          <a:solidFill>
            <a:srgbClr val="A9653B"/>
          </a:solidFill>
          <a:ln w="9525">
            <a:solidFill>
              <a:srgbClr val="A9653B"/>
            </a:solidFill>
            <a:prstDash val="solid"/>
          </a:ln>
        </p:spPr>
      </p:sp>
      <p:sp>
        <p:nvSpPr>
          <p:cNvPr id="17" name="H2-label"/>
          <p:cNvSpPr>
            <a:spLocks noGrp="1"/>
          </p:cNvSpPr>
          <p:nvPr/>
        </p:nvSpPr>
        <p:spPr>
          <a:xfrm>
            <a:off x="4552950" y="3019425"/>
            <a:ext cx="495300" cy="190500"/>
          </a:xfrm>
          <a:prstGeom prst="rect">
            <a:avLst/>
          </a:prstGeom>
          <a:noFill/>
          <a:ln w="0">
            <a:noFill/>
            <a:prstDash val="solid"/>
          </a:ln>
        </p:spPr>
        <p:txBody>
          <a:bodyPr/>
          <a:lstStyle/>
          <a:p>
            <a:pPr algn="l">
              <a:defRPr sz="975" b="1" i="0">
                <a:solidFill>
                  <a:srgbClr val="A9653B"/>
                </a:solidFill>
                <a:latin typeface="Times New Roman" panose="02020603050405020304"/>
                <a:ea typeface="Times New Roman" panose="02020603050405020304"/>
                <a:cs typeface="Times New Roman" panose="02020603050405020304"/>
              </a:defRPr>
            </a:pPr>
            <a:r>
              <a:rPr sz="975" b="1" i="0">
                <a:solidFill>
                  <a:srgbClr val="A9653B"/>
                </a:solidFill>
                <a:latin typeface="Times New Roman" panose="02020603050405020304"/>
                <a:ea typeface="Times New Roman" panose="02020603050405020304"/>
                <a:cs typeface="Times New Roman" panose="02020603050405020304"/>
              </a:rPr>
              <a:t>H2</a:t>
            </a:r>
            <a:endParaRPr sz="975" b="1" i="0">
              <a:solidFill>
                <a:srgbClr val="A9653B"/>
              </a:solidFill>
              <a:latin typeface="Times New Roman" panose="02020603050405020304"/>
              <a:ea typeface="Times New Roman" panose="02020603050405020304"/>
              <a:cs typeface="Times New Roman" panose="02020603050405020304"/>
            </a:endParaRPr>
          </a:p>
        </p:txBody>
      </p:sp>
      <p:sp>
        <p:nvSpPr>
          <p:cNvPr id="18" name="H2-title"/>
          <p:cNvSpPr>
            <a:spLocks noGrp="1"/>
          </p:cNvSpPr>
          <p:nvPr/>
        </p:nvSpPr>
        <p:spPr>
          <a:xfrm>
            <a:off x="51054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AI shock penalty</a:t>
            </a:r>
            <a:endParaRPr sz="1500" b="1" i="0">
              <a:solidFill>
                <a:srgbClr val="18231C"/>
              </a:solidFill>
              <a:latin typeface="Times New Roman" panose="02020603050405020304"/>
              <a:ea typeface="Times New Roman" panose="02020603050405020304"/>
              <a:cs typeface="Times New Roman" panose="02020603050405020304"/>
            </a:endParaRPr>
          </a:p>
        </p:txBody>
      </p:sp>
      <p:sp>
        <p:nvSpPr>
          <p:cNvPr id="19" name="H2-body"/>
          <p:cNvSpPr>
            <a:spLocks noGrp="1"/>
          </p:cNvSpPr>
          <p:nvPr/>
        </p:nvSpPr>
        <p:spPr>
          <a:xfrm>
            <a:off x="45529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Concentrated AI errors should reduce later AI adoption compared with balanced errors.</a:t>
            </a:r>
            <a:endParaRPr sz="1200" b="0" i="0">
              <a:solidFill>
                <a:srgbClr val="5E6556"/>
              </a:solidFill>
              <a:latin typeface="Times New Roman" panose="02020603050405020304"/>
              <a:ea typeface="Times New Roman" panose="02020603050405020304"/>
              <a:cs typeface="Times New Roman" panose="02020603050405020304"/>
            </a:endParaRPr>
          </a:p>
        </p:txBody>
      </p:sp>
      <p:sp>
        <p:nvSpPr>
          <p:cNvPr id="20" name="H3-card"/>
          <p:cNvSpPr>
            <a:spLocks noGrp="1"/>
          </p:cNvSpPr>
          <p:nvPr/>
        </p:nvSpPr>
        <p:spPr>
          <a:xfrm>
            <a:off x="7848600" y="2876550"/>
            <a:ext cx="3200400" cy="1123950"/>
          </a:xfrm>
          <a:prstGeom prst="roundRect">
            <a:avLst>
              <a:gd name="adj" fmla="val 10169"/>
            </a:avLst>
          </a:prstGeom>
          <a:solidFill>
            <a:srgbClr val="FFFDF6"/>
          </a:solidFill>
          <a:ln w="9525">
            <a:solidFill>
              <a:srgbClr val="D8CEBD"/>
            </a:solidFill>
            <a:prstDash val="solid"/>
          </a:ln>
        </p:spPr>
      </p:sp>
      <p:sp>
        <p:nvSpPr>
          <p:cNvPr id="21" name="H3-stripe"/>
          <p:cNvSpPr>
            <a:spLocks noGrp="1"/>
          </p:cNvSpPr>
          <p:nvPr/>
        </p:nvSpPr>
        <p:spPr>
          <a:xfrm>
            <a:off x="7848600" y="2876550"/>
            <a:ext cx="57150" cy="1123950"/>
          </a:xfrm>
          <a:prstGeom prst="rect">
            <a:avLst/>
          </a:prstGeom>
          <a:solidFill>
            <a:srgbClr val="777F5D"/>
          </a:solidFill>
          <a:ln w="9525">
            <a:solidFill>
              <a:srgbClr val="777F5D"/>
            </a:solidFill>
            <a:prstDash val="solid"/>
          </a:ln>
        </p:spPr>
      </p:sp>
      <p:sp>
        <p:nvSpPr>
          <p:cNvPr id="22" name="H3-label"/>
          <p:cNvSpPr>
            <a:spLocks noGrp="1"/>
          </p:cNvSpPr>
          <p:nvPr/>
        </p:nvSpPr>
        <p:spPr>
          <a:xfrm>
            <a:off x="8020050" y="301942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H3</a:t>
            </a:r>
            <a:endParaRPr sz="975" b="1" i="0">
              <a:solidFill>
                <a:srgbClr val="777F5D"/>
              </a:solidFill>
              <a:latin typeface="Times New Roman" panose="02020603050405020304"/>
              <a:ea typeface="Times New Roman" panose="02020603050405020304"/>
              <a:cs typeface="Times New Roman" panose="02020603050405020304"/>
            </a:endParaRPr>
          </a:p>
        </p:txBody>
      </p:sp>
      <p:sp>
        <p:nvSpPr>
          <p:cNvPr id="23" name="H3-title"/>
          <p:cNvSpPr>
            <a:spLocks noGrp="1"/>
          </p:cNvSpPr>
          <p:nvPr/>
        </p:nvSpPr>
        <p:spPr>
          <a:xfrm>
            <a:off x="85725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Post-shock recovery</a:t>
            </a:r>
            <a:endParaRPr sz="1500" b="1" i="0">
              <a:solidFill>
                <a:srgbClr val="18231C"/>
              </a:solidFill>
              <a:latin typeface="Times New Roman" panose="02020603050405020304"/>
              <a:ea typeface="Times New Roman" panose="02020603050405020304"/>
              <a:cs typeface="Times New Roman" panose="02020603050405020304"/>
            </a:endParaRPr>
          </a:p>
        </p:txBody>
      </p:sp>
      <p:sp>
        <p:nvSpPr>
          <p:cNvPr id="24" name="H3-body"/>
          <p:cNvSpPr>
            <a:spLocks noGrp="1"/>
          </p:cNvSpPr>
          <p:nvPr/>
        </p:nvSpPr>
        <p:spPr>
          <a:xfrm>
            <a:off x="80200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After AI performance recovers, reliance may rebound or remain persistently low.</a:t>
            </a:r>
            <a:endParaRPr sz="1200" b="0" i="0">
              <a:solidFill>
                <a:srgbClr val="5E6556"/>
              </a:solidFill>
              <a:latin typeface="Times New Roman" panose="02020603050405020304"/>
              <a:ea typeface="Times New Roman" panose="02020603050405020304"/>
              <a:cs typeface="Times New Roman" panose="02020603050405020304"/>
            </a:endParaRPr>
          </a:p>
        </p:txBody>
      </p:sp>
      <p:sp>
        <p:nvSpPr>
          <p:cNvPr id="25" name="H4-card"/>
          <p:cNvSpPr>
            <a:spLocks noGrp="1"/>
          </p:cNvSpPr>
          <p:nvPr/>
        </p:nvSpPr>
        <p:spPr>
          <a:xfrm>
            <a:off x="914400" y="4267200"/>
            <a:ext cx="4953000" cy="1123950"/>
          </a:xfrm>
          <a:prstGeom prst="roundRect">
            <a:avLst>
              <a:gd name="adj" fmla="val 10169"/>
            </a:avLst>
          </a:prstGeom>
          <a:solidFill>
            <a:srgbClr val="FFFDF6"/>
          </a:solidFill>
          <a:ln w="9525">
            <a:solidFill>
              <a:srgbClr val="D8CEBD"/>
            </a:solidFill>
            <a:prstDash val="solid"/>
          </a:ln>
        </p:spPr>
      </p:sp>
      <p:sp>
        <p:nvSpPr>
          <p:cNvPr id="26" name="H4-stripe"/>
          <p:cNvSpPr>
            <a:spLocks noGrp="1"/>
          </p:cNvSpPr>
          <p:nvPr/>
        </p:nvSpPr>
        <p:spPr>
          <a:xfrm>
            <a:off x="914400" y="4267200"/>
            <a:ext cx="57150" cy="1123950"/>
          </a:xfrm>
          <a:prstGeom prst="rect">
            <a:avLst/>
          </a:prstGeom>
          <a:solidFill>
            <a:srgbClr val="777F5D"/>
          </a:solidFill>
          <a:ln w="9525">
            <a:solidFill>
              <a:srgbClr val="777F5D"/>
            </a:solidFill>
            <a:prstDash val="solid"/>
          </a:ln>
        </p:spPr>
      </p:sp>
      <p:sp>
        <p:nvSpPr>
          <p:cNvPr id="27" name="H4-label"/>
          <p:cNvSpPr>
            <a:spLocks noGrp="1"/>
          </p:cNvSpPr>
          <p:nvPr/>
        </p:nvSpPr>
        <p:spPr>
          <a:xfrm>
            <a:off x="1085850" y="441007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H4</a:t>
            </a:r>
            <a:endParaRPr sz="975" b="1" i="0">
              <a:solidFill>
                <a:srgbClr val="777F5D"/>
              </a:solidFill>
              <a:latin typeface="Times New Roman" panose="02020603050405020304"/>
              <a:ea typeface="Times New Roman" panose="02020603050405020304"/>
              <a:cs typeface="Times New Roman" panose="02020603050405020304"/>
            </a:endParaRPr>
          </a:p>
        </p:txBody>
      </p:sp>
      <p:sp>
        <p:nvSpPr>
          <p:cNvPr id="28" name="H4-title"/>
          <p:cNvSpPr>
            <a:spLocks noGrp="1"/>
          </p:cNvSpPr>
          <p:nvPr/>
        </p:nvSpPr>
        <p:spPr>
          <a:xfrm>
            <a:off x="1638300" y="4381500"/>
            <a:ext cx="40386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Shock timing heterogeneity</a:t>
            </a:r>
            <a:endParaRPr sz="1500" b="1" i="0">
              <a:solidFill>
                <a:srgbClr val="18231C"/>
              </a:solidFill>
              <a:latin typeface="Times New Roman" panose="02020603050405020304"/>
              <a:ea typeface="Times New Roman" panose="02020603050405020304"/>
              <a:cs typeface="Times New Roman" panose="02020603050405020304"/>
            </a:endParaRPr>
          </a:p>
        </p:txBody>
      </p:sp>
      <p:sp>
        <p:nvSpPr>
          <p:cNvPr id="29" name="H4-body"/>
          <p:cNvSpPr>
            <a:spLocks noGrp="1"/>
          </p:cNvSpPr>
          <p:nvPr/>
        </p:nvSpPr>
        <p:spPr>
          <a:xfrm>
            <a:off x="1085850" y="4724400"/>
            <a:ext cx="46291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Early shocks affect initial calibration; mid shocks disrupt reliance after experience has formed.</a:t>
            </a:r>
            <a:endParaRPr sz="1200" b="0" i="0">
              <a:solidFill>
                <a:srgbClr val="5E6556"/>
              </a:solidFill>
              <a:latin typeface="Times New Roman" panose="02020603050405020304"/>
              <a:ea typeface="Times New Roman" panose="02020603050405020304"/>
              <a:cs typeface="Times New Roman" panose="02020603050405020304"/>
            </a:endParaRPr>
          </a:p>
        </p:txBody>
      </p:sp>
      <p:sp>
        <p:nvSpPr>
          <p:cNvPr id="30" name="H5-card"/>
          <p:cNvSpPr>
            <a:spLocks noGrp="1"/>
          </p:cNvSpPr>
          <p:nvPr/>
        </p:nvSpPr>
        <p:spPr>
          <a:xfrm>
            <a:off x="6248400" y="4267200"/>
            <a:ext cx="4953000" cy="1123950"/>
          </a:xfrm>
          <a:prstGeom prst="roundRect">
            <a:avLst>
              <a:gd name="adj" fmla="val 10169"/>
            </a:avLst>
          </a:prstGeom>
          <a:solidFill>
            <a:srgbClr val="F8EFE4"/>
          </a:solidFill>
          <a:ln w="9525">
            <a:solidFill>
              <a:srgbClr val="D8CEBD"/>
            </a:solidFill>
            <a:prstDash val="solid"/>
          </a:ln>
        </p:spPr>
      </p:sp>
      <p:sp>
        <p:nvSpPr>
          <p:cNvPr id="31" name="H5-stripe"/>
          <p:cNvSpPr>
            <a:spLocks noGrp="1"/>
          </p:cNvSpPr>
          <p:nvPr/>
        </p:nvSpPr>
        <p:spPr>
          <a:xfrm>
            <a:off x="6248400" y="4267200"/>
            <a:ext cx="57150" cy="1123950"/>
          </a:xfrm>
          <a:prstGeom prst="rect">
            <a:avLst/>
          </a:prstGeom>
          <a:solidFill>
            <a:srgbClr val="A9653B"/>
          </a:solidFill>
          <a:ln w="9525">
            <a:solidFill>
              <a:srgbClr val="A9653B"/>
            </a:solidFill>
            <a:prstDash val="solid"/>
          </a:ln>
        </p:spPr>
      </p:sp>
      <p:sp>
        <p:nvSpPr>
          <p:cNvPr id="32" name="H5-label"/>
          <p:cNvSpPr>
            <a:spLocks noGrp="1"/>
          </p:cNvSpPr>
          <p:nvPr/>
        </p:nvSpPr>
        <p:spPr>
          <a:xfrm>
            <a:off x="6419850" y="4410075"/>
            <a:ext cx="495300" cy="190500"/>
          </a:xfrm>
          <a:prstGeom prst="rect">
            <a:avLst/>
          </a:prstGeom>
          <a:noFill/>
          <a:ln w="0">
            <a:noFill/>
            <a:prstDash val="solid"/>
          </a:ln>
        </p:spPr>
        <p:txBody>
          <a:bodyPr/>
          <a:lstStyle/>
          <a:p>
            <a:pPr algn="l">
              <a:defRPr sz="975" b="1" i="0">
                <a:solidFill>
                  <a:srgbClr val="A9653B"/>
                </a:solidFill>
                <a:latin typeface="Times New Roman" panose="02020603050405020304"/>
                <a:ea typeface="Times New Roman" panose="02020603050405020304"/>
                <a:cs typeface="Times New Roman" panose="02020603050405020304"/>
              </a:defRPr>
            </a:pPr>
            <a:r>
              <a:rPr sz="975" b="1" i="0">
                <a:solidFill>
                  <a:srgbClr val="A9653B"/>
                </a:solidFill>
                <a:latin typeface="Times New Roman" panose="02020603050405020304"/>
                <a:ea typeface="Times New Roman" panose="02020603050405020304"/>
                <a:cs typeface="Times New Roman" panose="02020603050405020304"/>
              </a:rPr>
              <a:t>H5</a:t>
            </a:r>
            <a:endParaRPr sz="975" b="1" i="0">
              <a:solidFill>
                <a:srgbClr val="A9653B"/>
              </a:solidFill>
              <a:latin typeface="Times New Roman" panose="02020603050405020304"/>
              <a:ea typeface="Times New Roman" panose="02020603050405020304"/>
              <a:cs typeface="Times New Roman" panose="02020603050405020304"/>
            </a:endParaRPr>
          </a:p>
        </p:txBody>
      </p:sp>
      <p:sp>
        <p:nvSpPr>
          <p:cNvPr id="33" name="H5-title"/>
          <p:cNvSpPr>
            <a:spLocks noGrp="1"/>
          </p:cNvSpPr>
          <p:nvPr/>
        </p:nvSpPr>
        <p:spPr>
          <a:xfrm>
            <a:off x="6972300" y="4381500"/>
            <a:ext cx="40386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AI-self asymmetric recovery</a:t>
            </a:r>
            <a:endParaRPr sz="1500" b="1" i="0">
              <a:solidFill>
                <a:srgbClr val="18231C"/>
              </a:solidFill>
              <a:latin typeface="Times New Roman" panose="02020603050405020304"/>
              <a:ea typeface="Times New Roman" panose="02020603050405020304"/>
              <a:cs typeface="Times New Roman" panose="02020603050405020304"/>
            </a:endParaRPr>
          </a:p>
        </p:txBody>
      </p:sp>
      <p:sp>
        <p:nvSpPr>
          <p:cNvPr id="34" name="H5-body"/>
          <p:cNvSpPr>
            <a:spLocks noGrp="1"/>
          </p:cNvSpPr>
          <p:nvPr/>
        </p:nvSpPr>
        <p:spPr>
          <a:xfrm>
            <a:off x="6419850" y="4724400"/>
            <a:ext cx="46291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After comparable errors, AI reliance recovers more slowly than self reliance: AI is forgiven more slowly than self.</a:t>
            </a:r>
            <a:endParaRPr sz="1200" b="0" i="0">
              <a:solidFill>
                <a:srgbClr val="5E6556"/>
              </a:solidFill>
              <a:latin typeface="Times New Roman" panose="02020603050405020304"/>
              <a:ea typeface="Times New Roman" panose="02020603050405020304"/>
              <a:cs typeface="Times New Roman" panose="02020603050405020304"/>
            </a:endParaRPr>
          </a:p>
        </p:txBody>
      </p:sp>
      <p:sp>
        <p:nvSpPr>
          <p:cNvPr id="35" name="bottom-band"/>
          <p:cNvSpPr>
            <a:spLocks noGrp="1"/>
          </p:cNvSpPr>
          <p:nvPr/>
        </p:nvSpPr>
        <p:spPr>
          <a:xfrm>
            <a:off x="914400" y="5676900"/>
            <a:ext cx="10287000" cy="514350"/>
          </a:xfrm>
          <a:prstGeom prst="roundRect">
            <a:avLst>
              <a:gd name="adj" fmla="val 22222"/>
            </a:avLst>
          </a:prstGeom>
          <a:solidFill>
            <a:srgbClr val="EDE4D4"/>
          </a:solidFill>
          <a:ln w="9525">
            <a:solidFill>
              <a:srgbClr val="D8CEBD"/>
            </a:solidFill>
            <a:prstDash val="solid"/>
          </a:ln>
        </p:spPr>
      </p:sp>
      <p:sp>
        <p:nvSpPr>
          <p:cNvPr id="36" name="central-label"/>
          <p:cNvSpPr>
            <a:spLocks noGrp="1"/>
          </p:cNvSpPr>
          <p:nvPr/>
        </p:nvSpPr>
        <p:spPr>
          <a:xfrm>
            <a:off x="1143000" y="5829300"/>
            <a:ext cx="1524000" cy="228600"/>
          </a:xfrm>
          <a:prstGeom prst="rect">
            <a:avLst/>
          </a:prstGeom>
          <a:noFill/>
          <a:ln w="0">
            <a:noFill/>
            <a:prstDash val="solid"/>
          </a:ln>
        </p:spPr>
        <p:txBody>
          <a:bodyPr/>
          <a:lstStyle/>
          <a:p>
            <a:pPr algn="l">
              <a:defRPr sz="1350" b="1" i="0">
                <a:solidFill>
                  <a:srgbClr val="A9653B"/>
                </a:solidFill>
                <a:latin typeface="Times New Roman" panose="02020603050405020304"/>
                <a:ea typeface="Times New Roman" panose="02020603050405020304"/>
                <a:cs typeface="Times New Roman" panose="02020603050405020304"/>
              </a:defRPr>
            </a:pPr>
            <a:r>
              <a:rPr sz="1350" b="1" i="0">
                <a:solidFill>
                  <a:srgbClr val="A9653B"/>
                </a:solidFill>
                <a:latin typeface="Times New Roman" panose="02020603050405020304"/>
                <a:ea typeface="Times New Roman" panose="02020603050405020304"/>
                <a:cs typeface="Times New Roman" panose="02020603050405020304"/>
              </a:rPr>
              <a:t>Central test</a:t>
            </a:r>
            <a:endParaRPr sz="1350" b="1" i="0">
              <a:solidFill>
                <a:srgbClr val="A9653B"/>
              </a:solidFill>
              <a:latin typeface="Times New Roman" panose="02020603050405020304"/>
              <a:ea typeface="Times New Roman" panose="02020603050405020304"/>
              <a:cs typeface="Times New Roman" panose="02020603050405020304"/>
            </a:endParaRPr>
          </a:p>
        </p:txBody>
      </p:sp>
      <p:sp>
        <p:nvSpPr>
          <p:cNvPr id="37" name="central-text"/>
          <p:cNvSpPr>
            <a:spLocks noGrp="1"/>
          </p:cNvSpPr>
          <p:nvPr/>
        </p:nvSpPr>
        <p:spPr>
          <a:xfrm>
            <a:off x="2781300" y="5810250"/>
            <a:ext cx="790575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Do equal performance histories produce equal reliance recovery, or do AI errors leave a longer shadow?</a:t>
            </a:r>
            <a:endParaRPr sz="1500" b="1" i="0">
              <a:solidFill>
                <a:srgbClr val="18231C"/>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PROTOTYPE</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9593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experimental prototype must satisfy five identification requirements</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design has to isolate path updating rather than domain labels, fixed expertise priors, or simple quality differences.</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nvSpPr>
        <p:spPr>
          <a:xfrm>
            <a:off x="914400" y="2114550"/>
            <a:ext cx="3162300" cy="1257300"/>
          </a:xfrm>
          <a:prstGeom prst="roundRect">
            <a:avLst>
              <a:gd name="adj" fmla="val 9091"/>
            </a:avLst>
          </a:prstGeom>
          <a:solidFill>
            <a:srgbClr val="FFFFFF"/>
          </a:solidFill>
          <a:ln w="9525">
            <a:solidFill>
              <a:srgbClr val="D8CCBB"/>
            </a:solidFill>
            <a:prstDash val="solid"/>
          </a:ln>
        </p:spPr>
      </p:sp>
      <p:sp>
        <p:nvSpPr>
          <p:cNvPr id="8" name="圆角矩形 7"/>
          <p:cNvSpPr>
            <a:spLocks noGrp="1"/>
          </p:cNvSpPr>
          <p:nvPr/>
        </p:nvSpPr>
        <p:spPr>
          <a:xfrm>
            <a:off x="914400" y="2114550"/>
            <a:ext cx="57150" cy="12573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0490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1. Multi-round learning</a:t>
            </a:r>
            <a:endParaRPr sz="1275" b="1" i="0">
              <a:solidFill>
                <a:srgbClr val="B77845"/>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104900" y="2628900"/>
            <a:ext cx="2781300" cy="514350"/>
          </a:xfrm>
          <a:prstGeom prst="rect">
            <a:avLst/>
          </a:prstGeom>
          <a:noFill/>
          <a:ln w="0">
            <a:noFill/>
            <a:prstDash val="solid"/>
          </a:ln>
        </p:spPr>
        <p:txBody>
          <a:bodyPr wrap="square" lIns="0" tIns="0" rIns="0" bIns="0" anchor="t">
            <a:normAutofit fontScale="99122"/>
          </a:bodyPr>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sz="1200" b="0" i="0">
                <a:solidFill>
                  <a:srgbClr val="231D17"/>
                </a:solidFill>
                <a:latin typeface="Times New Roman" panose="02020603050405020304"/>
                <a:ea typeface="Times New Roman" panose="02020603050405020304"/>
                <a:cs typeface="Times New Roman" panose="02020603050405020304"/>
              </a:rPr>
              <a:t>The task must generate repeated opportunities to update reliance after local errors.</a:t>
            </a:r>
            <a:endParaRPr sz="1200" b="0" i="0">
              <a:solidFill>
                <a:srgbClr val="231D17"/>
              </a:solidFill>
              <a:latin typeface="Times New Roman" panose="02020603050405020304"/>
              <a:ea typeface="Times New Roman" panose="02020603050405020304"/>
              <a:cs typeface="Times New Roman" panose="02020603050405020304"/>
            </a:endParaRPr>
          </a:p>
        </p:txBody>
      </p:sp>
      <p:sp>
        <p:nvSpPr>
          <p:cNvPr id="11" name="圆角矩形 10"/>
          <p:cNvSpPr>
            <a:spLocks noGrp="1"/>
          </p:cNvSpPr>
          <p:nvPr/>
        </p:nvSpPr>
        <p:spPr>
          <a:xfrm>
            <a:off x="4476750" y="2114550"/>
            <a:ext cx="3162300" cy="1257300"/>
          </a:xfrm>
          <a:prstGeom prst="roundRect">
            <a:avLst>
              <a:gd name="adj" fmla="val 9091"/>
            </a:avLst>
          </a:prstGeom>
          <a:solidFill>
            <a:srgbClr val="FFFFFF"/>
          </a:solidFill>
          <a:ln w="9525">
            <a:solidFill>
              <a:srgbClr val="D8CCBB"/>
            </a:solidFill>
            <a:prstDash val="solid"/>
          </a:ln>
        </p:spPr>
      </p:sp>
      <p:sp>
        <p:nvSpPr>
          <p:cNvPr id="12" name="圆角矩形 11"/>
          <p:cNvSpPr>
            <a:spLocks noGrp="1"/>
          </p:cNvSpPr>
          <p:nvPr/>
        </p:nvSpPr>
        <p:spPr>
          <a:xfrm>
            <a:off x="4476750" y="2114550"/>
            <a:ext cx="57150" cy="1257300"/>
          </a:xfrm>
          <a:prstGeom prst="roundRect">
            <a:avLst>
              <a:gd name="adj" fmla="val 33333"/>
            </a:avLst>
          </a:prstGeom>
          <a:solidFill>
            <a:srgbClr val="B77845"/>
          </a:solidFill>
          <a:ln w="9525">
            <a:solidFill>
              <a:srgbClr val="B77845"/>
            </a:solidFill>
            <a:prstDash val="solid"/>
          </a:ln>
        </p:spPr>
      </p:sp>
      <p:sp>
        <p:nvSpPr>
          <p:cNvPr id="13" name="矩形 12"/>
          <p:cNvSpPr>
            <a:spLocks noGrp="1"/>
          </p:cNvSpPr>
          <p:nvPr/>
        </p:nvSpPr>
        <p:spPr>
          <a:xfrm>
            <a:off x="466725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2. </a:t>
            </a:r>
            <a:r>
              <a:rPr lang="en-US" altLang="zh-CN" sz="1275" b="1" i="0">
                <a:solidFill>
                  <a:srgbClr val="B77845"/>
                </a:solidFill>
                <a:latin typeface="Times New Roman" panose="02020603050405020304"/>
                <a:ea typeface="Times New Roman" panose="02020603050405020304"/>
                <a:cs typeface="Times New Roman" panose="02020603050405020304"/>
              </a:rPr>
              <a:t>Learning that stays alive</a:t>
            </a:r>
            <a:endParaRPr lang="en-US" altLang="zh-CN" sz="1275" b="1" i="0">
              <a:solidFill>
                <a:srgbClr val="B77845"/>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4667250" y="2564765"/>
            <a:ext cx="2957195" cy="514350"/>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The task should require learning, but should not be solved after a few rounds.</a:t>
            </a:r>
            <a:endParaRPr lang="en-US" altLang="zh-CN" b="0" i="0">
              <a:solidFill>
                <a:srgbClr val="231D17"/>
              </a:solidFill>
              <a:latin typeface="Times New Roman" panose="02020603050405020304"/>
              <a:ea typeface="Times New Roman" panose="02020603050405020304"/>
              <a:cs typeface="Times New Roman" panose="02020603050405020304"/>
            </a:endParaRP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Each round should feel similar, but the environment should keep changing.</a:t>
            </a:r>
            <a:endParaRPr lang="en-US" altLang="zh-CN" b="0" i="0">
              <a:solidFill>
                <a:srgbClr val="231D17"/>
              </a:solidFill>
              <a:latin typeface="Times New Roman" panose="02020603050405020304"/>
              <a:ea typeface="Times New Roman" panose="02020603050405020304"/>
              <a:cs typeface="Times New Roman" panose="02020603050405020304"/>
            </a:endParaRPr>
          </a:p>
        </p:txBody>
      </p:sp>
      <p:sp>
        <p:nvSpPr>
          <p:cNvPr id="15" name="圆角矩形 14"/>
          <p:cNvSpPr>
            <a:spLocks noGrp="1"/>
          </p:cNvSpPr>
          <p:nvPr/>
        </p:nvSpPr>
        <p:spPr>
          <a:xfrm>
            <a:off x="8039100" y="2114550"/>
            <a:ext cx="3162300" cy="1257300"/>
          </a:xfrm>
          <a:prstGeom prst="roundRect">
            <a:avLst>
              <a:gd name="adj" fmla="val 9091"/>
            </a:avLst>
          </a:prstGeom>
          <a:solidFill>
            <a:srgbClr val="FFFFFF"/>
          </a:solidFill>
          <a:ln w="9525">
            <a:solidFill>
              <a:srgbClr val="D8CCBB"/>
            </a:solidFill>
            <a:prstDash val="solid"/>
          </a:ln>
        </p:spPr>
      </p:sp>
      <p:sp>
        <p:nvSpPr>
          <p:cNvPr id="16" name="圆角矩形 15"/>
          <p:cNvSpPr>
            <a:spLocks noGrp="1"/>
          </p:cNvSpPr>
          <p:nvPr/>
        </p:nvSpPr>
        <p:spPr>
          <a:xfrm>
            <a:off x="8039100" y="2114550"/>
            <a:ext cx="57150" cy="1257300"/>
          </a:xfrm>
          <a:prstGeom prst="roundRect">
            <a:avLst>
              <a:gd name="adj" fmla="val 33333"/>
            </a:avLst>
          </a:prstGeom>
          <a:solidFill>
            <a:srgbClr val="818A68"/>
          </a:solidFill>
          <a:ln w="9525">
            <a:solidFill>
              <a:srgbClr val="818A68"/>
            </a:solidFill>
            <a:prstDash val="solid"/>
          </a:ln>
        </p:spPr>
      </p:sp>
      <p:sp>
        <p:nvSpPr>
          <p:cNvPr id="17" name="矩形 16"/>
          <p:cNvSpPr>
            <a:spLocks noGrp="1"/>
          </p:cNvSpPr>
          <p:nvPr/>
        </p:nvSpPr>
        <p:spPr>
          <a:xfrm>
            <a:off x="822960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3.</a:t>
            </a:r>
            <a:r>
              <a:rPr lang="en-US" altLang="zh-CN" sz="1275" b="1" i="0">
                <a:solidFill>
                  <a:srgbClr val="818A68"/>
                </a:solidFill>
                <a:latin typeface="Times New Roman" panose="02020603050405020304"/>
                <a:ea typeface="Times New Roman" panose="02020603050405020304"/>
                <a:cs typeface="Times New Roman" panose="02020603050405020304"/>
              </a:rPr>
              <a:t>Meaningful AI use</a:t>
            </a:r>
            <a:endParaRPr lang="en-US" altLang="zh-CN" sz="1275" b="1" i="0">
              <a:solidFill>
                <a:srgbClr val="818A68"/>
              </a:solidFill>
              <a:latin typeface="Times New Roman" panose="02020603050405020304"/>
              <a:ea typeface="Times New Roman" panose="02020603050405020304"/>
              <a:cs typeface="Times New Roman" panose="02020603050405020304"/>
            </a:endParaRPr>
          </a:p>
        </p:txBody>
      </p:sp>
      <p:sp>
        <p:nvSpPr>
          <p:cNvPr id="18" name="矩形 17"/>
          <p:cNvSpPr>
            <a:spLocks noGrp="1"/>
          </p:cNvSpPr>
          <p:nvPr/>
        </p:nvSpPr>
        <p:spPr>
          <a:xfrm>
            <a:off x="8270240" y="2517140"/>
            <a:ext cx="2781300" cy="634365"/>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Participants should feel that AI can actually help.</a:t>
            </a:r>
            <a:endParaRPr lang="en-US" altLang="zh-CN" b="0" i="0">
              <a:solidFill>
                <a:srgbClr val="231D17"/>
              </a:solidFill>
              <a:latin typeface="Times New Roman" panose="02020603050405020304"/>
              <a:ea typeface="Times New Roman" panose="02020603050405020304"/>
              <a:cs typeface="Times New Roman" panose="02020603050405020304"/>
            </a:endParaRP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The AI should not feel like a simple rule or ordinary calculator.</a:t>
            </a:r>
            <a:endParaRPr lang="en-US" altLang="zh-CN" b="0" i="0">
              <a:solidFill>
                <a:srgbClr val="231D17"/>
              </a:solidFill>
              <a:latin typeface="Times New Roman" panose="02020603050405020304"/>
              <a:ea typeface="Times New Roman" panose="02020603050405020304"/>
              <a:cs typeface="Times New Roman" panose="02020603050405020304"/>
            </a:endParaRPr>
          </a:p>
        </p:txBody>
      </p:sp>
      <p:sp>
        <p:nvSpPr>
          <p:cNvPr id="19" name="圆角矩形 18"/>
          <p:cNvSpPr>
            <a:spLocks noGrp="1"/>
          </p:cNvSpPr>
          <p:nvPr/>
        </p:nvSpPr>
        <p:spPr>
          <a:xfrm>
            <a:off x="914400" y="3638550"/>
            <a:ext cx="4514215" cy="1257300"/>
          </a:xfrm>
          <a:prstGeom prst="roundRect">
            <a:avLst>
              <a:gd name="adj" fmla="val 9091"/>
            </a:avLst>
          </a:prstGeom>
          <a:solidFill>
            <a:srgbClr val="FFFFFF"/>
          </a:solidFill>
          <a:ln w="9525">
            <a:solidFill>
              <a:srgbClr val="D8CCBB"/>
            </a:solidFill>
            <a:prstDash val="solid"/>
          </a:ln>
        </p:spPr>
      </p:sp>
      <p:sp>
        <p:nvSpPr>
          <p:cNvPr id="20" name="圆角矩形 19"/>
          <p:cNvSpPr>
            <a:spLocks noGrp="1"/>
          </p:cNvSpPr>
          <p:nvPr/>
        </p:nvSpPr>
        <p:spPr>
          <a:xfrm>
            <a:off x="914400" y="3638550"/>
            <a:ext cx="57150" cy="1257300"/>
          </a:xfrm>
          <a:prstGeom prst="roundRect">
            <a:avLst>
              <a:gd name="adj" fmla="val 33333"/>
            </a:avLst>
          </a:prstGeom>
          <a:solidFill>
            <a:srgbClr val="B77845"/>
          </a:solidFill>
          <a:ln w="9525">
            <a:solidFill>
              <a:srgbClr val="B77845"/>
            </a:solidFill>
            <a:prstDash val="solid"/>
          </a:ln>
        </p:spPr>
      </p:sp>
      <p:sp>
        <p:nvSpPr>
          <p:cNvPr id="21" name="矩形 20"/>
          <p:cNvSpPr>
            <a:spLocks noGrp="1"/>
          </p:cNvSpPr>
          <p:nvPr/>
        </p:nvSpPr>
        <p:spPr>
          <a:xfrm>
            <a:off x="1104900" y="3810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4. </a:t>
            </a:r>
            <a:r>
              <a:rPr lang="en-US" altLang="zh-CN" sz="1275" b="1" i="0">
                <a:solidFill>
                  <a:srgbClr val="B77845"/>
                </a:solidFill>
                <a:latin typeface="Times New Roman" panose="02020603050405020304"/>
                <a:ea typeface="Times New Roman" panose="02020603050405020304"/>
                <a:cs typeface="Times New Roman" panose="02020603050405020304"/>
              </a:rPr>
              <a:t>Clean individual setting</a:t>
            </a:r>
            <a:endParaRPr lang="en-US" altLang="zh-CN" sz="1275" b="1" i="0">
              <a:solidFill>
                <a:srgbClr val="B77845"/>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1085850" y="4004945"/>
            <a:ext cx="4517390" cy="514350"/>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400" b="0" i="0">
                <a:solidFill>
                  <a:srgbClr val="231D17"/>
                </a:solidFill>
                <a:latin typeface="Times New Roman" panose="02020603050405020304"/>
                <a:ea typeface="Times New Roman" panose="02020603050405020304"/>
                <a:cs typeface="Times New Roman" panose="02020603050405020304"/>
              </a:rPr>
              <a:t>Each participant should face the same standardized environment.</a:t>
            </a:r>
            <a:endParaRPr lang="en-US" altLang="zh-CN" sz="1400" b="0" i="0">
              <a:solidFill>
                <a:srgbClr val="231D17"/>
              </a:solidFill>
              <a:latin typeface="Times New Roman" panose="02020603050405020304"/>
              <a:ea typeface="Times New Roman" panose="02020603050405020304"/>
              <a:cs typeface="Times New Roman" panose="02020603050405020304"/>
            </a:endParaRP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400" b="0" i="0">
                <a:solidFill>
                  <a:srgbClr val="231D17"/>
                </a:solidFill>
                <a:latin typeface="Times New Roman" panose="02020603050405020304"/>
                <a:ea typeface="Times New Roman" panose="02020603050405020304"/>
                <a:cs typeface="Times New Roman" panose="02020603050405020304"/>
              </a:rPr>
              <a:t>The opponent agent is only used to control difficulty, win rate, and AI error timing.</a:t>
            </a:r>
            <a:endParaRPr lang="en-US" altLang="zh-CN" sz="1400" b="0" i="0">
              <a:solidFill>
                <a:srgbClr val="231D17"/>
              </a:solidFill>
              <a:latin typeface="Times New Roman" panose="02020603050405020304"/>
              <a:ea typeface="Times New Roman" panose="02020603050405020304"/>
              <a:cs typeface="Times New Roman" panose="02020603050405020304"/>
            </a:endParaRPr>
          </a:p>
        </p:txBody>
      </p:sp>
      <p:sp>
        <p:nvSpPr>
          <p:cNvPr id="23" name="圆角矩形 22"/>
          <p:cNvSpPr>
            <a:spLocks noGrp="1"/>
          </p:cNvSpPr>
          <p:nvPr/>
        </p:nvSpPr>
        <p:spPr>
          <a:xfrm>
            <a:off x="6286500" y="3638550"/>
            <a:ext cx="4914900" cy="1257300"/>
          </a:xfrm>
          <a:prstGeom prst="roundRect">
            <a:avLst>
              <a:gd name="adj" fmla="val 9091"/>
            </a:avLst>
          </a:prstGeom>
          <a:solidFill>
            <a:srgbClr val="FFFFFF"/>
          </a:solidFill>
          <a:ln w="9525">
            <a:solidFill>
              <a:srgbClr val="D8CCBB"/>
            </a:solidFill>
            <a:prstDash val="solid"/>
          </a:ln>
        </p:spPr>
      </p:sp>
      <p:sp>
        <p:nvSpPr>
          <p:cNvPr id="24" name="圆角矩形 23"/>
          <p:cNvSpPr>
            <a:spLocks noGrp="1"/>
          </p:cNvSpPr>
          <p:nvPr/>
        </p:nvSpPr>
        <p:spPr>
          <a:xfrm>
            <a:off x="6286500" y="3638550"/>
            <a:ext cx="57150" cy="1257300"/>
          </a:xfrm>
          <a:prstGeom prst="roundRect">
            <a:avLst>
              <a:gd name="adj" fmla="val 33333"/>
            </a:avLst>
          </a:prstGeom>
          <a:solidFill>
            <a:srgbClr val="B77845"/>
          </a:solidFill>
          <a:ln w="9525">
            <a:solidFill>
              <a:srgbClr val="B77845"/>
            </a:solidFill>
            <a:prstDash val="solid"/>
          </a:ln>
        </p:spPr>
      </p:sp>
      <p:sp>
        <p:nvSpPr>
          <p:cNvPr id="25" name="矩形 24"/>
          <p:cNvSpPr>
            <a:spLocks noGrp="1"/>
          </p:cNvSpPr>
          <p:nvPr/>
        </p:nvSpPr>
        <p:spPr>
          <a:xfrm>
            <a:off x="6477000" y="3810000"/>
            <a:ext cx="45339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5.</a:t>
            </a:r>
            <a:r>
              <a:rPr lang="en-US" altLang="zh-CN" sz="1275" b="1" i="0">
                <a:solidFill>
                  <a:srgbClr val="B77845"/>
                </a:solidFill>
                <a:latin typeface="Times New Roman" panose="02020603050405020304"/>
                <a:ea typeface="Times New Roman" panose="02020603050405020304"/>
                <a:cs typeface="Times New Roman" panose="02020603050405020304"/>
              </a:rPr>
              <a:t>Self–AI counterfactual feedback</a:t>
            </a:r>
            <a:endParaRPr lang="en-US" altLang="zh-CN" sz="1275" b="1" i="0">
              <a:solidFill>
                <a:srgbClr val="B77845"/>
              </a:solidFill>
              <a:latin typeface="Times New Roman" panose="02020603050405020304"/>
              <a:ea typeface="Times New Roman" panose="02020603050405020304"/>
              <a:cs typeface="Times New Roman" panose="02020603050405020304"/>
            </a:endParaRPr>
          </a:p>
        </p:txBody>
      </p:sp>
      <p:sp>
        <p:nvSpPr>
          <p:cNvPr id="26" name="矩形 25"/>
          <p:cNvSpPr>
            <a:spLocks noGrp="1"/>
          </p:cNvSpPr>
          <p:nvPr/>
        </p:nvSpPr>
        <p:spPr>
          <a:xfrm>
            <a:off x="6477000" y="4152900"/>
            <a:ext cx="4533900" cy="514350"/>
          </a:xfrm>
          <a:prstGeom prst="rect">
            <a:avLst/>
          </a:prstGeom>
          <a:noFill/>
          <a:ln w="0">
            <a:noFill/>
            <a:prstDash val="solid"/>
          </a:ln>
        </p:spPr>
        <p:txBody>
          <a:bodyPr wrap="square" lIns="0" tIns="0" rIns="0" bIns="0" anchor="t">
            <a:normAutofit lnSpcReduction="20000"/>
          </a:bodyPr>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Participants must see both outcomes:</a:t>
            </a:r>
            <a:endParaRPr lang="en-US" altLang="zh-CN" sz="1200" b="0" i="0">
              <a:solidFill>
                <a:srgbClr val="231D17"/>
              </a:solidFill>
              <a:latin typeface="Times New Roman" panose="02020603050405020304"/>
              <a:ea typeface="Times New Roman" panose="02020603050405020304"/>
              <a:cs typeface="Times New Roman" panose="02020603050405020304"/>
            </a:endParaRP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what happened if they followed themselves, and what would have happened if they followed AI.</a:t>
            </a:r>
            <a:endParaRPr lang="en-US" altLang="zh-CN" sz="1200" b="0" i="0">
              <a:solidFill>
                <a:srgbClr val="231D17"/>
              </a:solidFill>
              <a:latin typeface="Times New Roman" panose="02020603050405020304"/>
              <a:ea typeface="Times New Roman" panose="02020603050405020304"/>
              <a:cs typeface="Times New Roman" panose="02020603050405020304"/>
            </a:endParaRPr>
          </a:p>
        </p:txBody>
      </p:sp>
      <p:sp>
        <p:nvSpPr>
          <p:cNvPr id="27" name="矩形 26"/>
          <p:cNvSpPr>
            <a:spLocks noGrp="1"/>
          </p:cNvSpPr>
          <p:nvPr/>
        </p:nvSpPr>
        <p:spPr>
          <a:xfrm>
            <a:off x="914400" y="5467350"/>
            <a:ext cx="10287000" cy="361950"/>
          </a:xfrm>
          <a:prstGeom prst="rect">
            <a:avLst/>
          </a:prstGeom>
          <a:noFill/>
          <a:ln w="0">
            <a:noFill/>
            <a:prstDash val="solid"/>
          </a:ln>
        </p:spPr>
        <p:txBody>
          <a:bodyPr wrap="square" lIns="0" tIns="0" rIns="0" bIns="0" anchor="t">
            <a:normAutofit fontScale="98225"/>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Prototype summary: repeated decisions + full feedback + matched average quality let us study path effects rather than fixed source stereotypes.</a:t>
            </a:r>
            <a:endParaRPr sz="1350" b="1"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4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TASK</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矩形 4"/>
          <p:cNvSpPr>
            <a:spLocks noGrp="1"/>
          </p:cNvSpPr>
          <p:nvPr/>
        </p:nvSpPr>
        <p:spPr>
          <a:xfrm>
            <a:off x="914400" y="952500"/>
            <a:ext cx="8572500" cy="438150"/>
          </a:xfrm>
          <a:prstGeom prst="rect">
            <a:avLst/>
          </a:prstGeom>
          <a:noFill/>
          <a:ln w="0">
            <a:noFill/>
            <a:prstDash val="solid"/>
          </a:ln>
        </p:spPr>
        <p:txBody>
          <a:bodyPr wrap="square" lIns="0" tIns="0" rIns="0" bIns="0" anchor="t">
            <a:normAutofit/>
          </a:bodyPr>
          <a:lstStyle/>
          <a:p>
            <a:pPr algn="l">
              <a:lnSpc>
                <a:spcPct val="96000"/>
              </a:lnSpc>
              <a:buNone/>
              <a:defRPr sz="2850" b="1" i="0">
                <a:solidFill>
                  <a:srgbClr val="231D17"/>
                </a:solidFill>
                <a:latin typeface="Times New Roman" panose="02020603050405020304"/>
                <a:ea typeface="Times New Roman" panose="02020603050405020304"/>
                <a:cs typeface="Times New Roman" panose="02020603050405020304"/>
              </a:defRPr>
            </a:pPr>
            <a:r>
              <a:rPr sz="2850" b="1" i="0">
                <a:solidFill>
                  <a:srgbClr val="231D17"/>
                </a:solidFill>
                <a:latin typeface="Times New Roman" panose="02020603050405020304"/>
                <a:ea typeface="Times New Roman" panose="02020603050405020304"/>
                <a:cs typeface="Times New Roman" panose="02020603050405020304"/>
              </a:rPr>
              <a:t>A Slot-Machine-Like Allocation Task</a:t>
            </a:r>
            <a:endParaRPr sz="2850" b="1" i="0">
              <a:solidFill>
                <a:srgbClr val="231D17"/>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914400" y="1466850"/>
            <a:ext cx="9715500" cy="400050"/>
          </a:xfrm>
          <a:prstGeom prst="rect">
            <a:avLst/>
          </a:prstGeom>
          <a:noFill/>
          <a:ln w="0">
            <a:noFill/>
            <a:prstDash val="solid"/>
          </a:ln>
        </p:spPr>
        <p:txBody>
          <a:bodyPr wrap="square" lIns="0" tIns="0" rIns="0" bIns="0" anchor="t">
            <a:normAutofit fontScale="99564"/>
          </a:bodyPr>
          <a:lstStyle/>
          <a:p>
            <a:pPr algn="l">
              <a:lnSpc>
                <a:spcPct val="104000"/>
              </a:lnSpc>
              <a:buNone/>
              <a:defRPr sz="1350" b="0" i="0">
                <a:solidFill>
                  <a:srgbClr val="6F665C"/>
                </a:solidFill>
                <a:latin typeface="Times New Roman" panose="02020603050405020304"/>
                <a:ea typeface="Times New Roman" panose="02020603050405020304"/>
                <a:cs typeface="Times New Roman" panose="02020603050405020304"/>
              </a:defRPr>
            </a:pPr>
            <a:r>
              <a:rPr sz="1350" b="0" i="0">
                <a:solidFill>
                  <a:srgbClr val="6F665C"/>
                </a:solidFill>
                <a:latin typeface="Times New Roman" panose="02020603050405020304"/>
                <a:ea typeface="Times New Roman" panose="02020603050405020304"/>
                <a:cs typeface="Times New Roman" panose="02020603050405020304"/>
              </a:rPr>
              <a:t>Participants repeatedly allocate 100 points across three abstract channels, then choose between their own allocation and Agent-AI's allocation.</a:t>
            </a:r>
            <a:endParaRPr sz="135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nvSpPr>
        <p:spPr>
          <a:xfrm>
            <a:off x="914400" y="2057400"/>
            <a:ext cx="6858000" cy="3714750"/>
          </a:xfrm>
          <a:prstGeom prst="roundRect">
            <a:avLst>
              <a:gd name="adj" fmla="val 3077"/>
            </a:avLst>
          </a:prstGeom>
          <a:solidFill>
            <a:srgbClr val="FBF7F0"/>
          </a:solidFill>
          <a:ln w="9525">
            <a:solidFill>
              <a:srgbClr val="D8CCBB"/>
            </a:solidFill>
            <a:prstDash val="solid"/>
          </a:ln>
        </p:spPr>
      </p:sp>
      <p:sp>
        <p:nvSpPr>
          <p:cNvPr id="8" name="矩形 7"/>
          <p:cNvSpPr>
            <a:spLocks noGrp="1"/>
          </p:cNvSpPr>
          <p:nvPr/>
        </p:nvSpPr>
        <p:spPr>
          <a:xfrm>
            <a:off x="1181100" y="2247900"/>
            <a:ext cx="3333750" cy="266700"/>
          </a:xfrm>
          <a:prstGeom prst="rect">
            <a:avLst/>
          </a:prstGeom>
          <a:noFill/>
          <a:ln w="0">
            <a:noFill/>
            <a:prstDash val="solid"/>
          </a:ln>
        </p:spPr>
        <p:txBody>
          <a:bodyPr wrap="square" lIns="0" tIns="0" rIns="0" bIns="0" anchor="t">
            <a:normAutofit fontScale="97547"/>
          </a:bodyPr>
          <a:lstStyle/>
          <a:p>
            <a:pPr algn="l">
              <a:lnSpc>
                <a:spcPct val="104000"/>
              </a:lnSpc>
              <a:buNone/>
              <a:defRPr sz="1725" b="1" i="0">
                <a:solidFill>
                  <a:srgbClr val="B77845"/>
                </a:solidFill>
                <a:latin typeface="Times New Roman" panose="02020603050405020304"/>
                <a:ea typeface="Times New Roman" panose="02020603050405020304"/>
                <a:cs typeface="Times New Roman" panose="02020603050405020304"/>
              </a:defRPr>
            </a:pPr>
            <a:r>
              <a:rPr sz="1725" b="1" i="0">
                <a:solidFill>
                  <a:srgbClr val="B77845"/>
                </a:solidFill>
                <a:latin typeface="Times New Roman" panose="02020603050405020304"/>
                <a:ea typeface="Times New Roman" panose="02020603050405020304"/>
                <a:cs typeface="Times New Roman" panose="02020603050405020304"/>
              </a:rPr>
              <a:t>Mock participant screen: Round t</a:t>
            </a:r>
            <a:endParaRPr sz="1725" b="1" i="0">
              <a:solidFill>
                <a:srgbClr val="B77845"/>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5314950" y="2286000"/>
            <a:ext cx="2000250" cy="190500"/>
          </a:xfrm>
          <a:prstGeom prst="rect">
            <a:avLst/>
          </a:prstGeom>
          <a:noFill/>
          <a:ln w="0">
            <a:noFill/>
            <a:prstDash val="solid"/>
          </a:ln>
        </p:spPr>
        <p:txBody>
          <a:bodyPr wrap="square" lIns="0" tIns="0" rIns="0" bIns="0" anchor="t">
            <a:normAutofit/>
          </a:bodyPr>
          <a:lstStyle/>
          <a:p>
            <a:pPr algn="r">
              <a:lnSpc>
                <a:spcPct val="104000"/>
              </a:lnSpc>
              <a:buNone/>
              <a:defRPr sz="1050" b="1" i="0">
                <a:solidFill>
                  <a:srgbClr val="23384A"/>
                </a:solidFill>
                <a:latin typeface="Times New Roman" panose="02020603050405020304"/>
                <a:ea typeface="Times New Roman" panose="02020603050405020304"/>
                <a:cs typeface="Times New Roman" panose="02020603050405020304"/>
              </a:defRPr>
            </a:pPr>
            <a:r>
              <a:rPr sz="1050" b="1" i="0">
                <a:solidFill>
                  <a:srgbClr val="23384A"/>
                </a:solidFill>
                <a:latin typeface="Times New Roman" panose="02020603050405020304"/>
                <a:ea typeface="Times New Roman" panose="02020603050405020304"/>
                <a:cs typeface="Times New Roman" panose="02020603050405020304"/>
              </a:rPr>
              <a:t>No real-world label</a:t>
            </a:r>
            <a:endParaRPr sz="1050" b="1" i="0">
              <a:solidFill>
                <a:srgbClr val="23384A"/>
              </a:solidFill>
              <a:latin typeface="Times New Roman" panose="02020603050405020304"/>
              <a:ea typeface="Times New Roman" panose="02020603050405020304"/>
              <a:cs typeface="Times New Roman" panose="02020603050405020304"/>
            </a:endParaRPr>
          </a:p>
        </p:txBody>
      </p:sp>
      <p:sp>
        <p:nvSpPr>
          <p:cNvPr id="10" name="圆角矩形 9"/>
          <p:cNvSpPr>
            <a:spLocks noGrp="1"/>
          </p:cNvSpPr>
          <p:nvPr/>
        </p:nvSpPr>
        <p:spPr>
          <a:xfrm>
            <a:off x="1200150" y="2686050"/>
            <a:ext cx="1485900" cy="1123950"/>
          </a:xfrm>
          <a:prstGeom prst="roundRect">
            <a:avLst>
              <a:gd name="adj" fmla="val 6780"/>
            </a:avLst>
          </a:prstGeom>
          <a:solidFill>
            <a:srgbClr val="FFFFFF"/>
          </a:solidFill>
          <a:ln w="9525">
            <a:solidFill>
              <a:srgbClr val="D8CCBB"/>
            </a:solidFill>
            <a:prstDash val="solid"/>
          </a:ln>
        </p:spPr>
      </p:sp>
      <p:sp>
        <p:nvSpPr>
          <p:cNvPr id="11" name="矩形 10"/>
          <p:cNvSpPr>
            <a:spLocks noGrp="1"/>
          </p:cNvSpPr>
          <p:nvPr/>
        </p:nvSpPr>
        <p:spPr>
          <a:xfrm>
            <a:off x="13335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α</a:t>
            </a:r>
            <a:endParaRPr sz="1650" b="1" i="0">
              <a:solidFill>
                <a:srgbClr val="B77845"/>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8669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endParaRPr sz="825" b="0" i="0">
              <a:solidFill>
                <a:srgbClr val="6F665C"/>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1371600" y="3226320"/>
            <a:ext cx="76200" cy="259830"/>
          </a:xfrm>
          <a:prstGeom prst="rect">
            <a:avLst/>
          </a:prstGeom>
          <a:solidFill>
            <a:srgbClr val="B77845"/>
          </a:solidFill>
          <a:ln w="0">
            <a:solidFill>
              <a:srgbClr val="B77845"/>
            </a:solidFill>
            <a:prstDash val="solid"/>
          </a:ln>
        </p:spPr>
      </p:sp>
      <p:sp>
        <p:nvSpPr>
          <p:cNvPr id="14" name="矩形 13"/>
          <p:cNvSpPr>
            <a:spLocks noGrp="1"/>
          </p:cNvSpPr>
          <p:nvPr/>
        </p:nvSpPr>
        <p:spPr>
          <a:xfrm>
            <a:off x="1495425" y="3204460"/>
            <a:ext cx="76200" cy="281690"/>
          </a:xfrm>
          <a:prstGeom prst="rect">
            <a:avLst/>
          </a:prstGeom>
          <a:solidFill>
            <a:srgbClr val="B77845"/>
          </a:solidFill>
          <a:ln w="0">
            <a:solidFill>
              <a:srgbClr val="B77845"/>
            </a:solidFill>
            <a:prstDash val="solid"/>
          </a:ln>
        </p:spPr>
      </p:sp>
      <p:sp>
        <p:nvSpPr>
          <p:cNvPr id="15" name="矩形 14"/>
          <p:cNvSpPr>
            <a:spLocks noGrp="1"/>
          </p:cNvSpPr>
          <p:nvPr/>
        </p:nvSpPr>
        <p:spPr>
          <a:xfrm>
            <a:off x="1619250" y="3178227"/>
            <a:ext cx="76200" cy="307923"/>
          </a:xfrm>
          <a:prstGeom prst="rect">
            <a:avLst/>
          </a:prstGeom>
          <a:solidFill>
            <a:srgbClr val="B77845"/>
          </a:solidFill>
          <a:ln w="0">
            <a:solidFill>
              <a:srgbClr val="B77845"/>
            </a:solidFill>
            <a:prstDash val="solid"/>
          </a:ln>
        </p:spPr>
      </p:sp>
      <p:sp>
        <p:nvSpPr>
          <p:cNvPr id="16" name="矩形 15"/>
          <p:cNvSpPr>
            <a:spLocks noGrp="1"/>
          </p:cNvSpPr>
          <p:nvPr/>
        </p:nvSpPr>
        <p:spPr>
          <a:xfrm>
            <a:off x="1743075" y="3160739"/>
            <a:ext cx="76200" cy="325411"/>
          </a:xfrm>
          <a:prstGeom prst="rect">
            <a:avLst/>
          </a:prstGeom>
          <a:solidFill>
            <a:srgbClr val="B77845"/>
          </a:solidFill>
          <a:ln w="0">
            <a:solidFill>
              <a:srgbClr val="B77845"/>
            </a:solidFill>
            <a:prstDash val="solid"/>
          </a:ln>
        </p:spPr>
      </p:sp>
      <p:sp>
        <p:nvSpPr>
          <p:cNvPr id="17" name="矩形 16"/>
          <p:cNvSpPr>
            <a:spLocks noGrp="1"/>
          </p:cNvSpPr>
          <p:nvPr/>
        </p:nvSpPr>
        <p:spPr>
          <a:xfrm>
            <a:off x="1866900" y="3143250"/>
            <a:ext cx="76200" cy="342900"/>
          </a:xfrm>
          <a:prstGeom prst="rect">
            <a:avLst/>
          </a:prstGeom>
          <a:solidFill>
            <a:srgbClr val="B77845"/>
          </a:solidFill>
          <a:ln w="0">
            <a:solidFill>
              <a:srgbClr val="B77845"/>
            </a:solidFill>
            <a:prstDash val="solid"/>
          </a:ln>
        </p:spPr>
      </p:sp>
      <p:sp>
        <p:nvSpPr>
          <p:cNvPr id="18" name="圆角矩形 17"/>
          <p:cNvSpPr>
            <a:spLocks noGrp="1"/>
          </p:cNvSpPr>
          <p:nvPr/>
        </p:nvSpPr>
        <p:spPr>
          <a:xfrm>
            <a:off x="1371600" y="3467100"/>
            <a:ext cx="1143000" cy="114300"/>
          </a:xfrm>
          <a:prstGeom prst="roundRect">
            <a:avLst>
              <a:gd name="adj" fmla="val 16667"/>
            </a:avLst>
          </a:prstGeom>
          <a:solidFill>
            <a:srgbClr val="EFE6D8"/>
          </a:solidFill>
          <a:ln w="0">
            <a:solidFill>
              <a:srgbClr val="EFE6D8"/>
            </a:solidFill>
            <a:prstDash val="solid"/>
          </a:ln>
        </p:spPr>
      </p:sp>
      <p:sp>
        <p:nvSpPr>
          <p:cNvPr id="19" name="圆角矩形 18"/>
          <p:cNvSpPr>
            <a:spLocks noGrp="1"/>
          </p:cNvSpPr>
          <p:nvPr/>
        </p:nvSpPr>
        <p:spPr>
          <a:xfrm>
            <a:off x="1371600" y="3467100"/>
            <a:ext cx="457200" cy="114300"/>
          </a:xfrm>
          <a:prstGeom prst="roundRect">
            <a:avLst>
              <a:gd name="adj" fmla="val 16667"/>
            </a:avLst>
          </a:prstGeom>
          <a:solidFill>
            <a:srgbClr val="B77845"/>
          </a:solidFill>
          <a:ln w="0">
            <a:solidFill>
              <a:srgbClr val="B77845"/>
            </a:solidFill>
            <a:prstDash val="solid"/>
          </a:ln>
        </p:spPr>
      </p:sp>
      <p:sp>
        <p:nvSpPr>
          <p:cNvPr id="20" name="矩形 19"/>
          <p:cNvSpPr>
            <a:spLocks noGrp="1"/>
          </p:cNvSpPr>
          <p:nvPr/>
        </p:nvSpPr>
        <p:spPr>
          <a:xfrm>
            <a:off x="13716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40 points</a:t>
            </a:r>
            <a:endParaRPr sz="900" b="1" i="0">
              <a:solidFill>
                <a:srgbClr val="231D17"/>
              </a:solidFill>
              <a:latin typeface="Times New Roman" panose="02020603050405020304"/>
              <a:ea typeface="Times New Roman" panose="02020603050405020304"/>
              <a:cs typeface="Times New Roman" panose="02020603050405020304"/>
            </a:endParaRPr>
          </a:p>
        </p:txBody>
      </p:sp>
      <p:sp>
        <p:nvSpPr>
          <p:cNvPr id="21" name="圆角矩形 20"/>
          <p:cNvSpPr>
            <a:spLocks noGrp="1"/>
          </p:cNvSpPr>
          <p:nvPr/>
        </p:nvSpPr>
        <p:spPr>
          <a:xfrm>
            <a:off x="2876550" y="2686050"/>
            <a:ext cx="1485900" cy="1123950"/>
          </a:xfrm>
          <a:prstGeom prst="roundRect">
            <a:avLst>
              <a:gd name="adj" fmla="val 6780"/>
            </a:avLst>
          </a:prstGeom>
          <a:solidFill>
            <a:srgbClr val="FFFFFF"/>
          </a:solidFill>
          <a:ln w="9525">
            <a:solidFill>
              <a:srgbClr val="D8CCBB"/>
            </a:solidFill>
            <a:prstDash val="solid"/>
          </a:ln>
        </p:spPr>
      </p:sp>
      <p:sp>
        <p:nvSpPr>
          <p:cNvPr id="22" name="矩形 21"/>
          <p:cNvSpPr>
            <a:spLocks noGrp="1"/>
          </p:cNvSpPr>
          <p:nvPr/>
        </p:nvSpPr>
        <p:spPr>
          <a:xfrm>
            <a:off x="30099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818A68"/>
                </a:solidFill>
                <a:latin typeface="Times New Roman" panose="02020603050405020304"/>
                <a:ea typeface="Times New Roman" panose="02020603050405020304"/>
                <a:cs typeface="Times New Roman" panose="02020603050405020304"/>
              </a:defRPr>
            </a:pPr>
            <a:r>
              <a:rPr sz="1650" b="1" i="0">
                <a:solidFill>
                  <a:srgbClr val="818A68"/>
                </a:solidFill>
                <a:latin typeface="Times New Roman" panose="02020603050405020304"/>
                <a:ea typeface="Times New Roman" panose="02020603050405020304"/>
                <a:cs typeface="Times New Roman" panose="02020603050405020304"/>
              </a:rPr>
              <a:t>β</a:t>
            </a:r>
            <a:endParaRPr sz="1650" b="1" i="0">
              <a:solidFill>
                <a:srgbClr val="818A68"/>
              </a:solidFill>
              <a:latin typeface="Times New Roman" panose="02020603050405020304"/>
              <a:ea typeface="Times New Roman" panose="02020603050405020304"/>
              <a:cs typeface="Times New Roman" panose="02020603050405020304"/>
            </a:endParaRPr>
          </a:p>
        </p:txBody>
      </p:sp>
      <p:sp>
        <p:nvSpPr>
          <p:cNvPr id="23" name="矩形 22"/>
          <p:cNvSpPr>
            <a:spLocks noGrp="1"/>
          </p:cNvSpPr>
          <p:nvPr/>
        </p:nvSpPr>
        <p:spPr>
          <a:xfrm>
            <a:off x="35433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endParaRPr sz="825" b="0" i="0">
              <a:solidFill>
                <a:srgbClr val="6F665C"/>
              </a:solidFill>
              <a:latin typeface="Times New Roman" panose="02020603050405020304"/>
              <a:ea typeface="Times New Roman" panose="02020603050405020304"/>
              <a:cs typeface="Times New Roman" panose="02020603050405020304"/>
            </a:endParaRPr>
          </a:p>
        </p:txBody>
      </p:sp>
      <p:sp>
        <p:nvSpPr>
          <p:cNvPr id="24" name="矩形 23"/>
          <p:cNvSpPr>
            <a:spLocks noGrp="1"/>
          </p:cNvSpPr>
          <p:nvPr/>
        </p:nvSpPr>
        <p:spPr>
          <a:xfrm>
            <a:off x="3048000" y="3143250"/>
            <a:ext cx="76200" cy="342900"/>
          </a:xfrm>
          <a:prstGeom prst="rect">
            <a:avLst/>
          </a:prstGeom>
          <a:solidFill>
            <a:srgbClr val="818A68"/>
          </a:solidFill>
          <a:ln w="0">
            <a:solidFill>
              <a:srgbClr val="818A68"/>
            </a:solidFill>
            <a:prstDash val="solid"/>
          </a:ln>
        </p:spPr>
      </p:sp>
      <p:sp>
        <p:nvSpPr>
          <p:cNvPr id="25" name="矩形 24"/>
          <p:cNvSpPr>
            <a:spLocks noGrp="1"/>
          </p:cNvSpPr>
          <p:nvPr/>
        </p:nvSpPr>
        <p:spPr>
          <a:xfrm>
            <a:off x="3171825" y="3153918"/>
            <a:ext cx="76200" cy="332232"/>
          </a:xfrm>
          <a:prstGeom prst="rect">
            <a:avLst/>
          </a:prstGeom>
          <a:solidFill>
            <a:srgbClr val="818A68"/>
          </a:solidFill>
          <a:ln w="0">
            <a:solidFill>
              <a:srgbClr val="818A68"/>
            </a:solidFill>
            <a:prstDash val="solid"/>
          </a:ln>
        </p:spPr>
      </p:sp>
      <p:sp>
        <p:nvSpPr>
          <p:cNvPr id="26" name="矩形 25"/>
          <p:cNvSpPr>
            <a:spLocks noGrp="1"/>
          </p:cNvSpPr>
          <p:nvPr/>
        </p:nvSpPr>
        <p:spPr>
          <a:xfrm>
            <a:off x="3295650" y="3168142"/>
            <a:ext cx="76200" cy="318008"/>
          </a:xfrm>
          <a:prstGeom prst="rect">
            <a:avLst/>
          </a:prstGeom>
          <a:solidFill>
            <a:srgbClr val="818A68"/>
          </a:solidFill>
          <a:ln w="0">
            <a:solidFill>
              <a:srgbClr val="818A68"/>
            </a:solidFill>
            <a:prstDash val="solid"/>
          </a:ln>
        </p:spPr>
      </p:sp>
      <p:sp>
        <p:nvSpPr>
          <p:cNvPr id="27" name="矩形 26"/>
          <p:cNvSpPr>
            <a:spLocks noGrp="1"/>
          </p:cNvSpPr>
          <p:nvPr/>
        </p:nvSpPr>
        <p:spPr>
          <a:xfrm>
            <a:off x="3419475" y="3185922"/>
            <a:ext cx="76200" cy="300228"/>
          </a:xfrm>
          <a:prstGeom prst="rect">
            <a:avLst/>
          </a:prstGeom>
          <a:solidFill>
            <a:srgbClr val="818A68"/>
          </a:solidFill>
          <a:ln w="0">
            <a:solidFill>
              <a:srgbClr val="818A68"/>
            </a:solidFill>
            <a:prstDash val="solid"/>
          </a:ln>
        </p:spPr>
      </p:sp>
      <p:sp>
        <p:nvSpPr>
          <p:cNvPr id="28" name="矩形 27"/>
          <p:cNvSpPr>
            <a:spLocks noGrp="1"/>
          </p:cNvSpPr>
          <p:nvPr/>
        </p:nvSpPr>
        <p:spPr>
          <a:xfrm>
            <a:off x="3543300" y="3200146"/>
            <a:ext cx="76200" cy="286004"/>
          </a:xfrm>
          <a:prstGeom prst="rect">
            <a:avLst/>
          </a:prstGeom>
          <a:solidFill>
            <a:srgbClr val="818A68"/>
          </a:solidFill>
          <a:ln w="0">
            <a:solidFill>
              <a:srgbClr val="818A68"/>
            </a:solidFill>
            <a:prstDash val="solid"/>
          </a:ln>
        </p:spPr>
      </p:sp>
      <p:sp>
        <p:nvSpPr>
          <p:cNvPr id="29" name="圆角矩形 28"/>
          <p:cNvSpPr>
            <a:spLocks noGrp="1"/>
          </p:cNvSpPr>
          <p:nvPr/>
        </p:nvSpPr>
        <p:spPr>
          <a:xfrm>
            <a:off x="3048000" y="3467100"/>
            <a:ext cx="1143000" cy="114300"/>
          </a:xfrm>
          <a:prstGeom prst="roundRect">
            <a:avLst>
              <a:gd name="adj" fmla="val 16667"/>
            </a:avLst>
          </a:prstGeom>
          <a:solidFill>
            <a:srgbClr val="EFE6D8"/>
          </a:solidFill>
          <a:ln w="0">
            <a:solidFill>
              <a:srgbClr val="EFE6D8"/>
            </a:solidFill>
            <a:prstDash val="solid"/>
          </a:ln>
        </p:spPr>
      </p:sp>
      <p:sp>
        <p:nvSpPr>
          <p:cNvPr id="30" name="圆角矩形 29"/>
          <p:cNvSpPr>
            <a:spLocks noGrp="1"/>
          </p:cNvSpPr>
          <p:nvPr/>
        </p:nvSpPr>
        <p:spPr>
          <a:xfrm>
            <a:off x="3048000" y="3467100"/>
            <a:ext cx="400050" cy="114300"/>
          </a:xfrm>
          <a:prstGeom prst="roundRect">
            <a:avLst>
              <a:gd name="adj" fmla="val 16667"/>
            </a:avLst>
          </a:prstGeom>
          <a:solidFill>
            <a:srgbClr val="818A68"/>
          </a:solidFill>
          <a:ln w="0">
            <a:solidFill>
              <a:srgbClr val="818A68"/>
            </a:solidFill>
            <a:prstDash val="solid"/>
          </a:ln>
        </p:spPr>
      </p:sp>
      <p:sp>
        <p:nvSpPr>
          <p:cNvPr id="31" name="矩形 30"/>
          <p:cNvSpPr>
            <a:spLocks noGrp="1"/>
          </p:cNvSpPr>
          <p:nvPr/>
        </p:nvSpPr>
        <p:spPr>
          <a:xfrm>
            <a:off x="30480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35 points</a:t>
            </a:r>
            <a:endParaRPr sz="900" b="1" i="0">
              <a:solidFill>
                <a:srgbClr val="231D17"/>
              </a:solidFill>
              <a:latin typeface="Times New Roman" panose="02020603050405020304"/>
              <a:ea typeface="Times New Roman" panose="02020603050405020304"/>
              <a:cs typeface="Times New Roman" panose="02020603050405020304"/>
            </a:endParaRPr>
          </a:p>
        </p:txBody>
      </p:sp>
      <p:sp>
        <p:nvSpPr>
          <p:cNvPr id="32" name="圆角矩形 31"/>
          <p:cNvSpPr>
            <a:spLocks noGrp="1"/>
          </p:cNvSpPr>
          <p:nvPr/>
        </p:nvSpPr>
        <p:spPr>
          <a:xfrm>
            <a:off x="4552950" y="2686050"/>
            <a:ext cx="1485900" cy="1123950"/>
          </a:xfrm>
          <a:prstGeom prst="roundRect">
            <a:avLst>
              <a:gd name="adj" fmla="val 6780"/>
            </a:avLst>
          </a:prstGeom>
          <a:solidFill>
            <a:srgbClr val="FFFFFF"/>
          </a:solidFill>
          <a:ln w="9525">
            <a:solidFill>
              <a:srgbClr val="D8CCBB"/>
            </a:solidFill>
            <a:prstDash val="solid"/>
          </a:ln>
        </p:spPr>
      </p:sp>
      <p:sp>
        <p:nvSpPr>
          <p:cNvPr id="33" name="矩形 32"/>
          <p:cNvSpPr>
            <a:spLocks noGrp="1"/>
          </p:cNvSpPr>
          <p:nvPr/>
        </p:nvSpPr>
        <p:spPr>
          <a:xfrm>
            <a:off x="46863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23384A"/>
                </a:solidFill>
                <a:latin typeface="Times New Roman" panose="02020603050405020304"/>
                <a:ea typeface="Times New Roman" panose="02020603050405020304"/>
                <a:cs typeface="Times New Roman" panose="02020603050405020304"/>
              </a:defRPr>
            </a:pPr>
            <a:r>
              <a:rPr sz="1650" b="1" i="0">
                <a:solidFill>
                  <a:srgbClr val="23384A"/>
                </a:solidFill>
                <a:latin typeface="Times New Roman" panose="02020603050405020304"/>
                <a:ea typeface="Times New Roman" panose="02020603050405020304"/>
                <a:cs typeface="Times New Roman" panose="02020603050405020304"/>
              </a:rPr>
              <a:t>γ</a:t>
            </a:r>
            <a:endParaRPr sz="1650" b="1" i="0">
              <a:solidFill>
                <a:srgbClr val="23384A"/>
              </a:solidFill>
              <a:latin typeface="Times New Roman" panose="02020603050405020304"/>
              <a:ea typeface="Times New Roman" panose="02020603050405020304"/>
              <a:cs typeface="Times New Roman" panose="02020603050405020304"/>
            </a:endParaRPr>
          </a:p>
        </p:txBody>
      </p:sp>
      <p:sp>
        <p:nvSpPr>
          <p:cNvPr id="34" name="矩形 33"/>
          <p:cNvSpPr>
            <a:spLocks noGrp="1"/>
          </p:cNvSpPr>
          <p:nvPr/>
        </p:nvSpPr>
        <p:spPr>
          <a:xfrm>
            <a:off x="52197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endParaRPr sz="825" b="0" i="0">
              <a:solidFill>
                <a:srgbClr val="6F665C"/>
              </a:solidFill>
              <a:latin typeface="Times New Roman" panose="02020603050405020304"/>
              <a:ea typeface="Times New Roman" panose="02020603050405020304"/>
              <a:cs typeface="Times New Roman" panose="02020603050405020304"/>
            </a:endParaRPr>
          </a:p>
        </p:txBody>
      </p:sp>
      <p:sp>
        <p:nvSpPr>
          <p:cNvPr id="35" name="矩形 34"/>
          <p:cNvSpPr>
            <a:spLocks noGrp="1"/>
          </p:cNvSpPr>
          <p:nvPr/>
        </p:nvSpPr>
        <p:spPr>
          <a:xfrm>
            <a:off x="4724400" y="3259628"/>
            <a:ext cx="76200" cy="226522"/>
          </a:xfrm>
          <a:prstGeom prst="rect">
            <a:avLst/>
          </a:prstGeom>
          <a:solidFill>
            <a:srgbClr val="23384A"/>
          </a:solidFill>
          <a:ln w="0">
            <a:solidFill>
              <a:srgbClr val="23384A"/>
            </a:solidFill>
            <a:prstDash val="solid"/>
          </a:ln>
        </p:spPr>
      </p:sp>
      <p:sp>
        <p:nvSpPr>
          <p:cNvPr id="36" name="矩形 35"/>
          <p:cNvSpPr>
            <a:spLocks noGrp="1"/>
          </p:cNvSpPr>
          <p:nvPr/>
        </p:nvSpPr>
        <p:spPr>
          <a:xfrm>
            <a:off x="4848225" y="3225685"/>
            <a:ext cx="76200" cy="260465"/>
          </a:xfrm>
          <a:prstGeom prst="rect">
            <a:avLst/>
          </a:prstGeom>
          <a:solidFill>
            <a:srgbClr val="23384A"/>
          </a:solidFill>
          <a:ln w="0">
            <a:solidFill>
              <a:srgbClr val="23384A"/>
            </a:solidFill>
            <a:prstDash val="solid"/>
          </a:ln>
        </p:spPr>
      </p:sp>
      <p:sp>
        <p:nvSpPr>
          <p:cNvPr id="37" name="矩形 36"/>
          <p:cNvSpPr>
            <a:spLocks noGrp="1"/>
          </p:cNvSpPr>
          <p:nvPr/>
        </p:nvSpPr>
        <p:spPr>
          <a:xfrm>
            <a:off x="4972050" y="3196590"/>
            <a:ext cx="76200" cy="289560"/>
          </a:xfrm>
          <a:prstGeom prst="rect">
            <a:avLst/>
          </a:prstGeom>
          <a:solidFill>
            <a:srgbClr val="23384A"/>
          </a:solidFill>
          <a:ln w="0">
            <a:solidFill>
              <a:srgbClr val="23384A"/>
            </a:solidFill>
            <a:prstDash val="solid"/>
          </a:ln>
        </p:spPr>
      </p:sp>
      <p:sp>
        <p:nvSpPr>
          <p:cNvPr id="38" name="矩形 37"/>
          <p:cNvSpPr>
            <a:spLocks noGrp="1"/>
          </p:cNvSpPr>
          <p:nvPr/>
        </p:nvSpPr>
        <p:spPr>
          <a:xfrm>
            <a:off x="5095875" y="3172345"/>
            <a:ext cx="76200" cy="313805"/>
          </a:xfrm>
          <a:prstGeom prst="rect">
            <a:avLst/>
          </a:prstGeom>
          <a:solidFill>
            <a:srgbClr val="23384A"/>
          </a:solidFill>
          <a:ln w="0">
            <a:solidFill>
              <a:srgbClr val="23384A"/>
            </a:solidFill>
            <a:prstDash val="solid"/>
          </a:ln>
        </p:spPr>
      </p:sp>
      <p:sp>
        <p:nvSpPr>
          <p:cNvPr id="39" name="矩形 38"/>
          <p:cNvSpPr>
            <a:spLocks noGrp="1"/>
          </p:cNvSpPr>
          <p:nvPr/>
        </p:nvSpPr>
        <p:spPr>
          <a:xfrm>
            <a:off x="5219700" y="3143250"/>
            <a:ext cx="76200" cy="342900"/>
          </a:xfrm>
          <a:prstGeom prst="rect">
            <a:avLst/>
          </a:prstGeom>
          <a:solidFill>
            <a:srgbClr val="23384A"/>
          </a:solidFill>
          <a:ln w="0">
            <a:solidFill>
              <a:srgbClr val="23384A"/>
            </a:solidFill>
            <a:prstDash val="solid"/>
          </a:ln>
        </p:spPr>
      </p:sp>
      <p:sp>
        <p:nvSpPr>
          <p:cNvPr id="40" name="圆角矩形 39"/>
          <p:cNvSpPr>
            <a:spLocks noGrp="1"/>
          </p:cNvSpPr>
          <p:nvPr/>
        </p:nvSpPr>
        <p:spPr>
          <a:xfrm>
            <a:off x="4724400" y="3467100"/>
            <a:ext cx="1143000" cy="114300"/>
          </a:xfrm>
          <a:prstGeom prst="roundRect">
            <a:avLst>
              <a:gd name="adj" fmla="val 16667"/>
            </a:avLst>
          </a:prstGeom>
          <a:solidFill>
            <a:srgbClr val="EFE6D8"/>
          </a:solidFill>
          <a:ln w="0">
            <a:solidFill>
              <a:srgbClr val="EFE6D8"/>
            </a:solidFill>
            <a:prstDash val="solid"/>
          </a:ln>
        </p:spPr>
      </p:sp>
      <p:sp>
        <p:nvSpPr>
          <p:cNvPr id="41" name="圆角矩形 40"/>
          <p:cNvSpPr>
            <a:spLocks noGrp="1"/>
          </p:cNvSpPr>
          <p:nvPr/>
        </p:nvSpPr>
        <p:spPr>
          <a:xfrm>
            <a:off x="4724400" y="3467100"/>
            <a:ext cx="285750" cy="114300"/>
          </a:xfrm>
          <a:prstGeom prst="roundRect">
            <a:avLst>
              <a:gd name="adj" fmla="val 16667"/>
            </a:avLst>
          </a:prstGeom>
          <a:solidFill>
            <a:srgbClr val="23384A"/>
          </a:solidFill>
          <a:ln w="0">
            <a:solidFill>
              <a:srgbClr val="23384A"/>
            </a:solidFill>
            <a:prstDash val="solid"/>
          </a:ln>
        </p:spPr>
      </p:sp>
      <p:sp>
        <p:nvSpPr>
          <p:cNvPr id="42" name="矩形 41"/>
          <p:cNvSpPr>
            <a:spLocks noGrp="1"/>
          </p:cNvSpPr>
          <p:nvPr/>
        </p:nvSpPr>
        <p:spPr>
          <a:xfrm>
            <a:off x="47244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25 points</a:t>
            </a:r>
            <a:endParaRPr sz="900" b="1" i="0">
              <a:solidFill>
                <a:srgbClr val="231D17"/>
              </a:solidFill>
              <a:latin typeface="Times New Roman" panose="02020603050405020304"/>
              <a:ea typeface="Times New Roman" panose="02020603050405020304"/>
              <a:cs typeface="Times New Roman" panose="02020603050405020304"/>
            </a:endParaRPr>
          </a:p>
        </p:txBody>
      </p:sp>
      <p:sp>
        <p:nvSpPr>
          <p:cNvPr id="43" name="矩形 42"/>
          <p:cNvSpPr>
            <a:spLocks noGrp="1"/>
          </p:cNvSpPr>
          <p:nvPr/>
        </p:nvSpPr>
        <p:spPr>
          <a:xfrm>
            <a:off x="1200150" y="3943350"/>
            <a:ext cx="2095500" cy="209550"/>
          </a:xfrm>
          <a:prstGeom prst="rect">
            <a:avLst/>
          </a:prstGeom>
          <a:noFill/>
          <a:ln w="0">
            <a:noFill/>
            <a:prstDash val="solid"/>
          </a:ln>
        </p:spPr>
        <p:txBody>
          <a:bodyPr wrap="square" lIns="0" tIns="0" rIns="0" bIns="0" anchor="t">
            <a:normAutofit/>
          </a:bodyPr>
          <a:lstStyle/>
          <a:p>
            <a:pPr algn="l">
              <a:lnSpc>
                <a:spcPct val="104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Self allocation</a:t>
            </a:r>
            <a:endParaRPr sz="1275" b="1" i="0">
              <a:solidFill>
                <a:srgbClr val="231D17"/>
              </a:solidFill>
              <a:latin typeface="Times New Roman" panose="02020603050405020304"/>
              <a:ea typeface="Times New Roman" panose="02020603050405020304"/>
              <a:cs typeface="Times New Roman" panose="02020603050405020304"/>
            </a:endParaRPr>
          </a:p>
        </p:txBody>
      </p:sp>
      <p:sp>
        <p:nvSpPr>
          <p:cNvPr id="44" name="矩形 43"/>
          <p:cNvSpPr>
            <a:spLocks noGrp="1"/>
          </p:cNvSpPr>
          <p:nvPr/>
        </p:nvSpPr>
        <p:spPr>
          <a:xfrm>
            <a:off x="2876550" y="3943350"/>
            <a:ext cx="2952750" cy="209550"/>
          </a:xfrm>
          <a:prstGeom prst="rect">
            <a:avLst/>
          </a:prstGeom>
          <a:noFill/>
          <a:ln w="0">
            <a:noFill/>
            <a:prstDash val="solid"/>
          </a:ln>
        </p:spPr>
        <p:txBody>
          <a:bodyPr wrap="square" lIns="0" tIns="0" rIns="0" bIns="0" anchor="t">
            <a:normAutofit/>
          </a:bodyPr>
          <a:lstStyle/>
          <a:p>
            <a:pPr algn="l">
              <a:lnSpc>
                <a:spcPct val="104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Agent-AI recommendation</a:t>
            </a:r>
            <a:endParaRPr sz="1275" b="1" i="0">
              <a:solidFill>
                <a:srgbClr val="231D17"/>
              </a:solidFill>
              <a:latin typeface="Times New Roman" panose="02020603050405020304"/>
              <a:ea typeface="Times New Roman" panose="02020603050405020304"/>
              <a:cs typeface="Times New Roman" panose="02020603050405020304"/>
            </a:endParaRPr>
          </a:p>
        </p:txBody>
      </p:sp>
      <p:sp>
        <p:nvSpPr>
          <p:cNvPr id="45" name="圆角矩形 44"/>
          <p:cNvSpPr>
            <a:spLocks noGrp="1"/>
          </p:cNvSpPr>
          <p:nvPr/>
        </p:nvSpPr>
        <p:spPr>
          <a:xfrm>
            <a:off x="1200150" y="4248150"/>
            <a:ext cx="2114550" cy="400050"/>
          </a:xfrm>
          <a:prstGeom prst="roundRect">
            <a:avLst>
              <a:gd name="adj" fmla="val 19048"/>
            </a:avLst>
          </a:prstGeom>
          <a:solidFill>
            <a:srgbClr val="FFFFFF"/>
          </a:solidFill>
          <a:ln w="9525">
            <a:solidFill>
              <a:srgbClr val="D8CCBB"/>
            </a:solidFill>
            <a:prstDash val="solid"/>
          </a:ln>
        </p:spPr>
      </p:sp>
      <p:sp>
        <p:nvSpPr>
          <p:cNvPr id="46" name="矩形 45"/>
          <p:cNvSpPr>
            <a:spLocks noGrp="1"/>
          </p:cNvSpPr>
          <p:nvPr/>
        </p:nvSpPr>
        <p:spPr>
          <a:xfrm>
            <a:off x="1381125" y="4362450"/>
            <a:ext cx="175260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Self: 40 / 35 / 25</a:t>
            </a:r>
            <a:endParaRPr sz="1200" b="1" i="0">
              <a:solidFill>
                <a:srgbClr val="231D17"/>
              </a:solidFill>
              <a:latin typeface="Times New Roman" panose="02020603050405020304"/>
              <a:ea typeface="Times New Roman" panose="02020603050405020304"/>
              <a:cs typeface="Times New Roman" panose="02020603050405020304"/>
            </a:endParaRPr>
          </a:p>
        </p:txBody>
      </p:sp>
      <p:sp>
        <p:nvSpPr>
          <p:cNvPr id="47" name="圆角矩形 46"/>
          <p:cNvSpPr>
            <a:spLocks noGrp="1"/>
          </p:cNvSpPr>
          <p:nvPr/>
        </p:nvSpPr>
        <p:spPr>
          <a:xfrm>
            <a:off x="3657600" y="4248150"/>
            <a:ext cx="2114550" cy="400050"/>
          </a:xfrm>
          <a:prstGeom prst="roundRect">
            <a:avLst>
              <a:gd name="adj" fmla="val 19048"/>
            </a:avLst>
          </a:prstGeom>
          <a:solidFill>
            <a:srgbClr val="F0E2D4"/>
          </a:solidFill>
          <a:ln w="9525">
            <a:solidFill>
              <a:srgbClr val="E7D4C3"/>
            </a:solidFill>
            <a:prstDash val="solid"/>
          </a:ln>
        </p:spPr>
      </p:sp>
      <p:sp>
        <p:nvSpPr>
          <p:cNvPr id="48" name="矩形 47"/>
          <p:cNvSpPr>
            <a:spLocks noGrp="1"/>
          </p:cNvSpPr>
          <p:nvPr/>
        </p:nvSpPr>
        <p:spPr>
          <a:xfrm>
            <a:off x="3838575" y="4362450"/>
            <a:ext cx="175260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AI: 25 / 50 / 25</a:t>
            </a:r>
            <a:endParaRPr sz="1200" b="1" i="0">
              <a:solidFill>
                <a:srgbClr val="231D17"/>
              </a:solidFill>
              <a:latin typeface="Times New Roman" panose="02020603050405020304"/>
              <a:ea typeface="Times New Roman" panose="02020603050405020304"/>
              <a:cs typeface="Times New Roman" panose="02020603050405020304"/>
            </a:endParaRPr>
          </a:p>
        </p:txBody>
      </p:sp>
      <p:sp>
        <p:nvSpPr>
          <p:cNvPr id="49" name="直接连接符 48"/>
          <p:cNvSpPr>
            <a:spLocks noGrp="1"/>
          </p:cNvSpPr>
          <p:nvPr/>
        </p:nvSpPr>
        <p:spPr>
          <a:xfrm>
            <a:off x="3333750" y="4448175"/>
            <a:ext cx="304800" cy="0"/>
          </a:xfrm>
          <a:prstGeom prst="line">
            <a:avLst/>
          </a:prstGeom>
          <a:ln w="14288">
            <a:solidFill>
              <a:srgbClr val="B77845"/>
            </a:solidFill>
            <a:prstDash val="solid"/>
          </a:ln>
        </p:spPr>
      </p:sp>
      <p:sp>
        <p:nvSpPr>
          <p:cNvPr id="50" name="圆角矩形 49"/>
          <p:cNvSpPr>
            <a:spLocks noGrp="1"/>
          </p:cNvSpPr>
          <p:nvPr/>
        </p:nvSpPr>
        <p:spPr>
          <a:xfrm>
            <a:off x="1200150" y="4895850"/>
            <a:ext cx="2095500" cy="476250"/>
          </a:xfrm>
          <a:prstGeom prst="roundRect">
            <a:avLst>
              <a:gd name="adj" fmla="val 16000"/>
            </a:avLst>
          </a:prstGeom>
          <a:solidFill>
            <a:srgbClr val="23384A"/>
          </a:solidFill>
          <a:ln w="9525">
            <a:solidFill>
              <a:srgbClr val="23384A"/>
            </a:solidFill>
            <a:prstDash val="solid"/>
          </a:ln>
        </p:spPr>
      </p:sp>
      <p:sp>
        <p:nvSpPr>
          <p:cNvPr id="51" name="矩形 50"/>
          <p:cNvSpPr>
            <a:spLocks noGrp="1"/>
          </p:cNvSpPr>
          <p:nvPr/>
        </p:nvSpPr>
        <p:spPr>
          <a:xfrm>
            <a:off x="1371600" y="5038725"/>
            <a:ext cx="175260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Submit self plan</a:t>
            </a:r>
            <a:endParaRPr sz="1200" b="1" i="0">
              <a:solidFill>
                <a:srgbClr val="F5F0E6"/>
              </a:solidFill>
              <a:latin typeface="Times New Roman" panose="02020603050405020304"/>
              <a:ea typeface="Times New Roman" panose="02020603050405020304"/>
              <a:cs typeface="Times New Roman" panose="02020603050405020304"/>
            </a:endParaRPr>
          </a:p>
        </p:txBody>
      </p:sp>
      <p:sp>
        <p:nvSpPr>
          <p:cNvPr id="52" name="圆角矩形 51"/>
          <p:cNvSpPr>
            <a:spLocks noGrp="1"/>
          </p:cNvSpPr>
          <p:nvPr/>
        </p:nvSpPr>
        <p:spPr>
          <a:xfrm>
            <a:off x="3676650" y="4895850"/>
            <a:ext cx="2095500" cy="476250"/>
          </a:xfrm>
          <a:prstGeom prst="roundRect">
            <a:avLst>
              <a:gd name="adj" fmla="val 16000"/>
            </a:avLst>
          </a:prstGeom>
          <a:solidFill>
            <a:srgbClr val="B77845"/>
          </a:solidFill>
          <a:ln w="9525">
            <a:solidFill>
              <a:srgbClr val="B77845"/>
            </a:solidFill>
            <a:prstDash val="solid"/>
          </a:ln>
        </p:spPr>
      </p:sp>
      <p:sp>
        <p:nvSpPr>
          <p:cNvPr id="53" name="矩形 52"/>
          <p:cNvSpPr>
            <a:spLocks noGrp="1"/>
          </p:cNvSpPr>
          <p:nvPr/>
        </p:nvSpPr>
        <p:spPr>
          <a:xfrm>
            <a:off x="3848100" y="5038725"/>
            <a:ext cx="175260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Submit AI plan</a:t>
            </a:r>
            <a:endParaRPr sz="1200" b="1" i="0">
              <a:solidFill>
                <a:srgbClr val="F5F0E6"/>
              </a:solidFill>
              <a:latin typeface="Times New Roman" panose="02020603050405020304"/>
              <a:ea typeface="Times New Roman" panose="02020603050405020304"/>
              <a:cs typeface="Times New Roman" panose="02020603050405020304"/>
            </a:endParaRPr>
          </a:p>
        </p:txBody>
      </p:sp>
      <p:sp>
        <p:nvSpPr>
          <p:cNvPr id="54" name="圆角矩形 53"/>
          <p:cNvSpPr>
            <a:spLocks noGrp="1"/>
          </p:cNvSpPr>
          <p:nvPr/>
        </p:nvSpPr>
        <p:spPr>
          <a:xfrm>
            <a:off x="5962650" y="4248150"/>
            <a:ext cx="1466850" cy="1123950"/>
          </a:xfrm>
          <a:prstGeom prst="roundRect">
            <a:avLst>
              <a:gd name="adj" fmla="val 6780"/>
            </a:avLst>
          </a:prstGeom>
          <a:solidFill>
            <a:srgbClr val="FFFFFF"/>
          </a:solidFill>
          <a:ln w="9525">
            <a:solidFill>
              <a:srgbClr val="D8CCBB"/>
            </a:solidFill>
            <a:prstDash val="solid"/>
          </a:ln>
        </p:spPr>
      </p:sp>
      <p:sp>
        <p:nvSpPr>
          <p:cNvPr id="55" name="矩形 54"/>
          <p:cNvSpPr>
            <a:spLocks noGrp="1"/>
          </p:cNvSpPr>
          <p:nvPr/>
        </p:nvSpPr>
        <p:spPr>
          <a:xfrm>
            <a:off x="6153150" y="4400550"/>
            <a:ext cx="1085850" cy="190500"/>
          </a:xfrm>
          <a:prstGeom prst="rect">
            <a:avLst/>
          </a:prstGeom>
          <a:noFill/>
          <a:ln w="0">
            <a:noFill/>
            <a:prstDash val="solid"/>
          </a:ln>
        </p:spPr>
        <p:txBody>
          <a:bodyPr wrap="square" lIns="0" tIns="0" rIns="0" bIns="0" anchor="t">
            <a:normAutofit fontScale="94268"/>
          </a:bodyPr>
          <a:lstStyle/>
          <a:p>
            <a:pPr algn="ctr">
              <a:lnSpc>
                <a:spcPct val="104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Full feedback</a:t>
            </a:r>
            <a:endParaRPr sz="1275" b="1" i="0">
              <a:solidFill>
                <a:srgbClr val="818A68"/>
              </a:solidFill>
              <a:latin typeface="Times New Roman" panose="02020603050405020304"/>
              <a:ea typeface="Times New Roman" panose="02020603050405020304"/>
              <a:cs typeface="Times New Roman" panose="02020603050405020304"/>
            </a:endParaRPr>
          </a:p>
        </p:txBody>
      </p:sp>
      <p:sp>
        <p:nvSpPr>
          <p:cNvPr id="56" name="矩形 55"/>
          <p:cNvSpPr>
            <a:spLocks noGrp="1"/>
          </p:cNvSpPr>
          <p:nvPr/>
        </p:nvSpPr>
        <p:spPr>
          <a:xfrm>
            <a:off x="6153150" y="4705350"/>
            <a:ext cx="1085850" cy="457200"/>
          </a:xfrm>
          <a:prstGeom prst="rect">
            <a:avLst/>
          </a:prstGeom>
          <a:noFill/>
          <a:ln w="0">
            <a:noFill/>
            <a:prstDash val="solid"/>
          </a:ln>
        </p:spPr>
        <p:txBody>
          <a:bodyPr wrap="square" lIns="0" tIns="0" rIns="0" bIns="0" anchor="t">
            <a:normAutofit fontScale="92699"/>
          </a:bodyPr>
          <a:lstStyle/>
          <a:p>
            <a:pPr algn="ctr">
              <a:lnSpc>
                <a:spcPct val="105000"/>
              </a:lnSpc>
              <a:buNone/>
              <a:defRPr sz="960" b="0" i="0">
                <a:solidFill>
                  <a:srgbClr val="6F665C"/>
                </a:solidFill>
                <a:latin typeface="Times New Roman" panose="02020603050405020304"/>
                <a:ea typeface="Times New Roman" panose="02020603050405020304"/>
                <a:cs typeface="Times New Roman" panose="02020603050405020304"/>
              </a:defRPr>
            </a:pPr>
            <a:r>
              <a:rPr sz="960" b="0" i="0">
                <a:solidFill>
                  <a:srgbClr val="6F665C"/>
                </a:solidFill>
                <a:latin typeface="Times New Roman" panose="02020603050405020304"/>
                <a:ea typeface="Times New Roman" panose="02020603050405020304"/>
                <a:cs typeface="Times New Roman" panose="02020603050405020304"/>
              </a:rPr>
              <a:t>Both chosen and unchosen payoffs are shown after each round.</a:t>
            </a:r>
            <a:endParaRPr sz="960" b="0" i="0">
              <a:solidFill>
                <a:srgbClr val="6F665C"/>
              </a:solidFill>
              <a:latin typeface="Times New Roman" panose="02020603050405020304"/>
              <a:ea typeface="Times New Roman" panose="02020603050405020304"/>
              <a:cs typeface="Times New Roman" panose="02020603050405020304"/>
            </a:endParaRPr>
          </a:p>
        </p:txBody>
      </p:sp>
      <p:sp>
        <p:nvSpPr>
          <p:cNvPr id="57" name="圆角矩形 56"/>
          <p:cNvSpPr>
            <a:spLocks noGrp="1"/>
          </p:cNvSpPr>
          <p:nvPr/>
        </p:nvSpPr>
        <p:spPr>
          <a:xfrm>
            <a:off x="8096250" y="2152650"/>
            <a:ext cx="3143250" cy="1104900"/>
          </a:xfrm>
          <a:prstGeom prst="roundRect">
            <a:avLst>
              <a:gd name="adj" fmla="val 6897"/>
            </a:avLst>
          </a:prstGeom>
          <a:solidFill>
            <a:srgbClr val="FFFFFF"/>
          </a:solidFill>
          <a:ln w="9525">
            <a:solidFill>
              <a:srgbClr val="D8CCBB"/>
            </a:solidFill>
            <a:prstDash val="solid"/>
          </a:ln>
        </p:spPr>
      </p:sp>
      <p:sp>
        <p:nvSpPr>
          <p:cNvPr id="58" name="圆角矩形 57"/>
          <p:cNvSpPr>
            <a:spLocks noGrp="1"/>
          </p:cNvSpPr>
          <p:nvPr/>
        </p:nvSpPr>
        <p:spPr>
          <a:xfrm>
            <a:off x="8096250" y="2152650"/>
            <a:ext cx="47625" cy="1104900"/>
          </a:xfrm>
          <a:prstGeom prst="roundRect">
            <a:avLst>
              <a:gd name="adj" fmla="val 40000"/>
            </a:avLst>
          </a:prstGeom>
          <a:solidFill>
            <a:srgbClr val="B77845"/>
          </a:solidFill>
          <a:ln w="9525">
            <a:solidFill>
              <a:srgbClr val="B77845"/>
            </a:solidFill>
            <a:prstDash val="solid"/>
          </a:ln>
        </p:spPr>
      </p:sp>
      <p:sp>
        <p:nvSpPr>
          <p:cNvPr id="59" name="矩形 58"/>
          <p:cNvSpPr>
            <a:spLocks noGrp="1"/>
          </p:cNvSpPr>
          <p:nvPr/>
        </p:nvSpPr>
        <p:spPr>
          <a:xfrm>
            <a:off x="8305800" y="23050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What the task is</a:t>
            </a:r>
            <a:endParaRPr sz="1350" b="1" i="0">
              <a:solidFill>
                <a:srgbClr val="B77845"/>
              </a:solidFill>
              <a:latin typeface="Times New Roman" panose="02020603050405020304"/>
              <a:ea typeface="Times New Roman" panose="02020603050405020304"/>
              <a:cs typeface="Times New Roman" panose="02020603050405020304"/>
            </a:endParaRPr>
          </a:p>
        </p:txBody>
      </p:sp>
      <p:sp>
        <p:nvSpPr>
          <p:cNvPr id="60" name="矩形 59"/>
          <p:cNvSpPr>
            <a:spLocks noGrp="1"/>
          </p:cNvSpPr>
          <p:nvPr/>
        </p:nvSpPr>
        <p:spPr>
          <a:xfrm>
            <a:off x="8305800" y="26098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A repeated, abstract, slot-machine-like allocation problem with three channels: alpha, beta, and gamma.</a:t>
            </a:r>
            <a:endParaRPr sz="1050" b="0" i="0">
              <a:solidFill>
                <a:srgbClr val="6F665C"/>
              </a:solidFill>
              <a:latin typeface="Times New Roman" panose="02020603050405020304"/>
              <a:ea typeface="Times New Roman" panose="02020603050405020304"/>
              <a:cs typeface="Times New Roman" panose="02020603050405020304"/>
            </a:endParaRPr>
          </a:p>
        </p:txBody>
      </p:sp>
      <p:sp>
        <p:nvSpPr>
          <p:cNvPr id="61" name="圆角矩形 60"/>
          <p:cNvSpPr>
            <a:spLocks noGrp="1"/>
          </p:cNvSpPr>
          <p:nvPr/>
        </p:nvSpPr>
        <p:spPr>
          <a:xfrm>
            <a:off x="8096250" y="3448050"/>
            <a:ext cx="3143250" cy="1104900"/>
          </a:xfrm>
          <a:prstGeom prst="roundRect">
            <a:avLst>
              <a:gd name="adj" fmla="val 6897"/>
            </a:avLst>
          </a:prstGeom>
          <a:solidFill>
            <a:srgbClr val="FFFFFF"/>
          </a:solidFill>
          <a:ln w="9525">
            <a:solidFill>
              <a:srgbClr val="D8CCBB"/>
            </a:solidFill>
            <a:prstDash val="solid"/>
          </a:ln>
        </p:spPr>
      </p:sp>
      <p:sp>
        <p:nvSpPr>
          <p:cNvPr id="62" name="圆角矩形 61"/>
          <p:cNvSpPr>
            <a:spLocks noGrp="1"/>
          </p:cNvSpPr>
          <p:nvPr/>
        </p:nvSpPr>
        <p:spPr>
          <a:xfrm>
            <a:off x="8096250" y="3448050"/>
            <a:ext cx="47625" cy="1104900"/>
          </a:xfrm>
          <a:prstGeom prst="roundRect">
            <a:avLst>
              <a:gd name="adj" fmla="val 40000"/>
            </a:avLst>
          </a:prstGeom>
          <a:solidFill>
            <a:srgbClr val="818A68"/>
          </a:solidFill>
          <a:ln w="9525">
            <a:solidFill>
              <a:srgbClr val="818A68"/>
            </a:solidFill>
            <a:prstDash val="solid"/>
          </a:ln>
        </p:spPr>
      </p:sp>
      <p:sp>
        <p:nvSpPr>
          <p:cNvPr id="63" name="矩形 62"/>
          <p:cNvSpPr>
            <a:spLocks noGrp="1"/>
          </p:cNvSpPr>
          <p:nvPr/>
        </p:nvSpPr>
        <p:spPr>
          <a:xfrm>
            <a:off x="8305800" y="36004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Why history matters</a:t>
            </a:r>
            <a:endParaRPr sz="1350" b="1" i="0">
              <a:solidFill>
                <a:srgbClr val="818A68"/>
              </a:solidFill>
              <a:latin typeface="Times New Roman" panose="02020603050405020304"/>
              <a:ea typeface="Times New Roman" panose="02020603050405020304"/>
              <a:cs typeface="Times New Roman" panose="02020603050405020304"/>
            </a:endParaRPr>
          </a:p>
        </p:txBody>
      </p:sp>
      <p:sp>
        <p:nvSpPr>
          <p:cNvPr id="64" name="矩形 63"/>
          <p:cNvSpPr>
            <a:spLocks noGrp="1"/>
          </p:cNvSpPr>
          <p:nvPr/>
        </p:nvSpPr>
        <p:spPr>
          <a:xfrm>
            <a:off x="8305800" y="39052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Payoffs are noisy but structured: short trends, state shifts, mean reversion, and random shocks all matter.</a:t>
            </a:r>
            <a:endParaRPr sz="1050" b="0" i="0">
              <a:solidFill>
                <a:srgbClr val="6F665C"/>
              </a:solidFill>
              <a:latin typeface="Times New Roman" panose="02020603050405020304"/>
              <a:ea typeface="Times New Roman" panose="02020603050405020304"/>
              <a:cs typeface="Times New Roman" panose="02020603050405020304"/>
            </a:endParaRPr>
          </a:p>
        </p:txBody>
      </p:sp>
      <p:sp>
        <p:nvSpPr>
          <p:cNvPr id="65" name="圆角矩形 64"/>
          <p:cNvSpPr>
            <a:spLocks noGrp="1"/>
          </p:cNvSpPr>
          <p:nvPr/>
        </p:nvSpPr>
        <p:spPr>
          <a:xfrm>
            <a:off x="8096250" y="4743450"/>
            <a:ext cx="3143250" cy="1104900"/>
          </a:xfrm>
          <a:prstGeom prst="roundRect">
            <a:avLst>
              <a:gd name="adj" fmla="val 6897"/>
            </a:avLst>
          </a:prstGeom>
          <a:solidFill>
            <a:srgbClr val="FFFFFF"/>
          </a:solidFill>
          <a:ln w="9525">
            <a:solidFill>
              <a:srgbClr val="D8CCBB"/>
            </a:solidFill>
            <a:prstDash val="solid"/>
          </a:ln>
        </p:spPr>
      </p:sp>
      <p:sp>
        <p:nvSpPr>
          <p:cNvPr id="66" name="圆角矩形 65"/>
          <p:cNvSpPr>
            <a:spLocks noGrp="1"/>
          </p:cNvSpPr>
          <p:nvPr/>
        </p:nvSpPr>
        <p:spPr>
          <a:xfrm>
            <a:off x="8096250" y="4743450"/>
            <a:ext cx="47625" cy="1104900"/>
          </a:xfrm>
          <a:prstGeom prst="roundRect">
            <a:avLst>
              <a:gd name="adj" fmla="val 40000"/>
            </a:avLst>
          </a:prstGeom>
          <a:solidFill>
            <a:srgbClr val="23384A"/>
          </a:solidFill>
          <a:ln w="9525">
            <a:solidFill>
              <a:srgbClr val="23384A"/>
            </a:solidFill>
            <a:prstDash val="solid"/>
          </a:ln>
        </p:spPr>
      </p:sp>
      <p:sp>
        <p:nvSpPr>
          <p:cNvPr id="67" name="矩形 66"/>
          <p:cNvSpPr>
            <a:spLocks noGrp="1"/>
          </p:cNvSpPr>
          <p:nvPr/>
        </p:nvSpPr>
        <p:spPr>
          <a:xfrm>
            <a:off x="8305800" y="48958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23384A"/>
                </a:solidFill>
                <a:latin typeface="Times New Roman" panose="02020603050405020304"/>
                <a:ea typeface="Times New Roman" panose="02020603050405020304"/>
                <a:cs typeface="Times New Roman" panose="02020603050405020304"/>
              </a:defRPr>
            </a:pPr>
            <a:r>
              <a:rPr sz="1350" b="1" i="0">
                <a:solidFill>
                  <a:srgbClr val="23384A"/>
                </a:solidFill>
                <a:latin typeface="Times New Roman" panose="02020603050405020304"/>
                <a:ea typeface="Times New Roman" panose="02020603050405020304"/>
                <a:cs typeface="Times New Roman" panose="02020603050405020304"/>
              </a:rPr>
              <a:t>What is manipulated</a:t>
            </a:r>
            <a:endParaRPr sz="1350" b="1" i="0">
              <a:solidFill>
                <a:srgbClr val="23384A"/>
              </a:solidFill>
              <a:latin typeface="Times New Roman" panose="02020603050405020304"/>
              <a:ea typeface="Times New Roman" panose="02020603050405020304"/>
              <a:cs typeface="Times New Roman" panose="02020603050405020304"/>
            </a:endParaRPr>
          </a:p>
        </p:txBody>
      </p:sp>
      <p:sp>
        <p:nvSpPr>
          <p:cNvPr id="68" name="矩形 67"/>
          <p:cNvSpPr>
            <a:spLocks noGrp="1"/>
          </p:cNvSpPr>
          <p:nvPr/>
        </p:nvSpPr>
        <p:spPr>
          <a:xfrm>
            <a:off x="8305800" y="52006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The interface stays the same. Treatments change when AI errors cluster and whether performance later recovers.</a:t>
            </a:r>
            <a:endParaRPr sz="1050" b="0" i="0">
              <a:solidFill>
                <a:srgbClr val="6F665C"/>
              </a:solidFill>
              <a:latin typeface="Times New Roman" panose="02020603050405020304"/>
              <a:ea typeface="Times New Roman" panose="02020603050405020304"/>
              <a:cs typeface="Times New Roman" panose="02020603050405020304"/>
            </a:endParaRPr>
          </a:p>
        </p:txBody>
      </p:sp>
      <p:sp>
        <p:nvSpPr>
          <p:cNvPr id="69" name="圆角矩形 68"/>
          <p:cNvSpPr>
            <a:spLocks noGrp="1"/>
          </p:cNvSpPr>
          <p:nvPr/>
        </p:nvSpPr>
        <p:spPr>
          <a:xfrm>
            <a:off x="914400" y="6076950"/>
            <a:ext cx="10325100" cy="419100"/>
          </a:xfrm>
          <a:prstGeom prst="roundRect">
            <a:avLst>
              <a:gd name="adj" fmla="val 18182"/>
            </a:avLst>
          </a:prstGeom>
          <a:solidFill>
            <a:srgbClr val="23384A"/>
          </a:solidFill>
          <a:ln w="9525">
            <a:solidFill>
              <a:srgbClr val="23384A"/>
            </a:solidFill>
            <a:prstDash val="solid"/>
          </a:ln>
        </p:spPr>
      </p:sp>
      <p:sp>
        <p:nvSpPr>
          <p:cNvPr id="70" name="矩形 69"/>
          <p:cNvSpPr>
            <a:spLocks noGrp="1"/>
          </p:cNvSpPr>
          <p:nvPr/>
        </p:nvSpPr>
        <p:spPr>
          <a:xfrm>
            <a:off x="1219200" y="6191250"/>
            <a:ext cx="969645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Repeated loop: history -&gt; self allocation -&gt; AI recommendation -&gt; final choice -&gt; full feedback -&gt; next-round reliance.</a:t>
            </a:r>
            <a:endParaRPr sz="1200" b="1" i="0">
              <a:solidFill>
                <a:srgbClr val="F5F0E6"/>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DESIGN AND FLOW</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Now the design becomes simple: vary timing, match performance, observe later reliance</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top layer shows condition logic; the bottom layer shows what one participant actually experiences inside each round.</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1866900"/>
            <a:ext cx="2476500" cy="209550"/>
          </a:xfrm>
          <a:prstGeom prst="rect">
            <a:avLst/>
          </a:prstGeom>
          <a:noFill/>
          <a:ln w="0">
            <a:noFill/>
            <a:prstDash val="solid"/>
          </a:ln>
        </p:spPr>
        <p:txBody>
          <a:bodyPr wrap="square" lIns="0" tIns="0" rIns="0" bIns="0" anchor="t">
            <a:normAutofit fontScale="99855"/>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Condition logic</a:t>
            </a:r>
            <a:endParaRPr sz="1275" b="1" i="0">
              <a:solidFill>
                <a:srgbClr val="231D17"/>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224790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Balanced Error</a:t>
            </a:r>
            <a:endParaRPr sz="1200" b="1" i="0">
              <a:solidFill>
                <a:srgbClr val="231D17"/>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2324100" y="2247900"/>
            <a:ext cx="838200" cy="266700"/>
          </a:xfrm>
          <a:prstGeom prst="roundRect">
            <a:avLst>
              <a:gd name="adj" fmla="val 21429"/>
            </a:avLst>
          </a:prstGeom>
          <a:solidFill>
            <a:srgbClr val="FFFFFF"/>
          </a:solidFill>
          <a:ln w="9525">
            <a:solidFill>
              <a:srgbClr val="D8CCBB"/>
            </a:solidFill>
            <a:prstDash val="solid"/>
          </a:ln>
        </p:spPr>
      </p:sp>
      <p:sp>
        <p:nvSpPr>
          <p:cNvPr id="10" name="矩形 9"/>
          <p:cNvSpPr>
            <a:spLocks noGrp="1"/>
          </p:cNvSpPr>
          <p:nvPr/>
        </p:nvSpPr>
        <p:spPr>
          <a:xfrm>
            <a:off x="23241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B1</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11" name="圆角矩形 10"/>
          <p:cNvSpPr>
            <a:spLocks noGrp="1"/>
          </p:cNvSpPr>
          <p:nvPr/>
        </p:nvSpPr>
        <p:spPr>
          <a:xfrm>
            <a:off x="3238500" y="2247900"/>
            <a:ext cx="838200" cy="266700"/>
          </a:xfrm>
          <a:prstGeom prst="roundRect">
            <a:avLst>
              <a:gd name="adj" fmla="val 21429"/>
            </a:avLst>
          </a:prstGeom>
          <a:solidFill>
            <a:srgbClr val="A1503F"/>
          </a:solidFill>
          <a:ln w="9525">
            <a:solidFill>
              <a:srgbClr val="A1503F"/>
            </a:solidFill>
            <a:prstDash val="solid"/>
          </a:ln>
        </p:spPr>
      </p:sp>
      <p:sp>
        <p:nvSpPr>
          <p:cNvPr id="12" name="矩形 11"/>
          <p:cNvSpPr>
            <a:spLocks noGrp="1"/>
          </p:cNvSpPr>
          <p:nvPr/>
        </p:nvSpPr>
        <p:spPr>
          <a:xfrm>
            <a:off x="32385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B2</a:t>
            </a:r>
            <a:endParaRPr sz="900" b="1" i="0">
              <a:solidFill>
                <a:srgbClr val="FFFFFF"/>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4152900" y="2247900"/>
            <a:ext cx="838200" cy="266700"/>
          </a:xfrm>
          <a:prstGeom prst="roundRect">
            <a:avLst>
              <a:gd name="adj" fmla="val 21429"/>
            </a:avLst>
          </a:prstGeom>
          <a:solidFill>
            <a:srgbClr val="FFFFFF"/>
          </a:solidFill>
          <a:ln w="9525">
            <a:solidFill>
              <a:srgbClr val="D8CCBB"/>
            </a:solidFill>
            <a:prstDash val="solid"/>
          </a:ln>
        </p:spPr>
      </p:sp>
      <p:sp>
        <p:nvSpPr>
          <p:cNvPr id="14" name="矩形 13"/>
          <p:cNvSpPr>
            <a:spLocks noGrp="1"/>
          </p:cNvSpPr>
          <p:nvPr/>
        </p:nvSpPr>
        <p:spPr>
          <a:xfrm>
            <a:off x="41529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B3</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15" name="圆角矩形 14"/>
          <p:cNvSpPr>
            <a:spLocks noGrp="1"/>
          </p:cNvSpPr>
          <p:nvPr/>
        </p:nvSpPr>
        <p:spPr>
          <a:xfrm>
            <a:off x="5067300" y="2247900"/>
            <a:ext cx="838200" cy="266700"/>
          </a:xfrm>
          <a:prstGeom prst="roundRect">
            <a:avLst>
              <a:gd name="adj" fmla="val 21429"/>
            </a:avLst>
          </a:prstGeom>
          <a:solidFill>
            <a:srgbClr val="A1503F"/>
          </a:solidFill>
          <a:ln w="9525">
            <a:solidFill>
              <a:srgbClr val="A1503F"/>
            </a:solidFill>
            <a:prstDash val="solid"/>
          </a:ln>
        </p:spPr>
      </p:sp>
      <p:sp>
        <p:nvSpPr>
          <p:cNvPr id="16" name="矩形 15"/>
          <p:cNvSpPr>
            <a:spLocks noGrp="1"/>
          </p:cNvSpPr>
          <p:nvPr/>
        </p:nvSpPr>
        <p:spPr>
          <a:xfrm>
            <a:off x="50673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B4</a:t>
            </a:r>
            <a:endParaRPr sz="900" b="1" i="0">
              <a:solidFill>
                <a:srgbClr val="FFFFFF"/>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5981700" y="2247900"/>
            <a:ext cx="838200" cy="266700"/>
          </a:xfrm>
          <a:prstGeom prst="roundRect">
            <a:avLst>
              <a:gd name="adj" fmla="val 21429"/>
            </a:avLst>
          </a:prstGeom>
          <a:solidFill>
            <a:srgbClr val="FFFFFF"/>
          </a:solidFill>
          <a:ln w="9525">
            <a:solidFill>
              <a:srgbClr val="D8CCBB"/>
            </a:solidFill>
            <a:prstDash val="solid"/>
          </a:ln>
        </p:spPr>
      </p:sp>
      <p:sp>
        <p:nvSpPr>
          <p:cNvPr id="18" name="矩形 17"/>
          <p:cNvSpPr>
            <a:spLocks noGrp="1"/>
          </p:cNvSpPr>
          <p:nvPr/>
        </p:nvSpPr>
        <p:spPr>
          <a:xfrm>
            <a:off x="59817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19" name="圆角矩形 18"/>
          <p:cNvSpPr>
            <a:spLocks noGrp="1"/>
          </p:cNvSpPr>
          <p:nvPr/>
        </p:nvSpPr>
        <p:spPr>
          <a:xfrm>
            <a:off x="6896100" y="2247900"/>
            <a:ext cx="838200" cy="266700"/>
          </a:xfrm>
          <a:prstGeom prst="roundRect">
            <a:avLst>
              <a:gd name="adj" fmla="val 21429"/>
            </a:avLst>
          </a:prstGeom>
          <a:solidFill>
            <a:srgbClr val="DCE1D0"/>
          </a:solidFill>
          <a:ln w="9525">
            <a:solidFill>
              <a:srgbClr val="818A68"/>
            </a:solidFill>
            <a:prstDash val="solid"/>
          </a:ln>
        </p:spPr>
      </p:sp>
      <p:sp>
        <p:nvSpPr>
          <p:cNvPr id="20" name="矩形 19"/>
          <p:cNvSpPr>
            <a:spLocks noGrp="1"/>
          </p:cNvSpPr>
          <p:nvPr/>
        </p:nvSpPr>
        <p:spPr>
          <a:xfrm>
            <a:off x="68961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914400" y="272415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Early Shock</a:t>
            </a:r>
            <a:endParaRPr sz="1200" b="1" i="0">
              <a:solidFill>
                <a:srgbClr val="231D17"/>
              </a:solidFill>
              <a:latin typeface="Times New Roman" panose="02020603050405020304"/>
              <a:ea typeface="Times New Roman" panose="02020603050405020304"/>
              <a:cs typeface="Times New Roman" panose="02020603050405020304"/>
            </a:endParaRPr>
          </a:p>
        </p:txBody>
      </p:sp>
      <p:sp>
        <p:nvSpPr>
          <p:cNvPr id="22" name="圆角矩形 21"/>
          <p:cNvSpPr>
            <a:spLocks noGrp="1"/>
          </p:cNvSpPr>
          <p:nvPr/>
        </p:nvSpPr>
        <p:spPr>
          <a:xfrm>
            <a:off x="2324100" y="2724150"/>
            <a:ext cx="838200" cy="266700"/>
          </a:xfrm>
          <a:prstGeom prst="roundRect">
            <a:avLst>
              <a:gd name="adj" fmla="val 21429"/>
            </a:avLst>
          </a:prstGeom>
          <a:solidFill>
            <a:srgbClr val="A1503F"/>
          </a:solidFill>
          <a:ln w="9525">
            <a:solidFill>
              <a:srgbClr val="A1503F"/>
            </a:solidFill>
            <a:prstDash val="solid"/>
          </a:ln>
        </p:spPr>
      </p:sp>
      <p:sp>
        <p:nvSpPr>
          <p:cNvPr id="23" name="矩形 22"/>
          <p:cNvSpPr>
            <a:spLocks noGrp="1"/>
          </p:cNvSpPr>
          <p:nvPr/>
        </p:nvSpPr>
        <p:spPr>
          <a:xfrm>
            <a:off x="23241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B1</a:t>
            </a:r>
            <a:endParaRPr sz="900" b="1" i="0">
              <a:solidFill>
                <a:srgbClr val="FFFFFF"/>
              </a:solidFill>
              <a:latin typeface="Times New Roman" panose="02020603050405020304"/>
              <a:ea typeface="Times New Roman" panose="02020603050405020304"/>
              <a:cs typeface="Times New Roman" panose="02020603050405020304"/>
            </a:endParaRPr>
          </a:p>
        </p:txBody>
      </p:sp>
      <p:sp>
        <p:nvSpPr>
          <p:cNvPr id="24" name="圆角矩形 23"/>
          <p:cNvSpPr>
            <a:spLocks noGrp="1"/>
          </p:cNvSpPr>
          <p:nvPr/>
        </p:nvSpPr>
        <p:spPr>
          <a:xfrm>
            <a:off x="3238500" y="2724150"/>
            <a:ext cx="838200" cy="266700"/>
          </a:xfrm>
          <a:prstGeom prst="roundRect">
            <a:avLst>
              <a:gd name="adj" fmla="val 21429"/>
            </a:avLst>
          </a:prstGeom>
          <a:solidFill>
            <a:srgbClr val="A1503F"/>
          </a:solidFill>
          <a:ln w="9525">
            <a:solidFill>
              <a:srgbClr val="A1503F"/>
            </a:solidFill>
            <a:prstDash val="solid"/>
          </a:ln>
        </p:spPr>
      </p:sp>
      <p:sp>
        <p:nvSpPr>
          <p:cNvPr id="25" name="矩形 24"/>
          <p:cNvSpPr>
            <a:spLocks noGrp="1"/>
          </p:cNvSpPr>
          <p:nvPr/>
        </p:nvSpPr>
        <p:spPr>
          <a:xfrm>
            <a:off x="32385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B2</a:t>
            </a:r>
            <a:endParaRPr sz="900" b="1" i="0">
              <a:solidFill>
                <a:srgbClr val="FFFFFF"/>
              </a:solidFill>
              <a:latin typeface="Times New Roman" panose="02020603050405020304"/>
              <a:ea typeface="Times New Roman" panose="02020603050405020304"/>
              <a:cs typeface="Times New Roman" panose="02020603050405020304"/>
            </a:endParaRPr>
          </a:p>
        </p:txBody>
      </p:sp>
      <p:sp>
        <p:nvSpPr>
          <p:cNvPr id="26" name="圆角矩形 25"/>
          <p:cNvSpPr>
            <a:spLocks noGrp="1"/>
          </p:cNvSpPr>
          <p:nvPr/>
        </p:nvSpPr>
        <p:spPr>
          <a:xfrm>
            <a:off x="4152900" y="2724150"/>
            <a:ext cx="838200" cy="266700"/>
          </a:xfrm>
          <a:prstGeom prst="roundRect">
            <a:avLst>
              <a:gd name="adj" fmla="val 21429"/>
            </a:avLst>
          </a:prstGeom>
          <a:solidFill>
            <a:srgbClr val="FFFFFF"/>
          </a:solidFill>
          <a:ln w="9525">
            <a:solidFill>
              <a:srgbClr val="D8CCBB"/>
            </a:solidFill>
            <a:prstDash val="solid"/>
          </a:ln>
        </p:spPr>
      </p:sp>
      <p:sp>
        <p:nvSpPr>
          <p:cNvPr id="27" name="矩形 26"/>
          <p:cNvSpPr>
            <a:spLocks noGrp="1"/>
          </p:cNvSpPr>
          <p:nvPr/>
        </p:nvSpPr>
        <p:spPr>
          <a:xfrm>
            <a:off x="41529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B3</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28" name="圆角矩形 27"/>
          <p:cNvSpPr>
            <a:spLocks noGrp="1"/>
          </p:cNvSpPr>
          <p:nvPr/>
        </p:nvSpPr>
        <p:spPr>
          <a:xfrm>
            <a:off x="5067300" y="2724150"/>
            <a:ext cx="838200" cy="266700"/>
          </a:xfrm>
          <a:prstGeom prst="roundRect">
            <a:avLst>
              <a:gd name="adj" fmla="val 21429"/>
            </a:avLst>
          </a:prstGeom>
          <a:solidFill>
            <a:srgbClr val="FFFFFF"/>
          </a:solidFill>
          <a:ln w="9525">
            <a:solidFill>
              <a:srgbClr val="D8CCBB"/>
            </a:solidFill>
            <a:prstDash val="solid"/>
          </a:ln>
        </p:spPr>
      </p:sp>
      <p:sp>
        <p:nvSpPr>
          <p:cNvPr id="29" name="矩形 28"/>
          <p:cNvSpPr>
            <a:spLocks noGrp="1"/>
          </p:cNvSpPr>
          <p:nvPr/>
        </p:nvSpPr>
        <p:spPr>
          <a:xfrm>
            <a:off x="50673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B4</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30" name="圆角矩形 29"/>
          <p:cNvSpPr>
            <a:spLocks noGrp="1"/>
          </p:cNvSpPr>
          <p:nvPr/>
        </p:nvSpPr>
        <p:spPr>
          <a:xfrm>
            <a:off x="5981700" y="2724150"/>
            <a:ext cx="838200" cy="266700"/>
          </a:xfrm>
          <a:prstGeom prst="roundRect">
            <a:avLst>
              <a:gd name="adj" fmla="val 21429"/>
            </a:avLst>
          </a:prstGeom>
          <a:solidFill>
            <a:srgbClr val="FFFFFF"/>
          </a:solidFill>
          <a:ln w="9525">
            <a:solidFill>
              <a:srgbClr val="D8CCBB"/>
            </a:solidFill>
            <a:prstDash val="solid"/>
          </a:ln>
        </p:spPr>
      </p:sp>
      <p:sp>
        <p:nvSpPr>
          <p:cNvPr id="31" name="矩形 30"/>
          <p:cNvSpPr>
            <a:spLocks noGrp="1"/>
          </p:cNvSpPr>
          <p:nvPr/>
        </p:nvSpPr>
        <p:spPr>
          <a:xfrm>
            <a:off x="59817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32" name="圆角矩形 31"/>
          <p:cNvSpPr>
            <a:spLocks noGrp="1"/>
          </p:cNvSpPr>
          <p:nvPr/>
        </p:nvSpPr>
        <p:spPr>
          <a:xfrm>
            <a:off x="6896100" y="2724150"/>
            <a:ext cx="838200" cy="266700"/>
          </a:xfrm>
          <a:prstGeom prst="roundRect">
            <a:avLst>
              <a:gd name="adj" fmla="val 21429"/>
            </a:avLst>
          </a:prstGeom>
          <a:solidFill>
            <a:srgbClr val="DCE1D0"/>
          </a:solidFill>
          <a:ln w="9525">
            <a:solidFill>
              <a:srgbClr val="818A68"/>
            </a:solidFill>
            <a:prstDash val="solid"/>
          </a:ln>
        </p:spPr>
      </p:sp>
      <p:sp>
        <p:nvSpPr>
          <p:cNvPr id="33" name="矩形 32"/>
          <p:cNvSpPr>
            <a:spLocks noGrp="1"/>
          </p:cNvSpPr>
          <p:nvPr/>
        </p:nvSpPr>
        <p:spPr>
          <a:xfrm>
            <a:off x="68961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34" name="矩形 33"/>
          <p:cNvSpPr>
            <a:spLocks noGrp="1"/>
          </p:cNvSpPr>
          <p:nvPr/>
        </p:nvSpPr>
        <p:spPr>
          <a:xfrm>
            <a:off x="914400" y="320040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Mid Shock</a:t>
            </a:r>
            <a:endParaRPr sz="1200" b="1" i="0">
              <a:solidFill>
                <a:srgbClr val="231D17"/>
              </a:solidFill>
              <a:latin typeface="Times New Roman" panose="02020603050405020304"/>
              <a:ea typeface="Times New Roman" panose="02020603050405020304"/>
              <a:cs typeface="Times New Roman" panose="02020603050405020304"/>
            </a:endParaRPr>
          </a:p>
        </p:txBody>
      </p:sp>
      <p:sp>
        <p:nvSpPr>
          <p:cNvPr id="35" name="圆角矩形 34"/>
          <p:cNvSpPr>
            <a:spLocks noGrp="1"/>
          </p:cNvSpPr>
          <p:nvPr/>
        </p:nvSpPr>
        <p:spPr>
          <a:xfrm>
            <a:off x="2324100" y="3200400"/>
            <a:ext cx="838200" cy="266700"/>
          </a:xfrm>
          <a:prstGeom prst="roundRect">
            <a:avLst>
              <a:gd name="adj" fmla="val 21429"/>
            </a:avLst>
          </a:prstGeom>
          <a:solidFill>
            <a:srgbClr val="FFFFFF"/>
          </a:solidFill>
          <a:ln w="9525">
            <a:solidFill>
              <a:srgbClr val="D8CCBB"/>
            </a:solidFill>
            <a:prstDash val="solid"/>
          </a:ln>
        </p:spPr>
      </p:sp>
      <p:sp>
        <p:nvSpPr>
          <p:cNvPr id="36" name="矩形 35"/>
          <p:cNvSpPr>
            <a:spLocks noGrp="1"/>
          </p:cNvSpPr>
          <p:nvPr/>
        </p:nvSpPr>
        <p:spPr>
          <a:xfrm>
            <a:off x="23241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B1</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37" name="圆角矩形 36"/>
          <p:cNvSpPr>
            <a:spLocks noGrp="1"/>
          </p:cNvSpPr>
          <p:nvPr/>
        </p:nvSpPr>
        <p:spPr>
          <a:xfrm>
            <a:off x="3238500" y="3200400"/>
            <a:ext cx="838200" cy="266700"/>
          </a:xfrm>
          <a:prstGeom prst="roundRect">
            <a:avLst>
              <a:gd name="adj" fmla="val 21429"/>
            </a:avLst>
          </a:prstGeom>
          <a:solidFill>
            <a:srgbClr val="FFFFFF"/>
          </a:solidFill>
          <a:ln w="9525">
            <a:solidFill>
              <a:srgbClr val="D8CCBB"/>
            </a:solidFill>
            <a:prstDash val="solid"/>
          </a:ln>
        </p:spPr>
      </p:sp>
      <p:sp>
        <p:nvSpPr>
          <p:cNvPr id="38" name="矩形 37"/>
          <p:cNvSpPr>
            <a:spLocks noGrp="1"/>
          </p:cNvSpPr>
          <p:nvPr/>
        </p:nvSpPr>
        <p:spPr>
          <a:xfrm>
            <a:off x="32385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B2</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39" name="圆角矩形 38"/>
          <p:cNvSpPr>
            <a:spLocks noGrp="1"/>
          </p:cNvSpPr>
          <p:nvPr/>
        </p:nvSpPr>
        <p:spPr>
          <a:xfrm>
            <a:off x="4152900" y="3200400"/>
            <a:ext cx="838200" cy="266700"/>
          </a:xfrm>
          <a:prstGeom prst="roundRect">
            <a:avLst>
              <a:gd name="adj" fmla="val 21429"/>
            </a:avLst>
          </a:prstGeom>
          <a:solidFill>
            <a:srgbClr val="A1503F"/>
          </a:solidFill>
          <a:ln w="9525">
            <a:solidFill>
              <a:srgbClr val="A1503F"/>
            </a:solidFill>
            <a:prstDash val="solid"/>
          </a:ln>
        </p:spPr>
      </p:sp>
      <p:sp>
        <p:nvSpPr>
          <p:cNvPr id="40" name="矩形 39"/>
          <p:cNvSpPr>
            <a:spLocks noGrp="1"/>
          </p:cNvSpPr>
          <p:nvPr/>
        </p:nvSpPr>
        <p:spPr>
          <a:xfrm>
            <a:off x="41529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B3</a:t>
            </a:r>
            <a:endParaRPr sz="900" b="1" i="0">
              <a:solidFill>
                <a:srgbClr val="FFFFFF"/>
              </a:solidFill>
              <a:latin typeface="Times New Roman" panose="02020603050405020304"/>
              <a:ea typeface="Times New Roman" panose="02020603050405020304"/>
              <a:cs typeface="Times New Roman" panose="02020603050405020304"/>
            </a:endParaRPr>
          </a:p>
        </p:txBody>
      </p:sp>
      <p:sp>
        <p:nvSpPr>
          <p:cNvPr id="41" name="圆角矩形 40"/>
          <p:cNvSpPr>
            <a:spLocks noGrp="1"/>
          </p:cNvSpPr>
          <p:nvPr/>
        </p:nvSpPr>
        <p:spPr>
          <a:xfrm>
            <a:off x="5067300" y="3200400"/>
            <a:ext cx="838200" cy="266700"/>
          </a:xfrm>
          <a:prstGeom prst="roundRect">
            <a:avLst>
              <a:gd name="adj" fmla="val 21429"/>
            </a:avLst>
          </a:prstGeom>
          <a:solidFill>
            <a:srgbClr val="A1503F"/>
          </a:solidFill>
          <a:ln w="9525">
            <a:solidFill>
              <a:srgbClr val="A1503F"/>
            </a:solidFill>
            <a:prstDash val="solid"/>
          </a:ln>
        </p:spPr>
      </p:sp>
      <p:sp>
        <p:nvSpPr>
          <p:cNvPr id="42" name="矩形 41"/>
          <p:cNvSpPr>
            <a:spLocks noGrp="1"/>
          </p:cNvSpPr>
          <p:nvPr/>
        </p:nvSpPr>
        <p:spPr>
          <a:xfrm>
            <a:off x="50673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B4</a:t>
            </a:r>
            <a:endParaRPr sz="900" b="1" i="0">
              <a:solidFill>
                <a:srgbClr val="FFFFFF"/>
              </a:solidFill>
              <a:latin typeface="Times New Roman" panose="02020603050405020304"/>
              <a:ea typeface="Times New Roman" panose="02020603050405020304"/>
              <a:cs typeface="Times New Roman" panose="02020603050405020304"/>
            </a:endParaRPr>
          </a:p>
        </p:txBody>
      </p:sp>
      <p:sp>
        <p:nvSpPr>
          <p:cNvPr id="43" name="圆角矩形 42"/>
          <p:cNvSpPr>
            <a:spLocks noGrp="1"/>
          </p:cNvSpPr>
          <p:nvPr/>
        </p:nvSpPr>
        <p:spPr>
          <a:xfrm>
            <a:off x="5981700" y="3200400"/>
            <a:ext cx="838200" cy="266700"/>
          </a:xfrm>
          <a:prstGeom prst="roundRect">
            <a:avLst>
              <a:gd name="adj" fmla="val 21429"/>
            </a:avLst>
          </a:prstGeom>
          <a:solidFill>
            <a:srgbClr val="FFFFFF"/>
          </a:solidFill>
          <a:ln w="9525">
            <a:solidFill>
              <a:srgbClr val="D8CCBB"/>
            </a:solidFill>
            <a:prstDash val="solid"/>
          </a:ln>
        </p:spPr>
      </p:sp>
      <p:sp>
        <p:nvSpPr>
          <p:cNvPr id="44" name="矩形 43"/>
          <p:cNvSpPr>
            <a:spLocks noGrp="1"/>
          </p:cNvSpPr>
          <p:nvPr/>
        </p:nvSpPr>
        <p:spPr>
          <a:xfrm>
            <a:off x="59817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45" name="圆角矩形 44"/>
          <p:cNvSpPr>
            <a:spLocks noGrp="1"/>
          </p:cNvSpPr>
          <p:nvPr/>
        </p:nvSpPr>
        <p:spPr>
          <a:xfrm>
            <a:off x="6896100" y="3200400"/>
            <a:ext cx="838200" cy="266700"/>
          </a:xfrm>
          <a:prstGeom prst="roundRect">
            <a:avLst>
              <a:gd name="adj" fmla="val 21429"/>
            </a:avLst>
          </a:prstGeom>
          <a:solidFill>
            <a:srgbClr val="DCE1D0"/>
          </a:solidFill>
          <a:ln w="9525">
            <a:solidFill>
              <a:srgbClr val="818A68"/>
            </a:solidFill>
            <a:prstDash val="solid"/>
          </a:ln>
        </p:spPr>
      </p:sp>
      <p:sp>
        <p:nvSpPr>
          <p:cNvPr id="46" name="矩形 45"/>
          <p:cNvSpPr>
            <a:spLocks noGrp="1"/>
          </p:cNvSpPr>
          <p:nvPr/>
        </p:nvSpPr>
        <p:spPr>
          <a:xfrm>
            <a:off x="68961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47" name="圆角矩形 46"/>
          <p:cNvSpPr>
            <a:spLocks noGrp="1"/>
          </p:cNvSpPr>
          <p:nvPr/>
        </p:nvSpPr>
        <p:spPr>
          <a:xfrm>
            <a:off x="7448550" y="1866900"/>
            <a:ext cx="1104900" cy="247650"/>
          </a:xfrm>
          <a:prstGeom prst="roundRect">
            <a:avLst>
              <a:gd name="adj" fmla="val 50000"/>
            </a:avLst>
          </a:prstGeom>
          <a:solidFill>
            <a:srgbClr val="E8C8BF"/>
          </a:solidFill>
          <a:ln w="9525">
            <a:solidFill>
              <a:srgbClr val="A1503F"/>
            </a:solidFill>
            <a:prstDash val="solid"/>
          </a:ln>
        </p:spPr>
      </p:sp>
      <p:sp>
        <p:nvSpPr>
          <p:cNvPr id="48" name="矩形 47"/>
          <p:cNvSpPr>
            <a:spLocks noGrp="1"/>
          </p:cNvSpPr>
          <p:nvPr/>
        </p:nvSpPr>
        <p:spPr>
          <a:xfrm>
            <a:off x="7543800" y="1914525"/>
            <a:ext cx="91440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error cluster</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49" name="圆角矩形 48"/>
          <p:cNvSpPr>
            <a:spLocks noGrp="1"/>
          </p:cNvSpPr>
          <p:nvPr/>
        </p:nvSpPr>
        <p:spPr>
          <a:xfrm>
            <a:off x="8705850" y="1866900"/>
            <a:ext cx="1200150" cy="247650"/>
          </a:xfrm>
          <a:prstGeom prst="roundRect">
            <a:avLst>
              <a:gd name="adj" fmla="val 50000"/>
            </a:avLst>
          </a:prstGeom>
          <a:solidFill>
            <a:srgbClr val="DCE1D0"/>
          </a:solidFill>
          <a:ln w="9525">
            <a:solidFill>
              <a:srgbClr val="818A68"/>
            </a:solidFill>
            <a:prstDash val="solid"/>
          </a:ln>
        </p:spPr>
      </p:sp>
      <p:sp>
        <p:nvSpPr>
          <p:cNvPr id="50" name="矩形 49"/>
          <p:cNvSpPr>
            <a:spLocks noGrp="1"/>
          </p:cNvSpPr>
          <p:nvPr/>
        </p:nvSpPr>
        <p:spPr>
          <a:xfrm>
            <a:off x="8801100" y="1914525"/>
            <a:ext cx="100965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recovery block</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51" name="圆角矩形 50"/>
          <p:cNvSpPr>
            <a:spLocks noGrp="1"/>
          </p:cNvSpPr>
          <p:nvPr/>
        </p:nvSpPr>
        <p:spPr>
          <a:xfrm>
            <a:off x="10058400" y="1866900"/>
            <a:ext cx="1143000" cy="247650"/>
          </a:xfrm>
          <a:prstGeom prst="roundRect">
            <a:avLst>
              <a:gd name="adj" fmla="val 50000"/>
            </a:avLst>
          </a:prstGeom>
          <a:solidFill>
            <a:srgbClr val="FFFFFF"/>
          </a:solidFill>
          <a:ln w="9525">
            <a:solidFill>
              <a:srgbClr val="D8CCBB"/>
            </a:solidFill>
            <a:prstDash val="solid"/>
          </a:ln>
        </p:spPr>
      </p:sp>
      <p:sp>
        <p:nvSpPr>
          <p:cNvPr id="52" name="矩形 51"/>
          <p:cNvSpPr>
            <a:spLocks noGrp="1"/>
          </p:cNvSpPr>
          <p:nvPr/>
        </p:nvSpPr>
        <p:spPr>
          <a:xfrm>
            <a:off x="10153650" y="1914525"/>
            <a:ext cx="95250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matched block</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53" name="矩形 52"/>
          <p:cNvSpPr>
            <a:spLocks noGrp="1"/>
          </p:cNvSpPr>
          <p:nvPr/>
        </p:nvSpPr>
        <p:spPr>
          <a:xfrm>
            <a:off x="914400" y="3771900"/>
            <a:ext cx="1714500" cy="209550"/>
          </a:xfrm>
          <a:prstGeom prst="rect">
            <a:avLst/>
          </a:prstGeom>
          <a:noFill/>
          <a:ln w="0">
            <a:noFill/>
            <a:prstDash val="solid"/>
          </a:ln>
        </p:spPr>
        <p:txBody>
          <a:bodyPr wrap="square" lIns="0" tIns="0" rIns="0" bIns="0" anchor="t">
            <a:normAutofit fontScale="99855"/>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Performance parity</a:t>
            </a:r>
            <a:endParaRPr sz="1275" b="1" i="0">
              <a:solidFill>
                <a:srgbClr val="231D17"/>
              </a:solidFill>
              <a:latin typeface="Times New Roman" panose="02020603050405020304"/>
              <a:ea typeface="Times New Roman" panose="02020603050405020304"/>
              <a:cs typeface="Times New Roman" panose="02020603050405020304"/>
            </a:endParaRPr>
          </a:p>
        </p:txBody>
      </p:sp>
      <p:sp>
        <p:nvSpPr>
          <p:cNvPr id="54" name="圆角矩形 53"/>
          <p:cNvSpPr>
            <a:spLocks noGrp="1"/>
          </p:cNvSpPr>
          <p:nvPr/>
        </p:nvSpPr>
        <p:spPr>
          <a:xfrm>
            <a:off x="914400" y="4095750"/>
            <a:ext cx="2381250" cy="590550"/>
          </a:xfrm>
          <a:prstGeom prst="roundRect">
            <a:avLst>
              <a:gd name="adj" fmla="val 19355"/>
            </a:avLst>
          </a:prstGeom>
          <a:solidFill>
            <a:srgbClr val="FFFFFF"/>
          </a:solidFill>
          <a:ln w="9525">
            <a:solidFill>
              <a:srgbClr val="D8CCBB"/>
            </a:solidFill>
            <a:prstDash val="solid"/>
          </a:ln>
        </p:spPr>
      </p:sp>
      <p:sp>
        <p:nvSpPr>
          <p:cNvPr id="55" name="圆角矩形 54"/>
          <p:cNvSpPr>
            <a:spLocks noGrp="1"/>
          </p:cNvSpPr>
          <p:nvPr/>
        </p:nvSpPr>
        <p:spPr>
          <a:xfrm>
            <a:off x="914400" y="4095750"/>
            <a:ext cx="57150" cy="590550"/>
          </a:xfrm>
          <a:prstGeom prst="roundRect">
            <a:avLst>
              <a:gd name="adj" fmla="val 33333"/>
            </a:avLst>
          </a:prstGeom>
          <a:solidFill>
            <a:srgbClr val="B77845"/>
          </a:solidFill>
          <a:ln w="9525">
            <a:solidFill>
              <a:srgbClr val="B77845"/>
            </a:solidFill>
            <a:prstDash val="solid"/>
          </a:ln>
        </p:spPr>
      </p:sp>
      <p:sp>
        <p:nvSpPr>
          <p:cNvPr id="56" name="矩形 55"/>
          <p:cNvSpPr>
            <a:spLocks noGrp="1"/>
          </p:cNvSpPr>
          <p:nvPr/>
        </p:nvSpPr>
        <p:spPr>
          <a:xfrm>
            <a:off x="106680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total payoff</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57" name="圆角矩形 56"/>
          <p:cNvSpPr>
            <a:spLocks noGrp="1"/>
          </p:cNvSpPr>
          <p:nvPr/>
        </p:nvSpPr>
        <p:spPr>
          <a:xfrm>
            <a:off x="3486150" y="4095750"/>
            <a:ext cx="2381250" cy="590550"/>
          </a:xfrm>
          <a:prstGeom prst="roundRect">
            <a:avLst>
              <a:gd name="adj" fmla="val 19355"/>
            </a:avLst>
          </a:prstGeom>
          <a:solidFill>
            <a:srgbClr val="FFFFFF"/>
          </a:solidFill>
          <a:ln w="9525">
            <a:solidFill>
              <a:srgbClr val="D8CCBB"/>
            </a:solidFill>
            <a:prstDash val="solid"/>
          </a:ln>
        </p:spPr>
      </p:sp>
      <p:sp>
        <p:nvSpPr>
          <p:cNvPr id="58" name="圆角矩形 57"/>
          <p:cNvSpPr>
            <a:spLocks noGrp="1"/>
          </p:cNvSpPr>
          <p:nvPr/>
        </p:nvSpPr>
        <p:spPr>
          <a:xfrm>
            <a:off x="3486150" y="4095750"/>
            <a:ext cx="57150" cy="590550"/>
          </a:xfrm>
          <a:prstGeom prst="roundRect">
            <a:avLst>
              <a:gd name="adj" fmla="val 33333"/>
            </a:avLst>
          </a:prstGeom>
          <a:solidFill>
            <a:srgbClr val="818A68"/>
          </a:solidFill>
          <a:ln w="9525">
            <a:solidFill>
              <a:srgbClr val="818A68"/>
            </a:solidFill>
            <a:prstDash val="solid"/>
          </a:ln>
        </p:spPr>
      </p:sp>
      <p:sp>
        <p:nvSpPr>
          <p:cNvPr id="59" name="矩形 58"/>
          <p:cNvSpPr>
            <a:spLocks noGrp="1"/>
          </p:cNvSpPr>
          <p:nvPr/>
        </p:nvSpPr>
        <p:spPr>
          <a:xfrm>
            <a:off x="363855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error count</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60" name="圆角矩形 59"/>
          <p:cNvSpPr>
            <a:spLocks noGrp="1"/>
          </p:cNvSpPr>
          <p:nvPr/>
        </p:nvSpPr>
        <p:spPr>
          <a:xfrm>
            <a:off x="6057900" y="4095750"/>
            <a:ext cx="2381250" cy="590550"/>
          </a:xfrm>
          <a:prstGeom prst="roundRect">
            <a:avLst>
              <a:gd name="adj" fmla="val 19355"/>
            </a:avLst>
          </a:prstGeom>
          <a:solidFill>
            <a:srgbClr val="FFFFFF"/>
          </a:solidFill>
          <a:ln w="9525">
            <a:solidFill>
              <a:srgbClr val="D8CCBB"/>
            </a:solidFill>
            <a:prstDash val="solid"/>
          </a:ln>
        </p:spPr>
      </p:sp>
      <p:sp>
        <p:nvSpPr>
          <p:cNvPr id="61" name="圆角矩形 60"/>
          <p:cNvSpPr>
            <a:spLocks noGrp="1"/>
          </p:cNvSpPr>
          <p:nvPr/>
        </p:nvSpPr>
        <p:spPr>
          <a:xfrm>
            <a:off x="6057900" y="4095750"/>
            <a:ext cx="57150" cy="590550"/>
          </a:xfrm>
          <a:prstGeom prst="roundRect">
            <a:avLst>
              <a:gd name="adj" fmla="val 33333"/>
            </a:avLst>
          </a:prstGeom>
          <a:solidFill>
            <a:srgbClr val="B77845"/>
          </a:solidFill>
          <a:ln w="9525">
            <a:solidFill>
              <a:srgbClr val="B77845"/>
            </a:solidFill>
            <a:prstDash val="solid"/>
          </a:ln>
        </p:spPr>
      </p:sp>
      <p:sp>
        <p:nvSpPr>
          <p:cNvPr id="62" name="矩形 61"/>
          <p:cNvSpPr>
            <a:spLocks noGrp="1"/>
          </p:cNvSpPr>
          <p:nvPr/>
        </p:nvSpPr>
        <p:spPr>
          <a:xfrm>
            <a:off x="621030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average AI quality</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63" name="圆角矩形 62"/>
          <p:cNvSpPr>
            <a:spLocks noGrp="1"/>
          </p:cNvSpPr>
          <p:nvPr/>
        </p:nvSpPr>
        <p:spPr>
          <a:xfrm>
            <a:off x="8629650" y="4095750"/>
            <a:ext cx="2381250" cy="590550"/>
          </a:xfrm>
          <a:prstGeom prst="roundRect">
            <a:avLst>
              <a:gd name="adj" fmla="val 19355"/>
            </a:avLst>
          </a:prstGeom>
          <a:solidFill>
            <a:srgbClr val="FFFFFF"/>
          </a:solidFill>
          <a:ln w="9525">
            <a:solidFill>
              <a:srgbClr val="D8CCBB"/>
            </a:solidFill>
            <a:prstDash val="solid"/>
          </a:ln>
        </p:spPr>
      </p:sp>
      <p:sp>
        <p:nvSpPr>
          <p:cNvPr id="64" name="圆角矩形 63"/>
          <p:cNvSpPr>
            <a:spLocks noGrp="1"/>
          </p:cNvSpPr>
          <p:nvPr/>
        </p:nvSpPr>
        <p:spPr>
          <a:xfrm>
            <a:off x="8629650" y="4095750"/>
            <a:ext cx="57150" cy="590550"/>
          </a:xfrm>
          <a:prstGeom prst="roundRect">
            <a:avLst>
              <a:gd name="adj" fmla="val 33333"/>
            </a:avLst>
          </a:prstGeom>
          <a:solidFill>
            <a:srgbClr val="818A68"/>
          </a:solidFill>
          <a:ln w="9525">
            <a:solidFill>
              <a:srgbClr val="818A68"/>
            </a:solidFill>
            <a:prstDash val="solid"/>
          </a:ln>
        </p:spPr>
      </p:sp>
      <p:sp>
        <p:nvSpPr>
          <p:cNvPr id="65" name="矩形 64"/>
          <p:cNvSpPr>
            <a:spLocks noGrp="1"/>
          </p:cNvSpPr>
          <p:nvPr/>
        </p:nvSpPr>
        <p:spPr>
          <a:xfrm>
            <a:off x="878205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recovery level</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66" name="矩形 65"/>
          <p:cNvSpPr>
            <a:spLocks noGrp="1"/>
          </p:cNvSpPr>
          <p:nvPr/>
        </p:nvSpPr>
        <p:spPr>
          <a:xfrm>
            <a:off x="914400" y="4914900"/>
            <a:ext cx="2095500" cy="209550"/>
          </a:xfrm>
          <a:prstGeom prst="rect">
            <a:avLst/>
          </a:prstGeom>
          <a:noFill/>
          <a:ln w="0">
            <a:noFill/>
            <a:prstDash val="solid"/>
          </a:ln>
        </p:spPr>
        <p:txBody>
          <a:bodyPr wrap="square" lIns="0" tIns="0" rIns="0" bIns="0" anchor="t">
            <a:normAutofit fontScale="99855"/>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One participant's round</a:t>
            </a:r>
            <a:endParaRPr sz="1275" b="1" i="0">
              <a:solidFill>
                <a:srgbClr val="231D17"/>
              </a:solidFill>
              <a:latin typeface="Times New Roman" panose="02020603050405020304"/>
              <a:ea typeface="Times New Roman" panose="02020603050405020304"/>
              <a:cs typeface="Times New Roman" panose="02020603050405020304"/>
            </a:endParaRPr>
          </a:p>
        </p:txBody>
      </p:sp>
      <p:sp>
        <p:nvSpPr>
          <p:cNvPr id="67" name="圆角矩形 66"/>
          <p:cNvSpPr>
            <a:spLocks noGrp="1"/>
          </p:cNvSpPr>
          <p:nvPr/>
        </p:nvSpPr>
        <p:spPr>
          <a:xfrm>
            <a:off x="914400" y="5257800"/>
            <a:ext cx="1600200" cy="876300"/>
          </a:xfrm>
          <a:prstGeom prst="roundRect">
            <a:avLst>
              <a:gd name="adj" fmla="val 13043"/>
            </a:avLst>
          </a:prstGeom>
          <a:solidFill>
            <a:srgbClr val="FFFFFF"/>
          </a:solidFill>
          <a:ln w="9525">
            <a:solidFill>
              <a:srgbClr val="D8CCBB"/>
            </a:solidFill>
            <a:prstDash val="solid"/>
          </a:ln>
        </p:spPr>
      </p:sp>
      <p:sp>
        <p:nvSpPr>
          <p:cNvPr id="68" name="矩形 67"/>
          <p:cNvSpPr>
            <a:spLocks noGrp="1"/>
          </p:cNvSpPr>
          <p:nvPr/>
        </p:nvSpPr>
        <p:spPr>
          <a:xfrm>
            <a:off x="10287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see task</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69" name="矩形 68"/>
          <p:cNvSpPr>
            <a:spLocks noGrp="1"/>
          </p:cNvSpPr>
          <p:nvPr/>
        </p:nvSpPr>
        <p:spPr>
          <a:xfrm>
            <a:off x="249555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endParaRPr sz="1650" b="1" i="0">
              <a:solidFill>
                <a:srgbClr val="B77845"/>
              </a:solidFill>
              <a:latin typeface="Times New Roman" panose="02020603050405020304"/>
              <a:ea typeface="Times New Roman" panose="02020603050405020304"/>
              <a:cs typeface="Times New Roman" panose="02020603050405020304"/>
            </a:endParaRPr>
          </a:p>
        </p:txBody>
      </p:sp>
      <p:sp>
        <p:nvSpPr>
          <p:cNvPr id="70" name="圆角矩形 69"/>
          <p:cNvSpPr>
            <a:spLocks noGrp="1"/>
          </p:cNvSpPr>
          <p:nvPr/>
        </p:nvSpPr>
        <p:spPr>
          <a:xfrm>
            <a:off x="2647950" y="5257800"/>
            <a:ext cx="1600200" cy="876300"/>
          </a:xfrm>
          <a:prstGeom prst="roundRect">
            <a:avLst>
              <a:gd name="adj" fmla="val 13043"/>
            </a:avLst>
          </a:prstGeom>
          <a:solidFill>
            <a:srgbClr val="FFFFFF"/>
          </a:solidFill>
          <a:ln w="9525">
            <a:solidFill>
              <a:srgbClr val="D8CCBB"/>
            </a:solidFill>
            <a:prstDash val="solid"/>
          </a:ln>
        </p:spPr>
      </p:sp>
      <p:sp>
        <p:nvSpPr>
          <p:cNvPr id="71" name="矩形 70"/>
          <p:cNvSpPr>
            <a:spLocks noGrp="1"/>
          </p:cNvSpPr>
          <p:nvPr/>
        </p:nvSpPr>
        <p:spPr>
          <a:xfrm>
            <a:off x="276225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make self judgment</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72" name="矩形 71"/>
          <p:cNvSpPr>
            <a:spLocks noGrp="1"/>
          </p:cNvSpPr>
          <p:nvPr/>
        </p:nvSpPr>
        <p:spPr>
          <a:xfrm>
            <a:off x="422910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endParaRPr sz="1650" b="1" i="0">
              <a:solidFill>
                <a:srgbClr val="B77845"/>
              </a:solidFill>
              <a:latin typeface="Times New Roman" panose="02020603050405020304"/>
              <a:ea typeface="Times New Roman" panose="02020603050405020304"/>
              <a:cs typeface="Times New Roman" panose="02020603050405020304"/>
            </a:endParaRPr>
          </a:p>
        </p:txBody>
      </p:sp>
      <p:sp>
        <p:nvSpPr>
          <p:cNvPr id="73" name="圆角矩形 72"/>
          <p:cNvSpPr>
            <a:spLocks noGrp="1"/>
          </p:cNvSpPr>
          <p:nvPr/>
        </p:nvSpPr>
        <p:spPr>
          <a:xfrm>
            <a:off x="4381500" y="5257800"/>
            <a:ext cx="1600200" cy="876300"/>
          </a:xfrm>
          <a:prstGeom prst="roundRect">
            <a:avLst>
              <a:gd name="adj" fmla="val 13043"/>
            </a:avLst>
          </a:prstGeom>
          <a:solidFill>
            <a:srgbClr val="FFFFFF"/>
          </a:solidFill>
          <a:ln w="9525">
            <a:solidFill>
              <a:srgbClr val="D8CCBB"/>
            </a:solidFill>
            <a:prstDash val="solid"/>
          </a:ln>
        </p:spPr>
      </p:sp>
      <p:sp>
        <p:nvSpPr>
          <p:cNvPr id="74" name="矩形 73"/>
          <p:cNvSpPr>
            <a:spLocks noGrp="1"/>
          </p:cNvSpPr>
          <p:nvPr/>
        </p:nvSpPr>
        <p:spPr>
          <a:xfrm>
            <a:off x="44958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observe AI output</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75" name="矩形 74"/>
          <p:cNvSpPr>
            <a:spLocks noGrp="1"/>
          </p:cNvSpPr>
          <p:nvPr/>
        </p:nvSpPr>
        <p:spPr>
          <a:xfrm>
            <a:off x="596265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endParaRPr sz="1650" b="1" i="0">
              <a:solidFill>
                <a:srgbClr val="B77845"/>
              </a:solidFill>
              <a:latin typeface="Times New Roman" panose="02020603050405020304"/>
              <a:ea typeface="Times New Roman" panose="02020603050405020304"/>
              <a:cs typeface="Times New Roman" panose="02020603050405020304"/>
            </a:endParaRPr>
          </a:p>
        </p:txBody>
      </p:sp>
      <p:sp>
        <p:nvSpPr>
          <p:cNvPr id="76" name="圆角矩形 75"/>
          <p:cNvSpPr>
            <a:spLocks noGrp="1"/>
          </p:cNvSpPr>
          <p:nvPr/>
        </p:nvSpPr>
        <p:spPr>
          <a:xfrm>
            <a:off x="6115050" y="5257800"/>
            <a:ext cx="1600200" cy="876300"/>
          </a:xfrm>
          <a:prstGeom prst="roundRect">
            <a:avLst>
              <a:gd name="adj" fmla="val 13043"/>
            </a:avLst>
          </a:prstGeom>
          <a:solidFill>
            <a:srgbClr val="FFFFFF"/>
          </a:solidFill>
          <a:ln w="9525">
            <a:solidFill>
              <a:srgbClr val="D8CCBB"/>
            </a:solidFill>
            <a:prstDash val="solid"/>
          </a:ln>
        </p:spPr>
      </p:sp>
      <p:sp>
        <p:nvSpPr>
          <p:cNvPr id="77" name="矩形 76"/>
          <p:cNvSpPr>
            <a:spLocks noGrp="1"/>
          </p:cNvSpPr>
          <p:nvPr/>
        </p:nvSpPr>
        <p:spPr>
          <a:xfrm>
            <a:off x="622935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choose final submission</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78" name="矩形 77"/>
          <p:cNvSpPr>
            <a:spLocks noGrp="1"/>
          </p:cNvSpPr>
          <p:nvPr/>
        </p:nvSpPr>
        <p:spPr>
          <a:xfrm>
            <a:off x="769620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endParaRPr sz="1650" b="1" i="0">
              <a:solidFill>
                <a:srgbClr val="B77845"/>
              </a:solidFill>
              <a:latin typeface="Times New Roman" panose="02020603050405020304"/>
              <a:ea typeface="Times New Roman" panose="02020603050405020304"/>
              <a:cs typeface="Times New Roman" panose="02020603050405020304"/>
            </a:endParaRPr>
          </a:p>
        </p:txBody>
      </p:sp>
      <p:sp>
        <p:nvSpPr>
          <p:cNvPr id="79" name="圆角矩形 78"/>
          <p:cNvSpPr>
            <a:spLocks noGrp="1"/>
          </p:cNvSpPr>
          <p:nvPr/>
        </p:nvSpPr>
        <p:spPr>
          <a:xfrm>
            <a:off x="7848600" y="5257800"/>
            <a:ext cx="1600200" cy="876300"/>
          </a:xfrm>
          <a:prstGeom prst="roundRect">
            <a:avLst>
              <a:gd name="adj" fmla="val 13043"/>
            </a:avLst>
          </a:prstGeom>
          <a:solidFill>
            <a:srgbClr val="F7EADC"/>
          </a:solidFill>
          <a:ln w="9525">
            <a:solidFill>
              <a:srgbClr val="B77845"/>
            </a:solidFill>
            <a:prstDash val="solid"/>
          </a:ln>
        </p:spPr>
      </p:sp>
      <p:sp>
        <p:nvSpPr>
          <p:cNvPr id="80" name="矩形 79"/>
          <p:cNvSpPr>
            <a:spLocks noGrp="1"/>
          </p:cNvSpPr>
          <p:nvPr/>
        </p:nvSpPr>
        <p:spPr>
          <a:xfrm>
            <a:off x="79629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receive full feedback</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81" name="矩形 80"/>
          <p:cNvSpPr>
            <a:spLocks noGrp="1"/>
          </p:cNvSpPr>
          <p:nvPr/>
        </p:nvSpPr>
        <p:spPr>
          <a:xfrm>
            <a:off x="942975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endParaRPr sz="1650" b="1" i="0">
              <a:solidFill>
                <a:srgbClr val="B77845"/>
              </a:solidFill>
              <a:latin typeface="Times New Roman" panose="02020603050405020304"/>
              <a:ea typeface="Times New Roman" panose="02020603050405020304"/>
              <a:cs typeface="Times New Roman" panose="02020603050405020304"/>
            </a:endParaRPr>
          </a:p>
        </p:txBody>
      </p:sp>
      <p:sp>
        <p:nvSpPr>
          <p:cNvPr id="82" name="圆角矩形 81"/>
          <p:cNvSpPr>
            <a:spLocks noGrp="1"/>
          </p:cNvSpPr>
          <p:nvPr/>
        </p:nvSpPr>
        <p:spPr>
          <a:xfrm>
            <a:off x="9582150" y="5257800"/>
            <a:ext cx="1600200" cy="876300"/>
          </a:xfrm>
          <a:prstGeom prst="roundRect">
            <a:avLst>
              <a:gd name="adj" fmla="val 13043"/>
            </a:avLst>
          </a:prstGeom>
          <a:solidFill>
            <a:srgbClr val="FFFFFF"/>
          </a:solidFill>
          <a:ln w="9525">
            <a:solidFill>
              <a:srgbClr val="D8CCBB"/>
            </a:solidFill>
            <a:prstDash val="solid"/>
          </a:ln>
        </p:spPr>
      </p:sp>
      <p:sp>
        <p:nvSpPr>
          <p:cNvPr id="83" name="矩形 82"/>
          <p:cNvSpPr>
            <a:spLocks noGrp="1"/>
          </p:cNvSpPr>
          <p:nvPr/>
        </p:nvSpPr>
        <p:spPr>
          <a:xfrm>
            <a:off x="9696450" y="5562600"/>
            <a:ext cx="1371600" cy="247650"/>
          </a:xfrm>
          <a:prstGeom prst="rect">
            <a:avLst/>
          </a:prstGeom>
          <a:noFill/>
          <a:ln w="0">
            <a:noFill/>
            <a:prstDash val="solid"/>
          </a:ln>
        </p:spPr>
        <p:txBody>
          <a:bodyPr wrap="square" lIns="0" tIns="0" rIns="0" bIns="0" anchor="ctr">
            <a:normAutofit fontScale="95996"/>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update next-round reliance</a:t>
            </a:r>
            <a:endParaRPr sz="1050" b="0"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RQ TABLE</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91391"/>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Hypotheses, manipulations, comparisons, and parity standards align cleanly</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This is the identification map of the paper: each row ties one question to one manipulation, one comparison, and one parity condition.</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1962150"/>
            <a:ext cx="1619250" cy="476250"/>
          </a:xfrm>
          <a:prstGeom prst="rect">
            <a:avLst/>
          </a:prstGeom>
          <a:solidFill>
            <a:srgbClr val="EDE5D8"/>
          </a:solidFill>
          <a:ln w="9525">
            <a:solidFill>
              <a:srgbClr val="D8CCBB"/>
            </a:solidFill>
            <a:prstDash val="solid"/>
          </a:ln>
        </p:spPr>
      </p:sp>
      <p:sp>
        <p:nvSpPr>
          <p:cNvPr id="8" name="矩形 7"/>
          <p:cNvSpPr>
            <a:spLocks noGrp="1"/>
          </p:cNvSpPr>
          <p:nvPr/>
        </p:nvSpPr>
        <p:spPr>
          <a:xfrm>
            <a:off x="990600" y="2085975"/>
            <a:ext cx="146685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RQ / H</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2533650" y="1962150"/>
            <a:ext cx="2286000" cy="476250"/>
          </a:xfrm>
          <a:prstGeom prst="rect">
            <a:avLst/>
          </a:prstGeom>
          <a:solidFill>
            <a:srgbClr val="EDE5D8"/>
          </a:solidFill>
          <a:ln w="9525">
            <a:solidFill>
              <a:srgbClr val="D8CCBB"/>
            </a:solidFill>
            <a:prstDash val="solid"/>
          </a:ln>
        </p:spPr>
      </p:sp>
      <p:sp>
        <p:nvSpPr>
          <p:cNvPr id="10" name="矩形 9"/>
          <p:cNvSpPr>
            <a:spLocks noGrp="1"/>
          </p:cNvSpPr>
          <p:nvPr/>
        </p:nvSpPr>
        <p:spPr>
          <a:xfrm>
            <a:off x="2609850" y="2085975"/>
            <a:ext cx="21336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Experimental Manipulation</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4819650" y="1962150"/>
            <a:ext cx="1981200" cy="476250"/>
          </a:xfrm>
          <a:prstGeom prst="rect">
            <a:avLst/>
          </a:prstGeom>
          <a:solidFill>
            <a:srgbClr val="EDE5D8"/>
          </a:solidFill>
          <a:ln w="9525">
            <a:solidFill>
              <a:srgbClr val="D8CCBB"/>
            </a:solidFill>
            <a:prstDash val="solid"/>
          </a:ln>
        </p:spPr>
      </p:sp>
      <p:sp>
        <p:nvSpPr>
          <p:cNvPr id="12" name="矩形 11"/>
          <p:cNvSpPr>
            <a:spLocks noGrp="1"/>
          </p:cNvSpPr>
          <p:nvPr/>
        </p:nvSpPr>
        <p:spPr>
          <a:xfrm>
            <a:off x="4895850" y="2085975"/>
            <a:ext cx="18288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Key Comparison</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6800850" y="1962150"/>
            <a:ext cx="2000250" cy="476250"/>
          </a:xfrm>
          <a:prstGeom prst="rect">
            <a:avLst/>
          </a:prstGeom>
          <a:solidFill>
            <a:srgbClr val="EDE5D8"/>
          </a:solidFill>
          <a:ln w="9525">
            <a:solidFill>
              <a:srgbClr val="D8CCBB"/>
            </a:solidFill>
            <a:prstDash val="solid"/>
          </a:ln>
        </p:spPr>
      </p:sp>
      <p:sp>
        <p:nvSpPr>
          <p:cNvPr id="14" name="矩形 13"/>
          <p:cNvSpPr>
            <a:spLocks noGrp="1"/>
          </p:cNvSpPr>
          <p:nvPr/>
        </p:nvSpPr>
        <p:spPr>
          <a:xfrm>
            <a:off x="6877050" y="2085975"/>
            <a:ext cx="184785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Parity Standard</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8801100" y="1962150"/>
            <a:ext cx="2476500" cy="476250"/>
          </a:xfrm>
          <a:prstGeom prst="rect">
            <a:avLst/>
          </a:prstGeom>
          <a:solidFill>
            <a:srgbClr val="EDE5D8"/>
          </a:solidFill>
          <a:ln w="9525">
            <a:solidFill>
              <a:srgbClr val="D8CCBB"/>
            </a:solidFill>
            <a:prstDash val="solid"/>
          </a:ln>
        </p:spPr>
      </p:sp>
      <p:sp>
        <p:nvSpPr>
          <p:cNvPr id="16" name="矩形 15"/>
          <p:cNvSpPr>
            <a:spLocks noGrp="1"/>
          </p:cNvSpPr>
          <p:nvPr/>
        </p:nvSpPr>
        <p:spPr>
          <a:xfrm>
            <a:off x="8877300" y="2085975"/>
            <a:ext cx="23241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What It Identifies</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914400" y="2438400"/>
            <a:ext cx="1619250" cy="895350"/>
          </a:xfrm>
          <a:prstGeom prst="rect">
            <a:avLst/>
          </a:prstGeom>
          <a:solidFill>
            <a:srgbClr val="FFFFFF"/>
          </a:solidFill>
          <a:ln w="9525">
            <a:solidFill>
              <a:srgbClr val="D8CCBB"/>
            </a:solidFill>
            <a:prstDash val="solid"/>
          </a:ln>
        </p:spPr>
      </p:sp>
      <p:sp>
        <p:nvSpPr>
          <p:cNvPr id="18" name="矩形 17"/>
          <p:cNvSpPr>
            <a:spLocks noGrp="1"/>
          </p:cNvSpPr>
          <p:nvPr/>
        </p:nvSpPr>
        <p:spPr>
          <a:xfrm>
            <a:off x="1009650" y="253365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H1</a:t>
            </a:r>
            <a:endParaRPr sz="975" b="1" i="0">
              <a:solidFill>
                <a:srgbClr val="231D17"/>
              </a:solidFill>
              <a:latin typeface="Times New Roman" panose="02020603050405020304"/>
              <a:ea typeface="Times New Roman" panose="02020603050405020304"/>
              <a:cs typeface="Times New Roman" panose="02020603050405020304"/>
            </a:endParaRP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Dynamic updating</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2533650" y="2438400"/>
            <a:ext cx="2286000" cy="895350"/>
          </a:xfrm>
          <a:prstGeom prst="rect">
            <a:avLst/>
          </a:prstGeom>
          <a:solidFill>
            <a:srgbClr val="FFFFFF"/>
          </a:solidFill>
          <a:ln w="9525">
            <a:solidFill>
              <a:srgbClr val="D8CCBB"/>
            </a:solidFill>
            <a:prstDash val="solid"/>
          </a:ln>
        </p:spPr>
      </p:sp>
      <p:sp>
        <p:nvSpPr>
          <p:cNvPr id="20" name="矩形 19"/>
          <p:cNvSpPr>
            <a:spLocks noGrp="1"/>
          </p:cNvSpPr>
          <p:nvPr/>
        </p:nvSpPr>
        <p:spPr>
          <a:xfrm>
            <a:off x="2628900" y="253365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Show both self and AI payoffs after each round</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4819650" y="2438400"/>
            <a:ext cx="1981200" cy="895350"/>
          </a:xfrm>
          <a:prstGeom prst="rect">
            <a:avLst/>
          </a:prstGeom>
          <a:solidFill>
            <a:srgbClr val="FFFFFF"/>
          </a:solidFill>
          <a:ln w="9525">
            <a:solidFill>
              <a:srgbClr val="D8CCBB"/>
            </a:solidFill>
            <a:prstDash val="solid"/>
          </a:ln>
        </p:spPr>
      </p:sp>
      <p:sp>
        <p:nvSpPr>
          <p:cNvPr id="22" name="矩形 21"/>
          <p:cNvSpPr>
            <a:spLocks noGrp="1"/>
          </p:cNvSpPr>
          <p:nvPr/>
        </p:nvSpPr>
        <p:spPr>
          <a:xfrm>
            <a:off x="4914900" y="253365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adoption after AI outperforms self vs after self outperforms AI</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23" name="矩形 22"/>
          <p:cNvSpPr>
            <a:spLocks noGrp="1"/>
          </p:cNvSpPr>
          <p:nvPr/>
        </p:nvSpPr>
        <p:spPr>
          <a:xfrm>
            <a:off x="6800850" y="2438400"/>
            <a:ext cx="2000250" cy="895350"/>
          </a:xfrm>
          <a:prstGeom prst="rect">
            <a:avLst/>
          </a:prstGeom>
          <a:solidFill>
            <a:srgbClr val="FFFFFF"/>
          </a:solidFill>
          <a:ln w="9525">
            <a:solidFill>
              <a:srgbClr val="D8CCBB"/>
            </a:solidFill>
            <a:prstDash val="solid"/>
          </a:ln>
        </p:spPr>
      </p:sp>
      <p:sp>
        <p:nvSpPr>
          <p:cNvPr id="24" name="矩形 23"/>
          <p:cNvSpPr>
            <a:spLocks noGrp="1"/>
          </p:cNvSpPr>
          <p:nvPr/>
        </p:nvSpPr>
        <p:spPr>
          <a:xfrm>
            <a:off x="6896100" y="253365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information within round</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8801100" y="2438400"/>
            <a:ext cx="2476500" cy="895350"/>
          </a:xfrm>
          <a:prstGeom prst="rect">
            <a:avLst/>
          </a:prstGeom>
          <a:solidFill>
            <a:srgbClr val="FFFFFF"/>
          </a:solidFill>
          <a:ln w="9525">
            <a:solidFill>
              <a:srgbClr val="D8CCBB"/>
            </a:solidFill>
            <a:prstDash val="solid"/>
          </a:ln>
        </p:spPr>
      </p:sp>
      <p:sp>
        <p:nvSpPr>
          <p:cNvPr id="26" name="矩形 25"/>
          <p:cNvSpPr>
            <a:spLocks noGrp="1"/>
          </p:cNvSpPr>
          <p:nvPr/>
        </p:nvSpPr>
        <p:spPr>
          <a:xfrm>
            <a:off x="8896350" y="253365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reliance responds to relative performance</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27" name="矩形 26"/>
          <p:cNvSpPr>
            <a:spLocks noGrp="1"/>
          </p:cNvSpPr>
          <p:nvPr/>
        </p:nvSpPr>
        <p:spPr>
          <a:xfrm>
            <a:off x="914400" y="3333750"/>
            <a:ext cx="1619250" cy="1009650"/>
          </a:xfrm>
          <a:prstGeom prst="rect">
            <a:avLst/>
          </a:prstGeom>
          <a:solidFill>
            <a:srgbClr val="FFFFFF"/>
          </a:solidFill>
          <a:ln w="9525">
            <a:solidFill>
              <a:srgbClr val="D8CCBB"/>
            </a:solidFill>
            <a:prstDash val="solid"/>
          </a:ln>
        </p:spPr>
      </p:sp>
      <p:sp>
        <p:nvSpPr>
          <p:cNvPr id="28" name="矩形 27"/>
          <p:cNvSpPr>
            <a:spLocks noGrp="1"/>
          </p:cNvSpPr>
          <p:nvPr/>
        </p:nvSpPr>
        <p:spPr>
          <a:xfrm>
            <a:off x="1009650" y="3429000"/>
            <a:ext cx="1428750" cy="8191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H2</a:t>
            </a:r>
            <a:endParaRPr sz="975" b="1" i="0">
              <a:solidFill>
                <a:srgbClr val="231D17"/>
              </a:solidFill>
              <a:latin typeface="Times New Roman" panose="02020603050405020304"/>
              <a:ea typeface="Times New Roman" panose="02020603050405020304"/>
              <a:cs typeface="Times New Roman" panose="02020603050405020304"/>
            </a:endParaRP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Shock penalty</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29" name="矩形 28"/>
          <p:cNvSpPr>
            <a:spLocks noGrp="1"/>
          </p:cNvSpPr>
          <p:nvPr/>
        </p:nvSpPr>
        <p:spPr>
          <a:xfrm>
            <a:off x="2533650" y="3333750"/>
            <a:ext cx="2286000" cy="1009650"/>
          </a:xfrm>
          <a:prstGeom prst="rect">
            <a:avLst/>
          </a:prstGeom>
          <a:solidFill>
            <a:srgbClr val="FFFFFF"/>
          </a:solidFill>
          <a:ln w="9525">
            <a:solidFill>
              <a:srgbClr val="D8CCBB"/>
            </a:solidFill>
            <a:prstDash val="solid"/>
          </a:ln>
        </p:spPr>
      </p:sp>
      <p:sp>
        <p:nvSpPr>
          <p:cNvPr id="30" name="矩形 29"/>
          <p:cNvSpPr>
            <a:spLocks noGrp="1"/>
          </p:cNvSpPr>
          <p:nvPr/>
        </p:nvSpPr>
        <p:spPr>
          <a:xfrm>
            <a:off x="2628900" y="3429000"/>
            <a:ext cx="20955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Place the same number of AI errors either in one concentrated block or across the task</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31" name="矩形 30"/>
          <p:cNvSpPr>
            <a:spLocks noGrp="1"/>
          </p:cNvSpPr>
          <p:nvPr/>
        </p:nvSpPr>
        <p:spPr>
          <a:xfrm>
            <a:off x="4819650" y="3333750"/>
            <a:ext cx="1981200" cy="1009650"/>
          </a:xfrm>
          <a:prstGeom prst="rect">
            <a:avLst/>
          </a:prstGeom>
          <a:solidFill>
            <a:srgbClr val="FFFFFF"/>
          </a:solidFill>
          <a:ln w="9525">
            <a:solidFill>
              <a:srgbClr val="D8CCBB"/>
            </a:solidFill>
            <a:prstDash val="solid"/>
          </a:ln>
        </p:spPr>
      </p:sp>
      <p:sp>
        <p:nvSpPr>
          <p:cNvPr id="32" name="矩形 31"/>
          <p:cNvSpPr>
            <a:spLocks noGrp="1"/>
          </p:cNvSpPr>
          <p:nvPr/>
        </p:nvSpPr>
        <p:spPr>
          <a:xfrm>
            <a:off x="4914900" y="3429000"/>
            <a:ext cx="17907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Later AI adoption after clustered AI errors vs after spread-out AI errors</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33" name="矩形 32"/>
          <p:cNvSpPr>
            <a:spLocks noGrp="1"/>
          </p:cNvSpPr>
          <p:nvPr/>
        </p:nvSpPr>
        <p:spPr>
          <a:xfrm>
            <a:off x="6800850" y="3333750"/>
            <a:ext cx="2000250" cy="1009650"/>
          </a:xfrm>
          <a:prstGeom prst="rect">
            <a:avLst/>
          </a:prstGeom>
          <a:solidFill>
            <a:srgbClr val="FFFFFF"/>
          </a:solidFill>
          <a:ln w="9525">
            <a:solidFill>
              <a:srgbClr val="D8CCBB"/>
            </a:solidFill>
            <a:prstDash val="solid"/>
          </a:ln>
        </p:spPr>
      </p:sp>
      <p:sp>
        <p:nvSpPr>
          <p:cNvPr id="34" name="矩形 33"/>
          <p:cNvSpPr>
            <a:spLocks noGrp="1"/>
          </p:cNvSpPr>
          <p:nvPr/>
        </p:nvSpPr>
        <p:spPr>
          <a:xfrm>
            <a:off x="6896100" y="3429000"/>
            <a:ext cx="180975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total AI payoff; same error count</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35" name="矩形 34"/>
          <p:cNvSpPr>
            <a:spLocks noGrp="1"/>
          </p:cNvSpPr>
          <p:nvPr/>
        </p:nvSpPr>
        <p:spPr>
          <a:xfrm>
            <a:off x="8801100" y="3333750"/>
            <a:ext cx="2476500" cy="1009650"/>
          </a:xfrm>
          <a:prstGeom prst="rect">
            <a:avLst/>
          </a:prstGeom>
          <a:solidFill>
            <a:srgbClr val="FFFFFF"/>
          </a:solidFill>
          <a:ln w="9525">
            <a:solidFill>
              <a:srgbClr val="D8CCBB"/>
            </a:solidFill>
            <a:prstDash val="solid"/>
          </a:ln>
        </p:spPr>
      </p:sp>
      <p:sp>
        <p:nvSpPr>
          <p:cNvPr id="36" name="矩形 35"/>
          <p:cNvSpPr>
            <a:spLocks noGrp="1"/>
          </p:cNvSpPr>
          <p:nvPr/>
        </p:nvSpPr>
        <p:spPr>
          <a:xfrm>
            <a:off x="8896350" y="3429000"/>
            <a:ext cx="22860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local AI failures push reliance below a matched benchmark</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37" name="矩形 36"/>
          <p:cNvSpPr>
            <a:spLocks noGrp="1"/>
          </p:cNvSpPr>
          <p:nvPr/>
        </p:nvSpPr>
        <p:spPr>
          <a:xfrm>
            <a:off x="914400" y="4343400"/>
            <a:ext cx="1619250" cy="895350"/>
          </a:xfrm>
          <a:prstGeom prst="rect">
            <a:avLst/>
          </a:prstGeom>
          <a:solidFill>
            <a:srgbClr val="FFFFFF"/>
          </a:solidFill>
          <a:ln w="9525">
            <a:solidFill>
              <a:srgbClr val="D8CCBB"/>
            </a:solidFill>
            <a:prstDash val="solid"/>
          </a:ln>
        </p:spPr>
      </p:sp>
      <p:sp>
        <p:nvSpPr>
          <p:cNvPr id="38" name="矩形 37"/>
          <p:cNvSpPr>
            <a:spLocks noGrp="1"/>
          </p:cNvSpPr>
          <p:nvPr/>
        </p:nvSpPr>
        <p:spPr>
          <a:xfrm>
            <a:off x="1009650" y="443865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H3</a:t>
            </a:r>
            <a:endParaRPr sz="975" b="1" i="0">
              <a:solidFill>
                <a:srgbClr val="231D17"/>
              </a:solidFill>
              <a:latin typeface="Times New Roman" panose="02020603050405020304"/>
              <a:ea typeface="Times New Roman" panose="02020603050405020304"/>
              <a:cs typeface="Times New Roman" panose="02020603050405020304"/>
            </a:endParaRP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Incomplete recovery</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39" name="矩形 38"/>
          <p:cNvSpPr>
            <a:spLocks noGrp="1"/>
          </p:cNvSpPr>
          <p:nvPr/>
        </p:nvSpPr>
        <p:spPr>
          <a:xfrm>
            <a:off x="2533650" y="4343400"/>
            <a:ext cx="2286000" cy="895350"/>
          </a:xfrm>
          <a:prstGeom prst="rect">
            <a:avLst/>
          </a:prstGeom>
          <a:solidFill>
            <a:srgbClr val="FFFFFF"/>
          </a:solidFill>
          <a:ln w="9525">
            <a:solidFill>
              <a:srgbClr val="D8CCBB"/>
            </a:solidFill>
            <a:prstDash val="solid"/>
          </a:ln>
        </p:spPr>
      </p:sp>
      <p:sp>
        <p:nvSpPr>
          <p:cNvPr id="40" name="矩形 39"/>
          <p:cNvSpPr>
            <a:spLocks noGrp="1"/>
          </p:cNvSpPr>
          <p:nvPr/>
        </p:nvSpPr>
        <p:spPr>
          <a:xfrm>
            <a:off x="2628900" y="443865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Let AI performance return to the matched level after the shock block</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41" name="矩形 40"/>
          <p:cNvSpPr>
            <a:spLocks noGrp="1"/>
          </p:cNvSpPr>
          <p:nvPr/>
        </p:nvSpPr>
        <p:spPr>
          <a:xfrm>
            <a:off x="4819650" y="4343400"/>
            <a:ext cx="1981200" cy="895350"/>
          </a:xfrm>
          <a:prstGeom prst="rect">
            <a:avLst/>
          </a:prstGeom>
          <a:solidFill>
            <a:srgbClr val="FFFFFF"/>
          </a:solidFill>
          <a:ln w="9525">
            <a:solidFill>
              <a:srgbClr val="D8CCBB"/>
            </a:solidFill>
            <a:prstDash val="solid"/>
          </a:ln>
        </p:spPr>
      </p:sp>
      <p:sp>
        <p:nvSpPr>
          <p:cNvPr id="42" name="矩形 41"/>
          <p:cNvSpPr>
            <a:spLocks noGrp="1"/>
          </p:cNvSpPr>
          <p:nvPr/>
        </p:nvSpPr>
        <p:spPr>
          <a:xfrm>
            <a:off x="4914900" y="443865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adoption during recovery rounds in Shock vs Balanced Error conditions</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43" name="矩形 42"/>
          <p:cNvSpPr>
            <a:spLocks noGrp="1"/>
          </p:cNvSpPr>
          <p:nvPr/>
        </p:nvSpPr>
        <p:spPr>
          <a:xfrm>
            <a:off x="6800850" y="4343400"/>
            <a:ext cx="2000250" cy="895350"/>
          </a:xfrm>
          <a:prstGeom prst="rect">
            <a:avLst/>
          </a:prstGeom>
          <a:solidFill>
            <a:srgbClr val="FFFFFF"/>
          </a:solidFill>
          <a:ln w="9525">
            <a:solidFill>
              <a:srgbClr val="D8CCBB"/>
            </a:solidFill>
            <a:prstDash val="solid"/>
          </a:ln>
        </p:spPr>
      </p:sp>
      <p:sp>
        <p:nvSpPr>
          <p:cNvPr id="44" name="矩形 43"/>
          <p:cNvSpPr>
            <a:spLocks noGrp="1"/>
          </p:cNvSpPr>
          <p:nvPr/>
        </p:nvSpPr>
        <p:spPr>
          <a:xfrm>
            <a:off x="6896100" y="443865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later recovery quality</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45" name="矩形 44"/>
          <p:cNvSpPr>
            <a:spLocks noGrp="1"/>
          </p:cNvSpPr>
          <p:nvPr/>
        </p:nvSpPr>
        <p:spPr>
          <a:xfrm>
            <a:off x="8801100" y="4343400"/>
            <a:ext cx="2476500" cy="895350"/>
          </a:xfrm>
          <a:prstGeom prst="rect">
            <a:avLst/>
          </a:prstGeom>
          <a:solidFill>
            <a:srgbClr val="FFFFFF"/>
          </a:solidFill>
          <a:ln w="9525">
            <a:solidFill>
              <a:srgbClr val="D8CCBB"/>
            </a:solidFill>
            <a:prstDash val="solid"/>
          </a:ln>
        </p:spPr>
      </p:sp>
      <p:sp>
        <p:nvSpPr>
          <p:cNvPr id="46" name="矩形 45"/>
          <p:cNvSpPr>
            <a:spLocks noGrp="1"/>
          </p:cNvSpPr>
          <p:nvPr/>
        </p:nvSpPr>
        <p:spPr>
          <a:xfrm>
            <a:off x="8896350" y="443865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under-reliance persists after performance normalizes</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47" name="矩形 46"/>
          <p:cNvSpPr>
            <a:spLocks noGrp="1"/>
          </p:cNvSpPr>
          <p:nvPr/>
        </p:nvSpPr>
        <p:spPr>
          <a:xfrm>
            <a:off x="914400" y="5238750"/>
            <a:ext cx="1619250" cy="895350"/>
          </a:xfrm>
          <a:prstGeom prst="rect">
            <a:avLst/>
          </a:prstGeom>
          <a:solidFill>
            <a:srgbClr val="FFFFFF"/>
          </a:solidFill>
          <a:ln w="9525">
            <a:solidFill>
              <a:srgbClr val="D8CCBB"/>
            </a:solidFill>
            <a:prstDash val="solid"/>
          </a:ln>
        </p:spPr>
      </p:sp>
      <p:sp>
        <p:nvSpPr>
          <p:cNvPr id="48" name="矩形 47"/>
          <p:cNvSpPr>
            <a:spLocks noGrp="1"/>
          </p:cNvSpPr>
          <p:nvPr/>
        </p:nvSpPr>
        <p:spPr>
          <a:xfrm>
            <a:off x="1009650" y="533400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H4</a:t>
            </a:r>
            <a:endParaRPr sz="975" b="1" i="0">
              <a:solidFill>
                <a:srgbClr val="231D17"/>
              </a:solidFill>
              <a:latin typeface="Times New Roman" panose="02020603050405020304"/>
              <a:ea typeface="Times New Roman" panose="02020603050405020304"/>
              <a:cs typeface="Times New Roman" panose="02020603050405020304"/>
            </a:endParaRP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Timing heterogeneity</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49" name="矩形 48"/>
          <p:cNvSpPr>
            <a:spLocks noGrp="1"/>
          </p:cNvSpPr>
          <p:nvPr/>
        </p:nvSpPr>
        <p:spPr>
          <a:xfrm>
            <a:off x="2533650" y="5238750"/>
            <a:ext cx="2286000" cy="895350"/>
          </a:xfrm>
          <a:prstGeom prst="rect">
            <a:avLst/>
          </a:prstGeom>
          <a:solidFill>
            <a:srgbClr val="FFFFFF"/>
          </a:solidFill>
          <a:ln w="9525">
            <a:solidFill>
              <a:srgbClr val="D8CCBB"/>
            </a:solidFill>
            <a:prstDash val="solid"/>
          </a:ln>
        </p:spPr>
      </p:sp>
      <p:sp>
        <p:nvSpPr>
          <p:cNvPr id="50" name="矩形 49"/>
          <p:cNvSpPr>
            <a:spLocks noGrp="1"/>
          </p:cNvSpPr>
          <p:nvPr/>
        </p:nvSpPr>
        <p:spPr>
          <a:xfrm>
            <a:off x="2628900" y="533400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Place the same AI error shock either early or midway through the task</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51" name="矩形 50"/>
          <p:cNvSpPr>
            <a:spLocks noGrp="1"/>
          </p:cNvSpPr>
          <p:nvPr/>
        </p:nvSpPr>
        <p:spPr>
          <a:xfrm>
            <a:off x="4819650" y="5238750"/>
            <a:ext cx="1981200" cy="895350"/>
          </a:xfrm>
          <a:prstGeom prst="rect">
            <a:avLst/>
          </a:prstGeom>
          <a:solidFill>
            <a:srgbClr val="FFFFFF"/>
          </a:solidFill>
          <a:ln w="9525">
            <a:solidFill>
              <a:srgbClr val="D8CCBB"/>
            </a:solidFill>
            <a:prstDash val="solid"/>
          </a:ln>
        </p:spPr>
      </p:sp>
      <p:sp>
        <p:nvSpPr>
          <p:cNvPr id="52" name="矩形 51"/>
          <p:cNvSpPr>
            <a:spLocks noGrp="1"/>
          </p:cNvSpPr>
          <p:nvPr/>
        </p:nvSpPr>
        <p:spPr>
          <a:xfrm>
            <a:off x="4914900" y="533400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Later AI adoption after early AI shock vs after mid-task AI shock</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53" name="矩形 52"/>
          <p:cNvSpPr>
            <a:spLocks noGrp="1"/>
          </p:cNvSpPr>
          <p:nvPr/>
        </p:nvSpPr>
        <p:spPr>
          <a:xfrm>
            <a:off x="6800850" y="5238750"/>
            <a:ext cx="2000250" cy="895350"/>
          </a:xfrm>
          <a:prstGeom prst="rect">
            <a:avLst/>
          </a:prstGeom>
          <a:solidFill>
            <a:srgbClr val="FFFFFF"/>
          </a:solidFill>
          <a:ln w="9525">
            <a:solidFill>
              <a:srgbClr val="D8CCBB"/>
            </a:solidFill>
            <a:prstDash val="solid"/>
          </a:ln>
        </p:spPr>
      </p:sp>
      <p:sp>
        <p:nvSpPr>
          <p:cNvPr id="54" name="矩形 53"/>
          <p:cNvSpPr>
            <a:spLocks noGrp="1"/>
          </p:cNvSpPr>
          <p:nvPr/>
        </p:nvSpPr>
        <p:spPr>
          <a:xfrm>
            <a:off x="6896100" y="533400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shock size; same overall AI quality</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55" name="矩形 54"/>
          <p:cNvSpPr>
            <a:spLocks noGrp="1"/>
          </p:cNvSpPr>
          <p:nvPr/>
        </p:nvSpPr>
        <p:spPr>
          <a:xfrm>
            <a:off x="8801100" y="5238750"/>
            <a:ext cx="2476500" cy="895350"/>
          </a:xfrm>
          <a:prstGeom prst="rect">
            <a:avLst/>
          </a:prstGeom>
          <a:solidFill>
            <a:srgbClr val="FFFFFF"/>
          </a:solidFill>
          <a:ln w="9525">
            <a:solidFill>
              <a:srgbClr val="D8CCBB"/>
            </a:solidFill>
            <a:prstDash val="solid"/>
          </a:ln>
        </p:spPr>
      </p:sp>
      <p:sp>
        <p:nvSpPr>
          <p:cNvPr id="56" name="矩形 55"/>
          <p:cNvSpPr>
            <a:spLocks noGrp="1"/>
          </p:cNvSpPr>
          <p:nvPr/>
        </p:nvSpPr>
        <p:spPr>
          <a:xfrm>
            <a:off x="8896350" y="533400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early misses carry more path-setting weight</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57" name="矩形 56"/>
          <p:cNvSpPr>
            <a:spLocks noGrp="1"/>
          </p:cNvSpPr>
          <p:nvPr/>
        </p:nvSpPr>
        <p:spPr>
          <a:xfrm>
            <a:off x="914400" y="6134100"/>
            <a:ext cx="1619250" cy="552450"/>
          </a:xfrm>
          <a:prstGeom prst="rect">
            <a:avLst/>
          </a:prstGeom>
          <a:solidFill>
            <a:srgbClr val="FFFFFF"/>
          </a:solidFill>
          <a:ln w="9525">
            <a:solidFill>
              <a:srgbClr val="D8CCBB"/>
            </a:solidFill>
            <a:prstDash val="solid"/>
          </a:ln>
        </p:spPr>
      </p:sp>
      <p:sp>
        <p:nvSpPr>
          <p:cNvPr id="58" name="矩形 57"/>
          <p:cNvSpPr>
            <a:spLocks noGrp="1"/>
          </p:cNvSpPr>
          <p:nvPr/>
        </p:nvSpPr>
        <p:spPr>
          <a:xfrm>
            <a:off x="1009650" y="6229350"/>
            <a:ext cx="1428750" cy="361950"/>
          </a:xfrm>
          <a:prstGeom prst="rect">
            <a:avLst/>
          </a:prstGeom>
          <a:noFill/>
          <a:ln w="0">
            <a:noFill/>
            <a:prstDash val="solid"/>
          </a:ln>
        </p:spPr>
        <p:txBody>
          <a:bodyPr wrap="square" lIns="0" tIns="0" rIns="0" bIns="0" anchor="ctr">
            <a:normAutofit fontScale="90000"/>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H5</a:t>
            </a:r>
            <a:endParaRPr sz="975" b="1" i="0">
              <a:solidFill>
                <a:srgbClr val="231D17"/>
              </a:solidFill>
              <a:latin typeface="Times New Roman" panose="02020603050405020304"/>
              <a:ea typeface="Times New Roman" panose="02020603050405020304"/>
              <a:cs typeface="Times New Roman" panose="02020603050405020304"/>
            </a:endParaRP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lang="en-US" altLang="zh-CN" sz="975" b="1" i="0">
                <a:solidFill>
                  <a:srgbClr val="231D17"/>
                </a:solidFill>
                <a:latin typeface="Times New Roman" panose="02020603050405020304"/>
                <a:ea typeface="Times New Roman" panose="02020603050405020304"/>
                <a:cs typeface="Times New Roman" panose="02020603050405020304"/>
              </a:rPr>
              <a:t>AI-self asymmetric recovery</a:t>
            </a:r>
            <a:endParaRPr lang="en-US" altLang="zh-CN" sz="975" b="1" i="0">
              <a:solidFill>
                <a:srgbClr val="231D17"/>
              </a:solidFill>
              <a:latin typeface="Times New Roman" panose="02020603050405020304"/>
              <a:ea typeface="Times New Roman" panose="02020603050405020304"/>
              <a:cs typeface="Times New Roman" panose="02020603050405020304"/>
            </a:endParaRPr>
          </a:p>
        </p:txBody>
      </p:sp>
      <p:sp>
        <p:nvSpPr>
          <p:cNvPr id="59" name="矩形 58"/>
          <p:cNvSpPr>
            <a:spLocks noGrp="1"/>
          </p:cNvSpPr>
          <p:nvPr/>
        </p:nvSpPr>
        <p:spPr>
          <a:xfrm>
            <a:off x="2533650" y="6134100"/>
            <a:ext cx="2286000" cy="552450"/>
          </a:xfrm>
          <a:prstGeom prst="rect">
            <a:avLst/>
          </a:prstGeom>
          <a:solidFill>
            <a:srgbClr val="FFFFFF"/>
          </a:solidFill>
          <a:ln w="9525">
            <a:solidFill>
              <a:srgbClr val="D8CCBB"/>
            </a:solidFill>
            <a:prstDash val="solid"/>
          </a:ln>
        </p:spPr>
      </p:sp>
      <p:sp>
        <p:nvSpPr>
          <p:cNvPr id="60" name="矩形 59"/>
          <p:cNvSpPr>
            <a:spLocks noGrp="1"/>
          </p:cNvSpPr>
          <p:nvPr/>
        </p:nvSpPr>
        <p:spPr>
          <a:xfrm>
            <a:off x="2628900" y="6229350"/>
            <a:ext cx="20955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Compare recovery after AI errors with recovery after self errors</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61" name="矩形 60"/>
          <p:cNvSpPr>
            <a:spLocks noGrp="1"/>
          </p:cNvSpPr>
          <p:nvPr/>
        </p:nvSpPr>
        <p:spPr>
          <a:xfrm>
            <a:off x="4819650" y="6134100"/>
            <a:ext cx="1981200" cy="552450"/>
          </a:xfrm>
          <a:prstGeom prst="rect">
            <a:avLst/>
          </a:prstGeom>
          <a:solidFill>
            <a:srgbClr val="FFFFFF"/>
          </a:solidFill>
          <a:ln w="9525">
            <a:solidFill>
              <a:srgbClr val="D8CCBB"/>
            </a:solidFill>
            <a:prstDash val="solid"/>
          </a:ln>
        </p:spPr>
      </p:sp>
      <p:sp>
        <p:nvSpPr>
          <p:cNvPr id="62" name="矩形 61"/>
          <p:cNvSpPr>
            <a:spLocks noGrp="1"/>
          </p:cNvSpPr>
          <p:nvPr/>
        </p:nvSpPr>
        <p:spPr>
          <a:xfrm>
            <a:off x="4914900" y="6229350"/>
            <a:ext cx="17907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reliance recovery after AI errors vs self reliance recovery after self errors</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63" name="矩形 62"/>
          <p:cNvSpPr>
            <a:spLocks noGrp="1"/>
          </p:cNvSpPr>
          <p:nvPr/>
        </p:nvSpPr>
        <p:spPr>
          <a:xfrm>
            <a:off x="6800850" y="6134100"/>
            <a:ext cx="2000250" cy="552450"/>
          </a:xfrm>
          <a:prstGeom prst="rect">
            <a:avLst/>
          </a:prstGeom>
          <a:solidFill>
            <a:srgbClr val="FFFFFF"/>
          </a:solidFill>
          <a:ln w="9525">
            <a:solidFill>
              <a:srgbClr val="D8CCBB"/>
            </a:solidFill>
            <a:prstDash val="solid"/>
          </a:ln>
        </p:spPr>
      </p:sp>
      <p:sp>
        <p:nvSpPr>
          <p:cNvPr id="64" name="矩形 63"/>
          <p:cNvSpPr>
            <a:spLocks noGrp="1"/>
          </p:cNvSpPr>
          <p:nvPr/>
        </p:nvSpPr>
        <p:spPr>
          <a:xfrm>
            <a:off x="6896100" y="6229350"/>
            <a:ext cx="1809750" cy="361950"/>
          </a:xfrm>
          <a:prstGeom prst="rect">
            <a:avLst/>
          </a:prstGeom>
          <a:noFill/>
          <a:ln w="0">
            <a:noFill/>
            <a:prstDash val="solid"/>
          </a:ln>
        </p:spPr>
        <p:txBody>
          <a:bodyPr wrap="square" lIns="0" tIns="0" rIns="0" bIns="0" anchor="ctr">
            <a:normAutofit fontScale="90000"/>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Matched error magnitude; same feedback frame; comparable later performance</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65" name="矩形 64"/>
          <p:cNvSpPr>
            <a:spLocks noGrp="1"/>
          </p:cNvSpPr>
          <p:nvPr/>
        </p:nvSpPr>
        <p:spPr>
          <a:xfrm>
            <a:off x="8801100" y="6134100"/>
            <a:ext cx="2476500" cy="552450"/>
          </a:xfrm>
          <a:prstGeom prst="rect">
            <a:avLst/>
          </a:prstGeom>
          <a:solidFill>
            <a:srgbClr val="FFFFFF"/>
          </a:solidFill>
          <a:ln w="9525">
            <a:solidFill>
              <a:srgbClr val="D8CCBB"/>
            </a:solidFill>
            <a:prstDash val="solid"/>
          </a:ln>
        </p:spPr>
      </p:sp>
      <p:sp>
        <p:nvSpPr>
          <p:cNvPr id="66" name="矩形 65"/>
          <p:cNvSpPr>
            <a:spLocks noGrp="1"/>
          </p:cNvSpPr>
          <p:nvPr/>
        </p:nvSpPr>
        <p:spPr>
          <a:xfrm>
            <a:off x="8896350" y="6229350"/>
            <a:ext cx="22860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Whether AI is forgiven more slowly than self</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6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EWA MECHANISM</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矩形 4"/>
          <p:cNvSpPr>
            <a:spLocks noGrp="1"/>
          </p:cNvSpPr>
          <p:nvPr/>
        </p:nvSpPr>
        <p:spPr>
          <a:xfrm>
            <a:off x="914400" y="952500"/>
            <a:ext cx="8763000" cy="495300"/>
          </a:xfrm>
          <a:prstGeom prst="rect">
            <a:avLst/>
          </a:prstGeom>
          <a:noFill/>
          <a:ln w="0">
            <a:noFill/>
            <a:prstDash val="solid"/>
          </a:ln>
        </p:spPr>
        <p:txBody>
          <a:bodyPr wrap="square" lIns="0" tIns="0" rIns="0" bIns="0" anchor="t">
            <a:normAutofit fontScale="80000"/>
          </a:bodyPr>
          <a:lstStyle/>
          <a:p>
            <a:pPr algn="l">
              <a:lnSpc>
                <a:spcPct val="98000"/>
              </a:lnSpc>
              <a:buNone/>
              <a:defRPr sz="2625" b="1" i="0">
                <a:solidFill>
                  <a:srgbClr val="231D17"/>
                </a:solidFill>
                <a:latin typeface="Times New Roman" panose="02020603050405020304"/>
                <a:ea typeface="Times New Roman" panose="02020603050405020304"/>
                <a:cs typeface="Times New Roman" panose="02020603050405020304"/>
              </a:defRPr>
            </a:pPr>
            <a:r>
              <a:rPr sz="2625" b="1" i="0">
                <a:solidFill>
                  <a:srgbClr val="231D17"/>
                </a:solidFill>
                <a:latin typeface="Times New Roman" panose="02020603050405020304"/>
                <a:ea typeface="Times New Roman" panose="02020603050405020304"/>
                <a:cs typeface="Times New Roman" panose="02020603050405020304"/>
              </a:rPr>
              <a:t>Why an </a:t>
            </a:r>
            <a:r>
              <a:rPr lang="en-US" altLang="zh-CN" sz="2625" b="1" i="0">
                <a:solidFill>
                  <a:srgbClr val="231D17"/>
                </a:solidFill>
                <a:latin typeface="Times New Roman" panose="02020603050405020304"/>
                <a:ea typeface="Times New Roman" panose="02020603050405020304"/>
                <a:cs typeface="Times New Roman" panose="02020603050405020304"/>
              </a:rPr>
              <a:t>Experience-Weighted-Attraction</a:t>
            </a:r>
            <a:r>
              <a:rPr sz="2625" b="1" i="0">
                <a:solidFill>
                  <a:srgbClr val="231D17"/>
                </a:solidFill>
                <a:latin typeface="Times New Roman" panose="02020603050405020304"/>
                <a:ea typeface="Times New Roman" panose="02020603050405020304"/>
                <a:cs typeface="Times New Roman" panose="02020603050405020304"/>
              </a:rPr>
              <a:t>-Inspired Model Fits This Study</a:t>
            </a:r>
            <a:endParaRPr sz="2625" b="1" i="0">
              <a:solidFill>
                <a:srgbClr val="231D17"/>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914400" y="1504950"/>
            <a:ext cx="9810750" cy="361950"/>
          </a:xfrm>
          <a:prstGeom prst="rect">
            <a:avLst/>
          </a:prstGeom>
          <a:noFill/>
          <a:ln w="0">
            <a:noFill/>
            <a:prstDash val="solid"/>
          </a:ln>
        </p:spPr>
        <p:txBody>
          <a:bodyPr wrap="square" lIns="0" tIns="0" rIns="0" bIns="0" anchor="t">
            <a:normAutofit/>
          </a:bodyPr>
          <a:lstStyle/>
          <a:p>
            <a:pPr algn="l">
              <a:lnSpc>
                <a:spcPct val="106000"/>
              </a:lnSpc>
              <a:buNone/>
              <a:defRPr sz="1350" b="0" i="0">
                <a:solidFill>
                  <a:srgbClr val="6F665C"/>
                </a:solidFill>
                <a:latin typeface="Times New Roman" panose="02020603050405020304"/>
                <a:ea typeface="Times New Roman" panose="02020603050405020304"/>
                <a:cs typeface="Times New Roman" panose="02020603050405020304"/>
              </a:defRPr>
            </a:pPr>
            <a:r>
              <a:rPr lang="en-US" altLang="zh-CN" sz="1350" b="0" i="0">
                <a:solidFill>
                  <a:srgbClr val="6F665C"/>
                </a:solidFill>
                <a:latin typeface="Times New Roman" panose="02020603050405020304"/>
                <a:ea typeface="Times New Roman" panose="02020603050405020304"/>
                <a:cs typeface="Times New Roman" panose="02020603050405020304"/>
              </a:rPr>
              <a:t>EWA basically predicts what you'll do next by looking at your actual results and your "what-if" regrets from past choices.</a:t>
            </a:r>
            <a:endParaRPr lang="en-US" altLang="zh-CN" sz="135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nvSpPr>
        <p:spPr>
          <a:xfrm>
            <a:off x="914400" y="2076450"/>
            <a:ext cx="4057650" cy="2819400"/>
          </a:xfrm>
          <a:prstGeom prst="roundRect">
            <a:avLst>
              <a:gd name="adj" fmla="val 4054"/>
            </a:avLst>
          </a:prstGeom>
          <a:solidFill>
            <a:srgbClr val="FFFFFF"/>
          </a:solidFill>
          <a:ln w="9525">
            <a:solidFill>
              <a:srgbClr val="D8CCBB"/>
            </a:solidFill>
            <a:prstDash val="solid"/>
          </a:ln>
        </p:spPr>
      </p:sp>
      <p:sp>
        <p:nvSpPr>
          <p:cNvPr id="8" name="圆角矩形 7"/>
          <p:cNvSpPr>
            <a:spLocks noGrp="1"/>
          </p:cNvSpPr>
          <p:nvPr/>
        </p:nvSpPr>
        <p:spPr>
          <a:xfrm>
            <a:off x="914400" y="2076450"/>
            <a:ext cx="57150" cy="28194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81100" y="2286000"/>
            <a:ext cx="3429000" cy="266700"/>
          </a:xfrm>
          <a:prstGeom prst="rect">
            <a:avLst/>
          </a:prstGeom>
          <a:noFill/>
          <a:ln w="0">
            <a:noFill/>
            <a:prstDash val="solid"/>
          </a:ln>
        </p:spPr>
        <p:txBody>
          <a:bodyPr wrap="square" lIns="0" tIns="0" rIns="0" bIns="0" anchor="t">
            <a:normAutofit fontScale="91719"/>
          </a:bodyPr>
          <a:lstStyle/>
          <a:p>
            <a:pPr algn="l">
              <a:lnSpc>
                <a:spcPct val="106000"/>
              </a:lnSpc>
              <a:buNone/>
              <a:defRPr sz="1800" b="1" i="0">
                <a:solidFill>
                  <a:srgbClr val="B77845"/>
                </a:solidFill>
                <a:latin typeface="Times New Roman" panose="02020603050405020304"/>
                <a:ea typeface="Times New Roman" panose="02020603050405020304"/>
                <a:cs typeface="Times New Roman" panose="02020603050405020304"/>
              </a:defRPr>
            </a:pPr>
            <a:r>
              <a:rPr sz="1800" b="1" i="0">
                <a:solidFill>
                  <a:srgbClr val="B77845"/>
                </a:solidFill>
                <a:latin typeface="Times New Roman" panose="02020603050405020304"/>
                <a:ea typeface="Times New Roman" panose="02020603050405020304"/>
                <a:cs typeface="Times New Roman" panose="02020603050405020304"/>
              </a:rPr>
              <a:t>What EWA captures</a:t>
            </a:r>
            <a:endParaRPr sz="1800" b="1" i="0">
              <a:solidFill>
                <a:srgbClr val="B77845"/>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181100" y="2724150"/>
            <a:ext cx="3371850" cy="1600200"/>
          </a:xfrm>
          <a:prstGeom prst="rect">
            <a:avLst/>
          </a:prstGeom>
          <a:noFill/>
          <a:ln w="0">
            <a:noFill/>
            <a:prstDash val="solid"/>
          </a:ln>
        </p:spPr>
        <p:txBody>
          <a:bodyPr wrap="square" lIns="0" tIns="0" rIns="0" bIns="0" anchor="t">
            <a:normAutofit/>
          </a:bodyPr>
          <a:lstStyle/>
          <a:p>
            <a:pPr marL="0" indent="0" algn="l">
              <a:lnSpc>
                <a:spcPct val="106000"/>
              </a:lnSpc>
              <a:spcAft>
                <a:spcPts val="5"/>
              </a:spcAft>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The importance of EWA in this paper lies in its role as a dynamic updating framework: it allows us to translate AI errors, self-errors, successful feedback, and initial AI preference into estimable changes in attraction, thereby explaining how participants adjust their reliance on AI and their preferred decision architecture across repeated feedback.</a:t>
            </a:r>
            <a:endParaRPr lang="en-US" altLang="zh-CN" sz="1200" b="0" i="0">
              <a:solidFill>
                <a:srgbClr val="231D17"/>
              </a:solidFill>
              <a:latin typeface="Times New Roman" panose="02020603050405020304"/>
              <a:ea typeface="Times New Roman" panose="02020603050405020304"/>
              <a:cs typeface="Times New Roman" panose="02020603050405020304"/>
            </a:endParaRPr>
          </a:p>
        </p:txBody>
      </p:sp>
      <p:sp>
        <p:nvSpPr>
          <p:cNvPr id="11" name="圆角矩形 10"/>
          <p:cNvSpPr>
            <a:spLocks noGrp="1"/>
          </p:cNvSpPr>
          <p:nvPr/>
        </p:nvSpPr>
        <p:spPr>
          <a:xfrm>
            <a:off x="1181100" y="4400550"/>
            <a:ext cx="3352800" cy="323850"/>
          </a:xfrm>
          <a:prstGeom prst="roundRect">
            <a:avLst>
              <a:gd name="adj" fmla="val 17647"/>
            </a:avLst>
          </a:prstGeom>
          <a:solidFill>
            <a:srgbClr val="F1E8DA"/>
          </a:solidFill>
          <a:ln w="9525">
            <a:solidFill>
              <a:srgbClr val="E7D4C3"/>
            </a:solidFill>
            <a:prstDash val="solid"/>
          </a:ln>
        </p:spPr>
      </p:sp>
      <p:sp>
        <p:nvSpPr>
          <p:cNvPr id="12" name="矩形 11"/>
          <p:cNvSpPr>
            <a:spLocks noGrp="1"/>
          </p:cNvSpPr>
          <p:nvPr/>
        </p:nvSpPr>
        <p:spPr>
          <a:xfrm>
            <a:off x="1314450" y="4476750"/>
            <a:ext cx="3086100" cy="171450"/>
          </a:xfrm>
          <a:prstGeom prst="rect">
            <a:avLst/>
          </a:prstGeom>
          <a:noFill/>
          <a:ln w="0">
            <a:noFill/>
            <a:prstDash val="solid"/>
          </a:ln>
        </p:spPr>
        <p:txBody>
          <a:bodyPr wrap="square" lIns="0" tIns="0" rIns="0" bIns="0" anchor="t">
            <a:normAutofit fontScale="74461"/>
          </a:bodyPr>
          <a:lstStyle/>
          <a:p>
            <a:pPr algn="ctr">
              <a:lnSpc>
                <a:spcPct val="106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Use EWA to model learning, not to replace the experimental comparison.</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5238750" y="2076450"/>
            <a:ext cx="6000750" cy="2819400"/>
          </a:xfrm>
          <a:prstGeom prst="roundRect">
            <a:avLst>
              <a:gd name="adj" fmla="val 4054"/>
            </a:avLst>
          </a:prstGeom>
          <a:solidFill>
            <a:srgbClr val="FFFFFF"/>
          </a:solidFill>
          <a:ln w="9525">
            <a:solidFill>
              <a:srgbClr val="D8CCBB"/>
            </a:solidFill>
            <a:prstDash val="solid"/>
          </a:ln>
        </p:spPr>
      </p:sp>
      <p:sp>
        <p:nvSpPr>
          <p:cNvPr id="14" name="矩形 13"/>
          <p:cNvSpPr>
            <a:spLocks noGrp="1"/>
          </p:cNvSpPr>
          <p:nvPr/>
        </p:nvSpPr>
        <p:spPr>
          <a:xfrm>
            <a:off x="5486400" y="2286000"/>
            <a:ext cx="4000500" cy="266700"/>
          </a:xfrm>
          <a:prstGeom prst="rect">
            <a:avLst/>
          </a:prstGeom>
          <a:noFill/>
          <a:ln w="0">
            <a:noFill/>
            <a:prstDash val="solid"/>
          </a:ln>
        </p:spPr>
        <p:txBody>
          <a:bodyPr wrap="square" lIns="0" tIns="0" rIns="0" bIns="0" anchor="t">
            <a:normAutofit fontScale="91719"/>
          </a:bodyPr>
          <a:lstStyle/>
          <a:p>
            <a:pPr algn="l">
              <a:lnSpc>
                <a:spcPct val="106000"/>
              </a:lnSpc>
              <a:buNone/>
              <a:defRPr sz="1800" b="1" i="0">
                <a:solidFill>
                  <a:srgbClr val="818A68"/>
                </a:solidFill>
                <a:latin typeface="Times New Roman" panose="02020603050405020304"/>
                <a:ea typeface="Times New Roman" panose="02020603050405020304"/>
                <a:cs typeface="Times New Roman" panose="02020603050405020304"/>
              </a:defRPr>
            </a:pPr>
            <a:r>
              <a:rPr sz="1800" b="1" i="0">
                <a:solidFill>
                  <a:srgbClr val="818A68"/>
                </a:solidFill>
                <a:latin typeface="Times New Roman" panose="02020603050405020304"/>
                <a:ea typeface="Times New Roman" panose="02020603050405020304"/>
                <a:cs typeface="Times New Roman" panose="02020603050405020304"/>
              </a:rPr>
              <a:t>Which RQ/H can EWA help test?</a:t>
            </a:r>
            <a:endParaRPr sz="1800" b="1" i="0">
              <a:solidFill>
                <a:srgbClr val="818A68"/>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5486400" y="2724150"/>
            <a:ext cx="1695450" cy="323850"/>
          </a:xfrm>
          <a:prstGeom prst="rect">
            <a:avLst/>
          </a:prstGeom>
          <a:solidFill>
            <a:srgbClr val="EDE5D8"/>
          </a:solidFill>
          <a:ln w="9525">
            <a:solidFill>
              <a:srgbClr val="D8CCBB"/>
            </a:solidFill>
            <a:prstDash val="solid"/>
          </a:ln>
        </p:spPr>
      </p:sp>
      <p:sp>
        <p:nvSpPr>
          <p:cNvPr id="16" name="矩形 15"/>
          <p:cNvSpPr>
            <a:spLocks noGrp="1"/>
          </p:cNvSpPr>
          <p:nvPr/>
        </p:nvSpPr>
        <p:spPr>
          <a:xfrm>
            <a:off x="5581650" y="2800350"/>
            <a:ext cx="1504950" cy="171450"/>
          </a:xfrm>
          <a:prstGeom prst="rect">
            <a:avLst/>
          </a:prstGeom>
          <a:noFill/>
          <a:ln w="0">
            <a:noFill/>
            <a:prstDash val="solid"/>
          </a:ln>
        </p:spPr>
        <p:txBody>
          <a:bodyPr wrap="square" lIns="0" tIns="0" rIns="0" bIns="0" anchor="ctr">
            <a:normAutofit fontScale="97087"/>
          </a:bodyPr>
          <a:lstStyle/>
          <a:p>
            <a:pPr algn="ctr">
              <a:lnSpc>
                <a:spcPct val="103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Paper 2 RQ / H</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7181850" y="2724150"/>
            <a:ext cx="3600450" cy="323850"/>
          </a:xfrm>
          <a:prstGeom prst="rect">
            <a:avLst/>
          </a:prstGeom>
          <a:solidFill>
            <a:srgbClr val="EDE5D8"/>
          </a:solidFill>
          <a:ln w="9525">
            <a:solidFill>
              <a:srgbClr val="D8CCBB"/>
            </a:solidFill>
            <a:prstDash val="solid"/>
          </a:ln>
        </p:spPr>
      </p:sp>
      <p:sp>
        <p:nvSpPr>
          <p:cNvPr id="18" name="矩形 17"/>
          <p:cNvSpPr>
            <a:spLocks noGrp="1"/>
          </p:cNvSpPr>
          <p:nvPr/>
        </p:nvSpPr>
        <p:spPr>
          <a:xfrm>
            <a:off x="7277100" y="2800350"/>
            <a:ext cx="3409950" cy="171450"/>
          </a:xfrm>
          <a:prstGeom prst="rect">
            <a:avLst/>
          </a:prstGeom>
          <a:noFill/>
          <a:ln w="0">
            <a:noFill/>
            <a:prstDash val="solid"/>
          </a:ln>
        </p:spPr>
        <p:txBody>
          <a:bodyPr wrap="square" lIns="0" tIns="0" rIns="0" bIns="0" anchor="ctr">
            <a:normAutofit fontScale="97087"/>
          </a:bodyPr>
          <a:lstStyle/>
          <a:p>
            <a:pPr algn="ctr">
              <a:lnSpc>
                <a:spcPct val="103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EWA model readout</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5486400" y="3048000"/>
            <a:ext cx="1695450" cy="361950"/>
          </a:xfrm>
          <a:prstGeom prst="rect">
            <a:avLst/>
          </a:prstGeom>
          <a:solidFill>
            <a:srgbClr val="FFFFFF"/>
          </a:solidFill>
          <a:ln w="9525">
            <a:solidFill>
              <a:srgbClr val="D8CCBB"/>
            </a:solidFill>
            <a:prstDash val="solid"/>
          </a:ln>
        </p:spPr>
      </p:sp>
      <p:sp>
        <p:nvSpPr>
          <p:cNvPr id="20" name="矩形 19"/>
          <p:cNvSpPr>
            <a:spLocks noGrp="1"/>
          </p:cNvSpPr>
          <p:nvPr/>
        </p:nvSpPr>
        <p:spPr>
          <a:xfrm>
            <a:off x="5581650" y="31242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H1 Dynamic updating</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7181850" y="3048000"/>
            <a:ext cx="3600450" cy="361950"/>
          </a:xfrm>
          <a:prstGeom prst="rect">
            <a:avLst/>
          </a:prstGeom>
          <a:solidFill>
            <a:srgbClr val="FFFFFF"/>
          </a:solidFill>
          <a:ln w="9525">
            <a:solidFill>
              <a:srgbClr val="D8CCBB"/>
            </a:solidFill>
            <a:prstDash val="solid"/>
          </a:ln>
        </p:spPr>
      </p:sp>
      <p:sp>
        <p:nvSpPr>
          <p:cNvPr id="22" name="矩形 21"/>
          <p:cNvSpPr>
            <a:spLocks noGrp="1"/>
          </p:cNvSpPr>
          <p:nvPr/>
        </p:nvSpPr>
        <p:spPr>
          <a:xfrm>
            <a:off x="7277100" y="31242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 AI and self attractions track relative performance?</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23" name="矩形 22"/>
          <p:cNvSpPr>
            <a:spLocks noGrp="1"/>
          </p:cNvSpPr>
          <p:nvPr/>
        </p:nvSpPr>
        <p:spPr>
          <a:xfrm>
            <a:off x="5486400" y="3409950"/>
            <a:ext cx="1695450" cy="361950"/>
          </a:xfrm>
          <a:prstGeom prst="rect">
            <a:avLst/>
          </a:prstGeom>
          <a:solidFill>
            <a:srgbClr val="FAF6EF"/>
          </a:solidFill>
          <a:ln w="9525">
            <a:solidFill>
              <a:srgbClr val="D8CCBB"/>
            </a:solidFill>
            <a:prstDash val="solid"/>
          </a:ln>
        </p:spPr>
      </p:sp>
      <p:sp>
        <p:nvSpPr>
          <p:cNvPr id="24" name="矩形 23"/>
          <p:cNvSpPr>
            <a:spLocks noGrp="1"/>
          </p:cNvSpPr>
          <p:nvPr/>
        </p:nvSpPr>
        <p:spPr>
          <a:xfrm>
            <a:off x="5581650" y="348615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H2 Shock penalty</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7181850" y="3409950"/>
            <a:ext cx="3600450" cy="361950"/>
          </a:xfrm>
          <a:prstGeom prst="rect">
            <a:avLst/>
          </a:prstGeom>
          <a:solidFill>
            <a:srgbClr val="FAF6EF"/>
          </a:solidFill>
          <a:ln w="9525">
            <a:solidFill>
              <a:srgbClr val="D8CCBB"/>
            </a:solidFill>
            <a:prstDash val="solid"/>
          </a:ln>
        </p:spPr>
      </p:sp>
      <p:sp>
        <p:nvSpPr>
          <p:cNvPr id="26" name="矩形 25"/>
          <p:cNvSpPr>
            <a:spLocks noGrp="1"/>
          </p:cNvSpPr>
          <p:nvPr/>
        </p:nvSpPr>
        <p:spPr>
          <a:xfrm>
            <a:off x="7277100" y="348615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Does clustered AI failure create extra AI-attraction loss?</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27" name="矩形 26"/>
          <p:cNvSpPr>
            <a:spLocks noGrp="1"/>
          </p:cNvSpPr>
          <p:nvPr/>
        </p:nvSpPr>
        <p:spPr>
          <a:xfrm>
            <a:off x="5486400" y="3771900"/>
            <a:ext cx="1695450" cy="361950"/>
          </a:xfrm>
          <a:prstGeom prst="rect">
            <a:avLst/>
          </a:prstGeom>
          <a:solidFill>
            <a:srgbClr val="FFFFFF"/>
          </a:solidFill>
          <a:ln w="9525">
            <a:solidFill>
              <a:srgbClr val="D8CCBB"/>
            </a:solidFill>
            <a:prstDash val="solid"/>
          </a:ln>
        </p:spPr>
      </p:sp>
      <p:sp>
        <p:nvSpPr>
          <p:cNvPr id="28" name="矩形 27"/>
          <p:cNvSpPr>
            <a:spLocks noGrp="1"/>
          </p:cNvSpPr>
          <p:nvPr/>
        </p:nvSpPr>
        <p:spPr>
          <a:xfrm>
            <a:off x="5581650" y="38481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H3 Recovery</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29" name="矩形 28"/>
          <p:cNvSpPr>
            <a:spLocks noGrp="1"/>
          </p:cNvSpPr>
          <p:nvPr/>
        </p:nvSpPr>
        <p:spPr>
          <a:xfrm>
            <a:off x="7181850" y="3771900"/>
            <a:ext cx="3600450" cy="361950"/>
          </a:xfrm>
          <a:prstGeom prst="rect">
            <a:avLst/>
          </a:prstGeom>
          <a:solidFill>
            <a:srgbClr val="FFFFFF"/>
          </a:solidFill>
          <a:ln w="9525">
            <a:solidFill>
              <a:srgbClr val="D8CCBB"/>
            </a:solidFill>
            <a:prstDash val="solid"/>
          </a:ln>
        </p:spPr>
      </p:sp>
      <p:sp>
        <p:nvSpPr>
          <p:cNvPr id="30" name="矩形 29"/>
          <p:cNvSpPr>
            <a:spLocks noGrp="1"/>
          </p:cNvSpPr>
          <p:nvPr/>
        </p:nvSpPr>
        <p:spPr>
          <a:xfrm>
            <a:off x="7277100" y="38481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Does attraction remain below the balanced path after recovery?</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31" name="矩形 30"/>
          <p:cNvSpPr>
            <a:spLocks noGrp="1"/>
          </p:cNvSpPr>
          <p:nvPr/>
        </p:nvSpPr>
        <p:spPr>
          <a:xfrm>
            <a:off x="5486400" y="4133850"/>
            <a:ext cx="1695450" cy="361950"/>
          </a:xfrm>
          <a:prstGeom prst="rect">
            <a:avLst/>
          </a:prstGeom>
          <a:solidFill>
            <a:srgbClr val="FAF6EF"/>
          </a:solidFill>
          <a:ln w="9525">
            <a:solidFill>
              <a:srgbClr val="D8CCBB"/>
            </a:solidFill>
            <a:prstDash val="solid"/>
          </a:ln>
        </p:spPr>
      </p:sp>
      <p:sp>
        <p:nvSpPr>
          <p:cNvPr id="32" name="矩形 31"/>
          <p:cNvSpPr>
            <a:spLocks noGrp="1"/>
          </p:cNvSpPr>
          <p:nvPr/>
        </p:nvSpPr>
        <p:spPr>
          <a:xfrm>
            <a:off x="5581650" y="421005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H4 Timing</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33" name="矩形 32"/>
          <p:cNvSpPr>
            <a:spLocks noGrp="1"/>
          </p:cNvSpPr>
          <p:nvPr/>
        </p:nvSpPr>
        <p:spPr>
          <a:xfrm>
            <a:off x="7181850" y="4133850"/>
            <a:ext cx="3600450" cy="361950"/>
          </a:xfrm>
          <a:prstGeom prst="rect">
            <a:avLst/>
          </a:prstGeom>
          <a:solidFill>
            <a:srgbClr val="FAF6EF"/>
          </a:solidFill>
          <a:ln w="9525">
            <a:solidFill>
              <a:srgbClr val="D8CCBB"/>
            </a:solidFill>
            <a:prstDash val="solid"/>
          </a:ln>
        </p:spPr>
      </p:sp>
      <p:sp>
        <p:nvSpPr>
          <p:cNvPr id="34" name="矩形 33"/>
          <p:cNvSpPr>
            <a:spLocks noGrp="1"/>
          </p:cNvSpPr>
          <p:nvPr/>
        </p:nvSpPr>
        <p:spPr>
          <a:xfrm>
            <a:off x="7277100" y="421005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Is early shock harder to repair than mid shock?</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35" name="矩形 34"/>
          <p:cNvSpPr>
            <a:spLocks noGrp="1"/>
          </p:cNvSpPr>
          <p:nvPr/>
        </p:nvSpPr>
        <p:spPr>
          <a:xfrm>
            <a:off x="5486400" y="4495800"/>
            <a:ext cx="1695450" cy="361950"/>
          </a:xfrm>
          <a:prstGeom prst="rect">
            <a:avLst/>
          </a:prstGeom>
          <a:solidFill>
            <a:srgbClr val="FFFFFF"/>
          </a:solidFill>
          <a:ln w="9525">
            <a:solidFill>
              <a:srgbClr val="D8CCBB"/>
            </a:solidFill>
            <a:prstDash val="solid"/>
          </a:ln>
        </p:spPr>
      </p:sp>
      <p:sp>
        <p:nvSpPr>
          <p:cNvPr id="36" name="矩形 35"/>
          <p:cNvSpPr>
            <a:spLocks noGrp="1"/>
          </p:cNvSpPr>
          <p:nvPr/>
        </p:nvSpPr>
        <p:spPr>
          <a:xfrm>
            <a:off x="5581650" y="45720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H5 Source asymmetry</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37" name="矩形 36"/>
          <p:cNvSpPr>
            <a:spLocks noGrp="1"/>
          </p:cNvSpPr>
          <p:nvPr/>
        </p:nvSpPr>
        <p:spPr>
          <a:xfrm>
            <a:off x="7181850" y="4495800"/>
            <a:ext cx="3600450" cy="361950"/>
          </a:xfrm>
          <a:prstGeom prst="rect">
            <a:avLst/>
          </a:prstGeom>
          <a:solidFill>
            <a:srgbClr val="FFFFFF"/>
          </a:solidFill>
          <a:ln w="9525">
            <a:solidFill>
              <a:srgbClr val="D8CCBB"/>
            </a:solidFill>
            <a:prstDash val="solid"/>
          </a:ln>
        </p:spPr>
      </p:sp>
      <p:sp>
        <p:nvSpPr>
          <p:cNvPr id="38" name="矩形 37"/>
          <p:cNvSpPr>
            <a:spLocks noGrp="1"/>
          </p:cNvSpPr>
          <p:nvPr/>
        </p:nvSpPr>
        <p:spPr>
          <a:xfrm>
            <a:off x="7277100" y="45720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Is negative updating stronger after AI misses than self misses?</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39" name="圆角矩形 38"/>
          <p:cNvSpPr>
            <a:spLocks noGrp="1"/>
          </p:cNvSpPr>
          <p:nvPr/>
        </p:nvSpPr>
        <p:spPr>
          <a:xfrm>
            <a:off x="914400" y="5143500"/>
            <a:ext cx="10325100" cy="838200"/>
          </a:xfrm>
          <a:prstGeom prst="roundRect">
            <a:avLst>
              <a:gd name="adj" fmla="val 13636"/>
            </a:avLst>
          </a:prstGeom>
          <a:solidFill>
            <a:srgbClr val="23384A"/>
          </a:solidFill>
          <a:ln w="9525">
            <a:solidFill>
              <a:srgbClr val="23384A"/>
            </a:solidFill>
            <a:prstDash val="solid"/>
          </a:ln>
        </p:spPr>
      </p:sp>
      <p:sp>
        <p:nvSpPr>
          <p:cNvPr id="40" name="矩形 39"/>
          <p:cNvSpPr>
            <a:spLocks noGrp="1"/>
          </p:cNvSpPr>
          <p:nvPr/>
        </p:nvSpPr>
        <p:spPr>
          <a:xfrm>
            <a:off x="1219200" y="5334000"/>
            <a:ext cx="3143250" cy="190500"/>
          </a:xfrm>
          <a:prstGeom prst="rect">
            <a:avLst/>
          </a:prstGeom>
          <a:noFill/>
          <a:ln w="0">
            <a:noFill/>
            <a:prstDash val="solid"/>
          </a:ln>
        </p:spPr>
        <p:txBody>
          <a:bodyPr wrap="square" lIns="0" tIns="0" rIns="0" bIns="0" anchor="t">
            <a:normAutofit fontScale="92490"/>
          </a:bodyPr>
          <a:lstStyle/>
          <a:p>
            <a:pPr algn="l">
              <a:lnSpc>
                <a:spcPct val="106000"/>
              </a:lnSpc>
              <a:buNone/>
              <a:defRPr sz="1275" b="1" i="0">
                <a:solidFill>
                  <a:srgbClr val="E7D4C3"/>
                </a:solidFill>
                <a:latin typeface="Times New Roman" panose="02020603050405020304"/>
                <a:ea typeface="Times New Roman" panose="02020603050405020304"/>
                <a:cs typeface="Times New Roman" panose="02020603050405020304"/>
              </a:defRPr>
            </a:pPr>
            <a:r>
              <a:rPr sz="1275" b="1" i="0">
                <a:solidFill>
                  <a:srgbClr val="E7D4C3"/>
                </a:solidFill>
                <a:latin typeface="Times New Roman" panose="02020603050405020304"/>
                <a:ea typeface="Times New Roman" panose="02020603050405020304"/>
                <a:cs typeface="Times New Roman" panose="02020603050405020304"/>
              </a:rPr>
              <a:t>Minimal model intuition</a:t>
            </a:r>
            <a:endParaRPr sz="1275" b="1" i="0">
              <a:solidFill>
                <a:srgbClr val="E7D4C3"/>
              </a:solidFill>
              <a:latin typeface="Times New Roman" panose="02020603050405020304"/>
              <a:ea typeface="Times New Roman" panose="02020603050405020304"/>
              <a:cs typeface="Times New Roman" panose="02020603050405020304"/>
            </a:endParaRPr>
          </a:p>
        </p:txBody>
      </p:sp>
      <p:sp>
        <p:nvSpPr>
          <p:cNvPr id="41" name="矩形 40"/>
          <p:cNvSpPr>
            <a:spLocks noGrp="1"/>
          </p:cNvSpPr>
          <p:nvPr/>
        </p:nvSpPr>
        <p:spPr>
          <a:xfrm>
            <a:off x="1219200" y="5600700"/>
            <a:ext cx="4000500" cy="247650"/>
          </a:xfrm>
          <a:prstGeom prst="rect">
            <a:avLst/>
          </a:prstGeom>
          <a:noFill/>
          <a:ln w="0">
            <a:noFill/>
            <a:prstDash val="solid"/>
          </a:ln>
        </p:spPr>
        <p:txBody>
          <a:bodyPr wrap="square" lIns="0" tIns="0" rIns="0" bIns="0" anchor="t">
            <a:normAutofit/>
          </a:bodyPr>
          <a:lstStyle/>
          <a:p>
            <a:pPr algn="l">
              <a:lnSpc>
                <a:spcPct val="106000"/>
              </a:lnSpc>
              <a:buNone/>
              <a:defRPr sz="1275" b="1" i="0">
                <a:solidFill>
                  <a:srgbClr val="F5F0E6"/>
                </a:solidFill>
                <a:latin typeface="Times New Roman" panose="02020603050405020304"/>
                <a:ea typeface="Times New Roman" panose="02020603050405020304"/>
                <a:cs typeface="Times New Roman" panose="02020603050405020304"/>
              </a:defRPr>
            </a:pPr>
            <a:r>
              <a:rPr sz="1275" b="1" i="0">
                <a:solidFill>
                  <a:srgbClr val="F5F0E6"/>
                </a:solidFill>
                <a:latin typeface="Times New Roman" panose="02020603050405020304"/>
                <a:ea typeface="Times New Roman" panose="02020603050405020304"/>
                <a:cs typeface="Times New Roman" panose="02020603050405020304"/>
              </a:rPr>
              <a:t>P(choose AI)t = f(AI attractiont - Self attractiont)</a:t>
            </a:r>
            <a:endParaRPr sz="1275" b="1" i="0">
              <a:solidFill>
                <a:srgbClr val="F5F0E6"/>
              </a:solidFill>
              <a:latin typeface="Times New Roman" panose="02020603050405020304"/>
              <a:ea typeface="Times New Roman" panose="02020603050405020304"/>
              <a:cs typeface="Times New Roman" panose="02020603050405020304"/>
            </a:endParaRPr>
          </a:p>
        </p:txBody>
      </p:sp>
      <p:sp>
        <p:nvSpPr>
          <p:cNvPr id="42" name="矩形 41"/>
          <p:cNvSpPr>
            <a:spLocks noGrp="1"/>
          </p:cNvSpPr>
          <p:nvPr/>
        </p:nvSpPr>
        <p:spPr>
          <a:xfrm>
            <a:off x="5715000" y="5334000"/>
            <a:ext cx="5105400" cy="495300"/>
          </a:xfrm>
          <a:prstGeom prst="rect">
            <a:avLst/>
          </a:prstGeom>
          <a:noFill/>
          <a:ln w="0">
            <a:noFill/>
            <a:prstDash val="solid"/>
          </a:ln>
        </p:spPr>
        <p:txBody>
          <a:bodyPr wrap="square" lIns="0" tIns="0" rIns="0" bIns="0" anchor="t">
            <a:normAutofit fontScale="88262"/>
          </a:bodyPr>
          <a:lstStyle/>
          <a:p>
            <a:pPr algn="l">
              <a:lnSpc>
                <a:spcPct val="108000"/>
              </a:lnSpc>
              <a:buNone/>
              <a:defRPr sz="1275" b="0" i="0">
                <a:solidFill>
                  <a:srgbClr val="F5F0E6"/>
                </a:solidFill>
                <a:latin typeface="Times New Roman" panose="02020603050405020304"/>
                <a:ea typeface="Times New Roman" panose="02020603050405020304"/>
                <a:cs typeface="Times New Roman" panose="02020603050405020304"/>
              </a:defRPr>
            </a:pPr>
            <a:r>
              <a:rPr sz="1275" b="0" i="0">
                <a:solidFill>
                  <a:srgbClr val="F5F0E6"/>
                </a:solidFill>
                <a:latin typeface="Times New Roman" panose="02020603050405020304"/>
                <a:ea typeface="Times New Roman" panose="02020603050405020304"/>
                <a:cs typeface="Times New Roman" panose="02020603050405020304"/>
              </a:rPr>
              <a:t>Reduced-form comparisons show whether reliance paths differ. EWA-inspired estimation tests whether the difference comes from asymmetric updating of source attraction.</a:t>
            </a:r>
            <a:endParaRPr sz="1275" b="0" i="0">
              <a:solidFill>
                <a:srgbClr val="F5F0E6"/>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
        <p:cNvGrpSpPr/>
        <p:nvPr/>
      </p:nvGrpSpPr>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fontScale="96304"/>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EXPECTED RESULTS AND CONTRIBUTION</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We first expect a visible path effect and then explain why it persists</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expected contribution is to identify path-dependent under-reliance after AI errors under matched average quality.</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nvSpPr>
        <p:spPr>
          <a:xfrm>
            <a:off x="914400" y="2057400"/>
            <a:ext cx="5829300" cy="2990850"/>
          </a:xfrm>
          <a:prstGeom prst="roundRect">
            <a:avLst>
              <a:gd name="adj" fmla="val 3822"/>
            </a:avLst>
          </a:prstGeom>
          <a:solidFill>
            <a:srgbClr val="FFFFFF"/>
          </a:solidFill>
          <a:ln w="9525">
            <a:solidFill>
              <a:srgbClr val="D8CCBB"/>
            </a:solidFill>
            <a:prstDash val="solid"/>
          </a:ln>
        </p:spPr>
      </p:sp>
      <p:sp>
        <p:nvSpPr>
          <p:cNvPr id="8" name="矩形 7"/>
          <p:cNvSpPr>
            <a:spLocks noGrp="1"/>
          </p:cNvSpPr>
          <p:nvPr/>
        </p:nvSpPr>
        <p:spPr>
          <a:xfrm>
            <a:off x="1123950" y="226695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Expected reliance path</a:t>
            </a:r>
            <a:endParaRPr sz="1350" b="1" i="0">
              <a:solidFill>
                <a:srgbClr val="B77845"/>
              </a:solidFill>
              <a:latin typeface="Times New Roman" panose="02020603050405020304"/>
              <a:ea typeface="Times New Roman" panose="02020603050405020304"/>
              <a:cs typeface="Times New Roman" panose="02020603050405020304"/>
            </a:endParaRPr>
          </a:p>
        </p:txBody>
      </p:sp>
      <p:graphicFrame>
        <p:nvGraphicFramePr>
          <p:cNvPr id="22" name="Chart"/>
          <p:cNvGraphicFramePr/>
          <p:nvPr/>
        </p:nvGraphicFramePr>
        <p:xfrm>
          <a:off x="1257300" y="2667000"/>
          <a:ext cx="5219700" cy="1962150"/>
        </p:xfrm>
        <a:graphic>
          <a:graphicData uri="http://schemas.openxmlformats.org/drawingml/2006/chart">
            <c:chart xmlns:c="http://schemas.openxmlformats.org/drawingml/2006/chart" xmlns:r="http://schemas.openxmlformats.org/officeDocument/2006/relationships" r:id="rId1"/>
          </a:graphicData>
        </a:graphic>
      </p:graphicFrame>
      <p:sp>
        <p:nvSpPr>
          <p:cNvPr id="9" name="圆角矩形 8"/>
          <p:cNvSpPr>
            <a:spLocks noGrp="1"/>
          </p:cNvSpPr>
          <p:nvPr/>
        </p:nvSpPr>
        <p:spPr>
          <a:xfrm>
            <a:off x="7239000" y="2057400"/>
            <a:ext cx="3962400" cy="2990850"/>
          </a:xfrm>
          <a:prstGeom prst="roundRect">
            <a:avLst>
              <a:gd name="adj" fmla="val 3822"/>
            </a:avLst>
          </a:prstGeom>
          <a:solidFill>
            <a:srgbClr val="FFFFFF"/>
          </a:solidFill>
          <a:ln w="9525">
            <a:solidFill>
              <a:srgbClr val="D8CCBB"/>
            </a:solidFill>
            <a:prstDash val="solid"/>
          </a:ln>
        </p:spPr>
      </p:sp>
      <p:sp>
        <p:nvSpPr>
          <p:cNvPr id="10" name="矩形 9"/>
          <p:cNvSpPr>
            <a:spLocks noGrp="1"/>
          </p:cNvSpPr>
          <p:nvPr/>
        </p:nvSpPr>
        <p:spPr>
          <a:xfrm>
            <a:off x="7448550" y="2266950"/>
            <a:ext cx="3048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Contribution</a:t>
            </a:r>
            <a:endParaRPr sz="1350" b="1" i="0">
              <a:solidFill>
                <a:srgbClr val="818A68"/>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7448550" y="2686050"/>
            <a:ext cx="3295650" cy="17335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Moves beyond one-shot algorithm aversion toward repeated dynamic reliance.</a:t>
            </a:r>
            <a:endParaRPr sz="1275"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Uses timing variation plus parity control to identify path effects rather than simple quality differences.</a:t>
            </a:r>
            <a:endParaRPr sz="1275"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Links visible path divergence to asymmetric learning without letting the EWA layer dominate the story.</a:t>
            </a:r>
            <a:endParaRPr sz="1275" b="0" i="0">
              <a:solidFill>
                <a:srgbClr val="231D17"/>
              </a:solidFill>
              <a:latin typeface="Times New Roman" panose="02020603050405020304"/>
              <a:ea typeface="Times New Roman" panose="02020603050405020304"/>
              <a:cs typeface="Times New Roman" panose="02020603050405020304"/>
            </a:endParaRPr>
          </a:p>
        </p:txBody>
      </p:sp>
      <p:sp>
        <p:nvSpPr>
          <p:cNvPr id="12" name="圆角矩形 11"/>
          <p:cNvSpPr>
            <a:spLocks noGrp="1"/>
          </p:cNvSpPr>
          <p:nvPr/>
        </p:nvSpPr>
        <p:spPr>
          <a:xfrm>
            <a:off x="914400" y="5372100"/>
            <a:ext cx="10287000" cy="704850"/>
          </a:xfrm>
          <a:prstGeom prst="roundRect">
            <a:avLst>
              <a:gd name="adj" fmla="val 16216"/>
            </a:avLst>
          </a:prstGeom>
          <a:solidFill>
            <a:srgbClr val="F1E8DA"/>
          </a:solidFill>
          <a:ln w="9525">
            <a:solidFill>
              <a:srgbClr val="E7D4C3"/>
            </a:solidFill>
            <a:prstDash val="solid"/>
          </a:ln>
        </p:spPr>
      </p:sp>
      <p:sp>
        <p:nvSpPr>
          <p:cNvPr id="13" name="圆角矩形 12"/>
          <p:cNvSpPr>
            <a:spLocks noGrp="1"/>
          </p:cNvSpPr>
          <p:nvPr/>
        </p:nvSpPr>
        <p:spPr>
          <a:xfrm>
            <a:off x="914400" y="5372100"/>
            <a:ext cx="57150" cy="704850"/>
          </a:xfrm>
          <a:prstGeom prst="roundRect">
            <a:avLst>
              <a:gd name="adj" fmla="val 33333"/>
            </a:avLst>
          </a:prstGeom>
          <a:solidFill>
            <a:srgbClr val="B77845"/>
          </a:solidFill>
          <a:ln w="9525">
            <a:solidFill>
              <a:srgbClr val="B77845"/>
            </a:solidFill>
            <a:prstDash val="solid"/>
          </a:ln>
        </p:spPr>
      </p:sp>
      <p:sp>
        <p:nvSpPr>
          <p:cNvPr id="14" name="矩形 13"/>
          <p:cNvSpPr>
            <a:spLocks noGrp="1"/>
          </p:cNvSpPr>
          <p:nvPr/>
        </p:nvSpPr>
        <p:spPr>
          <a:xfrm>
            <a:off x="1162050" y="5581650"/>
            <a:ext cx="9715500" cy="266700"/>
          </a:xfrm>
          <a:prstGeom prst="rect">
            <a:avLst/>
          </a:prstGeom>
          <a:noFill/>
          <a:ln w="0">
            <a:noFill/>
            <a:prstDash val="solid"/>
          </a:ln>
        </p:spPr>
        <p:txBody>
          <a:bodyPr wrap="square" lIns="0" tIns="0" rIns="0" bIns="0" anchor="t">
            <a:normAutofit fontScale="84155"/>
          </a:bodyPr>
          <a:lstStyle/>
          <a:p>
            <a:pPr algn="ctr">
              <a:lnSpc>
                <a:spcPct val="108000"/>
              </a:lnSpc>
              <a:buNone/>
              <a:defRPr sz="1425" b="1" i="0">
                <a:solidFill>
                  <a:srgbClr val="231D17"/>
                </a:solidFill>
                <a:latin typeface="Times New Roman" panose="02020603050405020304"/>
                <a:ea typeface="Times New Roman" panose="02020603050405020304"/>
                <a:cs typeface="Times New Roman" panose="02020603050405020304"/>
              </a:defRPr>
            </a:pPr>
            <a:r>
              <a:rPr sz="1425" b="1" i="0">
                <a:solidFill>
                  <a:srgbClr val="231D17"/>
                </a:solidFill>
                <a:latin typeface="Times New Roman" panose="02020603050405020304"/>
                <a:ea typeface="Times New Roman" panose="02020603050405020304"/>
                <a:cs typeface="Times New Roman" panose="02020603050405020304"/>
              </a:rPr>
              <a:t>Takeaway: under matched average performance, early AI misses may generate a more persistent under-reliance path than later or distributed misses.</a:t>
            </a:r>
            <a:endParaRPr sz="1425" b="1"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tags/tag1.xml><?xml version="1.0" encoding="utf-8"?>
<p:tagLst xmlns:p="http://schemas.openxmlformats.org/presentationml/2006/main">
  <p:tag name="KSO_WM_DIAGRAM_VIRTUALLY_FRAME" val="{&quot;height&quot;:214.5,&quot;left&quot;:72,&quot;top&quot;:172.5,&quot;width&quot;:813}"/>
</p:tagLst>
</file>

<file path=ppt/tags/tag2.xml><?xml version="1.0" encoding="utf-8"?>
<p:tagLst xmlns:p="http://schemas.openxmlformats.org/presentationml/2006/main">
  <p:tag name="KSO_WM_DIAGRAM_VIRTUALLY_FRAME" val="{&quot;height&quot;:214.5,&quot;left&quot;:72,&quot;top&quot;:172.5,&quot;width&quot;:813}"/>
</p:tagLst>
</file>

<file path=ppt/tags/tag3.xml><?xml version="1.0" encoding="utf-8"?>
<p:tagLst xmlns:p="http://schemas.openxmlformats.org/presentationml/2006/main">
  <p:tag name="KSO_WM_DIAGRAM_VIRTUALLY_FRAME" val="{&quot;height&quot;:214.5,&quot;left&quot;:72,&quot;top&quot;:172.5,&quot;width&quot;:813}"/>
</p:tagLst>
</file>

<file path=ppt/tags/tag4.xml><?xml version="1.0" encoding="utf-8"?>
<p:tagLst xmlns:p="http://schemas.openxmlformats.org/presentationml/2006/main">
  <p:tag name="KSO_WM_DIAGRAM_VIRTUALLY_FRAME" val="{&quot;height&quot;:214.5,&quot;left&quot;:72,&quot;top&quot;:172.5,&quot;width&quot;:813}"/>
</p:tagLst>
</file>

<file path=ppt/tags/tag5.xml><?xml version="1.0" encoding="utf-8"?>
<p:tagLst xmlns:p="http://schemas.openxmlformats.org/presentationml/2006/main">
  <p:tag name="KSO_WM_DIAGRAM_VIRTUALLY_FRAME" val="{&quot;height&quot;:214.5,&quot;left&quot;:72,&quot;top&quot;:172.5,&quot;width&quot;:813}"/>
</p:tagLst>
</file>

<file path=ppt/tags/tag6.xml><?xml version="1.0" encoding="utf-8"?>
<p:tagLst xmlns:p="http://schemas.openxmlformats.org/presentationml/2006/main">
  <p:tag name="KSO_WM_DIAGRAM_VIRTUALLY_FRAME" val="{&quot;height&quot;:214.5,&quot;left&quot;:72,&quot;top&quot;:172.5,&quot;width&quot;:813}"/>
</p:tagLst>
</file>

<file path=ppt/tags/tag7.xml><?xml version="1.0" encoding="utf-8"?>
<p:tagLst xmlns:p="http://schemas.openxmlformats.org/presentationml/2006/main">
  <p:tag name="KSO_WM_DIAGRAM_VIRTUALLY_FRAME" val="{&quot;height&quot;:214.5,&quot;left&quot;:72,&quot;top&quot;:172.5,&quot;width&quot;:813}"/>
</p:tagLst>
</file>

<file path=ppt/tags/tag8.xml><?xml version="1.0" encoding="utf-8"?>
<p:tagLst xmlns:p="http://schemas.openxmlformats.org/presentationml/2006/main">
  <p:tag name="KSO_WM_DIAGRAM_VIRTUALLY_FRAME" val="{&quot;height&quot;:214.5,&quot;left&quot;:72,&quot;top&quot;:172.5,&quot;width&quot;:813}"/>
</p:tagLst>
</file>

<file path=ppt/tags/tag9.xml><?xml version="1.0" encoding="utf-8"?>
<p:tagLst xmlns:p="http://schemas.openxmlformats.org/presentationml/2006/main">
  <p:tag name="KSO_WM_DIAGRAM_VIRTUALLY_FRAME" val="{&quot;height&quot;:276.25,&quot;left&quot;:60.45,&quot;top&quot;:145.25,&quot;width&quot;:824.55}"/>
</p:tagLst>
</file>

<file path=ppt/tags/tag10.xml><?xml version="1.0" encoding="utf-8"?>
<p:tagLst xmlns:p="http://schemas.openxmlformats.org/presentationml/2006/main">
  <p:tag name="KSO_WM_DIAGRAM_VIRTUALLY_FRAME" val="{&quot;height&quot;:276.25,&quot;left&quot;:60.45,&quot;top&quot;:145.25,&quot;width&quot;:824.55}"/>
</p:tagLst>
</file>

<file path=ppt/tags/tag11.xml><?xml version="1.0" encoding="utf-8"?>
<p:tagLst xmlns:p="http://schemas.openxmlformats.org/presentationml/2006/main">
  <p:tag name="KSO_WM_DIAGRAM_VIRTUALLY_FRAME" val="{&quot;height&quot;:276.25,&quot;left&quot;:60.45,&quot;top&quot;:145.25,&quot;width&quot;:824.55}"/>
</p:tagLst>
</file>

<file path=ppt/tags/tag12.xml><?xml version="1.0" encoding="utf-8"?>
<p:tagLst xmlns:p="http://schemas.openxmlformats.org/presentationml/2006/main">
  <p:tag name="KSO_WM_DIAGRAM_VIRTUALLY_FRAME" val="{&quot;height&quot;:276.25,&quot;left&quot;:60.45,&quot;top&quot;:145.25,&quot;width&quot;:824.55}"/>
</p:tagLst>
</file>

<file path=ppt/tags/tag13.xml><?xml version="1.0" encoding="utf-8"?>
<p:tagLst xmlns:p="http://schemas.openxmlformats.org/presentationml/2006/main">
  <p:tag name="KSO_WM_DIAGRAM_VIRTUALLY_FRAME" val="{&quot;height&quot;:276.25,&quot;left&quot;:60.45,&quot;top&quot;:145.25,&quot;width&quot;:824.55}"/>
</p:tagLst>
</file>

<file path=ppt/tags/tag14.xml><?xml version="1.0" encoding="utf-8"?>
<p:tagLst xmlns:p="http://schemas.openxmlformats.org/presentationml/2006/main">
  <p:tag name="KSO_WM_DIAGRAM_VIRTUALLY_FRAME" val="{&quot;height&quot;:276.25,&quot;left&quot;:60.45,&quot;top&quot;:145.25,&quot;width&quot;:824.55}"/>
</p:tagLst>
</file>

<file path=ppt/tags/tag15.xml><?xml version="1.0" encoding="utf-8"?>
<p:tagLst xmlns:p="http://schemas.openxmlformats.org/presentationml/2006/main">
  <p:tag name="KSO_WM_DIAGRAM_VIRTUALLY_FRAME" val="{&quot;height&quot;:276.25,&quot;left&quot;:60.45,&quot;top&quot;:145.25,&quot;width&quot;:824.55}"/>
</p:tagLst>
</file>

<file path=ppt/tags/tag16.xml><?xml version="1.0" encoding="utf-8"?>
<p:tagLst xmlns:p="http://schemas.openxmlformats.org/presentationml/2006/main">
  <p:tag name="KSO_WM_DIAGRAM_VIRTUALLY_FRAME" val="{&quot;height&quot;:276.25,&quot;left&quot;:60.45,&quot;top&quot;:145.25,&quot;width&quot;:824.55}"/>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12015</Words>
  <Application>WPS 演示</Application>
  <PresentationFormat>Converted Presentation</PresentationFormat>
  <Paragraphs>482</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宋体</vt:lpstr>
      <vt:lpstr>Wingdings</vt:lpstr>
      <vt:lpstr>Times New Roman</vt:lpstr>
      <vt:lpstr>微软雅黑</vt:lpstr>
      <vt:lpstr>Arial Unicode MS</vt:lpstr>
      <vt:lpstr>Calibri</vt:lpstr>
      <vt:lpstr>Aptos</vt:lpstr>
      <vt:lpstr>Segoe UI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汉克克克克克克克</cp:lastModifiedBy>
  <cp:revision>14</cp:revision>
  <dcterms:created xsi:type="dcterms:W3CDTF">2026-07-06T10:35:56Z</dcterms:created>
  <dcterms:modified xsi:type="dcterms:W3CDTF">2026-07-06T13:13:57Z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3DCE03FD1EA441EC89EABDA4E2DA36B6_12</vt:lpwstr>
  </property>
</Properties>
</file>