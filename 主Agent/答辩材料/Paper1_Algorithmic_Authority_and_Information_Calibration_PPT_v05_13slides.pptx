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2" r:id="rId8"/>
    <p:sldId id="263" r:id="rId9"/>
    <p:sldId id="264" r:id="rId10"/>
    <p:sldId id="265" r:id="rId11"/>
    <p:sldId id="266" r:id="rId12"/>
    <p:sldId id="269" r:id="rId13"/>
    <p:sldId id="267" r:id="rId14"/>
    <p:sldId id="268"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endParaRPr lang="en-US">
              <a:latin typeface="Times New Roman" panose="02020603050405020304" pitchFamily="18" charset="0"/>
            </a:endParaRPr>
          </a:p>
          <a:p>
            <a:r>
              <a:rPr lang="en-US">
                <a:latin typeface="Times New Roman" panose="02020603050405020304" pitchFamily="18" charset="0"/>
              </a:rPr>
              <a:t>This paper focuses how people move from evidence to belief.</a:t>
            </a:r>
            <a:endParaRPr lang="en-US">
              <a:latin typeface="Times New Roman" panose="02020603050405020304" pitchFamily="18" charset="0"/>
            </a:endParaRPr>
          </a:p>
          <a:p>
            <a:r>
              <a:rPr lang="en-US">
                <a:latin typeface="Times New Roman" panose="02020603050405020304" pitchFamily="18" charset="0"/>
              </a:rPr>
              <a:t>The basic idea is simple.</a:t>
            </a:r>
            <a:endParaRPr lang="en-US">
              <a:latin typeface="Times New Roman" panose="02020603050405020304" pitchFamily="18" charset="0"/>
            </a:endParaRPr>
          </a:p>
          <a:p>
            <a:r>
              <a:rPr lang="en-US">
                <a:latin typeface="Times New Roman" panose="02020603050405020304" pitchFamily="18" charset="0"/>
              </a:rPr>
              <a:t>Generative AI does not only give people an answer faster.</a:t>
            </a:r>
            <a:endParaRPr lang="en-US">
              <a:latin typeface="Times New Roman" panose="02020603050405020304" pitchFamily="18" charset="0"/>
            </a:endParaRPr>
          </a:p>
          <a:p>
            <a:r>
              <a:rPr lang="en-US">
                <a:latin typeface="Times New Roman" panose="02020603050405020304" pitchFamily="18" charset="0"/>
              </a:rPr>
              <a:t>It may also change when people feel they have already seen enough evidence.</a:t>
            </a:r>
            <a:endParaRPr lang="en-US">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endParaRPr lang="en-US">
              <a:latin typeface="Times New Roman" panose="02020603050405020304" pitchFamily="18" charset="0"/>
            </a:endParaRPr>
          </a:p>
          <a:p>
            <a:r>
              <a:rPr lang="en-US">
                <a:latin typeface="Times New Roman" panose="02020603050405020304" pitchFamily="18" charset="0"/>
              </a:rPr>
              <a:t>When we use a search engine, we usually see evidence first.</a:t>
            </a:r>
            <a:endParaRPr lang="en-US">
              <a:latin typeface="Times New Roman" panose="02020603050405020304" pitchFamily="18" charset="0"/>
            </a:endParaRPr>
          </a:p>
          <a:p>
            <a:r>
              <a:rPr lang="en-US">
                <a:latin typeface="Times New Roman" panose="02020603050405020304" pitchFamily="18" charset="0"/>
              </a:rPr>
              <a:t>We open different links.</a:t>
            </a:r>
            <a:endParaRPr lang="en-US">
              <a:latin typeface="Times New Roman" panose="02020603050405020304" pitchFamily="18" charset="0"/>
            </a:endParaRPr>
          </a:p>
          <a:p>
            <a:r>
              <a:rPr lang="en-US">
                <a:latin typeface="Times New Roman" panose="02020603050405020304" pitchFamily="18" charset="0"/>
              </a:rPr>
              <a:t>We compare sources.</a:t>
            </a:r>
            <a:endParaRPr lang="en-US">
              <a:latin typeface="Times New Roman" panose="02020603050405020304" pitchFamily="18" charset="0"/>
            </a:endParaRPr>
          </a:p>
          <a:p>
            <a:r>
              <a:rPr lang="en-US">
                <a:latin typeface="Times New Roman" panose="02020603050405020304" pitchFamily="18" charset="0"/>
              </a:rPr>
              <a:t>We notice disagreement.</a:t>
            </a:r>
            <a:endParaRPr lang="en-US">
              <a:latin typeface="Times New Roman" panose="02020603050405020304" pitchFamily="18" charset="0"/>
            </a:endParaRPr>
          </a:p>
          <a:p>
            <a:r>
              <a:rPr lang="en-US">
                <a:latin typeface="Times New Roman" panose="02020603050405020304" pitchFamily="18" charset="0"/>
              </a:rPr>
              <a:t>Then we slowly form our own judgment.</a:t>
            </a:r>
            <a:endParaRPr lang="en-US">
              <a:latin typeface="Times New Roman" panose="02020603050405020304" pitchFamily="18" charset="0"/>
            </a:endParaRPr>
          </a:p>
          <a:p>
            <a:r>
              <a:rPr lang="en-US">
                <a:latin typeface="Times New Roman" panose="02020603050405020304" pitchFamily="18" charset="0"/>
              </a:rPr>
              <a:t>But when we use an AI assistant, the order is often reversed.</a:t>
            </a:r>
            <a:endParaRPr lang="en-US">
              <a:latin typeface="Times New Roman" panose="02020603050405020304" pitchFamily="18" charset="0"/>
            </a:endParaRPr>
          </a:p>
          <a:p>
            <a:r>
              <a:rPr lang="en-US">
                <a:latin typeface="Times New Roman" panose="02020603050405020304" pitchFamily="18" charset="0"/>
              </a:rPr>
              <a:t>We first receive a summarized answer.</a:t>
            </a:r>
            <a:endParaRPr lang="en-US">
              <a:latin typeface="Times New Roman" panose="02020603050405020304" pitchFamily="18" charset="0"/>
            </a:endParaRPr>
          </a:p>
          <a:p>
            <a:r>
              <a:rPr lang="en-US">
                <a:latin typeface="Times New Roman" panose="02020603050405020304" pitchFamily="18" charset="0"/>
              </a:rPr>
              <a:t>The answer may already include an explanation, an example, and a conclusion.</a:t>
            </a:r>
            <a:endParaRPr lang="en-US">
              <a:latin typeface="Times New Roman" panose="02020603050405020304" pitchFamily="18" charset="0"/>
            </a:endParaRPr>
          </a:p>
          <a:p>
            <a:r>
              <a:rPr lang="en-US">
                <a:latin typeface="Times New Roman" panose="02020603050405020304" pitchFamily="18" charset="0"/>
              </a:rPr>
              <a:t>Only after that do we decide whether we want to verify it.</a:t>
            </a:r>
            <a:endParaRPr lang="en-US">
              <a:latin typeface="Times New Roman" panose="02020603050405020304" pitchFamily="18" charset="0"/>
            </a:endParaRPr>
          </a:p>
          <a:p>
            <a:r>
              <a:rPr lang="en-US">
                <a:latin typeface="Times New Roman" panose="02020603050405020304" pitchFamily="18" charset="0"/>
              </a:rPr>
              <a:t>So the difference is not only speed.</a:t>
            </a:r>
            <a:endParaRPr lang="en-US">
              <a:latin typeface="Times New Roman" panose="02020603050405020304" pitchFamily="18" charset="0"/>
            </a:endParaRPr>
          </a:p>
          <a:p>
            <a:r>
              <a:rPr lang="en-US">
                <a:latin typeface="Times New Roman" panose="02020603050405020304" pitchFamily="18" charset="0"/>
              </a:rPr>
              <a:t>The deeper difference is the order of the process.</a:t>
            </a:r>
            <a:endParaRPr lang="en-US">
              <a:latin typeface="Times New Roman" panose="02020603050405020304" pitchFamily="18" charset="0"/>
            </a:endParaRP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endParaRPr lang="en-US">
              <a:latin typeface="Times New Roman" panose="02020603050405020304" pitchFamily="18" charset="0"/>
            </a:endParaRPr>
          </a:p>
          <a:p>
            <a:r>
              <a:rPr lang="en-US">
                <a:latin typeface="Times New Roman" panose="02020603050405020304" pitchFamily="18" charset="0"/>
              </a:rPr>
              <a:t>If people search less after seeing an AI answer, should we worry?</a:t>
            </a:r>
            <a:endParaRPr lang="en-US">
              <a:latin typeface="Times New Roman" panose="02020603050405020304" pitchFamily="18" charset="0"/>
            </a:endParaRPr>
          </a:p>
          <a:p>
            <a:r>
              <a:rPr lang="en-US">
                <a:latin typeface="Times New Roman" panose="02020603050405020304" pitchFamily="18" charset="0"/>
              </a:rPr>
              <a:t>Not necessarily.</a:t>
            </a:r>
            <a:endParaRPr lang="en-US">
              <a:latin typeface="Times New Roman" panose="02020603050405020304" pitchFamily="18" charset="0"/>
            </a:endParaRPr>
          </a:p>
          <a:p>
            <a:r>
              <a:rPr lang="en-US">
                <a:latin typeface="Times New Roman" panose="02020603050405020304" pitchFamily="18" charset="0"/>
              </a:rPr>
              <a:t>Less search can mean two very different things.</a:t>
            </a:r>
            <a:endParaRPr lang="en-US">
              <a:latin typeface="Times New Roman" panose="02020603050405020304" pitchFamily="18" charset="0"/>
            </a:endParaRPr>
          </a:p>
          <a:p>
            <a:r>
              <a:rPr lang="en-US">
                <a:latin typeface="Times New Roman" panose="02020603050405020304" pitchFamily="18" charset="0"/>
              </a:rPr>
              <a:t>In the first case, AI has already compressed useful evidence well.</a:t>
            </a:r>
            <a:endParaRPr lang="en-US">
              <a:latin typeface="Times New Roman" panose="02020603050405020304" pitchFamily="18" charset="0"/>
            </a:endParaRPr>
          </a:p>
          <a:p>
            <a:r>
              <a:rPr lang="en-US">
                <a:latin typeface="Times New Roman" panose="02020603050405020304" pitchFamily="18" charset="0"/>
              </a:rPr>
              <a:t>Then the user searches less, but the final judgment does not become worse.</a:t>
            </a:r>
            <a:endParaRPr lang="en-US">
              <a:latin typeface="Times New Roman" panose="02020603050405020304" pitchFamily="18" charset="0"/>
            </a:endParaRPr>
          </a:p>
          <a:p>
            <a:r>
              <a:rPr lang="en-US">
                <a:latin typeface="Times New Roman" panose="02020603050405020304" pitchFamily="18" charset="0"/>
              </a:rPr>
              <a:t>But in the second case, the user searches less because the AI answer makes the evidence feel more complete than it really is.</a:t>
            </a:r>
            <a:endParaRPr lang="en-US">
              <a:latin typeface="Times New Roman" panose="02020603050405020304" pitchFamily="18" charset="0"/>
            </a:endParaRPr>
          </a:p>
          <a:p>
            <a:r>
              <a:rPr lang="en-US">
                <a:latin typeface="Times New Roman" panose="02020603050405020304" pitchFamily="18" charset="0"/>
              </a:rPr>
              <a:t>Then the user may stop too early, and the final judgment may become worse.</a:t>
            </a:r>
            <a:endParaRPr lang="en-US">
              <a:latin typeface="Times New Roman" panose="02020603050405020304" pitchFamily="18" charset="0"/>
            </a:endParaRPr>
          </a:p>
          <a:p>
            <a:r>
              <a:rPr lang="en-US">
                <a:latin typeface="Times New Roman" panose="02020603050405020304" pitchFamily="18" charset="0"/>
              </a:rPr>
              <a:t>That is harmful under-search.</a:t>
            </a:r>
            <a:endParaRPr lang="en-US">
              <a:latin typeface="Times New Roman" panose="02020603050405020304" pitchFamily="18" charset="0"/>
            </a:endParaRP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endParaRPr lang="en-US">
              <a:latin typeface="Times New Roman" panose="02020603050405020304" pitchFamily="18" charset="0"/>
            </a:endParaRP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endParaRPr lang="en-US">
              <a:latin typeface="Times New Roman" panose="02020603050405020304" pitchFamily="18" charset="0"/>
            </a:endParaRPr>
          </a:p>
          <a:p>
            <a:r>
              <a:rPr lang="en-US">
                <a:latin typeface="Times New Roman" panose="02020603050405020304" pitchFamily="18" charset="0"/>
              </a:rPr>
              <a:t>So my paper separates three things.</a:t>
            </a:r>
            <a:endParaRPr lang="en-US">
              <a:latin typeface="Times New Roman" panose="02020603050405020304" pitchFamily="18" charset="0"/>
            </a:endParaRPr>
          </a:p>
          <a:p>
            <a:r>
              <a:rPr lang="en-US">
                <a:latin typeface="Times New Roman" panose="02020603050405020304" pitchFamily="18" charset="0"/>
              </a:rPr>
              <a:t>How much people search.</a:t>
            </a:r>
            <a:endParaRPr lang="en-US">
              <a:latin typeface="Times New Roman" panose="02020603050405020304" pitchFamily="18" charset="0"/>
            </a:endParaRPr>
          </a:p>
          <a:p>
            <a:r>
              <a:rPr lang="en-US">
                <a:latin typeface="Times New Roman" panose="02020603050405020304" pitchFamily="18" charset="0"/>
              </a:rPr>
              <a:t>Whether their final belief is close to the evidence.</a:t>
            </a:r>
            <a:endParaRPr lang="en-US">
              <a:latin typeface="Times New Roman" panose="02020603050405020304" pitchFamily="18" charset="0"/>
            </a:endParaRPr>
          </a:p>
          <a:p>
            <a:r>
              <a:rPr lang="en-US">
                <a:latin typeface="Times New Roman" panose="02020603050405020304" pitchFamily="18" charset="0"/>
              </a:rPr>
              <a:t>And how much they feel they understand the issue.</a:t>
            </a:r>
            <a:endParaRPr lang="en-US">
              <a:latin typeface="Times New Roman" panose="02020603050405020304" pitchFamily="18" charset="0"/>
            </a:endParaRP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endParaRPr lang="en-US" altLang="zh-CN">
              <a:latin typeface="Times New Roman" panose="02020603050405020304" pitchFamily="18" charset="0"/>
            </a:endParaRPr>
          </a:p>
          <a:p>
            <a:r>
              <a:rPr lang="en-US" altLang="zh-CN">
                <a:latin typeface="Times New Roman" panose="02020603050405020304" pitchFamily="18" charset="0"/>
              </a:rPr>
              <a:t>After people see an AI answer, do they still want to look for more evidence?</a:t>
            </a:r>
            <a:endParaRPr lang="en-US" altLang="zh-CN">
              <a:latin typeface="Times New Roman" panose="02020603050405020304" pitchFamily="18" charset="0"/>
            </a:endParaRPr>
          </a:p>
          <a:p>
            <a:r>
              <a:rPr lang="en-US" altLang="zh-CN">
                <a:latin typeface="Times New Roman" panose="02020603050405020304" pitchFamily="18" charset="0"/>
              </a:rPr>
              <a:t>Or do they feel that the answer is already enough?</a:t>
            </a:r>
            <a:endParaRPr lang="en-US" altLang="zh-CN">
              <a:latin typeface="Times New Roman" panose="02020603050405020304" pitchFamily="18" charset="0"/>
            </a:endParaRPr>
          </a:p>
          <a:p>
            <a:r>
              <a:rPr lang="en-US" altLang="zh-CN">
                <a:latin typeface="Times New Roman" panose="02020603050405020304" pitchFamily="18" charset="0"/>
              </a:rPr>
              <a:t>This is not just about trust.</a:t>
            </a:r>
            <a:endParaRPr lang="en-US" altLang="zh-CN">
              <a:latin typeface="Times New Roman" panose="02020603050405020304" pitchFamily="18" charset="0"/>
            </a:endParaRPr>
          </a:p>
          <a:p>
            <a:r>
              <a:rPr lang="en-US" altLang="zh-CN">
                <a:latin typeface="Times New Roman" panose="02020603050405020304" pitchFamily="18" charset="0"/>
              </a:rPr>
              <a:t>It is about information calbration.</a:t>
            </a:r>
            <a:endParaRPr lang="en-US" altLang="zh-CN">
              <a:latin typeface="Times New Roman" panose="02020603050405020304" pitchFamily="18" charset="0"/>
            </a:endParaRPr>
          </a:p>
          <a:p>
            <a:r>
              <a:rPr lang="en-US" altLang="zh-CN">
                <a:latin typeface="Times New Roman" panose="02020603050405020304" pitchFamily="18" charset="0"/>
              </a:rPr>
              <a:t>Sometimes stopping earlier is fine.</a:t>
            </a:r>
            <a:endParaRPr lang="en-US" altLang="zh-CN">
              <a:latin typeface="Times New Roman" panose="02020603050405020304" pitchFamily="18" charset="0"/>
            </a:endParaRPr>
          </a:p>
          <a:p>
            <a:r>
              <a:rPr lang="en-US" altLang="zh-CN">
                <a:latin typeface="Times New Roman" panose="02020603050405020304" pitchFamily="18" charset="0"/>
              </a:rPr>
              <a:t>If the AI summary is complete, it can save search cost.</a:t>
            </a:r>
            <a:endParaRPr lang="en-US" altLang="zh-CN">
              <a:latin typeface="Times New Roman" panose="02020603050405020304" pitchFamily="18" charset="0"/>
            </a:endParaRPr>
          </a:p>
          <a:p>
            <a:r>
              <a:rPr lang="en-US" altLang="zh-CN">
                <a:latin typeface="Times New Roman" panose="02020603050405020304" pitchFamily="18" charset="0"/>
              </a:rPr>
              <a:t>But sometimes the summary is incomplete, people may still feel they know enough.</a:t>
            </a:r>
            <a:endParaRPr lang="en-US" altLang="zh-CN">
              <a:latin typeface="Times New Roman" panose="02020603050405020304" pitchFamily="18" charset="0"/>
            </a:endParaRPr>
          </a:p>
          <a:p>
            <a:r>
              <a:rPr lang="en-US" altLang="zh-CN">
                <a:latin typeface="Times New Roman" panose="02020603050405020304" pitchFamily="18" charset="0"/>
              </a:rPr>
              <a:t>Because they may assume that AI has already searched, compared, and processed the evidence.</a:t>
            </a:r>
            <a:endParaRPr lang="en-US" altLang="zh-CN">
              <a:latin typeface="Times New Roman" panose="02020603050405020304" pitchFamily="18" charset="0"/>
            </a:endParaRPr>
          </a:p>
          <a:p>
            <a:r>
              <a:rPr lang="en-US" altLang="zh-CN">
                <a:latin typeface="Times New Roman" panose="02020603050405020304" pitchFamily="18" charset="0"/>
              </a:rPr>
              <a:t>So the current answer feels more complete than it really is.</a:t>
            </a:r>
            <a:endParaRPr lang="en-US" altLang="zh-CN">
              <a:latin typeface="Times New Roman" panose="02020603050405020304" pitchFamily="18" charset="0"/>
            </a:endParaRPr>
          </a:p>
          <a:p>
            <a:r>
              <a:rPr lang="en-US" altLang="zh-CN">
                <a:latin typeface="Times New Roman" panose="02020603050405020304" pitchFamily="18" charset="0"/>
              </a:rPr>
              <a:t>Then the value of further search feels lower.</a:t>
            </a:r>
            <a:endParaRPr lang="en-US" altLang="zh-CN">
              <a:latin typeface="Times New Roman" panose="02020603050405020304" pitchFamily="18" charset="0"/>
            </a:endParaRPr>
          </a:p>
          <a:p>
            <a:r>
              <a:rPr lang="en-US" altLang="zh-CN">
                <a:latin typeface="Times New Roman" panose="02020603050405020304" pitchFamily="18" charset="0"/>
              </a:rPr>
              <a:t>And people stop too early.</a:t>
            </a:r>
            <a:endParaRPr lang="en-US" altLang="zh-CN">
              <a:latin typeface="Times New Roman" panose="02020603050405020304" pitchFamily="18" charset="0"/>
            </a:endParaRPr>
          </a:p>
          <a:p>
            <a:r>
              <a:rPr lang="en-US" altLang="zh-CN">
                <a:latin typeface="Times New Roman" panose="02020603050405020304" pitchFamily="18" charset="0"/>
              </a:rPr>
              <a:t>That is the mechanism I want to test.</a:t>
            </a:r>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endParaRPr lang="en-US">
              <a:latin typeface="Times New Roman" panose="02020603050405020304" pitchFamily="18" charset="0"/>
            </a:endParaRP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endParaRPr lang="en-US">
              <a:latin typeface="Times New Roman" panose="02020603050405020304" pitchFamily="18" charset="0"/>
            </a:endParaRP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endParaRPr lang="en-US">
              <a:latin typeface="Times New Roman" panose="02020603050405020304" pitchFamily="18" charset="0"/>
            </a:endParaRP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endParaRPr lang="en-US">
              <a:latin typeface="Times New Roman" panose="02020603050405020304" pitchFamily="18" charset="0"/>
            </a:endParaRP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endParaRPr lang="en-US">
              <a:latin typeface="Times New Roman" panose="02020603050405020304" pitchFamily="18" charset="0"/>
            </a:endParaRPr>
          </a:p>
          <a:p>
            <a:r>
              <a:rPr lang="en-US">
                <a:latin typeface="Times New Roman" panose="02020603050405020304" pitchFamily="18" charset="0"/>
              </a:rPr>
              <a:t>The unlabeled-summary and AI-labeled-summary groups read exactly the same summary text. The only difference is whether the source is explicitly marked as AI.</a:t>
            </a:r>
            <a:endParaRPr lang="en-US">
              <a:latin typeface="Times New Roman" panose="02020603050405020304" pitchFamily="18" charset="0"/>
            </a:endParaRP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endParaRPr>
              <a:latin typeface="Times New Roman" panose="02020603050405020304" pitchFamily="18" charset="0"/>
            </a:endParaRPr>
          </a:p>
          <a:p>
            <a:r>
              <a:rPr>
                <a:latin typeface="Times New Roman" panose="02020603050405020304" pitchFamily="18" charset="0"/>
              </a:rPr>
              <a:t>First, RQ1 is supported if the AI label lowers the stopping threshold relative to the unlabeled summary.</a:t>
            </a:r>
            <a:endParaRPr>
              <a:latin typeface="Times New Roman" panose="02020603050405020304" pitchFamily="18" charset="0"/>
            </a:endParaRPr>
          </a:p>
          <a:p>
            <a:r>
              <a:rPr>
                <a:latin typeface="Times New Roman" panose="02020603050405020304" pitchFamily="18" charset="0"/>
              </a:rPr>
              <a:t>Second, RQ2 splits into two possibilities: representative summaries can reveal efficient compression, while incomplete summaries can reveal harmful under-search.</a:t>
            </a:r>
            <a:endParaRPr>
              <a:latin typeface="Times New Roman" panose="02020603050405020304" pitchFamily="18" charset="0"/>
            </a:endParaRPr>
          </a:p>
          <a:p>
            <a:r>
              <a:rPr>
                <a:latin typeface="Times New Roman" panose="02020603050405020304" pitchFamily="18" charset="0"/>
              </a:rPr>
              <a:t>Third, RQ3 is supported if objective posterior quality and subjective mastery move apart after summary-based interaction.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endParaRPr>
              <a:latin typeface="Times New Roman" panose="02020603050405020304" pitchFamily="18" charset="0"/>
            </a:endParaRPr>
          </a:p>
          <a:p>
            <a:r>
              <a:rPr>
                <a:latin typeface="Times New Roman" panose="02020603050405020304" pitchFamily="18" charset="0"/>
              </a:rPr>
              <a:t>The first is theoretical: the move from generic trust to information calibration as an evidence-to-belief mechanism.</a:t>
            </a:r>
            <a:endParaRPr>
              <a:latin typeface="Times New Roman" panose="02020603050405020304" pitchFamily="18" charset="0"/>
            </a:endParaRP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endParaRPr>
              <a:latin typeface="Times New Roman" panose="02020603050405020304" pitchFamily="18" charset="0"/>
            </a:endParaRPr>
          </a:p>
          <a:p>
            <a:r>
              <a:rPr>
                <a:latin typeface="Times New Roman" panose="02020603050405020304" pitchFamily="18" charset="0"/>
              </a:rPr>
              <a:t>The third is substantive: it separates efficient compression, harmful under-search, and subjective-objective calibration mismatch.</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endParaRPr sz="1125" b="1" i="0">
              <a:solidFill>
                <a:srgbClr val="D7A792"/>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endParaRPr sz="300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endParaRPr sz="1650"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endParaRPr sz="1125" b="0" i="1">
              <a:solidFill>
                <a:srgbClr val="D8DCE6"/>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endParaRPr sz="1425" b="0" i="1">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endParaRPr sz="26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endParaRPr sz="1800" b="1" i="0">
              <a:solidFill>
                <a:srgbClr val="C89B4A"/>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endParaRPr sz="22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1"/>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endParaRPr sz="1275" b="1">
              <a:solidFill>
                <a:srgbClr val="667085"/>
              </a:solidFill>
              <a:latin typeface="Times New Roman" panose="02020603050405020304" pitchFamily="18" charset="0"/>
            </a:endParaRP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endParaRPr sz="1275" b="0">
              <a:solidFill>
                <a:srgbClr val="667085"/>
              </a:solidFill>
              <a:latin typeface="Times New Roman" panose="02020603050405020304" pitchFamily="18" charset="0"/>
            </a:endParaRP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endParaRPr sz="1275" b="0">
              <a:solidFill>
                <a:srgbClr val="667085"/>
              </a:solidFill>
              <a:latin typeface="Times New Roman" panose="02020603050405020304" pitchFamily="18" charset="0"/>
            </a:endParaRP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endParaRPr sz="1275" b="0">
              <a:solidFill>
                <a:srgbClr val="667085"/>
              </a:solidFill>
              <a:latin typeface="Times New Roman" panose="02020603050405020304" pitchFamily="18" charset="0"/>
            </a:endParaRP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endParaRPr sz="1350" b="1">
              <a:solidFill>
                <a:srgbClr val="BE643F"/>
              </a:solidFill>
              <a:latin typeface="Times New Roman" panose="02020603050405020304" pitchFamily="18" charset="0"/>
            </a:endParaRP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endParaRPr sz="1275" i="1">
              <a:solidFill>
                <a:srgbClr val="667085"/>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endParaRPr sz="27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endParaRPr sz="16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endParaRPr sz="25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endParaRPr sz="1575"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endParaRPr sz="1275">
              <a:solidFill>
                <a:srgbClr val="667085"/>
              </a:solidFill>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endParaRPr sz="1350" i="1">
              <a:solidFill>
                <a:srgbClr val="667085"/>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8510</Words>
  <Application>WPS 演示</Application>
  <PresentationFormat>宽屏</PresentationFormat>
  <Paragraphs>288</Paragraphs>
  <Slides>12</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Times New Roman</vt:lpstr>
      <vt:lpstr>Times New Roman</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10</cp:revision>
  <dcterms:created xsi:type="dcterms:W3CDTF">2026-07-06T06:02:00Z</dcterms:created>
  <dcterms:modified xsi:type="dcterms:W3CDTF">2026-07-06T16:00:50Z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