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Artificial intelligence is entering more and more decision-making contexts, including crisis assessment, organizational governance, public administration, medical diagnosis, judicial evaluation, and strategic interaction.</a:t>
            </a:r>
          </a:p>
          <a:p>
            <a:r>
              <a:t>AI is no longer just a technical system in the laboratory. It is increasingly embedded in organizational processes, public institutions, and high-stakes decision chains.</a:t>
            </a:r>
          </a:p>
          <a:p>
            <a:r>
              <a:t>For this reason, AI governance cannot focus only on model performance, safety standards, and regulatory compliance.</a:t>
            </a:r>
          </a:p>
          <a:p>
            <a:r>
              <a:t>It also needs to understand how AI changes human judgment, reliance, action, and responsibility.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Existing research usually understands the impact of AI on human decision-making from three perspectives.</a:t>
            </a:r>
          </a:p>
          <a:p>
            <a:r>
              <a:t>The first is whether AI improves judgment accuracy.</a:t>
            </a:r>
          </a:p>
          <a:p>
            <a:r>
              <a:t>The second is whether people trust or adopt AI advice.</a:t>
            </a:r>
          </a:p>
          <a:p>
            <a:r>
              <a:t>The third is how responsibility should be allocated when AI is involved in decision-making.</a:t>
            </a:r>
          </a:p>
          <a:p>
            <a:r>
              <a:t>These questions are important, but they tend to treat AI as an external tool: AI provides information, gives advice, or creates responsibility disputes after failure.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 large body of research still treats AI as an extension of traditional algorithms, and continues to use frameworks such as algorithm aversion, algorithm appreciation, or advice-taking to explain human-AI interaction.</a:t>
            </a:r>
          </a:p>
          <a:p>
            <a:r>
              <a:t>This is exactly the gap summarized on this slide: these streams are important, but they still leave the process itself underexplained.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However, AI, especially large language models, has shown forms of human-AI interaction that are different from traditional algorithms.</a:t>
            </a:r>
          </a:p>
          <a:p>
            <a:r>
              <a:t>More and more people no longer use AI only as a search engine, calculator, or automation tool.</a:t>
            </a:r>
          </a:p>
          <a:p>
            <a:r>
              <a:t>Instead, they treat it as a source of judgment that they can consult, discuss with, confirm with, and even rely on.</a:t>
            </a:r>
          </a:p>
          <a:p>
            <a:r>
              <a:t>People ask AI about career choices, emotional problems, medical risks, investment decisions, academic writing, legal documents, organizational management plans, and even social events or institutional rules that they do not fully understand.</a:t>
            </a:r>
          </a:p>
          <a:p>
            <a:r>
              <a:t>In these interactions, AI is not simply giving an answer. It also shapes how users understand the problem itself through language style, explanatory structure, emotional response, and narrative framing.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This change is closely related to the technical foundation and interaction form of large language models.</a:t>
            </a:r>
          </a:p>
          <a:p>
            <a:r>
              <a:t>Large language models are not simply larger versions of traditional algorithms.</a:t>
            </a:r>
          </a:p>
          <a:p>
            <a:r>
              <a:t>Their underlying Transformer architecture is based on the self-attention mechanism, which allows the model to integrate contextual information when generating text and supports large-scale language pretraining.</a:t>
            </a:r>
          </a:p>
          <a:p>
            <a:r>
              <a:t>On this basis, the model learns semantic relations, expression patterns, and contextual structures from massive text data.</a:t>
            </a:r>
          </a:p>
          <a:p>
            <a:r>
              <a:t>After instruction tuning and human feedback fine-tuning, it becomes a language system that can follow instructions, generate explanations, and interact continuously with users.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Therefore, the difference between LLMs and traditional algorithms is not only that they may produce more accurate outputs.</a:t>
            </a:r>
          </a:p>
          <a:p>
            <a:r>
              <a:t>The form of output and the mode of interaction have changed.</a:t>
            </a:r>
          </a:p>
          <a:p>
            <a:r>
              <a:t>Traditional algorithms usually influence decisions through scores, probabilities, recommendation lists, or classification labels.</a:t>
            </a:r>
          </a:p>
          <a:p>
            <a:r>
              <a:t>LLMs, by contrast, enter the human cognitive process through natural language.</a:t>
            </a:r>
          </a:p>
          <a:p>
            <a:r>
              <a:t>They can organize complex situations through narrative, reduce uncertainty through explanation, and change risk perception through reassuring or authoritative language.</a:t>
            </a:r>
          </a:p>
          <a:p>
            <a:r>
              <a:t>In this way, they influence how people form beliefs, calibrate reliance, and take action.</a:t>
            </a:r>
          </a:p>
          <a:p>
            <a:r>
              <a:t>In this sense, the impact of AI on human decision-making should not be understood only as whether people adopt AI advice.</a:t>
            </a:r>
          </a:p>
          <a:p>
            <a:r>
              <a:t>It should be understood as how AI reorganizes the decision-making process itself.</a:t>
            </a:r>
          </a:p>
          <a:p>
            <a:r>
              <a:t>When AI can search for information, summarize evidence, explain risks, generate reasons, provide advice, confirm judgments, and participate in responsibility allocation, it is no longer just an external input in the decision chain.</a:t>
            </a:r>
          </a:p>
          <a:p>
            <a:r>
              <a:t>It begins to change the structural conditions of the decision environment: how information is presented, how cognitive burden is distributed, how action thresholds are adjusted, how decision authority is transferred, and how responsibility is understood.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Therefore, this dissertation uses decision architecture as an integrative analytical framework.</a:t>
            </a:r>
          </a:p>
          <a:p>
            <a:r>
              <a:t>Here, decision architecture is not understood as a fully mature theory with fixed boundaries.</a:t>
            </a:r>
          </a:p>
          <a:p>
            <a:r>
              <a:t>Rather, it is used to describe how a decision environment organizes information flow, cognitive burden, action thresholds, decision authority, and responsibility relations.</a:t>
            </a:r>
          </a:p>
          <a:p>
            <a:r>
              <a:t>Traditional choice architecture mainly focuses on defaults, framing, feedback, complexity management, and incentive design.</a:t>
            </a:r>
          </a:p>
          <a:p>
            <a:r>
              <a:t>But AI systems are different.</a:t>
            </a:r>
          </a:p>
          <a:p>
            <a:r>
              <a:t>They do not only rearrange how choices are presented.</a:t>
            </a:r>
          </a:p>
          <a:p>
            <a:r>
              <a:t>They can also search, summarize, explain, recommend, confirm, execute, record, and participate in responsibility allocation.</a:t>
            </a:r>
          </a:p>
          <a:p>
            <a:r>
              <a:t>In the context of AI, decision architecture is therefore no longer only about how choices are presented.</a:t>
            </a:r>
          </a:p>
          <a:p>
            <a:r>
              <a:t>It is also about how beliefs are formed, how risks are evaluated, and how the consequences of action are attributed.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In the current era, AI governance must be more closely connected with behavioral science.</a:t>
            </a:r>
          </a:p>
          <a:p>
            <a:r>
              <a:t>The core object of AI governance is not only the model itself, but the human-AI decision system that emerges when AI is embedded in organizations, institutions, and high-risk contexts.</a:t>
            </a:r>
          </a:p>
          <a:p>
            <a:r>
              <a:t>In this system, governance failure may not come only from technical error.</a:t>
            </a:r>
          </a:p>
          <a:p>
            <a:r>
              <a:t>It may also come from people forming incorrect beliefs after interacting with AI, changing their risk judgments, developing inappropriate reliance, or reallocating responsibility.</a:t>
            </a:r>
          </a:p>
          <a:p>
            <a:r>
              <a:t>Therefore, AI governance must understand how AI changes human judgment and behavior.</a:t>
            </a:r>
          </a:p>
          <a:p>
            <a:r>
              <a:t>Behavioral science, in this sense, becomes a foundation for explaining the consequences of AI governance.</a:t>
            </a:r>
          </a:p>
          <a:p>
            <a:r>
              <a:t>This dissertation builds on this framework and narrows the question to a more specific theoretical object: how AI, as a form of decision architecture, restructures belief formation, reliance calibration, risk judgment, and responsibility attribution in high-stakes human decision-making.</a:t>
            </a:r>
          </a:p>
          <a:p>
            <a:r>
              <a:t>That broader framework is then operationalized across the three papers shown on this slide: Paper 1 on belief formation, Paper 2 on reliance calibration and action, and Paper 3 on responsibility attribution.</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2" Type="http://schemas.openxmlformats.org/officeDocument/2006/relationships/notesSlide" Target="../notesSlides/notesSlide8.xml"/><Relationship Id="rId21" Type="http://schemas.openxmlformats.org/officeDocument/2006/relationships/slideLayout" Target="../slideLayouts/slideLayout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1F2A44"/>
          </a:solidFill>
          <a:ln w="0">
            <a:solidFill>
              <a:srgbClr val="1F2A44"/>
            </a:solidFill>
            <a:prstDash val="solid"/>
          </a:ln>
        </p:spPr>
        <p:txBody>
          <a:bodyPr/>
          <a:lstStyle/>
          <a:p/>
        </p:txBody>
      </p:sp>
      <p:sp>
        <p:nvSpPr>
          <p:cNvPr id="3" name="椭圆 2"/>
          <p:cNvSpPr>
            <a:spLocks noGrp="1"/>
          </p:cNvSpPr>
          <p:nvPr/>
        </p:nvSpPr>
        <p:spPr>
          <a:xfrm>
            <a:off x="9525000" y="-1143000"/>
            <a:ext cx="3429000" cy="3429000"/>
          </a:xfrm>
          <a:prstGeom prst="ellipse">
            <a:avLst/>
          </a:prstGeom>
          <a:solidFill>
            <a:srgbClr val="314062"/>
          </a:solidFill>
          <a:ln w="0">
            <a:solidFill>
              <a:srgbClr val="314062"/>
            </a:solidFill>
            <a:prstDash val="solid"/>
          </a:ln>
        </p:spPr>
        <p:txBody>
          <a:bodyPr/>
          <a:lstStyle/>
          <a:p/>
        </p:txBody>
      </p:sp>
      <p:sp>
        <p:nvSpPr>
          <p:cNvPr id="4" name="椭圆 3"/>
          <p:cNvSpPr>
            <a:spLocks noGrp="1"/>
          </p:cNvSpPr>
          <p:nvPr/>
        </p:nvSpPr>
        <p:spPr>
          <a:xfrm>
            <a:off x="-1143000" y="4762500"/>
            <a:ext cx="2857500" cy="2857500"/>
          </a:xfrm>
          <a:prstGeom prst="ellipse">
            <a:avLst/>
          </a:prstGeom>
          <a:solidFill>
            <a:srgbClr val="273554"/>
          </a:solidFill>
          <a:ln w="0">
            <a:solidFill>
              <a:srgbClr val="273554"/>
            </a:solidFill>
            <a:prstDash val="solid"/>
          </a:ln>
        </p:spPr>
        <p:txBody>
          <a:bodyPr/>
          <a:lstStyle/>
          <a:p/>
        </p:txBody>
      </p:sp>
      <p:sp>
        <p:nvSpPr>
          <p:cNvPr id="5" name="矩形 4"/>
          <p:cNvSpPr>
            <a:spLocks noGrp="1"/>
          </p:cNvSpPr>
          <p:nvPr/>
        </p:nvSpPr>
        <p:spPr>
          <a:xfrm>
            <a:off x="552450" y="457200"/>
            <a:ext cx="19050" cy="5943600"/>
          </a:xfrm>
          <a:prstGeom prst="rect">
            <a:avLst/>
          </a:prstGeom>
          <a:solidFill>
            <a:srgbClr val="C89B4A"/>
          </a:solidFill>
          <a:ln w="0">
            <a:solidFill>
              <a:srgbClr val="C89B4A"/>
            </a:solidFill>
            <a:prstDash val="solid"/>
          </a:ln>
        </p:spPr>
        <p:txBody>
          <a:bodyPr/>
          <a:lstStyle/>
          <a:p/>
        </p:txBody>
      </p:sp>
      <p:sp>
        <p:nvSpPr>
          <p:cNvPr id="6" name="kicker-marker"/>
          <p:cNvSpPr>
            <a:spLocks noGrp="1"/>
          </p:cNvSpPr>
          <p:nvPr/>
        </p:nvSpPr>
        <p:spPr>
          <a:xfrm>
            <a:off x="914400" y="657225"/>
            <a:ext cx="171450" cy="171450"/>
          </a:xfrm>
          <a:prstGeom prst="rect">
            <a:avLst/>
          </a:prstGeom>
          <a:solidFill>
            <a:srgbClr val="C89B4A"/>
          </a:solidFill>
          <a:ln w="0">
            <a:solidFill>
              <a:srgbClr val="C89B4A"/>
            </a:solidFill>
            <a:prstDash val="solid"/>
          </a:ln>
        </p:spPr>
        <p:txBody>
          <a:bodyPr/>
          <a:lstStyle/>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C89B4A"/>
                </a:solidFill>
                <a:latin typeface="Times New Roman" panose="02020603050405020304"/>
                <a:ea typeface="Times New Roman" panose="02020603050405020304"/>
                <a:cs typeface="Times New Roman" panose="02020603050405020304"/>
              </a:defRPr>
            </a:pPr>
            <a:r>
              <a:rPr sz="1050" b="1">
                <a:solidFill>
                  <a:srgbClr val="C89B4A"/>
                </a:solidFill>
                <a:latin typeface="Times New Roman" panose="02020603050405020304"/>
                <a:ea typeface="Times New Roman" panose="02020603050405020304"/>
                <a:cs typeface="Times New Roman" panose="02020603050405020304"/>
              </a:rPr>
              <a:t>DOCTORAL PROJECT</a:t>
            </a:r>
            <a:endParaRPr sz="1050" b="1">
              <a:solidFill>
                <a:srgbClr val="C89B4A"/>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1123950"/>
            <a:ext cx="6096000" cy="13335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850" b="1">
                <a:solidFill>
                  <a:srgbClr val="FFFFFF"/>
                </a:solidFill>
                <a:latin typeface="Times New Roman" panose="02020603050405020304"/>
                <a:ea typeface="Times New Roman" panose="02020603050405020304"/>
                <a:cs typeface="Times New Roman" panose="02020603050405020304"/>
              </a:defRPr>
            </a:pPr>
            <a:r>
              <a:rPr sz="2850" b="1">
                <a:solidFill>
                  <a:srgbClr val="FFFFFF"/>
                </a:solidFill>
                <a:latin typeface="Times New Roman" panose="02020603050405020304"/>
                <a:ea typeface="Times New Roman" panose="02020603050405020304"/>
                <a:cs typeface="Times New Roman" panose="02020603050405020304"/>
              </a:rPr>
              <a:t>The Puzzle That Motivates the Work</a:t>
            </a:r>
            <a:endParaRPr sz="2850" b="1">
              <a:solidFill>
                <a:srgbClr val="FFFFFF"/>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914400" y="2476500"/>
            <a:ext cx="5905500" cy="762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0">
                <a:solidFill>
                  <a:srgbClr val="D8DDE7"/>
                </a:solidFill>
                <a:latin typeface="Times New Roman" panose="02020603050405020304"/>
                <a:ea typeface="Times New Roman" panose="02020603050405020304"/>
                <a:cs typeface="Times New Roman" panose="02020603050405020304"/>
              </a:defRPr>
            </a:pPr>
            <a:r>
              <a:rPr sz="1500" b="0">
                <a:solidFill>
                  <a:srgbClr val="D8DDE7"/>
                </a:solidFill>
                <a:latin typeface="Times New Roman" panose="02020603050405020304"/>
                <a:ea typeface="Times New Roman" panose="02020603050405020304"/>
                <a:cs typeface="Times New Roman" panose="02020603050405020304"/>
              </a:rPr>
              <a:t>AI is entering more real decision settings, and the key question is how human judgment changes once AI becomes part of the decision process</a:t>
            </a:r>
            <a:endParaRPr sz="1500" b="0">
              <a:solidFill>
                <a:srgbClr val="D8DDE7"/>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914400" y="3657600"/>
            <a:ext cx="2857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C89B4A"/>
                </a:solidFill>
                <a:latin typeface="Times New Roman" panose="02020603050405020304"/>
                <a:ea typeface="Times New Roman" panose="02020603050405020304"/>
                <a:cs typeface="Times New Roman" panose="02020603050405020304"/>
              </a:defRPr>
            </a:pPr>
            <a:r>
              <a:rPr sz="1200" b="1">
                <a:solidFill>
                  <a:srgbClr val="C89B4A"/>
                </a:solidFill>
                <a:latin typeface="Times New Roman" panose="02020603050405020304"/>
                <a:ea typeface="Times New Roman" panose="02020603050405020304"/>
                <a:cs typeface="Times New Roman" panose="02020603050405020304"/>
              </a:rPr>
              <a:t>Xu | Doctoral Project Intro | July 2026</a:t>
            </a:r>
            <a:endParaRPr sz="1200" b="1">
              <a:solidFill>
                <a:srgbClr val="C89B4A"/>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7620000" y="1123950"/>
            <a:ext cx="3048000" cy="1047750"/>
          </a:xfrm>
          <a:prstGeom prst="rect">
            <a:avLst/>
          </a:prstGeom>
          <a:solidFill>
            <a:srgbClr val="273654"/>
          </a:solidFill>
          <a:ln w="9525">
            <a:solidFill>
              <a:srgbClr val="435071"/>
            </a:solidFill>
            <a:prstDash val="solid"/>
          </a:ln>
        </p:spPr>
        <p:txBody>
          <a:bodyPr/>
          <a:lstStyle/>
          <a:p/>
        </p:txBody>
      </p:sp>
      <p:sp>
        <p:nvSpPr>
          <p:cNvPr id="12" name="矩形 11"/>
          <p:cNvSpPr>
            <a:spLocks noGrp="1"/>
          </p:cNvSpPr>
          <p:nvPr/>
        </p:nvSpPr>
        <p:spPr>
          <a:xfrm>
            <a:off x="7620000" y="1123950"/>
            <a:ext cx="57150" cy="1047750"/>
          </a:xfrm>
          <a:prstGeom prst="rect">
            <a:avLst/>
          </a:prstGeom>
          <a:solidFill>
            <a:srgbClr val="C89B4A"/>
          </a:solidFill>
          <a:ln w="0">
            <a:solidFill>
              <a:srgbClr val="C89B4A"/>
            </a:solidFill>
            <a:prstDash val="solid"/>
          </a:ln>
        </p:spPr>
        <p:txBody>
          <a:bodyPr/>
          <a:lstStyle/>
          <a:p/>
        </p:txBody>
      </p:sp>
      <p:sp>
        <p:nvSpPr>
          <p:cNvPr id="13" name="矩形 12"/>
          <p:cNvSpPr>
            <a:spLocks noGrp="1"/>
          </p:cNvSpPr>
          <p:nvPr/>
        </p:nvSpPr>
        <p:spPr>
          <a:xfrm>
            <a:off x="7829550" y="12763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Times New Roman" panose="02020603050405020304"/>
                <a:ea typeface="Times New Roman" panose="02020603050405020304"/>
                <a:cs typeface="Times New Roman" panose="02020603050405020304"/>
              </a:rPr>
              <a:t>REAL SETTINGS</a:t>
            </a:r>
            <a:endParaRPr sz="900" b="1">
              <a:solidFill>
                <a:srgbClr val="C89B4A"/>
              </a:solidFill>
              <a:latin typeface="Times New Roman" panose="02020603050405020304"/>
              <a:ea typeface="Times New Roman" panose="02020603050405020304"/>
              <a:cs typeface="Times New Roman" panose="02020603050405020304"/>
            </a:endParaRPr>
          </a:p>
        </p:txBody>
      </p:sp>
      <p:sp>
        <p:nvSpPr>
          <p:cNvPr id="14" name="矩形 13"/>
          <p:cNvSpPr>
            <a:spLocks noGrp="1"/>
          </p:cNvSpPr>
          <p:nvPr/>
        </p:nvSpPr>
        <p:spPr>
          <a:xfrm>
            <a:off x="7829550" y="144780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FFFFFF"/>
                </a:solidFill>
                <a:latin typeface="Times New Roman" panose="02020603050405020304"/>
                <a:ea typeface="Times New Roman" panose="02020603050405020304"/>
                <a:cs typeface="Times New Roman" panose="02020603050405020304"/>
              </a:defRPr>
            </a:pPr>
            <a:r>
              <a:rPr sz="1500" b="1">
                <a:solidFill>
                  <a:srgbClr val="FFFFFF"/>
                </a:solidFill>
                <a:latin typeface="Times New Roman" panose="02020603050405020304"/>
                <a:ea typeface="Times New Roman" panose="02020603050405020304"/>
                <a:cs typeface="Times New Roman" panose="02020603050405020304"/>
              </a:rPr>
              <a:t>Where AI is entering</a:t>
            </a:r>
            <a:endParaRPr sz="1500" b="1">
              <a:solidFill>
                <a:srgbClr val="FFFFFF"/>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7829550" y="18859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D8DCE6"/>
                </a:solidFill>
                <a:latin typeface="Times New Roman" panose="02020603050405020304"/>
                <a:ea typeface="Times New Roman" panose="02020603050405020304"/>
                <a:cs typeface="Times New Roman" panose="02020603050405020304"/>
              </a:defRPr>
            </a:pPr>
            <a:r>
              <a:rPr sz="1125" b="0">
                <a:solidFill>
                  <a:srgbClr val="D8DCE6"/>
                </a:solidFill>
                <a:latin typeface="Times New Roman" panose="02020603050405020304"/>
                <a:ea typeface="Times New Roman" panose="02020603050405020304"/>
                <a:cs typeface="Times New Roman" panose="02020603050405020304"/>
              </a:rPr>
              <a:t>Crisis judgment, organizational governance, public administration, healthcare, and other high-risk settings.</a:t>
            </a:r>
            <a:endParaRPr sz="1125" b="0">
              <a:solidFill>
                <a:srgbClr val="D8DCE6"/>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8191500" y="2552700"/>
            <a:ext cx="3048000" cy="1047750"/>
          </a:xfrm>
          <a:prstGeom prst="rect">
            <a:avLst/>
          </a:prstGeom>
          <a:solidFill>
            <a:srgbClr val="273654"/>
          </a:solidFill>
          <a:ln w="9525">
            <a:solidFill>
              <a:srgbClr val="435071"/>
            </a:solidFill>
            <a:prstDash val="solid"/>
          </a:ln>
        </p:spPr>
        <p:txBody>
          <a:bodyPr/>
          <a:lstStyle/>
          <a:p/>
        </p:txBody>
      </p:sp>
      <p:sp>
        <p:nvSpPr>
          <p:cNvPr id="17" name="矩形 16"/>
          <p:cNvSpPr>
            <a:spLocks noGrp="1"/>
          </p:cNvSpPr>
          <p:nvPr/>
        </p:nvSpPr>
        <p:spPr>
          <a:xfrm>
            <a:off x="8191500" y="2552700"/>
            <a:ext cx="57150" cy="1047750"/>
          </a:xfrm>
          <a:prstGeom prst="rect">
            <a:avLst/>
          </a:prstGeom>
          <a:solidFill>
            <a:srgbClr val="C89B4A"/>
          </a:solidFill>
          <a:ln w="0">
            <a:solidFill>
              <a:srgbClr val="C89B4A"/>
            </a:solidFill>
            <a:prstDash val="solid"/>
          </a:ln>
        </p:spPr>
        <p:txBody>
          <a:bodyPr/>
          <a:lstStyle/>
          <a:p/>
        </p:txBody>
      </p:sp>
      <p:sp>
        <p:nvSpPr>
          <p:cNvPr id="18" name="矩形 17"/>
          <p:cNvSpPr>
            <a:spLocks noGrp="1"/>
          </p:cNvSpPr>
          <p:nvPr/>
        </p:nvSpPr>
        <p:spPr>
          <a:xfrm>
            <a:off x="8401050" y="270510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Times New Roman" panose="02020603050405020304"/>
                <a:ea typeface="Times New Roman" panose="02020603050405020304"/>
                <a:cs typeface="Times New Roman" panose="02020603050405020304"/>
              </a:rPr>
              <a:t>WHAT CHANGES</a:t>
            </a:r>
            <a:endParaRPr sz="900" b="1">
              <a:solidFill>
                <a:srgbClr val="C89B4A"/>
              </a:solidFill>
              <a:latin typeface="Times New Roman" panose="02020603050405020304"/>
              <a:ea typeface="Times New Roman" panose="02020603050405020304"/>
              <a:cs typeface="Times New Roman" panose="02020603050405020304"/>
            </a:endParaRPr>
          </a:p>
        </p:txBody>
      </p:sp>
      <p:sp>
        <p:nvSpPr>
          <p:cNvPr id="19" name="矩形 18"/>
          <p:cNvSpPr>
            <a:spLocks noGrp="1"/>
          </p:cNvSpPr>
          <p:nvPr/>
        </p:nvSpPr>
        <p:spPr>
          <a:xfrm>
            <a:off x="8401050" y="28765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FFFFFF"/>
                </a:solidFill>
                <a:latin typeface="Times New Roman" panose="02020603050405020304"/>
                <a:ea typeface="Times New Roman" panose="02020603050405020304"/>
                <a:cs typeface="Times New Roman" panose="02020603050405020304"/>
              </a:defRPr>
            </a:pPr>
            <a:r>
              <a:rPr sz="1500" b="1">
                <a:solidFill>
                  <a:srgbClr val="FFFFFF"/>
                </a:solidFill>
                <a:latin typeface="Times New Roman" panose="02020603050405020304"/>
                <a:ea typeface="Times New Roman" panose="02020603050405020304"/>
                <a:cs typeface="Times New Roman" panose="02020603050405020304"/>
              </a:rPr>
              <a:t>Embedded decision chains</a:t>
            </a:r>
            <a:endParaRPr sz="1500" b="1">
              <a:solidFill>
                <a:srgbClr val="FFFFFF"/>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8401050" y="331470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D8DCE6"/>
                </a:solidFill>
                <a:latin typeface="Times New Roman" panose="02020603050405020304"/>
                <a:ea typeface="Times New Roman" panose="02020603050405020304"/>
                <a:cs typeface="Times New Roman" panose="02020603050405020304"/>
              </a:defRPr>
            </a:pPr>
            <a:r>
              <a:rPr sz="1125" b="0">
                <a:solidFill>
                  <a:srgbClr val="D8DCE6"/>
                </a:solidFill>
                <a:latin typeface="Times New Roman" panose="02020603050405020304"/>
                <a:ea typeface="Times New Roman" panose="02020603050405020304"/>
                <a:cs typeface="Times New Roman" panose="02020603050405020304"/>
              </a:rPr>
              <a:t>AI is no longer only a lab system or a stand-alone tool. It is becoming part of real organizational and institutional processes.</a:t>
            </a:r>
            <a:endParaRPr sz="1125" b="0">
              <a:solidFill>
                <a:srgbClr val="D8DCE6"/>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7620000" y="3981450"/>
            <a:ext cx="3048000" cy="1047750"/>
          </a:xfrm>
          <a:prstGeom prst="rect">
            <a:avLst/>
          </a:prstGeom>
          <a:solidFill>
            <a:srgbClr val="273654"/>
          </a:solidFill>
          <a:ln w="9525">
            <a:solidFill>
              <a:srgbClr val="435071"/>
            </a:solidFill>
            <a:prstDash val="solid"/>
          </a:ln>
        </p:spPr>
        <p:txBody>
          <a:bodyPr/>
          <a:lstStyle/>
          <a:p/>
        </p:txBody>
      </p:sp>
      <p:sp>
        <p:nvSpPr>
          <p:cNvPr id="22" name="矩形 21"/>
          <p:cNvSpPr>
            <a:spLocks noGrp="1"/>
          </p:cNvSpPr>
          <p:nvPr/>
        </p:nvSpPr>
        <p:spPr>
          <a:xfrm>
            <a:off x="7620000" y="3981450"/>
            <a:ext cx="57150" cy="1047750"/>
          </a:xfrm>
          <a:prstGeom prst="rect">
            <a:avLst/>
          </a:prstGeom>
          <a:solidFill>
            <a:srgbClr val="C89B4A"/>
          </a:solidFill>
          <a:ln w="0">
            <a:solidFill>
              <a:srgbClr val="C89B4A"/>
            </a:solidFill>
            <a:prstDash val="solid"/>
          </a:ln>
        </p:spPr>
        <p:txBody>
          <a:bodyPr/>
          <a:lstStyle/>
          <a:p/>
        </p:txBody>
      </p:sp>
      <p:sp>
        <p:nvSpPr>
          <p:cNvPr id="23" name="矩形 22"/>
          <p:cNvSpPr>
            <a:spLocks noGrp="1"/>
          </p:cNvSpPr>
          <p:nvPr/>
        </p:nvSpPr>
        <p:spPr>
          <a:xfrm>
            <a:off x="7829550" y="41338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Times New Roman" panose="02020603050405020304"/>
                <a:ea typeface="Times New Roman" panose="02020603050405020304"/>
                <a:cs typeface="Times New Roman" panose="02020603050405020304"/>
              </a:rPr>
              <a:t>WHY THIS MATTERS</a:t>
            </a:r>
            <a:endParaRPr sz="900" b="1">
              <a:solidFill>
                <a:srgbClr val="C89B4A"/>
              </a:solidFill>
              <a:latin typeface="Times New Roman" panose="02020603050405020304"/>
              <a:ea typeface="Times New Roman" panose="02020603050405020304"/>
              <a:cs typeface="Times New Roman" panose="02020603050405020304"/>
            </a:endParaRPr>
          </a:p>
        </p:txBody>
      </p:sp>
      <p:sp>
        <p:nvSpPr>
          <p:cNvPr id="24" name="矩形 23"/>
          <p:cNvSpPr>
            <a:spLocks noGrp="1"/>
          </p:cNvSpPr>
          <p:nvPr/>
        </p:nvSpPr>
        <p:spPr>
          <a:xfrm>
            <a:off x="7829550" y="430530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FFFFFF"/>
                </a:solidFill>
                <a:latin typeface="Times New Roman" panose="02020603050405020304"/>
                <a:ea typeface="Times New Roman" panose="02020603050405020304"/>
                <a:cs typeface="Times New Roman" panose="02020603050405020304"/>
              </a:defRPr>
            </a:pPr>
            <a:r>
              <a:rPr sz="1500" b="1">
                <a:solidFill>
                  <a:srgbClr val="FFFFFF"/>
                </a:solidFill>
                <a:latin typeface="Times New Roman" panose="02020603050405020304"/>
                <a:ea typeface="Times New Roman" panose="02020603050405020304"/>
                <a:cs typeface="Times New Roman" panose="02020603050405020304"/>
              </a:rPr>
              <a:t>Why study the human side</a:t>
            </a:r>
            <a:endParaRPr sz="1500" b="1">
              <a:solidFill>
                <a:srgbClr val="FFFFFF"/>
              </a:solidFill>
              <a:latin typeface="Times New Roman" panose="02020603050405020304"/>
              <a:ea typeface="Times New Roman" panose="02020603050405020304"/>
              <a:cs typeface="Times New Roman" panose="02020603050405020304"/>
            </a:endParaRPr>
          </a:p>
        </p:txBody>
      </p:sp>
      <p:sp>
        <p:nvSpPr>
          <p:cNvPr id="25" name="矩形 24"/>
          <p:cNvSpPr>
            <a:spLocks noGrp="1"/>
          </p:cNvSpPr>
          <p:nvPr/>
        </p:nvSpPr>
        <p:spPr>
          <a:xfrm>
            <a:off x="7829550" y="47434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D8DCE6"/>
                </a:solidFill>
                <a:latin typeface="Times New Roman" panose="02020603050405020304"/>
                <a:ea typeface="Times New Roman" panose="02020603050405020304"/>
                <a:cs typeface="Times New Roman" panose="02020603050405020304"/>
              </a:defRPr>
            </a:pPr>
            <a:r>
              <a:rPr sz="1125" b="0">
                <a:solidFill>
                  <a:srgbClr val="D8DCE6"/>
                </a:solidFill>
                <a:latin typeface="Times New Roman" panose="02020603050405020304"/>
                <a:ea typeface="Times New Roman" panose="02020603050405020304"/>
                <a:cs typeface="Times New Roman" panose="02020603050405020304"/>
              </a:rPr>
              <a:t>Once AI enters consequential decision chains, we need to understand what happens to people as they interpret, rely on, and act with AI.</a:t>
            </a:r>
            <a:endParaRPr sz="1125" b="0">
              <a:solidFill>
                <a:srgbClr val="D8DCE6"/>
              </a:solidFill>
              <a:latin typeface="Times New Roman" panose="02020603050405020304"/>
              <a:ea typeface="Times New Roman" panose="02020603050405020304"/>
              <a:cs typeface="Times New Roman" panose="02020603050405020304"/>
            </a:endParaRPr>
          </a:p>
        </p:txBody>
      </p:sp>
      <p:cxnSp>
        <p:nvCxnSpPr>
          <p:cNvPr id="79" name="肘形连接符 78"/>
          <p:cNvCxnSpPr>
            <a:stCxn id="10" idx="2"/>
            <a:endCxn id="15" idx="0"/>
          </p:cNvCxnSpPr>
          <p:nvPr/>
        </p:nvCxnSpPr>
        <p:spPr>
          <a:xfrm>
            <a:off x="9144000" y="2171700"/>
            <a:ext cx="571500" cy="381000"/>
          </a:xfrm>
          <a:prstGeom prst="bentConnector4">
            <a:avLst>
              <a:gd name="adj1" fmla="val 0"/>
              <a:gd name="adj2" fmla="val 50000"/>
            </a:avLst>
          </a:prstGeom>
          <a:ln w="19050">
            <a:solidFill>
              <a:srgbClr val="C89B4A"/>
            </a:solidFill>
            <a:prstDash val="solid"/>
            <a:headEnd type="arrow" w="med" len="med"/>
          </a:ln>
        </p:spPr>
      </p:cxnSp>
      <p:cxnSp>
        <p:nvCxnSpPr>
          <p:cNvPr id="80" name="肘形连接符 79"/>
          <p:cNvCxnSpPr>
            <a:stCxn id="15" idx="2"/>
            <a:endCxn id="20" idx="0"/>
          </p:cNvCxnSpPr>
          <p:nvPr/>
        </p:nvCxnSpPr>
        <p:spPr>
          <a:xfrm flipH="1">
            <a:off x="9144000" y="3600450"/>
            <a:ext cx="571500" cy="381000"/>
          </a:xfrm>
          <a:prstGeom prst="bentConnector4">
            <a:avLst>
              <a:gd name="adj1" fmla="val 0"/>
              <a:gd name="adj2" fmla="val 50000"/>
            </a:avLst>
          </a:prstGeom>
          <a:ln w="19050">
            <a:solidFill>
              <a:srgbClr val="C89B4A"/>
            </a:solidFill>
            <a:prstDash val="solid"/>
            <a:headEnd type="arrow" w="med" len="med"/>
          </a:ln>
        </p:spPr>
      </p:cxnSp>
      <p:sp>
        <p:nvSpPr>
          <p:cNvPr id="27" name="矩形 26"/>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D7DCE7"/>
                </a:solidFill>
                <a:latin typeface="Times New Roman" panose="02020603050405020304"/>
                <a:ea typeface="Times New Roman" panose="02020603050405020304"/>
                <a:cs typeface="Times New Roman" panose="02020603050405020304"/>
              </a:defRPr>
            </a:pPr>
            <a:r>
              <a:rPr sz="750" b="0">
                <a:solidFill>
                  <a:srgbClr val="D7DCE7"/>
                </a:solidFill>
                <a:latin typeface="Times New Roman" panose="02020603050405020304"/>
                <a:ea typeface="Times New Roman" panose="02020603050405020304"/>
                <a:cs typeface="Times New Roman" panose="02020603050405020304"/>
              </a:rPr>
              <a:t>The dissertation starts from that broader shift.</a:t>
            </a:r>
            <a:endParaRPr sz="750" b="0">
              <a:solidFill>
                <a:srgbClr val="D7DCE7"/>
              </a:solidFill>
              <a:latin typeface="Times New Roman" panose="02020603050405020304"/>
              <a:ea typeface="Times New Roman" panose="02020603050405020304"/>
              <a:cs typeface="Times New Roman" panose="02020603050405020304"/>
            </a:endParaRPr>
          </a:p>
        </p:txBody>
      </p:sp>
      <p:sp>
        <p:nvSpPr>
          <p:cNvPr id="28" name="矩形 27"/>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Aptos Mono"/>
                <a:ea typeface="Aptos Mono"/>
                <a:cs typeface="Aptos Mono"/>
              </a:rPr>
              <a:t>01</a:t>
            </a:r>
            <a:endParaRPr sz="900" b="1">
              <a:solidFill>
                <a:srgbClr val="C89B4A"/>
              </a:solidFill>
              <a:latin typeface="Aptos Mono"/>
              <a:ea typeface="Aptos Mono"/>
              <a:cs typeface="Aptos Mo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CURRENT RESEARCH</a:t>
            </a:r>
            <a:endParaRPr sz="1050" b="1">
              <a:solidFill>
                <a:srgbClr val="B45A3C"/>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914400"/>
            <a:ext cx="66675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Existing research usually asks three separate questions</a:t>
            </a:r>
            <a:endParaRPr sz="2550" b="1">
              <a:solidFill>
                <a:srgbClr val="1D2433"/>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Does AI improve judgment quality? Do people trust and rely on AI? How is responsibility assigned after AI-assisted decisions?</a:t>
            </a:r>
            <a:endParaRPr sz="750" b="0">
              <a:solidFill>
                <a:srgbClr val="7B7F88"/>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02</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914400" y="24574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endParaRPr sz="1725" b="1">
              <a:solidFill>
                <a:srgbClr val="B45A3C"/>
              </a:solidFill>
              <a:latin typeface="Aptos"/>
              <a:ea typeface="Aptos"/>
              <a:cs typeface="Aptos"/>
            </a:endParaRPr>
          </a:p>
        </p:txBody>
      </p:sp>
      <p:sp>
        <p:nvSpPr>
          <p:cNvPr id="12" name="矩形 11"/>
          <p:cNvSpPr>
            <a:spLocks noGrp="1"/>
          </p:cNvSpPr>
          <p:nvPr/>
        </p:nvSpPr>
        <p:spPr>
          <a:xfrm>
            <a:off x="1181100" y="24384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first question is whether AI improves human judgment quality or performance.</a:t>
            </a:r>
            <a:endParaRPr sz="1725" b="0">
              <a:solidFill>
                <a:srgbClr val="1D2433"/>
              </a:solidFill>
              <a:latin typeface="Times New Roman" panose="02020603050405020304"/>
              <a:ea typeface="Times New Roman" panose="02020603050405020304"/>
              <a:cs typeface="Times New Roman" panose="02020603050405020304"/>
            </a:endParaRPr>
          </a:p>
        </p:txBody>
      </p:sp>
      <p:sp>
        <p:nvSpPr>
          <p:cNvPr id="13" name="矩形 12"/>
          <p:cNvSpPr>
            <a:spLocks noGrp="1"/>
          </p:cNvSpPr>
          <p:nvPr/>
        </p:nvSpPr>
        <p:spPr>
          <a:xfrm>
            <a:off x="914400" y="323850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endParaRPr sz="1725" b="1">
              <a:solidFill>
                <a:srgbClr val="B45A3C"/>
              </a:solidFill>
              <a:latin typeface="Aptos"/>
              <a:ea typeface="Aptos"/>
              <a:cs typeface="Aptos"/>
            </a:endParaRPr>
          </a:p>
        </p:txBody>
      </p:sp>
      <p:sp>
        <p:nvSpPr>
          <p:cNvPr id="14" name="矩形 13"/>
          <p:cNvSpPr>
            <a:spLocks noGrp="1"/>
          </p:cNvSpPr>
          <p:nvPr/>
        </p:nvSpPr>
        <p:spPr>
          <a:xfrm>
            <a:off x="1181100" y="321945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second is whether people trust, adopt, or rely on AI advice.</a:t>
            </a:r>
            <a:endParaRPr sz="1725" b="0">
              <a:solidFill>
                <a:srgbClr val="1D2433"/>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914400" y="40195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endParaRPr sz="1725" b="1">
              <a:solidFill>
                <a:srgbClr val="B45A3C"/>
              </a:solidFill>
              <a:latin typeface="Aptos"/>
              <a:ea typeface="Aptos"/>
              <a:cs typeface="Aptos"/>
            </a:endParaRPr>
          </a:p>
        </p:txBody>
      </p:sp>
      <p:sp>
        <p:nvSpPr>
          <p:cNvPr id="16" name="矩形 15"/>
          <p:cNvSpPr>
            <a:spLocks noGrp="1"/>
          </p:cNvSpPr>
          <p:nvPr/>
        </p:nvSpPr>
        <p:spPr>
          <a:xfrm>
            <a:off x="1181100" y="40005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third is how responsibility should be allocated once AI is involved in decision-making.</a:t>
            </a:r>
            <a:endParaRPr sz="1725" b="0">
              <a:solidFill>
                <a:srgbClr val="1D2433"/>
              </a:solidFill>
              <a:latin typeface="Times New Roman" panose="02020603050405020304"/>
              <a:ea typeface="Times New Roman" panose="02020603050405020304"/>
              <a:cs typeface="Times New Roman" panose="02020603050405020304"/>
            </a:endParaRPr>
          </a:p>
        </p:txBody>
      </p:sp>
      <p:sp>
        <p:nvSpPr>
          <p:cNvPr id="17" name="矩形 16"/>
          <p:cNvSpPr>
            <a:spLocks noGrp="1"/>
          </p:cNvSpPr>
          <p:nvPr/>
        </p:nvSpPr>
        <p:spPr>
          <a:xfrm>
            <a:off x="7239000" y="2171700"/>
            <a:ext cx="3429000" cy="2628900"/>
          </a:xfrm>
          <a:prstGeom prst="rect">
            <a:avLst/>
          </a:prstGeom>
          <a:solidFill>
            <a:srgbClr val="FFF9F0"/>
          </a:solidFill>
          <a:ln w="9525">
            <a:solidFill>
              <a:srgbClr val="E9DDCB"/>
            </a:solidFill>
            <a:prstDash val="solid"/>
          </a:ln>
        </p:spPr>
        <p:txBody>
          <a:bodyPr/>
          <a:lstStyle/>
          <a:p/>
        </p:txBody>
      </p:sp>
      <p:sp>
        <p:nvSpPr>
          <p:cNvPr id="18" name="矩形 17"/>
          <p:cNvSpPr>
            <a:spLocks noGrp="1"/>
          </p:cNvSpPr>
          <p:nvPr/>
        </p:nvSpPr>
        <p:spPr>
          <a:xfrm>
            <a:off x="7239000" y="2171700"/>
            <a:ext cx="57150" cy="2628900"/>
          </a:xfrm>
          <a:prstGeom prst="rect">
            <a:avLst/>
          </a:prstGeom>
          <a:solidFill>
            <a:srgbClr val="B45A3C"/>
          </a:solidFill>
          <a:ln w="0">
            <a:solidFill>
              <a:srgbClr val="B45A3C"/>
            </a:solidFill>
            <a:prstDash val="solid"/>
          </a:ln>
        </p:spPr>
        <p:txBody>
          <a:bodyPr/>
          <a:lstStyle/>
          <a:p/>
        </p:txBody>
      </p:sp>
      <p:sp>
        <p:nvSpPr>
          <p:cNvPr id="19" name="矩形 18"/>
          <p:cNvSpPr>
            <a:spLocks noGrp="1"/>
          </p:cNvSpPr>
          <p:nvPr/>
        </p:nvSpPr>
        <p:spPr>
          <a:xfrm>
            <a:off x="7448550" y="2324100"/>
            <a:ext cx="3009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THREE STREAMS</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7448550" y="24955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What they ask</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21" name="圆角矩形 20"/>
          <p:cNvSpPr>
            <a:spLocks noGrp="1"/>
          </p:cNvSpPr>
          <p:nvPr/>
        </p:nvSpPr>
        <p:spPr>
          <a:xfrm>
            <a:off x="7715250" y="2762250"/>
            <a:ext cx="2476500" cy="400050"/>
          </a:xfrm>
          <a:prstGeom prst="roundRect">
            <a:avLst>
              <a:gd name="adj" fmla="val 19048"/>
            </a:avLst>
          </a:prstGeom>
          <a:solidFill>
            <a:srgbClr val="E8C6B8"/>
          </a:solidFill>
          <a:ln w="0">
            <a:solidFill>
              <a:srgbClr val="E8C6B8"/>
            </a:solidFill>
            <a:prstDash val="solid"/>
          </a:ln>
        </p:spPr>
        <p:txBody>
          <a:bodyPr/>
          <a:lstStyle/>
          <a:p/>
        </p:txBody>
      </p:sp>
      <p:sp>
        <p:nvSpPr>
          <p:cNvPr id="22" name="矩形 21"/>
          <p:cNvSpPr>
            <a:spLocks noGrp="1"/>
          </p:cNvSpPr>
          <p:nvPr/>
        </p:nvSpPr>
        <p:spPr>
          <a:xfrm>
            <a:off x="7829550" y="27908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Judgment quality</a:t>
            </a:r>
            <a:endParaRPr sz="975" b="1">
              <a:solidFill>
                <a:srgbClr val="1D2433"/>
              </a:solidFill>
              <a:latin typeface="Times New Roman" panose="02020603050405020304"/>
              <a:ea typeface="Times New Roman" panose="02020603050405020304"/>
              <a:cs typeface="Times New Roman" panose="02020603050405020304"/>
            </a:endParaRPr>
          </a:p>
        </p:txBody>
      </p:sp>
      <p:sp>
        <p:nvSpPr>
          <p:cNvPr id="23" name="圆角矩形 22"/>
          <p:cNvSpPr>
            <a:spLocks noGrp="1"/>
          </p:cNvSpPr>
          <p:nvPr/>
        </p:nvSpPr>
        <p:spPr>
          <a:xfrm>
            <a:off x="7715250" y="3352800"/>
            <a:ext cx="2476500" cy="400050"/>
          </a:xfrm>
          <a:prstGeom prst="roundRect">
            <a:avLst>
              <a:gd name="adj" fmla="val 19048"/>
            </a:avLst>
          </a:prstGeom>
          <a:solidFill>
            <a:srgbClr val="E9DDCB"/>
          </a:solidFill>
          <a:ln w="0">
            <a:solidFill>
              <a:srgbClr val="E9DDCB"/>
            </a:solidFill>
            <a:prstDash val="solid"/>
          </a:ln>
        </p:spPr>
        <p:txBody>
          <a:bodyPr/>
          <a:lstStyle/>
          <a:p/>
        </p:txBody>
      </p:sp>
      <p:sp>
        <p:nvSpPr>
          <p:cNvPr id="24" name="矩形 23"/>
          <p:cNvSpPr>
            <a:spLocks noGrp="1"/>
          </p:cNvSpPr>
          <p:nvPr/>
        </p:nvSpPr>
        <p:spPr>
          <a:xfrm>
            <a:off x="7829550" y="338137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Trust / reliance</a:t>
            </a:r>
            <a:endParaRPr sz="975" b="1">
              <a:solidFill>
                <a:srgbClr val="1D2433"/>
              </a:solidFill>
              <a:latin typeface="Times New Roman" panose="02020603050405020304"/>
              <a:ea typeface="Times New Roman" panose="02020603050405020304"/>
              <a:cs typeface="Times New Roman" panose="02020603050405020304"/>
            </a:endParaRPr>
          </a:p>
        </p:txBody>
      </p:sp>
      <p:sp>
        <p:nvSpPr>
          <p:cNvPr id="25" name="圆角矩形 24"/>
          <p:cNvSpPr>
            <a:spLocks noGrp="1"/>
          </p:cNvSpPr>
          <p:nvPr/>
        </p:nvSpPr>
        <p:spPr>
          <a:xfrm>
            <a:off x="7715250" y="3943350"/>
            <a:ext cx="2476500" cy="400050"/>
          </a:xfrm>
          <a:prstGeom prst="roundRect">
            <a:avLst>
              <a:gd name="adj" fmla="val 19048"/>
            </a:avLst>
          </a:prstGeom>
          <a:solidFill>
            <a:srgbClr val="E6E0D4"/>
          </a:solidFill>
          <a:ln w="0">
            <a:solidFill>
              <a:srgbClr val="E6E0D4"/>
            </a:solidFill>
            <a:prstDash val="solid"/>
          </a:ln>
        </p:spPr>
        <p:txBody>
          <a:bodyPr/>
          <a:lstStyle/>
          <a:p/>
        </p:txBody>
      </p:sp>
      <p:sp>
        <p:nvSpPr>
          <p:cNvPr id="26" name="矩形 25"/>
          <p:cNvSpPr>
            <a:spLocks noGrp="1"/>
          </p:cNvSpPr>
          <p:nvPr/>
        </p:nvSpPr>
        <p:spPr>
          <a:xfrm>
            <a:off x="7829550" y="39719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Responsibility</a:t>
            </a:r>
            <a:endParaRPr sz="975" b="1">
              <a:solidFill>
                <a:srgbClr val="1D2433"/>
              </a:solidFill>
              <a:latin typeface="Times New Roman" panose="02020603050405020304"/>
              <a:ea typeface="Times New Roman" panose="02020603050405020304"/>
              <a:cs typeface="Times New Roman" panose="02020603050405020304"/>
            </a:endParaRPr>
          </a:p>
        </p:txBody>
      </p:sp>
      <p:sp>
        <p:nvSpPr>
          <p:cNvPr id="27" name="矩形 26"/>
          <p:cNvSpPr>
            <a:spLocks noGrp="1"/>
          </p:cNvSpPr>
          <p:nvPr/>
        </p:nvSpPr>
        <p:spPr>
          <a:xfrm>
            <a:off x="914400" y="5486400"/>
            <a:ext cx="9715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These questions are important, but they still tend to treat AI as an external tool.</a:t>
            </a:r>
            <a:endParaRPr sz="1200" b="0">
              <a:solidFill>
                <a:srgbClr val="5F67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RESEARCH GAP</a:t>
            </a:r>
            <a:endParaRPr sz="1050" b="1">
              <a:solidFill>
                <a:srgbClr val="B45A3C"/>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914400"/>
            <a:ext cx="72390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These literatures are important, but they still leave the process itself underexplained</a:t>
            </a:r>
            <a:endParaRPr sz="2550" b="1">
              <a:solidFill>
                <a:srgbClr val="1D2433"/>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They are analytically useful, but they rarely show how belief formation, reliance calibration, and responsibility unfold inside one connected decision process.</a:t>
            </a:r>
            <a:endParaRPr sz="750" b="0">
              <a:solidFill>
                <a:srgbClr val="7B7F88"/>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03</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914400" y="2343150"/>
            <a:ext cx="4076700" cy="1314450"/>
          </a:xfrm>
          <a:prstGeom prst="rect">
            <a:avLst/>
          </a:prstGeom>
          <a:solidFill>
            <a:srgbClr val="FFF9F0"/>
          </a:solidFill>
          <a:ln w="9525">
            <a:solidFill>
              <a:srgbClr val="E9DDCB"/>
            </a:solidFill>
            <a:prstDash val="solid"/>
          </a:ln>
        </p:spPr>
        <p:txBody>
          <a:bodyPr/>
          <a:lstStyle/>
          <a:p/>
        </p:txBody>
      </p:sp>
      <p:sp>
        <p:nvSpPr>
          <p:cNvPr id="12" name="矩形 11"/>
          <p:cNvSpPr>
            <a:spLocks noGrp="1"/>
          </p:cNvSpPr>
          <p:nvPr/>
        </p:nvSpPr>
        <p:spPr>
          <a:xfrm>
            <a:off x="914400" y="2343150"/>
            <a:ext cx="57150" cy="1314450"/>
          </a:xfrm>
          <a:prstGeom prst="rect">
            <a:avLst/>
          </a:prstGeom>
          <a:solidFill>
            <a:srgbClr val="B45A3C"/>
          </a:solidFill>
          <a:ln w="0">
            <a:solidFill>
              <a:srgbClr val="B45A3C"/>
            </a:solidFill>
            <a:prstDash val="solid"/>
          </a:ln>
        </p:spPr>
        <p:txBody>
          <a:bodyPr/>
          <a:lstStyle/>
          <a:p/>
        </p:txBody>
      </p:sp>
      <p:sp>
        <p:nvSpPr>
          <p:cNvPr id="13" name="矩形 12"/>
          <p:cNvSpPr>
            <a:spLocks noGrp="1"/>
          </p:cNvSpPr>
          <p:nvPr/>
        </p:nvSpPr>
        <p:spPr>
          <a:xfrm>
            <a:off x="1123950" y="249555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Decision quality / calibration</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4" name="矩形 13"/>
          <p:cNvSpPr>
            <a:spLocks noGrp="1"/>
          </p:cNvSpPr>
          <p:nvPr/>
        </p:nvSpPr>
        <p:spPr>
          <a:xfrm>
            <a:off x="1123950" y="266700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Zhang et al., 2020; Ma et al., 2023; Vaccaro et al., 2024</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1123950" y="310515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Research here asks whether AI improves joint judgment quality and calibration.</a:t>
            </a:r>
            <a:endParaRPr sz="1200" b="0">
              <a:solidFill>
                <a:srgbClr val="5F6775"/>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5638800" y="2343150"/>
            <a:ext cx="4076700" cy="1314450"/>
          </a:xfrm>
          <a:prstGeom prst="rect">
            <a:avLst/>
          </a:prstGeom>
          <a:solidFill>
            <a:srgbClr val="FFF9F0"/>
          </a:solidFill>
          <a:ln w="9525">
            <a:solidFill>
              <a:srgbClr val="E9DDCB"/>
            </a:solidFill>
            <a:prstDash val="solid"/>
          </a:ln>
        </p:spPr>
        <p:txBody>
          <a:bodyPr/>
          <a:lstStyle/>
          <a:p/>
        </p:txBody>
      </p:sp>
      <p:sp>
        <p:nvSpPr>
          <p:cNvPr id="17" name="矩形 16"/>
          <p:cNvSpPr>
            <a:spLocks noGrp="1"/>
          </p:cNvSpPr>
          <p:nvPr/>
        </p:nvSpPr>
        <p:spPr>
          <a:xfrm>
            <a:off x="5638800" y="2343150"/>
            <a:ext cx="57150" cy="1314450"/>
          </a:xfrm>
          <a:prstGeom prst="rect">
            <a:avLst/>
          </a:prstGeom>
          <a:solidFill>
            <a:srgbClr val="B45A3C"/>
          </a:solidFill>
          <a:ln w="0">
            <a:solidFill>
              <a:srgbClr val="B45A3C"/>
            </a:solidFill>
            <a:prstDash val="solid"/>
          </a:ln>
        </p:spPr>
        <p:txBody>
          <a:bodyPr/>
          <a:lstStyle/>
          <a:p/>
        </p:txBody>
      </p:sp>
      <p:sp>
        <p:nvSpPr>
          <p:cNvPr id="18" name="矩形 17"/>
          <p:cNvSpPr>
            <a:spLocks noGrp="1"/>
          </p:cNvSpPr>
          <p:nvPr/>
        </p:nvSpPr>
        <p:spPr>
          <a:xfrm>
            <a:off x="5848350" y="249555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Trust / reliance</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9" name="矩形 18"/>
          <p:cNvSpPr>
            <a:spLocks noGrp="1"/>
          </p:cNvSpPr>
          <p:nvPr/>
        </p:nvSpPr>
        <p:spPr>
          <a:xfrm>
            <a:off x="5848350" y="266700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Lee &amp; See, 2004; Dietvorst et al., 2015; Logg et al., 2019</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5848350" y="310515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This stream studies appropriate reliance, algorithm aversion, and algorithm appreciation.</a:t>
            </a:r>
            <a:endParaRPr sz="1200" b="0">
              <a:solidFill>
                <a:srgbClr val="5F6775"/>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914400" y="4000500"/>
            <a:ext cx="4076700" cy="1314450"/>
          </a:xfrm>
          <a:prstGeom prst="rect">
            <a:avLst/>
          </a:prstGeom>
          <a:solidFill>
            <a:srgbClr val="FFF9F0"/>
          </a:solidFill>
          <a:ln w="9525">
            <a:solidFill>
              <a:srgbClr val="E9DDCB"/>
            </a:solidFill>
            <a:prstDash val="solid"/>
          </a:ln>
        </p:spPr>
        <p:txBody>
          <a:bodyPr/>
          <a:lstStyle/>
          <a:p/>
        </p:txBody>
      </p:sp>
      <p:sp>
        <p:nvSpPr>
          <p:cNvPr id="22" name="矩形 21"/>
          <p:cNvSpPr>
            <a:spLocks noGrp="1"/>
          </p:cNvSpPr>
          <p:nvPr/>
        </p:nvSpPr>
        <p:spPr>
          <a:xfrm>
            <a:off x="914400" y="4000500"/>
            <a:ext cx="57150" cy="1314450"/>
          </a:xfrm>
          <a:prstGeom prst="rect">
            <a:avLst/>
          </a:prstGeom>
          <a:solidFill>
            <a:srgbClr val="B45A3C"/>
          </a:solidFill>
          <a:ln w="0">
            <a:solidFill>
              <a:srgbClr val="B45A3C"/>
            </a:solidFill>
            <a:prstDash val="solid"/>
          </a:ln>
        </p:spPr>
        <p:txBody>
          <a:bodyPr/>
          <a:lstStyle/>
          <a:p/>
        </p:txBody>
      </p:sp>
      <p:sp>
        <p:nvSpPr>
          <p:cNvPr id="23" name="矩形 22"/>
          <p:cNvSpPr>
            <a:spLocks noGrp="1"/>
          </p:cNvSpPr>
          <p:nvPr/>
        </p:nvSpPr>
        <p:spPr>
          <a:xfrm>
            <a:off x="1123950" y="415290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Responsibility / ownership</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24" name="矩形 23"/>
          <p:cNvSpPr>
            <a:spLocks noGrp="1"/>
          </p:cNvSpPr>
          <p:nvPr/>
        </p:nvSpPr>
        <p:spPr>
          <a:xfrm>
            <a:off x="1123950" y="432435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Kirchkamp &amp; Strobel, 2019; Kobis et al., 2025; Chevrier &amp; Teixeira, 2024</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25" name="矩形 24"/>
          <p:cNvSpPr>
            <a:spLocks noGrp="1"/>
          </p:cNvSpPr>
          <p:nvPr/>
        </p:nvSpPr>
        <p:spPr>
          <a:xfrm>
            <a:off x="1123950" y="476250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This stream asks how responsibility is shared or reassigned after AI-assisted action.</a:t>
            </a:r>
            <a:endParaRPr sz="1200" b="0">
              <a:solidFill>
                <a:srgbClr val="5F6775"/>
              </a:solidFill>
              <a:latin typeface="Times New Roman" panose="02020603050405020304"/>
              <a:ea typeface="Times New Roman" panose="02020603050405020304"/>
              <a:cs typeface="Times New Roman" panose="02020603050405020304"/>
            </a:endParaRPr>
          </a:p>
        </p:txBody>
      </p:sp>
      <p:sp>
        <p:nvSpPr>
          <p:cNvPr id="26" name="矩形 25"/>
          <p:cNvSpPr>
            <a:spLocks noGrp="1"/>
          </p:cNvSpPr>
          <p:nvPr/>
        </p:nvSpPr>
        <p:spPr>
          <a:xfrm>
            <a:off x="5638800" y="4000500"/>
            <a:ext cx="4076700" cy="1314450"/>
          </a:xfrm>
          <a:prstGeom prst="rect">
            <a:avLst/>
          </a:prstGeom>
          <a:solidFill>
            <a:srgbClr val="FFF9F0"/>
          </a:solidFill>
          <a:ln w="9525">
            <a:solidFill>
              <a:srgbClr val="E9DDCB"/>
            </a:solidFill>
            <a:prstDash val="solid"/>
          </a:ln>
        </p:spPr>
        <p:txBody>
          <a:bodyPr/>
          <a:lstStyle/>
          <a:p/>
        </p:txBody>
      </p:sp>
      <p:sp>
        <p:nvSpPr>
          <p:cNvPr id="27" name="矩形 26"/>
          <p:cNvSpPr>
            <a:spLocks noGrp="1"/>
          </p:cNvSpPr>
          <p:nvPr/>
        </p:nvSpPr>
        <p:spPr>
          <a:xfrm>
            <a:off x="5638800" y="4000500"/>
            <a:ext cx="57150" cy="1314450"/>
          </a:xfrm>
          <a:prstGeom prst="rect">
            <a:avLst/>
          </a:prstGeom>
          <a:solidFill>
            <a:srgbClr val="B45A3C"/>
          </a:solidFill>
          <a:ln w="0">
            <a:solidFill>
              <a:srgbClr val="B45A3C"/>
            </a:solidFill>
            <a:prstDash val="solid"/>
          </a:ln>
        </p:spPr>
        <p:txBody>
          <a:bodyPr/>
          <a:lstStyle/>
          <a:p/>
        </p:txBody>
      </p:sp>
      <p:sp>
        <p:nvSpPr>
          <p:cNvPr id="28" name="矩形 27"/>
          <p:cNvSpPr>
            <a:spLocks noGrp="1"/>
          </p:cNvSpPr>
          <p:nvPr/>
        </p:nvSpPr>
        <p:spPr>
          <a:xfrm>
            <a:off x="5848350" y="415290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What is still missing</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29" name="矩形 28"/>
          <p:cNvSpPr>
            <a:spLocks noGrp="1"/>
          </p:cNvSpPr>
          <p:nvPr/>
        </p:nvSpPr>
        <p:spPr>
          <a:xfrm>
            <a:off x="5848350" y="432435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Kidd &amp; Birhane, 2023; Harvey &amp; Fischer, 1997; Lee &amp; See, 2004</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30" name="矩形 29"/>
          <p:cNvSpPr>
            <a:spLocks noGrp="1"/>
          </p:cNvSpPr>
          <p:nvPr/>
        </p:nvSpPr>
        <p:spPr>
          <a:xfrm>
            <a:off x="5848350" y="476250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What is still missing is a process-level account of how these stages connect.</a:t>
            </a:r>
            <a:endParaRPr sz="1200" b="0">
              <a:solidFill>
                <a:srgbClr val="5F67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WHY GENERATIVE AI</a:t>
            </a:r>
            <a:endParaRPr sz="1050" b="1">
              <a:solidFill>
                <a:srgbClr val="B45A3C"/>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914400"/>
            <a:ext cx="72390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People increasingly treat AI as a source of judgment, not just a tool</a:t>
            </a:r>
            <a:endParaRPr sz="2550" b="1">
              <a:solidFill>
                <a:srgbClr val="1D2433"/>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In these interactions, AI does not simply give an answer. It shapes how people understand the problem itself.</a:t>
            </a:r>
            <a:endParaRPr sz="750" b="0">
              <a:solidFill>
                <a:srgbClr val="7B7F88"/>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04</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1143000" y="2095500"/>
            <a:ext cx="2667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B45A3C"/>
                </a:solidFill>
                <a:latin typeface="Times New Roman" panose="02020603050405020304"/>
                <a:ea typeface="Times New Roman" panose="02020603050405020304"/>
                <a:cs typeface="Times New Roman" panose="02020603050405020304"/>
              </a:defRPr>
            </a:pPr>
            <a:r>
              <a:rPr sz="1500" b="1">
                <a:solidFill>
                  <a:srgbClr val="B45A3C"/>
                </a:solidFill>
                <a:latin typeface="Times New Roman" panose="02020603050405020304"/>
                <a:ea typeface="Times New Roman" panose="02020603050405020304"/>
                <a:cs typeface="Times New Roman" panose="02020603050405020304"/>
              </a:rPr>
              <a:t>Using AI as a tool</a:t>
            </a:r>
            <a:endParaRPr sz="1500" b="1">
              <a:solidFill>
                <a:srgbClr val="B45A3C"/>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6572250" y="2095500"/>
            <a:ext cx="3048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B45A3C"/>
                </a:solidFill>
                <a:latin typeface="Times New Roman" panose="02020603050405020304"/>
                <a:ea typeface="Times New Roman" panose="02020603050405020304"/>
                <a:cs typeface="Times New Roman" panose="02020603050405020304"/>
              </a:defRPr>
            </a:pPr>
            <a:r>
              <a:rPr sz="1500" b="1">
                <a:solidFill>
                  <a:srgbClr val="B45A3C"/>
                </a:solidFill>
                <a:latin typeface="Times New Roman" panose="02020603050405020304"/>
                <a:ea typeface="Times New Roman" panose="02020603050405020304"/>
                <a:cs typeface="Times New Roman" panose="02020603050405020304"/>
              </a:rPr>
              <a:t>Using AI as a judgment source</a:t>
            </a:r>
            <a:endParaRPr sz="1500" b="1">
              <a:solidFill>
                <a:srgbClr val="B45A3C"/>
              </a:solidFill>
              <a:latin typeface="Times New Roman" panose="02020603050405020304"/>
              <a:ea typeface="Times New Roman" panose="02020603050405020304"/>
              <a:cs typeface="Times New Roman" panose="02020603050405020304"/>
            </a:endParaRPr>
          </a:p>
        </p:txBody>
      </p:sp>
      <p:sp>
        <p:nvSpPr>
          <p:cNvPr id="13" name="矩形 12"/>
          <p:cNvSpPr>
            <a:spLocks noGrp="1"/>
          </p:cNvSpPr>
          <p:nvPr/>
        </p:nvSpPr>
        <p:spPr>
          <a:xfrm>
            <a:off x="1143000" y="2552700"/>
            <a:ext cx="3048000" cy="628650"/>
          </a:xfrm>
          <a:prstGeom prst="rect">
            <a:avLst/>
          </a:prstGeom>
          <a:solidFill>
            <a:srgbClr val="FFF9F0"/>
          </a:solidFill>
          <a:ln w="9525">
            <a:solidFill>
              <a:srgbClr val="E9DDCB"/>
            </a:solidFill>
            <a:prstDash val="solid"/>
          </a:ln>
        </p:spPr>
        <p:txBody>
          <a:bodyPr/>
          <a:lstStyle/>
          <a:p/>
        </p:txBody>
      </p:sp>
      <p:sp>
        <p:nvSpPr>
          <p:cNvPr id="14" name="矩形 13"/>
          <p:cNvSpPr>
            <a:spLocks noGrp="1"/>
          </p:cNvSpPr>
          <p:nvPr/>
        </p:nvSpPr>
        <p:spPr>
          <a:xfrm>
            <a:off x="1143000" y="2552700"/>
            <a:ext cx="57150" cy="628650"/>
          </a:xfrm>
          <a:prstGeom prst="rect">
            <a:avLst/>
          </a:prstGeom>
          <a:solidFill>
            <a:srgbClr val="B45A3C"/>
          </a:solidFill>
          <a:ln w="0">
            <a:solidFill>
              <a:srgbClr val="B45A3C"/>
            </a:solidFill>
            <a:prstDash val="solid"/>
          </a:ln>
        </p:spPr>
        <p:txBody>
          <a:bodyPr/>
          <a:lstStyle/>
          <a:p/>
        </p:txBody>
      </p:sp>
      <p:sp>
        <p:nvSpPr>
          <p:cNvPr id="15" name="矩形 14"/>
          <p:cNvSpPr>
            <a:spLocks noGrp="1"/>
          </p:cNvSpPr>
          <p:nvPr/>
        </p:nvSpPr>
        <p:spPr>
          <a:xfrm>
            <a:off x="1352550" y="27241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Search, calculate,</a:t>
            </a:r>
            <a:endParaRPr sz="1650" b="1">
              <a:solidFill>
                <a:srgbClr val="1D2433"/>
              </a:solidFill>
              <a:latin typeface="Times New Roman" panose="02020603050405020304"/>
              <a:ea typeface="Times New Roman" panose="02020603050405020304"/>
              <a:cs typeface="Times New Roman" panose="02020603050405020304"/>
            </a:endParaRP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or automate</a:t>
            </a:r>
            <a:endParaRPr sz="1650" b="1">
              <a:solidFill>
                <a:srgbClr val="1D2433"/>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1143000" y="3429000"/>
            <a:ext cx="3048000" cy="628650"/>
          </a:xfrm>
          <a:prstGeom prst="rect">
            <a:avLst/>
          </a:prstGeom>
          <a:solidFill>
            <a:srgbClr val="FFF9F0"/>
          </a:solidFill>
          <a:ln w="9525">
            <a:solidFill>
              <a:srgbClr val="E9DDCB"/>
            </a:solidFill>
            <a:prstDash val="solid"/>
          </a:ln>
        </p:spPr>
        <p:txBody>
          <a:bodyPr/>
          <a:lstStyle/>
          <a:p/>
        </p:txBody>
      </p:sp>
      <p:sp>
        <p:nvSpPr>
          <p:cNvPr id="17" name="矩形 16"/>
          <p:cNvSpPr>
            <a:spLocks noGrp="1"/>
          </p:cNvSpPr>
          <p:nvPr/>
        </p:nvSpPr>
        <p:spPr>
          <a:xfrm>
            <a:off x="1143000" y="3429000"/>
            <a:ext cx="57150" cy="628650"/>
          </a:xfrm>
          <a:prstGeom prst="rect">
            <a:avLst/>
          </a:prstGeom>
          <a:solidFill>
            <a:srgbClr val="B45A3C"/>
          </a:solidFill>
          <a:ln w="0">
            <a:solidFill>
              <a:srgbClr val="B45A3C"/>
            </a:solidFill>
            <a:prstDash val="solid"/>
          </a:ln>
        </p:spPr>
        <p:txBody>
          <a:bodyPr/>
          <a:lstStyle/>
          <a:p/>
        </p:txBody>
      </p:sp>
      <p:sp>
        <p:nvSpPr>
          <p:cNvPr id="18" name="矩形 17"/>
          <p:cNvSpPr>
            <a:spLocks noGrp="1"/>
          </p:cNvSpPr>
          <p:nvPr/>
        </p:nvSpPr>
        <p:spPr>
          <a:xfrm>
            <a:off x="1352550" y="36004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Interpret the</a:t>
            </a:r>
            <a:endParaRPr sz="1650" b="1">
              <a:solidFill>
                <a:srgbClr val="1D2433"/>
              </a:solidFill>
              <a:latin typeface="Times New Roman" panose="02020603050405020304"/>
              <a:ea typeface="Times New Roman" panose="02020603050405020304"/>
              <a:cs typeface="Times New Roman" panose="02020603050405020304"/>
            </a:endParaRP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result yourself</a:t>
            </a:r>
            <a:endParaRPr sz="1650" b="1">
              <a:solidFill>
                <a:srgbClr val="1D2433"/>
              </a:solidFill>
              <a:latin typeface="Times New Roman" panose="02020603050405020304"/>
              <a:ea typeface="Times New Roman" panose="02020603050405020304"/>
              <a:cs typeface="Times New Roman" panose="02020603050405020304"/>
            </a:endParaRPr>
          </a:p>
        </p:txBody>
      </p:sp>
      <p:sp>
        <p:nvSpPr>
          <p:cNvPr id="19" name="矩形 18"/>
          <p:cNvSpPr>
            <a:spLocks noGrp="1"/>
          </p:cNvSpPr>
          <p:nvPr/>
        </p:nvSpPr>
        <p:spPr>
          <a:xfrm>
            <a:off x="1143000" y="4305300"/>
            <a:ext cx="3048000" cy="628650"/>
          </a:xfrm>
          <a:prstGeom prst="rect">
            <a:avLst/>
          </a:prstGeom>
          <a:solidFill>
            <a:srgbClr val="FFF9F0"/>
          </a:solidFill>
          <a:ln w="9525">
            <a:solidFill>
              <a:srgbClr val="E9DDCB"/>
            </a:solidFill>
            <a:prstDash val="solid"/>
          </a:ln>
        </p:spPr>
        <p:txBody>
          <a:bodyPr/>
          <a:lstStyle/>
          <a:p/>
        </p:txBody>
      </p:sp>
      <p:sp>
        <p:nvSpPr>
          <p:cNvPr id="20" name="矩形 19"/>
          <p:cNvSpPr>
            <a:spLocks noGrp="1"/>
          </p:cNvSpPr>
          <p:nvPr/>
        </p:nvSpPr>
        <p:spPr>
          <a:xfrm>
            <a:off x="1143000" y="4305300"/>
            <a:ext cx="57150" cy="628650"/>
          </a:xfrm>
          <a:prstGeom prst="rect">
            <a:avLst/>
          </a:prstGeom>
          <a:solidFill>
            <a:srgbClr val="B45A3C"/>
          </a:solidFill>
          <a:ln w="0">
            <a:solidFill>
              <a:srgbClr val="B45A3C"/>
            </a:solidFill>
            <a:prstDash val="solid"/>
          </a:ln>
        </p:spPr>
        <p:txBody>
          <a:bodyPr/>
          <a:lstStyle/>
          <a:p/>
        </p:txBody>
      </p:sp>
      <p:sp>
        <p:nvSpPr>
          <p:cNvPr id="21" name="矩形 20"/>
          <p:cNvSpPr>
            <a:spLocks noGrp="1"/>
          </p:cNvSpPr>
          <p:nvPr/>
        </p:nvSpPr>
        <p:spPr>
          <a:xfrm>
            <a:off x="1352550" y="44767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The tool stays</a:t>
            </a:r>
            <a:endParaRPr sz="1650" b="1">
              <a:solidFill>
                <a:srgbClr val="1D2433"/>
              </a:solidFill>
              <a:latin typeface="Times New Roman" panose="02020603050405020304"/>
              <a:ea typeface="Times New Roman" panose="02020603050405020304"/>
              <a:cs typeface="Times New Roman" panose="02020603050405020304"/>
            </a:endParaRP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outside the judgment</a:t>
            </a:r>
            <a:endParaRPr sz="1650" b="1">
              <a:solidFill>
                <a:srgbClr val="1D2433"/>
              </a:solidFill>
              <a:latin typeface="Times New Roman" panose="02020603050405020304"/>
              <a:ea typeface="Times New Roman" panose="02020603050405020304"/>
              <a:cs typeface="Times New Roman" panose="02020603050405020304"/>
            </a:endParaRPr>
          </a:p>
        </p:txBody>
      </p:sp>
      <p:sp>
        <p:nvSpPr>
          <p:cNvPr id="22" name="矩形 21"/>
          <p:cNvSpPr>
            <a:spLocks noGrp="1"/>
          </p:cNvSpPr>
          <p:nvPr/>
        </p:nvSpPr>
        <p:spPr>
          <a:xfrm>
            <a:off x="6572250" y="2552700"/>
            <a:ext cx="3429000" cy="628650"/>
          </a:xfrm>
          <a:prstGeom prst="rect">
            <a:avLst/>
          </a:prstGeom>
          <a:solidFill>
            <a:srgbClr val="FFF9F0"/>
          </a:solidFill>
          <a:ln w="9525">
            <a:solidFill>
              <a:srgbClr val="E9DDCB"/>
            </a:solidFill>
            <a:prstDash val="solid"/>
          </a:ln>
        </p:spPr>
        <p:txBody>
          <a:bodyPr/>
          <a:lstStyle/>
          <a:p/>
        </p:txBody>
      </p:sp>
      <p:sp>
        <p:nvSpPr>
          <p:cNvPr id="23" name="矩形 22"/>
          <p:cNvSpPr>
            <a:spLocks noGrp="1"/>
          </p:cNvSpPr>
          <p:nvPr/>
        </p:nvSpPr>
        <p:spPr>
          <a:xfrm>
            <a:off x="6572250" y="2552700"/>
            <a:ext cx="57150" cy="628650"/>
          </a:xfrm>
          <a:prstGeom prst="rect">
            <a:avLst/>
          </a:prstGeom>
          <a:solidFill>
            <a:srgbClr val="B45A3C"/>
          </a:solidFill>
          <a:ln w="0">
            <a:solidFill>
              <a:srgbClr val="B45A3C"/>
            </a:solidFill>
            <a:prstDash val="solid"/>
          </a:ln>
        </p:spPr>
        <p:txBody>
          <a:bodyPr/>
          <a:lstStyle/>
          <a:p/>
        </p:txBody>
      </p:sp>
      <p:sp>
        <p:nvSpPr>
          <p:cNvPr id="24" name="矩形 23"/>
          <p:cNvSpPr>
            <a:spLocks noGrp="1"/>
          </p:cNvSpPr>
          <p:nvPr/>
        </p:nvSpPr>
        <p:spPr>
          <a:xfrm>
            <a:off x="6781800" y="27241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Consult, discuss,</a:t>
            </a:r>
            <a:endParaRPr sz="1650" b="1">
              <a:solidFill>
                <a:srgbClr val="1D2433"/>
              </a:solidFill>
              <a:latin typeface="Times New Roman" panose="02020603050405020304"/>
              <a:ea typeface="Times New Roman" panose="02020603050405020304"/>
              <a:cs typeface="Times New Roman" panose="02020603050405020304"/>
            </a:endParaRP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or confirm</a:t>
            </a:r>
            <a:endParaRPr sz="1650" b="1">
              <a:solidFill>
                <a:srgbClr val="1D2433"/>
              </a:solidFill>
              <a:latin typeface="Times New Roman" panose="02020603050405020304"/>
              <a:ea typeface="Times New Roman" panose="02020603050405020304"/>
              <a:cs typeface="Times New Roman" panose="02020603050405020304"/>
            </a:endParaRPr>
          </a:p>
        </p:txBody>
      </p:sp>
      <p:sp>
        <p:nvSpPr>
          <p:cNvPr id="25" name="矩形 24"/>
          <p:cNvSpPr>
            <a:spLocks noGrp="1"/>
          </p:cNvSpPr>
          <p:nvPr/>
        </p:nvSpPr>
        <p:spPr>
          <a:xfrm>
            <a:off x="6572250" y="3429000"/>
            <a:ext cx="3429000" cy="628650"/>
          </a:xfrm>
          <a:prstGeom prst="rect">
            <a:avLst/>
          </a:prstGeom>
          <a:solidFill>
            <a:srgbClr val="FFF9F0"/>
          </a:solidFill>
          <a:ln w="9525">
            <a:solidFill>
              <a:srgbClr val="E9DDCB"/>
            </a:solidFill>
            <a:prstDash val="solid"/>
          </a:ln>
        </p:spPr>
        <p:txBody>
          <a:bodyPr/>
          <a:lstStyle/>
          <a:p/>
        </p:txBody>
      </p:sp>
      <p:sp>
        <p:nvSpPr>
          <p:cNvPr id="26" name="矩形 25"/>
          <p:cNvSpPr>
            <a:spLocks noGrp="1"/>
          </p:cNvSpPr>
          <p:nvPr/>
        </p:nvSpPr>
        <p:spPr>
          <a:xfrm>
            <a:off x="6572250" y="3429000"/>
            <a:ext cx="57150" cy="628650"/>
          </a:xfrm>
          <a:prstGeom prst="rect">
            <a:avLst/>
          </a:prstGeom>
          <a:solidFill>
            <a:srgbClr val="B45A3C"/>
          </a:solidFill>
          <a:ln w="0">
            <a:solidFill>
              <a:srgbClr val="B45A3C"/>
            </a:solidFill>
            <a:prstDash val="solid"/>
          </a:ln>
        </p:spPr>
        <p:txBody>
          <a:bodyPr/>
          <a:lstStyle/>
          <a:p/>
        </p:txBody>
      </p:sp>
      <p:sp>
        <p:nvSpPr>
          <p:cNvPr id="27" name="矩形 26"/>
          <p:cNvSpPr>
            <a:spLocks noGrp="1"/>
          </p:cNvSpPr>
          <p:nvPr/>
        </p:nvSpPr>
        <p:spPr>
          <a:xfrm>
            <a:off x="6781800" y="36004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Use AI to interpret</a:t>
            </a:r>
            <a:endParaRPr sz="1650" b="1">
              <a:solidFill>
                <a:srgbClr val="1D2433"/>
              </a:solidFill>
              <a:latin typeface="Times New Roman" panose="02020603050405020304"/>
              <a:ea typeface="Times New Roman" panose="02020603050405020304"/>
              <a:cs typeface="Times New Roman" panose="02020603050405020304"/>
            </a:endParaRP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complex situations</a:t>
            </a:r>
            <a:endParaRPr sz="1650" b="1">
              <a:solidFill>
                <a:srgbClr val="1D2433"/>
              </a:solidFill>
              <a:latin typeface="Times New Roman" panose="02020603050405020304"/>
              <a:ea typeface="Times New Roman" panose="02020603050405020304"/>
              <a:cs typeface="Times New Roman" panose="02020603050405020304"/>
            </a:endParaRPr>
          </a:p>
        </p:txBody>
      </p:sp>
      <p:sp>
        <p:nvSpPr>
          <p:cNvPr id="28" name="矩形 27"/>
          <p:cNvSpPr>
            <a:spLocks noGrp="1"/>
          </p:cNvSpPr>
          <p:nvPr/>
        </p:nvSpPr>
        <p:spPr>
          <a:xfrm>
            <a:off x="6572250" y="4305300"/>
            <a:ext cx="3429000" cy="628650"/>
          </a:xfrm>
          <a:prstGeom prst="rect">
            <a:avLst/>
          </a:prstGeom>
          <a:solidFill>
            <a:srgbClr val="FFF9F0"/>
          </a:solidFill>
          <a:ln w="9525">
            <a:solidFill>
              <a:srgbClr val="E9DDCB"/>
            </a:solidFill>
            <a:prstDash val="solid"/>
          </a:ln>
        </p:spPr>
        <p:txBody>
          <a:bodyPr/>
          <a:lstStyle/>
          <a:p/>
        </p:txBody>
      </p:sp>
      <p:sp>
        <p:nvSpPr>
          <p:cNvPr id="29" name="矩形 28"/>
          <p:cNvSpPr>
            <a:spLocks noGrp="1"/>
          </p:cNvSpPr>
          <p:nvPr/>
        </p:nvSpPr>
        <p:spPr>
          <a:xfrm>
            <a:off x="6572250" y="4305300"/>
            <a:ext cx="57150" cy="628650"/>
          </a:xfrm>
          <a:prstGeom prst="rect">
            <a:avLst/>
          </a:prstGeom>
          <a:solidFill>
            <a:srgbClr val="B45A3C"/>
          </a:solidFill>
          <a:ln w="0">
            <a:solidFill>
              <a:srgbClr val="B45A3C"/>
            </a:solidFill>
            <a:prstDash val="solid"/>
          </a:ln>
        </p:spPr>
        <p:txBody>
          <a:bodyPr/>
          <a:lstStyle/>
          <a:p/>
        </p:txBody>
      </p:sp>
      <p:sp>
        <p:nvSpPr>
          <p:cNvPr id="30" name="矩形 29"/>
          <p:cNvSpPr>
            <a:spLocks noGrp="1"/>
          </p:cNvSpPr>
          <p:nvPr/>
        </p:nvSpPr>
        <p:spPr>
          <a:xfrm>
            <a:off x="6781800" y="44767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Rely on its explanation</a:t>
            </a:r>
            <a:endParaRPr sz="1650" b="1">
              <a:solidFill>
                <a:srgbClr val="1D2433"/>
              </a:solidFill>
              <a:latin typeface="Times New Roman" panose="02020603050405020304"/>
              <a:ea typeface="Times New Roman" panose="02020603050405020304"/>
              <a:cs typeface="Times New Roman" panose="02020603050405020304"/>
            </a:endParaRP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and framing</a:t>
            </a:r>
            <a:endParaRPr sz="1650" b="1">
              <a:solidFill>
                <a:srgbClr val="1D2433"/>
              </a:solidFill>
              <a:latin typeface="Times New Roman" panose="02020603050405020304"/>
              <a:ea typeface="Times New Roman" panose="02020603050405020304"/>
              <a:cs typeface="Times New Roman" panose="02020603050405020304"/>
            </a:endParaRPr>
          </a:p>
        </p:txBody>
      </p:sp>
      <p:cxnSp>
        <p:nvCxnSpPr>
          <p:cNvPr id="101" name="直接箭头连接符 100"/>
          <p:cNvCxnSpPr>
            <a:stCxn id="12" idx="2"/>
            <a:endCxn id="15" idx="0"/>
          </p:cNvCxnSpPr>
          <p:nvPr/>
        </p:nvCxnSpPr>
        <p:spPr>
          <a:xfrm>
            <a:off x="2667000" y="3181350"/>
            <a:ext cx="0" cy="247650"/>
          </a:xfrm>
          <a:prstGeom prst="straightConnector1">
            <a:avLst/>
          </a:prstGeom>
          <a:ln w="19050">
            <a:solidFill>
              <a:srgbClr val="667561"/>
            </a:solidFill>
            <a:prstDash val="solid"/>
            <a:headEnd type="arrow" w="med" len="med"/>
          </a:ln>
        </p:spPr>
      </p:cxnSp>
      <p:cxnSp>
        <p:nvCxnSpPr>
          <p:cNvPr id="102" name="直接箭头连接符 101"/>
          <p:cNvCxnSpPr>
            <a:stCxn id="15" idx="2"/>
            <a:endCxn id="18" idx="0"/>
          </p:cNvCxnSpPr>
          <p:nvPr/>
        </p:nvCxnSpPr>
        <p:spPr>
          <a:xfrm>
            <a:off x="2667000" y="4057650"/>
            <a:ext cx="0" cy="247650"/>
          </a:xfrm>
          <a:prstGeom prst="straightConnector1">
            <a:avLst/>
          </a:prstGeom>
          <a:ln w="19050">
            <a:solidFill>
              <a:srgbClr val="667561"/>
            </a:solidFill>
            <a:prstDash val="solid"/>
            <a:headEnd type="arrow" w="med" len="med"/>
          </a:ln>
        </p:spPr>
      </p:cxnSp>
      <p:cxnSp>
        <p:nvCxnSpPr>
          <p:cNvPr id="103" name="直接箭头连接符 102"/>
          <p:cNvCxnSpPr>
            <a:stCxn id="21" idx="2"/>
            <a:endCxn id="24" idx="0"/>
          </p:cNvCxnSpPr>
          <p:nvPr/>
        </p:nvCxnSpPr>
        <p:spPr>
          <a:xfrm>
            <a:off x="8286750" y="3181350"/>
            <a:ext cx="0" cy="247650"/>
          </a:xfrm>
          <a:prstGeom prst="straightConnector1">
            <a:avLst/>
          </a:prstGeom>
          <a:ln w="19050">
            <a:solidFill>
              <a:srgbClr val="B45A3C"/>
            </a:solidFill>
            <a:prstDash val="solid"/>
            <a:headEnd type="arrow" w="med" len="med"/>
          </a:ln>
        </p:spPr>
      </p:cxnSp>
      <p:cxnSp>
        <p:nvCxnSpPr>
          <p:cNvPr id="104" name="直接箭头连接符 103"/>
          <p:cNvCxnSpPr>
            <a:stCxn id="24" idx="2"/>
            <a:endCxn id="27" idx="0"/>
          </p:cNvCxnSpPr>
          <p:nvPr/>
        </p:nvCxnSpPr>
        <p:spPr>
          <a:xfrm>
            <a:off x="8286750" y="4057650"/>
            <a:ext cx="0" cy="247650"/>
          </a:xfrm>
          <a:prstGeom prst="straightConnector1">
            <a:avLst/>
          </a:prstGeom>
          <a:ln w="19050">
            <a:solidFill>
              <a:srgbClr val="B45A3C"/>
            </a:solidFill>
            <a:prstDash val="solid"/>
            <a:headEnd type="arrow" w="med" len="med"/>
          </a:ln>
        </p:spPr>
      </p:cxnSp>
      <p:sp>
        <p:nvSpPr>
          <p:cNvPr id="34" name="矩形 33"/>
          <p:cNvSpPr>
            <a:spLocks noGrp="1"/>
          </p:cNvSpPr>
          <p:nvPr/>
        </p:nvSpPr>
        <p:spPr>
          <a:xfrm>
            <a:off x="4210050" y="3067050"/>
            <a:ext cx="1733550" cy="1143000"/>
          </a:xfrm>
          <a:prstGeom prst="rect">
            <a:avLst/>
          </a:prstGeom>
          <a:solidFill>
            <a:srgbClr val="EFE5D9"/>
          </a:solidFill>
          <a:ln w="9525">
            <a:solidFill>
              <a:srgbClr val="E9DDCB"/>
            </a:solidFill>
            <a:prstDash val="solid"/>
          </a:ln>
        </p:spPr>
        <p:txBody>
          <a:bodyPr/>
          <a:lstStyle/>
          <a:p/>
        </p:txBody>
      </p:sp>
      <p:sp>
        <p:nvSpPr>
          <p:cNvPr id="35" name="矩形 34"/>
          <p:cNvSpPr>
            <a:spLocks noGrp="1"/>
          </p:cNvSpPr>
          <p:nvPr/>
        </p:nvSpPr>
        <p:spPr>
          <a:xfrm>
            <a:off x="4210050" y="3067050"/>
            <a:ext cx="57150" cy="1143000"/>
          </a:xfrm>
          <a:prstGeom prst="rect">
            <a:avLst/>
          </a:prstGeom>
          <a:solidFill>
            <a:srgbClr val="C89B4A"/>
          </a:solidFill>
          <a:ln w="0">
            <a:solidFill>
              <a:srgbClr val="C89B4A"/>
            </a:solidFill>
            <a:prstDash val="solid"/>
          </a:ln>
        </p:spPr>
        <p:txBody>
          <a:bodyPr/>
          <a:lstStyle/>
          <a:p/>
        </p:txBody>
      </p:sp>
      <p:sp>
        <p:nvSpPr>
          <p:cNvPr id="36" name="矩形 35"/>
          <p:cNvSpPr>
            <a:spLocks noGrp="1"/>
          </p:cNvSpPr>
          <p:nvPr/>
        </p:nvSpPr>
        <p:spPr>
          <a:xfrm>
            <a:off x="4419600" y="3219450"/>
            <a:ext cx="13144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Aptos"/>
                <a:ea typeface="Aptos"/>
                <a:cs typeface="Aptos"/>
              </a:rPr>
              <a:t>SHIFT</a:t>
            </a:r>
            <a:endParaRPr sz="900" b="1">
              <a:solidFill>
                <a:srgbClr val="C89B4A"/>
              </a:solidFill>
              <a:latin typeface="Aptos"/>
              <a:ea typeface="Aptos"/>
              <a:cs typeface="Aptos"/>
            </a:endParaRPr>
          </a:p>
        </p:txBody>
      </p:sp>
      <p:sp>
        <p:nvSpPr>
          <p:cNvPr id="37" name="矩形 36"/>
          <p:cNvSpPr>
            <a:spLocks noGrp="1"/>
          </p:cNvSpPr>
          <p:nvPr/>
        </p:nvSpPr>
        <p:spPr>
          <a:xfrm>
            <a:off x="4419600" y="3390900"/>
            <a:ext cx="13144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350" b="1">
                <a:solidFill>
                  <a:srgbClr val="1D2433"/>
                </a:solidFill>
                <a:latin typeface="Times New Roman" panose="02020603050405020304"/>
                <a:ea typeface="Times New Roman" panose="02020603050405020304"/>
                <a:cs typeface="Times New Roman" panose="02020603050405020304"/>
              </a:defRPr>
            </a:pPr>
            <a:r>
              <a:rPr sz="1350" b="1">
                <a:solidFill>
                  <a:srgbClr val="1D2433"/>
                </a:solidFill>
                <a:latin typeface="Times New Roman" panose="02020603050405020304"/>
                <a:ea typeface="Times New Roman" panose="02020603050405020304"/>
                <a:cs typeface="Times New Roman" panose="02020603050405020304"/>
              </a:rPr>
              <a:t>From tool use</a:t>
            </a:r>
            <a:endParaRPr sz="1350" b="1">
              <a:solidFill>
                <a:srgbClr val="1D2433"/>
              </a:solidFill>
              <a:latin typeface="Times New Roman" panose="02020603050405020304"/>
              <a:ea typeface="Times New Roman" panose="02020603050405020304"/>
              <a:cs typeface="Times New Roman" panose="02020603050405020304"/>
            </a:endParaRPr>
          </a:p>
          <a:p>
            <a:pPr algn="l">
              <a:buNone/>
              <a:defRPr sz="1350" b="1">
                <a:solidFill>
                  <a:srgbClr val="1D2433"/>
                </a:solidFill>
                <a:latin typeface="Times New Roman" panose="02020603050405020304"/>
                <a:ea typeface="Times New Roman" panose="02020603050405020304"/>
                <a:cs typeface="Times New Roman" panose="02020603050405020304"/>
              </a:defRPr>
            </a:pPr>
            <a:r>
              <a:rPr sz="1350" b="1">
                <a:solidFill>
                  <a:srgbClr val="1D2433"/>
                </a:solidFill>
                <a:latin typeface="Times New Roman" panose="02020603050405020304"/>
                <a:ea typeface="Times New Roman" panose="02020603050405020304"/>
                <a:cs typeface="Times New Roman" panose="02020603050405020304"/>
              </a:rPr>
              <a:t>to judgment</a:t>
            </a:r>
            <a:endParaRPr sz="1350" b="1">
              <a:solidFill>
                <a:srgbClr val="1D2433"/>
              </a:solidFill>
              <a:latin typeface="Times New Roman" panose="02020603050405020304"/>
              <a:ea typeface="Times New Roman" panose="02020603050405020304"/>
              <a:cs typeface="Times New Roman" panose="02020603050405020304"/>
            </a:endParaRPr>
          </a:p>
          <a:p>
            <a:pPr algn="l">
              <a:buNone/>
              <a:defRPr sz="1350" b="1">
                <a:solidFill>
                  <a:srgbClr val="1D2433"/>
                </a:solidFill>
                <a:latin typeface="Times New Roman" panose="02020603050405020304"/>
                <a:ea typeface="Times New Roman" panose="02020603050405020304"/>
                <a:cs typeface="Times New Roman" panose="02020603050405020304"/>
              </a:defRPr>
            </a:pPr>
            <a:r>
              <a:rPr sz="1350" b="1">
                <a:solidFill>
                  <a:srgbClr val="1D2433"/>
                </a:solidFill>
                <a:latin typeface="Times New Roman" panose="02020603050405020304"/>
                <a:ea typeface="Times New Roman" panose="02020603050405020304"/>
                <a:cs typeface="Times New Roman" panose="02020603050405020304"/>
              </a:rPr>
              <a:t>interaction</a:t>
            </a:r>
            <a:endParaRPr sz="1350" b="1">
              <a:solidFill>
                <a:srgbClr val="1D2433"/>
              </a:solidFill>
              <a:latin typeface="Times New Roman" panose="02020603050405020304"/>
              <a:ea typeface="Times New Roman" panose="02020603050405020304"/>
              <a:cs typeface="Times New Roman" panose="02020603050405020304"/>
            </a:endParaRPr>
          </a:p>
        </p:txBody>
      </p:sp>
      <p:sp>
        <p:nvSpPr>
          <p:cNvPr id="38" name="矩形 37"/>
          <p:cNvSpPr>
            <a:spLocks noGrp="1"/>
          </p:cNvSpPr>
          <p:nvPr/>
        </p:nvSpPr>
        <p:spPr>
          <a:xfrm>
            <a:off x="914400" y="5619750"/>
            <a:ext cx="10096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More and more users do not use AI only to search, calculate, or automate. They consult it, discuss with it, confirm with it, and sometimes rely on it.</a:t>
            </a:r>
            <a:endParaRPr sz="1200" b="0">
              <a:solidFill>
                <a:srgbClr val="5F67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WHY LLMs FEEL DIFFERENT</a:t>
            </a:r>
            <a:endParaRPr sz="1050" b="1">
              <a:solidFill>
                <a:srgbClr val="B45A3C"/>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914400"/>
            <a:ext cx="66675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Large language models change interaction through language, explanation, and narrative</a:t>
            </a:r>
            <a:endParaRPr sz="2550" b="1">
              <a:solidFill>
                <a:srgbClr val="1D2433"/>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Their Transformer architecture supports contextual integration, and later tuning makes them able to explain, respond, and interact continuously with users.</a:t>
            </a:r>
            <a:endParaRPr sz="750" b="0">
              <a:solidFill>
                <a:srgbClr val="7B7F88"/>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05</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914400" y="24574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endParaRPr sz="1725" b="1">
              <a:solidFill>
                <a:srgbClr val="B45A3C"/>
              </a:solidFill>
              <a:latin typeface="Aptos"/>
              <a:ea typeface="Aptos"/>
              <a:cs typeface="Aptos"/>
            </a:endParaRPr>
          </a:p>
        </p:txBody>
      </p:sp>
      <p:sp>
        <p:nvSpPr>
          <p:cNvPr id="12" name="矩形 11"/>
          <p:cNvSpPr>
            <a:spLocks noGrp="1"/>
          </p:cNvSpPr>
          <p:nvPr/>
        </p:nvSpPr>
        <p:spPr>
          <a:xfrm>
            <a:off x="1181100" y="24384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This means the difference is not only more accurate output.</a:t>
            </a:r>
            <a:endParaRPr sz="1725" b="0">
              <a:solidFill>
                <a:srgbClr val="1D2433"/>
              </a:solidFill>
              <a:latin typeface="Times New Roman" panose="02020603050405020304"/>
              <a:ea typeface="Times New Roman" panose="02020603050405020304"/>
              <a:cs typeface="Times New Roman" panose="02020603050405020304"/>
            </a:endParaRPr>
          </a:p>
        </p:txBody>
      </p:sp>
      <p:sp>
        <p:nvSpPr>
          <p:cNvPr id="13" name="矩形 12"/>
          <p:cNvSpPr>
            <a:spLocks noGrp="1"/>
          </p:cNvSpPr>
          <p:nvPr/>
        </p:nvSpPr>
        <p:spPr>
          <a:xfrm>
            <a:off x="914400" y="323850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endParaRPr sz="1725" b="1">
              <a:solidFill>
                <a:srgbClr val="B45A3C"/>
              </a:solidFill>
              <a:latin typeface="Aptos"/>
              <a:ea typeface="Aptos"/>
              <a:cs typeface="Aptos"/>
            </a:endParaRPr>
          </a:p>
        </p:txBody>
      </p:sp>
      <p:sp>
        <p:nvSpPr>
          <p:cNvPr id="14" name="矩形 13"/>
          <p:cNvSpPr>
            <a:spLocks noGrp="1"/>
          </p:cNvSpPr>
          <p:nvPr/>
        </p:nvSpPr>
        <p:spPr>
          <a:xfrm>
            <a:off x="1181100" y="321945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form of output and the mode of interaction also change.</a:t>
            </a:r>
            <a:endParaRPr sz="1725" b="0">
              <a:solidFill>
                <a:srgbClr val="1D2433"/>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914400" y="40195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endParaRPr sz="1725" b="1">
              <a:solidFill>
                <a:srgbClr val="B45A3C"/>
              </a:solidFill>
              <a:latin typeface="Aptos"/>
              <a:ea typeface="Aptos"/>
              <a:cs typeface="Aptos"/>
            </a:endParaRPr>
          </a:p>
        </p:txBody>
      </p:sp>
      <p:sp>
        <p:nvSpPr>
          <p:cNvPr id="16" name="矩形 15"/>
          <p:cNvSpPr>
            <a:spLocks noGrp="1"/>
          </p:cNvSpPr>
          <p:nvPr/>
        </p:nvSpPr>
        <p:spPr>
          <a:xfrm>
            <a:off x="1181100" y="40005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LLMs enter the cognitive process through natural language, explanation, and narrative framing.</a:t>
            </a:r>
            <a:endParaRPr sz="1725" b="0">
              <a:solidFill>
                <a:srgbClr val="1D2433"/>
              </a:solidFill>
              <a:latin typeface="Times New Roman" panose="02020603050405020304"/>
              <a:ea typeface="Times New Roman" panose="02020603050405020304"/>
              <a:cs typeface="Times New Roman" panose="02020603050405020304"/>
            </a:endParaRPr>
          </a:p>
        </p:txBody>
      </p:sp>
      <p:sp>
        <p:nvSpPr>
          <p:cNvPr id="17" name="矩形 16"/>
          <p:cNvSpPr>
            <a:spLocks noGrp="1"/>
          </p:cNvSpPr>
          <p:nvPr/>
        </p:nvSpPr>
        <p:spPr>
          <a:xfrm>
            <a:off x="7239000" y="2171700"/>
            <a:ext cx="3429000" cy="2628900"/>
          </a:xfrm>
          <a:prstGeom prst="rect">
            <a:avLst/>
          </a:prstGeom>
          <a:solidFill>
            <a:srgbClr val="FFF9F0"/>
          </a:solidFill>
          <a:ln w="9525">
            <a:solidFill>
              <a:srgbClr val="E9DDCB"/>
            </a:solidFill>
            <a:prstDash val="solid"/>
          </a:ln>
        </p:spPr>
        <p:txBody>
          <a:bodyPr/>
          <a:lstStyle/>
          <a:p/>
        </p:txBody>
      </p:sp>
      <p:sp>
        <p:nvSpPr>
          <p:cNvPr id="18" name="矩形 17"/>
          <p:cNvSpPr>
            <a:spLocks noGrp="1"/>
          </p:cNvSpPr>
          <p:nvPr/>
        </p:nvSpPr>
        <p:spPr>
          <a:xfrm>
            <a:off x="7239000" y="2171700"/>
            <a:ext cx="57150" cy="2628900"/>
          </a:xfrm>
          <a:prstGeom prst="rect">
            <a:avLst/>
          </a:prstGeom>
          <a:solidFill>
            <a:srgbClr val="B45A3C"/>
          </a:solidFill>
          <a:ln w="0">
            <a:solidFill>
              <a:srgbClr val="B45A3C"/>
            </a:solidFill>
            <a:prstDash val="solid"/>
          </a:ln>
        </p:spPr>
        <p:txBody>
          <a:bodyPr/>
          <a:lstStyle/>
          <a:p/>
        </p:txBody>
      </p:sp>
      <p:sp>
        <p:nvSpPr>
          <p:cNvPr id="19" name="矩形 18"/>
          <p:cNvSpPr>
            <a:spLocks noGrp="1"/>
          </p:cNvSpPr>
          <p:nvPr/>
        </p:nvSpPr>
        <p:spPr>
          <a:xfrm>
            <a:off x="7448550" y="2324100"/>
            <a:ext cx="3009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WHAT THIS ENABLES</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7448550" y="24955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Why it matters</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21" name="圆角矩形 20"/>
          <p:cNvSpPr>
            <a:spLocks noGrp="1"/>
          </p:cNvSpPr>
          <p:nvPr/>
        </p:nvSpPr>
        <p:spPr>
          <a:xfrm>
            <a:off x="7715250" y="2762250"/>
            <a:ext cx="2476500" cy="400050"/>
          </a:xfrm>
          <a:prstGeom prst="roundRect">
            <a:avLst>
              <a:gd name="adj" fmla="val 19048"/>
            </a:avLst>
          </a:prstGeom>
          <a:solidFill>
            <a:srgbClr val="E8C6B8"/>
          </a:solidFill>
          <a:ln w="0">
            <a:solidFill>
              <a:srgbClr val="E8C6B8"/>
            </a:solidFill>
            <a:prstDash val="solid"/>
          </a:ln>
        </p:spPr>
        <p:txBody>
          <a:bodyPr/>
          <a:lstStyle/>
          <a:p/>
        </p:txBody>
      </p:sp>
      <p:sp>
        <p:nvSpPr>
          <p:cNvPr id="22" name="矩形 21"/>
          <p:cNvSpPr>
            <a:spLocks noGrp="1"/>
          </p:cNvSpPr>
          <p:nvPr/>
        </p:nvSpPr>
        <p:spPr>
          <a:xfrm>
            <a:off x="7829550" y="27908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Context integration</a:t>
            </a:r>
            <a:endParaRPr sz="975" b="1">
              <a:solidFill>
                <a:srgbClr val="1D2433"/>
              </a:solidFill>
              <a:latin typeface="Times New Roman" panose="02020603050405020304"/>
              <a:ea typeface="Times New Roman" panose="02020603050405020304"/>
              <a:cs typeface="Times New Roman" panose="02020603050405020304"/>
            </a:endParaRPr>
          </a:p>
        </p:txBody>
      </p:sp>
      <p:sp>
        <p:nvSpPr>
          <p:cNvPr id="23" name="圆角矩形 22"/>
          <p:cNvSpPr>
            <a:spLocks noGrp="1"/>
          </p:cNvSpPr>
          <p:nvPr/>
        </p:nvSpPr>
        <p:spPr>
          <a:xfrm>
            <a:off x="7715250" y="3352800"/>
            <a:ext cx="2476500" cy="400050"/>
          </a:xfrm>
          <a:prstGeom prst="roundRect">
            <a:avLst>
              <a:gd name="adj" fmla="val 19048"/>
            </a:avLst>
          </a:prstGeom>
          <a:solidFill>
            <a:srgbClr val="E9DDCB"/>
          </a:solidFill>
          <a:ln w="0">
            <a:solidFill>
              <a:srgbClr val="E9DDCB"/>
            </a:solidFill>
            <a:prstDash val="solid"/>
          </a:ln>
        </p:spPr>
        <p:txBody>
          <a:bodyPr/>
          <a:lstStyle/>
          <a:p/>
        </p:txBody>
      </p:sp>
      <p:sp>
        <p:nvSpPr>
          <p:cNvPr id="24" name="矩形 23"/>
          <p:cNvSpPr>
            <a:spLocks noGrp="1"/>
          </p:cNvSpPr>
          <p:nvPr/>
        </p:nvSpPr>
        <p:spPr>
          <a:xfrm>
            <a:off x="7829550" y="338137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Continuous explanation</a:t>
            </a:r>
            <a:endParaRPr sz="975" b="1">
              <a:solidFill>
                <a:srgbClr val="1D2433"/>
              </a:solidFill>
              <a:latin typeface="Times New Roman" panose="02020603050405020304"/>
              <a:ea typeface="Times New Roman" panose="02020603050405020304"/>
              <a:cs typeface="Times New Roman" panose="02020603050405020304"/>
            </a:endParaRPr>
          </a:p>
        </p:txBody>
      </p:sp>
      <p:sp>
        <p:nvSpPr>
          <p:cNvPr id="25" name="圆角矩形 24"/>
          <p:cNvSpPr>
            <a:spLocks noGrp="1"/>
          </p:cNvSpPr>
          <p:nvPr/>
        </p:nvSpPr>
        <p:spPr>
          <a:xfrm>
            <a:off x="7715250" y="3943350"/>
            <a:ext cx="2476500" cy="400050"/>
          </a:xfrm>
          <a:prstGeom prst="roundRect">
            <a:avLst>
              <a:gd name="adj" fmla="val 19048"/>
            </a:avLst>
          </a:prstGeom>
          <a:solidFill>
            <a:srgbClr val="E6E0D4"/>
          </a:solidFill>
          <a:ln w="0">
            <a:solidFill>
              <a:srgbClr val="E6E0D4"/>
            </a:solidFill>
            <a:prstDash val="solid"/>
          </a:ln>
        </p:spPr>
        <p:txBody>
          <a:bodyPr/>
          <a:lstStyle/>
          <a:p/>
        </p:txBody>
      </p:sp>
      <p:sp>
        <p:nvSpPr>
          <p:cNvPr id="26" name="矩形 25"/>
          <p:cNvSpPr>
            <a:spLocks noGrp="1"/>
          </p:cNvSpPr>
          <p:nvPr/>
        </p:nvSpPr>
        <p:spPr>
          <a:xfrm>
            <a:off x="7829550" y="39719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Narrative influence</a:t>
            </a:r>
            <a:endParaRPr sz="975" b="1">
              <a:solidFill>
                <a:srgbClr val="1D2433"/>
              </a:solidFill>
              <a:latin typeface="Times New Roman" panose="02020603050405020304"/>
              <a:ea typeface="Times New Roman" panose="02020603050405020304"/>
              <a:cs typeface="Times New Roman" panose="02020603050405020304"/>
            </a:endParaRPr>
          </a:p>
        </p:txBody>
      </p:sp>
      <p:sp>
        <p:nvSpPr>
          <p:cNvPr id="27" name="矩形 26"/>
          <p:cNvSpPr>
            <a:spLocks noGrp="1"/>
          </p:cNvSpPr>
          <p:nvPr/>
        </p:nvSpPr>
        <p:spPr>
          <a:xfrm>
            <a:off x="914400" y="5486400"/>
            <a:ext cx="9715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That is why people can be influenced not only by answers, but by the way answers are framed.</a:t>
            </a:r>
            <a:endParaRPr sz="1200" b="0">
              <a:solidFill>
                <a:srgbClr val="5F67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SHARED PROCESS</a:t>
            </a:r>
            <a:endParaRPr sz="1050" b="1">
              <a:solidFill>
                <a:srgbClr val="B45A3C"/>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914400"/>
            <a:ext cx="81915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The key question is how AI reorganizes the decision-making process itself</a:t>
            </a:r>
            <a:endParaRPr sz="2550" b="1">
              <a:solidFill>
                <a:srgbClr val="1D2433"/>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Belief Formation -&gt; Risk Appraisal / Reliance Calibration -&gt; Responsibility</a:t>
            </a:r>
            <a:endParaRPr sz="750" b="0">
              <a:solidFill>
                <a:srgbClr val="7B7F88"/>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06</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914400" y="2266950"/>
            <a:ext cx="3143250" cy="3257550"/>
          </a:xfrm>
          <a:prstGeom prst="rect">
            <a:avLst/>
          </a:prstGeom>
          <a:solidFill>
            <a:srgbClr val="FFF9F0"/>
          </a:solidFill>
          <a:ln w="9525">
            <a:solidFill>
              <a:srgbClr val="E9DDCB"/>
            </a:solidFill>
            <a:prstDash val="solid"/>
          </a:ln>
        </p:spPr>
        <p:txBody>
          <a:bodyPr/>
          <a:lstStyle/>
          <a:p/>
        </p:txBody>
      </p:sp>
      <p:sp>
        <p:nvSpPr>
          <p:cNvPr id="12" name="矩形 11"/>
          <p:cNvSpPr>
            <a:spLocks noGrp="1"/>
          </p:cNvSpPr>
          <p:nvPr/>
        </p:nvSpPr>
        <p:spPr>
          <a:xfrm>
            <a:off x="914400" y="2266950"/>
            <a:ext cx="57150" cy="3257550"/>
          </a:xfrm>
          <a:prstGeom prst="rect">
            <a:avLst/>
          </a:prstGeom>
          <a:solidFill>
            <a:srgbClr val="B45A3C"/>
          </a:solidFill>
          <a:ln w="0">
            <a:solidFill>
              <a:srgbClr val="B45A3C"/>
            </a:solidFill>
            <a:prstDash val="solid"/>
          </a:ln>
        </p:spPr>
        <p:txBody>
          <a:bodyPr/>
          <a:lstStyle/>
          <a:p/>
        </p:txBody>
      </p:sp>
      <p:sp>
        <p:nvSpPr>
          <p:cNvPr id="13" name="矩形 12"/>
          <p:cNvSpPr>
            <a:spLocks noGrp="1"/>
          </p:cNvSpPr>
          <p:nvPr/>
        </p:nvSpPr>
        <p:spPr>
          <a:xfrm>
            <a:off x="1123950" y="2419350"/>
            <a:ext cx="2724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STAGE 1</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4" name="矩形 13"/>
          <p:cNvSpPr>
            <a:spLocks noGrp="1"/>
          </p:cNvSpPr>
          <p:nvPr/>
        </p:nvSpPr>
        <p:spPr>
          <a:xfrm>
            <a:off x="1123950" y="2590800"/>
            <a:ext cx="27241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Belief formation</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1104900" y="29908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endParaRPr sz="1275" b="1">
              <a:solidFill>
                <a:srgbClr val="B45A3C"/>
              </a:solidFill>
              <a:latin typeface="Aptos"/>
              <a:ea typeface="Aptos"/>
              <a:cs typeface="Aptos"/>
            </a:endParaRPr>
          </a:p>
        </p:txBody>
      </p:sp>
      <p:sp>
        <p:nvSpPr>
          <p:cNvPr id="16" name="矩形 15"/>
          <p:cNvSpPr>
            <a:spLocks noGrp="1"/>
          </p:cNvSpPr>
          <p:nvPr/>
        </p:nvSpPr>
        <p:spPr>
          <a:xfrm>
            <a:off x="1371600" y="29718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information -&gt; belief</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17" name="矩形 16"/>
          <p:cNvSpPr>
            <a:spLocks noGrp="1"/>
          </p:cNvSpPr>
          <p:nvPr/>
        </p:nvSpPr>
        <p:spPr>
          <a:xfrm>
            <a:off x="1104900" y="36766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endParaRPr sz="1275" b="1">
              <a:solidFill>
                <a:srgbClr val="B45A3C"/>
              </a:solidFill>
              <a:latin typeface="Aptos"/>
              <a:ea typeface="Aptos"/>
              <a:cs typeface="Aptos"/>
            </a:endParaRPr>
          </a:p>
        </p:txBody>
      </p:sp>
      <p:sp>
        <p:nvSpPr>
          <p:cNvPr id="18" name="矩形 17"/>
          <p:cNvSpPr>
            <a:spLocks noGrp="1"/>
          </p:cNvSpPr>
          <p:nvPr/>
        </p:nvSpPr>
        <p:spPr>
          <a:xfrm>
            <a:off x="1371600" y="36576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How is information presented and interpreted before people form a judgment?</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19" name="矩形 18"/>
          <p:cNvSpPr>
            <a:spLocks noGrp="1"/>
          </p:cNvSpPr>
          <p:nvPr/>
        </p:nvSpPr>
        <p:spPr>
          <a:xfrm>
            <a:off x="1104900" y="43624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endParaRPr sz="1275" b="1">
              <a:solidFill>
                <a:srgbClr val="B45A3C"/>
              </a:solidFill>
              <a:latin typeface="Aptos"/>
              <a:ea typeface="Aptos"/>
              <a:cs typeface="Aptos"/>
            </a:endParaRPr>
          </a:p>
        </p:txBody>
      </p:sp>
      <p:sp>
        <p:nvSpPr>
          <p:cNvPr id="20" name="矩形 19"/>
          <p:cNvSpPr>
            <a:spLocks noGrp="1"/>
          </p:cNvSpPr>
          <p:nvPr/>
        </p:nvSpPr>
        <p:spPr>
          <a:xfrm>
            <a:off x="1371600" y="43434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AI can shape what feels sufficient, relevant, or already processed.</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1104900" y="5010150"/>
            <a:ext cx="27241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5F6775"/>
                </a:solidFill>
                <a:latin typeface="Times New Roman" panose="02020603050405020304"/>
                <a:ea typeface="Times New Roman" panose="02020603050405020304"/>
                <a:cs typeface="Times New Roman" panose="02020603050405020304"/>
              </a:defRPr>
            </a:pPr>
            <a:r>
              <a:rPr sz="900" b="0">
                <a:solidFill>
                  <a:srgbClr val="5F6775"/>
                </a:solidFill>
                <a:latin typeface="Times New Roman" panose="02020603050405020304"/>
                <a:ea typeface="Times New Roman" panose="02020603050405020304"/>
                <a:cs typeface="Times New Roman" panose="02020603050405020304"/>
              </a:rPr>
              <a:t>This is where beliefs are formed.</a:t>
            </a:r>
            <a:endParaRPr sz="900" b="0">
              <a:solidFill>
                <a:srgbClr val="5F6775"/>
              </a:solidFill>
              <a:latin typeface="Times New Roman" panose="02020603050405020304"/>
              <a:ea typeface="Times New Roman" panose="02020603050405020304"/>
              <a:cs typeface="Times New Roman" panose="02020603050405020304"/>
            </a:endParaRPr>
          </a:p>
        </p:txBody>
      </p:sp>
      <p:sp>
        <p:nvSpPr>
          <p:cNvPr id="22" name="矩形 21"/>
          <p:cNvSpPr>
            <a:spLocks noGrp="1"/>
          </p:cNvSpPr>
          <p:nvPr/>
        </p:nvSpPr>
        <p:spPr>
          <a:xfrm>
            <a:off x="4381500" y="2266950"/>
            <a:ext cx="3143250" cy="3257550"/>
          </a:xfrm>
          <a:prstGeom prst="rect">
            <a:avLst/>
          </a:prstGeom>
          <a:solidFill>
            <a:srgbClr val="FFF9F0"/>
          </a:solidFill>
          <a:ln w="9525">
            <a:solidFill>
              <a:srgbClr val="E9DDCB"/>
            </a:solidFill>
            <a:prstDash val="solid"/>
          </a:ln>
        </p:spPr>
        <p:txBody>
          <a:bodyPr/>
          <a:lstStyle/>
          <a:p/>
        </p:txBody>
      </p:sp>
      <p:sp>
        <p:nvSpPr>
          <p:cNvPr id="23" name="矩形 22"/>
          <p:cNvSpPr>
            <a:spLocks noGrp="1"/>
          </p:cNvSpPr>
          <p:nvPr/>
        </p:nvSpPr>
        <p:spPr>
          <a:xfrm>
            <a:off x="4381500" y="2266950"/>
            <a:ext cx="57150" cy="3257550"/>
          </a:xfrm>
          <a:prstGeom prst="rect">
            <a:avLst/>
          </a:prstGeom>
          <a:solidFill>
            <a:srgbClr val="B45A3C"/>
          </a:solidFill>
          <a:ln w="0">
            <a:solidFill>
              <a:srgbClr val="B45A3C"/>
            </a:solidFill>
            <a:prstDash val="solid"/>
          </a:ln>
        </p:spPr>
        <p:txBody>
          <a:bodyPr/>
          <a:lstStyle/>
          <a:p/>
        </p:txBody>
      </p:sp>
      <p:sp>
        <p:nvSpPr>
          <p:cNvPr id="24" name="矩形 23"/>
          <p:cNvSpPr>
            <a:spLocks noGrp="1"/>
          </p:cNvSpPr>
          <p:nvPr/>
        </p:nvSpPr>
        <p:spPr>
          <a:xfrm>
            <a:off x="4591050" y="2419350"/>
            <a:ext cx="2724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STAGE 2</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25" name="矩形 24"/>
          <p:cNvSpPr>
            <a:spLocks noGrp="1"/>
          </p:cNvSpPr>
          <p:nvPr/>
        </p:nvSpPr>
        <p:spPr>
          <a:xfrm>
            <a:off x="4591050" y="2590800"/>
            <a:ext cx="27241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Reliance /</a:t>
            </a:r>
            <a:endParaRPr sz="1500" b="1">
              <a:solidFill>
                <a:srgbClr val="1D2433"/>
              </a:solidFill>
              <a:latin typeface="Times New Roman" panose="02020603050405020304"/>
              <a:ea typeface="Times New Roman" panose="02020603050405020304"/>
              <a:cs typeface="Times New Roman" panose="02020603050405020304"/>
            </a:endParaRPr>
          </a:p>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action</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26" name="矩形 25"/>
          <p:cNvSpPr>
            <a:spLocks noGrp="1"/>
          </p:cNvSpPr>
          <p:nvPr/>
        </p:nvSpPr>
        <p:spPr>
          <a:xfrm>
            <a:off x="4572000" y="29908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endParaRPr sz="1275" b="1">
              <a:solidFill>
                <a:srgbClr val="B45A3C"/>
              </a:solidFill>
              <a:latin typeface="Aptos"/>
              <a:ea typeface="Aptos"/>
              <a:cs typeface="Aptos"/>
            </a:endParaRPr>
          </a:p>
        </p:txBody>
      </p:sp>
      <p:sp>
        <p:nvSpPr>
          <p:cNvPr id="27" name="矩形 26"/>
          <p:cNvSpPr>
            <a:spLocks noGrp="1"/>
          </p:cNvSpPr>
          <p:nvPr/>
        </p:nvSpPr>
        <p:spPr>
          <a:xfrm>
            <a:off x="4838700" y="29718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belief / feedback</a:t>
            </a:r>
            <a:endParaRPr sz="1275" b="0">
              <a:solidFill>
                <a:srgbClr val="1D2433"/>
              </a:solidFill>
              <a:latin typeface="Times New Roman" panose="02020603050405020304"/>
              <a:ea typeface="Times New Roman" panose="02020603050405020304"/>
              <a:cs typeface="Times New Roman" panose="02020603050405020304"/>
            </a:endParaRPr>
          </a:p>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-&gt; action</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28" name="矩形 27"/>
          <p:cNvSpPr>
            <a:spLocks noGrp="1"/>
          </p:cNvSpPr>
          <p:nvPr/>
        </p:nvSpPr>
        <p:spPr>
          <a:xfrm>
            <a:off x="4572000" y="36766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endParaRPr sz="1275" b="1">
              <a:solidFill>
                <a:srgbClr val="B45A3C"/>
              </a:solidFill>
              <a:latin typeface="Aptos"/>
              <a:ea typeface="Aptos"/>
              <a:cs typeface="Aptos"/>
            </a:endParaRPr>
          </a:p>
        </p:txBody>
      </p:sp>
      <p:sp>
        <p:nvSpPr>
          <p:cNvPr id="29" name="矩形 28"/>
          <p:cNvSpPr>
            <a:spLocks noGrp="1"/>
          </p:cNvSpPr>
          <p:nvPr/>
        </p:nvSpPr>
        <p:spPr>
          <a:xfrm>
            <a:off x="4838700" y="36576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How are cognitive burden, risk perception, and action thresholds adjusted?</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30" name="矩形 29"/>
          <p:cNvSpPr>
            <a:spLocks noGrp="1"/>
          </p:cNvSpPr>
          <p:nvPr/>
        </p:nvSpPr>
        <p:spPr>
          <a:xfrm>
            <a:off x="4572000" y="43624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endParaRPr sz="1275" b="1">
              <a:solidFill>
                <a:srgbClr val="B45A3C"/>
              </a:solidFill>
              <a:latin typeface="Aptos"/>
              <a:ea typeface="Aptos"/>
              <a:cs typeface="Aptos"/>
            </a:endParaRPr>
          </a:p>
        </p:txBody>
      </p:sp>
      <p:sp>
        <p:nvSpPr>
          <p:cNvPr id="31" name="矩形 30"/>
          <p:cNvSpPr>
            <a:spLocks noGrp="1"/>
          </p:cNvSpPr>
          <p:nvPr/>
        </p:nvSpPr>
        <p:spPr>
          <a:xfrm>
            <a:off x="4838700" y="43434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People may rely, defer, or act differently once AI enters the process.</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32" name="矩形 31"/>
          <p:cNvSpPr>
            <a:spLocks noGrp="1"/>
          </p:cNvSpPr>
          <p:nvPr/>
        </p:nvSpPr>
        <p:spPr>
          <a:xfrm>
            <a:off x="4572000" y="5010150"/>
            <a:ext cx="27241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5F6775"/>
                </a:solidFill>
                <a:latin typeface="Times New Roman" panose="02020603050405020304"/>
                <a:ea typeface="Times New Roman" panose="02020603050405020304"/>
                <a:cs typeface="Times New Roman" panose="02020603050405020304"/>
              </a:defRPr>
            </a:pPr>
            <a:r>
              <a:rPr sz="900" b="0">
                <a:solidFill>
                  <a:srgbClr val="5F6775"/>
                </a:solidFill>
                <a:latin typeface="Times New Roman" panose="02020603050405020304"/>
                <a:ea typeface="Times New Roman" panose="02020603050405020304"/>
                <a:cs typeface="Times New Roman" panose="02020603050405020304"/>
              </a:rPr>
              <a:t>This is where reliance and action are recalibrated.</a:t>
            </a:r>
            <a:endParaRPr sz="900" b="0">
              <a:solidFill>
                <a:srgbClr val="5F6775"/>
              </a:solidFill>
              <a:latin typeface="Times New Roman" panose="02020603050405020304"/>
              <a:ea typeface="Times New Roman" panose="02020603050405020304"/>
              <a:cs typeface="Times New Roman" panose="02020603050405020304"/>
            </a:endParaRPr>
          </a:p>
        </p:txBody>
      </p:sp>
      <p:sp>
        <p:nvSpPr>
          <p:cNvPr id="33" name="矩形 32"/>
          <p:cNvSpPr>
            <a:spLocks noGrp="1"/>
          </p:cNvSpPr>
          <p:nvPr/>
        </p:nvSpPr>
        <p:spPr>
          <a:xfrm>
            <a:off x="7848600" y="2266950"/>
            <a:ext cx="3143250" cy="3257550"/>
          </a:xfrm>
          <a:prstGeom prst="rect">
            <a:avLst/>
          </a:prstGeom>
          <a:solidFill>
            <a:srgbClr val="FFF9F0"/>
          </a:solidFill>
          <a:ln w="9525">
            <a:solidFill>
              <a:srgbClr val="E9DDCB"/>
            </a:solidFill>
            <a:prstDash val="solid"/>
          </a:ln>
        </p:spPr>
        <p:txBody>
          <a:bodyPr/>
          <a:lstStyle/>
          <a:p/>
        </p:txBody>
      </p:sp>
      <p:sp>
        <p:nvSpPr>
          <p:cNvPr id="34" name="矩形 33"/>
          <p:cNvSpPr>
            <a:spLocks noGrp="1"/>
          </p:cNvSpPr>
          <p:nvPr/>
        </p:nvSpPr>
        <p:spPr>
          <a:xfrm>
            <a:off x="7848600" y="2266950"/>
            <a:ext cx="57150" cy="3257550"/>
          </a:xfrm>
          <a:prstGeom prst="rect">
            <a:avLst/>
          </a:prstGeom>
          <a:solidFill>
            <a:srgbClr val="B45A3C"/>
          </a:solidFill>
          <a:ln w="0">
            <a:solidFill>
              <a:srgbClr val="B45A3C"/>
            </a:solidFill>
            <a:prstDash val="solid"/>
          </a:ln>
        </p:spPr>
        <p:txBody>
          <a:bodyPr/>
          <a:lstStyle/>
          <a:p/>
        </p:txBody>
      </p:sp>
      <p:sp>
        <p:nvSpPr>
          <p:cNvPr id="35" name="矩形 34"/>
          <p:cNvSpPr>
            <a:spLocks noGrp="1"/>
          </p:cNvSpPr>
          <p:nvPr/>
        </p:nvSpPr>
        <p:spPr>
          <a:xfrm>
            <a:off x="8058150" y="2419350"/>
            <a:ext cx="2724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STAGE 3</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36" name="矩形 35"/>
          <p:cNvSpPr>
            <a:spLocks noGrp="1"/>
          </p:cNvSpPr>
          <p:nvPr/>
        </p:nvSpPr>
        <p:spPr>
          <a:xfrm>
            <a:off x="8058150" y="2590800"/>
            <a:ext cx="27241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Responsibility</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37" name="矩形 36"/>
          <p:cNvSpPr>
            <a:spLocks noGrp="1"/>
          </p:cNvSpPr>
          <p:nvPr/>
        </p:nvSpPr>
        <p:spPr>
          <a:xfrm>
            <a:off x="8039100" y="29908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endParaRPr sz="1275" b="1">
              <a:solidFill>
                <a:srgbClr val="B45A3C"/>
              </a:solidFill>
              <a:latin typeface="Aptos"/>
              <a:ea typeface="Aptos"/>
              <a:cs typeface="Aptos"/>
            </a:endParaRPr>
          </a:p>
        </p:txBody>
      </p:sp>
      <p:sp>
        <p:nvSpPr>
          <p:cNvPr id="38" name="矩形 37"/>
          <p:cNvSpPr>
            <a:spLocks noGrp="1"/>
          </p:cNvSpPr>
          <p:nvPr/>
        </p:nvSpPr>
        <p:spPr>
          <a:xfrm>
            <a:off x="8305800" y="29718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action -&gt; consequence</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39" name="矩形 38"/>
          <p:cNvSpPr>
            <a:spLocks noGrp="1"/>
          </p:cNvSpPr>
          <p:nvPr/>
        </p:nvSpPr>
        <p:spPr>
          <a:xfrm>
            <a:off x="8039100" y="36766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endParaRPr sz="1275" b="1">
              <a:solidFill>
                <a:srgbClr val="B45A3C"/>
              </a:solidFill>
              <a:latin typeface="Aptos"/>
              <a:ea typeface="Aptos"/>
              <a:cs typeface="Aptos"/>
            </a:endParaRPr>
          </a:p>
        </p:txBody>
      </p:sp>
      <p:sp>
        <p:nvSpPr>
          <p:cNvPr id="40" name="矩形 39"/>
          <p:cNvSpPr>
            <a:spLocks noGrp="1"/>
          </p:cNvSpPr>
          <p:nvPr/>
        </p:nvSpPr>
        <p:spPr>
          <a:xfrm>
            <a:off x="8305800" y="36576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How are decision authority, ownership, and consequences understood after action?</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41" name="矩形 40"/>
          <p:cNvSpPr>
            <a:spLocks noGrp="1"/>
          </p:cNvSpPr>
          <p:nvPr/>
        </p:nvSpPr>
        <p:spPr>
          <a:xfrm>
            <a:off x="8039100" y="43624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endParaRPr sz="1275" b="1">
              <a:solidFill>
                <a:srgbClr val="B45A3C"/>
              </a:solidFill>
              <a:latin typeface="Aptos"/>
              <a:ea typeface="Aptos"/>
              <a:cs typeface="Aptos"/>
            </a:endParaRPr>
          </a:p>
        </p:txBody>
      </p:sp>
      <p:sp>
        <p:nvSpPr>
          <p:cNvPr id="42" name="矩形 41"/>
          <p:cNvSpPr>
            <a:spLocks noGrp="1"/>
          </p:cNvSpPr>
          <p:nvPr/>
        </p:nvSpPr>
        <p:spPr>
          <a:xfrm>
            <a:off x="8305800" y="43434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AI can also reshape how responsibility is assigned once outcomes occur.</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43" name="矩形 42"/>
          <p:cNvSpPr>
            <a:spLocks noGrp="1"/>
          </p:cNvSpPr>
          <p:nvPr/>
        </p:nvSpPr>
        <p:spPr>
          <a:xfrm>
            <a:off x="8039100" y="5010150"/>
            <a:ext cx="27241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5F6775"/>
                </a:solidFill>
                <a:latin typeface="Times New Roman" panose="02020603050405020304"/>
                <a:ea typeface="Times New Roman" panose="02020603050405020304"/>
                <a:cs typeface="Times New Roman" panose="02020603050405020304"/>
              </a:defRPr>
            </a:pPr>
            <a:r>
              <a:rPr sz="900" b="0">
                <a:solidFill>
                  <a:srgbClr val="5F6775"/>
                </a:solidFill>
                <a:latin typeface="Times New Roman" panose="02020603050405020304"/>
                <a:ea typeface="Times New Roman" panose="02020603050405020304"/>
                <a:cs typeface="Times New Roman" panose="02020603050405020304"/>
              </a:rPr>
              <a:t>This is where responsibility is interpreted.</a:t>
            </a:r>
            <a:endParaRPr sz="900" b="0">
              <a:solidFill>
                <a:srgbClr val="5F67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DECISION ARCHITECTURE</a:t>
            </a:r>
            <a:endParaRPr sz="1050" b="1">
              <a:solidFill>
                <a:srgbClr val="B45A3C"/>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914400"/>
            <a:ext cx="72390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This dissertation narrows the broader problem into AI as decision architecture</a:t>
            </a:r>
            <a:endParaRPr sz="2550" b="1">
              <a:solidFill>
                <a:srgbClr val="1D2433"/>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Decision architecture is used here as an integrative framework, not as a fully settled theory.</a:t>
            </a:r>
            <a:endParaRPr sz="750" b="0">
              <a:solidFill>
                <a:srgbClr val="7B7F88"/>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07</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914400" y="2343150"/>
            <a:ext cx="4076700" cy="1314450"/>
          </a:xfrm>
          <a:prstGeom prst="rect">
            <a:avLst/>
          </a:prstGeom>
          <a:solidFill>
            <a:srgbClr val="FFF9F0"/>
          </a:solidFill>
          <a:ln w="9525">
            <a:solidFill>
              <a:srgbClr val="E9DDCB"/>
            </a:solidFill>
            <a:prstDash val="solid"/>
          </a:ln>
        </p:spPr>
        <p:txBody>
          <a:bodyPr/>
          <a:lstStyle/>
          <a:p/>
        </p:txBody>
      </p:sp>
      <p:sp>
        <p:nvSpPr>
          <p:cNvPr id="12" name="矩形 11"/>
          <p:cNvSpPr>
            <a:spLocks noGrp="1"/>
          </p:cNvSpPr>
          <p:nvPr/>
        </p:nvSpPr>
        <p:spPr>
          <a:xfrm>
            <a:off x="914400" y="2343150"/>
            <a:ext cx="57150" cy="1314450"/>
          </a:xfrm>
          <a:prstGeom prst="rect">
            <a:avLst/>
          </a:prstGeom>
          <a:solidFill>
            <a:srgbClr val="B45A3C"/>
          </a:solidFill>
          <a:ln w="0">
            <a:solidFill>
              <a:srgbClr val="B45A3C"/>
            </a:solidFill>
            <a:prstDash val="solid"/>
          </a:ln>
        </p:spPr>
        <p:txBody>
          <a:bodyPr/>
          <a:lstStyle/>
          <a:p/>
        </p:txBody>
      </p:sp>
      <p:sp>
        <p:nvSpPr>
          <p:cNvPr id="13" name="矩形 12"/>
          <p:cNvSpPr>
            <a:spLocks noGrp="1"/>
          </p:cNvSpPr>
          <p:nvPr/>
        </p:nvSpPr>
        <p:spPr>
          <a:xfrm>
            <a:off x="1123950" y="249555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INFORMATION FLOW</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4" name="矩形 13"/>
          <p:cNvSpPr>
            <a:spLocks noGrp="1"/>
          </p:cNvSpPr>
          <p:nvPr/>
        </p:nvSpPr>
        <p:spPr>
          <a:xfrm>
            <a:off x="1123950" y="266700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What reaches the person</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1123950" y="310515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AI can reorder evidence, summary, explanation, and verification.</a:t>
            </a:r>
            <a:endParaRPr sz="1200" b="0">
              <a:solidFill>
                <a:srgbClr val="5F6775"/>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5638800" y="2343150"/>
            <a:ext cx="4076700" cy="1314450"/>
          </a:xfrm>
          <a:prstGeom prst="rect">
            <a:avLst/>
          </a:prstGeom>
          <a:solidFill>
            <a:srgbClr val="FFF9F0"/>
          </a:solidFill>
          <a:ln w="9525">
            <a:solidFill>
              <a:srgbClr val="E9DDCB"/>
            </a:solidFill>
            <a:prstDash val="solid"/>
          </a:ln>
        </p:spPr>
        <p:txBody>
          <a:bodyPr/>
          <a:lstStyle/>
          <a:p/>
        </p:txBody>
      </p:sp>
      <p:sp>
        <p:nvSpPr>
          <p:cNvPr id="17" name="矩形 16"/>
          <p:cNvSpPr>
            <a:spLocks noGrp="1"/>
          </p:cNvSpPr>
          <p:nvPr/>
        </p:nvSpPr>
        <p:spPr>
          <a:xfrm>
            <a:off x="5638800" y="2343150"/>
            <a:ext cx="57150" cy="1314450"/>
          </a:xfrm>
          <a:prstGeom prst="rect">
            <a:avLst/>
          </a:prstGeom>
          <a:solidFill>
            <a:srgbClr val="B45A3C"/>
          </a:solidFill>
          <a:ln w="0">
            <a:solidFill>
              <a:srgbClr val="B45A3C"/>
            </a:solidFill>
            <a:prstDash val="solid"/>
          </a:ln>
        </p:spPr>
        <p:txBody>
          <a:bodyPr/>
          <a:lstStyle/>
          <a:p/>
        </p:txBody>
      </p:sp>
      <p:sp>
        <p:nvSpPr>
          <p:cNvPr id="18" name="矩形 17"/>
          <p:cNvSpPr>
            <a:spLocks noGrp="1"/>
          </p:cNvSpPr>
          <p:nvPr/>
        </p:nvSpPr>
        <p:spPr>
          <a:xfrm>
            <a:off x="5848350" y="249555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COGNITIVE BURDEN</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9" name="矩形 18"/>
          <p:cNvSpPr>
            <a:spLocks noGrp="1"/>
          </p:cNvSpPr>
          <p:nvPr/>
        </p:nvSpPr>
        <p:spPr>
          <a:xfrm>
            <a:off x="5848350" y="266700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What must be processed</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5848350" y="310515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It changes what people feel they need to inspect, infer, or own themselves.</a:t>
            </a:r>
            <a:endParaRPr sz="1200" b="0">
              <a:solidFill>
                <a:srgbClr val="5F6775"/>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914400" y="4000500"/>
            <a:ext cx="4076700" cy="1314450"/>
          </a:xfrm>
          <a:prstGeom prst="rect">
            <a:avLst/>
          </a:prstGeom>
          <a:solidFill>
            <a:srgbClr val="FFF9F0"/>
          </a:solidFill>
          <a:ln w="9525">
            <a:solidFill>
              <a:srgbClr val="E9DDCB"/>
            </a:solidFill>
            <a:prstDash val="solid"/>
          </a:ln>
        </p:spPr>
        <p:txBody>
          <a:bodyPr/>
          <a:lstStyle/>
          <a:p/>
        </p:txBody>
      </p:sp>
      <p:sp>
        <p:nvSpPr>
          <p:cNvPr id="22" name="矩形 21"/>
          <p:cNvSpPr>
            <a:spLocks noGrp="1"/>
          </p:cNvSpPr>
          <p:nvPr/>
        </p:nvSpPr>
        <p:spPr>
          <a:xfrm>
            <a:off x="914400" y="4000500"/>
            <a:ext cx="57150" cy="1314450"/>
          </a:xfrm>
          <a:prstGeom prst="rect">
            <a:avLst/>
          </a:prstGeom>
          <a:solidFill>
            <a:srgbClr val="B45A3C"/>
          </a:solidFill>
          <a:ln w="0">
            <a:solidFill>
              <a:srgbClr val="B45A3C"/>
            </a:solidFill>
            <a:prstDash val="solid"/>
          </a:ln>
        </p:spPr>
        <p:txBody>
          <a:bodyPr/>
          <a:lstStyle/>
          <a:p/>
        </p:txBody>
      </p:sp>
      <p:sp>
        <p:nvSpPr>
          <p:cNvPr id="23" name="矩形 22"/>
          <p:cNvSpPr>
            <a:spLocks noGrp="1"/>
          </p:cNvSpPr>
          <p:nvPr/>
        </p:nvSpPr>
        <p:spPr>
          <a:xfrm>
            <a:off x="1123950" y="415290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ACTION THRESHOLDS</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24" name="矩形 23"/>
          <p:cNvSpPr>
            <a:spLocks noGrp="1"/>
          </p:cNvSpPr>
          <p:nvPr/>
        </p:nvSpPr>
        <p:spPr>
          <a:xfrm>
            <a:off x="1123950" y="432435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When action is triggered</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25" name="矩形 24"/>
          <p:cNvSpPr>
            <a:spLocks noGrp="1"/>
          </p:cNvSpPr>
          <p:nvPr/>
        </p:nvSpPr>
        <p:spPr>
          <a:xfrm>
            <a:off x="1123950" y="476250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It recalibrates reliance, delegation, and the point at which people act.</a:t>
            </a:r>
            <a:endParaRPr sz="1200" b="0">
              <a:solidFill>
                <a:srgbClr val="5F6775"/>
              </a:solidFill>
              <a:latin typeface="Times New Roman" panose="02020603050405020304"/>
              <a:ea typeface="Times New Roman" panose="02020603050405020304"/>
              <a:cs typeface="Times New Roman" panose="02020603050405020304"/>
            </a:endParaRPr>
          </a:p>
        </p:txBody>
      </p:sp>
      <p:sp>
        <p:nvSpPr>
          <p:cNvPr id="26" name="矩形 25"/>
          <p:cNvSpPr>
            <a:spLocks noGrp="1"/>
          </p:cNvSpPr>
          <p:nvPr/>
        </p:nvSpPr>
        <p:spPr>
          <a:xfrm>
            <a:off x="5638800" y="4000500"/>
            <a:ext cx="4076700" cy="1314450"/>
          </a:xfrm>
          <a:prstGeom prst="rect">
            <a:avLst/>
          </a:prstGeom>
          <a:solidFill>
            <a:srgbClr val="FFF9F0"/>
          </a:solidFill>
          <a:ln w="9525">
            <a:solidFill>
              <a:srgbClr val="E9DDCB"/>
            </a:solidFill>
            <a:prstDash val="solid"/>
          </a:ln>
        </p:spPr>
        <p:txBody>
          <a:bodyPr/>
          <a:lstStyle/>
          <a:p/>
        </p:txBody>
      </p:sp>
      <p:sp>
        <p:nvSpPr>
          <p:cNvPr id="27" name="矩形 26"/>
          <p:cNvSpPr>
            <a:spLocks noGrp="1"/>
          </p:cNvSpPr>
          <p:nvPr/>
        </p:nvSpPr>
        <p:spPr>
          <a:xfrm>
            <a:off x="5638800" y="4000500"/>
            <a:ext cx="57150" cy="1314450"/>
          </a:xfrm>
          <a:prstGeom prst="rect">
            <a:avLst/>
          </a:prstGeom>
          <a:solidFill>
            <a:srgbClr val="B45A3C"/>
          </a:solidFill>
          <a:ln w="0">
            <a:solidFill>
              <a:srgbClr val="B45A3C"/>
            </a:solidFill>
            <a:prstDash val="solid"/>
          </a:ln>
        </p:spPr>
        <p:txBody>
          <a:bodyPr/>
          <a:lstStyle/>
          <a:p/>
        </p:txBody>
      </p:sp>
      <p:sp>
        <p:nvSpPr>
          <p:cNvPr id="28" name="矩形 27"/>
          <p:cNvSpPr>
            <a:spLocks noGrp="1"/>
          </p:cNvSpPr>
          <p:nvPr/>
        </p:nvSpPr>
        <p:spPr>
          <a:xfrm>
            <a:off x="5848350" y="415290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RESPONSIBILITY RELATIONS</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29" name="矩形 28"/>
          <p:cNvSpPr>
            <a:spLocks noGrp="1"/>
          </p:cNvSpPr>
          <p:nvPr/>
        </p:nvSpPr>
        <p:spPr>
          <a:xfrm>
            <a:off x="5848350" y="432435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Who bears consequences</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30" name="矩形 29"/>
          <p:cNvSpPr>
            <a:spLocks noGrp="1"/>
          </p:cNvSpPr>
          <p:nvPr/>
        </p:nvSpPr>
        <p:spPr>
          <a:xfrm>
            <a:off x="5848350" y="476250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It reshapes ownership, accountability, and responsibility sharing after action.</a:t>
            </a:r>
            <a:endParaRPr sz="1200" b="0">
              <a:solidFill>
                <a:srgbClr val="5F67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PAPER MAP</a:t>
            </a:r>
            <a:endParaRPr sz="1050" b="1">
              <a:solidFill>
                <a:srgbClr val="B45A3C"/>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914400"/>
            <a:ext cx="72390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The three papers isolate different mappings within the same decision process</a:t>
            </a:r>
            <a:endParaRPr sz="2550" b="1">
              <a:solidFill>
                <a:srgbClr val="1D2433"/>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Unity comes from one process; independence comes from different mechanisms, tasks, and outcomes.</a:t>
            </a:r>
            <a:endParaRPr sz="750" b="0">
              <a:solidFill>
                <a:srgbClr val="7B7F88"/>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08</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custDataLst>
              <p:tags r:id="rId1"/>
            </p:custDataLst>
          </p:nvPr>
        </p:nvSpPr>
        <p:spPr>
          <a:xfrm>
            <a:off x="914400" y="2343150"/>
            <a:ext cx="4076700" cy="1314450"/>
          </a:xfrm>
          <a:prstGeom prst="rect">
            <a:avLst/>
          </a:prstGeom>
          <a:solidFill>
            <a:srgbClr val="FFF9F0"/>
          </a:solidFill>
          <a:ln w="9525">
            <a:solidFill>
              <a:srgbClr val="E9DDCB"/>
            </a:solidFill>
            <a:prstDash val="solid"/>
          </a:ln>
        </p:spPr>
        <p:txBody>
          <a:bodyPr/>
          <a:lstStyle/>
          <a:p/>
        </p:txBody>
      </p:sp>
      <p:sp>
        <p:nvSpPr>
          <p:cNvPr id="12" name="矩形 11"/>
          <p:cNvSpPr>
            <a:spLocks noGrp="1"/>
          </p:cNvSpPr>
          <p:nvPr>
            <p:custDataLst>
              <p:tags r:id="rId2"/>
            </p:custDataLst>
          </p:nvPr>
        </p:nvSpPr>
        <p:spPr>
          <a:xfrm>
            <a:off x="914400" y="2343150"/>
            <a:ext cx="57150" cy="1314450"/>
          </a:xfrm>
          <a:prstGeom prst="rect">
            <a:avLst/>
          </a:prstGeom>
          <a:solidFill>
            <a:srgbClr val="B45A3C"/>
          </a:solidFill>
          <a:ln w="0">
            <a:solidFill>
              <a:srgbClr val="B45A3C"/>
            </a:solidFill>
            <a:prstDash val="solid"/>
          </a:ln>
        </p:spPr>
        <p:txBody>
          <a:bodyPr/>
          <a:lstStyle/>
          <a:p/>
        </p:txBody>
      </p:sp>
      <p:sp>
        <p:nvSpPr>
          <p:cNvPr id="13" name="矩形 12"/>
          <p:cNvSpPr>
            <a:spLocks noGrp="1"/>
          </p:cNvSpPr>
          <p:nvPr>
            <p:custDataLst>
              <p:tags r:id="rId3"/>
            </p:custDataLst>
          </p:nvPr>
        </p:nvSpPr>
        <p:spPr>
          <a:xfrm>
            <a:off x="1123950" y="249555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PAPER 1</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4" name="矩形 13"/>
          <p:cNvSpPr>
            <a:spLocks noGrp="1"/>
          </p:cNvSpPr>
          <p:nvPr>
            <p:custDataLst>
              <p:tags r:id="rId4"/>
            </p:custDataLst>
          </p:nvPr>
        </p:nvSpPr>
        <p:spPr>
          <a:xfrm>
            <a:off x="1123950" y="266700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evidence -&gt; belief</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custDataLst>
              <p:tags r:id="rId5"/>
            </p:custDataLst>
          </p:nvPr>
        </p:nvSpPr>
        <p:spPr>
          <a:xfrm>
            <a:off x="1123950" y="310515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How answer-first AI changes evidence search, Bayesian updating, and subjective mastery.</a:t>
            </a:r>
            <a:endParaRPr sz="1200" b="0">
              <a:solidFill>
                <a:srgbClr val="5F6775"/>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custDataLst>
              <p:tags r:id="rId6"/>
            </p:custDataLst>
          </p:nvPr>
        </p:nvSpPr>
        <p:spPr>
          <a:xfrm>
            <a:off x="5638800" y="2343150"/>
            <a:ext cx="4076700" cy="1314450"/>
          </a:xfrm>
          <a:prstGeom prst="rect">
            <a:avLst/>
          </a:prstGeom>
          <a:solidFill>
            <a:srgbClr val="FFF9F0"/>
          </a:solidFill>
          <a:ln w="9525">
            <a:solidFill>
              <a:srgbClr val="E9DDCB"/>
            </a:solidFill>
            <a:prstDash val="solid"/>
          </a:ln>
        </p:spPr>
        <p:txBody>
          <a:bodyPr/>
          <a:lstStyle/>
          <a:p/>
        </p:txBody>
      </p:sp>
      <p:sp>
        <p:nvSpPr>
          <p:cNvPr id="17" name="矩形 16"/>
          <p:cNvSpPr>
            <a:spLocks noGrp="1"/>
          </p:cNvSpPr>
          <p:nvPr>
            <p:custDataLst>
              <p:tags r:id="rId7"/>
            </p:custDataLst>
          </p:nvPr>
        </p:nvSpPr>
        <p:spPr>
          <a:xfrm>
            <a:off x="5638800" y="2343150"/>
            <a:ext cx="57150" cy="1314450"/>
          </a:xfrm>
          <a:prstGeom prst="rect">
            <a:avLst/>
          </a:prstGeom>
          <a:solidFill>
            <a:srgbClr val="B45A3C"/>
          </a:solidFill>
          <a:ln w="0">
            <a:solidFill>
              <a:srgbClr val="B45A3C"/>
            </a:solidFill>
            <a:prstDash val="solid"/>
          </a:ln>
        </p:spPr>
        <p:txBody>
          <a:bodyPr/>
          <a:lstStyle/>
          <a:p/>
        </p:txBody>
      </p:sp>
      <p:sp>
        <p:nvSpPr>
          <p:cNvPr id="18" name="矩形 17"/>
          <p:cNvSpPr>
            <a:spLocks noGrp="1"/>
          </p:cNvSpPr>
          <p:nvPr>
            <p:custDataLst>
              <p:tags r:id="rId8"/>
            </p:custDataLst>
          </p:nvPr>
        </p:nvSpPr>
        <p:spPr>
          <a:xfrm>
            <a:off x="5848350" y="249555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PAPER 2</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9" name="矩形 18"/>
          <p:cNvSpPr>
            <a:spLocks noGrp="1"/>
          </p:cNvSpPr>
          <p:nvPr>
            <p:custDataLst>
              <p:tags r:id="rId9"/>
            </p:custDataLst>
          </p:nvPr>
        </p:nvSpPr>
        <p:spPr>
          <a:xfrm>
            <a:off x="5848350" y="266700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belief / feedback</a:t>
            </a:r>
            <a:endParaRPr sz="1500" b="1">
              <a:solidFill>
                <a:srgbClr val="1D2433"/>
              </a:solidFill>
              <a:latin typeface="Times New Roman" panose="02020603050405020304"/>
              <a:ea typeface="Times New Roman" panose="02020603050405020304"/>
              <a:cs typeface="Times New Roman" panose="02020603050405020304"/>
            </a:endParaRPr>
          </a:p>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-&gt; action threshold</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custDataLst>
              <p:tags r:id="rId10"/>
            </p:custDataLst>
          </p:nvPr>
        </p:nvSpPr>
        <p:spPr>
          <a:xfrm>
            <a:off x="5848350" y="310515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How early AI error recalibrates reliance under repeated feedback.</a:t>
            </a:r>
            <a:endParaRPr sz="1200" b="0">
              <a:solidFill>
                <a:srgbClr val="5F6775"/>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custDataLst>
              <p:tags r:id="rId11"/>
            </p:custDataLst>
          </p:nvPr>
        </p:nvSpPr>
        <p:spPr>
          <a:xfrm>
            <a:off x="914400" y="4000500"/>
            <a:ext cx="4076700" cy="1314450"/>
          </a:xfrm>
          <a:prstGeom prst="rect">
            <a:avLst/>
          </a:prstGeom>
          <a:solidFill>
            <a:srgbClr val="FFF9F0"/>
          </a:solidFill>
          <a:ln w="9525">
            <a:solidFill>
              <a:srgbClr val="E9DDCB"/>
            </a:solidFill>
            <a:prstDash val="solid"/>
          </a:ln>
        </p:spPr>
        <p:txBody>
          <a:bodyPr/>
          <a:lstStyle/>
          <a:p/>
        </p:txBody>
      </p:sp>
      <p:sp>
        <p:nvSpPr>
          <p:cNvPr id="22" name="矩形 21"/>
          <p:cNvSpPr>
            <a:spLocks noGrp="1"/>
          </p:cNvSpPr>
          <p:nvPr>
            <p:custDataLst>
              <p:tags r:id="rId12"/>
            </p:custDataLst>
          </p:nvPr>
        </p:nvSpPr>
        <p:spPr>
          <a:xfrm>
            <a:off x="914400" y="4000500"/>
            <a:ext cx="57150" cy="1314450"/>
          </a:xfrm>
          <a:prstGeom prst="rect">
            <a:avLst/>
          </a:prstGeom>
          <a:solidFill>
            <a:srgbClr val="B45A3C"/>
          </a:solidFill>
          <a:ln w="0">
            <a:solidFill>
              <a:srgbClr val="B45A3C"/>
            </a:solidFill>
            <a:prstDash val="solid"/>
          </a:ln>
        </p:spPr>
        <p:txBody>
          <a:bodyPr/>
          <a:lstStyle/>
          <a:p/>
        </p:txBody>
      </p:sp>
      <p:sp>
        <p:nvSpPr>
          <p:cNvPr id="23" name="矩形 22"/>
          <p:cNvSpPr>
            <a:spLocks noGrp="1"/>
          </p:cNvSpPr>
          <p:nvPr>
            <p:custDataLst>
              <p:tags r:id="rId13"/>
            </p:custDataLst>
          </p:nvPr>
        </p:nvSpPr>
        <p:spPr>
          <a:xfrm>
            <a:off x="1123950" y="415290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PAPER 3</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24" name="矩形 23"/>
          <p:cNvSpPr>
            <a:spLocks noGrp="1"/>
          </p:cNvSpPr>
          <p:nvPr>
            <p:custDataLst>
              <p:tags r:id="rId14"/>
            </p:custDataLst>
          </p:nvPr>
        </p:nvSpPr>
        <p:spPr>
          <a:xfrm>
            <a:off x="1123950" y="432435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action -&gt; responsibility</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25" name="矩形 24"/>
          <p:cNvSpPr>
            <a:spLocks noGrp="1"/>
          </p:cNvSpPr>
          <p:nvPr>
            <p:custDataLst>
              <p:tags r:id="rId15"/>
            </p:custDataLst>
          </p:nvPr>
        </p:nvSpPr>
        <p:spPr>
          <a:xfrm>
            <a:off x="1123950" y="476250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lang="en-US" altLang="zh-CN" sz="1200" b="0">
                <a:solidFill>
                  <a:srgbClr val="5F6775"/>
                </a:solidFill>
                <a:latin typeface="Times New Roman" panose="02020603050405020304"/>
                <a:ea typeface="Times New Roman" panose="02020603050405020304"/>
                <a:cs typeface="Times New Roman" panose="02020603050405020304"/>
              </a:rPr>
              <a:t>How AI-system responsibility design reshapes decisional ownership, felt accountability, and escalation behavior</a:t>
            </a:r>
            <a:endParaRPr lang="en-US" altLang="zh-CN" sz="1200" b="0">
              <a:solidFill>
                <a:srgbClr val="5F6775"/>
              </a:solidFill>
              <a:latin typeface="Times New Roman" panose="02020603050405020304"/>
              <a:ea typeface="Times New Roman" panose="02020603050405020304"/>
              <a:cs typeface="Times New Roman" panose="02020603050405020304"/>
            </a:endParaRPr>
          </a:p>
        </p:txBody>
      </p:sp>
      <p:sp>
        <p:nvSpPr>
          <p:cNvPr id="26" name="矩形 25"/>
          <p:cNvSpPr>
            <a:spLocks noGrp="1"/>
          </p:cNvSpPr>
          <p:nvPr>
            <p:custDataLst>
              <p:tags r:id="rId16"/>
            </p:custDataLst>
          </p:nvPr>
        </p:nvSpPr>
        <p:spPr>
          <a:xfrm>
            <a:off x="5638800" y="4000500"/>
            <a:ext cx="4076700" cy="1314450"/>
          </a:xfrm>
          <a:prstGeom prst="rect">
            <a:avLst/>
          </a:prstGeom>
          <a:solidFill>
            <a:srgbClr val="FFF9F0"/>
          </a:solidFill>
          <a:ln w="9525">
            <a:solidFill>
              <a:srgbClr val="E9DDCB"/>
            </a:solidFill>
            <a:prstDash val="solid"/>
          </a:ln>
        </p:spPr>
        <p:txBody>
          <a:bodyPr/>
          <a:lstStyle/>
          <a:p/>
        </p:txBody>
      </p:sp>
      <p:sp>
        <p:nvSpPr>
          <p:cNvPr id="27" name="矩形 26"/>
          <p:cNvSpPr>
            <a:spLocks noGrp="1"/>
          </p:cNvSpPr>
          <p:nvPr>
            <p:custDataLst>
              <p:tags r:id="rId17"/>
            </p:custDataLst>
          </p:nvPr>
        </p:nvSpPr>
        <p:spPr>
          <a:xfrm>
            <a:off x="5638800" y="4000500"/>
            <a:ext cx="57150" cy="1314450"/>
          </a:xfrm>
          <a:prstGeom prst="rect">
            <a:avLst/>
          </a:prstGeom>
          <a:solidFill>
            <a:srgbClr val="B45A3C"/>
          </a:solidFill>
          <a:ln w="0">
            <a:solidFill>
              <a:srgbClr val="B45A3C"/>
            </a:solidFill>
            <a:prstDash val="solid"/>
          </a:ln>
        </p:spPr>
        <p:txBody>
          <a:bodyPr/>
          <a:lstStyle/>
          <a:p/>
        </p:txBody>
      </p:sp>
      <p:sp>
        <p:nvSpPr>
          <p:cNvPr id="28" name="矩形 27"/>
          <p:cNvSpPr>
            <a:spLocks noGrp="1"/>
          </p:cNvSpPr>
          <p:nvPr>
            <p:custDataLst>
              <p:tags r:id="rId18"/>
            </p:custDataLst>
          </p:nvPr>
        </p:nvSpPr>
        <p:spPr>
          <a:xfrm>
            <a:off x="5848350" y="415290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NEXT</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29" name="矩形 28"/>
          <p:cNvSpPr>
            <a:spLocks noGrp="1"/>
          </p:cNvSpPr>
          <p:nvPr>
            <p:custDataLst>
              <p:tags r:id="rId19"/>
            </p:custDataLst>
          </p:nvPr>
        </p:nvSpPr>
        <p:spPr>
          <a:xfrm>
            <a:off x="5848350" y="432435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Why begin with Paper 1</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30" name="矩形 29"/>
          <p:cNvSpPr>
            <a:spLocks noGrp="1"/>
          </p:cNvSpPr>
          <p:nvPr>
            <p:custDataLst>
              <p:tags r:id="rId20"/>
            </p:custDataLst>
          </p:nvPr>
        </p:nvSpPr>
        <p:spPr>
          <a:xfrm>
            <a:off x="5848350" y="476250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Later reliance and responsibility rest on a belief base AI may already have reshaped.</a:t>
            </a:r>
            <a:endParaRPr sz="1200" b="0">
              <a:solidFill>
                <a:srgbClr val="5F67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tags/tag1.xml><?xml version="1.0" encoding="utf-8"?>
<p:tagLst xmlns:p="http://schemas.openxmlformats.org/presentationml/2006/main">
  <p:tag name="KSO_WM_DIAGRAM_VIRTUALLY_FRAME" val="{&quot;height&quot;:234,&quot;left&quot;:72,&quot;top&quot;:184.5,&quot;width&quot;:693}"/>
</p:tagLst>
</file>

<file path=ppt/tags/tag2.xml><?xml version="1.0" encoding="utf-8"?>
<p:tagLst xmlns:p="http://schemas.openxmlformats.org/presentationml/2006/main">
  <p:tag name="KSO_WM_DIAGRAM_VIRTUALLY_FRAME" val="{&quot;height&quot;:234,&quot;left&quot;:72,&quot;top&quot;:184.5,&quot;width&quot;:693}"/>
</p:tagLst>
</file>

<file path=ppt/tags/tag3.xml><?xml version="1.0" encoding="utf-8"?>
<p:tagLst xmlns:p="http://schemas.openxmlformats.org/presentationml/2006/main">
  <p:tag name="KSO_WM_DIAGRAM_VIRTUALLY_FRAME" val="{&quot;height&quot;:234,&quot;left&quot;:72,&quot;top&quot;:184.5,&quot;width&quot;:693}"/>
</p:tagLst>
</file>

<file path=ppt/tags/tag4.xml><?xml version="1.0" encoding="utf-8"?>
<p:tagLst xmlns:p="http://schemas.openxmlformats.org/presentationml/2006/main">
  <p:tag name="KSO_WM_DIAGRAM_VIRTUALLY_FRAME" val="{&quot;height&quot;:234,&quot;left&quot;:72,&quot;top&quot;:184.5,&quot;width&quot;:693}"/>
</p:tagLst>
</file>

<file path=ppt/tags/tag5.xml><?xml version="1.0" encoding="utf-8"?>
<p:tagLst xmlns:p="http://schemas.openxmlformats.org/presentationml/2006/main">
  <p:tag name="KSO_WM_DIAGRAM_VIRTUALLY_FRAME" val="{&quot;height&quot;:234,&quot;left&quot;:72,&quot;top&quot;:184.5,&quot;width&quot;:693}"/>
</p:tagLst>
</file>

<file path=ppt/tags/tag6.xml><?xml version="1.0" encoding="utf-8"?>
<p:tagLst xmlns:p="http://schemas.openxmlformats.org/presentationml/2006/main">
  <p:tag name="KSO_WM_DIAGRAM_VIRTUALLY_FRAME" val="{&quot;height&quot;:234,&quot;left&quot;:72,&quot;top&quot;:184.5,&quot;width&quot;:693}"/>
</p:tagLst>
</file>

<file path=ppt/tags/tag7.xml><?xml version="1.0" encoding="utf-8"?>
<p:tagLst xmlns:p="http://schemas.openxmlformats.org/presentationml/2006/main">
  <p:tag name="KSO_WM_DIAGRAM_VIRTUALLY_FRAME" val="{&quot;height&quot;:234,&quot;left&quot;:72,&quot;top&quot;:184.5,&quot;width&quot;:693}"/>
</p:tagLst>
</file>

<file path=ppt/tags/tag8.xml><?xml version="1.0" encoding="utf-8"?>
<p:tagLst xmlns:p="http://schemas.openxmlformats.org/presentationml/2006/main">
  <p:tag name="KSO_WM_DIAGRAM_VIRTUALLY_FRAME" val="{&quot;height&quot;:234,&quot;left&quot;:72,&quot;top&quot;:184.5,&quot;width&quot;:693}"/>
</p:tagLst>
</file>

<file path=ppt/tags/tag9.xml><?xml version="1.0" encoding="utf-8"?>
<p:tagLst xmlns:p="http://schemas.openxmlformats.org/presentationml/2006/main">
  <p:tag name="KSO_WM_DIAGRAM_VIRTUALLY_FRAME" val="{&quot;height&quot;:234,&quot;left&quot;:72,&quot;top&quot;:184.5,&quot;width&quot;:693}"/>
</p:tagLst>
</file>

<file path=ppt/tags/tag10.xml><?xml version="1.0" encoding="utf-8"?>
<p:tagLst xmlns:p="http://schemas.openxmlformats.org/presentationml/2006/main">
  <p:tag name="KSO_WM_DIAGRAM_VIRTUALLY_FRAME" val="{&quot;height&quot;:234,&quot;left&quot;:72,&quot;top&quot;:184.5,&quot;width&quot;:693}"/>
</p:tagLst>
</file>

<file path=ppt/tags/tag11.xml><?xml version="1.0" encoding="utf-8"?>
<p:tagLst xmlns:p="http://schemas.openxmlformats.org/presentationml/2006/main">
  <p:tag name="KSO_WM_DIAGRAM_VIRTUALLY_FRAME" val="{&quot;height&quot;:234,&quot;left&quot;:72,&quot;top&quot;:184.5,&quot;width&quot;:693}"/>
</p:tagLst>
</file>

<file path=ppt/tags/tag12.xml><?xml version="1.0" encoding="utf-8"?>
<p:tagLst xmlns:p="http://schemas.openxmlformats.org/presentationml/2006/main">
  <p:tag name="KSO_WM_DIAGRAM_VIRTUALLY_FRAME" val="{&quot;height&quot;:234,&quot;left&quot;:72,&quot;top&quot;:184.5,&quot;width&quot;:693}"/>
</p:tagLst>
</file>

<file path=ppt/tags/tag13.xml><?xml version="1.0" encoding="utf-8"?>
<p:tagLst xmlns:p="http://schemas.openxmlformats.org/presentationml/2006/main">
  <p:tag name="KSO_WM_DIAGRAM_VIRTUALLY_FRAME" val="{&quot;height&quot;:234,&quot;left&quot;:72,&quot;top&quot;:184.5,&quot;width&quot;:693}"/>
</p:tagLst>
</file>

<file path=ppt/tags/tag14.xml><?xml version="1.0" encoding="utf-8"?>
<p:tagLst xmlns:p="http://schemas.openxmlformats.org/presentationml/2006/main">
  <p:tag name="KSO_WM_DIAGRAM_VIRTUALLY_FRAME" val="{&quot;height&quot;:234,&quot;left&quot;:72,&quot;top&quot;:184.5,&quot;width&quot;:693}"/>
</p:tagLst>
</file>

<file path=ppt/tags/tag15.xml><?xml version="1.0" encoding="utf-8"?>
<p:tagLst xmlns:p="http://schemas.openxmlformats.org/presentationml/2006/main">
  <p:tag name="KSO_WM_DIAGRAM_VIRTUALLY_FRAME" val="{&quot;height&quot;:234,&quot;left&quot;:72,&quot;top&quot;:184.5,&quot;width&quot;:693}"/>
</p:tagLst>
</file>

<file path=ppt/tags/tag16.xml><?xml version="1.0" encoding="utf-8"?>
<p:tagLst xmlns:p="http://schemas.openxmlformats.org/presentationml/2006/main">
  <p:tag name="KSO_WM_DIAGRAM_VIRTUALLY_FRAME" val="{&quot;height&quot;:234,&quot;left&quot;:72,&quot;top&quot;:184.5,&quot;width&quot;:693}"/>
</p:tagLst>
</file>

<file path=ppt/tags/tag17.xml><?xml version="1.0" encoding="utf-8"?>
<p:tagLst xmlns:p="http://schemas.openxmlformats.org/presentationml/2006/main">
  <p:tag name="KSO_WM_DIAGRAM_VIRTUALLY_FRAME" val="{&quot;height&quot;:234,&quot;left&quot;:72,&quot;top&quot;:184.5,&quot;width&quot;:693}"/>
</p:tagLst>
</file>

<file path=ppt/tags/tag18.xml><?xml version="1.0" encoding="utf-8"?>
<p:tagLst xmlns:p="http://schemas.openxmlformats.org/presentationml/2006/main">
  <p:tag name="KSO_WM_DIAGRAM_VIRTUALLY_FRAME" val="{&quot;height&quot;:234,&quot;left&quot;:72,&quot;top&quot;:184.5,&quot;width&quot;:693}"/>
</p:tagLst>
</file>

<file path=ppt/tags/tag19.xml><?xml version="1.0" encoding="utf-8"?>
<p:tagLst xmlns:p="http://schemas.openxmlformats.org/presentationml/2006/main">
  <p:tag name="KSO_WM_DIAGRAM_VIRTUALLY_FRAME" val="{&quot;height&quot;:234,&quot;left&quot;:72,&quot;top&quot;:184.5,&quot;width&quot;:693}"/>
</p:tagLst>
</file>

<file path=ppt/tags/tag20.xml><?xml version="1.0" encoding="utf-8"?>
<p:tagLst xmlns:p="http://schemas.openxmlformats.org/presentationml/2006/main">
  <p:tag name="KSO_WM_DIAGRAM_VIRTUALLY_FRAME" val="{&quot;height&quot;:234,&quot;left&quot;:72,&quot;top&quot;:184.5,&quot;width&quot;:693}"/>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5743</Words>
  <Application>WPS 演示</Application>
  <PresentationFormat>Converted Presentation</PresentationFormat>
  <Paragraphs>293</Paragraphs>
  <Slides>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8</vt:i4>
      </vt:variant>
    </vt:vector>
  </HeadingPairs>
  <TitlesOfParts>
    <vt:vector size="20" baseType="lpstr">
      <vt:lpstr>Arial</vt:lpstr>
      <vt:lpstr>宋体</vt:lpstr>
      <vt:lpstr>Wingdings</vt:lpstr>
      <vt:lpstr>Times New Roman</vt:lpstr>
      <vt:lpstr>Aptos Mono</vt:lpstr>
      <vt:lpstr>Cascadia Mono SemiLight</vt:lpstr>
      <vt:lpstr>Aptos</vt:lpstr>
      <vt:lpstr>Segoe UI</vt:lpstr>
      <vt:lpstr>Calibri</vt:lpstr>
      <vt:lpstr>微软雅黑</vt:lpstr>
      <vt:lpstr>Arial Unicode MS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汉克克克克克克克</cp:lastModifiedBy>
  <cp:revision>1</cp:revision>
  <dcterms:created xsi:type="dcterms:W3CDTF">2026-07-06T15:35:11Z</dcterms:created>
  <dcterms:modified xsi:type="dcterms:W3CDTF">2026-07-06T15:35:11Z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F9B6577F9020492090B52EC8FECB16DC_12</vt:lpwstr>
  </property>
  <property fmtid="{D5CDD505-2E9C-101B-9397-08002B2CF9AE}" pid="3" name="KSOProductBuildVer">
    <vt:lpwstr>2052-12.1.0.26895</vt:lpwstr>
  </property>
</Properties>
</file>