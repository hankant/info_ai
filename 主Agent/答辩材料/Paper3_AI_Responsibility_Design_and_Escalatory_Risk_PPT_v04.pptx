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68" r:id="rId3"/>
    <p:sldId id="266"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Now I move to the third paper in the dissertation.</a:t>
            </a:r>
          </a:p>
          <a:p>
            <a:r>
              <a:t>If the first paper studies belief formation and the second studies reliance calibration, this paper asks what happens once a consequential action has to be owned.</a:t>
            </a:r>
          </a:p>
          <a:p>
            <a:r>
              <a:t>The core question is not simply whether AI is used.</a:t>
            </a:r>
          </a:p>
          <a:p>
            <a:r>
              <a:t>It is whether AI system design changes who feels accountable for the final move before the outcome is even known.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Let me start with a concrete case.</a:t>
            </a:r>
          </a:p>
          <a:p>
            <a:r>
              <a:rPr lang="en-US" altLang="zh-CN"/>
              <a:t>Claude has reportedly been used in U.S. military operations related to Iran.</a:t>
            </a:r>
          </a:p>
          <a:p>
            <a:r>
              <a:rPr lang="en-US" altLang="zh-CN"/>
              <a:t>For me, the key question is not only who should be blamed after something goes wrong.</a:t>
            </a:r>
          </a:p>
          <a:p>
            <a:r>
              <a:rPr lang="en-US" altLang="zh-CN"/>
              <a:t>I care more about what happens before the action.</a:t>
            </a:r>
          </a:p>
          <a:p>
            <a:r>
              <a:rPr lang="en-US" altLang="zh-CN"/>
              <a:t>When humans work with AI in these settings, does their sense of responsibility change?</a:t>
            </a:r>
          </a:p>
          <a:p>
            <a:r>
              <a:rPr lang="en-US" altLang="zh-CN"/>
              <a:t>If AI helps analyze intelligence or simulate options, the human may still approve the final action.</a:t>
            </a:r>
          </a:p>
          <a:p>
            <a:r>
              <a:rPr lang="en-US" altLang="zh-CN"/>
              <a:t>But the decision may feel less personal.</a:t>
            </a:r>
          </a:p>
          <a:p>
            <a:r>
              <a:rPr lang="en-US" altLang="zh-CN"/>
              <a:t>The moral burden may become lighter.</a:t>
            </a:r>
          </a:p>
          <a:p>
            <a:r>
              <a:rPr lang="en-US" altLang="zh-CN"/>
              <a:t>Responsibility may start to feel shared between the human and the AI system.</a:t>
            </a:r>
          </a:p>
          <a:p>
            <a:r>
              <a:rPr lang="en-US" altLang="zh-CN"/>
              <a:t>This is why we need controlled experiments.</a:t>
            </a:r>
          </a:p>
          <a:p>
            <a:r>
              <a:rPr lang="en-US" altLang="zh-CN"/>
              <a:t>These high-risk human-AI interactions will become more common.</a:t>
            </a:r>
          </a:p>
          <a:p>
            <a:r>
              <a:rPr lang="en-US" altLang="zh-CN"/>
              <a:t>So we need to understand how people think, feel, and act with AI before we design future rules and governance.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This paper builds on three lines of literature.</a:t>
            </a:r>
          </a:p>
          <a:p>
            <a:r>
              <a:rPr lang="en-US" altLang="zh-CN"/>
              <a:t>The first is about AI workflow design.</a:t>
            </a:r>
          </a:p>
          <a:p>
            <a:r>
              <a:rPr lang="en-US" altLang="zh-CN"/>
              <a:t>AI can enter the decision process in different places.</a:t>
            </a:r>
          </a:p>
          <a:p>
            <a:r>
              <a:rPr lang="en-US" altLang="zh-CN"/>
              <a:t>It can analyze, advise, recommend, or support approval.</a:t>
            </a:r>
          </a:p>
          <a:p>
            <a:r>
              <a:rPr lang="en-US" altLang="zh-CN"/>
              <a:t>So AI’s position in the process matters.</a:t>
            </a:r>
          </a:p>
          <a:p>
            <a:r>
              <a:rPr lang="en-US" altLang="zh-CN"/>
              <a:t>The second line is about delegation.</a:t>
            </a:r>
          </a:p>
          <a:p>
            <a:r>
              <a:rPr lang="en-US" altLang="zh-CN"/>
              <a:t>When a decision may create negative consequences, people may involve another agent to manage responsibility.</a:t>
            </a:r>
          </a:p>
          <a:p>
            <a:r>
              <a:rPr lang="en-US" altLang="zh-CN"/>
              <a:t>With AI support, the human may start to feel less like the full decision owner, and more like a supervisor.</a:t>
            </a:r>
          </a:p>
          <a:p>
            <a:r>
              <a:rPr lang="en-US" altLang="zh-CN"/>
              <a:t>The third line is accountability.</a:t>
            </a:r>
          </a:p>
          <a:p>
            <a:r>
              <a:rPr lang="en-US" altLang="zh-CN"/>
              <a:t>A system can require disclosure, approval, or justification.</a:t>
            </a:r>
          </a:p>
          <a:p>
            <a:r>
              <a:rPr lang="en-US" altLang="zh-CN"/>
              <a:t>But formal accountability does not always mean people actually feel responsible.</a:t>
            </a:r>
          </a:p>
          <a:p>
            <a:r>
              <a:rPr lang="en-US" altLang="zh-CN"/>
              <a:t>So the gap is clear:</a:t>
            </a:r>
          </a:p>
          <a:p>
            <a:r>
              <a:rPr lang="en-US" altLang="zh-CN"/>
              <a:t>We still need to know whether these designs change felt accountability before high-risk action is taken.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This paper also connects to theories of strategic risk.</a:t>
            </a:r>
          </a:p>
          <a:p>
            <a:r>
              <a:rPr lang="en-US" altLang="zh-CN"/>
              <a:t>Rationalist theories explain escalation through bargaining failure, information problems, or commitment problems.</a:t>
            </a:r>
          </a:p>
          <a:p>
            <a:r>
              <a:rPr lang="en-US" altLang="zh-CN"/>
              <a:t>Behavioral theories explain risk-taking through framing, loss aversion, and emotion.</a:t>
            </a:r>
          </a:p>
          <a:p>
            <a:r>
              <a:rPr lang="en-US" altLang="zh-CN"/>
              <a:t>These theories are useful.</a:t>
            </a:r>
          </a:p>
          <a:p>
            <a:r>
              <a:rPr lang="en-US" altLang="zh-CN"/>
              <a:t>But they usually treat responsibility as already given.</a:t>
            </a:r>
          </a:p>
          <a:p>
            <a:r>
              <a:rPr lang="en-US" altLang="zh-CN"/>
              <a:t>The decision maker is assumed to carry the cost of the final choice.</a:t>
            </a:r>
          </a:p>
          <a:p>
            <a:r>
              <a:rPr lang="en-US" altLang="zh-CN"/>
              <a:t>AI may change exactly this condition.</a:t>
            </a:r>
          </a:p>
          <a:p>
            <a:r>
              <a:rPr lang="en-US" altLang="zh-CN"/>
              <a:t>When AI becomes part of the process, accountability may no longer feel fixed.</a:t>
            </a:r>
          </a:p>
          <a:p>
            <a:r>
              <a:rPr lang="en-US" altLang="zh-CN"/>
              <a:t>It may become part of the decision architecture itself.</a:t>
            </a:r>
          </a:p>
          <a:p>
            <a:r>
              <a:rPr lang="en-US" altLang="zh-CN"/>
              <a:t>So the missing variable here is not only belief or payoff.</a:t>
            </a:r>
          </a:p>
          <a:p>
            <a:r>
              <a:rPr lang="en-US" altLang="zh-CN"/>
              <a:t>It is the structure of accountability.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This slide states the gap more directly.</a:t>
            </a:r>
          </a:p>
          <a:p>
            <a:r>
              <a:rPr lang="en-US" altLang="zh-CN"/>
              <a:t>a lot of that work focuses on what happens after the outcome.</a:t>
            </a:r>
          </a:p>
          <a:p>
            <a:r>
              <a:rPr lang="en-US" altLang="zh-CN"/>
              <a:t>Who gets blamed?</a:t>
            </a:r>
          </a:p>
          <a:p>
            <a:r>
              <a:rPr lang="en-US" altLang="zh-CN"/>
              <a:t>Who is accountable?</a:t>
            </a:r>
          </a:p>
          <a:p>
            <a:r>
              <a:rPr lang="en-US" altLang="zh-CN"/>
              <a:t>How is responsibility assigned?</a:t>
            </a:r>
          </a:p>
          <a:p>
            <a:r>
              <a:rPr lang="en-US" altLang="zh-CN"/>
              <a:t>My paper moves the question earlier.</a:t>
            </a:r>
          </a:p>
          <a:p>
            <a:r>
              <a:rPr lang="en-US" altLang="zh-CN"/>
              <a:t>Before the outcome happens, how does the AI-supported process change the person’s sense of ownership?</a:t>
            </a:r>
          </a:p>
          <a:p>
            <a:r>
              <a:rPr lang="en-US" altLang="zh-CN"/>
              <a:t>And does that change affect risky action?</a:t>
            </a:r>
          </a:p>
          <a:p>
            <a:r>
              <a:rPr lang="en-US" altLang="zh-CN"/>
              <a:t>So the gap is about responsibility design.</a:t>
            </a:r>
          </a:p>
          <a:p>
            <a:r>
              <a:rPr lang="en-US" altLang="zh-CN"/>
              <a:t>I want to know how visibility, traceability, attribution, and evaluability shape felt accountability before action.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The paper has four research questions.</a:t>
            </a:r>
          </a:p>
          <a:p>
            <a:r>
              <a:rPr lang="en-US" altLang="zh-CN"/>
              <a:t>First, does AI decision support itself change high-risk strategic choice?</a:t>
            </a:r>
          </a:p>
          <a:p>
            <a:r>
              <a:rPr lang="en-US" altLang="zh-CN"/>
              <a:t>Second, when AI moves closer to the final action, does it change ownership, felt accountability, and responsibility attribution?</a:t>
            </a:r>
          </a:p>
          <a:p>
            <a:r>
              <a:rPr lang="en-US" altLang="zh-CN"/>
              <a:t>Third, can accountability requirements increase felt accountability?</a:t>
            </a:r>
          </a:p>
          <a:p>
            <a:r>
              <a:rPr lang="en-US" altLang="zh-CN"/>
              <a:t>For example, does confirmation or justification make the human feel more responsible?</a:t>
            </a:r>
          </a:p>
          <a:p>
            <a:r>
              <a:rPr lang="en-US" altLang="zh-CN"/>
              <a:t>Fourth, do these accountability requirements change escalation behavior?</a:t>
            </a:r>
          </a:p>
          <a:p>
            <a:r>
              <a:rPr lang="en-US" altLang="zh-CN"/>
              <a:t>So the paper moves from AI presence to responsibility design.</a:t>
            </a:r>
          </a:p>
          <a:p>
            <a:r>
              <a:rPr lang="en-US" altLang="zh-CN"/>
              <a:t>The key point is:</a:t>
            </a:r>
          </a:p>
          <a:p>
            <a:r>
              <a:rPr lang="en-US" altLang="zh-CN"/>
              <a:t>I am not asking who gets blamed after failure.</a:t>
            </a:r>
          </a:p>
          <a:p>
            <a:r>
              <a:rPr lang="en-US" altLang="zh-CN"/>
              <a:t>I am asking how responsibility design changes choices before the outcome is known.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translates the research questions into the experimental design.
The key design choice is to hold the strategic environment fixed. Within the AI conditions, the AI analysis is also held constant. What changes is the responsibility architecture around the same AI support.
Human-only provides the no-AI benchmark. AI-baseline adds analytical support. AI-confirm tests whether explicit human passage increases ownership and felt accountability. AI-disclosure tests whether making AI use visible and reportable increases accountability or instead promotes responsibility sharing.
So the experiment is intentionally minimal: same game, same AI content, different accountability design.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To test this, I use a repeated Hawk-Dove environment.</a:t>
            </a:r>
          </a:p>
          <a:p>
            <a:r>
              <a:rPr lang="en-US" altLang="zh-CN"/>
              <a:t>This task is useful because escalation is meaningful.</a:t>
            </a:r>
          </a:p>
          <a:p>
            <a:r>
              <a:rPr lang="en-US" altLang="zh-CN"/>
              <a:t>If one side escalates and the other restrains, escalation can bring a gain.</a:t>
            </a:r>
          </a:p>
          <a:p>
            <a:r>
              <a:rPr lang="en-US" altLang="zh-CN"/>
              <a:t>But if both sides escalate, both suffer a loss.</a:t>
            </a:r>
          </a:p>
          <a:p>
            <a:r>
              <a:rPr lang="en-US" altLang="zh-CN"/>
              <a:t>So the choice is not just risky for the participant.</a:t>
            </a:r>
          </a:p>
          <a:p>
            <a:r>
              <a:rPr lang="en-US" altLang="zh-CN"/>
              <a:t>It can also create harm for another party.</a:t>
            </a:r>
          </a:p>
          <a:p>
            <a:r>
              <a:rPr lang="en-US" altLang="zh-CN"/>
              <a:t>That makes responsibility visible.</a:t>
            </a:r>
          </a:p>
          <a:p>
            <a:r>
              <a:rPr lang="en-US" altLang="zh-CN"/>
              <a:t>Participants see the same strategic environment.</a:t>
            </a:r>
          </a:p>
          <a:p>
            <a:r>
              <a:rPr lang="en-US" altLang="zh-CN"/>
              <a:t>Some decide alone.What changes is the responsibility structure around the decision.</a:t>
            </a:r>
          </a:p>
          <a:p>
            <a:r>
              <a:rPr lang="en-US" altLang="zh-CN"/>
              <a:t>The experiment is intentionally minimal: the strategic game and AI analysis are held constant, while the responsibility architecture is varied.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This is the key method slide.</a:t>
            </a:r>
          </a:p>
          <a:p>
            <a:r>
              <a:rPr lang="en-US" altLang="zh-CN"/>
              <a:t>The experiment is not just AI versus no AI.</a:t>
            </a:r>
          </a:p>
          <a:p>
            <a:r>
              <a:rPr lang="en-US" altLang="zh-CN"/>
              <a:t>That comparison would be too broad.</a:t>
            </a:r>
          </a:p>
          <a:p>
            <a:r>
              <a:rPr lang="en-US" altLang="zh-CN"/>
              <a:t>Each condition has a specific role.</a:t>
            </a:r>
          </a:p>
          <a:p>
            <a:r>
              <a:rPr lang="en-US" altLang="zh-CN"/>
              <a:t>The human-only condition gives the baseline.</a:t>
            </a:r>
          </a:p>
          <a:p>
            <a:r>
              <a:rPr lang="en-US" altLang="zh-CN"/>
              <a:t>The AI-baseline condition shows what AI support itself changes.</a:t>
            </a:r>
          </a:p>
          <a:p>
            <a:r>
              <a:rPr lang="en-US" altLang="zh-CN"/>
              <a:t>The AI-confirm condition tests whether explicit human confirmation increases ownership.</a:t>
            </a:r>
          </a:p>
          <a:p>
            <a:r>
              <a:rPr lang="en-US" altLang="zh-CN"/>
              <a:t>The AI-disclosure condition tests whether visibility and traceability increase answerability.</a:t>
            </a:r>
          </a:p>
          <a:p>
            <a:r>
              <a:rPr lang="en-US" altLang="zh-CN"/>
              <a:t>So each comparison identifies a different part of responsibility design.</a:t>
            </a:r>
          </a:p>
          <a:p>
            <a:r>
              <a:rPr lang="en-US" altLang="zh-CN"/>
              <a:t>This is what keeps the design focused.</a:t>
            </a:r>
          </a:p>
          <a:p>
            <a:r>
              <a:rPr lang="en-US" altLang="zh-CN"/>
              <a:t>It is not a generic AI treatment.</a:t>
            </a:r>
          </a:p>
          <a:p>
            <a:r>
              <a:rPr lang="en-US" altLang="zh-CN"/>
              <a:t>It is a test of how different accountability structures shape ownership and risky behavior.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The contribution of Paper 3 is to study responsibility before outcomes occur.</a:t>
            </a:r>
          </a:p>
          <a:p>
            <a:r>
              <a:rPr lang="en-US" altLang="zh-CN"/>
              <a:t>AI support may change escalation by itself.</a:t>
            </a:r>
          </a:p>
          <a:p>
            <a:r>
              <a:rPr lang="en-US" altLang="zh-CN"/>
              <a:t>Confirmation may raise ownership because the human has to actively pass through the final decision point.</a:t>
            </a:r>
          </a:p>
          <a:p>
            <a:r>
              <a:rPr lang="en-US" altLang="zh-CN"/>
              <a:t>Disclosure may increase answerability.</a:t>
            </a:r>
          </a:p>
          <a:p>
            <a:r>
              <a:rPr lang="en-US" altLang="zh-CN"/>
              <a:t>But it may also make responsibility feel shared between the human and the AI system.</a:t>
            </a:r>
          </a:p>
          <a:p>
            <a:r>
              <a:rPr lang="en-US" altLang="zh-CN"/>
              <a:t>So structural accountability and felt accountability may not move together.</a:t>
            </a:r>
          </a:p>
          <a:p>
            <a:r>
              <a:rPr lang="en-US" altLang="zh-CN"/>
              <a:t>That is why the experiment measures both perception and behavior.</a:t>
            </a:r>
          </a:p>
          <a:p>
            <a:r>
              <a:rPr lang="en-US" altLang="zh-CN"/>
              <a:t>This paper completes the dissertation chain.</a:t>
            </a:r>
          </a:p>
          <a:p>
            <a:r>
              <a:rPr lang="en-US" altLang="zh-CN"/>
              <a:t>Paper 1 studies belief formation.</a:t>
            </a:r>
          </a:p>
          <a:p>
            <a:r>
              <a:rPr lang="en-US" altLang="zh-CN"/>
              <a:t>Paper 2 studies reliance calibration.</a:t>
            </a:r>
          </a:p>
          <a:p>
            <a:r>
              <a:rPr lang="en-US" altLang="zh-CN"/>
              <a:t>Paper 3 studies responsibility design.</a:t>
            </a:r>
          </a:p>
          <a:p>
            <a:r>
              <a:rPr lang="en-US" altLang="zh-CN"/>
              <a:t>The central point is simple:</a:t>
            </a:r>
          </a:p>
          <a:p>
            <a:r>
              <a:rPr lang="en-US" altLang="zh-CN"/>
              <a:t>What matters is not only whether people use AI.</a:t>
            </a:r>
          </a:p>
          <a:p>
            <a:r>
              <a:rPr lang="en-US" altLang="zh-CN"/>
              <a:t>What matters is how AI system design reorganizes responsibility before action is taken.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tags" Target="../tags/tag8.xml"/><Relationship Id="rId3" Type="http://schemas.openxmlformats.org/officeDocument/2006/relationships/tags" Target="../tags/tag3.xml"/><Relationship Id="rId7" Type="http://schemas.openxmlformats.org/officeDocument/2006/relationships/tags" Target="../tags/tag7.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5" Type="http://schemas.openxmlformats.org/officeDocument/2006/relationships/tags" Target="../tags/tag5.xml"/><Relationship Id="rId10" Type="http://schemas.openxmlformats.org/officeDocument/2006/relationships/notesSlide" Target="../notesSlides/notesSlide4.xml"/><Relationship Id="rId4" Type="http://schemas.openxmlformats.org/officeDocument/2006/relationships/tags" Target="../tags/tag4.xml"/><Relationship Id="rId9"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tags" Target="../tags/tag16.xml"/><Relationship Id="rId3" Type="http://schemas.openxmlformats.org/officeDocument/2006/relationships/tags" Target="../tags/tag11.xml"/><Relationship Id="rId7" Type="http://schemas.openxmlformats.org/officeDocument/2006/relationships/tags" Target="../tags/tag15.xml"/><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tags" Target="../tags/tag14.xml"/><Relationship Id="rId11" Type="http://schemas.openxmlformats.org/officeDocument/2006/relationships/notesSlide" Target="../notesSlides/notesSlide10.xml"/><Relationship Id="rId5" Type="http://schemas.openxmlformats.org/officeDocument/2006/relationships/tags" Target="../tags/tag13.xml"/><Relationship Id="rId10" Type="http://schemas.openxmlformats.org/officeDocument/2006/relationships/slideLayout" Target="../slideLayouts/slideLayout1.xml"/><Relationship Id="rId4" Type="http://schemas.openxmlformats.org/officeDocument/2006/relationships/tags" Target="../tags/tag12.xml"/><Relationship Id="rId9" Type="http://schemas.openxmlformats.org/officeDocument/2006/relationships/tags" Target="../tags/tag1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3364A"/>
        </a:solidFill>
        <a:effectLst/>
      </p:bgPr>
    </p:bg>
    <p:spTree>
      <p:nvGrpSpPr>
        <p:cNvPr id="1" name=""/>
        <p:cNvGrpSpPr/>
        <p:nvPr/>
      </p:nvGrpSpPr>
      <p:grpSpPr>
        <a:xfrm>
          <a:off x="0" y="0"/>
          <a:ext cx="0" cy="0"/>
          <a:chOff x="0" y="0"/>
          <a:chExt cx="0" cy="0"/>
        </a:xfrm>
      </p:grpSpPr>
      <p:sp>
        <p:nvSpPr>
          <p:cNvPr id="2" name="矩形 1"/>
          <p:cNvSpPr>
            <a:spLocks noGrp="1"/>
          </p:cNvSpPr>
          <p:nvPr/>
        </p:nvSpPr>
        <p:spPr>
          <a:xfrm>
            <a:off x="781050" y="800100"/>
            <a:ext cx="10287000" cy="266700"/>
          </a:xfrm>
          <a:prstGeom prst="rect">
            <a:avLst/>
          </a:prstGeom>
          <a:noFill/>
          <a:ln w="0">
            <a:noFill/>
            <a:prstDash val="solid"/>
          </a:ln>
        </p:spPr>
        <p:txBody>
          <a:bodyPr wrap="square" lIns="0" tIns="0" rIns="0" bIns="0" anchor="t">
            <a:normAutofit/>
          </a:bodyPr>
          <a:lstStyle/>
          <a:p>
            <a:pPr algn="l">
              <a:lnSpc>
                <a:spcPct val="105000"/>
              </a:lnSpc>
              <a:buNone/>
              <a:defRPr sz="900" b="1" i="0">
                <a:solidFill>
                  <a:srgbClr val="E7D4C3"/>
                </a:solidFill>
                <a:latin typeface="Times New Roman" panose="02020603050405020304"/>
                <a:ea typeface="Times New Roman" panose="02020603050405020304"/>
                <a:cs typeface="Times New Roman" panose="02020603050405020304"/>
              </a:defRPr>
            </a:pPr>
            <a:r>
              <a:rPr sz="900" b="1" i="0">
                <a:solidFill>
                  <a:srgbClr val="E7D4C3"/>
                </a:solidFill>
                <a:latin typeface="Times New Roman" panose="02020603050405020304"/>
                <a:ea typeface="Times New Roman" panose="02020603050405020304"/>
                <a:cs typeface="Times New Roman" panose="02020603050405020304"/>
              </a:rPr>
              <a:t>PAPER 3</a:t>
            </a:r>
          </a:p>
        </p:txBody>
      </p:sp>
      <p:sp>
        <p:nvSpPr>
          <p:cNvPr id="3" name="矩形 2"/>
          <p:cNvSpPr>
            <a:spLocks noGrp="1"/>
          </p:cNvSpPr>
          <p:nvPr/>
        </p:nvSpPr>
        <p:spPr>
          <a:xfrm>
            <a:off x="781050" y="1390650"/>
            <a:ext cx="9525000" cy="1143000"/>
          </a:xfrm>
          <a:prstGeom prst="rect">
            <a:avLst/>
          </a:prstGeom>
          <a:noFill/>
          <a:ln w="0">
            <a:noFill/>
            <a:prstDash val="solid"/>
          </a:ln>
        </p:spPr>
        <p:txBody>
          <a:bodyPr wrap="square" lIns="0" tIns="0" rIns="0" bIns="0" anchor="t">
            <a:normAutofit/>
          </a:bodyPr>
          <a:lstStyle/>
          <a:p>
            <a:pPr algn="l">
              <a:lnSpc>
                <a:spcPct val="98000"/>
              </a:lnSpc>
              <a:buNone/>
              <a:defRPr sz="3450" b="1" i="0">
                <a:solidFill>
                  <a:srgbClr val="F5F0E6"/>
                </a:solidFill>
                <a:latin typeface="Times New Roman" panose="02020603050405020304"/>
                <a:ea typeface="Times New Roman" panose="02020603050405020304"/>
                <a:cs typeface="Times New Roman" panose="02020603050405020304"/>
              </a:defRPr>
            </a:pPr>
            <a:r>
              <a:rPr sz="3450" b="1" i="0">
                <a:solidFill>
                  <a:srgbClr val="F5F0E6"/>
                </a:solidFill>
                <a:latin typeface="Times New Roman" panose="02020603050405020304"/>
                <a:ea typeface="Times New Roman" panose="02020603050405020304"/>
                <a:cs typeface="Times New Roman" panose="02020603050405020304"/>
              </a:rPr>
              <a:t>Paper 3: AI Responsibility Design and Escalatory Risk</a:t>
            </a:r>
          </a:p>
        </p:txBody>
      </p:sp>
      <p:sp>
        <p:nvSpPr>
          <p:cNvPr id="4" name="矩形 3"/>
          <p:cNvSpPr>
            <a:spLocks noGrp="1"/>
          </p:cNvSpPr>
          <p:nvPr/>
        </p:nvSpPr>
        <p:spPr>
          <a:xfrm>
            <a:off x="781050" y="2724150"/>
            <a:ext cx="8858250" cy="704850"/>
          </a:xfrm>
          <a:prstGeom prst="rect">
            <a:avLst/>
          </a:prstGeom>
          <a:noFill/>
          <a:ln w="0">
            <a:noFill/>
            <a:prstDash val="solid"/>
          </a:ln>
        </p:spPr>
        <p:txBody>
          <a:bodyPr wrap="square" lIns="0" tIns="0" rIns="0" bIns="0" anchor="t">
            <a:normAutofit/>
          </a:bodyPr>
          <a:lstStyle/>
          <a:p>
            <a:pPr algn="l">
              <a:lnSpc>
                <a:spcPct val="106000"/>
              </a:lnSpc>
              <a:buNone/>
              <a:defRPr sz="1650" b="0" i="0">
                <a:solidFill>
                  <a:srgbClr val="D8CDC1"/>
                </a:solidFill>
                <a:latin typeface="Times New Roman" panose="02020603050405020304"/>
                <a:ea typeface="Times New Roman" panose="02020603050405020304"/>
                <a:cs typeface="Times New Roman" panose="02020603050405020304"/>
              </a:defRPr>
            </a:pPr>
            <a:r>
              <a:rPr sz="1650" b="0" i="0">
                <a:solidFill>
                  <a:srgbClr val="D8CDC1"/>
                </a:solidFill>
                <a:latin typeface="Times New Roman" panose="02020603050405020304"/>
                <a:ea typeface="Times New Roman" panose="02020603050405020304"/>
                <a:cs typeface="Times New Roman" panose="02020603050405020304"/>
              </a:rPr>
              <a:t>AI-supported decisions can change not only what people know, but whether they still feel accountable for the final move.</a:t>
            </a:r>
          </a:p>
        </p:txBody>
      </p:sp>
      <p:sp>
        <p:nvSpPr>
          <p:cNvPr id="5" name="矩形 4"/>
          <p:cNvSpPr>
            <a:spLocks noGrp="1"/>
          </p:cNvSpPr>
          <p:nvPr/>
        </p:nvSpPr>
        <p:spPr>
          <a:xfrm>
            <a:off x="781050" y="3771900"/>
            <a:ext cx="9144000" cy="11430"/>
          </a:xfrm>
          <a:prstGeom prst="rect">
            <a:avLst/>
          </a:prstGeom>
          <a:solidFill>
            <a:srgbClr val="A99384"/>
          </a:solidFill>
          <a:ln w="0">
            <a:solidFill>
              <a:srgbClr val="A99384"/>
            </a:solidFill>
            <a:prstDash val="solid"/>
          </a:ln>
        </p:spPr>
      </p:sp>
      <p:sp>
        <p:nvSpPr>
          <p:cNvPr id="6" name="矩形 5"/>
          <p:cNvSpPr>
            <a:spLocks noGrp="1"/>
          </p:cNvSpPr>
          <p:nvPr/>
        </p:nvSpPr>
        <p:spPr>
          <a:xfrm>
            <a:off x="781050" y="4171950"/>
            <a:ext cx="2381250" cy="209550"/>
          </a:xfrm>
          <a:prstGeom prst="rect">
            <a:avLst/>
          </a:prstGeom>
          <a:noFill/>
          <a:ln w="0">
            <a:noFill/>
            <a:prstDash val="solid"/>
          </a:ln>
        </p:spPr>
        <p:txBody>
          <a:bodyPr/>
          <a:lstStyle/>
          <a:p>
            <a:pPr>
              <a:buNone/>
              <a:defRPr sz="1350">
                <a:solidFill>
                  <a:srgbClr val="E8E2D8"/>
                </a:solidFill>
              </a:defRPr>
            </a:pPr>
            <a:r>
              <a:rPr sz="1350">
                <a:solidFill>
                  <a:srgbClr val="E8E2D8"/>
                </a:solidFill>
              </a:rPr>
              <a:t>Belief formation</a:t>
            </a:r>
          </a:p>
        </p:txBody>
      </p:sp>
      <p:sp>
        <p:nvSpPr>
          <p:cNvPr id="7" name="矩形 6"/>
          <p:cNvSpPr>
            <a:spLocks noGrp="1"/>
          </p:cNvSpPr>
          <p:nvPr/>
        </p:nvSpPr>
        <p:spPr>
          <a:xfrm>
            <a:off x="781050" y="4495800"/>
            <a:ext cx="2095500" cy="190500"/>
          </a:xfrm>
          <a:prstGeom prst="rect">
            <a:avLst/>
          </a:prstGeom>
          <a:noFill/>
          <a:ln w="0">
            <a:noFill/>
            <a:prstDash val="solid"/>
          </a:ln>
        </p:spPr>
        <p:txBody>
          <a:bodyPr/>
          <a:lstStyle/>
          <a:p>
            <a:pPr>
              <a:buNone/>
              <a:defRPr sz="1200" b="1">
                <a:solidFill>
                  <a:srgbClr val="C8A98D"/>
                </a:solidFill>
              </a:defRPr>
            </a:pPr>
            <a:r>
              <a:rPr sz="1200" b="1">
                <a:solidFill>
                  <a:srgbClr val="C8A98D"/>
                </a:solidFill>
              </a:rPr>
              <a:t>Paper 1</a:t>
            </a:r>
          </a:p>
        </p:txBody>
      </p:sp>
      <p:sp>
        <p:nvSpPr>
          <p:cNvPr id="8" name="矩形 7"/>
          <p:cNvSpPr>
            <a:spLocks noGrp="1"/>
          </p:cNvSpPr>
          <p:nvPr/>
        </p:nvSpPr>
        <p:spPr>
          <a:xfrm>
            <a:off x="3943350" y="4171950"/>
            <a:ext cx="2381250" cy="209550"/>
          </a:xfrm>
          <a:prstGeom prst="rect">
            <a:avLst/>
          </a:prstGeom>
          <a:noFill/>
          <a:ln w="0">
            <a:noFill/>
            <a:prstDash val="solid"/>
          </a:ln>
        </p:spPr>
        <p:txBody>
          <a:bodyPr/>
          <a:lstStyle/>
          <a:p>
            <a:pPr>
              <a:buNone/>
              <a:defRPr sz="1350">
                <a:solidFill>
                  <a:srgbClr val="E8E2D8"/>
                </a:solidFill>
              </a:defRPr>
            </a:pPr>
            <a:r>
              <a:rPr sz="1350">
                <a:solidFill>
                  <a:srgbClr val="E8E2D8"/>
                </a:solidFill>
              </a:rPr>
              <a:t>Reliance calibration</a:t>
            </a:r>
          </a:p>
        </p:txBody>
      </p:sp>
      <p:sp>
        <p:nvSpPr>
          <p:cNvPr id="9" name="矩形 8"/>
          <p:cNvSpPr>
            <a:spLocks noGrp="1"/>
          </p:cNvSpPr>
          <p:nvPr/>
        </p:nvSpPr>
        <p:spPr>
          <a:xfrm>
            <a:off x="3943350" y="4495800"/>
            <a:ext cx="2095500" cy="190500"/>
          </a:xfrm>
          <a:prstGeom prst="rect">
            <a:avLst/>
          </a:prstGeom>
          <a:noFill/>
          <a:ln w="0">
            <a:noFill/>
            <a:prstDash val="solid"/>
          </a:ln>
        </p:spPr>
        <p:txBody>
          <a:bodyPr/>
          <a:lstStyle/>
          <a:p>
            <a:pPr>
              <a:buNone/>
              <a:defRPr sz="1200" b="1">
                <a:solidFill>
                  <a:srgbClr val="C8A98D"/>
                </a:solidFill>
              </a:defRPr>
            </a:pPr>
            <a:r>
              <a:rPr sz="1200" b="1">
                <a:solidFill>
                  <a:srgbClr val="C8A98D"/>
                </a:solidFill>
              </a:rPr>
              <a:t>Paper 2</a:t>
            </a:r>
          </a:p>
        </p:txBody>
      </p:sp>
      <p:sp>
        <p:nvSpPr>
          <p:cNvPr id="10" name="矩形 9"/>
          <p:cNvSpPr>
            <a:spLocks noGrp="1"/>
          </p:cNvSpPr>
          <p:nvPr/>
        </p:nvSpPr>
        <p:spPr>
          <a:xfrm>
            <a:off x="7105650" y="4171950"/>
            <a:ext cx="2381250" cy="209550"/>
          </a:xfrm>
          <a:prstGeom prst="rect">
            <a:avLst/>
          </a:prstGeom>
          <a:noFill/>
          <a:ln w="0">
            <a:noFill/>
            <a:prstDash val="solid"/>
          </a:ln>
        </p:spPr>
        <p:txBody>
          <a:bodyPr/>
          <a:lstStyle/>
          <a:p>
            <a:pPr>
              <a:buNone/>
              <a:defRPr sz="1350">
                <a:solidFill>
                  <a:srgbClr val="E8E2D8"/>
                </a:solidFill>
              </a:defRPr>
            </a:pPr>
            <a:r>
              <a:rPr sz="1350">
                <a:solidFill>
                  <a:srgbClr val="E8E2D8"/>
                </a:solidFill>
              </a:rPr>
              <a:t>Responsibility design</a:t>
            </a:r>
          </a:p>
        </p:txBody>
      </p:sp>
      <p:sp>
        <p:nvSpPr>
          <p:cNvPr id="11" name="矩形 10"/>
          <p:cNvSpPr>
            <a:spLocks noGrp="1"/>
          </p:cNvSpPr>
          <p:nvPr/>
        </p:nvSpPr>
        <p:spPr>
          <a:xfrm>
            <a:off x="7105650" y="4495800"/>
            <a:ext cx="2095500" cy="190500"/>
          </a:xfrm>
          <a:prstGeom prst="rect">
            <a:avLst/>
          </a:prstGeom>
          <a:noFill/>
          <a:ln w="0">
            <a:noFill/>
            <a:prstDash val="solid"/>
          </a:ln>
        </p:spPr>
        <p:txBody>
          <a:bodyPr/>
          <a:lstStyle/>
          <a:p>
            <a:pPr>
              <a:buNone/>
              <a:defRPr sz="1200" b="1">
                <a:solidFill>
                  <a:srgbClr val="C8A98D"/>
                </a:solidFill>
              </a:defRPr>
            </a:pPr>
            <a:r>
              <a:rPr sz="1200" b="1">
                <a:solidFill>
                  <a:srgbClr val="C8A98D"/>
                </a:solidFill>
              </a:rPr>
              <a:t>Paper 3</a:t>
            </a:r>
          </a:p>
        </p:txBody>
      </p:sp>
      <p:sp>
        <p:nvSpPr>
          <p:cNvPr id="12" name="矩形 11"/>
          <p:cNvSpPr>
            <a:spLocks noGrp="1"/>
          </p:cNvSpPr>
          <p:nvPr/>
        </p:nvSpPr>
        <p:spPr>
          <a:xfrm>
            <a:off x="781050" y="5981700"/>
            <a:ext cx="2857500" cy="171450"/>
          </a:xfrm>
          <a:prstGeom prst="rect">
            <a:avLst/>
          </a:prstGeom>
          <a:noFill/>
          <a:ln w="0">
            <a:noFill/>
            <a:prstDash val="solid"/>
          </a:ln>
        </p:spPr>
        <p:txBody>
          <a:bodyPr/>
          <a:lstStyle/>
          <a:p>
            <a:pPr>
              <a:buNone/>
              <a:defRPr sz="1050" i="1">
                <a:solidFill>
                  <a:srgbClr val="D7D4CE"/>
                </a:solidFill>
              </a:defRPr>
            </a:pPr>
            <a:r>
              <a:rPr sz="1050" i="1">
                <a:solidFill>
                  <a:srgbClr val="D7D4CE"/>
                </a:solidFill>
              </a:rPr>
              <a:t>Action → responsibility</a:t>
            </a:r>
          </a:p>
        </p:txBody>
      </p:sp>
      <p:sp>
        <p:nvSpPr>
          <p:cNvPr id="13" name="矩形 12"/>
          <p:cNvSpPr>
            <a:spLocks noGrp="1"/>
          </p:cNvSpPr>
          <p:nvPr/>
        </p:nvSpPr>
        <p:spPr>
          <a:xfrm>
            <a:off x="685800" y="6457950"/>
            <a:ext cx="10820400" cy="11430"/>
          </a:xfrm>
          <a:prstGeom prst="rect">
            <a:avLst/>
          </a:prstGeom>
          <a:solidFill>
            <a:srgbClr val="B7ADA0"/>
          </a:solidFill>
          <a:ln w="0">
            <a:solidFill>
              <a:srgbClr val="B7ADA0"/>
            </a:solidFill>
            <a:prstDash val="solid"/>
          </a:ln>
        </p:spPr>
      </p:sp>
      <p:sp>
        <p:nvSpPr>
          <p:cNvPr id="14" name="矩形 13"/>
          <p:cNvSpPr>
            <a:spLocks noGrp="1"/>
          </p:cNvSpPr>
          <p:nvPr/>
        </p:nvSpPr>
        <p:spPr>
          <a:xfrm>
            <a:off x="685800" y="6534150"/>
            <a:ext cx="1905000" cy="171450"/>
          </a:xfrm>
          <a:prstGeom prst="rect">
            <a:avLst/>
          </a:prstGeom>
          <a:noFill/>
          <a:ln w="0">
            <a:noFill/>
            <a:prstDash val="solid"/>
          </a:ln>
        </p:spPr>
        <p:txBody>
          <a:bodyPr/>
          <a:lstStyle/>
          <a:p>
            <a:pPr>
              <a:buNone/>
              <a:defRPr sz="900" b="1">
                <a:solidFill>
                  <a:srgbClr val="5F6875"/>
                </a:solidFill>
              </a:defRPr>
            </a:pPr>
            <a:r>
              <a:rPr sz="900" b="1">
                <a:solidFill>
                  <a:srgbClr val="5F6875"/>
                </a:solidFill>
              </a:rPr>
              <a:t>PAPER 3</a:t>
            </a:r>
          </a:p>
        </p:txBody>
      </p:sp>
      <p:sp>
        <p:nvSpPr>
          <p:cNvPr id="15" name="矩形 14"/>
          <p:cNvSpPr>
            <a:spLocks noGrp="1"/>
          </p:cNvSpPr>
          <p:nvPr/>
        </p:nvSpPr>
        <p:spPr>
          <a:xfrm>
            <a:off x="11125200" y="6534150"/>
            <a:ext cx="381000" cy="171450"/>
          </a:xfrm>
          <a:prstGeom prst="rect">
            <a:avLst/>
          </a:prstGeom>
          <a:noFill/>
          <a:ln w="0">
            <a:noFill/>
            <a:prstDash val="solid"/>
          </a:ln>
        </p:spPr>
        <p:txBody>
          <a:bodyPr/>
          <a:lstStyle/>
          <a:p>
            <a:pPr algn="r">
              <a:buNone/>
              <a:defRPr sz="900">
                <a:solidFill>
                  <a:srgbClr val="5F6875"/>
                </a:solidFill>
              </a:defRPr>
            </a:pPr>
            <a:r>
              <a:rPr sz="900">
                <a:solidFill>
                  <a:srgbClr val="5F6875"/>
                </a:solidFill>
              </a:rP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243747"/>
        </a:solidFill>
        <a:effectLst/>
      </p:bgPr>
    </p:bg>
    <p:spTree>
      <p:nvGrpSpPr>
        <p:cNvPr id="1" name=""/>
        <p:cNvGrpSpPr/>
        <p:nvPr/>
      </p:nvGrpSpPr>
      <p:grpSpPr>
        <a:xfrm>
          <a:off x="0" y="0"/>
          <a:ext cx="0" cy="0"/>
          <a:chOff x="0" y="0"/>
          <a:chExt cx="0" cy="0"/>
        </a:xfrm>
      </p:grpSpPr>
      <p:sp>
        <p:nvSpPr>
          <p:cNvPr id="2" name="left-accent-rule"/>
          <p:cNvSpPr>
            <a:spLocks noGrp="1"/>
          </p:cNvSpPr>
          <p:nvPr/>
        </p:nvSpPr>
        <p:spPr>
          <a:xfrm>
            <a:off x="685800" y="628650"/>
            <a:ext cx="19050" cy="5619750"/>
          </a:xfrm>
          <a:prstGeom prst="rect">
            <a:avLst/>
          </a:prstGeom>
          <a:solidFill>
            <a:srgbClr val="BE7A46"/>
          </a:solidFill>
          <a:ln w="0">
            <a:noFill/>
            <a:prstDash val="solid"/>
          </a:ln>
        </p:spPr>
      </p:sp>
      <p:sp>
        <p:nvSpPr>
          <p:cNvPr id="3" name="bottom-rule"/>
          <p:cNvSpPr>
            <a:spLocks noGrp="1"/>
          </p:cNvSpPr>
          <p:nvPr/>
        </p:nvSpPr>
        <p:spPr>
          <a:xfrm>
            <a:off x="685800" y="6172200"/>
            <a:ext cx="10820400" cy="11430"/>
          </a:xfrm>
          <a:prstGeom prst="rect">
            <a:avLst/>
          </a:prstGeom>
          <a:solidFill>
            <a:srgbClr val="D9C7AA"/>
          </a:solidFill>
          <a:ln w="0">
            <a:noFill/>
            <a:prstDash val="solid"/>
          </a:ln>
        </p:spPr>
      </p:sp>
      <p:sp>
        <p:nvSpPr>
          <p:cNvPr id="4" name="eyebrow"/>
          <p:cNvSpPr>
            <a:spLocks noGrp="1"/>
          </p:cNvSpPr>
          <p:nvPr/>
        </p:nvSpPr>
        <p:spPr>
          <a:xfrm>
            <a:off x="895350" y="742950"/>
            <a:ext cx="4381500" cy="266700"/>
          </a:xfrm>
          <a:prstGeom prst="rect">
            <a:avLst/>
          </a:prstGeom>
          <a:noFill/>
          <a:ln w="0">
            <a:noFill/>
            <a:prstDash val="solid"/>
          </a:ln>
        </p:spPr>
        <p:txBody>
          <a:bodyPr wrap="none" lIns="0" tIns="0" rIns="0" bIns="0"/>
          <a:lstStyle/>
          <a:p>
            <a:pPr>
              <a:defRPr sz="1125" b="1">
                <a:solidFill>
                  <a:srgbClr val="D6A06F"/>
                </a:solidFill>
                <a:latin typeface="Times New Roman" panose="02020603050405020304"/>
                <a:ea typeface="Times New Roman" panose="02020603050405020304"/>
                <a:cs typeface="Times New Roman" panose="02020603050405020304"/>
              </a:defRPr>
            </a:pPr>
            <a:r>
              <a:rPr sz="1125" b="1">
                <a:solidFill>
                  <a:srgbClr val="D6A06F"/>
                </a:solidFill>
                <a:latin typeface="Times New Roman" panose="02020603050405020304"/>
                <a:ea typeface="Times New Roman" panose="02020603050405020304"/>
                <a:cs typeface="Times New Roman" panose="02020603050405020304"/>
              </a:rPr>
              <a:t>PAPER 3  ·  CONCRETE ENTRY POINT</a:t>
            </a:r>
          </a:p>
        </p:txBody>
      </p:sp>
      <p:sp>
        <p:nvSpPr>
          <p:cNvPr id="5" name="title"/>
          <p:cNvSpPr>
            <a:spLocks noGrp="1"/>
          </p:cNvSpPr>
          <p:nvPr/>
        </p:nvSpPr>
        <p:spPr>
          <a:xfrm>
            <a:off x="895350" y="1200150"/>
            <a:ext cx="5143500" cy="1695450"/>
          </a:xfrm>
          <a:prstGeom prst="rect">
            <a:avLst/>
          </a:prstGeom>
          <a:noFill/>
          <a:ln w="0">
            <a:noFill/>
            <a:prstDash val="solid"/>
          </a:ln>
        </p:spPr>
        <p:txBody>
          <a:bodyPr lIns="0" tIns="0" rIns="0" bIns="0"/>
          <a:lstStyle/>
          <a:p>
            <a:pPr>
              <a:lnSpc>
                <a:spcPct val="90000"/>
              </a:lnSpc>
              <a:buNone/>
              <a:defRPr sz="3525" b="1">
                <a:solidFill>
                  <a:srgbClr val="F3EBDD"/>
                </a:solidFill>
                <a:latin typeface="Times New Roman" panose="02020603050405020304"/>
                <a:ea typeface="Times New Roman" panose="02020603050405020304"/>
                <a:cs typeface="Times New Roman" panose="02020603050405020304"/>
              </a:defRPr>
            </a:pPr>
            <a:r>
              <a:rPr lang="en-US" altLang="zh-CN" sz="3525" b="1">
                <a:solidFill>
                  <a:srgbClr val="F3EBDD"/>
                </a:solidFill>
                <a:latin typeface="Times New Roman" panose="02020603050405020304"/>
                <a:ea typeface="Times New Roman" panose="02020603050405020304"/>
                <a:cs typeface="Times New Roman" panose="02020603050405020304"/>
              </a:rPr>
              <a:t>Claude has reportedly been used in U.S. military operations related to Iran.</a:t>
            </a:r>
          </a:p>
          <a:p>
            <a:pPr>
              <a:lnSpc>
                <a:spcPct val="90000"/>
              </a:lnSpc>
              <a:buNone/>
              <a:defRPr sz="3525" b="1">
                <a:solidFill>
                  <a:srgbClr val="F3EBDD"/>
                </a:solidFill>
                <a:latin typeface="Times New Roman" panose="02020603050405020304"/>
                <a:ea typeface="Times New Roman" panose="02020603050405020304"/>
                <a:cs typeface="Times New Roman" panose="02020603050405020304"/>
              </a:defRPr>
            </a:pPr>
            <a:endParaRPr lang="en-US" altLang="zh-CN" sz="3525" b="1">
              <a:solidFill>
                <a:srgbClr val="F3EBDD"/>
              </a:solidFill>
              <a:latin typeface="Times New Roman" panose="02020603050405020304"/>
              <a:ea typeface="Times New Roman" panose="02020603050405020304"/>
              <a:cs typeface="Times New Roman" panose="02020603050405020304"/>
            </a:endParaRPr>
          </a:p>
        </p:txBody>
      </p:sp>
      <p:sp>
        <p:nvSpPr>
          <p:cNvPr id="6" name="subtitle"/>
          <p:cNvSpPr>
            <a:spLocks noGrp="1"/>
          </p:cNvSpPr>
          <p:nvPr/>
        </p:nvSpPr>
        <p:spPr>
          <a:xfrm>
            <a:off x="895350" y="3105150"/>
            <a:ext cx="5191125" cy="914400"/>
          </a:xfrm>
          <a:prstGeom prst="rect">
            <a:avLst/>
          </a:prstGeom>
          <a:noFill/>
          <a:ln w="0">
            <a:noFill/>
            <a:prstDash val="solid"/>
          </a:ln>
        </p:spPr>
        <p:txBody>
          <a:bodyPr lIns="0" tIns="0" rIns="0" bIns="0"/>
          <a:lstStyle/>
          <a:p>
            <a:pPr>
              <a:lnSpc>
                <a:spcPct val="114000"/>
              </a:lnSpc>
              <a:buNone/>
              <a:defRPr sz="1725">
                <a:solidFill>
                  <a:srgbClr val="E7DDCD"/>
                </a:solidFill>
                <a:latin typeface="Times New Roman" panose="02020603050405020304"/>
                <a:ea typeface="Times New Roman" panose="02020603050405020304"/>
                <a:cs typeface="Times New Roman" panose="02020603050405020304"/>
              </a:defRPr>
            </a:pPr>
            <a:r>
              <a:rPr sz="1725">
                <a:solidFill>
                  <a:srgbClr val="E7DDCD"/>
                </a:solidFill>
                <a:latin typeface="Times New Roman" panose="02020603050405020304"/>
                <a:ea typeface="Times New Roman" panose="02020603050405020304"/>
                <a:cs typeface="Times New Roman" panose="02020603050405020304"/>
              </a:rPr>
              <a:t>AI may not choose the final action. It can still analyze intelligence, simulate options, and structure what a human sees as actionable.</a:t>
            </a:r>
          </a:p>
        </p:txBody>
      </p:sp>
      <p:sp>
        <p:nvSpPr>
          <p:cNvPr id="7" name="workflow-step-1"/>
          <p:cNvSpPr>
            <a:spLocks noGrp="1"/>
          </p:cNvSpPr>
          <p:nvPr/>
        </p:nvSpPr>
        <p:spPr>
          <a:xfrm>
            <a:off x="895350" y="4343400"/>
            <a:ext cx="1543050" cy="876300"/>
          </a:xfrm>
          <a:prstGeom prst="roundRect">
            <a:avLst>
              <a:gd name="adj" fmla="val 8696"/>
            </a:avLst>
          </a:prstGeom>
          <a:solidFill>
            <a:srgbClr val="182A38"/>
          </a:solidFill>
          <a:ln w="9525">
            <a:solidFill>
              <a:srgbClr val="7F8B77"/>
            </a:solidFill>
            <a:prstDash val="solid"/>
          </a:ln>
        </p:spPr>
      </p:sp>
      <p:sp>
        <p:nvSpPr>
          <p:cNvPr id="8" name="workflow-step-1-head"/>
          <p:cNvSpPr>
            <a:spLocks noGrp="1"/>
          </p:cNvSpPr>
          <p:nvPr/>
        </p:nvSpPr>
        <p:spPr>
          <a:xfrm>
            <a:off x="1047750" y="4476750"/>
            <a:ext cx="1238250" cy="228600"/>
          </a:xfrm>
          <a:prstGeom prst="rect">
            <a:avLst/>
          </a:prstGeom>
          <a:noFill/>
          <a:ln w="0">
            <a:noFill/>
            <a:prstDash val="solid"/>
          </a:ln>
        </p:spPr>
        <p:txBody>
          <a:bodyPr wrap="none" lIns="0" tIns="0" rIns="0" bIns="0"/>
          <a:lstStyle/>
          <a:p>
            <a:pPr>
              <a:defRPr sz="1350" b="1">
                <a:solidFill>
                  <a:srgbClr val="F3EBDD"/>
                </a:solidFill>
                <a:latin typeface="Times New Roman" panose="02020603050405020304"/>
                <a:ea typeface="Times New Roman" panose="02020603050405020304"/>
                <a:cs typeface="Times New Roman" panose="02020603050405020304"/>
              </a:defRPr>
            </a:pPr>
            <a:r>
              <a:rPr sz="1350" b="1">
                <a:solidFill>
                  <a:srgbClr val="F3EBDD"/>
                </a:solidFill>
                <a:latin typeface="Times New Roman" panose="02020603050405020304"/>
                <a:ea typeface="Times New Roman" panose="02020603050405020304"/>
                <a:cs typeface="Times New Roman" panose="02020603050405020304"/>
              </a:rPr>
              <a:t>AI analyzes</a:t>
            </a:r>
          </a:p>
        </p:txBody>
      </p:sp>
      <p:sp>
        <p:nvSpPr>
          <p:cNvPr id="9" name="workflow-step-1-body"/>
          <p:cNvSpPr>
            <a:spLocks noGrp="1"/>
          </p:cNvSpPr>
          <p:nvPr/>
        </p:nvSpPr>
        <p:spPr>
          <a:xfrm>
            <a:off x="1047750" y="4743450"/>
            <a:ext cx="1238250" cy="438150"/>
          </a:xfrm>
          <a:prstGeom prst="rect">
            <a:avLst/>
          </a:prstGeom>
          <a:noFill/>
          <a:ln w="0">
            <a:noFill/>
            <a:prstDash val="solid"/>
          </a:ln>
        </p:spPr>
        <p:txBody>
          <a:bodyPr lIns="0" tIns="0" rIns="0" bIns="0"/>
          <a:lstStyle/>
          <a:p>
            <a:pPr>
              <a:lnSpc>
                <a:spcPct val="104000"/>
              </a:lnSpc>
              <a:buNone/>
              <a:defRPr sz="1110">
                <a:solidFill>
                  <a:srgbClr val="CFC5B6"/>
                </a:solidFill>
                <a:latin typeface="Times New Roman" panose="02020603050405020304"/>
                <a:ea typeface="Times New Roman" panose="02020603050405020304"/>
                <a:cs typeface="Times New Roman" panose="02020603050405020304"/>
              </a:defRPr>
            </a:pPr>
            <a:r>
              <a:rPr sz="1110">
                <a:solidFill>
                  <a:srgbClr val="CFC5B6"/>
                </a:solidFill>
                <a:latin typeface="Times New Roman" panose="02020603050405020304"/>
                <a:ea typeface="Times New Roman" panose="02020603050405020304"/>
                <a:cs typeface="Times New Roman" panose="02020603050405020304"/>
              </a:rPr>
              <a:t>intelligence</a:t>
            </a:r>
          </a:p>
          <a:p>
            <a:pPr>
              <a:lnSpc>
                <a:spcPct val="104000"/>
              </a:lnSpc>
              <a:buNone/>
              <a:defRPr sz="1110">
                <a:solidFill>
                  <a:srgbClr val="CFC5B6"/>
                </a:solidFill>
                <a:latin typeface="Times New Roman" panose="02020603050405020304"/>
                <a:ea typeface="Times New Roman" panose="02020603050405020304"/>
                <a:cs typeface="Times New Roman" panose="02020603050405020304"/>
              </a:defRPr>
            </a:pPr>
            <a:r>
              <a:rPr sz="1110">
                <a:solidFill>
                  <a:srgbClr val="CFC5B6"/>
                </a:solidFill>
                <a:latin typeface="Times New Roman" panose="02020603050405020304"/>
                <a:ea typeface="Times New Roman" panose="02020603050405020304"/>
                <a:cs typeface="Times New Roman" panose="02020603050405020304"/>
              </a:rPr>
              <a:t>simulation</a:t>
            </a:r>
          </a:p>
        </p:txBody>
      </p:sp>
      <p:sp>
        <p:nvSpPr>
          <p:cNvPr id="10" name="workflow-arrow-1"/>
          <p:cNvSpPr>
            <a:spLocks noGrp="1"/>
          </p:cNvSpPr>
          <p:nvPr/>
        </p:nvSpPr>
        <p:spPr>
          <a:xfrm>
            <a:off x="2486025" y="4629150"/>
            <a:ext cx="247650" cy="266700"/>
          </a:xfrm>
          <a:prstGeom prst="rect">
            <a:avLst/>
          </a:prstGeom>
          <a:noFill/>
          <a:ln w="0">
            <a:noFill/>
            <a:prstDash val="solid"/>
          </a:ln>
        </p:spPr>
        <p:txBody>
          <a:bodyPr wrap="none" lIns="0" tIns="0" rIns="0" bIns="0"/>
          <a:lstStyle/>
          <a:p>
            <a:pPr algn="ctr">
              <a:defRPr sz="1800">
                <a:solidFill>
                  <a:srgbClr val="D6A06F"/>
                </a:solidFill>
                <a:latin typeface="Times New Roman" panose="02020603050405020304"/>
                <a:ea typeface="Times New Roman" panose="02020603050405020304"/>
                <a:cs typeface="Times New Roman" panose="02020603050405020304"/>
              </a:defRPr>
            </a:pPr>
            <a:r>
              <a:rPr sz="1800">
                <a:solidFill>
                  <a:srgbClr val="D6A06F"/>
                </a:solidFill>
                <a:latin typeface="Times New Roman" panose="02020603050405020304"/>
                <a:ea typeface="Times New Roman" panose="02020603050405020304"/>
                <a:cs typeface="Times New Roman" panose="02020603050405020304"/>
              </a:rPr>
              <a:t>→</a:t>
            </a:r>
          </a:p>
        </p:txBody>
      </p:sp>
      <p:sp>
        <p:nvSpPr>
          <p:cNvPr id="11" name="workflow-step-2"/>
          <p:cNvSpPr>
            <a:spLocks noGrp="1"/>
          </p:cNvSpPr>
          <p:nvPr/>
        </p:nvSpPr>
        <p:spPr>
          <a:xfrm>
            <a:off x="2647950" y="4343400"/>
            <a:ext cx="1543050" cy="876300"/>
          </a:xfrm>
          <a:prstGeom prst="roundRect">
            <a:avLst>
              <a:gd name="adj" fmla="val 8696"/>
            </a:avLst>
          </a:prstGeom>
          <a:noFill/>
          <a:ln w="9525">
            <a:solidFill>
              <a:srgbClr val="7F8B77"/>
            </a:solidFill>
            <a:prstDash val="solid"/>
          </a:ln>
        </p:spPr>
      </p:sp>
      <p:sp>
        <p:nvSpPr>
          <p:cNvPr id="12" name="workflow-step-2-head"/>
          <p:cNvSpPr>
            <a:spLocks noGrp="1"/>
          </p:cNvSpPr>
          <p:nvPr/>
        </p:nvSpPr>
        <p:spPr>
          <a:xfrm>
            <a:off x="2800350" y="4476750"/>
            <a:ext cx="1238250" cy="228600"/>
          </a:xfrm>
          <a:prstGeom prst="rect">
            <a:avLst/>
          </a:prstGeom>
          <a:noFill/>
          <a:ln w="0">
            <a:noFill/>
            <a:prstDash val="solid"/>
          </a:ln>
        </p:spPr>
        <p:txBody>
          <a:bodyPr wrap="none" lIns="0" tIns="0" rIns="0" bIns="0"/>
          <a:lstStyle/>
          <a:p>
            <a:pPr>
              <a:defRPr sz="1350" b="1">
                <a:solidFill>
                  <a:srgbClr val="F3EBDD"/>
                </a:solidFill>
                <a:latin typeface="Times New Roman" panose="02020603050405020304"/>
                <a:ea typeface="Times New Roman" panose="02020603050405020304"/>
                <a:cs typeface="Times New Roman" panose="02020603050405020304"/>
              </a:defRPr>
            </a:pPr>
            <a:r>
              <a:rPr sz="1350" b="1">
                <a:solidFill>
                  <a:srgbClr val="F3EBDD"/>
                </a:solidFill>
                <a:latin typeface="Times New Roman" panose="02020603050405020304"/>
                <a:ea typeface="Times New Roman" panose="02020603050405020304"/>
                <a:cs typeface="Times New Roman" panose="02020603050405020304"/>
              </a:rPr>
              <a:t>Human approves</a:t>
            </a:r>
          </a:p>
        </p:txBody>
      </p:sp>
      <p:sp>
        <p:nvSpPr>
          <p:cNvPr id="13" name="workflow-step-2-body"/>
          <p:cNvSpPr>
            <a:spLocks noGrp="1"/>
          </p:cNvSpPr>
          <p:nvPr/>
        </p:nvSpPr>
        <p:spPr>
          <a:xfrm>
            <a:off x="2800350" y="4743450"/>
            <a:ext cx="1238250" cy="438150"/>
          </a:xfrm>
          <a:prstGeom prst="rect">
            <a:avLst/>
          </a:prstGeom>
          <a:noFill/>
          <a:ln w="0">
            <a:noFill/>
            <a:prstDash val="solid"/>
          </a:ln>
        </p:spPr>
        <p:txBody>
          <a:bodyPr lIns="0" tIns="0" rIns="0" bIns="0"/>
          <a:lstStyle/>
          <a:p>
            <a:pPr>
              <a:lnSpc>
                <a:spcPct val="104000"/>
              </a:lnSpc>
              <a:buNone/>
              <a:defRPr sz="1110">
                <a:solidFill>
                  <a:srgbClr val="CFC5B6"/>
                </a:solidFill>
                <a:latin typeface="Times New Roman" panose="02020603050405020304"/>
                <a:ea typeface="Times New Roman" panose="02020603050405020304"/>
                <a:cs typeface="Times New Roman" panose="02020603050405020304"/>
              </a:defRPr>
            </a:pPr>
            <a:r>
              <a:rPr sz="1110">
                <a:solidFill>
                  <a:srgbClr val="CFC5B6"/>
                </a:solidFill>
                <a:latin typeface="Times New Roman" panose="02020603050405020304"/>
                <a:ea typeface="Times New Roman" panose="02020603050405020304"/>
                <a:cs typeface="Times New Roman" panose="02020603050405020304"/>
              </a:rPr>
              <a:t>verify</a:t>
            </a:r>
          </a:p>
          <a:p>
            <a:pPr>
              <a:lnSpc>
                <a:spcPct val="104000"/>
              </a:lnSpc>
              <a:buNone/>
              <a:defRPr sz="1110">
                <a:solidFill>
                  <a:srgbClr val="CFC5B6"/>
                </a:solidFill>
                <a:latin typeface="Times New Roman" panose="02020603050405020304"/>
                <a:ea typeface="Times New Roman" panose="02020603050405020304"/>
                <a:cs typeface="Times New Roman" panose="02020603050405020304"/>
              </a:defRPr>
            </a:pPr>
            <a:r>
              <a:rPr sz="1110">
                <a:solidFill>
                  <a:srgbClr val="CFC5B6"/>
                </a:solidFill>
                <a:latin typeface="Times New Roman" panose="02020603050405020304"/>
                <a:ea typeface="Times New Roman" panose="02020603050405020304"/>
                <a:cs typeface="Times New Roman" panose="02020603050405020304"/>
              </a:rPr>
              <a:t>reject</a:t>
            </a:r>
          </a:p>
        </p:txBody>
      </p:sp>
      <p:sp>
        <p:nvSpPr>
          <p:cNvPr id="14" name="workflow-arrow-2"/>
          <p:cNvSpPr>
            <a:spLocks noGrp="1"/>
          </p:cNvSpPr>
          <p:nvPr/>
        </p:nvSpPr>
        <p:spPr>
          <a:xfrm>
            <a:off x="4238625" y="4629150"/>
            <a:ext cx="247650" cy="266700"/>
          </a:xfrm>
          <a:prstGeom prst="rect">
            <a:avLst/>
          </a:prstGeom>
          <a:noFill/>
          <a:ln w="0">
            <a:noFill/>
            <a:prstDash val="solid"/>
          </a:ln>
        </p:spPr>
        <p:txBody>
          <a:bodyPr wrap="none" lIns="0" tIns="0" rIns="0" bIns="0"/>
          <a:lstStyle/>
          <a:p>
            <a:pPr algn="ctr">
              <a:defRPr sz="1800">
                <a:solidFill>
                  <a:srgbClr val="D6A06F"/>
                </a:solidFill>
                <a:latin typeface="Times New Roman" panose="02020603050405020304"/>
                <a:ea typeface="Times New Roman" panose="02020603050405020304"/>
                <a:cs typeface="Times New Roman" panose="02020603050405020304"/>
              </a:defRPr>
            </a:pPr>
            <a:r>
              <a:rPr sz="1800">
                <a:solidFill>
                  <a:srgbClr val="D6A06F"/>
                </a:solidFill>
                <a:latin typeface="Times New Roman" panose="02020603050405020304"/>
                <a:ea typeface="Times New Roman" panose="02020603050405020304"/>
                <a:cs typeface="Times New Roman" panose="02020603050405020304"/>
              </a:rPr>
              <a:t>→</a:t>
            </a:r>
          </a:p>
        </p:txBody>
      </p:sp>
      <p:sp>
        <p:nvSpPr>
          <p:cNvPr id="15" name="workflow-step-3"/>
          <p:cNvSpPr>
            <a:spLocks noGrp="1"/>
          </p:cNvSpPr>
          <p:nvPr/>
        </p:nvSpPr>
        <p:spPr>
          <a:xfrm>
            <a:off x="4400550" y="4343400"/>
            <a:ext cx="1543050" cy="876300"/>
          </a:xfrm>
          <a:prstGeom prst="roundRect">
            <a:avLst>
              <a:gd name="adj" fmla="val 8696"/>
            </a:avLst>
          </a:prstGeom>
          <a:noFill/>
          <a:ln w="9525">
            <a:solidFill>
              <a:srgbClr val="BE7A46"/>
            </a:solidFill>
            <a:prstDash val="solid"/>
          </a:ln>
        </p:spPr>
      </p:sp>
      <p:sp>
        <p:nvSpPr>
          <p:cNvPr id="16" name="workflow-step-3-head"/>
          <p:cNvSpPr>
            <a:spLocks noGrp="1"/>
          </p:cNvSpPr>
          <p:nvPr/>
        </p:nvSpPr>
        <p:spPr>
          <a:xfrm>
            <a:off x="4552950" y="4476750"/>
            <a:ext cx="1238250" cy="228600"/>
          </a:xfrm>
          <a:prstGeom prst="rect">
            <a:avLst/>
          </a:prstGeom>
          <a:noFill/>
          <a:ln w="0">
            <a:noFill/>
            <a:prstDash val="solid"/>
          </a:ln>
        </p:spPr>
        <p:txBody>
          <a:bodyPr wrap="none" lIns="0" tIns="0" rIns="0" bIns="0"/>
          <a:lstStyle/>
          <a:p>
            <a:pPr>
              <a:defRPr sz="1350" b="1">
                <a:solidFill>
                  <a:srgbClr val="F3EBDD"/>
                </a:solidFill>
                <a:latin typeface="Times New Roman" panose="02020603050405020304"/>
                <a:ea typeface="Times New Roman" panose="02020603050405020304"/>
                <a:cs typeface="Times New Roman" panose="02020603050405020304"/>
              </a:defRPr>
            </a:pPr>
            <a:r>
              <a:rPr sz="1350" b="1">
                <a:solidFill>
                  <a:srgbClr val="F3EBDD"/>
                </a:solidFill>
                <a:latin typeface="Times New Roman" panose="02020603050405020304"/>
                <a:ea typeface="Times New Roman" panose="02020603050405020304"/>
                <a:cs typeface="Times New Roman" panose="02020603050405020304"/>
              </a:rPr>
              <a:t>Ownership shifts</a:t>
            </a:r>
          </a:p>
        </p:txBody>
      </p:sp>
      <p:sp>
        <p:nvSpPr>
          <p:cNvPr id="17" name="workflow-step-3-body"/>
          <p:cNvSpPr>
            <a:spLocks noGrp="1"/>
          </p:cNvSpPr>
          <p:nvPr/>
        </p:nvSpPr>
        <p:spPr>
          <a:xfrm>
            <a:off x="4552950" y="4743450"/>
            <a:ext cx="1238250" cy="438150"/>
          </a:xfrm>
          <a:prstGeom prst="rect">
            <a:avLst/>
          </a:prstGeom>
          <a:noFill/>
          <a:ln w="0">
            <a:noFill/>
            <a:prstDash val="solid"/>
          </a:ln>
        </p:spPr>
        <p:txBody>
          <a:bodyPr lIns="0" tIns="0" rIns="0" bIns="0"/>
          <a:lstStyle/>
          <a:p>
            <a:pPr>
              <a:lnSpc>
                <a:spcPct val="104000"/>
              </a:lnSpc>
              <a:buNone/>
              <a:defRPr sz="1110">
                <a:solidFill>
                  <a:srgbClr val="CFC5B6"/>
                </a:solidFill>
                <a:latin typeface="Times New Roman" panose="02020603050405020304"/>
                <a:ea typeface="Times New Roman" panose="02020603050405020304"/>
                <a:cs typeface="Times New Roman" panose="02020603050405020304"/>
              </a:defRPr>
            </a:pPr>
            <a:r>
              <a:rPr sz="1110">
                <a:solidFill>
                  <a:srgbClr val="CFC5B6"/>
                </a:solidFill>
                <a:latin typeface="Times New Roman" panose="02020603050405020304"/>
                <a:ea typeface="Times New Roman" panose="02020603050405020304"/>
                <a:cs typeface="Times New Roman" panose="02020603050405020304"/>
              </a:rPr>
              <a:t>feels</a:t>
            </a:r>
          </a:p>
          <a:p>
            <a:pPr>
              <a:lnSpc>
                <a:spcPct val="104000"/>
              </a:lnSpc>
              <a:buNone/>
              <a:defRPr sz="1110">
                <a:solidFill>
                  <a:srgbClr val="CFC5B6"/>
                </a:solidFill>
                <a:latin typeface="Times New Roman" panose="02020603050405020304"/>
                <a:ea typeface="Times New Roman" panose="02020603050405020304"/>
                <a:cs typeface="Times New Roman" panose="02020603050405020304"/>
              </a:defRPr>
            </a:pPr>
            <a:r>
              <a:rPr sz="1110">
                <a:solidFill>
                  <a:srgbClr val="CFC5B6"/>
                </a:solidFill>
                <a:latin typeface="Times New Roman" panose="02020603050405020304"/>
                <a:ea typeface="Times New Roman" panose="02020603050405020304"/>
                <a:cs typeface="Times New Roman" panose="02020603050405020304"/>
              </a:rPr>
              <a:t>shared</a:t>
            </a:r>
          </a:p>
        </p:txBody>
      </p:sp>
      <p:sp>
        <p:nvSpPr>
          <p:cNvPr id="18" name="image-frame"/>
          <p:cNvSpPr>
            <a:spLocks noGrp="1"/>
          </p:cNvSpPr>
          <p:nvPr/>
        </p:nvSpPr>
        <p:spPr>
          <a:xfrm>
            <a:off x="6524625" y="876300"/>
            <a:ext cx="5010150" cy="2838450"/>
          </a:xfrm>
          <a:prstGeom prst="roundRect">
            <a:avLst>
              <a:gd name="adj" fmla="val 2685"/>
            </a:avLst>
          </a:prstGeom>
          <a:solidFill>
            <a:srgbClr val="0E1114"/>
          </a:solidFill>
          <a:ln w="9525">
            <a:solidFill>
              <a:srgbClr val="D9C7AA"/>
            </a:solidFill>
            <a:prstDash val="solid"/>
          </a:ln>
        </p:spPr>
      </p:sp>
      <p:pic>
        <p:nvPicPr>
          <p:cNvPr id="43" name="图片 42"/>
          <p:cNvPicPr>
            <a:picLocks noChangeAspect="1"/>
          </p:cNvPicPr>
          <p:nvPr/>
        </p:nvPicPr>
        <p:blipFill>
          <a:blip r:embed="rId3"/>
          <a:stretch>
            <a:fillRect/>
          </a:stretch>
        </p:blipFill>
        <p:spPr>
          <a:xfrm>
            <a:off x="6630449" y="933450"/>
            <a:ext cx="4798503" cy="2724150"/>
          </a:xfrm>
          <a:prstGeom prst="roundRect">
            <a:avLst>
              <a:gd name="adj" fmla="val 2797"/>
            </a:avLst>
          </a:prstGeom>
        </p:spPr>
      </p:pic>
      <p:sp>
        <p:nvSpPr>
          <p:cNvPr id="19" name="case-card"/>
          <p:cNvSpPr>
            <a:spLocks noGrp="1"/>
          </p:cNvSpPr>
          <p:nvPr/>
        </p:nvSpPr>
        <p:spPr>
          <a:xfrm>
            <a:off x="6524625" y="3943350"/>
            <a:ext cx="5010150" cy="1352550"/>
          </a:xfrm>
          <a:prstGeom prst="roundRect">
            <a:avLst>
              <a:gd name="adj" fmla="val 5634"/>
            </a:avLst>
          </a:prstGeom>
          <a:solidFill>
            <a:srgbClr val="F3EBDD"/>
          </a:solidFill>
          <a:ln w="9525">
            <a:solidFill>
              <a:srgbClr val="D9C7AA"/>
            </a:solidFill>
            <a:prstDash val="solid"/>
          </a:ln>
        </p:spPr>
      </p:sp>
      <p:sp>
        <p:nvSpPr>
          <p:cNvPr id="20" name="case-label"/>
          <p:cNvSpPr>
            <a:spLocks noGrp="1"/>
          </p:cNvSpPr>
          <p:nvPr/>
        </p:nvSpPr>
        <p:spPr>
          <a:xfrm>
            <a:off x="6791325" y="4133850"/>
            <a:ext cx="1714500" cy="209550"/>
          </a:xfrm>
          <a:prstGeom prst="rect">
            <a:avLst/>
          </a:prstGeom>
          <a:noFill/>
          <a:ln w="0">
            <a:noFill/>
            <a:prstDash val="solid"/>
          </a:ln>
        </p:spPr>
        <p:txBody>
          <a:bodyPr wrap="none" lIns="0" tIns="0" rIns="0" bIns="0"/>
          <a:lstStyle/>
          <a:p>
            <a:pPr>
              <a:defRPr sz="1050" b="1">
                <a:solidFill>
                  <a:srgbClr val="BE7A46"/>
                </a:solidFill>
                <a:latin typeface="Times New Roman" panose="02020603050405020304"/>
                <a:ea typeface="Times New Roman" panose="02020603050405020304"/>
                <a:cs typeface="Times New Roman" panose="02020603050405020304"/>
              </a:defRPr>
            </a:pPr>
            <a:r>
              <a:rPr sz="1050" b="1">
                <a:solidFill>
                  <a:srgbClr val="BE7A46"/>
                </a:solidFill>
                <a:latin typeface="Times New Roman" panose="02020603050405020304"/>
                <a:ea typeface="Times New Roman" panose="02020603050405020304"/>
                <a:cs typeface="Times New Roman" panose="02020603050405020304"/>
              </a:rPr>
              <a:t>REPORTED CASE</a:t>
            </a:r>
          </a:p>
        </p:txBody>
      </p:sp>
      <p:sp>
        <p:nvSpPr>
          <p:cNvPr id="21" name="case-copy"/>
          <p:cNvSpPr>
            <a:spLocks noGrp="1"/>
          </p:cNvSpPr>
          <p:nvPr/>
        </p:nvSpPr>
        <p:spPr>
          <a:xfrm>
            <a:off x="6791325" y="4400550"/>
            <a:ext cx="4400550" cy="838200"/>
          </a:xfrm>
          <a:prstGeom prst="rect">
            <a:avLst/>
          </a:prstGeom>
          <a:noFill/>
          <a:ln w="0">
            <a:noFill/>
            <a:prstDash val="solid"/>
          </a:ln>
        </p:spPr>
        <p:txBody>
          <a:bodyPr lIns="0" tIns="0" rIns="0" bIns="0"/>
          <a:lstStyle/>
          <a:p>
            <a:pPr>
              <a:lnSpc>
                <a:spcPct val="102000"/>
              </a:lnSpc>
              <a:buNone/>
              <a:defRPr sz="1260">
                <a:solidFill>
                  <a:srgbClr val="1F2F3A"/>
                </a:solidFill>
                <a:latin typeface="Times New Roman" panose="02020603050405020304"/>
                <a:ea typeface="Times New Roman" panose="02020603050405020304"/>
                <a:cs typeface="Times New Roman" panose="02020603050405020304"/>
              </a:defRPr>
            </a:pPr>
            <a:r>
              <a:rPr sz="1260">
                <a:solidFill>
                  <a:srgbClr val="1F2F3A"/>
                </a:solidFill>
                <a:latin typeface="Times New Roman" panose="02020603050405020304"/>
                <a:ea typeface="Times New Roman" panose="02020603050405020304"/>
                <a:cs typeface="Times New Roman" panose="02020603050405020304"/>
              </a:rPr>
              <a:t>CBS: Claude was reportedly used during the Iran operation; the exact role was not publicly disclosed.</a:t>
            </a:r>
          </a:p>
          <a:p>
            <a:pPr>
              <a:lnSpc>
                <a:spcPct val="102000"/>
              </a:lnSpc>
              <a:buNone/>
              <a:defRPr sz="1260">
                <a:solidFill>
                  <a:srgbClr val="1F2F3A"/>
                </a:solidFill>
                <a:latin typeface="Times New Roman" panose="02020603050405020304"/>
                <a:ea typeface="Times New Roman" panose="02020603050405020304"/>
                <a:cs typeface="Times New Roman" panose="02020603050405020304"/>
              </a:defRPr>
            </a:pPr>
            <a:r>
              <a:rPr sz="1260">
                <a:solidFill>
                  <a:srgbClr val="1F2F3A"/>
                </a:solidFill>
                <a:latin typeface="Times New Roman" panose="02020603050405020304"/>
                <a:ea typeface="Times New Roman" panose="02020603050405020304"/>
                <a:cs typeface="Times New Roman" panose="02020603050405020304"/>
              </a:rPr>
              <a:t>Anthropic: Claude is described in intelligence analysis, simulation, operational planning, and cyber operations.</a:t>
            </a:r>
          </a:p>
        </p:txBody>
      </p:sp>
      <p:sp>
        <p:nvSpPr>
          <p:cNvPr id="22" name="paper3-question"/>
          <p:cNvSpPr>
            <a:spLocks noGrp="1"/>
          </p:cNvSpPr>
          <p:nvPr/>
        </p:nvSpPr>
        <p:spPr>
          <a:xfrm>
            <a:off x="895350" y="5772150"/>
            <a:ext cx="10429875" cy="304800"/>
          </a:xfrm>
          <a:prstGeom prst="rect">
            <a:avLst/>
          </a:prstGeom>
          <a:noFill/>
          <a:ln w="0">
            <a:noFill/>
            <a:prstDash val="solid"/>
          </a:ln>
        </p:spPr>
        <p:txBody>
          <a:bodyPr wrap="none" lIns="0" tIns="0" rIns="0" bIns="0"/>
          <a:lstStyle/>
          <a:p>
            <a:pPr>
              <a:defRPr sz="1725" i="1">
                <a:solidFill>
                  <a:srgbClr val="F3EBDD"/>
                </a:solidFill>
                <a:latin typeface="Times New Roman" panose="02020603050405020304"/>
                <a:ea typeface="Times New Roman" panose="02020603050405020304"/>
                <a:cs typeface="Times New Roman" panose="02020603050405020304"/>
              </a:defRPr>
            </a:pPr>
            <a:r>
              <a:rPr sz="1725" i="1">
                <a:solidFill>
                  <a:srgbClr val="F3EBDD"/>
                </a:solidFill>
                <a:latin typeface="Times New Roman" panose="02020603050405020304"/>
                <a:ea typeface="Times New Roman" panose="02020603050405020304"/>
                <a:cs typeface="Times New Roman" panose="02020603050405020304"/>
              </a:rPr>
              <a:t>Paper 3 asks whether AI role proximity changes decisional ownership and felt accountability before a high-risk action is taken.</a:t>
            </a:r>
          </a:p>
        </p:txBody>
      </p:sp>
      <p:sp>
        <p:nvSpPr>
          <p:cNvPr id="23" name="source-note"/>
          <p:cNvSpPr>
            <a:spLocks noGrp="1"/>
          </p:cNvSpPr>
          <p:nvPr/>
        </p:nvSpPr>
        <p:spPr>
          <a:xfrm>
            <a:off x="895350" y="6381750"/>
            <a:ext cx="10191750" cy="171450"/>
          </a:xfrm>
          <a:prstGeom prst="rect">
            <a:avLst/>
          </a:prstGeom>
          <a:noFill/>
          <a:ln w="0">
            <a:noFill/>
            <a:prstDash val="solid"/>
          </a:ln>
        </p:spPr>
        <p:txBody>
          <a:bodyPr wrap="none" lIns="0" tIns="0" rIns="0" bIns="0"/>
          <a:lstStyle/>
          <a:p>
            <a:pPr>
              <a:defRPr sz="865">
                <a:solidFill>
                  <a:srgbClr val="AAB2B7"/>
                </a:solidFill>
                <a:latin typeface="Times New Roman" panose="02020603050405020304"/>
                <a:ea typeface="Times New Roman" panose="02020603050405020304"/>
                <a:cs typeface="Times New Roman" panose="02020603050405020304"/>
              </a:defRPr>
            </a:pPr>
            <a:r>
              <a:rPr sz="865">
                <a:solidFill>
                  <a:srgbClr val="AAB2B7"/>
                </a:solidFill>
                <a:latin typeface="Times New Roman" panose="02020603050405020304"/>
                <a:ea typeface="Times New Roman" panose="02020603050405020304"/>
                <a:cs typeface="Times New Roman" panose="02020603050405020304"/>
              </a:rPr>
              <a:t>Sources: CBS News; Anthropic public statements and DoD agreement. Image: user-provided Maven Smart System illustration; visual entry point only.</a:t>
            </a:r>
          </a:p>
        </p:txBody>
      </p:sp>
      <p:sp>
        <p:nvSpPr>
          <p:cNvPr id="24" name="footer-left"/>
          <p:cNvSpPr>
            <a:spLocks noGrp="1"/>
          </p:cNvSpPr>
          <p:nvPr/>
        </p:nvSpPr>
        <p:spPr>
          <a:xfrm>
            <a:off x="895350" y="6610350"/>
            <a:ext cx="1143000" cy="152400"/>
          </a:xfrm>
          <a:prstGeom prst="rect">
            <a:avLst/>
          </a:prstGeom>
          <a:noFill/>
          <a:ln w="0">
            <a:noFill/>
            <a:prstDash val="solid"/>
          </a:ln>
        </p:spPr>
        <p:txBody>
          <a:bodyPr wrap="none" lIns="0" tIns="0" rIns="0" bIns="0"/>
          <a:lstStyle/>
          <a:p>
            <a:pPr>
              <a:defRPr sz="825" b="1">
                <a:solidFill>
                  <a:srgbClr val="91A0A9"/>
                </a:solidFill>
                <a:latin typeface="Times New Roman" panose="02020603050405020304"/>
                <a:ea typeface="Times New Roman" panose="02020603050405020304"/>
                <a:cs typeface="Times New Roman" panose="02020603050405020304"/>
              </a:defRPr>
            </a:pPr>
            <a:r>
              <a:rPr sz="825" b="1">
                <a:solidFill>
                  <a:srgbClr val="91A0A9"/>
                </a:solidFill>
                <a:latin typeface="Times New Roman" panose="02020603050405020304"/>
                <a:ea typeface="Times New Roman" panose="02020603050405020304"/>
                <a:cs typeface="Times New Roman" panose="02020603050405020304"/>
              </a:rPr>
              <a:t>PAPER 3</a:t>
            </a:r>
          </a:p>
        </p:txBody>
      </p:sp>
      <p:sp>
        <p:nvSpPr>
          <p:cNvPr id="25" name="footer-right"/>
          <p:cNvSpPr>
            <a:spLocks noGrp="1"/>
          </p:cNvSpPr>
          <p:nvPr/>
        </p:nvSpPr>
        <p:spPr>
          <a:xfrm>
            <a:off x="11258550" y="6610350"/>
            <a:ext cx="266700" cy="152400"/>
          </a:xfrm>
          <a:prstGeom prst="rect">
            <a:avLst/>
          </a:prstGeom>
          <a:noFill/>
          <a:ln w="0">
            <a:noFill/>
            <a:prstDash val="solid"/>
          </a:ln>
        </p:spPr>
        <p:txBody>
          <a:bodyPr wrap="none" lIns="0" tIns="0" rIns="0" bIns="0"/>
          <a:lstStyle/>
          <a:p>
            <a:pPr algn="r">
              <a:defRPr sz="825">
                <a:solidFill>
                  <a:srgbClr val="91A0A9"/>
                </a:solidFill>
                <a:latin typeface="Times New Roman" panose="02020603050405020304"/>
                <a:ea typeface="Times New Roman" panose="02020603050405020304"/>
                <a:cs typeface="Times New Roman" panose="02020603050405020304"/>
              </a:defRPr>
            </a:pPr>
            <a:r>
              <a:rPr sz="825">
                <a:solidFill>
                  <a:srgbClr val="91A0A9"/>
                </a:solidFill>
                <a:latin typeface="Times New Roman" panose="02020603050405020304"/>
                <a:ea typeface="Times New Roman" panose="02020603050405020304"/>
                <a:cs typeface="Times New Roman" panose="02020603050405020304"/>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直接连接符 1"/>
          <p:cNvSpPr>
            <a:spLocks noGrp="1"/>
          </p:cNvSpPr>
          <p:nvPr/>
        </p:nvSpPr>
        <p:spPr>
          <a:xfrm>
            <a:off x="552450" y="457200"/>
            <a:ext cx="0" cy="5943600"/>
          </a:xfrm>
          <a:prstGeom prst="line">
            <a:avLst/>
          </a:prstGeom>
          <a:ln w="9525">
            <a:solidFill>
              <a:srgbClr val="D8CCBB"/>
            </a:solidFill>
            <a:prstDash val="solid"/>
          </a:ln>
        </p:spPr>
      </p:sp>
      <p:sp>
        <p:nvSpPr>
          <p:cNvPr id="3" name="椭圆 2"/>
          <p:cNvSpPr>
            <a:spLocks noGrp="1"/>
          </p:cNvSpPr>
          <p:nvPr/>
        </p:nvSpPr>
        <p:spPr>
          <a:xfrm>
            <a:off x="914400" y="657225"/>
            <a:ext cx="171450" cy="171450"/>
          </a:xfrm>
          <a:prstGeom prst="ellipse">
            <a:avLst/>
          </a:prstGeom>
          <a:solidFill>
            <a:srgbClr val="B77845"/>
          </a:solidFill>
          <a:ln w="9525">
            <a:solidFill>
              <a:srgbClr val="B77845"/>
            </a:solidFill>
            <a:prstDash val="solid"/>
          </a:ln>
        </p:spPr>
      </p:sp>
      <p:sp>
        <p:nvSpPr>
          <p:cNvPr id="4" name="矩形 3"/>
          <p:cNvSpPr>
            <a:spLocks noGrp="1"/>
          </p:cNvSpPr>
          <p:nvPr/>
        </p:nvSpPr>
        <p:spPr>
          <a:xfrm>
            <a:off x="1219200" y="590550"/>
            <a:ext cx="2476500" cy="228600"/>
          </a:xfrm>
          <a:prstGeom prst="rect">
            <a:avLst/>
          </a:prstGeom>
          <a:noFill/>
          <a:ln w="0">
            <a:noFill/>
            <a:prstDash val="solid"/>
          </a:ln>
        </p:spPr>
        <p:txBody>
          <a:bodyPr wrap="square" lIns="0" tIns="0" rIns="0" bIns="0" anchor="t">
            <a:normAutofit/>
          </a:bodyPr>
          <a:lstStyle/>
          <a:p>
            <a:pPr algn="l">
              <a:lnSpc>
                <a:spcPct val="105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a:ea typeface="Times New Roman" panose="02020603050405020304"/>
                <a:cs typeface="Times New Roman" panose="02020603050405020304"/>
              </a:rPr>
              <a:t>EXISTING WORK</a:t>
            </a:r>
          </a:p>
        </p:txBody>
      </p:sp>
      <p:sp>
        <p:nvSpPr>
          <p:cNvPr id="5" name="矩形 4"/>
          <p:cNvSpPr>
            <a:spLocks noGrp="1"/>
          </p:cNvSpPr>
          <p:nvPr/>
        </p:nvSpPr>
        <p:spPr>
          <a:xfrm>
            <a:off x="914400" y="952500"/>
            <a:ext cx="9715500" cy="438150"/>
          </a:xfrm>
          <a:prstGeom prst="rect">
            <a:avLst/>
          </a:prstGeom>
          <a:noFill/>
          <a:ln w="0">
            <a:noFill/>
            <a:prstDash val="solid"/>
          </a:ln>
        </p:spPr>
        <p:txBody>
          <a:bodyPr wrap="square" lIns="0" tIns="0" rIns="0" bIns="0" anchor="t">
            <a:normAutofit/>
          </a:bodyPr>
          <a:lstStyle/>
          <a:p>
            <a:pPr algn="l">
              <a:lnSpc>
                <a:spcPct val="96000"/>
              </a:lnSpc>
              <a:buNone/>
              <a:defRPr sz="2550" b="1" i="0">
                <a:solidFill>
                  <a:srgbClr val="231D17"/>
                </a:solidFill>
                <a:latin typeface="Times New Roman" panose="02020603050405020304"/>
                <a:ea typeface="Times New Roman" panose="02020603050405020304"/>
                <a:cs typeface="Times New Roman" panose="02020603050405020304"/>
              </a:defRPr>
            </a:pPr>
            <a:r>
              <a:rPr sz="2550" b="1" i="0">
                <a:solidFill>
                  <a:srgbClr val="231D17"/>
                </a:solidFill>
                <a:latin typeface="Times New Roman" panose="02020603050405020304"/>
                <a:ea typeface="Times New Roman" panose="02020603050405020304"/>
                <a:cs typeface="Times New Roman" panose="02020603050405020304"/>
              </a:rPr>
              <a:t>Responsibility Depends on How AI Enters the Decision Process</a:t>
            </a:r>
          </a:p>
        </p:txBody>
      </p:sp>
      <p:sp>
        <p:nvSpPr>
          <p:cNvPr id="6" name="矩形 5"/>
          <p:cNvSpPr>
            <a:spLocks noGrp="1"/>
          </p:cNvSpPr>
          <p:nvPr/>
        </p:nvSpPr>
        <p:spPr>
          <a:xfrm>
            <a:off x="914400" y="1466850"/>
            <a:ext cx="10096500" cy="400050"/>
          </a:xfrm>
          <a:prstGeom prst="rect">
            <a:avLst/>
          </a:prstGeom>
          <a:noFill/>
          <a:ln w="0">
            <a:noFill/>
            <a:prstDash val="solid"/>
          </a:ln>
        </p:spPr>
        <p:txBody>
          <a:bodyPr wrap="square" lIns="0" tIns="0" rIns="0" bIns="0" anchor="t">
            <a:normAutofit fontScale="96899"/>
          </a:bodyPr>
          <a:lstStyle/>
          <a:p>
            <a:pPr algn="l">
              <a:lnSpc>
                <a:spcPct val="105000"/>
              </a:lnSpc>
              <a:buNone/>
              <a:defRPr sz="1290" b="0" i="0">
                <a:solidFill>
                  <a:srgbClr val="6F665C"/>
                </a:solidFill>
                <a:latin typeface="Times New Roman" panose="02020603050405020304"/>
                <a:ea typeface="Times New Roman" panose="02020603050405020304"/>
                <a:cs typeface="Times New Roman" panose="02020603050405020304"/>
              </a:defRPr>
            </a:pPr>
            <a:r>
              <a:rPr sz="1290" b="0" i="0">
                <a:solidFill>
                  <a:srgbClr val="6F665C"/>
                </a:solidFill>
                <a:latin typeface="Times New Roman" panose="02020603050405020304"/>
                <a:ea typeface="Times New Roman" panose="02020603050405020304"/>
                <a:cs typeface="Times New Roman" panose="02020603050405020304"/>
              </a:rPr>
              <a:t>Three literatures motivate Paper 3: AI workflow design, delegation as responsibility management, and the gap between external accountability and felt accountability.</a:t>
            </a:r>
          </a:p>
        </p:txBody>
      </p:sp>
      <p:sp>
        <p:nvSpPr>
          <p:cNvPr id="7" name="圆角矩形 6"/>
          <p:cNvSpPr>
            <a:spLocks noGrp="1"/>
          </p:cNvSpPr>
          <p:nvPr/>
        </p:nvSpPr>
        <p:spPr>
          <a:xfrm>
            <a:off x="914400" y="2114550"/>
            <a:ext cx="3257550" cy="3028950"/>
          </a:xfrm>
          <a:prstGeom prst="roundRect">
            <a:avLst>
              <a:gd name="adj" fmla="val 3774"/>
            </a:avLst>
          </a:prstGeom>
          <a:solidFill>
            <a:srgbClr val="FFFFFF"/>
          </a:solidFill>
          <a:ln w="9525">
            <a:solidFill>
              <a:srgbClr val="D8CCBB"/>
            </a:solidFill>
            <a:prstDash val="solid"/>
          </a:ln>
        </p:spPr>
      </p:sp>
      <p:sp>
        <p:nvSpPr>
          <p:cNvPr id="8" name="矩形 7"/>
          <p:cNvSpPr>
            <a:spLocks noGrp="1"/>
          </p:cNvSpPr>
          <p:nvPr/>
        </p:nvSpPr>
        <p:spPr>
          <a:xfrm>
            <a:off x="914400" y="2114550"/>
            <a:ext cx="3257550" cy="76200"/>
          </a:xfrm>
          <a:prstGeom prst="rect">
            <a:avLst/>
          </a:prstGeom>
          <a:solidFill>
            <a:srgbClr val="B77845"/>
          </a:solidFill>
          <a:ln w="0">
            <a:solidFill>
              <a:srgbClr val="B77845"/>
            </a:solidFill>
            <a:prstDash val="solid"/>
          </a:ln>
        </p:spPr>
      </p:sp>
      <p:sp>
        <p:nvSpPr>
          <p:cNvPr id="9" name="椭圆 8"/>
          <p:cNvSpPr>
            <a:spLocks noGrp="1"/>
          </p:cNvSpPr>
          <p:nvPr/>
        </p:nvSpPr>
        <p:spPr>
          <a:xfrm>
            <a:off x="1123950" y="2381250"/>
            <a:ext cx="323850" cy="323850"/>
          </a:xfrm>
          <a:prstGeom prst="ellipse">
            <a:avLst/>
          </a:prstGeom>
          <a:solidFill>
            <a:srgbClr val="B77845"/>
          </a:solidFill>
          <a:ln w="9525">
            <a:solidFill>
              <a:srgbClr val="B77845"/>
            </a:solidFill>
            <a:prstDash val="solid"/>
          </a:ln>
        </p:spPr>
      </p:sp>
      <p:sp>
        <p:nvSpPr>
          <p:cNvPr id="10" name="矩形 9"/>
          <p:cNvSpPr>
            <a:spLocks noGrp="1"/>
          </p:cNvSpPr>
          <p:nvPr/>
        </p:nvSpPr>
        <p:spPr>
          <a:xfrm>
            <a:off x="1228725" y="2466975"/>
            <a:ext cx="114300" cy="133350"/>
          </a:xfrm>
          <a:prstGeom prst="rect">
            <a:avLst/>
          </a:prstGeom>
          <a:noFill/>
          <a:ln w="0">
            <a:noFill/>
            <a:prstDash val="solid"/>
          </a:ln>
        </p:spPr>
        <p:txBody>
          <a:bodyPr wrap="square" lIns="0" tIns="0" rIns="0" bIns="0" anchor="t">
            <a:normAutofit fontScale="79365"/>
          </a:bodyPr>
          <a:lstStyle/>
          <a:p>
            <a:pPr algn="ctr">
              <a:lnSpc>
                <a:spcPct val="105000"/>
              </a:lnSpc>
              <a:buNone/>
              <a:defRPr sz="1050" b="1" i="0">
                <a:solidFill>
                  <a:srgbClr val="F5F0E6"/>
                </a:solidFill>
                <a:latin typeface="Times New Roman" panose="02020603050405020304"/>
                <a:ea typeface="Times New Roman" panose="02020603050405020304"/>
                <a:cs typeface="Times New Roman" panose="02020603050405020304"/>
              </a:defRPr>
            </a:pPr>
            <a:r>
              <a:rPr sz="1050" b="1" i="0">
                <a:solidFill>
                  <a:srgbClr val="F5F0E6"/>
                </a:solidFill>
                <a:latin typeface="Times New Roman" panose="02020603050405020304"/>
                <a:ea typeface="Times New Roman" panose="02020603050405020304"/>
                <a:cs typeface="Times New Roman" panose="02020603050405020304"/>
              </a:rPr>
              <a:t>1</a:t>
            </a:r>
          </a:p>
        </p:txBody>
      </p:sp>
      <p:sp>
        <p:nvSpPr>
          <p:cNvPr id="11" name="矩形 10"/>
          <p:cNvSpPr>
            <a:spLocks noGrp="1"/>
          </p:cNvSpPr>
          <p:nvPr/>
        </p:nvSpPr>
        <p:spPr>
          <a:xfrm>
            <a:off x="1600200" y="2352675"/>
            <a:ext cx="2343150" cy="457200"/>
          </a:xfrm>
          <a:prstGeom prst="rect">
            <a:avLst/>
          </a:prstGeom>
          <a:noFill/>
          <a:ln w="0">
            <a:noFill/>
            <a:prstDash val="solid"/>
          </a:ln>
        </p:spPr>
        <p:txBody>
          <a:bodyPr wrap="square" lIns="0" tIns="0" rIns="0" bIns="0" anchor="t">
            <a:normAutofit/>
          </a:bodyPr>
          <a:lstStyle/>
          <a:p>
            <a:pPr algn="l">
              <a:lnSpc>
                <a:spcPct val="98000"/>
              </a:lnSpc>
              <a:buNone/>
              <a:defRPr sz="1500" b="1" i="0">
                <a:solidFill>
                  <a:srgbClr val="231D17"/>
                </a:solidFill>
                <a:latin typeface="Times New Roman" panose="02020603050405020304"/>
                <a:ea typeface="Times New Roman" panose="02020603050405020304"/>
                <a:cs typeface="Times New Roman" panose="02020603050405020304"/>
              </a:defRPr>
            </a:pPr>
            <a:r>
              <a:rPr sz="1500" b="1" i="0">
                <a:solidFill>
                  <a:srgbClr val="231D17"/>
                </a:solidFill>
                <a:latin typeface="Times New Roman" panose="02020603050405020304"/>
                <a:ea typeface="Times New Roman" panose="02020603050405020304"/>
                <a:cs typeface="Times New Roman" panose="02020603050405020304"/>
              </a:rPr>
              <a:t>AI workflow position is a design variable</a:t>
            </a:r>
          </a:p>
        </p:txBody>
      </p:sp>
      <p:sp>
        <p:nvSpPr>
          <p:cNvPr id="12" name="矩形 11"/>
          <p:cNvSpPr>
            <a:spLocks noGrp="1"/>
          </p:cNvSpPr>
          <p:nvPr/>
        </p:nvSpPr>
        <p:spPr>
          <a:xfrm>
            <a:off x="1143000" y="2990850"/>
            <a:ext cx="2800350" cy="742950"/>
          </a:xfrm>
          <a:prstGeom prst="rect">
            <a:avLst/>
          </a:prstGeom>
          <a:noFill/>
          <a:ln w="0">
            <a:noFill/>
            <a:prstDash val="solid"/>
          </a:ln>
        </p:spPr>
        <p:txBody>
          <a:bodyPr wrap="square" lIns="0" tIns="0" rIns="0" bIns="0" anchor="t">
            <a:normAutofit/>
          </a:bodyPr>
          <a:lstStyle/>
          <a:p>
            <a:pPr algn="l">
              <a:lnSpc>
                <a:spcPct val="107000"/>
              </a:lnSpc>
              <a:buNone/>
              <a:defRPr sz="1135" b="0" i="0">
                <a:solidFill>
                  <a:srgbClr val="231D17"/>
                </a:solidFill>
                <a:latin typeface="Times New Roman" panose="02020603050405020304"/>
                <a:ea typeface="Times New Roman" panose="02020603050405020304"/>
                <a:cs typeface="Times New Roman" panose="02020603050405020304"/>
              </a:defRPr>
            </a:pPr>
            <a:r>
              <a:rPr sz="1135" b="0" i="0">
                <a:solidFill>
                  <a:srgbClr val="231D17"/>
                </a:solidFill>
                <a:latin typeface="Times New Roman" panose="02020603050405020304"/>
                <a:ea typeface="Times New Roman" panose="02020603050405020304"/>
                <a:cs typeface="Times New Roman" panose="02020603050405020304"/>
              </a:rPr>
              <a:t>AI does not merely improve or replace prediction. It can enter before, during, or after human judgment, changing roles, authority, and process control.</a:t>
            </a:r>
          </a:p>
        </p:txBody>
      </p:sp>
      <p:sp>
        <p:nvSpPr>
          <p:cNvPr id="13" name="矩形 12"/>
          <p:cNvSpPr>
            <a:spLocks noGrp="1"/>
          </p:cNvSpPr>
          <p:nvPr/>
        </p:nvSpPr>
        <p:spPr>
          <a:xfrm>
            <a:off x="1143000" y="3829050"/>
            <a:ext cx="2800350" cy="342900"/>
          </a:xfrm>
          <a:prstGeom prst="rect">
            <a:avLst/>
          </a:prstGeom>
          <a:noFill/>
          <a:ln w="0">
            <a:noFill/>
            <a:prstDash val="solid"/>
          </a:ln>
        </p:spPr>
        <p:txBody>
          <a:bodyPr wrap="square" lIns="0" tIns="0" rIns="0" bIns="0" anchor="t">
            <a:normAutofit/>
          </a:bodyPr>
          <a:lstStyle/>
          <a:p>
            <a:pPr algn="l">
              <a:lnSpc>
                <a:spcPct val="105000"/>
              </a:lnSpc>
              <a:buNone/>
              <a:defRPr sz="930" b="0" i="1">
                <a:solidFill>
                  <a:srgbClr val="6F665C"/>
                </a:solidFill>
                <a:latin typeface="Times New Roman" panose="02020603050405020304"/>
                <a:ea typeface="Times New Roman" panose="02020603050405020304"/>
                <a:cs typeface="Times New Roman" panose="02020603050405020304"/>
              </a:defRPr>
            </a:pPr>
            <a:r>
              <a:rPr sz="930" b="0" i="1">
                <a:solidFill>
                  <a:srgbClr val="6F665C"/>
                </a:solidFill>
                <a:latin typeface="Times New Roman" panose="02020603050405020304"/>
                <a:ea typeface="Times New Roman" panose="02020603050405020304"/>
                <a:cs typeface="Times New Roman" panose="02020603050405020304"/>
              </a:rPr>
              <a:t>(Shrestha et al., 2019; Raisch &amp; Krakowski, 2021; Yin et al., 2025; Krakowski et al., 2026)</a:t>
            </a:r>
          </a:p>
        </p:txBody>
      </p:sp>
      <p:sp>
        <p:nvSpPr>
          <p:cNvPr id="14" name="圆角矩形 13"/>
          <p:cNvSpPr>
            <a:spLocks noGrp="1"/>
          </p:cNvSpPr>
          <p:nvPr/>
        </p:nvSpPr>
        <p:spPr>
          <a:xfrm>
            <a:off x="1123950" y="4362450"/>
            <a:ext cx="2838450" cy="552450"/>
          </a:xfrm>
          <a:prstGeom prst="roundRect">
            <a:avLst>
              <a:gd name="adj" fmla="val 10345"/>
            </a:avLst>
          </a:prstGeom>
          <a:solidFill>
            <a:srgbClr val="F3EBDD"/>
          </a:solidFill>
          <a:ln w="9525">
            <a:solidFill>
              <a:srgbClr val="E4D5C2"/>
            </a:solidFill>
            <a:prstDash val="solid"/>
          </a:ln>
        </p:spPr>
      </p:sp>
      <p:sp>
        <p:nvSpPr>
          <p:cNvPr id="15" name="矩形 14"/>
          <p:cNvSpPr>
            <a:spLocks noGrp="1"/>
          </p:cNvSpPr>
          <p:nvPr/>
        </p:nvSpPr>
        <p:spPr>
          <a:xfrm>
            <a:off x="1295400" y="4476750"/>
            <a:ext cx="2495550" cy="323850"/>
          </a:xfrm>
          <a:prstGeom prst="rect">
            <a:avLst/>
          </a:prstGeom>
          <a:noFill/>
          <a:ln w="0">
            <a:noFill/>
            <a:prstDash val="solid"/>
          </a:ln>
        </p:spPr>
        <p:txBody>
          <a:bodyPr wrap="square" lIns="0" tIns="0" rIns="0" bIns="0" anchor="t">
            <a:normAutofit fontScale="99892"/>
          </a:bodyPr>
          <a:lstStyle/>
          <a:p>
            <a:pPr algn="ctr">
              <a:lnSpc>
                <a:spcPct val="105000"/>
              </a:lnSpc>
              <a:buNone/>
              <a:defRPr sz="1015" b="1" i="0">
                <a:solidFill>
                  <a:srgbClr val="231D17"/>
                </a:solidFill>
                <a:latin typeface="Times New Roman" panose="02020603050405020304"/>
                <a:ea typeface="Times New Roman" panose="02020603050405020304"/>
                <a:cs typeface="Times New Roman" panose="02020603050405020304"/>
              </a:defRPr>
            </a:pPr>
            <a:r>
              <a:rPr sz="1015" b="1" i="0">
                <a:solidFill>
                  <a:srgbClr val="231D17"/>
                </a:solidFill>
                <a:latin typeface="Times New Roman" panose="02020603050405020304"/>
                <a:ea typeface="Times New Roman" panose="02020603050405020304"/>
                <a:cs typeface="Times New Roman" panose="02020603050405020304"/>
              </a:rPr>
              <a:t>Paper 3 treats AI role position as responsibility architecture.</a:t>
            </a:r>
          </a:p>
        </p:txBody>
      </p:sp>
      <p:sp>
        <p:nvSpPr>
          <p:cNvPr id="16" name="圆角矩形 15"/>
          <p:cNvSpPr>
            <a:spLocks noGrp="1"/>
          </p:cNvSpPr>
          <p:nvPr/>
        </p:nvSpPr>
        <p:spPr>
          <a:xfrm>
            <a:off x="4457700" y="2114550"/>
            <a:ext cx="3257550" cy="3028950"/>
          </a:xfrm>
          <a:prstGeom prst="roundRect">
            <a:avLst>
              <a:gd name="adj" fmla="val 3774"/>
            </a:avLst>
          </a:prstGeom>
          <a:solidFill>
            <a:srgbClr val="FFFFFF"/>
          </a:solidFill>
          <a:ln w="9525">
            <a:solidFill>
              <a:srgbClr val="D8CCBB"/>
            </a:solidFill>
            <a:prstDash val="solid"/>
          </a:ln>
        </p:spPr>
      </p:sp>
      <p:sp>
        <p:nvSpPr>
          <p:cNvPr id="17" name="矩形 16"/>
          <p:cNvSpPr>
            <a:spLocks noGrp="1"/>
          </p:cNvSpPr>
          <p:nvPr/>
        </p:nvSpPr>
        <p:spPr>
          <a:xfrm>
            <a:off x="4457700" y="2114550"/>
            <a:ext cx="3257550" cy="76200"/>
          </a:xfrm>
          <a:prstGeom prst="rect">
            <a:avLst/>
          </a:prstGeom>
          <a:solidFill>
            <a:srgbClr val="818A68"/>
          </a:solidFill>
          <a:ln w="0">
            <a:solidFill>
              <a:srgbClr val="818A68"/>
            </a:solidFill>
            <a:prstDash val="solid"/>
          </a:ln>
        </p:spPr>
      </p:sp>
      <p:sp>
        <p:nvSpPr>
          <p:cNvPr id="18" name="椭圆 17"/>
          <p:cNvSpPr>
            <a:spLocks noGrp="1"/>
          </p:cNvSpPr>
          <p:nvPr/>
        </p:nvSpPr>
        <p:spPr>
          <a:xfrm>
            <a:off x="4667250" y="2381250"/>
            <a:ext cx="323850" cy="323850"/>
          </a:xfrm>
          <a:prstGeom prst="ellipse">
            <a:avLst/>
          </a:prstGeom>
          <a:solidFill>
            <a:srgbClr val="818A68"/>
          </a:solidFill>
          <a:ln w="9525">
            <a:solidFill>
              <a:srgbClr val="818A68"/>
            </a:solidFill>
            <a:prstDash val="solid"/>
          </a:ln>
        </p:spPr>
      </p:sp>
      <p:sp>
        <p:nvSpPr>
          <p:cNvPr id="19" name="矩形 18"/>
          <p:cNvSpPr>
            <a:spLocks noGrp="1"/>
          </p:cNvSpPr>
          <p:nvPr/>
        </p:nvSpPr>
        <p:spPr>
          <a:xfrm>
            <a:off x="4772025" y="2466975"/>
            <a:ext cx="114300" cy="133350"/>
          </a:xfrm>
          <a:prstGeom prst="rect">
            <a:avLst/>
          </a:prstGeom>
          <a:noFill/>
          <a:ln w="0">
            <a:noFill/>
            <a:prstDash val="solid"/>
          </a:ln>
        </p:spPr>
        <p:txBody>
          <a:bodyPr wrap="square" lIns="0" tIns="0" rIns="0" bIns="0" anchor="t">
            <a:normAutofit fontScale="79365"/>
          </a:bodyPr>
          <a:lstStyle/>
          <a:p>
            <a:pPr algn="ctr">
              <a:lnSpc>
                <a:spcPct val="105000"/>
              </a:lnSpc>
              <a:buNone/>
              <a:defRPr sz="1050" b="1" i="0">
                <a:solidFill>
                  <a:srgbClr val="F5F0E6"/>
                </a:solidFill>
                <a:latin typeface="Times New Roman" panose="02020603050405020304"/>
                <a:ea typeface="Times New Roman" panose="02020603050405020304"/>
                <a:cs typeface="Times New Roman" panose="02020603050405020304"/>
              </a:defRPr>
            </a:pPr>
            <a:r>
              <a:rPr sz="1050" b="1" i="0">
                <a:solidFill>
                  <a:srgbClr val="F5F0E6"/>
                </a:solidFill>
                <a:latin typeface="Times New Roman" panose="02020603050405020304"/>
                <a:ea typeface="Times New Roman" panose="02020603050405020304"/>
                <a:cs typeface="Times New Roman" panose="02020603050405020304"/>
              </a:rPr>
              <a:t>2</a:t>
            </a:r>
          </a:p>
        </p:txBody>
      </p:sp>
      <p:sp>
        <p:nvSpPr>
          <p:cNvPr id="20" name="矩形 19"/>
          <p:cNvSpPr>
            <a:spLocks noGrp="1"/>
          </p:cNvSpPr>
          <p:nvPr/>
        </p:nvSpPr>
        <p:spPr>
          <a:xfrm>
            <a:off x="5143500" y="2352675"/>
            <a:ext cx="2343150" cy="457200"/>
          </a:xfrm>
          <a:prstGeom prst="rect">
            <a:avLst/>
          </a:prstGeom>
          <a:noFill/>
          <a:ln w="0">
            <a:noFill/>
            <a:prstDash val="solid"/>
          </a:ln>
        </p:spPr>
        <p:txBody>
          <a:bodyPr wrap="square" lIns="0" tIns="0" rIns="0" bIns="0" anchor="t">
            <a:normAutofit/>
          </a:bodyPr>
          <a:lstStyle/>
          <a:p>
            <a:pPr algn="l">
              <a:lnSpc>
                <a:spcPct val="98000"/>
              </a:lnSpc>
              <a:buNone/>
              <a:defRPr sz="1500" b="1" i="0">
                <a:solidFill>
                  <a:srgbClr val="231D17"/>
                </a:solidFill>
                <a:latin typeface="Times New Roman" panose="02020603050405020304"/>
                <a:ea typeface="Times New Roman" panose="02020603050405020304"/>
                <a:cs typeface="Times New Roman" panose="02020603050405020304"/>
              </a:defRPr>
            </a:pPr>
            <a:r>
              <a:rPr sz="1500" b="1" i="0">
                <a:solidFill>
                  <a:srgbClr val="231D17"/>
                </a:solidFill>
                <a:latin typeface="Times New Roman" panose="02020603050405020304"/>
                <a:ea typeface="Times New Roman" panose="02020603050405020304"/>
                <a:cs typeface="Times New Roman" panose="02020603050405020304"/>
              </a:rPr>
              <a:t>Delegation can shift blame and moral cost</a:t>
            </a:r>
          </a:p>
        </p:txBody>
      </p:sp>
      <p:sp>
        <p:nvSpPr>
          <p:cNvPr id="21" name="矩形 20"/>
          <p:cNvSpPr>
            <a:spLocks noGrp="1"/>
          </p:cNvSpPr>
          <p:nvPr/>
        </p:nvSpPr>
        <p:spPr>
          <a:xfrm>
            <a:off x="4686300" y="2990850"/>
            <a:ext cx="2800350" cy="742950"/>
          </a:xfrm>
          <a:prstGeom prst="rect">
            <a:avLst/>
          </a:prstGeom>
          <a:noFill/>
          <a:ln w="0">
            <a:noFill/>
            <a:prstDash val="solid"/>
          </a:ln>
        </p:spPr>
        <p:txBody>
          <a:bodyPr wrap="square" lIns="0" tIns="0" rIns="0" bIns="0" anchor="t">
            <a:normAutofit/>
          </a:bodyPr>
          <a:lstStyle/>
          <a:p>
            <a:pPr algn="l">
              <a:lnSpc>
                <a:spcPct val="107000"/>
              </a:lnSpc>
              <a:buNone/>
              <a:defRPr sz="1135" b="0" i="0">
                <a:solidFill>
                  <a:srgbClr val="231D17"/>
                </a:solidFill>
                <a:latin typeface="Times New Roman" panose="02020603050405020304"/>
                <a:ea typeface="Times New Roman" panose="02020603050405020304"/>
                <a:cs typeface="Times New Roman" panose="02020603050405020304"/>
              </a:defRPr>
            </a:pPr>
            <a:r>
              <a:rPr sz="1135" b="0" i="0">
                <a:solidFill>
                  <a:srgbClr val="231D17"/>
                </a:solidFill>
                <a:latin typeface="Times New Roman" panose="02020603050405020304"/>
                <a:ea typeface="Times New Roman" panose="02020603050405020304"/>
                <a:cs typeface="Times New Roman" panose="02020603050405020304"/>
              </a:rPr>
              <a:t>Delegating difficult choices can reduce personal responsibility and redistribute blame across users, systems, programmers, and machine intermediaries.</a:t>
            </a:r>
          </a:p>
        </p:txBody>
      </p:sp>
      <p:sp>
        <p:nvSpPr>
          <p:cNvPr id="22" name="矩形 21"/>
          <p:cNvSpPr>
            <a:spLocks noGrp="1"/>
          </p:cNvSpPr>
          <p:nvPr/>
        </p:nvSpPr>
        <p:spPr>
          <a:xfrm>
            <a:off x="4686300" y="3829050"/>
            <a:ext cx="2800350" cy="342900"/>
          </a:xfrm>
          <a:prstGeom prst="rect">
            <a:avLst/>
          </a:prstGeom>
          <a:noFill/>
          <a:ln w="0">
            <a:noFill/>
            <a:prstDash val="solid"/>
          </a:ln>
        </p:spPr>
        <p:txBody>
          <a:bodyPr wrap="square" lIns="0" tIns="0" rIns="0" bIns="0" anchor="t">
            <a:normAutofit/>
          </a:bodyPr>
          <a:lstStyle/>
          <a:p>
            <a:pPr algn="l">
              <a:lnSpc>
                <a:spcPct val="105000"/>
              </a:lnSpc>
              <a:buNone/>
              <a:defRPr sz="930" b="0" i="1">
                <a:solidFill>
                  <a:srgbClr val="6F665C"/>
                </a:solidFill>
                <a:latin typeface="Times New Roman" panose="02020603050405020304"/>
                <a:ea typeface="Times New Roman" panose="02020603050405020304"/>
                <a:cs typeface="Times New Roman" panose="02020603050405020304"/>
              </a:defRPr>
            </a:pPr>
            <a:r>
              <a:rPr sz="930" b="0" i="1">
                <a:solidFill>
                  <a:srgbClr val="6F665C"/>
                </a:solidFill>
                <a:latin typeface="Times New Roman" panose="02020603050405020304"/>
                <a:ea typeface="Times New Roman" panose="02020603050405020304"/>
                <a:cs typeface="Times New Roman" panose="02020603050405020304"/>
              </a:rPr>
              <a:t>(Steffel et al., 2016; Kirchkamp &amp; Strobel, 2019; Chevrier &amp; Teixeira, 2024; Kobis et al., 2025)</a:t>
            </a:r>
          </a:p>
        </p:txBody>
      </p:sp>
      <p:sp>
        <p:nvSpPr>
          <p:cNvPr id="23" name="圆角矩形 22"/>
          <p:cNvSpPr>
            <a:spLocks noGrp="1"/>
          </p:cNvSpPr>
          <p:nvPr/>
        </p:nvSpPr>
        <p:spPr>
          <a:xfrm>
            <a:off x="4667250" y="4362450"/>
            <a:ext cx="2838450" cy="552450"/>
          </a:xfrm>
          <a:prstGeom prst="roundRect">
            <a:avLst>
              <a:gd name="adj" fmla="val 10345"/>
            </a:avLst>
          </a:prstGeom>
          <a:solidFill>
            <a:srgbClr val="F3EBDD"/>
          </a:solidFill>
          <a:ln w="9525">
            <a:solidFill>
              <a:srgbClr val="E4D5C2"/>
            </a:solidFill>
            <a:prstDash val="solid"/>
          </a:ln>
        </p:spPr>
      </p:sp>
      <p:sp>
        <p:nvSpPr>
          <p:cNvPr id="24" name="矩形 23"/>
          <p:cNvSpPr>
            <a:spLocks noGrp="1"/>
          </p:cNvSpPr>
          <p:nvPr/>
        </p:nvSpPr>
        <p:spPr>
          <a:xfrm>
            <a:off x="4838700" y="4476750"/>
            <a:ext cx="2495550" cy="323850"/>
          </a:xfrm>
          <a:prstGeom prst="rect">
            <a:avLst/>
          </a:prstGeom>
          <a:noFill/>
          <a:ln w="0">
            <a:noFill/>
            <a:prstDash val="solid"/>
          </a:ln>
        </p:spPr>
        <p:txBody>
          <a:bodyPr wrap="square" lIns="0" tIns="0" rIns="0" bIns="0" anchor="t">
            <a:normAutofit fontScale="99892"/>
          </a:bodyPr>
          <a:lstStyle/>
          <a:p>
            <a:pPr algn="ctr">
              <a:lnSpc>
                <a:spcPct val="105000"/>
              </a:lnSpc>
              <a:buNone/>
              <a:defRPr sz="1015" b="1" i="0">
                <a:solidFill>
                  <a:srgbClr val="231D17"/>
                </a:solidFill>
                <a:latin typeface="Times New Roman" panose="02020603050405020304"/>
                <a:ea typeface="Times New Roman" panose="02020603050405020304"/>
                <a:cs typeface="Times New Roman" panose="02020603050405020304"/>
              </a:defRPr>
            </a:pPr>
            <a:r>
              <a:rPr sz="1015" b="1" i="0">
                <a:solidFill>
                  <a:srgbClr val="231D17"/>
                </a:solidFill>
                <a:latin typeface="Times New Roman" panose="02020603050405020304"/>
                <a:ea typeface="Times New Roman" panose="02020603050405020304"/>
                <a:cs typeface="Times New Roman" panose="02020603050405020304"/>
              </a:rPr>
              <a:t>The question is when AI support weakens decision ownership before action.</a:t>
            </a:r>
          </a:p>
        </p:txBody>
      </p:sp>
      <p:sp>
        <p:nvSpPr>
          <p:cNvPr id="25" name="圆角矩形 24"/>
          <p:cNvSpPr>
            <a:spLocks noGrp="1"/>
          </p:cNvSpPr>
          <p:nvPr/>
        </p:nvSpPr>
        <p:spPr>
          <a:xfrm>
            <a:off x="8001000" y="2114550"/>
            <a:ext cx="3257550" cy="3028950"/>
          </a:xfrm>
          <a:prstGeom prst="roundRect">
            <a:avLst>
              <a:gd name="adj" fmla="val 3774"/>
            </a:avLst>
          </a:prstGeom>
          <a:solidFill>
            <a:srgbClr val="FFFFFF"/>
          </a:solidFill>
          <a:ln w="9525">
            <a:solidFill>
              <a:srgbClr val="D8CCBB"/>
            </a:solidFill>
            <a:prstDash val="solid"/>
          </a:ln>
        </p:spPr>
      </p:sp>
      <p:sp>
        <p:nvSpPr>
          <p:cNvPr id="26" name="矩形 25"/>
          <p:cNvSpPr>
            <a:spLocks noGrp="1"/>
          </p:cNvSpPr>
          <p:nvPr/>
        </p:nvSpPr>
        <p:spPr>
          <a:xfrm>
            <a:off x="8001000" y="2114550"/>
            <a:ext cx="3257550" cy="76200"/>
          </a:xfrm>
          <a:prstGeom prst="rect">
            <a:avLst/>
          </a:prstGeom>
          <a:solidFill>
            <a:srgbClr val="23384A"/>
          </a:solidFill>
          <a:ln w="0">
            <a:solidFill>
              <a:srgbClr val="23384A"/>
            </a:solidFill>
            <a:prstDash val="solid"/>
          </a:ln>
        </p:spPr>
      </p:sp>
      <p:sp>
        <p:nvSpPr>
          <p:cNvPr id="27" name="椭圆 26"/>
          <p:cNvSpPr>
            <a:spLocks noGrp="1"/>
          </p:cNvSpPr>
          <p:nvPr/>
        </p:nvSpPr>
        <p:spPr>
          <a:xfrm>
            <a:off x="8210550" y="2381250"/>
            <a:ext cx="323850" cy="323850"/>
          </a:xfrm>
          <a:prstGeom prst="ellipse">
            <a:avLst/>
          </a:prstGeom>
          <a:solidFill>
            <a:srgbClr val="23384A"/>
          </a:solidFill>
          <a:ln w="9525">
            <a:solidFill>
              <a:srgbClr val="23384A"/>
            </a:solidFill>
            <a:prstDash val="solid"/>
          </a:ln>
        </p:spPr>
      </p:sp>
      <p:sp>
        <p:nvSpPr>
          <p:cNvPr id="28" name="矩形 27"/>
          <p:cNvSpPr>
            <a:spLocks noGrp="1"/>
          </p:cNvSpPr>
          <p:nvPr/>
        </p:nvSpPr>
        <p:spPr>
          <a:xfrm>
            <a:off x="8315325" y="2466975"/>
            <a:ext cx="114300" cy="133350"/>
          </a:xfrm>
          <a:prstGeom prst="rect">
            <a:avLst/>
          </a:prstGeom>
          <a:noFill/>
          <a:ln w="0">
            <a:noFill/>
            <a:prstDash val="solid"/>
          </a:ln>
        </p:spPr>
        <p:txBody>
          <a:bodyPr wrap="square" lIns="0" tIns="0" rIns="0" bIns="0" anchor="t">
            <a:normAutofit fontScale="79365"/>
          </a:bodyPr>
          <a:lstStyle/>
          <a:p>
            <a:pPr algn="ctr">
              <a:lnSpc>
                <a:spcPct val="105000"/>
              </a:lnSpc>
              <a:buNone/>
              <a:defRPr sz="1050" b="1" i="0">
                <a:solidFill>
                  <a:srgbClr val="F5F0E6"/>
                </a:solidFill>
                <a:latin typeface="Times New Roman" panose="02020603050405020304"/>
                <a:ea typeface="Times New Roman" panose="02020603050405020304"/>
                <a:cs typeface="Times New Roman" panose="02020603050405020304"/>
              </a:defRPr>
            </a:pPr>
            <a:r>
              <a:rPr sz="1050" b="1" i="0">
                <a:solidFill>
                  <a:srgbClr val="F5F0E6"/>
                </a:solidFill>
                <a:latin typeface="Times New Roman" panose="02020603050405020304"/>
                <a:ea typeface="Times New Roman" panose="02020603050405020304"/>
                <a:cs typeface="Times New Roman" panose="02020603050405020304"/>
              </a:rPr>
              <a:t>3</a:t>
            </a:r>
          </a:p>
        </p:txBody>
      </p:sp>
      <p:sp>
        <p:nvSpPr>
          <p:cNvPr id="29" name="矩形 28"/>
          <p:cNvSpPr>
            <a:spLocks noGrp="1"/>
          </p:cNvSpPr>
          <p:nvPr/>
        </p:nvSpPr>
        <p:spPr>
          <a:xfrm>
            <a:off x="8686800" y="2352675"/>
            <a:ext cx="2343150" cy="457200"/>
          </a:xfrm>
          <a:prstGeom prst="rect">
            <a:avLst/>
          </a:prstGeom>
          <a:noFill/>
          <a:ln w="0">
            <a:noFill/>
            <a:prstDash val="solid"/>
          </a:ln>
        </p:spPr>
        <p:txBody>
          <a:bodyPr wrap="square" lIns="0" tIns="0" rIns="0" bIns="0" anchor="t">
            <a:normAutofit/>
          </a:bodyPr>
          <a:lstStyle/>
          <a:p>
            <a:pPr algn="l">
              <a:lnSpc>
                <a:spcPct val="98000"/>
              </a:lnSpc>
              <a:buNone/>
              <a:defRPr sz="1500" b="1" i="0">
                <a:solidFill>
                  <a:srgbClr val="231D17"/>
                </a:solidFill>
                <a:latin typeface="Times New Roman" panose="02020603050405020304"/>
                <a:ea typeface="Times New Roman" panose="02020603050405020304"/>
                <a:cs typeface="Times New Roman" panose="02020603050405020304"/>
              </a:defRPr>
            </a:pPr>
            <a:r>
              <a:rPr sz="1500" b="1" i="0">
                <a:solidFill>
                  <a:srgbClr val="231D17"/>
                </a:solidFill>
                <a:latin typeface="Times New Roman" panose="02020603050405020304"/>
                <a:ea typeface="Times New Roman" panose="02020603050405020304"/>
                <a:cs typeface="Times New Roman" panose="02020603050405020304"/>
              </a:rPr>
              <a:t>Accountability design is not felt accountability</a:t>
            </a:r>
          </a:p>
        </p:txBody>
      </p:sp>
      <p:sp>
        <p:nvSpPr>
          <p:cNvPr id="30" name="矩形 29"/>
          <p:cNvSpPr>
            <a:spLocks noGrp="1"/>
          </p:cNvSpPr>
          <p:nvPr/>
        </p:nvSpPr>
        <p:spPr>
          <a:xfrm>
            <a:off x="8229600" y="2990850"/>
            <a:ext cx="2800350" cy="742950"/>
          </a:xfrm>
          <a:prstGeom prst="rect">
            <a:avLst/>
          </a:prstGeom>
          <a:noFill/>
          <a:ln w="0">
            <a:noFill/>
            <a:prstDash val="solid"/>
          </a:ln>
        </p:spPr>
        <p:txBody>
          <a:bodyPr wrap="square" lIns="0" tIns="0" rIns="0" bIns="0" anchor="t">
            <a:normAutofit/>
          </a:bodyPr>
          <a:lstStyle/>
          <a:p>
            <a:pPr algn="l">
              <a:lnSpc>
                <a:spcPct val="107000"/>
              </a:lnSpc>
              <a:buNone/>
              <a:defRPr sz="1135" b="0" i="0">
                <a:solidFill>
                  <a:srgbClr val="231D17"/>
                </a:solidFill>
                <a:latin typeface="Times New Roman" panose="02020603050405020304"/>
                <a:ea typeface="Times New Roman" panose="02020603050405020304"/>
                <a:cs typeface="Times New Roman" panose="02020603050405020304"/>
              </a:defRPr>
            </a:pPr>
            <a:r>
              <a:rPr sz="1135" b="0" i="0">
                <a:solidFill>
                  <a:srgbClr val="231D17"/>
                </a:solidFill>
                <a:latin typeface="Times New Roman" panose="02020603050405020304"/>
                <a:ea typeface="Times New Roman" panose="02020603050405020304"/>
                <a:cs typeface="Times New Roman" panose="02020603050405020304"/>
              </a:rPr>
              <a:t>Disclosure, approval, audit trails, and justification requirements create external accountability, but they may not automatically make people feel responsible.</a:t>
            </a:r>
          </a:p>
        </p:txBody>
      </p:sp>
      <p:sp>
        <p:nvSpPr>
          <p:cNvPr id="31" name="矩形 30"/>
          <p:cNvSpPr>
            <a:spLocks noGrp="1"/>
          </p:cNvSpPr>
          <p:nvPr/>
        </p:nvSpPr>
        <p:spPr>
          <a:xfrm>
            <a:off x="8229600" y="3829050"/>
            <a:ext cx="2800350" cy="342900"/>
          </a:xfrm>
          <a:prstGeom prst="rect">
            <a:avLst/>
          </a:prstGeom>
          <a:noFill/>
          <a:ln w="0">
            <a:noFill/>
            <a:prstDash val="solid"/>
          </a:ln>
        </p:spPr>
        <p:txBody>
          <a:bodyPr wrap="square" lIns="0" tIns="0" rIns="0" bIns="0" anchor="t">
            <a:normAutofit/>
          </a:bodyPr>
          <a:lstStyle/>
          <a:p>
            <a:pPr algn="l">
              <a:lnSpc>
                <a:spcPct val="105000"/>
              </a:lnSpc>
              <a:buNone/>
              <a:defRPr sz="930" b="0" i="1">
                <a:solidFill>
                  <a:srgbClr val="6F665C"/>
                </a:solidFill>
                <a:latin typeface="Times New Roman" panose="02020603050405020304"/>
                <a:ea typeface="Times New Roman" panose="02020603050405020304"/>
                <a:cs typeface="Times New Roman" panose="02020603050405020304"/>
              </a:defRPr>
            </a:pPr>
            <a:r>
              <a:rPr sz="930" b="0" i="1">
                <a:solidFill>
                  <a:srgbClr val="6F665C"/>
                </a:solidFill>
                <a:latin typeface="Times New Roman" panose="02020603050405020304"/>
                <a:ea typeface="Times New Roman" panose="02020603050405020304"/>
                <a:cs typeface="Times New Roman" panose="02020603050405020304"/>
              </a:rPr>
              <a:t>(Lerner &amp; Tetlock, 1999; Hall et al., 2017; Aleksovska et al., 2019)</a:t>
            </a:r>
          </a:p>
        </p:txBody>
      </p:sp>
      <p:sp>
        <p:nvSpPr>
          <p:cNvPr id="32" name="圆角矩形 31"/>
          <p:cNvSpPr>
            <a:spLocks noGrp="1"/>
          </p:cNvSpPr>
          <p:nvPr/>
        </p:nvSpPr>
        <p:spPr>
          <a:xfrm>
            <a:off x="8210550" y="4362450"/>
            <a:ext cx="2838450" cy="552450"/>
          </a:xfrm>
          <a:prstGeom prst="roundRect">
            <a:avLst>
              <a:gd name="adj" fmla="val 10345"/>
            </a:avLst>
          </a:prstGeom>
          <a:solidFill>
            <a:srgbClr val="F3EBDD"/>
          </a:solidFill>
          <a:ln w="9525">
            <a:solidFill>
              <a:srgbClr val="E4D5C2"/>
            </a:solidFill>
            <a:prstDash val="solid"/>
          </a:ln>
        </p:spPr>
      </p:sp>
      <p:sp>
        <p:nvSpPr>
          <p:cNvPr id="33" name="矩形 32"/>
          <p:cNvSpPr>
            <a:spLocks noGrp="1"/>
          </p:cNvSpPr>
          <p:nvPr/>
        </p:nvSpPr>
        <p:spPr>
          <a:xfrm>
            <a:off x="8382000" y="4476750"/>
            <a:ext cx="2495550" cy="323850"/>
          </a:xfrm>
          <a:prstGeom prst="rect">
            <a:avLst/>
          </a:prstGeom>
          <a:noFill/>
          <a:ln w="0">
            <a:noFill/>
            <a:prstDash val="solid"/>
          </a:ln>
        </p:spPr>
        <p:txBody>
          <a:bodyPr wrap="square" lIns="0" tIns="0" rIns="0" bIns="0" anchor="t">
            <a:normAutofit fontScale="99892"/>
          </a:bodyPr>
          <a:lstStyle/>
          <a:p>
            <a:pPr algn="ctr">
              <a:lnSpc>
                <a:spcPct val="105000"/>
              </a:lnSpc>
              <a:buNone/>
              <a:defRPr sz="1015" b="1" i="0">
                <a:solidFill>
                  <a:srgbClr val="231D17"/>
                </a:solidFill>
                <a:latin typeface="Times New Roman" panose="02020603050405020304"/>
                <a:ea typeface="Times New Roman" panose="02020603050405020304"/>
                <a:cs typeface="Times New Roman" panose="02020603050405020304"/>
              </a:defRPr>
            </a:pPr>
            <a:r>
              <a:rPr sz="1015" b="1" i="0">
                <a:solidFill>
                  <a:srgbClr val="231D17"/>
                </a:solidFill>
                <a:latin typeface="Times New Roman" panose="02020603050405020304"/>
                <a:ea typeface="Times New Roman" panose="02020603050405020304"/>
                <a:cs typeface="Times New Roman" panose="02020603050405020304"/>
              </a:rPr>
              <a:t>The experiment asks whether justification re-anchors responsibility to the human.</a:t>
            </a:r>
          </a:p>
        </p:txBody>
      </p:sp>
      <p:sp>
        <p:nvSpPr>
          <p:cNvPr id="34" name="圆角矩形 33"/>
          <p:cNvSpPr>
            <a:spLocks noGrp="1"/>
          </p:cNvSpPr>
          <p:nvPr/>
        </p:nvSpPr>
        <p:spPr>
          <a:xfrm>
            <a:off x="914400" y="5467350"/>
            <a:ext cx="10325100" cy="704850"/>
          </a:xfrm>
          <a:prstGeom prst="roundRect">
            <a:avLst>
              <a:gd name="adj" fmla="val 16216"/>
            </a:avLst>
          </a:prstGeom>
          <a:solidFill>
            <a:srgbClr val="23384A"/>
          </a:solidFill>
          <a:ln w="9525">
            <a:solidFill>
              <a:srgbClr val="23384A"/>
            </a:solidFill>
            <a:prstDash val="solid"/>
          </a:ln>
        </p:spPr>
      </p:sp>
      <p:sp>
        <p:nvSpPr>
          <p:cNvPr id="35" name="矩形 34"/>
          <p:cNvSpPr>
            <a:spLocks noGrp="1"/>
          </p:cNvSpPr>
          <p:nvPr/>
        </p:nvSpPr>
        <p:spPr>
          <a:xfrm>
            <a:off x="1219200" y="5638800"/>
            <a:ext cx="2000250" cy="209550"/>
          </a:xfrm>
          <a:prstGeom prst="rect">
            <a:avLst/>
          </a:prstGeom>
          <a:noFill/>
          <a:ln w="0">
            <a:noFill/>
            <a:prstDash val="solid"/>
          </a:ln>
        </p:spPr>
        <p:txBody>
          <a:bodyPr wrap="square" lIns="0" tIns="0" rIns="0" bIns="0" anchor="t">
            <a:normAutofit fontScale="91896"/>
          </a:bodyPr>
          <a:lstStyle/>
          <a:p>
            <a:pPr algn="l">
              <a:lnSpc>
                <a:spcPct val="105000"/>
              </a:lnSpc>
              <a:buNone/>
              <a:defRPr sz="1425" b="1" i="0">
                <a:solidFill>
                  <a:srgbClr val="E7D4C3"/>
                </a:solidFill>
                <a:latin typeface="Times New Roman" panose="02020603050405020304"/>
                <a:ea typeface="Times New Roman" panose="02020603050405020304"/>
                <a:cs typeface="Times New Roman" panose="02020603050405020304"/>
              </a:defRPr>
            </a:pPr>
            <a:r>
              <a:rPr sz="1425" b="1" i="0">
                <a:solidFill>
                  <a:srgbClr val="E7D4C3"/>
                </a:solidFill>
                <a:latin typeface="Times New Roman" panose="02020603050405020304"/>
                <a:ea typeface="Times New Roman" panose="02020603050405020304"/>
                <a:cs typeface="Times New Roman" panose="02020603050405020304"/>
              </a:rPr>
              <a:t>Paper 3's move</a:t>
            </a:r>
          </a:p>
        </p:txBody>
      </p:sp>
      <p:sp>
        <p:nvSpPr>
          <p:cNvPr id="36" name="矩形 35"/>
          <p:cNvSpPr>
            <a:spLocks noGrp="1"/>
          </p:cNvSpPr>
          <p:nvPr/>
        </p:nvSpPr>
        <p:spPr>
          <a:xfrm>
            <a:off x="3429000" y="5619750"/>
            <a:ext cx="7239000" cy="323850"/>
          </a:xfrm>
          <a:prstGeom prst="rect">
            <a:avLst/>
          </a:prstGeom>
          <a:noFill/>
          <a:ln w="0">
            <a:noFill/>
            <a:prstDash val="solid"/>
          </a:ln>
        </p:spPr>
        <p:txBody>
          <a:bodyPr wrap="square" lIns="0" tIns="0" rIns="0" bIns="0" anchor="t">
            <a:normAutofit fontScale="74249"/>
          </a:bodyPr>
          <a:lstStyle/>
          <a:p>
            <a:pPr algn="ctr">
              <a:lnSpc>
                <a:spcPct val="106000"/>
              </a:lnSpc>
              <a:buNone/>
              <a:defRPr sz="1350" b="1" i="0">
                <a:solidFill>
                  <a:srgbClr val="F5F0E6"/>
                </a:solidFill>
                <a:latin typeface="Times New Roman" panose="02020603050405020304"/>
                <a:ea typeface="Times New Roman" panose="02020603050405020304"/>
                <a:cs typeface="Times New Roman" panose="02020603050405020304"/>
              </a:defRPr>
            </a:pPr>
            <a:r>
              <a:rPr sz="1350" b="1" i="0">
                <a:solidFill>
                  <a:srgbClr val="F5F0E6"/>
                </a:solidFill>
                <a:latin typeface="Times New Roman" panose="02020603050405020304"/>
                <a:ea typeface="Times New Roman" panose="02020603050405020304"/>
                <a:cs typeface="Times New Roman" panose="02020603050405020304"/>
              </a:rPr>
              <a:t>AI role proximity + justification requirement -&gt; decisional ownership, felt accountability, responsibility sharing, and escalatory choice.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EFE6"/>
        </a:solidFill>
        <a:effectLst/>
      </p:bgPr>
    </p:bg>
    <p:spTree>
      <p:nvGrpSpPr>
        <p:cNvPr id="1" name=""/>
        <p:cNvGrpSpPr/>
        <p:nvPr/>
      </p:nvGrpSpPr>
      <p:grpSpPr>
        <a:xfrm>
          <a:off x="0" y="0"/>
          <a:ext cx="0" cy="0"/>
          <a:chOff x="0" y="0"/>
          <a:chExt cx="0" cy="0"/>
        </a:xfrm>
      </p:grpSpPr>
      <p:sp>
        <p:nvSpPr>
          <p:cNvPr id="2" name="矩形 1"/>
          <p:cNvSpPr>
            <a:spLocks noGrp="1"/>
          </p:cNvSpPr>
          <p:nvPr/>
        </p:nvSpPr>
        <p:spPr>
          <a:xfrm>
            <a:off x="685800" y="590550"/>
            <a:ext cx="9677400" cy="152400"/>
          </a:xfrm>
          <a:prstGeom prst="rect">
            <a:avLst/>
          </a:prstGeom>
          <a:noFill/>
          <a:ln w="0">
            <a:noFill/>
            <a:prstDash val="solid"/>
          </a:ln>
        </p:spPr>
        <p:txBody>
          <a:bodyPr wrap="square" lIns="0" tIns="0" rIns="0" bIns="0" anchor="t">
            <a:normAutofit/>
          </a:bodyPr>
          <a:lstStyle/>
          <a:p>
            <a:pPr algn="l">
              <a:lnSpc>
                <a:spcPct val="105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charset="0"/>
                <a:ea typeface="Times New Roman" panose="02020603050405020304"/>
                <a:cs typeface="Times New Roman" panose="02020603050405020304" charset="0"/>
              </a:rPr>
              <a:t>TRADITIONAL THEORIES</a:t>
            </a:r>
          </a:p>
        </p:txBody>
      </p:sp>
      <p:sp>
        <p:nvSpPr>
          <p:cNvPr id="3" name="矩形 2"/>
          <p:cNvSpPr>
            <a:spLocks noGrp="1"/>
          </p:cNvSpPr>
          <p:nvPr/>
        </p:nvSpPr>
        <p:spPr>
          <a:xfrm>
            <a:off x="685800" y="742950"/>
            <a:ext cx="9677400" cy="628650"/>
          </a:xfrm>
          <a:prstGeom prst="rect">
            <a:avLst/>
          </a:prstGeom>
          <a:noFill/>
          <a:ln w="0">
            <a:noFill/>
            <a:prstDash val="solid"/>
          </a:ln>
        </p:spPr>
        <p:txBody>
          <a:bodyPr wrap="square" lIns="0" tIns="0" rIns="0" bIns="0" anchor="t">
            <a:normAutofit/>
          </a:bodyPr>
          <a:lstStyle/>
          <a:p>
            <a:pPr algn="l">
              <a:lnSpc>
                <a:spcPct val="98000"/>
              </a:lnSpc>
              <a:buNone/>
              <a:defRPr sz="2550" b="1" i="0">
                <a:solidFill>
                  <a:srgbClr val="231D17"/>
                </a:solidFill>
                <a:latin typeface="Times New Roman" panose="02020603050405020304"/>
                <a:ea typeface="Times New Roman" panose="02020603050405020304"/>
                <a:cs typeface="Times New Roman" panose="02020603050405020304"/>
              </a:defRPr>
            </a:pPr>
            <a:r>
              <a:rPr sz="2550" b="1" i="0">
                <a:solidFill>
                  <a:srgbClr val="231D17"/>
                </a:solidFill>
                <a:latin typeface="Times New Roman" panose="02020603050405020304" charset="0"/>
                <a:ea typeface="Times New Roman" panose="02020603050405020304"/>
                <a:cs typeface="Times New Roman" panose="02020603050405020304" charset="0"/>
              </a:rPr>
              <a:t>Traditional theories usually treat responsibility cost as given</a:t>
            </a:r>
          </a:p>
        </p:txBody>
      </p:sp>
      <p:sp>
        <p:nvSpPr>
          <p:cNvPr id="4" name="矩形 3"/>
          <p:cNvSpPr>
            <a:spLocks noGrp="1"/>
          </p:cNvSpPr>
          <p:nvPr/>
        </p:nvSpPr>
        <p:spPr>
          <a:xfrm>
            <a:off x="685800" y="1409700"/>
            <a:ext cx="10820400" cy="11430"/>
          </a:xfrm>
          <a:prstGeom prst="rect">
            <a:avLst/>
          </a:prstGeom>
          <a:solidFill>
            <a:srgbClr val="B7ADA0"/>
          </a:solidFill>
          <a:ln w="0">
            <a:solidFill>
              <a:srgbClr val="B7ADA0"/>
            </a:solidFill>
            <a:prstDash val="solid"/>
          </a:ln>
        </p:spPr>
      </p:sp>
      <p:sp>
        <p:nvSpPr>
          <p:cNvPr id="5" name="圆角矩形 4"/>
          <p:cNvSpPr>
            <a:spLocks noGrp="1"/>
          </p:cNvSpPr>
          <p:nvPr>
            <p:custDataLst>
              <p:tags r:id="rId1"/>
            </p:custDataLst>
          </p:nvPr>
        </p:nvSpPr>
        <p:spPr>
          <a:xfrm>
            <a:off x="914400" y="1752600"/>
            <a:ext cx="4857750" cy="2171700"/>
          </a:xfrm>
          <a:prstGeom prst="roundRect">
            <a:avLst>
              <a:gd name="adj" fmla="val 5263"/>
            </a:avLst>
          </a:prstGeom>
          <a:solidFill>
            <a:srgbClr val="F9F6F0"/>
          </a:solidFill>
          <a:ln w="9525">
            <a:solidFill>
              <a:srgbClr val="B7ADA0"/>
            </a:solidFill>
            <a:prstDash val="solid"/>
          </a:ln>
        </p:spPr>
      </p:sp>
      <p:sp>
        <p:nvSpPr>
          <p:cNvPr id="6" name="矩形 5"/>
          <p:cNvSpPr>
            <a:spLocks noGrp="1"/>
          </p:cNvSpPr>
          <p:nvPr>
            <p:custDataLst>
              <p:tags r:id="rId2"/>
            </p:custDataLst>
          </p:nvPr>
        </p:nvSpPr>
        <p:spPr>
          <a:xfrm>
            <a:off x="1199515" y="1845310"/>
            <a:ext cx="2571750" cy="228600"/>
          </a:xfrm>
          <a:prstGeom prst="rect">
            <a:avLst/>
          </a:prstGeom>
          <a:noFill/>
          <a:ln w="0">
            <a:noFill/>
            <a:prstDash val="solid"/>
          </a:ln>
        </p:spPr>
        <p:txBody>
          <a:bodyPr/>
          <a:lstStyle/>
          <a:p>
            <a:pPr>
              <a:buNone/>
              <a:defRPr sz="1875" b="1">
                <a:solidFill>
                  <a:srgbClr val="23364A"/>
                </a:solidFill>
              </a:defRPr>
            </a:pPr>
            <a:r>
              <a:rPr sz="1875" b="1">
                <a:solidFill>
                  <a:srgbClr val="23364A"/>
                </a:solidFill>
                <a:latin typeface="Times New Roman" panose="02020603050405020304" charset="0"/>
                <a:cs typeface="Times New Roman" panose="02020603050405020304" charset="0"/>
              </a:rPr>
              <a:t>Rationalist conflict theories</a:t>
            </a:r>
          </a:p>
        </p:txBody>
      </p:sp>
      <p:sp>
        <p:nvSpPr>
          <p:cNvPr id="7" name="矩形 6"/>
          <p:cNvSpPr>
            <a:spLocks noGrp="1"/>
          </p:cNvSpPr>
          <p:nvPr>
            <p:custDataLst>
              <p:tags r:id="rId3"/>
            </p:custDataLst>
          </p:nvPr>
        </p:nvSpPr>
        <p:spPr>
          <a:xfrm>
            <a:off x="1162050" y="2400300"/>
            <a:ext cx="4095750" cy="609600"/>
          </a:xfrm>
          <a:prstGeom prst="rect">
            <a:avLst/>
          </a:prstGeom>
          <a:noFill/>
          <a:ln w="0">
            <a:noFill/>
            <a:prstDash val="solid"/>
          </a:ln>
        </p:spPr>
        <p:txBody>
          <a:bodyPr/>
          <a:lstStyle/>
          <a:p>
            <a:pPr>
              <a:buNone/>
              <a:defRPr sz="1425">
                <a:solidFill>
                  <a:srgbClr val="1C2430"/>
                </a:solidFill>
              </a:defRPr>
            </a:pPr>
            <a:r>
              <a:rPr sz="1425">
                <a:solidFill>
                  <a:srgbClr val="1C2430"/>
                </a:solidFill>
                <a:latin typeface="Times New Roman" panose="02020603050405020304" charset="0"/>
                <a:cs typeface="Times New Roman" panose="02020603050405020304" charset="0"/>
              </a:rPr>
              <a:t>• Conflict escalates because of bargaining failure, information asymmetry, or commitment problems.</a:t>
            </a:r>
          </a:p>
          <a:p>
            <a:pPr>
              <a:buNone/>
              <a:defRPr sz="1425">
                <a:solidFill>
                  <a:srgbClr val="1C2430"/>
                </a:solidFill>
              </a:defRPr>
            </a:pPr>
            <a:r>
              <a:rPr sz="1425">
                <a:solidFill>
                  <a:srgbClr val="1C2430"/>
                </a:solidFill>
                <a:latin typeface="Times New Roman" panose="02020603050405020304" charset="0"/>
                <a:cs typeface="Times New Roman" panose="02020603050405020304" charset="0"/>
              </a:rPr>
              <a:t>• The decision maker is still assumed to bear the consequences of the choice.</a:t>
            </a:r>
          </a:p>
        </p:txBody>
      </p:sp>
      <p:sp>
        <p:nvSpPr>
          <p:cNvPr id="8" name="矩形 7"/>
          <p:cNvSpPr>
            <a:spLocks noGrp="1"/>
          </p:cNvSpPr>
          <p:nvPr>
            <p:custDataLst>
              <p:tags r:id="rId4"/>
            </p:custDataLst>
          </p:nvPr>
        </p:nvSpPr>
        <p:spPr>
          <a:xfrm>
            <a:off x="1162050" y="3429000"/>
            <a:ext cx="3429000" cy="304800"/>
          </a:xfrm>
          <a:prstGeom prst="rect">
            <a:avLst/>
          </a:prstGeom>
          <a:noFill/>
          <a:ln w="0">
            <a:noFill/>
            <a:prstDash val="solid"/>
          </a:ln>
        </p:spPr>
        <p:txBody>
          <a:bodyPr/>
          <a:lstStyle/>
          <a:p>
            <a:pPr>
              <a:buNone/>
              <a:defRPr sz="1125" i="1">
                <a:solidFill>
                  <a:srgbClr val="5F6875"/>
                </a:solidFill>
              </a:defRPr>
            </a:pPr>
            <a:r>
              <a:rPr sz="1125" i="1">
                <a:solidFill>
                  <a:srgbClr val="5F6875"/>
                </a:solidFill>
                <a:latin typeface="Times New Roman" panose="02020603050405020304" charset="0"/>
                <a:cs typeface="Times New Roman" panose="02020603050405020304" charset="0"/>
              </a:rPr>
              <a:t>Fearon (1995); Powell (2006)</a:t>
            </a:r>
          </a:p>
        </p:txBody>
      </p:sp>
      <p:sp>
        <p:nvSpPr>
          <p:cNvPr id="9" name="圆角矩形 8"/>
          <p:cNvSpPr>
            <a:spLocks noGrp="1"/>
          </p:cNvSpPr>
          <p:nvPr>
            <p:custDataLst>
              <p:tags r:id="rId5"/>
            </p:custDataLst>
          </p:nvPr>
        </p:nvSpPr>
        <p:spPr>
          <a:xfrm>
            <a:off x="6400800" y="1752600"/>
            <a:ext cx="4857750" cy="2171700"/>
          </a:xfrm>
          <a:prstGeom prst="roundRect">
            <a:avLst>
              <a:gd name="adj" fmla="val 5263"/>
            </a:avLst>
          </a:prstGeom>
          <a:solidFill>
            <a:srgbClr val="F9F6F0"/>
          </a:solidFill>
          <a:ln w="9525">
            <a:solidFill>
              <a:srgbClr val="B7ADA0"/>
            </a:solidFill>
            <a:prstDash val="solid"/>
          </a:ln>
        </p:spPr>
      </p:sp>
      <p:sp>
        <p:nvSpPr>
          <p:cNvPr id="10" name="矩形 9"/>
          <p:cNvSpPr>
            <a:spLocks noGrp="1"/>
          </p:cNvSpPr>
          <p:nvPr>
            <p:custDataLst>
              <p:tags r:id="rId6"/>
            </p:custDataLst>
          </p:nvPr>
        </p:nvSpPr>
        <p:spPr>
          <a:xfrm>
            <a:off x="6648450" y="2000250"/>
            <a:ext cx="2667000" cy="228600"/>
          </a:xfrm>
          <a:prstGeom prst="rect">
            <a:avLst/>
          </a:prstGeom>
          <a:noFill/>
          <a:ln w="0">
            <a:noFill/>
            <a:prstDash val="solid"/>
          </a:ln>
        </p:spPr>
        <p:txBody>
          <a:bodyPr/>
          <a:lstStyle/>
          <a:p>
            <a:pPr>
              <a:buNone/>
              <a:defRPr sz="1875" b="1">
                <a:solidFill>
                  <a:srgbClr val="23364A"/>
                </a:solidFill>
              </a:defRPr>
            </a:pPr>
            <a:r>
              <a:rPr sz="1875" b="1">
                <a:solidFill>
                  <a:srgbClr val="23364A"/>
                </a:solidFill>
                <a:latin typeface="Times New Roman" panose="02020603050405020304" charset="0"/>
                <a:cs typeface="Times New Roman" panose="02020603050405020304" charset="0"/>
              </a:rPr>
              <a:t>Behavioral risk theories</a:t>
            </a:r>
          </a:p>
        </p:txBody>
      </p:sp>
      <p:sp>
        <p:nvSpPr>
          <p:cNvPr id="11" name="矩形 10"/>
          <p:cNvSpPr>
            <a:spLocks noGrp="1"/>
          </p:cNvSpPr>
          <p:nvPr>
            <p:custDataLst>
              <p:tags r:id="rId7"/>
            </p:custDataLst>
          </p:nvPr>
        </p:nvSpPr>
        <p:spPr>
          <a:xfrm>
            <a:off x="6648450" y="2400300"/>
            <a:ext cx="4095750" cy="609600"/>
          </a:xfrm>
          <a:prstGeom prst="rect">
            <a:avLst/>
          </a:prstGeom>
          <a:noFill/>
          <a:ln w="0">
            <a:noFill/>
            <a:prstDash val="solid"/>
          </a:ln>
        </p:spPr>
        <p:txBody>
          <a:bodyPr/>
          <a:lstStyle/>
          <a:p>
            <a:pPr>
              <a:buNone/>
              <a:defRPr sz="1425">
                <a:solidFill>
                  <a:srgbClr val="1C2430"/>
                </a:solidFill>
              </a:defRPr>
            </a:pPr>
            <a:r>
              <a:rPr sz="1425">
                <a:solidFill>
                  <a:srgbClr val="1C2430"/>
                </a:solidFill>
                <a:latin typeface="Times New Roman" panose="02020603050405020304" charset="0"/>
                <a:cs typeface="Times New Roman" panose="02020603050405020304" charset="0"/>
              </a:rPr>
              <a:t>• Loss aversion, framing, and affect can change whether people escalate or restrain.</a:t>
            </a:r>
          </a:p>
          <a:p>
            <a:pPr>
              <a:buNone/>
              <a:defRPr sz="1425">
                <a:solidFill>
                  <a:srgbClr val="1C2430"/>
                </a:solidFill>
              </a:defRPr>
            </a:pPr>
            <a:r>
              <a:rPr sz="1425">
                <a:solidFill>
                  <a:srgbClr val="1C2430"/>
                </a:solidFill>
                <a:latin typeface="Times New Roman" panose="02020603050405020304" charset="0"/>
                <a:cs typeface="Times New Roman" panose="02020603050405020304" charset="0"/>
              </a:rPr>
              <a:t>• But responsibility structure itself is rarely modeled as the variable that shifts choice.</a:t>
            </a:r>
          </a:p>
        </p:txBody>
      </p:sp>
      <p:sp>
        <p:nvSpPr>
          <p:cNvPr id="12" name="矩形 11"/>
          <p:cNvSpPr>
            <a:spLocks noGrp="1"/>
          </p:cNvSpPr>
          <p:nvPr>
            <p:custDataLst>
              <p:tags r:id="rId8"/>
            </p:custDataLst>
          </p:nvPr>
        </p:nvSpPr>
        <p:spPr>
          <a:xfrm>
            <a:off x="6648450" y="3429000"/>
            <a:ext cx="3429000" cy="304800"/>
          </a:xfrm>
          <a:prstGeom prst="rect">
            <a:avLst/>
          </a:prstGeom>
          <a:noFill/>
          <a:ln w="0">
            <a:noFill/>
            <a:prstDash val="solid"/>
          </a:ln>
        </p:spPr>
        <p:txBody>
          <a:bodyPr/>
          <a:lstStyle/>
          <a:p>
            <a:pPr>
              <a:buNone/>
              <a:defRPr sz="1125" i="1">
                <a:solidFill>
                  <a:srgbClr val="5F6875"/>
                </a:solidFill>
              </a:defRPr>
            </a:pPr>
            <a:r>
              <a:rPr sz="1125" i="1">
                <a:solidFill>
                  <a:srgbClr val="5F6875"/>
                </a:solidFill>
                <a:latin typeface="Times New Roman" panose="02020603050405020304" charset="0"/>
                <a:cs typeface="Times New Roman" panose="02020603050405020304" charset="0"/>
              </a:rPr>
              <a:t>Kahneman &amp; Tversky (1979); Loewenstein et al. (2001)</a:t>
            </a:r>
          </a:p>
        </p:txBody>
      </p:sp>
      <p:sp>
        <p:nvSpPr>
          <p:cNvPr id="13" name="圆角矩形 12"/>
          <p:cNvSpPr>
            <a:spLocks noGrp="1"/>
          </p:cNvSpPr>
          <p:nvPr/>
        </p:nvSpPr>
        <p:spPr>
          <a:xfrm>
            <a:off x="1733550" y="4476750"/>
            <a:ext cx="8724900" cy="1181100"/>
          </a:xfrm>
          <a:prstGeom prst="roundRect">
            <a:avLst>
              <a:gd name="adj" fmla="val 12903"/>
            </a:avLst>
          </a:prstGeom>
          <a:solidFill>
            <a:srgbClr val="23364A"/>
          </a:solidFill>
          <a:ln w="0">
            <a:solidFill>
              <a:srgbClr val="23364A"/>
            </a:solidFill>
            <a:prstDash val="solid"/>
          </a:ln>
        </p:spPr>
      </p:sp>
      <p:sp>
        <p:nvSpPr>
          <p:cNvPr id="14" name="矩形 13"/>
          <p:cNvSpPr>
            <a:spLocks noGrp="1"/>
          </p:cNvSpPr>
          <p:nvPr/>
        </p:nvSpPr>
        <p:spPr>
          <a:xfrm>
            <a:off x="2171700" y="4781550"/>
            <a:ext cx="7810500" cy="590550"/>
          </a:xfrm>
          <a:prstGeom prst="rect">
            <a:avLst/>
          </a:prstGeom>
          <a:noFill/>
          <a:ln w="0">
            <a:noFill/>
            <a:prstDash val="solid"/>
          </a:ln>
        </p:spPr>
        <p:txBody>
          <a:bodyPr wrap="square" lIns="0" tIns="0" rIns="0" bIns="0" anchor="t">
            <a:normAutofit/>
          </a:bodyPr>
          <a:lstStyle/>
          <a:p>
            <a:pPr algn="l">
              <a:lnSpc>
                <a:spcPct val="105000"/>
              </a:lnSpc>
              <a:buNone/>
              <a:defRPr sz="1425" b="1" i="0">
                <a:solidFill>
                  <a:srgbClr val="231D17"/>
                </a:solidFill>
                <a:latin typeface="Times New Roman" panose="02020603050405020304"/>
                <a:ea typeface="Times New Roman" panose="02020603050405020304"/>
                <a:cs typeface="Times New Roman" panose="02020603050405020304"/>
              </a:defRPr>
            </a:pPr>
            <a:r>
              <a:rPr sz="1425" i="0">
                <a:solidFill>
                  <a:schemeClr val="bg1"/>
                </a:solidFill>
                <a:latin typeface="Times New Roman" panose="02020603050405020304" charset="0"/>
                <a:ea typeface="Times New Roman" panose="02020603050405020304"/>
                <a:cs typeface="Times New Roman" panose="02020603050405020304" charset="0"/>
              </a:rPr>
              <a:t>The missing variable is not only belief or payoff perception, but the structure of accountability itself.</a:t>
            </a:r>
          </a:p>
        </p:txBody>
      </p:sp>
      <p:sp>
        <p:nvSpPr>
          <p:cNvPr id="15" name="矩形 14"/>
          <p:cNvSpPr>
            <a:spLocks noGrp="1"/>
          </p:cNvSpPr>
          <p:nvPr/>
        </p:nvSpPr>
        <p:spPr>
          <a:xfrm>
            <a:off x="438150" y="6885305"/>
            <a:ext cx="10820400" cy="11430"/>
          </a:xfrm>
          <a:prstGeom prst="rect">
            <a:avLst/>
          </a:prstGeom>
          <a:solidFill>
            <a:srgbClr val="B7ADA0"/>
          </a:solidFill>
          <a:ln w="0">
            <a:solidFill>
              <a:srgbClr val="B7ADA0"/>
            </a:solidFill>
            <a:prstDash val="solid"/>
          </a:ln>
        </p:spPr>
      </p:sp>
      <p:sp>
        <p:nvSpPr>
          <p:cNvPr id="16" name="矩形 15"/>
          <p:cNvSpPr>
            <a:spLocks noGrp="1"/>
          </p:cNvSpPr>
          <p:nvPr/>
        </p:nvSpPr>
        <p:spPr>
          <a:xfrm>
            <a:off x="685800" y="6534150"/>
            <a:ext cx="1905000" cy="171450"/>
          </a:xfrm>
          <a:prstGeom prst="rect">
            <a:avLst/>
          </a:prstGeom>
          <a:noFill/>
          <a:ln w="0">
            <a:noFill/>
            <a:prstDash val="solid"/>
          </a:ln>
        </p:spPr>
        <p:txBody>
          <a:bodyPr/>
          <a:lstStyle/>
          <a:p>
            <a:pPr>
              <a:buNone/>
              <a:defRPr sz="900" b="1">
                <a:solidFill>
                  <a:srgbClr val="5F6875"/>
                </a:solidFill>
              </a:defRPr>
            </a:pPr>
            <a:r>
              <a:rPr sz="900" b="1">
                <a:solidFill>
                  <a:srgbClr val="5F6875"/>
                </a:solidFill>
                <a:latin typeface="Times New Roman" panose="02020603050405020304" charset="0"/>
                <a:cs typeface="Times New Roman" panose="02020603050405020304" charset="0"/>
              </a:rPr>
              <a:t>PAPER 3</a:t>
            </a:r>
          </a:p>
        </p:txBody>
      </p:sp>
      <p:sp>
        <p:nvSpPr>
          <p:cNvPr id="17" name="矩形 16"/>
          <p:cNvSpPr>
            <a:spLocks noGrp="1"/>
          </p:cNvSpPr>
          <p:nvPr/>
        </p:nvSpPr>
        <p:spPr>
          <a:xfrm>
            <a:off x="11125200" y="6534150"/>
            <a:ext cx="381000" cy="171450"/>
          </a:xfrm>
          <a:prstGeom prst="rect">
            <a:avLst/>
          </a:prstGeom>
          <a:noFill/>
          <a:ln w="0">
            <a:noFill/>
            <a:prstDash val="solid"/>
          </a:ln>
        </p:spPr>
        <p:txBody>
          <a:bodyPr/>
          <a:lstStyle/>
          <a:p>
            <a:pPr algn="r">
              <a:buNone/>
              <a:defRPr sz="900">
                <a:solidFill>
                  <a:srgbClr val="5F6875"/>
                </a:solidFill>
              </a:defRPr>
            </a:pPr>
            <a:r>
              <a:rPr sz="900">
                <a:solidFill>
                  <a:srgbClr val="5F6875"/>
                </a:solidFill>
                <a:latin typeface="Times New Roman" panose="02020603050405020304" charset="0"/>
                <a:cs typeface="Times New Roman" panose="02020603050405020304" charset="0"/>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EFE6"/>
        </a:solidFill>
        <a:effectLst/>
      </p:bgPr>
    </p:bg>
    <p:spTree>
      <p:nvGrpSpPr>
        <p:cNvPr id="1" name=""/>
        <p:cNvGrpSpPr/>
        <p:nvPr/>
      </p:nvGrpSpPr>
      <p:grpSpPr>
        <a:xfrm>
          <a:off x="0" y="0"/>
          <a:ext cx="0" cy="0"/>
          <a:chOff x="0" y="0"/>
          <a:chExt cx="0" cy="0"/>
        </a:xfrm>
      </p:grpSpPr>
      <p:sp>
        <p:nvSpPr>
          <p:cNvPr id="2" name="矩形 1"/>
          <p:cNvSpPr>
            <a:spLocks noGrp="1"/>
          </p:cNvSpPr>
          <p:nvPr/>
        </p:nvSpPr>
        <p:spPr>
          <a:xfrm>
            <a:off x="685800" y="590550"/>
            <a:ext cx="9677400" cy="152400"/>
          </a:xfrm>
          <a:prstGeom prst="rect">
            <a:avLst/>
          </a:prstGeom>
          <a:noFill/>
          <a:ln w="0">
            <a:noFill/>
            <a:prstDash val="solid"/>
          </a:ln>
        </p:spPr>
        <p:txBody>
          <a:bodyPr wrap="square" lIns="0" tIns="0" rIns="0" bIns="0" anchor="t">
            <a:normAutofit/>
          </a:bodyPr>
          <a:lstStyle/>
          <a:p>
            <a:pPr algn="l">
              <a:lnSpc>
                <a:spcPct val="105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a:ea typeface="Times New Roman" panose="02020603050405020304"/>
                <a:cs typeface="Times New Roman" panose="02020603050405020304"/>
              </a:rPr>
              <a:t>RESEARCH GAP</a:t>
            </a:r>
          </a:p>
        </p:txBody>
      </p:sp>
      <p:sp>
        <p:nvSpPr>
          <p:cNvPr id="3" name="矩形 2"/>
          <p:cNvSpPr>
            <a:spLocks noGrp="1"/>
          </p:cNvSpPr>
          <p:nvPr/>
        </p:nvSpPr>
        <p:spPr>
          <a:xfrm>
            <a:off x="685800" y="742950"/>
            <a:ext cx="9677400" cy="628650"/>
          </a:xfrm>
          <a:prstGeom prst="rect">
            <a:avLst/>
          </a:prstGeom>
          <a:noFill/>
          <a:ln w="0">
            <a:noFill/>
            <a:prstDash val="solid"/>
          </a:ln>
        </p:spPr>
        <p:txBody>
          <a:bodyPr wrap="square" lIns="0" tIns="0" rIns="0" bIns="0" anchor="t">
            <a:normAutofit fontScale="97119"/>
          </a:bodyPr>
          <a:lstStyle/>
          <a:p>
            <a:pPr algn="l">
              <a:lnSpc>
                <a:spcPct val="98000"/>
              </a:lnSpc>
              <a:buNone/>
              <a:defRPr sz="2550" b="1" i="0">
                <a:solidFill>
                  <a:srgbClr val="231D17"/>
                </a:solidFill>
                <a:latin typeface="Times New Roman" panose="02020603050405020304"/>
                <a:ea typeface="Times New Roman" panose="02020603050405020304"/>
                <a:cs typeface="Times New Roman" panose="02020603050405020304"/>
              </a:defRPr>
            </a:pPr>
            <a:r>
              <a:rPr sz="2550" b="1" i="0">
                <a:solidFill>
                  <a:srgbClr val="231D17"/>
                </a:solidFill>
                <a:latin typeface="Times New Roman" panose="02020603050405020304"/>
                <a:ea typeface="Times New Roman" panose="02020603050405020304"/>
                <a:cs typeface="Times New Roman" panose="02020603050405020304"/>
              </a:rPr>
              <a:t>What is still missing: responsibility design inside AI-supported decisions</a:t>
            </a:r>
          </a:p>
        </p:txBody>
      </p:sp>
      <p:sp>
        <p:nvSpPr>
          <p:cNvPr id="4" name="矩形 3"/>
          <p:cNvSpPr>
            <a:spLocks noGrp="1"/>
          </p:cNvSpPr>
          <p:nvPr/>
        </p:nvSpPr>
        <p:spPr>
          <a:xfrm>
            <a:off x="685800" y="1409700"/>
            <a:ext cx="10820400" cy="11430"/>
          </a:xfrm>
          <a:prstGeom prst="rect">
            <a:avLst/>
          </a:prstGeom>
          <a:solidFill>
            <a:srgbClr val="B7ADA0"/>
          </a:solidFill>
          <a:ln w="0">
            <a:solidFill>
              <a:srgbClr val="B7ADA0"/>
            </a:solidFill>
            <a:prstDash val="solid"/>
          </a:ln>
        </p:spPr>
      </p:sp>
      <p:pic>
        <p:nvPicPr>
          <p:cNvPr id="13" name="图片 11"/>
          <p:cNvPicPr>
            <a:picLocks noChangeAspect="1"/>
          </p:cNvPicPr>
          <p:nvPr/>
        </p:nvPicPr>
        <p:blipFill>
          <a:blip r:embed="rId3"/>
          <a:stretch>
            <a:fillRect/>
          </a:stretch>
        </p:blipFill>
        <p:spPr>
          <a:xfrm>
            <a:off x="818787" y="1257300"/>
            <a:ext cx="10535376" cy="4762500"/>
          </a:xfrm>
          <a:prstGeom prst="rect">
            <a:avLst/>
          </a:prstGeom>
        </p:spPr>
      </p:pic>
      <p:sp>
        <p:nvSpPr>
          <p:cNvPr id="5" name="矩形 4"/>
          <p:cNvSpPr>
            <a:spLocks noGrp="1"/>
          </p:cNvSpPr>
          <p:nvPr/>
        </p:nvSpPr>
        <p:spPr>
          <a:xfrm>
            <a:off x="819150" y="6076950"/>
            <a:ext cx="8953500" cy="171450"/>
          </a:xfrm>
          <a:prstGeom prst="rect">
            <a:avLst/>
          </a:prstGeom>
          <a:noFill/>
          <a:ln w="0">
            <a:noFill/>
            <a:prstDash val="solid"/>
          </a:ln>
        </p:spPr>
        <p:txBody>
          <a:bodyPr wrap="square" lIns="0" tIns="0" rIns="0" bIns="0" anchor="t">
            <a:normAutofit fontScale="95230"/>
          </a:bodyPr>
          <a:lstStyle/>
          <a:p>
            <a:pPr algn="l">
              <a:lnSpc>
                <a:spcPct val="105000"/>
              </a:lnSpc>
              <a:buNone/>
              <a:defRPr sz="1125" b="1" i="0">
                <a:solidFill>
                  <a:srgbClr val="231D17"/>
                </a:solidFill>
                <a:latin typeface="Times New Roman" panose="02020603050405020304"/>
                <a:ea typeface="Times New Roman" panose="02020603050405020304"/>
                <a:cs typeface="Times New Roman" panose="02020603050405020304"/>
              </a:defRPr>
            </a:pPr>
            <a:r>
              <a:rPr sz="1125" b="1" i="0">
                <a:solidFill>
                  <a:srgbClr val="231D17"/>
                </a:solidFill>
                <a:latin typeface="Times New Roman" panose="02020603050405020304"/>
                <a:ea typeface="Times New Roman" panose="02020603050405020304"/>
                <a:cs typeface="Times New Roman" panose="02020603050405020304"/>
              </a:rPr>
              <a:t>The gap is not simply whether AI affects responsibility. It is how visibility, traceability, attribution, and evaluability shape felt accountability before action.</a:t>
            </a:r>
          </a:p>
        </p:txBody>
      </p:sp>
      <p:sp>
        <p:nvSpPr>
          <p:cNvPr id="6" name="矩形 5"/>
          <p:cNvSpPr>
            <a:spLocks noGrp="1"/>
          </p:cNvSpPr>
          <p:nvPr/>
        </p:nvSpPr>
        <p:spPr>
          <a:xfrm>
            <a:off x="685800" y="6457950"/>
            <a:ext cx="10820400" cy="11430"/>
          </a:xfrm>
          <a:prstGeom prst="rect">
            <a:avLst/>
          </a:prstGeom>
          <a:solidFill>
            <a:srgbClr val="B7ADA0"/>
          </a:solidFill>
          <a:ln w="0">
            <a:solidFill>
              <a:srgbClr val="B7ADA0"/>
            </a:solidFill>
            <a:prstDash val="solid"/>
          </a:ln>
        </p:spPr>
      </p:sp>
      <p:sp>
        <p:nvSpPr>
          <p:cNvPr id="7" name="矩形 6"/>
          <p:cNvSpPr>
            <a:spLocks noGrp="1"/>
          </p:cNvSpPr>
          <p:nvPr/>
        </p:nvSpPr>
        <p:spPr>
          <a:xfrm>
            <a:off x="685800" y="6534150"/>
            <a:ext cx="1905000" cy="171450"/>
          </a:xfrm>
          <a:prstGeom prst="rect">
            <a:avLst/>
          </a:prstGeom>
          <a:noFill/>
          <a:ln w="0">
            <a:noFill/>
            <a:prstDash val="solid"/>
          </a:ln>
        </p:spPr>
        <p:txBody>
          <a:bodyPr/>
          <a:lstStyle/>
          <a:p>
            <a:pPr>
              <a:buNone/>
              <a:defRPr sz="900" b="1">
                <a:solidFill>
                  <a:srgbClr val="5F6875"/>
                </a:solidFill>
              </a:defRPr>
            </a:pPr>
            <a:r>
              <a:rPr sz="900" b="1">
                <a:solidFill>
                  <a:srgbClr val="5F6875"/>
                </a:solidFill>
              </a:rPr>
              <a:t>PAPER 3</a:t>
            </a:r>
          </a:p>
        </p:txBody>
      </p:sp>
      <p:sp>
        <p:nvSpPr>
          <p:cNvPr id="8" name="矩形 7"/>
          <p:cNvSpPr>
            <a:spLocks noGrp="1"/>
          </p:cNvSpPr>
          <p:nvPr/>
        </p:nvSpPr>
        <p:spPr>
          <a:xfrm>
            <a:off x="11125200" y="6534150"/>
            <a:ext cx="381000" cy="171450"/>
          </a:xfrm>
          <a:prstGeom prst="rect">
            <a:avLst/>
          </a:prstGeom>
          <a:noFill/>
          <a:ln w="0">
            <a:noFill/>
            <a:prstDash val="solid"/>
          </a:ln>
        </p:spPr>
        <p:txBody>
          <a:bodyPr/>
          <a:lstStyle/>
          <a:p>
            <a:pPr algn="r">
              <a:buNone/>
              <a:defRPr sz="900">
                <a:solidFill>
                  <a:srgbClr val="5F6875"/>
                </a:solidFill>
              </a:defRPr>
            </a:pPr>
            <a:r>
              <a:rPr sz="900">
                <a:solidFill>
                  <a:srgbClr val="5F6875"/>
                </a:solidFill>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EFE6"/>
        </a:solidFill>
        <a:effectLst/>
      </p:bgPr>
    </p:bg>
    <p:spTree>
      <p:nvGrpSpPr>
        <p:cNvPr id="1" name=""/>
        <p:cNvGrpSpPr/>
        <p:nvPr/>
      </p:nvGrpSpPr>
      <p:grpSpPr>
        <a:xfrm>
          <a:off x="0" y="0"/>
          <a:ext cx="0" cy="0"/>
          <a:chOff x="0" y="0"/>
          <a:chExt cx="0" cy="0"/>
        </a:xfrm>
      </p:grpSpPr>
      <p:sp>
        <p:nvSpPr>
          <p:cNvPr id="2" name="矩形 1"/>
          <p:cNvSpPr>
            <a:spLocks noGrp="1"/>
          </p:cNvSpPr>
          <p:nvPr/>
        </p:nvSpPr>
        <p:spPr>
          <a:xfrm>
            <a:off x="685800" y="590550"/>
            <a:ext cx="9677400" cy="152400"/>
          </a:xfrm>
          <a:prstGeom prst="rect">
            <a:avLst/>
          </a:prstGeom>
          <a:noFill/>
          <a:ln w="0">
            <a:noFill/>
            <a:prstDash val="solid"/>
          </a:ln>
        </p:spPr>
        <p:txBody>
          <a:bodyPr wrap="square" lIns="0" tIns="0" rIns="0" bIns="0" anchor="t">
            <a:normAutofit/>
          </a:bodyPr>
          <a:lstStyle/>
          <a:p>
            <a:pPr algn="l">
              <a:lnSpc>
                <a:spcPct val="105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a:ea typeface="Times New Roman" panose="02020603050405020304"/>
                <a:cs typeface="Times New Roman" panose="02020603050405020304"/>
              </a:rPr>
              <a:t>RESEARCH QUESTIONS</a:t>
            </a:r>
          </a:p>
        </p:txBody>
      </p:sp>
      <p:sp>
        <p:nvSpPr>
          <p:cNvPr id="3" name="矩形 2"/>
          <p:cNvSpPr>
            <a:spLocks noGrp="1"/>
          </p:cNvSpPr>
          <p:nvPr/>
        </p:nvSpPr>
        <p:spPr>
          <a:xfrm>
            <a:off x="685800" y="742950"/>
            <a:ext cx="9677400" cy="628650"/>
          </a:xfrm>
          <a:prstGeom prst="rect">
            <a:avLst/>
          </a:prstGeom>
          <a:noFill/>
          <a:ln w="0">
            <a:noFill/>
            <a:prstDash val="solid"/>
          </a:ln>
        </p:spPr>
        <p:txBody>
          <a:bodyPr wrap="square" lIns="0" tIns="0" rIns="0" bIns="0" anchor="t">
            <a:normAutofit fontScale="82533"/>
          </a:bodyPr>
          <a:lstStyle/>
          <a:p>
            <a:pPr algn="l">
              <a:lnSpc>
                <a:spcPct val="98000"/>
              </a:lnSpc>
              <a:buNone/>
              <a:defRPr sz="2550" b="1" i="0">
                <a:solidFill>
                  <a:srgbClr val="231D17"/>
                </a:solidFill>
                <a:latin typeface="Times New Roman" panose="02020603050405020304"/>
                <a:ea typeface="Times New Roman" panose="02020603050405020304"/>
                <a:cs typeface="Times New Roman" panose="02020603050405020304"/>
              </a:defRPr>
            </a:pPr>
            <a:r>
              <a:rPr sz="2550" b="1" i="0">
                <a:solidFill>
                  <a:srgbClr val="231D17"/>
                </a:solidFill>
                <a:latin typeface="Times New Roman" panose="02020603050405020304"/>
                <a:ea typeface="Times New Roman" panose="02020603050405020304"/>
                <a:cs typeface="Times New Roman" panose="02020603050405020304"/>
              </a:rPr>
              <a:t>The paper asks how AI intervention and accountability design reshape high-risk choice</a:t>
            </a:r>
          </a:p>
        </p:txBody>
      </p:sp>
      <p:sp>
        <p:nvSpPr>
          <p:cNvPr id="4" name="矩形 3"/>
          <p:cNvSpPr>
            <a:spLocks noGrp="1"/>
          </p:cNvSpPr>
          <p:nvPr/>
        </p:nvSpPr>
        <p:spPr>
          <a:xfrm>
            <a:off x="685800" y="1409700"/>
            <a:ext cx="10820400" cy="11430"/>
          </a:xfrm>
          <a:prstGeom prst="rect">
            <a:avLst/>
          </a:prstGeom>
          <a:solidFill>
            <a:srgbClr val="B7ADA0"/>
          </a:solidFill>
          <a:ln w="0">
            <a:solidFill>
              <a:srgbClr val="B7ADA0"/>
            </a:solidFill>
            <a:prstDash val="solid"/>
          </a:ln>
        </p:spPr>
      </p:sp>
      <p:sp>
        <p:nvSpPr>
          <p:cNvPr id="5" name="圆角矩形 4"/>
          <p:cNvSpPr>
            <a:spLocks noGrp="1"/>
          </p:cNvSpPr>
          <p:nvPr/>
        </p:nvSpPr>
        <p:spPr>
          <a:xfrm>
            <a:off x="838200" y="1638300"/>
            <a:ext cx="3009900" cy="3219450"/>
          </a:xfrm>
          <a:prstGeom prst="roundRect">
            <a:avLst>
              <a:gd name="adj" fmla="val 3797"/>
            </a:avLst>
          </a:prstGeom>
          <a:solidFill>
            <a:srgbClr val="23364A"/>
          </a:solidFill>
          <a:ln w="0">
            <a:solidFill>
              <a:srgbClr val="23364A"/>
            </a:solidFill>
            <a:prstDash val="solid"/>
          </a:ln>
        </p:spPr>
      </p:sp>
      <p:sp>
        <p:nvSpPr>
          <p:cNvPr id="6" name="矩形 5"/>
          <p:cNvSpPr>
            <a:spLocks noGrp="1"/>
          </p:cNvSpPr>
          <p:nvPr/>
        </p:nvSpPr>
        <p:spPr>
          <a:xfrm>
            <a:off x="1104900" y="2000250"/>
            <a:ext cx="2438400" cy="1143000"/>
          </a:xfrm>
          <a:prstGeom prst="rect">
            <a:avLst/>
          </a:prstGeom>
          <a:noFill/>
          <a:ln w="0">
            <a:noFill/>
            <a:prstDash val="solid"/>
          </a:ln>
        </p:spPr>
        <p:txBody>
          <a:bodyPr wrap="square" lIns="0" tIns="0" rIns="0" bIns="0" anchor="t">
            <a:normAutofit/>
          </a:bodyPr>
          <a:lstStyle/>
          <a:p>
            <a:pPr algn="l">
              <a:lnSpc>
                <a:spcPct val="105000"/>
              </a:lnSpc>
              <a:buNone/>
              <a:defRPr sz="1800" b="1" i="0">
                <a:solidFill>
                  <a:srgbClr val="F5F0E6"/>
                </a:solidFill>
                <a:latin typeface="Times New Roman" panose="02020603050405020304"/>
                <a:ea typeface="Times New Roman" panose="02020603050405020304"/>
                <a:cs typeface="Times New Roman" panose="02020603050405020304"/>
              </a:defRPr>
            </a:pPr>
            <a:r>
              <a:rPr lang="en-US" altLang="zh-CN" sz="1800" b="1" i="0">
                <a:solidFill>
                  <a:srgbClr val="F5F0E6"/>
                </a:solidFill>
                <a:latin typeface="Times New Roman" panose="02020603050405020304"/>
                <a:ea typeface="Times New Roman" panose="02020603050405020304"/>
                <a:cs typeface="Times New Roman" panose="02020603050405020304"/>
              </a:rPr>
              <a:t>Overall Research Question</a:t>
            </a:r>
          </a:p>
        </p:txBody>
      </p:sp>
      <p:sp>
        <p:nvSpPr>
          <p:cNvPr id="7" name="矩形 6"/>
          <p:cNvSpPr>
            <a:spLocks noGrp="1"/>
          </p:cNvSpPr>
          <p:nvPr/>
        </p:nvSpPr>
        <p:spPr>
          <a:xfrm>
            <a:off x="1104900" y="2929255"/>
            <a:ext cx="2286000" cy="1376045"/>
          </a:xfrm>
          <a:prstGeom prst="rect">
            <a:avLst/>
          </a:prstGeom>
          <a:noFill/>
          <a:ln w="0">
            <a:noFill/>
            <a:prstDash val="solid"/>
          </a:ln>
        </p:spPr>
        <p:txBody>
          <a:bodyPr wrap="square" lIns="0" tIns="0" rIns="0" bIns="0" anchor="t">
            <a:normAutofit fontScale="90000"/>
          </a:bodyPr>
          <a:lstStyle/>
          <a:p>
            <a:pPr algn="l">
              <a:lnSpc>
                <a:spcPct val="108000"/>
              </a:lnSpc>
              <a:buNone/>
              <a:defRPr sz="1350" b="0" i="0">
                <a:solidFill>
                  <a:srgbClr val="E7D4C3"/>
                </a:solidFill>
                <a:latin typeface="Times New Roman" panose="02020603050405020304"/>
                <a:ea typeface="Times New Roman" panose="02020603050405020304"/>
                <a:cs typeface="Times New Roman" panose="02020603050405020304"/>
              </a:defRPr>
            </a:pPr>
            <a:r>
              <a:rPr lang="en-US" altLang="zh-CN" sz="1350" b="0" i="0">
                <a:solidFill>
                  <a:srgbClr val="E7D4C3"/>
                </a:solidFill>
                <a:latin typeface="Times New Roman" panose="02020603050405020304"/>
                <a:ea typeface="Times New Roman" panose="02020603050405020304"/>
                <a:cs typeface="Times New Roman" panose="02020603050405020304"/>
              </a:rPr>
              <a:t>How do accountability interventions in AI-supported high-risk strategic decision systems reshape felt accountability, decisional ownership, responsibility attribution, and escalatory choice?</a:t>
            </a:r>
          </a:p>
        </p:txBody>
      </p:sp>
      <p:sp>
        <p:nvSpPr>
          <p:cNvPr id="8" name="圆角矩形 7"/>
          <p:cNvSpPr>
            <a:spLocks noGrp="1"/>
          </p:cNvSpPr>
          <p:nvPr/>
        </p:nvSpPr>
        <p:spPr>
          <a:xfrm>
            <a:off x="4229100" y="1619250"/>
            <a:ext cx="7010400" cy="742950"/>
          </a:xfrm>
          <a:prstGeom prst="roundRect">
            <a:avLst>
              <a:gd name="adj" fmla="val 15385"/>
            </a:avLst>
          </a:prstGeom>
          <a:solidFill>
            <a:srgbClr val="F9F6F0"/>
          </a:solidFill>
          <a:ln w="9525">
            <a:solidFill>
              <a:srgbClr val="B7ADA0"/>
            </a:solidFill>
            <a:prstDash val="solid"/>
          </a:ln>
        </p:spPr>
      </p:sp>
      <p:sp>
        <p:nvSpPr>
          <p:cNvPr id="9" name="矩形 8"/>
          <p:cNvSpPr>
            <a:spLocks noGrp="1"/>
          </p:cNvSpPr>
          <p:nvPr/>
        </p:nvSpPr>
        <p:spPr>
          <a:xfrm>
            <a:off x="4495800" y="1790700"/>
            <a:ext cx="6477000" cy="419100"/>
          </a:xfrm>
          <a:prstGeom prst="rect">
            <a:avLst/>
          </a:prstGeom>
          <a:noFill/>
          <a:ln w="0">
            <a:noFill/>
            <a:prstDash val="solid"/>
          </a:ln>
        </p:spPr>
        <p:txBody>
          <a:bodyPr wrap="square" lIns="0" tIns="0" rIns="0" bIns="0" anchor="t">
            <a:normAutofit/>
          </a:bodyPr>
          <a:lstStyle/>
          <a:p>
            <a:pPr algn="l">
              <a:lnSpc>
                <a:spcPct val="105000"/>
              </a:lnSpc>
              <a:buNone/>
              <a:defRPr sz="1275" b="0" i="0">
                <a:solidFill>
                  <a:srgbClr val="231D17"/>
                </a:solidFill>
                <a:latin typeface="Times New Roman" panose="02020603050405020304"/>
                <a:ea typeface="Times New Roman" panose="02020603050405020304"/>
                <a:cs typeface="Times New Roman" panose="02020603050405020304"/>
              </a:defRPr>
            </a:pPr>
            <a:r>
              <a:rPr sz="1275" b="0" i="0">
                <a:solidFill>
                  <a:srgbClr val="231D17"/>
                </a:solidFill>
                <a:latin typeface="Times New Roman" panose="02020603050405020304"/>
                <a:ea typeface="Times New Roman" panose="02020603050405020304"/>
                <a:cs typeface="Times New Roman" panose="02020603050405020304"/>
              </a:rPr>
              <a:t>RQ1. Does AI decision support itself change high-risk strategic choice?</a:t>
            </a:r>
          </a:p>
        </p:txBody>
      </p:sp>
      <p:sp>
        <p:nvSpPr>
          <p:cNvPr id="10" name="圆角矩形 9"/>
          <p:cNvSpPr>
            <a:spLocks noGrp="1"/>
          </p:cNvSpPr>
          <p:nvPr/>
        </p:nvSpPr>
        <p:spPr>
          <a:xfrm>
            <a:off x="4229100" y="2552700"/>
            <a:ext cx="7010400" cy="742950"/>
          </a:xfrm>
          <a:prstGeom prst="roundRect">
            <a:avLst>
              <a:gd name="adj" fmla="val 15385"/>
            </a:avLst>
          </a:prstGeom>
          <a:solidFill>
            <a:srgbClr val="EFE7DD"/>
          </a:solidFill>
          <a:ln w="9525">
            <a:solidFill>
              <a:srgbClr val="B7ADA0"/>
            </a:solidFill>
            <a:prstDash val="solid"/>
          </a:ln>
        </p:spPr>
        <p:txBody>
          <a:bodyPr/>
          <a:lstStyle/>
          <a:p>
            <a:endParaRPr lang="zh-CN" altLang="en-US"/>
          </a:p>
        </p:txBody>
      </p:sp>
      <p:sp>
        <p:nvSpPr>
          <p:cNvPr id="11" name="矩形 10"/>
          <p:cNvSpPr>
            <a:spLocks noGrp="1"/>
          </p:cNvSpPr>
          <p:nvPr/>
        </p:nvSpPr>
        <p:spPr>
          <a:xfrm>
            <a:off x="4495800" y="2724150"/>
            <a:ext cx="6477000" cy="419100"/>
          </a:xfrm>
          <a:prstGeom prst="rect">
            <a:avLst/>
          </a:prstGeom>
          <a:noFill/>
          <a:ln w="0">
            <a:noFill/>
            <a:prstDash val="solid"/>
          </a:ln>
        </p:spPr>
        <p:txBody>
          <a:bodyPr wrap="square" lIns="0" tIns="0" rIns="0" bIns="0" anchor="t">
            <a:normAutofit/>
          </a:bodyPr>
          <a:lstStyle/>
          <a:p>
            <a:pPr algn="l">
              <a:lnSpc>
                <a:spcPct val="105000"/>
              </a:lnSpc>
              <a:buNone/>
              <a:defRPr sz="1275" b="0" i="0">
                <a:solidFill>
                  <a:srgbClr val="231D17"/>
                </a:solidFill>
                <a:latin typeface="Times New Roman" panose="02020603050405020304"/>
                <a:ea typeface="Times New Roman" panose="02020603050405020304"/>
                <a:cs typeface="Times New Roman" panose="02020603050405020304"/>
              </a:defRPr>
            </a:pPr>
            <a:r>
              <a:rPr sz="1275" b="0" i="0">
                <a:solidFill>
                  <a:srgbClr val="231D17"/>
                </a:solidFill>
                <a:latin typeface="Times New Roman" panose="02020603050405020304"/>
                <a:ea typeface="Times New Roman" panose="02020603050405020304"/>
                <a:cs typeface="Times New Roman" panose="02020603050405020304"/>
              </a:rPr>
              <a:t>RQ2.</a:t>
            </a:r>
            <a:r>
              <a:rPr lang="en-US" altLang="zh-CN" sz="1275" b="0" i="0">
                <a:solidFill>
                  <a:srgbClr val="231D17"/>
                </a:solidFill>
                <a:latin typeface="Times New Roman" panose="02020603050405020304"/>
                <a:ea typeface="Times New Roman" panose="02020603050405020304"/>
                <a:cs typeface="Times New Roman" panose="02020603050405020304"/>
              </a:rPr>
              <a:t>Does process confirmation increase ownership and felt accountability?</a:t>
            </a:r>
          </a:p>
        </p:txBody>
      </p:sp>
      <p:sp>
        <p:nvSpPr>
          <p:cNvPr id="12" name="圆角矩形 11"/>
          <p:cNvSpPr>
            <a:spLocks noGrp="1"/>
          </p:cNvSpPr>
          <p:nvPr/>
        </p:nvSpPr>
        <p:spPr>
          <a:xfrm>
            <a:off x="4229100" y="3486150"/>
            <a:ext cx="7010400" cy="742950"/>
          </a:xfrm>
          <a:prstGeom prst="roundRect">
            <a:avLst>
              <a:gd name="adj" fmla="val 15385"/>
            </a:avLst>
          </a:prstGeom>
          <a:solidFill>
            <a:srgbClr val="F9F6F0"/>
          </a:solidFill>
          <a:ln w="9525">
            <a:solidFill>
              <a:srgbClr val="B7ADA0"/>
            </a:solidFill>
            <a:prstDash val="solid"/>
          </a:ln>
        </p:spPr>
      </p:sp>
      <p:sp>
        <p:nvSpPr>
          <p:cNvPr id="13" name="矩形 12"/>
          <p:cNvSpPr>
            <a:spLocks noGrp="1"/>
          </p:cNvSpPr>
          <p:nvPr/>
        </p:nvSpPr>
        <p:spPr>
          <a:xfrm>
            <a:off x="4495800" y="3657600"/>
            <a:ext cx="6477000" cy="419100"/>
          </a:xfrm>
          <a:prstGeom prst="rect">
            <a:avLst/>
          </a:prstGeom>
          <a:noFill/>
          <a:ln w="0">
            <a:noFill/>
            <a:prstDash val="solid"/>
          </a:ln>
        </p:spPr>
        <p:txBody>
          <a:bodyPr wrap="square" lIns="0" tIns="0" rIns="0" bIns="0" anchor="t">
            <a:normAutofit/>
          </a:bodyPr>
          <a:lstStyle/>
          <a:p>
            <a:pPr algn="l">
              <a:lnSpc>
                <a:spcPct val="105000"/>
              </a:lnSpc>
              <a:buNone/>
              <a:defRPr sz="1275" b="0" i="0">
                <a:solidFill>
                  <a:srgbClr val="231D17"/>
                </a:solidFill>
                <a:latin typeface="Times New Roman" panose="02020603050405020304"/>
                <a:ea typeface="Times New Roman" panose="02020603050405020304"/>
                <a:cs typeface="Times New Roman" panose="02020603050405020304"/>
              </a:defRPr>
            </a:pPr>
            <a:r>
              <a:rPr sz="1275" b="0" i="0">
                <a:solidFill>
                  <a:srgbClr val="231D17"/>
                </a:solidFill>
                <a:latin typeface="Times New Roman" panose="02020603050405020304"/>
                <a:ea typeface="Times New Roman" panose="02020603050405020304"/>
                <a:cs typeface="Times New Roman" panose="02020603050405020304"/>
              </a:rPr>
              <a:t>RQ3. Can external accountability requirements increase felt accountability and decisional ownership?</a:t>
            </a:r>
          </a:p>
        </p:txBody>
      </p:sp>
      <p:sp>
        <p:nvSpPr>
          <p:cNvPr id="14" name="圆角矩形 13"/>
          <p:cNvSpPr>
            <a:spLocks noGrp="1"/>
          </p:cNvSpPr>
          <p:nvPr/>
        </p:nvSpPr>
        <p:spPr>
          <a:xfrm>
            <a:off x="4229100" y="4419600"/>
            <a:ext cx="7010400" cy="742950"/>
          </a:xfrm>
          <a:prstGeom prst="roundRect">
            <a:avLst>
              <a:gd name="adj" fmla="val 15385"/>
            </a:avLst>
          </a:prstGeom>
          <a:solidFill>
            <a:srgbClr val="EFE7DD"/>
          </a:solidFill>
          <a:ln w="9525">
            <a:solidFill>
              <a:srgbClr val="B7ADA0"/>
            </a:solidFill>
            <a:prstDash val="solid"/>
          </a:ln>
        </p:spPr>
      </p:sp>
      <p:sp>
        <p:nvSpPr>
          <p:cNvPr id="15" name="矩形 14"/>
          <p:cNvSpPr>
            <a:spLocks noGrp="1"/>
          </p:cNvSpPr>
          <p:nvPr/>
        </p:nvSpPr>
        <p:spPr>
          <a:xfrm>
            <a:off x="4495800" y="4591050"/>
            <a:ext cx="6477000" cy="419100"/>
          </a:xfrm>
          <a:prstGeom prst="rect">
            <a:avLst/>
          </a:prstGeom>
          <a:noFill/>
          <a:ln w="0">
            <a:noFill/>
            <a:prstDash val="solid"/>
          </a:ln>
        </p:spPr>
        <p:txBody>
          <a:bodyPr wrap="square" lIns="0" tIns="0" rIns="0" bIns="0" anchor="t">
            <a:normAutofit/>
          </a:bodyPr>
          <a:lstStyle/>
          <a:p>
            <a:pPr algn="l">
              <a:lnSpc>
                <a:spcPct val="105000"/>
              </a:lnSpc>
              <a:buNone/>
              <a:defRPr sz="1275" b="0" i="0">
                <a:solidFill>
                  <a:srgbClr val="231D17"/>
                </a:solidFill>
                <a:latin typeface="Times New Roman" panose="02020603050405020304"/>
                <a:ea typeface="Times New Roman" panose="02020603050405020304"/>
                <a:cs typeface="Times New Roman" panose="02020603050405020304"/>
              </a:defRPr>
            </a:pPr>
            <a:r>
              <a:rPr sz="1275" b="0" i="0">
                <a:solidFill>
                  <a:srgbClr val="231D17"/>
                </a:solidFill>
                <a:latin typeface="Times New Roman" panose="02020603050405020304"/>
                <a:ea typeface="Times New Roman" panose="02020603050405020304"/>
                <a:cs typeface="Times New Roman" panose="02020603050405020304"/>
              </a:rPr>
              <a:t>RQ4. </a:t>
            </a:r>
            <a:r>
              <a:rPr lang="en-US" altLang="zh-CN" sz="1275" b="0" i="0">
                <a:solidFill>
                  <a:srgbClr val="231D17"/>
                </a:solidFill>
                <a:latin typeface="Times New Roman" panose="02020603050405020304"/>
                <a:ea typeface="Times New Roman" panose="02020603050405020304"/>
                <a:cs typeface="Times New Roman" panose="02020603050405020304"/>
              </a:rPr>
              <a:t>Do different accountability designs lead to different patterns of escalation behavior?</a:t>
            </a:r>
          </a:p>
        </p:txBody>
      </p:sp>
      <p:sp>
        <p:nvSpPr>
          <p:cNvPr id="16" name="矩形 15"/>
          <p:cNvSpPr>
            <a:spLocks noGrp="1"/>
          </p:cNvSpPr>
          <p:nvPr/>
        </p:nvSpPr>
        <p:spPr>
          <a:xfrm>
            <a:off x="4248150" y="5543550"/>
            <a:ext cx="6667500" cy="381000"/>
          </a:xfrm>
          <a:prstGeom prst="rect">
            <a:avLst/>
          </a:prstGeom>
          <a:noFill/>
          <a:ln w="0">
            <a:noFill/>
            <a:prstDash val="solid"/>
          </a:ln>
        </p:spPr>
        <p:txBody>
          <a:bodyPr wrap="square" lIns="0" tIns="0" rIns="0" bIns="0" anchor="t">
            <a:normAutofit fontScale="83542"/>
          </a:bodyPr>
          <a:lstStyle/>
          <a:p>
            <a:pPr algn="l">
              <a:lnSpc>
                <a:spcPct val="105000"/>
              </a:lnSpc>
              <a:buNone/>
              <a:defRPr sz="1425" b="1" i="0">
                <a:solidFill>
                  <a:srgbClr val="231D17"/>
                </a:solidFill>
                <a:latin typeface="Times New Roman" panose="02020603050405020304"/>
                <a:ea typeface="Times New Roman" panose="02020603050405020304"/>
                <a:cs typeface="Times New Roman" panose="02020603050405020304"/>
              </a:defRPr>
            </a:pPr>
            <a:r>
              <a:rPr sz="1425" b="1" i="0">
                <a:solidFill>
                  <a:srgbClr val="231D17"/>
                </a:solidFill>
                <a:latin typeface="Times New Roman" panose="02020603050405020304"/>
                <a:ea typeface="Times New Roman" panose="02020603050405020304"/>
                <a:cs typeface="Times New Roman" panose="02020603050405020304"/>
              </a:rPr>
              <a:t>The question is not who gets blamed after failure. It is how responsibility design changes choices before the outcome is known.</a:t>
            </a:r>
          </a:p>
        </p:txBody>
      </p:sp>
      <p:sp>
        <p:nvSpPr>
          <p:cNvPr id="17" name="矩形 16"/>
          <p:cNvSpPr>
            <a:spLocks noGrp="1"/>
          </p:cNvSpPr>
          <p:nvPr/>
        </p:nvSpPr>
        <p:spPr>
          <a:xfrm>
            <a:off x="685800" y="6457950"/>
            <a:ext cx="10820400" cy="11430"/>
          </a:xfrm>
          <a:prstGeom prst="rect">
            <a:avLst/>
          </a:prstGeom>
          <a:solidFill>
            <a:srgbClr val="B7ADA0"/>
          </a:solidFill>
          <a:ln w="0">
            <a:solidFill>
              <a:srgbClr val="B7ADA0"/>
            </a:solidFill>
            <a:prstDash val="solid"/>
          </a:ln>
        </p:spPr>
      </p:sp>
      <p:sp>
        <p:nvSpPr>
          <p:cNvPr id="18" name="矩形 17"/>
          <p:cNvSpPr>
            <a:spLocks noGrp="1"/>
          </p:cNvSpPr>
          <p:nvPr/>
        </p:nvSpPr>
        <p:spPr>
          <a:xfrm>
            <a:off x="685800" y="6534150"/>
            <a:ext cx="1905000" cy="171450"/>
          </a:xfrm>
          <a:prstGeom prst="rect">
            <a:avLst/>
          </a:prstGeom>
          <a:noFill/>
          <a:ln w="0">
            <a:noFill/>
            <a:prstDash val="solid"/>
          </a:ln>
        </p:spPr>
        <p:txBody>
          <a:bodyPr/>
          <a:lstStyle/>
          <a:p>
            <a:pPr>
              <a:buNone/>
              <a:defRPr sz="900" b="1">
                <a:solidFill>
                  <a:srgbClr val="5F6875"/>
                </a:solidFill>
              </a:defRPr>
            </a:pPr>
            <a:r>
              <a:rPr sz="900" b="1">
                <a:solidFill>
                  <a:srgbClr val="5F6875"/>
                </a:solidFill>
              </a:rPr>
              <a:t>PAPER 3</a:t>
            </a:r>
          </a:p>
        </p:txBody>
      </p:sp>
      <p:sp>
        <p:nvSpPr>
          <p:cNvPr id="19" name="矩形 18"/>
          <p:cNvSpPr>
            <a:spLocks noGrp="1"/>
          </p:cNvSpPr>
          <p:nvPr/>
        </p:nvSpPr>
        <p:spPr>
          <a:xfrm>
            <a:off x="11125200" y="6534150"/>
            <a:ext cx="381000" cy="171450"/>
          </a:xfrm>
          <a:prstGeom prst="rect">
            <a:avLst/>
          </a:prstGeom>
          <a:noFill/>
          <a:ln w="0">
            <a:noFill/>
            <a:prstDash val="solid"/>
          </a:ln>
        </p:spPr>
        <p:txBody>
          <a:bodyPr/>
          <a:lstStyle/>
          <a:p>
            <a:pPr algn="r">
              <a:buNone/>
              <a:defRPr sz="900">
                <a:solidFill>
                  <a:srgbClr val="5F6875"/>
                </a:solidFill>
              </a:defRPr>
            </a:pPr>
            <a:r>
              <a:rPr sz="900">
                <a:solidFill>
                  <a:srgbClr val="5F6875"/>
                </a:solidFill>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0E6"/>
        </a:solidFill>
        <a:effectLst/>
      </p:bgPr>
    </p:bg>
    <p:spTree>
      <p:nvGrpSpPr>
        <p:cNvPr id="1" name=""/>
        <p:cNvGrpSpPr/>
        <p:nvPr/>
      </p:nvGrpSpPr>
      <p:grpSpPr>
        <a:xfrm>
          <a:off x="0" y="0"/>
          <a:ext cx="0" cy="0"/>
          <a:chOff x="0" y="0"/>
          <a:chExt cx="0" cy="0"/>
        </a:xfrm>
      </p:grpSpPr>
      <p:sp>
        <p:nvSpPr>
          <p:cNvPr id="2" name="椭圆 1">
            <a:extLst>
              <a:ext uri="{FF2B5EF4-FFF2-40B4-BE49-F238E27FC236}">
                <a16:creationId xmlns:a16="http://schemas.microsoft.com/office/drawing/2014/main" id="{A23F7206-0776-EE80-9776-F4AD9C79824F}"/>
              </a:ext>
            </a:extLst>
          </p:cNvPr>
          <p:cNvSpPr/>
          <p:nvPr/>
        </p:nvSpPr>
        <p:spPr>
          <a:xfrm>
            <a:off x="9652000" y="-914400"/>
            <a:ext cx="2921000" cy="2921000"/>
          </a:xfrm>
          <a:prstGeom prst="ellipse">
            <a:avLst/>
          </a:prstGeom>
          <a:solidFill>
            <a:srgbClr val="EADFCE"/>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a:extLst>
              <a:ext uri="{FF2B5EF4-FFF2-40B4-BE49-F238E27FC236}">
                <a16:creationId xmlns:a16="http://schemas.microsoft.com/office/drawing/2014/main" id="{67A1AA55-510F-67B1-3FA5-90EB4474E980}"/>
              </a:ext>
            </a:extLst>
          </p:cNvPr>
          <p:cNvSpPr/>
          <p:nvPr/>
        </p:nvSpPr>
        <p:spPr>
          <a:xfrm>
            <a:off x="685800" y="546100"/>
            <a:ext cx="15240" cy="5588000"/>
          </a:xfrm>
          <a:prstGeom prst="rect">
            <a:avLst/>
          </a:prstGeom>
          <a:solidFill>
            <a:srgbClr val="D8C9B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72A69DD6-C21D-8789-7293-151D3308079E}"/>
              </a:ext>
            </a:extLst>
          </p:cNvPr>
          <p:cNvSpPr/>
          <p:nvPr/>
        </p:nvSpPr>
        <p:spPr>
          <a:xfrm>
            <a:off x="889000" y="609600"/>
            <a:ext cx="152400" cy="152400"/>
          </a:xfrm>
          <a:prstGeom prst="rect">
            <a:avLst/>
          </a:prstGeom>
          <a:solidFill>
            <a:srgbClr val="B65A3C"/>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038DBEFF-DB57-DFC1-D1A8-3D73CEA96FC1}"/>
              </a:ext>
            </a:extLst>
          </p:cNvPr>
          <p:cNvSpPr txBox="1"/>
          <p:nvPr/>
        </p:nvSpPr>
        <p:spPr>
          <a:xfrm>
            <a:off x="1155700" y="584200"/>
            <a:ext cx="2667000" cy="369332"/>
          </a:xfrm>
          <a:prstGeom prst="rect">
            <a:avLst/>
          </a:prstGeom>
          <a:noFill/>
        </p:spPr>
        <p:txBody>
          <a:bodyPr vert="horz" wrap="square" lIns="0" tIns="0" rIns="0" bIns="0" rtlCol="0">
            <a:noAutofit/>
          </a:bodyPr>
          <a:lstStyle/>
          <a:p>
            <a:r>
              <a:rPr lang="en-US" altLang="zh-CN" sz="950" b="1">
                <a:solidFill>
                  <a:srgbClr val="B65A3C"/>
                </a:solidFill>
                <a:latin typeface="Times New Roman" panose="02020603050405020304" pitchFamily="18" charset="0"/>
              </a:rPr>
              <a:t>DESIGN</a:t>
            </a:r>
            <a:endParaRPr lang="zh-CN" altLang="en-US" sz="950" b="1">
              <a:solidFill>
                <a:srgbClr val="B65A3C"/>
              </a:solidFill>
              <a:latin typeface="Times New Roman" panose="02020603050405020304" pitchFamily="18" charset="0"/>
            </a:endParaRPr>
          </a:p>
        </p:txBody>
      </p:sp>
      <p:sp>
        <p:nvSpPr>
          <p:cNvPr id="6" name="文本框 5">
            <a:extLst>
              <a:ext uri="{FF2B5EF4-FFF2-40B4-BE49-F238E27FC236}">
                <a16:creationId xmlns:a16="http://schemas.microsoft.com/office/drawing/2014/main" id="{2F40AB96-D219-A005-8352-E9E83E55C5B9}"/>
              </a:ext>
            </a:extLst>
          </p:cNvPr>
          <p:cNvSpPr txBox="1"/>
          <p:nvPr/>
        </p:nvSpPr>
        <p:spPr>
          <a:xfrm>
            <a:off x="889000" y="914400"/>
            <a:ext cx="10223500" cy="369332"/>
          </a:xfrm>
          <a:prstGeom prst="rect">
            <a:avLst/>
          </a:prstGeom>
          <a:noFill/>
        </p:spPr>
        <p:txBody>
          <a:bodyPr vert="horz" wrap="square" lIns="0" tIns="0" rIns="0" bIns="0" rtlCol="0">
            <a:noAutofit/>
          </a:bodyPr>
          <a:lstStyle/>
          <a:p>
            <a:r>
              <a:rPr lang="en-US" altLang="zh-CN" sz="2600" b="1">
                <a:solidFill>
                  <a:srgbClr val="203443"/>
                </a:solidFill>
                <a:latin typeface="Times New Roman" panose="02020603050405020304" pitchFamily="18" charset="0"/>
              </a:rPr>
              <a:t>From Research Questions to Experimental Conditions</a:t>
            </a:r>
            <a:endParaRPr lang="zh-CN" altLang="en-US" sz="2600" b="1">
              <a:solidFill>
                <a:srgbClr val="203443"/>
              </a:solidFill>
              <a:latin typeface="Times New Roman" panose="02020603050405020304" pitchFamily="18" charset="0"/>
            </a:endParaRPr>
          </a:p>
        </p:txBody>
      </p:sp>
      <p:sp>
        <p:nvSpPr>
          <p:cNvPr id="7" name="文本框 6">
            <a:extLst>
              <a:ext uri="{FF2B5EF4-FFF2-40B4-BE49-F238E27FC236}">
                <a16:creationId xmlns:a16="http://schemas.microsoft.com/office/drawing/2014/main" id="{B50B8694-60DC-9FA1-2B3E-E1A4CFF1A3AF}"/>
              </a:ext>
            </a:extLst>
          </p:cNvPr>
          <p:cNvSpPr txBox="1"/>
          <p:nvPr/>
        </p:nvSpPr>
        <p:spPr>
          <a:xfrm>
            <a:off x="889000" y="1511300"/>
            <a:ext cx="10287000" cy="369332"/>
          </a:xfrm>
          <a:prstGeom prst="rect">
            <a:avLst/>
          </a:prstGeom>
          <a:noFill/>
        </p:spPr>
        <p:txBody>
          <a:bodyPr vert="horz" wrap="square" lIns="0" tIns="0" rIns="0" bIns="0" rtlCol="0">
            <a:noAutofit/>
          </a:bodyPr>
          <a:lstStyle/>
          <a:p>
            <a:r>
              <a:rPr lang="en-US" altLang="zh-CN" sz="1350">
                <a:solidFill>
                  <a:srgbClr val="5E6663"/>
                </a:solidFill>
                <a:latin typeface="Times New Roman" panose="02020603050405020304" pitchFamily="18" charset="0"/>
              </a:rPr>
              <a:t>The experiment holds the strategic environment and AI analysis constant, while varying the responsibility architecture around AI support.</a:t>
            </a:r>
            <a:endParaRPr lang="zh-CN" altLang="en-US" sz="1350">
              <a:solidFill>
                <a:srgbClr val="5E6663"/>
              </a:solidFill>
              <a:latin typeface="Times New Roman" panose="02020603050405020304" pitchFamily="18" charset="0"/>
            </a:endParaRPr>
          </a:p>
        </p:txBody>
      </p:sp>
      <p:sp>
        <p:nvSpPr>
          <p:cNvPr id="8" name="文本框 7">
            <a:extLst>
              <a:ext uri="{FF2B5EF4-FFF2-40B4-BE49-F238E27FC236}">
                <a16:creationId xmlns:a16="http://schemas.microsoft.com/office/drawing/2014/main" id="{0034FECD-FCF4-5079-67E0-D7261CD10244}"/>
              </a:ext>
            </a:extLst>
          </p:cNvPr>
          <p:cNvSpPr txBox="1"/>
          <p:nvPr/>
        </p:nvSpPr>
        <p:spPr>
          <a:xfrm>
            <a:off x="889000" y="1930400"/>
            <a:ext cx="3556000" cy="369332"/>
          </a:xfrm>
          <a:prstGeom prst="rect">
            <a:avLst/>
          </a:prstGeom>
          <a:noFill/>
        </p:spPr>
        <p:txBody>
          <a:bodyPr vert="horz" wrap="square" lIns="0" tIns="0" rIns="0" bIns="0" rtlCol="0">
            <a:noAutofit/>
          </a:bodyPr>
          <a:lstStyle/>
          <a:p>
            <a:r>
              <a:rPr lang="en-US" altLang="zh-CN" sz="1050" b="1">
                <a:solidFill>
                  <a:srgbClr val="B65A3C"/>
                </a:solidFill>
                <a:latin typeface="Times New Roman" panose="02020603050405020304" pitchFamily="18" charset="0"/>
              </a:rPr>
              <a:t>Four experimental conditions</a:t>
            </a:r>
            <a:endParaRPr lang="zh-CN" altLang="en-US" sz="1050" b="1">
              <a:solidFill>
                <a:srgbClr val="B65A3C"/>
              </a:solidFill>
              <a:latin typeface="Times New Roman" panose="02020603050405020304" pitchFamily="18" charset="0"/>
            </a:endParaRPr>
          </a:p>
        </p:txBody>
      </p:sp>
      <p:sp>
        <p:nvSpPr>
          <p:cNvPr id="9" name="矩形: 圆角 8">
            <a:extLst>
              <a:ext uri="{FF2B5EF4-FFF2-40B4-BE49-F238E27FC236}">
                <a16:creationId xmlns:a16="http://schemas.microsoft.com/office/drawing/2014/main" id="{0DB46B5A-02C2-916E-53C7-F6957C70874E}"/>
              </a:ext>
            </a:extLst>
          </p:cNvPr>
          <p:cNvSpPr/>
          <p:nvPr/>
        </p:nvSpPr>
        <p:spPr>
          <a:xfrm>
            <a:off x="889000" y="2260600"/>
            <a:ext cx="2489200" cy="1625600"/>
          </a:xfrm>
          <a:prstGeom prst="roundRect">
            <a:avLst/>
          </a:prstGeom>
          <a:solidFill>
            <a:srgbClr val="FFFDF8"/>
          </a:solidFill>
          <a:ln w="9525">
            <a:solidFill>
              <a:srgbClr val="D8C9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18E822B1-88BD-98E7-087E-D6AAAAA882E5}"/>
              </a:ext>
            </a:extLst>
          </p:cNvPr>
          <p:cNvSpPr/>
          <p:nvPr/>
        </p:nvSpPr>
        <p:spPr>
          <a:xfrm>
            <a:off x="889000" y="2260600"/>
            <a:ext cx="2489200" cy="63500"/>
          </a:xfrm>
          <a:prstGeom prst="rect">
            <a:avLst/>
          </a:prstGeom>
          <a:solidFill>
            <a:srgbClr val="687C63"/>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97EB30C6-6682-B598-E605-D8A77DD9A171}"/>
              </a:ext>
            </a:extLst>
          </p:cNvPr>
          <p:cNvSpPr txBox="1"/>
          <p:nvPr/>
        </p:nvSpPr>
        <p:spPr>
          <a:xfrm>
            <a:off x="1054100" y="2476500"/>
            <a:ext cx="2159000" cy="369332"/>
          </a:xfrm>
          <a:prstGeom prst="rect">
            <a:avLst/>
          </a:prstGeom>
          <a:noFill/>
        </p:spPr>
        <p:txBody>
          <a:bodyPr vert="horz" wrap="square" lIns="0" tIns="0" rIns="0" bIns="0" rtlCol="0">
            <a:noAutofit/>
          </a:bodyPr>
          <a:lstStyle/>
          <a:p>
            <a:r>
              <a:rPr lang="en-US" altLang="zh-CN" sz="1250" b="1">
                <a:solidFill>
                  <a:srgbClr val="687C63"/>
                </a:solidFill>
                <a:latin typeface="Times New Roman" panose="02020603050405020304" pitchFamily="18" charset="0"/>
              </a:rPr>
              <a:t>1. Human-only</a:t>
            </a:r>
            <a:endParaRPr lang="zh-CN" altLang="en-US" sz="1250" b="1">
              <a:solidFill>
                <a:srgbClr val="687C63"/>
              </a:solidFill>
              <a:latin typeface="Times New Roman" panose="02020603050405020304" pitchFamily="18" charset="0"/>
            </a:endParaRPr>
          </a:p>
        </p:txBody>
      </p:sp>
      <p:sp>
        <p:nvSpPr>
          <p:cNvPr id="12" name="文本框 11">
            <a:extLst>
              <a:ext uri="{FF2B5EF4-FFF2-40B4-BE49-F238E27FC236}">
                <a16:creationId xmlns:a16="http://schemas.microsoft.com/office/drawing/2014/main" id="{FF122830-37F5-6F58-8F69-03E0107C5C39}"/>
              </a:ext>
            </a:extLst>
          </p:cNvPr>
          <p:cNvSpPr txBox="1"/>
          <p:nvPr/>
        </p:nvSpPr>
        <p:spPr>
          <a:xfrm>
            <a:off x="1054100" y="2768600"/>
            <a:ext cx="2159000" cy="369332"/>
          </a:xfrm>
          <a:prstGeom prst="rect">
            <a:avLst/>
          </a:prstGeom>
          <a:noFill/>
        </p:spPr>
        <p:txBody>
          <a:bodyPr vert="horz" wrap="square" lIns="0" tIns="0" rIns="0" bIns="0" rtlCol="0">
            <a:noAutofit/>
          </a:bodyPr>
          <a:lstStyle/>
          <a:p>
            <a:r>
              <a:rPr lang="en-US" altLang="zh-CN" sz="1450" b="1">
                <a:solidFill>
                  <a:srgbClr val="203443"/>
                </a:solidFill>
                <a:latin typeface="Times New Roman" panose="02020603050405020304" pitchFamily="18" charset="0"/>
              </a:rPr>
              <a:t>No AI support</a:t>
            </a:r>
            <a:endParaRPr lang="zh-CN" altLang="en-US" sz="1450" b="1">
              <a:solidFill>
                <a:srgbClr val="203443"/>
              </a:solidFill>
              <a:latin typeface="Times New Roman" panose="02020603050405020304" pitchFamily="18" charset="0"/>
            </a:endParaRPr>
          </a:p>
        </p:txBody>
      </p:sp>
      <p:sp>
        <p:nvSpPr>
          <p:cNvPr id="13" name="文本框 12">
            <a:extLst>
              <a:ext uri="{FF2B5EF4-FFF2-40B4-BE49-F238E27FC236}">
                <a16:creationId xmlns:a16="http://schemas.microsoft.com/office/drawing/2014/main" id="{1C92E4D3-48C6-8741-19E7-C7EACAAD8EDE}"/>
              </a:ext>
            </a:extLst>
          </p:cNvPr>
          <p:cNvSpPr txBox="1"/>
          <p:nvPr/>
        </p:nvSpPr>
        <p:spPr>
          <a:xfrm>
            <a:off x="1054100" y="3175000"/>
            <a:ext cx="2159000" cy="369332"/>
          </a:xfrm>
          <a:prstGeom prst="rect">
            <a:avLst/>
          </a:prstGeom>
          <a:noFill/>
        </p:spPr>
        <p:txBody>
          <a:bodyPr vert="horz" wrap="square" lIns="0" tIns="0" rIns="0" bIns="0" rtlCol="0">
            <a:noAutofit/>
          </a:bodyPr>
          <a:lstStyle/>
          <a:p>
            <a:r>
              <a:rPr lang="en-US" altLang="zh-CN" sz="1170">
                <a:solidFill>
                  <a:srgbClr val="5E6663"/>
                </a:solidFill>
                <a:latin typeface="Times New Roman" panose="02020603050405020304" pitchFamily="18" charset="0"/>
              </a:rPr>
              <a:t>Participants make the high-risk choice based only on the payoff structure.</a:t>
            </a:r>
            <a:endParaRPr lang="zh-CN" altLang="en-US" sz="1170">
              <a:solidFill>
                <a:srgbClr val="5E6663"/>
              </a:solidFill>
              <a:latin typeface="Times New Roman" panose="02020603050405020304" pitchFamily="18" charset="0"/>
            </a:endParaRPr>
          </a:p>
        </p:txBody>
      </p:sp>
      <p:sp>
        <p:nvSpPr>
          <p:cNvPr id="14" name="矩形: 圆角 13">
            <a:extLst>
              <a:ext uri="{FF2B5EF4-FFF2-40B4-BE49-F238E27FC236}">
                <a16:creationId xmlns:a16="http://schemas.microsoft.com/office/drawing/2014/main" id="{33EFD193-4D5E-7F6D-6DF0-5242E20CFEA0}"/>
              </a:ext>
            </a:extLst>
          </p:cNvPr>
          <p:cNvSpPr/>
          <p:nvPr/>
        </p:nvSpPr>
        <p:spPr>
          <a:xfrm>
            <a:off x="3606800" y="2260600"/>
            <a:ext cx="2489200" cy="1625600"/>
          </a:xfrm>
          <a:prstGeom prst="roundRect">
            <a:avLst/>
          </a:prstGeom>
          <a:solidFill>
            <a:srgbClr val="F5EFE4"/>
          </a:solidFill>
          <a:ln w="9525">
            <a:solidFill>
              <a:srgbClr val="D8C9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F3CF7509-5AD5-F2EE-6203-EDC67C5628B3}"/>
              </a:ext>
            </a:extLst>
          </p:cNvPr>
          <p:cNvSpPr/>
          <p:nvPr/>
        </p:nvSpPr>
        <p:spPr>
          <a:xfrm>
            <a:off x="3606800" y="2260600"/>
            <a:ext cx="2489200" cy="63500"/>
          </a:xfrm>
          <a:prstGeom prst="rect">
            <a:avLst/>
          </a:prstGeom>
          <a:solidFill>
            <a:srgbClr val="456A7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a:extLst>
              <a:ext uri="{FF2B5EF4-FFF2-40B4-BE49-F238E27FC236}">
                <a16:creationId xmlns:a16="http://schemas.microsoft.com/office/drawing/2014/main" id="{15B8E9F7-B804-3EC5-1CCB-088E063DCBA1}"/>
              </a:ext>
            </a:extLst>
          </p:cNvPr>
          <p:cNvSpPr txBox="1"/>
          <p:nvPr/>
        </p:nvSpPr>
        <p:spPr>
          <a:xfrm>
            <a:off x="3771900" y="2476500"/>
            <a:ext cx="2159000" cy="369332"/>
          </a:xfrm>
          <a:prstGeom prst="rect">
            <a:avLst/>
          </a:prstGeom>
          <a:noFill/>
        </p:spPr>
        <p:txBody>
          <a:bodyPr vert="horz" wrap="square" lIns="0" tIns="0" rIns="0" bIns="0" rtlCol="0">
            <a:noAutofit/>
          </a:bodyPr>
          <a:lstStyle/>
          <a:p>
            <a:r>
              <a:rPr lang="en-US" altLang="zh-CN" sz="1250" b="1">
                <a:solidFill>
                  <a:srgbClr val="456A78"/>
                </a:solidFill>
                <a:latin typeface="Times New Roman" panose="02020603050405020304" pitchFamily="18" charset="0"/>
              </a:rPr>
              <a:t>2. AI-baseline</a:t>
            </a:r>
            <a:endParaRPr lang="zh-CN" altLang="en-US" sz="1250" b="1">
              <a:solidFill>
                <a:srgbClr val="456A78"/>
              </a:solidFill>
              <a:latin typeface="Times New Roman" panose="02020603050405020304" pitchFamily="18" charset="0"/>
            </a:endParaRPr>
          </a:p>
        </p:txBody>
      </p:sp>
      <p:sp>
        <p:nvSpPr>
          <p:cNvPr id="17" name="文本框 16">
            <a:extLst>
              <a:ext uri="{FF2B5EF4-FFF2-40B4-BE49-F238E27FC236}">
                <a16:creationId xmlns:a16="http://schemas.microsoft.com/office/drawing/2014/main" id="{1F17431A-DE12-E6B7-4D54-AE784C780613}"/>
              </a:ext>
            </a:extLst>
          </p:cNvPr>
          <p:cNvSpPr txBox="1"/>
          <p:nvPr/>
        </p:nvSpPr>
        <p:spPr>
          <a:xfrm>
            <a:off x="3771900" y="2768600"/>
            <a:ext cx="2159000" cy="369332"/>
          </a:xfrm>
          <a:prstGeom prst="rect">
            <a:avLst/>
          </a:prstGeom>
          <a:noFill/>
        </p:spPr>
        <p:txBody>
          <a:bodyPr vert="horz" wrap="square" lIns="0" tIns="0" rIns="0" bIns="0" rtlCol="0">
            <a:noAutofit/>
          </a:bodyPr>
          <a:lstStyle/>
          <a:p>
            <a:r>
              <a:rPr lang="en-US" altLang="zh-CN" sz="1450" b="1">
                <a:solidFill>
                  <a:srgbClr val="203443"/>
                </a:solidFill>
                <a:latin typeface="Times New Roman" panose="02020603050405020304" pitchFamily="18" charset="0"/>
              </a:rPr>
              <a:t>AI analytical support</a:t>
            </a:r>
            <a:endParaRPr lang="zh-CN" altLang="en-US" sz="1450" b="1">
              <a:solidFill>
                <a:srgbClr val="203443"/>
              </a:solidFill>
              <a:latin typeface="Times New Roman" panose="02020603050405020304" pitchFamily="18" charset="0"/>
            </a:endParaRPr>
          </a:p>
        </p:txBody>
      </p:sp>
      <p:sp>
        <p:nvSpPr>
          <p:cNvPr id="64" name="文本框 63">
            <a:extLst>
              <a:ext uri="{FF2B5EF4-FFF2-40B4-BE49-F238E27FC236}">
                <a16:creationId xmlns:a16="http://schemas.microsoft.com/office/drawing/2014/main" id="{A51FC524-5382-E230-85A1-360B9507F9AB}"/>
              </a:ext>
            </a:extLst>
          </p:cNvPr>
          <p:cNvSpPr txBox="1"/>
          <p:nvPr/>
        </p:nvSpPr>
        <p:spPr>
          <a:xfrm>
            <a:off x="3771900" y="3175000"/>
            <a:ext cx="2159000" cy="369332"/>
          </a:xfrm>
          <a:prstGeom prst="rect">
            <a:avLst/>
          </a:prstGeom>
          <a:noFill/>
        </p:spPr>
        <p:txBody>
          <a:bodyPr vert="horz" wrap="square" lIns="0" tIns="0" rIns="0" bIns="0" rtlCol="0">
            <a:noAutofit/>
          </a:bodyPr>
          <a:lstStyle/>
          <a:p>
            <a:r>
              <a:rPr lang="en-US" altLang="zh-CN" sz="1170">
                <a:solidFill>
                  <a:srgbClr val="5E6663"/>
                </a:solidFill>
                <a:latin typeface="Times New Roman" panose="02020603050405020304" pitchFamily="18" charset="0"/>
              </a:rPr>
              <a:t>Participants see AI-generated analysis before choosing, with no additional accountability intervention.</a:t>
            </a:r>
            <a:endParaRPr lang="zh-CN" altLang="en-US" sz="1170">
              <a:solidFill>
                <a:srgbClr val="5E6663"/>
              </a:solidFill>
              <a:latin typeface="Times New Roman" panose="02020603050405020304" pitchFamily="18" charset="0"/>
            </a:endParaRPr>
          </a:p>
        </p:txBody>
      </p:sp>
      <p:sp>
        <p:nvSpPr>
          <p:cNvPr id="65" name="矩形: 圆角 64">
            <a:extLst>
              <a:ext uri="{FF2B5EF4-FFF2-40B4-BE49-F238E27FC236}">
                <a16:creationId xmlns:a16="http://schemas.microsoft.com/office/drawing/2014/main" id="{85F424A1-C97D-505C-85E8-444328AE5044}"/>
              </a:ext>
            </a:extLst>
          </p:cNvPr>
          <p:cNvSpPr/>
          <p:nvPr/>
        </p:nvSpPr>
        <p:spPr>
          <a:xfrm>
            <a:off x="6324600" y="2260600"/>
            <a:ext cx="2489200" cy="1625600"/>
          </a:xfrm>
          <a:prstGeom prst="roundRect">
            <a:avLst/>
          </a:prstGeom>
          <a:solidFill>
            <a:srgbClr val="F1EEE1"/>
          </a:solidFill>
          <a:ln w="9525">
            <a:solidFill>
              <a:srgbClr val="D8C9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矩形 65">
            <a:extLst>
              <a:ext uri="{FF2B5EF4-FFF2-40B4-BE49-F238E27FC236}">
                <a16:creationId xmlns:a16="http://schemas.microsoft.com/office/drawing/2014/main" id="{354C19FB-A5A6-AAB6-FC1C-68F4232644EC}"/>
              </a:ext>
            </a:extLst>
          </p:cNvPr>
          <p:cNvSpPr/>
          <p:nvPr/>
        </p:nvSpPr>
        <p:spPr>
          <a:xfrm>
            <a:off x="6324600" y="2260600"/>
            <a:ext cx="2489200" cy="63500"/>
          </a:xfrm>
          <a:prstGeom prst="rect">
            <a:avLst/>
          </a:prstGeom>
          <a:solidFill>
            <a:srgbClr val="BE8C3F"/>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文本框 66">
            <a:extLst>
              <a:ext uri="{FF2B5EF4-FFF2-40B4-BE49-F238E27FC236}">
                <a16:creationId xmlns:a16="http://schemas.microsoft.com/office/drawing/2014/main" id="{469714D8-8CCC-5C57-5E0F-ABCC8A872A35}"/>
              </a:ext>
            </a:extLst>
          </p:cNvPr>
          <p:cNvSpPr txBox="1"/>
          <p:nvPr/>
        </p:nvSpPr>
        <p:spPr>
          <a:xfrm>
            <a:off x="6489700" y="2476500"/>
            <a:ext cx="2159000" cy="369332"/>
          </a:xfrm>
          <a:prstGeom prst="rect">
            <a:avLst/>
          </a:prstGeom>
          <a:noFill/>
        </p:spPr>
        <p:txBody>
          <a:bodyPr vert="horz" wrap="square" lIns="0" tIns="0" rIns="0" bIns="0" rtlCol="0">
            <a:noAutofit/>
          </a:bodyPr>
          <a:lstStyle/>
          <a:p>
            <a:r>
              <a:rPr lang="en-US" altLang="zh-CN" sz="1250" b="1">
                <a:solidFill>
                  <a:srgbClr val="BE8C3F"/>
                </a:solidFill>
                <a:latin typeface="Times New Roman" panose="02020603050405020304" pitchFamily="18" charset="0"/>
              </a:rPr>
              <a:t>3. AI-confirm</a:t>
            </a:r>
            <a:endParaRPr lang="zh-CN" altLang="en-US" sz="1250" b="1">
              <a:solidFill>
                <a:srgbClr val="BE8C3F"/>
              </a:solidFill>
              <a:latin typeface="Times New Roman" panose="02020603050405020304" pitchFamily="18" charset="0"/>
            </a:endParaRPr>
          </a:p>
        </p:txBody>
      </p:sp>
      <p:sp>
        <p:nvSpPr>
          <p:cNvPr id="68" name="文本框 67">
            <a:extLst>
              <a:ext uri="{FF2B5EF4-FFF2-40B4-BE49-F238E27FC236}">
                <a16:creationId xmlns:a16="http://schemas.microsoft.com/office/drawing/2014/main" id="{6B347BE9-2333-1E90-99D0-A98635D696C3}"/>
              </a:ext>
            </a:extLst>
          </p:cNvPr>
          <p:cNvSpPr txBox="1"/>
          <p:nvPr/>
        </p:nvSpPr>
        <p:spPr>
          <a:xfrm>
            <a:off x="6489700" y="2768600"/>
            <a:ext cx="2159000" cy="369332"/>
          </a:xfrm>
          <a:prstGeom prst="rect">
            <a:avLst/>
          </a:prstGeom>
          <a:noFill/>
        </p:spPr>
        <p:txBody>
          <a:bodyPr vert="horz" wrap="square" lIns="0" tIns="0" rIns="0" bIns="0" rtlCol="0">
            <a:noAutofit/>
          </a:bodyPr>
          <a:lstStyle/>
          <a:p>
            <a:r>
              <a:rPr lang="en-US" altLang="zh-CN" sz="1450" b="1">
                <a:solidFill>
                  <a:srgbClr val="203443"/>
                </a:solidFill>
                <a:latin typeface="Times New Roman" panose="02020603050405020304" pitchFamily="18" charset="0"/>
              </a:rPr>
              <a:t>Explicit human passage</a:t>
            </a:r>
            <a:endParaRPr lang="zh-CN" altLang="en-US" sz="1450" b="1">
              <a:solidFill>
                <a:srgbClr val="203443"/>
              </a:solidFill>
              <a:latin typeface="Times New Roman" panose="02020603050405020304" pitchFamily="18" charset="0"/>
            </a:endParaRPr>
          </a:p>
        </p:txBody>
      </p:sp>
      <p:sp>
        <p:nvSpPr>
          <p:cNvPr id="69" name="文本框 68">
            <a:extLst>
              <a:ext uri="{FF2B5EF4-FFF2-40B4-BE49-F238E27FC236}">
                <a16:creationId xmlns:a16="http://schemas.microsoft.com/office/drawing/2014/main" id="{C2CCD4E1-0296-FEAC-03EF-5DC6A6C71157}"/>
              </a:ext>
            </a:extLst>
          </p:cNvPr>
          <p:cNvSpPr txBox="1"/>
          <p:nvPr/>
        </p:nvSpPr>
        <p:spPr>
          <a:xfrm>
            <a:off x="6489700" y="3175000"/>
            <a:ext cx="2159000" cy="369332"/>
          </a:xfrm>
          <a:prstGeom prst="rect">
            <a:avLst/>
          </a:prstGeom>
          <a:noFill/>
        </p:spPr>
        <p:txBody>
          <a:bodyPr vert="horz" wrap="square" lIns="0" tIns="0" rIns="0" bIns="0" rtlCol="0">
            <a:noAutofit/>
          </a:bodyPr>
          <a:lstStyle/>
          <a:p>
            <a:r>
              <a:rPr lang="en-US" altLang="zh-CN" sz="1170">
                <a:solidFill>
                  <a:srgbClr val="5E6663"/>
                </a:solidFill>
                <a:latin typeface="Times New Roman" panose="02020603050405020304" pitchFamily="18" charset="0"/>
              </a:rPr>
              <a:t>Participants see the same AI analysis and must confirm they have reviewed it before acting.</a:t>
            </a:r>
            <a:endParaRPr lang="zh-CN" altLang="en-US" sz="1170">
              <a:solidFill>
                <a:srgbClr val="5E6663"/>
              </a:solidFill>
              <a:latin typeface="Times New Roman" panose="02020603050405020304" pitchFamily="18" charset="0"/>
            </a:endParaRPr>
          </a:p>
        </p:txBody>
      </p:sp>
      <p:sp>
        <p:nvSpPr>
          <p:cNvPr id="70" name="矩形: 圆角 69">
            <a:extLst>
              <a:ext uri="{FF2B5EF4-FFF2-40B4-BE49-F238E27FC236}">
                <a16:creationId xmlns:a16="http://schemas.microsoft.com/office/drawing/2014/main" id="{53BC9913-640F-66AA-487C-88972D79D0E7}"/>
              </a:ext>
            </a:extLst>
          </p:cNvPr>
          <p:cNvSpPr/>
          <p:nvPr/>
        </p:nvSpPr>
        <p:spPr>
          <a:xfrm>
            <a:off x="9042400" y="2260600"/>
            <a:ext cx="2489200" cy="1625600"/>
          </a:xfrm>
          <a:prstGeom prst="roundRect">
            <a:avLst/>
          </a:prstGeom>
          <a:solidFill>
            <a:srgbClr val="F3E9E2"/>
          </a:solidFill>
          <a:ln w="9525">
            <a:solidFill>
              <a:srgbClr val="D8C9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矩形 70">
            <a:extLst>
              <a:ext uri="{FF2B5EF4-FFF2-40B4-BE49-F238E27FC236}">
                <a16:creationId xmlns:a16="http://schemas.microsoft.com/office/drawing/2014/main" id="{0D65958E-0806-1365-1736-B8C9E394D649}"/>
              </a:ext>
            </a:extLst>
          </p:cNvPr>
          <p:cNvSpPr/>
          <p:nvPr/>
        </p:nvSpPr>
        <p:spPr>
          <a:xfrm>
            <a:off x="9042400" y="2260600"/>
            <a:ext cx="2489200" cy="63500"/>
          </a:xfrm>
          <a:prstGeom prst="rect">
            <a:avLst/>
          </a:prstGeom>
          <a:solidFill>
            <a:srgbClr val="A85B55"/>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文本框 71">
            <a:extLst>
              <a:ext uri="{FF2B5EF4-FFF2-40B4-BE49-F238E27FC236}">
                <a16:creationId xmlns:a16="http://schemas.microsoft.com/office/drawing/2014/main" id="{07645990-81C6-B77D-8CAB-E26EC352F99C}"/>
              </a:ext>
            </a:extLst>
          </p:cNvPr>
          <p:cNvSpPr txBox="1"/>
          <p:nvPr/>
        </p:nvSpPr>
        <p:spPr>
          <a:xfrm>
            <a:off x="9207500" y="2476500"/>
            <a:ext cx="2159000" cy="369332"/>
          </a:xfrm>
          <a:prstGeom prst="rect">
            <a:avLst/>
          </a:prstGeom>
          <a:noFill/>
        </p:spPr>
        <p:txBody>
          <a:bodyPr vert="horz" wrap="square" lIns="0" tIns="0" rIns="0" bIns="0" rtlCol="0">
            <a:noAutofit/>
          </a:bodyPr>
          <a:lstStyle/>
          <a:p>
            <a:r>
              <a:rPr lang="en-US" altLang="zh-CN" sz="1250" b="1">
                <a:solidFill>
                  <a:srgbClr val="A85B55"/>
                </a:solidFill>
                <a:latin typeface="Times New Roman" panose="02020603050405020304" pitchFamily="18" charset="0"/>
              </a:rPr>
              <a:t>4. AI-disclosure</a:t>
            </a:r>
            <a:endParaRPr lang="zh-CN" altLang="en-US" sz="1250" b="1">
              <a:solidFill>
                <a:srgbClr val="A85B55"/>
              </a:solidFill>
              <a:latin typeface="Times New Roman" panose="02020603050405020304" pitchFamily="18" charset="0"/>
            </a:endParaRPr>
          </a:p>
        </p:txBody>
      </p:sp>
      <p:sp>
        <p:nvSpPr>
          <p:cNvPr id="73" name="文本框 72">
            <a:extLst>
              <a:ext uri="{FF2B5EF4-FFF2-40B4-BE49-F238E27FC236}">
                <a16:creationId xmlns:a16="http://schemas.microsoft.com/office/drawing/2014/main" id="{B4BD8433-2A64-B0EB-4715-FD26F340ED10}"/>
              </a:ext>
            </a:extLst>
          </p:cNvPr>
          <p:cNvSpPr txBox="1"/>
          <p:nvPr/>
        </p:nvSpPr>
        <p:spPr>
          <a:xfrm>
            <a:off x="9207500" y="2768600"/>
            <a:ext cx="2159000" cy="369332"/>
          </a:xfrm>
          <a:prstGeom prst="rect">
            <a:avLst/>
          </a:prstGeom>
          <a:noFill/>
        </p:spPr>
        <p:txBody>
          <a:bodyPr vert="horz" wrap="square" lIns="0" tIns="0" rIns="0" bIns="0" rtlCol="0">
            <a:noAutofit/>
          </a:bodyPr>
          <a:lstStyle/>
          <a:p>
            <a:r>
              <a:rPr lang="en-US" altLang="zh-CN" sz="1450" b="1">
                <a:solidFill>
                  <a:srgbClr val="203443"/>
                </a:solidFill>
                <a:latin typeface="Times New Roman" panose="02020603050405020304" pitchFamily="18" charset="0"/>
              </a:rPr>
              <a:t>Visible AI use</a:t>
            </a:r>
            <a:endParaRPr lang="zh-CN" altLang="en-US" sz="1450" b="1">
              <a:solidFill>
                <a:srgbClr val="203443"/>
              </a:solidFill>
              <a:latin typeface="Times New Roman" panose="02020603050405020304" pitchFamily="18" charset="0"/>
            </a:endParaRPr>
          </a:p>
        </p:txBody>
      </p:sp>
      <p:sp>
        <p:nvSpPr>
          <p:cNvPr id="74" name="文本框 73">
            <a:extLst>
              <a:ext uri="{FF2B5EF4-FFF2-40B4-BE49-F238E27FC236}">
                <a16:creationId xmlns:a16="http://schemas.microsoft.com/office/drawing/2014/main" id="{F9466801-5FEA-F3E0-F925-D8383D99F5EF}"/>
              </a:ext>
            </a:extLst>
          </p:cNvPr>
          <p:cNvSpPr txBox="1"/>
          <p:nvPr/>
        </p:nvSpPr>
        <p:spPr>
          <a:xfrm>
            <a:off x="9207500" y="3175000"/>
            <a:ext cx="2159000" cy="369332"/>
          </a:xfrm>
          <a:prstGeom prst="rect">
            <a:avLst/>
          </a:prstGeom>
          <a:noFill/>
        </p:spPr>
        <p:txBody>
          <a:bodyPr vert="horz" wrap="square" lIns="0" tIns="0" rIns="0" bIns="0" rtlCol="0">
            <a:noAutofit/>
          </a:bodyPr>
          <a:lstStyle/>
          <a:p>
            <a:r>
              <a:rPr lang="en-US" altLang="zh-CN" sz="1170">
                <a:solidFill>
                  <a:srgbClr val="5E6663"/>
                </a:solidFill>
                <a:latin typeface="Times New Roman" panose="02020603050405020304" pitchFamily="18" charset="0"/>
              </a:rPr>
              <a:t>Participants see the same AI analysis and must disclose AI use and its influence.</a:t>
            </a:r>
            <a:endParaRPr lang="zh-CN" altLang="en-US" sz="1170">
              <a:solidFill>
                <a:srgbClr val="5E6663"/>
              </a:solidFill>
              <a:latin typeface="Times New Roman" panose="02020603050405020304" pitchFamily="18" charset="0"/>
            </a:endParaRPr>
          </a:p>
        </p:txBody>
      </p:sp>
      <p:sp>
        <p:nvSpPr>
          <p:cNvPr id="75" name="文本框 74">
            <a:extLst>
              <a:ext uri="{FF2B5EF4-FFF2-40B4-BE49-F238E27FC236}">
                <a16:creationId xmlns:a16="http://schemas.microsoft.com/office/drawing/2014/main" id="{63EC5021-7DAC-0F13-D533-491866581936}"/>
              </a:ext>
            </a:extLst>
          </p:cNvPr>
          <p:cNvSpPr txBox="1"/>
          <p:nvPr/>
        </p:nvSpPr>
        <p:spPr>
          <a:xfrm>
            <a:off x="889000" y="4089400"/>
            <a:ext cx="3048000" cy="369332"/>
          </a:xfrm>
          <a:prstGeom prst="rect">
            <a:avLst/>
          </a:prstGeom>
          <a:noFill/>
        </p:spPr>
        <p:txBody>
          <a:bodyPr vert="horz" wrap="square" lIns="0" tIns="0" rIns="0" bIns="0" rtlCol="0">
            <a:noAutofit/>
          </a:bodyPr>
          <a:lstStyle/>
          <a:p>
            <a:r>
              <a:rPr lang="en-US" altLang="zh-CN" sz="1050" b="1">
                <a:solidFill>
                  <a:srgbClr val="B65A3C"/>
                </a:solidFill>
                <a:latin typeface="Times New Roman" panose="02020603050405020304" pitchFamily="18" charset="0"/>
              </a:rPr>
              <a:t>Identification logic</a:t>
            </a:r>
            <a:endParaRPr lang="zh-CN" altLang="en-US" sz="1050" b="1">
              <a:solidFill>
                <a:srgbClr val="B65A3C"/>
              </a:solidFill>
              <a:latin typeface="Times New Roman" panose="02020603050405020304" pitchFamily="18" charset="0"/>
            </a:endParaRPr>
          </a:p>
        </p:txBody>
      </p:sp>
      <p:sp>
        <p:nvSpPr>
          <p:cNvPr id="76" name="矩形: 圆角 75">
            <a:extLst>
              <a:ext uri="{FF2B5EF4-FFF2-40B4-BE49-F238E27FC236}">
                <a16:creationId xmlns:a16="http://schemas.microsoft.com/office/drawing/2014/main" id="{D109CFCA-40F6-C9B2-37AF-E2B88126A348}"/>
              </a:ext>
            </a:extLst>
          </p:cNvPr>
          <p:cNvSpPr/>
          <p:nvPr/>
        </p:nvSpPr>
        <p:spPr>
          <a:xfrm>
            <a:off x="889000" y="4343400"/>
            <a:ext cx="10414000" cy="1422400"/>
          </a:xfrm>
          <a:prstGeom prst="roundRect">
            <a:avLst/>
          </a:prstGeom>
          <a:solidFill>
            <a:srgbClr val="FFFDF8"/>
          </a:solidFill>
          <a:ln w="9525">
            <a:solidFill>
              <a:srgbClr val="D8C9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文本框 76">
            <a:extLst>
              <a:ext uri="{FF2B5EF4-FFF2-40B4-BE49-F238E27FC236}">
                <a16:creationId xmlns:a16="http://schemas.microsoft.com/office/drawing/2014/main" id="{9C3AE240-4C97-C4E9-65EF-B5C4A0DCB26B}"/>
              </a:ext>
            </a:extLst>
          </p:cNvPr>
          <p:cNvSpPr txBox="1"/>
          <p:nvPr/>
        </p:nvSpPr>
        <p:spPr>
          <a:xfrm>
            <a:off x="1143000" y="4495800"/>
            <a:ext cx="3302000" cy="369332"/>
          </a:xfrm>
          <a:prstGeom prst="rect">
            <a:avLst/>
          </a:prstGeom>
          <a:noFill/>
        </p:spPr>
        <p:txBody>
          <a:bodyPr vert="horz" wrap="square" lIns="0" tIns="0" rIns="0" bIns="0" rtlCol="0">
            <a:noAutofit/>
          </a:bodyPr>
          <a:lstStyle/>
          <a:p>
            <a:r>
              <a:rPr lang="en-US" altLang="zh-CN" sz="1120" b="1">
                <a:solidFill>
                  <a:srgbClr val="203443"/>
                </a:solidFill>
                <a:latin typeface="Times New Roman" panose="02020603050405020304" pitchFamily="18" charset="0"/>
              </a:rPr>
              <a:t>Comparison</a:t>
            </a:r>
            <a:endParaRPr lang="zh-CN" altLang="en-US" sz="1120" b="1">
              <a:solidFill>
                <a:srgbClr val="203443"/>
              </a:solidFill>
              <a:latin typeface="Times New Roman" panose="02020603050405020304" pitchFamily="18" charset="0"/>
            </a:endParaRPr>
          </a:p>
        </p:txBody>
      </p:sp>
      <p:sp>
        <p:nvSpPr>
          <p:cNvPr id="78" name="文本框 77">
            <a:extLst>
              <a:ext uri="{FF2B5EF4-FFF2-40B4-BE49-F238E27FC236}">
                <a16:creationId xmlns:a16="http://schemas.microsoft.com/office/drawing/2014/main" id="{CC3F41C7-1E90-AB4B-36E1-E279211D20AA}"/>
              </a:ext>
            </a:extLst>
          </p:cNvPr>
          <p:cNvSpPr txBox="1"/>
          <p:nvPr/>
        </p:nvSpPr>
        <p:spPr>
          <a:xfrm>
            <a:off x="4673600" y="4495800"/>
            <a:ext cx="6096000" cy="369332"/>
          </a:xfrm>
          <a:prstGeom prst="rect">
            <a:avLst/>
          </a:prstGeom>
          <a:noFill/>
        </p:spPr>
        <p:txBody>
          <a:bodyPr vert="horz" wrap="square" lIns="0" tIns="0" rIns="0" bIns="0" rtlCol="0">
            <a:noAutofit/>
          </a:bodyPr>
          <a:lstStyle/>
          <a:p>
            <a:r>
              <a:rPr lang="en-US" altLang="zh-CN" sz="1120" b="1">
                <a:solidFill>
                  <a:srgbClr val="203443"/>
                </a:solidFill>
                <a:latin typeface="Times New Roman" panose="02020603050405020304" pitchFamily="18" charset="0"/>
              </a:rPr>
              <a:t>What it identifies</a:t>
            </a:r>
            <a:endParaRPr lang="zh-CN" altLang="en-US" sz="1120" b="1">
              <a:solidFill>
                <a:srgbClr val="203443"/>
              </a:solidFill>
              <a:latin typeface="Times New Roman" panose="02020603050405020304" pitchFamily="18" charset="0"/>
            </a:endParaRPr>
          </a:p>
        </p:txBody>
      </p:sp>
      <p:sp>
        <p:nvSpPr>
          <p:cNvPr id="79" name="文本框 78">
            <a:extLst>
              <a:ext uri="{FF2B5EF4-FFF2-40B4-BE49-F238E27FC236}">
                <a16:creationId xmlns:a16="http://schemas.microsoft.com/office/drawing/2014/main" id="{57FF443F-94D8-5DC3-D6FF-B909F81A8345}"/>
              </a:ext>
            </a:extLst>
          </p:cNvPr>
          <p:cNvSpPr txBox="1"/>
          <p:nvPr/>
        </p:nvSpPr>
        <p:spPr>
          <a:xfrm>
            <a:off x="1143000" y="4787900"/>
            <a:ext cx="3175000" cy="369332"/>
          </a:xfrm>
          <a:prstGeom prst="rect">
            <a:avLst/>
          </a:prstGeom>
          <a:noFill/>
        </p:spPr>
        <p:txBody>
          <a:bodyPr vert="horz" wrap="square" lIns="0" tIns="0" rIns="0" bIns="0" rtlCol="0">
            <a:noAutofit/>
          </a:bodyPr>
          <a:lstStyle/>
          <a:p>
            <a:r>
              <a:rPr lang="en-US" altLang="zh-CN" sz="1060" b="1">
                <a:solidFill>
                  <a:srgbClr val="203443"/>
                </a:solidFill>
                <a:latin typeface="Times New Roman" panose="02020603050405020304" pitchFamily="18" charset="0"/>
              </a:rPr>
              <a:t>Human-only vs AI-baseline</a:t>
            </a:r>
            <a:endParaRPr lang="zh-CN" altLang="en-US" sz="1060" b="1">
              <a:solidFill>
                <a:srgbClr val="203443"/>
              </a:solidFill>
              <a:latin typeface="Times New Roman" panose="02020603050405020304" pitchFamily="18" charset="0"/>
            </a:endParaRPr>
          </a:p>
        </p:txBody>
      </p:sp>
      <p:sp>
        <p:nvSpPr>
          <p:cNvPr id="80" name="文本框 79">
            <a:extLst>
              <a:ext uri="{FF2B5EF4-FFF2-40B4-BE49-F238E27FC236}">
                <a16:creationId xmlns:a16="http://schemas.microsoft.com/office/drawing/2014/main" id="{341EB5EB-437F-5A84-C9B2-F255625EEA22}"/>
              </a:ext>
            </a:extLst>
          </p:cNvPr>
          <p:cNvSpPr txBox="1"/>
          <p:nvPr/>
        </p:nvSpPr>
        <p:spPr>
          <a:xfrm>
            <a:off x="4673600" y="4787900"/>
            <a:ext cx="6350000" cy="369332"/>
          </a:xfrm>
          <a:prstGeom prst="rect">
            <a:avLst/>
          </a:prstGeom>
          <a:noFill/>
        </p:spPr>
        <p:txBody>
          <a:bodyPr vert="horz" wrap="square" lIns="0" tIns="0" rIns="0" bIns="0" rtlCol="0">
            <a:noAutofit/>
          </a:bodyPr>
          <a:lstStyle/>
          <a:p>
            <a:r>
              <a:rPr lang="en-US" altLang="zh-CN" sz="1060">
                <a:solidFill>
                  <a:srgbClr val="5E6663"/>
                </a:solidFill>
                <a:latin typeface="Times New Roman" panose="02020603050405020304" pitchFamily="18" charset="0"/>
              </a:rPr>
              <a:t>Effect of AI analytical support</a:t>
            </a:r>
            <a:endParaRPr lang="zh-CN" altLang="en-US" sz="1060">
              <a:solidFill>
                <a:srgbClr val="5E6663"/>
              </a:solidFill>
              <a:latin typeface="Times New Roman" panose="02020603050405020304" pitchFamily="18" charset="0"/>
            </a:endParaRPr>
          </a:p>
        </p:txBody>
      </p:sp>
      <p:cxnSp>
        <p:nvCxnSpPr>
          <p:cNvPr id="81" name="直接连接符 80">
            <a:extLst>
              <a:ext uri="{FF2B5EF4-FFF2-40B4-BE49-F238E27FC236}">
                <a16:creationId xmlns:a16="http://schemas.microsoft.com/office/drawing/2014/main" id="{13AC22FE-2F5C-8C70-95C7-9DC31FA26A43}"/>
              </a:ext>
            </a:extLst>
          </p:cNvPr>
          <p:cNvCxnSpPr/>
          <p:nvPr/>
        </p:nvCxnSpPr>
        <p:spPr>
          <a:xfrm>
            <a:off x="1117600" y="4965700"/>
            <a:ext cx="9956800" cy="0"/>
          </a:xfrm>
          <a:prstGeom prst="line">
            <a:avLst/>
          </a:prstGeom>
          <a:ln w="6350">
            <a:solidFill>
              <a:srgbClr val="E7DDCE"/>
            </a:solidFill>
          </a:ln>
        </p:spPr>
        <p:style>
          <a:lnRef idx="1">
            <a:schemeClr val="accent1"/>
          </a:lnRef>
          <a:fillRef idx="0">
            <a:schemeClr val="accent1"/>
          </a:fillRef>
          <a:effectRef idx="0">
            <a:schemeClr val="accent1"/>
          </a:effectRef>
          <a:fontRef idx="minor">
            <a:schemeClr val="tx1"/>
          </a:fontRef>
        </p:style>
      </p:cxnSp>
      <p:sp>
        <p:nvSpPr>
          <p:cNvPr id="82" name="文本框 81">
            <a:extLst>
              <a:ext uri="{FF2B5EF4-FFF2-40B4-BE49-F238E27FC236}">
                <a16:creationId xmlns:a16="http://schemas.microsoft.com/office/drawing/2014/main" id="{96E9F018-3EAF-24F5-5AF6-E89929E9C244}"/>
              </a:ext>
            </a:extLst>
          </p:cNvPr>
          <p:cNvSpPr txBox="1"/>
          <p:nvPr/>
        </p:nvSpPr>
        <p:spPr>
          <a:xfrm>
            <a:off x="1143000" y="5016500"/>
            <a:ext cx="3175000" cy="369332"/>
          </a:xfrm>
          <a:prstGeom prst="rect">
            <a:avLst/>
          </a:prstGeom>
          <a:noFill/>
        </p:spPr>
        <p:txBody>
          <a:bodyPr vert="horz" wrap="square" lIns="0" tIns="0" rIns="0" bIns="0" rtlCol="0">
            <a:noAutofit/>
          </a:bodyPr>
          <a:lstStyle/>
          <a:p>
            <a:r>
              <a:rPr lang="en-US" altLang="zh-CN" sz="1060" b="1">
                <a:solidFill>
                  <a:srgbClr val="203443"/>
                </a:solidFill>
                <a:latin typeface="Times New Roman" panose="02020603050405020304" pitchFamily="18" charset="0"/>
              </a:rPr>
              <a:t>AI-baseline vs AI-confirm</a:t>
            </a:r>
            <a:endParaRPr lang="zh-CN" altLang="en-US" sz="1060" b="1">
              <a:solidFill>
                <a:srgbClr val="203443"/>
              </a:solidFill>
              <a:latin typeface="Times New Roman" panose="02020603050405020304" pitchFamily="18" charset="0"/>
            </a:endParaRPr>
          </a:p>
        </p:txBody>
      </p:sp>
      <p:sp>
        <p:nvSpPr>
          <p:cNvPr id="83" name="文本框 82">
            <a:extLst>
              <a:ext uri="{FF2B5EF4-FFF2-40B4-BE49-F238E27FC236}">
                <a16:creationId xmlns:a16="http://schemas.microsoft.com/office/drawing/2014/main" id="{D78896C6-1F74-FF0E-9D91-6847A906F864}"/>
              </a:ext>
            </a:extLst>
          </p:cNvPr>
          <p:cNvSpPr txBox="1"/>
          <p:nvPr/>
        </p:nvSpPr>
        <p:spPr>
          <a:xfrm>
            <a:off x="4673600" y="5016500"/>
            <a:ext cx="6350000" cy="369332"/>
          </a:xfrm>
          <a:prstGeom prst="rect">
            <a:avLst/>
          </a:prstGeom>
          <a:noFill/>
        </p:spPr>
        <p:txBody>
          <a:bodyPr vert="horz" wrap="square" lIns="0" tIns="0" rIns="0" bIns="0" rtlCol="0">
            <a:noAutofit/>
          </a:bodyPr>
          <a:lstStyle/>
          <a:p>
            <a:r>
              <a:rPr lang="en-US" altLang="zh-CN" sz="1060">
                <a:solidFill>
                  <a:srgbClr val="5E6663"/>
                </a:solidFill>
                <a:latin typeface="Times New Roman" panose="02020603050405020304" pitchFamily="18" charset="0"/>
              </a:rPr>
              <a:t>Effect of explicit human passage and decisional ownership</a:t>
            </a:r>
            <a:endParaRPr lang="zh-CN" altLang="en-US" sz="1060">
              <a:solidFill>
                <a:srgbClr val="5E6663"/>
              </a:solidFill>
              <a:latin typeface="Times New Roman" panose="02020603050405020304" pitchFamily="18" charset="0"/>
            </a:endParaRPr>
          </a:p>
        </p:txBody>
      </p:sp>
      <p:cxnSp>
        <p:nvCxnSpPr>
          <p:cNvPr id="84" name="直接连接符 83">
            <a:extLst>
              <a:ext uri="{FF2B5EF4-FFF2-40B4-BE49-F238E27FC236}">
                <a16:creationId xmlns:a16="http://schemas.microsoft.com/office/drawing/2014/main" id="{D7C17AFA-827E-00EF-B6A4-CE3CF711C696}"/>
              </a:ext>
            </a:extLst>
          </p:cNvPr>
          <p:cNvCxnSpPr/>
          <p:nvPr/>
        </p:nvCxnSpPr>
        <p:spPr>
          <a:xfrm>
            <a:off x="1117600" y="5194300"/>
            <a:ext cx="9956800" cy="0"/>
          </a:xfrm>
          <a:prstGeom prst="line">
            <a:avLst/>
          </a:prstGeom>
          <a:ln w="6350">
            <a:solidFill>
              <a:srgbClr val="E7DDCE"/>
            </a:solidFill>
          </a:ln>
        </p:spPr>
        <p:style>
          <a:lnRef idx="1">
            <a:schemeClr val="accent1"/>
          </a:lnRef>
          <a:fillRef idx="0">
            <a:schemeClr val="accent1"/>
          </a:fillRef>
          <a:effectRef idx="0">
            <a:schemeClr val="accent1"/>
          </a:effectRef>
          <a:fontRef idx="minor">
            <a:schemeClr val="tx1"/>
          </a:fontRef>
        </p:style>
      </p:cxnSp>
      <p:sp>
        <p:nvSpPr>
          <p:cNvPr id="85" name="文本框 84">
            <a:extLst>
              <a:ext uri="{FF2B5EF4-FFF2-40B4-BE49-F238E27FC236}">
                <a16:creationId xmlns:a16="http://schemas.microsoft.com/office/drawing/2014/main" id="{9452681F-891D-4EB4-BFC7-2F97D06A6A94}"/>
              </a:ext>
            </a:extLst>
          </p:cNvPr>
          <p:cNvSpPr txBox="1"/>
          <p:nvPr/>
        </p:nvSpPr>
        <p:spPr>
          <a:xfrm>
            <a:off x="1143000" y="5245100"/>
            <a:ext cx="3175000" cy="369332"/>
          </a:xfrm>
          <a:prstGeom prst="rect">
            <a:avLst/>
          </a:prstGeom>
          <a:noFill/>
        </p:spPr>
        <p:txBody>
          <a:bodyPr vert="horz" wrap="square" lIns="0" tIns="0" rIns="0" bIns="0" rtlCol="0">
            <a:noAutofit/>
          </a:bodyPr>
          <a:lstStyle/>
          <a:p>
            <a:r>
              <a:rPr lang="en-US" altLang="zh-CN" sz="1060" b="1">
                <a:solidFill>
                  <a:srgbClr val="203443"/>
                </a:solidFill>
                <a:latin typeface="Times New Roman" panose="02020603050405020304" pitchFamily="18" charset="0"/>
              </a:rPr>
              <a:t>AI-baseline vs AI-disclosure</a:t>
            </a:r>
            <a:endParaRPr lang="zh-CN" altLang="en-US" sz="1060" b="1">
              <a:solidFill>
                <a:srgbClr val="203443"/>
              </a:solidFill>
              <a:latin typeface="Times New Roman" panose="02020603050405020304" pitchFamily="18" charset="0"/>
            </a:endParaRPr>
          </a:p>
        </p:txBody>
      </p:sp>
      <p:sp>
        <p:nvSpPr>
          <p:cNvPr id="86" name="文本框 85">
            <a:extLst>
              <a:ext uri="{FF2B5EF4-FFF2-40B4-BE49-F238E27FC236}">
                <a16:creationId xmlns:a16="http://schemas.microsoft.com/office/drawing/2014/main" id="{08EAFE97-3FF4-0D51-0200-40381EA94BEE}"/>
              </a:ext>
            </a:extLst>
          </p:cNvPr>
          <p:cNvSpPr txBox="1"/>
          <p:nvPr/>
        </p:nvSpPr>
        <p:spPr>
          <a:xfrm>
            <a:off x="4673600" y="5245100"/>
            <a:ext cx="6350000" cy="369332"/>
          </a:xfrm>
          <a:prstGeom prst="rect">
            <a:avLst/>
          </a:prstGeom>
          <a:noFill/>
        </p:spPr>
        <p:txBody>
          <a:bodyPr vert="horz" wrap="square" lIns="0" tIns="0" rIns="0" bIns="0" rtlCol="0">
            <a:noAutofit/>
          </a:bodyPr>
          <a:lstStyle/>
          <a:p>
            <a:r>
              <a:rPr lang="en-US" altLang="zh-CN" sz="1060">
                <a:solidFill>
                  <a:srgbClr val="5E6663"/>
                </a:solidFill>
                <a:latin typeface="Times New Roman" panose="02020603050405020304" pitchFamily="18" charset="0"/>
              </a:rPr>
              <a:t>Effect of AI-use visibility and traceability</a:t>
            </a:r>
            <a:endParaRPr lang="zh-CN" altLang="en-US" sz="1060">
              <a:solidFill>
                <a:srgbClr val="5E6663"/>
              </a:solidFill>
              <a:latin typeface="Times New Roman" panose="02020603050405020304" pitchFamily="18" charset="0"/>
            </a:endParaRPr>
          </a:p>
        </p:txBody>
      </p:sp>
      <p:cxnSp>
        <p:nvCxnSpPr>
          <p:cNvPr id="87" name="直接连接符 86">
            <a:extLst>
              <a:ext uri="{FF2B5EF4-FFF2-40B4-BE49-F238E27FC236}">
                <a16:creationId xmlns:a16="http://schemas.microsoft.com/office/drawing/2014/main" id="{7623218C-DDA9-F180-3BA1-170D1058149F}"/>
              </a:ext>
            </a:extLst>
          </p:cNvPr>
          <p:cNvCxnSpPr/>
          <p:nvPr/>
        </p:nvCxnSpPr>
        <p:spPr>
          <a:xfrm>
            <a:off x="1117600" y="5422900"/>
            <a:ext cx="9956800" cy="0"/>
          </a:xfrm>
          <a:prstGeom prst="line">
            <a:avLst/>
          </a:prstGeom>
          <a:ln w="6350">
            <a:solidFill>
              <a:srgbClr val="E7DDCE"/>
            </a:solidFill>
          </a:ln>
        </p:spPr>
        <p:style>
          <a:lnRef idx="1">
            <a:schemeClr val="accent1"/>
          </a:lnRef>
          <a:fillRef idx="0">
            <a:schemeClr val="accent1"/>
          </a:fillRef>
          <a:effectRef idx="0">
            <a:schemeClr val="accent1"/>
          </a:effectRef>
          <a:fontRef idx="minor">
            <a:schemeClr val="tx1"/>
          </a:fontRef>
        </p:style>
      </p:cxnSp>
      <p:sp>
        <p:nvSpPr>
          <p:cNvPr id="88" name="文本框 87">
            <a:extLst>
              <a:ext uri="{FF2B5EF4-FFF2-40B4-BE49-F238E27FC236}">
                <a16:creationId xmlns:a16="http://schemas.microsoft.com/office/drawing/2014/main" id="{FECA5039-A4B3-2AF7-DDA4-D36D7DA05F2D}"/>
              </a:ext>
            </a:extLst>
          </p:cNvPr>
          <p:cNvSpPr txBox="1"/>
          <p:nvPr/>
        </p:nvSpPr>
        <p:spPr>
          <a:xfrm>
            <a:off x="1143000" y="5473700"/>
            <a:ext cx="3175000" cy="369332"/>
          </a:xfrm>
          <a:prstGeom prst="rect">
            <a:avLst/>
          </a:prstGeom>
          <a:noFill/>
        </p:spPr>
        <p:txBody>
          <a:bodyPr vert="horz" wrap="square" lIns="0" tIns="0" rIns="0" bIns="0" rtlCol="0">
            <a:noAutofit/>
          </a:bodyPr>
          <a:lstStyle/>
          <a:p>
            <a:r>
              <a:rPr lang="en-US" altLang="zh-CN" sz="1060" b="1">
                <a:solidFill>
                  <a:srgbClr val="203443"/>
                </a:solidFill>
                <a:latin typeface="Times New Roman" panose="02020603050405020304" pitchFamily="18" charset="0"/>
              </a:rPr>
              <a:t>AI-confirm vs AI-disclosure</a:t>
            </a:r>
            <a:endParaRPr lang="zh-CN" altLang="en-US" sz="1060" b="1">
              <a:solidFill>
                <a:srgbClr val="203443"/>
              </a:solidFill>
              <a:latin typeface="Times New Roman" panose="02020603050405020304" pitchFamily="18" charset="0"/>
            </a:endParaRPr>
          </a:p>
        </p:txBody>
      </p:sp>
      <p:sp>
        <p:nvSpPr>
          <p:cNvPr id="89" name="文本框 88">
            <a:extLst>
              <a:ext uri="{FF2B5EF4-FFF2-40B4-BE49-F238E27FC236}">
                <a16:creationId xmlns:a16="http://schemas.microsoft.com/office/drawing/2014/main" id="{C1A6A60F-02DD-9F50-488A-0466656E968E}"/>
              </a:ext>
            </a:extLst>
          </p:cNvPr>
          <p:cNvSpPr txBox="1"/>
          <p:nvPr/>
        </p:nvSpPr>
        <p:spPr>
          <a:xfrm>
            <a:off x="4673600" y="5473700"/>
            <a:ext cx="6350000" cy="369332"/>
          </a:xfrm>
          <a:prstGeom prst="rect">
            <a:avLst/>
          </a:prstGeom>
          <a:noFill/>
        </p:spPr>
        <p:txBody>
          <a:bodyPr vert="horz" wrap="square" lIns="0" tIns="0" rIns="0" bIns="0" rtlCol="0">
            <a:noAutofit/>
          </a:bodyPr>
          <a:lstStyle/>
          <a:p>
            <a:r>
              <a:rPr lang="en-US" altLang="zh-CN" sz="1060">
                <a:solidFill>
                  <a:srgbClr val="5E6663"/>
                </a:solidFill>
                <a:latin typeface="Times New Roman" panose="02020603050405020304" pitchFamily="18" charset="0"/>
              </a:rPr>
              <a:t>Different accountability designs and responsibility mechanisms</a:t>
            </a:r>
            <a:endParaRPr lang="zh-CN" altLang="en-US" sz="1060">
              <a:solidFill>
                <a:srgbClr val="5E6663"/>
              </a:solidFill>
              <a:latin typeface="Times New Roman" panose="02020603050405020304" pitchFamily="18" charset="0"/>
            </a:endParaRPr>
          </a:p>
        </p:txBody>
      </p:sp>
      <p:sp>
        <p:nvSpPr>
          <p:cNvPr id="90" name="矩形: 圆角 89">
            <a:extLst>
              <a:ext uri="{FF2B5EF4-FFF2-40B4-BE49-F238E27FC236}">
                <a16:creationId xmlns:a16="http://schemas.microsoft.com/office/drawing/2014/main" id="{C20BFA1C-E6EA-7F4C-BD23-F45918A3947B}"/>
              </a:ext>
            </a:extLst>
          </p:cNvPr>
          <p:cNvSpPr/>
          <p:nvPr/>
        </p:nvSpPr>
        <p:spPr>
          <a:xfrm>
            <a:off x="1676400" y="5918200"/>
            <a:ext cx="8839200" cy="495300"/>
          </a:xfrm>
          <a:prstGeom prst="roundRect">
            <a:avLst/>
          </a:prstGeom>
          <a:solidFill>
            <a:srgbClr val="203443"/>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1" name="文本框 90">
            <a:extLst>
              <a:ext uri="{FF2B5EF4-FFF2-40B4-BE49-F238E27FC236}">
                <a16:creationId xmlns:a16="http://schemas.microsoft.com/office/drawing/2014/main" id="{E6EDF44C-927D-F8CE-18A8-E56997F9412D}"/>
              </a:ext>
            </a:extLst>
          </p:cNvPr>
          <p:cNvSpPr txBox="1"/>
          <p:nvPr/>
        </p:nvSpPr>
        <p:spPr>
          <a:xfrm>
            <a:off x="2032000" y="6057900"/>
            <a:ext cx="8128000" cy="369332"/>
          </a:xfrm>
          <a:prstGeom prst="rect">
            <a:avLst/>
          </a:prstGeom>
          <a:noFill/>
        </p:spPr>
        <p:txBody>
          <a:bodyPr vert="horz" wrap="square" lIns="0" tIns="0" rIns="0" bIns="0" rtlCol="0">
            <a:noAutofit/>
          </a:bodyPr>
          <a:lstStyle/>
          <a:p>
            <a:pPr algn="ctr"/>
            <a:r>
              <a:rPr lang="en-US" altLang="zh-CN" sz="1550" b="1">
                <a:solidFill>
                  <a:srgbClr val="FFFFFF"/>
                </a:solidFill>
                <a:latin typeface="Times New Roman" panose="02020603050405020304" pitchFamily="18" charset="0"/>
              </a:rPr>
              <a:t>Same game. Same AI analysis. Different responsibility architecture.</a:t>
            </a:r>
            <a:endParaRPr lang="zh-CN" altLang="en-US" sz="1550" b="1">
              <a:solidFill>
                <a:srgbClr val="FFFFFF"/>
              </a:solidFill>
              <a:latin typeface="Times New Roman" panose="02020603050405020304" pitchFamily="18" charset="0"/>
            </a:endParaRPr>
          </a:p>
        </p:txBody>
      </p:sp>
      <p:sp>
        <p:nvSpPr>
          <p:cNvPr id="92" name="文本框 91">
            <a:extLst>
              <a:ext uri="{FF2B5EF4-FFF2-40B4-BE49-F238E27FC236}">
                <a16:creationId xmlns:a16="http://schemas.microsoft.com/office/drawing/2014/main" id="{05548122-0B32-D07D-369B-B9663D25CBA3}"/>
              </a:ext>
            </a:extLst>
          </p:cNvPr>
          <p:cNvSpPr txBox="1"/>
          <p:nvPr/>
        </p:nvSpPr>
        <p:spPr>
          <a:xfrm>
            <a:off x="685800" y="6540500"/>
            <a:ext cx="1143000" cy="369332"/>
          </a:xfrm>
          <a:prstGeom prst="rect">
            <a:avLst/>
          </a:prstGeom>
          <a:noFill/>
        </p:spPr>
        <p:txBody>
          <a:bodyPr vert="horz" wrap="square" lIns="0" tIns="0" rIns="0" bIns="0" rtlCol="0">
            <a:noAutofit/>
          </a:bodyPr>
          <a:lstStyle/>
          <a:p>
            <a:r>
              <a:rPr lang="en-US" altLang="zh-CN" sz="750" b="1">
                <a:solidFill>
                  <a:srgbClr val="203443"/>
                </a:solidFill>
                <a:latin typeface="Times New Roman" panose="02020603050405020304" pitchFamily="18" charset="0"/>
              </a:rPr>
              <a:t>PAPER 3</a:t>
            </a:r>
            <a:endParaRPr lang="zh-CN" altLang="en-US" sz="750" b="1">
              <a:solidFill>
                <a:srgbClr val="203443"/>
              </a:solidFill>
              <a:latin typeface="Times New Roman" panose="02020603050405020304" pitchFamily="18" charset="0"/>
            </a:endParaRPr>
          </a:p>
        </p:txBody>
      </p:sp>
      <p:sp>
        <p:nvSpPr>
          <p:cNvPr id="93" name="文本框 92">
            <a:extLst>
              <a:ext uri="{FF2B5EF4-FFF2-40B4-BE49-F238E27FC236}">
                <a16:creationId xmlns:a16="http://schemas.microsoft.com/office/drawing/2014/main" id="{F52F5BFF-5D61-D917-D5E7-61DBF4A11626}"/>
              </a:ext>
            </a:extLst>
          </p:cNvPr>
          <p:cNvSpPr txBox="1"/>
          <p:nvPr/>
        </p:nvSpPr>
        <p:spPr>
          <a:xfrm>
            <a:off x="10972800" y="6540500"/>
            <a:ext cx="228600" cy="369332"/>
          </a:xfrm>
          <a:prstGeom prst="rect">
            <a:avLst/>
          </a:prstGeom>
          <a:noFill/>
        </p:spPr>
        <p:txBody>
          <a:bodyPr vert="horz" wrap="square" lIns="0" tIns="0" rIns="0" bIns="0" rtlCol="0">
            <a:noAutofit/>
          </a:bodyPr>
          <a:lstStyle/>
          <a:p>
            <a:pPr algn="ctr"/>
            <a:r>
              <a:rPr lang="en-US" altLang="zh-CN" sz="750">
                <a:solidFill>
                  <a:srgbClr val="203443"/>
                </a:solidFill>
                <a:latin typeface="Times New Roman" panose="02020603050405020304" pitchFamily="18" charset="0"/>
              </a:rPr>
              <a:t>7</a:t>
            </a:r>
            <a:endParaRPr lang="zh-CN" altLang="en-US" sz="750">
              <a:solidFill>
                <a:srgbClr val="203443"/>
              </a:solidFill>
              <a:latin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EFE6"/>
        </a:solidFill>
        <a:effectLst/>
      </p:bgPr>
    </p:bg>
    <p:spTree>
      <p:nvGrpSpPr>
        <p:cNvPr id="1" name=""/>
        <p:cNvGrpSpPr/>
        <p:nvPr/>
      </p:nvGrpSpPr>
      <p:grpSpPr>
        <a:xfrm>
          <a:off x="0" y="0"/>
          <a:ext cx="0" cy="0"/>
          <a:chOff x="0" y="0"/>
          <a:chExt cx="0" cy="0"/>
        </a:xfrm>
      </p:grpSpPr>
      <p:sp>
        <p:nvSpPr>
          <p:cNvPr id="2" name="矩形 1"/>
          <p:cNvSpPr>
            <a:spLocks noGrp="1"/>
          </p:cNvSpPr>
          <p:nvPr/>
        </p:nvSpPr>
        <p:spPr>
          <a:xfrm>
            <a:off x="685800" y="590550"/>
            <a:ext cx="9677400" cy="152400"/>
          </a:xfrm>
          <a:prstGeom prst="rect">
            <a:avLst/>
          </a:prstGeom>
          <a:noFill/>
          <a:ln w="0">
            <a:noFill/>
            <a:prstDash val="solid"/>
          </a:ln>
        </p:spPr>
        <p:txBody>
          <a:bodyPr wrap="square" lIns="0" tIns="0" rIns="0" bIns="0" anchor="t">
            <a:normAutofit/>
          </a:bodyPr>
          <a:lstStyle/>
          <a:p>
            <a:pPr algn="l">
              <a:lnSpc>
                <a:spcPct val="105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a:ea typeface="Times New Roman" panose="02020603050405020304"/>
                <a:cs typeface="Times New Roman" panose="02020603050405020304"/>
              </a:rPr>
              <a:t>EXPERIMENTAL PROTOTYPE</a:t>
            </a:r>
          </a:p>
        </p:txBody>
      </p:sp>
      <p:sp>
        <p:nvSpPr>
          <p:cNvPr id="3" name="矩形 2"/>
          <p:cNvSpPr>
            <a:spLocks noGrp="1"/>
          </p:cNvSpPr>
          <p:nvPr/>
        </p:nvSpPr>
        <p:spPr>
          <a:xfrm>
            <a:off x="685800" y="742950"/>
            <a:ext cx="9677400" cy="628650"/>
          </a:xfrm>
          <a:prstGeom prst="rect">
            <a:avLst/>
          </a:prstGeom>
          <a:noFill/>
          <a:ln w="0">
            <a:noFill/>
            <a:prstDash val="solid"/>
          </a:ln>
        </p:spPr>
        <p:txBody>
          <a:bodyPr wrap="square" lIns="0" tIns="0" rIns="0" bIns="0" anchor="t">
            <a:normAutofit/>
          </a:bodyPr>
          <a:lstStyle/>
          <a:p>
            <a:pPr algn="l">
              <a:lnSpc>
                <a:spcPct val="98000"/>
              </a:lnSpc>
              <a:buNone/>
              <a:defRPr sz="2550" b="1" i="0">
                <a:solidFill>
                  <a:srgbClr val="231D17"/>
                </a:solidFill>
                <a:latin typeface="Times New Roman" panose="02020603050405020304"/>
                <a:ea typeface="Times New Roman" panose="02020603050405020304"/>
                <a:cs typeface="Times New Roman" panose="02020603050405020304"/>
              </a:defRPr>
            </a:pPr>
            <a:r>
              <a:rPr sz="2550" b="1" i="0">
                <a:solidFill>
                  <a:srgbClr val="231D17"/>
                </a:solidFill>
                <a:latin typeface="Times New Roman" panose="02020603050405020304"/>
                <a:ea typeface="Times New Roman" panose="02020603050405020304"/>
                <a:cs typeface="Times New Roman" panose="02020603050405020304"/>
              </a:rPr>
              <a:t>Why a repeated Hawk-Dove </a:t>
            </a:r>
            <a:r>
              <a:rPr lang="en-US" sz="2550" b="1" i="0">
                <a:solidFill>
                  <a:srgbClr val="231D17"/>
                </a:solidFill>
                <a:latin typeface="Times New Roman" panose="02020603050405020304"/>
                <a:ea typeface="Times New Roman" panose="02020603050405020304"/>
                <a:cs typeface="Times New Roman" panose="02020603050405020304"/>
              </a:rPr>
              <a:t>game </a:t>
            </a:r>
            <a:r>
              <a:rPr sz="2550" b="1" i="0">
                <a:solidFill>
                  <a:srgbClr val="231D17"/>
                </a:solidFill>
                <a:latin typeface="Times New Roman" panose="02020603050405020304"/>
                <a:ea typeface="Times New Roman" panose="02020603050405020304"/>
                <a:cs typeface="Times New Roman" panose="02020603050405020304"/>
              </a:rPr>
              <a:t>is the right prototype</a:t>
            </a:r>
          </a:p>
        </p:txBody>
      </p:sp>
      <p:sp>
        <p:nvSpPr>
          <p:cNvPr id="4" name="矩形 3"/>
          <p:cNvSpPr>
            <a:spLocks noGrp="1"/>
          </p:cNvSpPr>
          <p:nvPr/>
        </p:nvSpPr>
        <p:spPr>
          <a:xfrm>
            <a:off x="685800" y="1409700"/>
            <a:ext cx="10820400" cy="11430"/>
          </a:xfrm>
          <a:prstGeom prst="rect">
            <a:avLst/>
          </a:prstGeom>
          <a:solidFill>
            <a:srgbClr val="B7ADA0"/>
          </a:solidFill>
          <a:ln w="0">
            <a:solidFill>
              <a:srgbClr val="B7ADA0"/>
            </a:solidFill>
            <a:prstDash val="solid"/>
          </a:ln>
        </p:spPr>
      </p:sp>
      <p:sp>
        <p:nvSpPr>
          <p:cNvPr id="5" name="圆角矩形 4"/>
          <p:cNvSpPr>
            <a:spLocks noGrp="1"/>
          </p:cNvSpPr>
          <p:nvPr/>
        </p:nvSpPr>
        <p:spPr>
          <a:xfrm>
            <a:off x="838200" y="1581150"/>
            <a:ext cx="3543300" cy="3924300"/>
          </a:xfrm>
          <a:prstGeom prst="roundRect">
            <a:avLst>
              <a:gd name="adj" fmla="val 3226"/>
            </a:avLst>
          </a:prstGeom>
          <a:solidFill>
            <a:srgbClr val="F9F6F0"/>
          </a:solidFill>
          <a:ln w="9525">
            <a:solidFill>
              <a:srgbClr val="B7ADA0"/>
            </a:solidFill>
            <a:prstDash val="solid"/>
          </a:ln>
        </p:spPr>
      </p:sp>
      <p:sp>
        <p:nvSpPr>
          <p:cNvPr id="6" name="矩形 5"/>
          <p:cNvSpPr>
            <a:spLocks noGrp="1"/>
          </p:cNvSpPr>
          <p:nvPr/>
        </p:nvSpPr>
        <p:spPr>
          <a:xfrm>
            <a:off x="1085850" y="1828800"/>
            <a:ext cx="2286000" cy="228600"/>
          </a:xfrm>
          <a:prstGeom prst="rect">
            <a:avLst/>
          </a:prstGeom>
          <a:noFill/>
          <a:ln w="0">
            <a:noFill/>
            <a:prstDash val="solid"/>
          </a:ln>
        </p:spPr>
        <p:txBody>
          <a:bodyPr/>
          <a:lstStyle/>
          <a:p>
            <a:pPr>
              <a:buNone/>
              <a:defRPr sz="1800" b="1">
                <a:solidFill>
                  <a:srgbClr val="23364A"/>
                </a:solidFill>
              </a:defRPr>
            </a:pPr>
            <a:r>
              <a:rPr sz="1800" b="1">
                <a:solidFill>
                  <a:srgbClr val="23364A"/>
                </a:solidFill>
              </a:rPr>
              <a:t>Why this prototype</a:t>
            </a:r>
          </a:p>
        </p:txBody>
      </p:sp>
      <p:sp>
        <p:nvSpPr>
          <p:cNvPr id="7" name="矩形 6"/>
          <p:cNvSpPr>
            <a:spLocks noGrp="1"/>
          </p:cNvSpPr>
          <p:nvPr/>
        </p:nvSpPr>
        <p:spPr>
          <a:xfrm>
            <a:off x="1085850" y="2247900"/>
            <a:ext cx="2933700" cy="1085850"/>
          </a:xfrm>
          <a:prstGeom prst="rect">
            <a:avLst/>
          </a:prstGeom>
          <a:noFill/>
          <a:ln w="0">
            <a:noFill/>
            <a:prstDash val="solid"/>
          </a:ln>
        </p:spPr>
        <p:txBody>
          <a:bodyPr/>
          <a:lstStyle/>
          <a:p>
            <a:pPr>
              <a:buNone/>
              <a:defRPr sz="1350">
                <a:solidFill>
                  <a:srgbClr val="1C2430"/>
                </a:solidFill>
              </a:defRPr>
            </a:pPr>
            <a:r>
              <a:rPr sz="1350">
                <a:solidFill>
                  <a:srgbClr val="1C2430"/>
                </a:solidFill>
              </a:rPr>
              <a:t>• Escalation can deliver a unilateral gain.</a:t>
            </a:r>
          </a:p>
          <a:p>
            <a:pPr>
              <a:buNone/>
              <a:defRPr sz="1350">
                <a:solidFill>
                  <a:srgbClr val="1C2430"/>
                </a:solidFill>
              </a:defRPr>
            </a:pPr>
            <a:r>
              <a:rPr sz="1350">
                <a:solidFill>
                  <a:srgbClr val="1C2430"/>
                </a:solidFill>
              </a:rPr>
              <a:t>• Mutual escalation generates shared loss.</a:t>
            </a:r>
          </a:p>
          <a:p>
            <a:pPr>
              <a:buNone/>
              <a:defRPr sz="1350">
                <a:solidFill>
                  <a:srgbClr val="1C2430"/>
                </a:solidFill>
              </a:defRPr>
            </a:pPr>
            <a:r>
              <a:rPr sz="1350">
                <a:solidFill>
                  <a:srgbClr val="1C2430"/>
                </a:solidFill>
              </a:rPr>
              <a:t>• The choice is both risky and consequential for another party.</a:t>
            </a:r>
          </a:p>
          <a:p>
            <a:pPr>
              <a:buNone/>
              <a:defRPr sz="1350">
                <a:solidFill>
                  <a:srgbClr val="1C2430"/>
                </a:solidFill>
              </a:defRPr>
            </a:pPr>
            <a:r>
              <a:rPr sz="1350">
                <a:solidFill>
                  <a:srgbClr val="1C2430"/>
                </a:solidFill>
              </a:rPr>
              <a:t>• That makes responsibility structure behaviorally meaningful.</a:t>
            </a:r>
          </a:p>
        </p:txBody>
      </p:sp>
      <p:sp>
        <p:nvSpPr>
          <p:cNvPr id="8" name="矩形 7"/>
          <p:cNvSpPr>
            <a:spLocks noGrp="1"/>
          </p:cNvSpPr>
          <p:nvPr/>
        </p:nvSpPr>
        <p:spPr>
          <a:xfrm>
            <a:off x="1085850" y="4095750"/>
            <a:ext cx="2000250" cy="190500"/>
          </a:xfrm>
          <a:prstGeom prst="rect">
            <a:avLst/>
          </a:prstGeom>
          <a:noFill/>
          <a:ln w="0">
            <a:noFill/>
            <a:prstDash val="solid"/>
          </a:ln>
        </p:spPr>
        <p:txBody>
          <a:bodyPr/>
          <a:lstStyle/>
          <a:p>
            <a:pPr>
              <a:buNone/>
              <a:defRPr sz="1200" i="1">
                <a:solidFill>
                  <a:srgbClr val="5F6875"/>
                </a:solidFill>
              </a:defRPr>
            </a:pPr>
            <a:r>
              <a:rPr sz="1200" i="1">
                <a:solidFill>
                  <a:srgbClr val="5F6875"/>
                </a:solidFill>
              </a:rPr>
              <a:t>Illustrative payoff logic</a:t>
            </a:r>
          </a:p>
        </p:txBody>
      </p:sp>
      <p:sp>
        <p:nvSpPr>
          <p:cNvPr id="9" name="圆角矩形 8"/>
          <p:cNvSpPr>
            <a:spLocks noGrp="1"/>
          </p:cNvSpPr>
          <p:nvPr/>
        </p:nvSpPr>
        <p:spPr>
          <a:xfrm>
            <a:off x="2000250" y="4381500"/>
            <a:ext cx="838200" cy="400050"/>
          </a:xfrm>
          <a:prstGeom prst="roundRect">
            <a:avLst>
              <a:gd name="adj" fmla="val 4762"/>
            </a:avLst>
          </a:prstGeom>
          <a:solidFill>
            <a:srgbClr val="23364A"/>
          </a:solidFill>
          <a:ln w="0">
            <a:solidFill>
              <a:srgbClr val="23364A"/>
            </a:solidFill>
            <a:prstDash val="solid"/>
          </a:ln>
        </p:spPr>
      </p:sp>
      <p:sp>
        <p:nvSpPr>
          <p:cNvPr id="10" name="圆角矩形 9"/>
          <p:cNvSpPr>
            <a:spLocks noGrp="1"/>
          </p:cNvSpPr>
          <p:nvPr/>
        </p:nvSpPr>
        <p:spPr>
          <a:xfrm>
            <a:off x="2838450" y="4381500"/>
            <a:ext cx="838200" cy="400050"/>
          </a:xfrm>
          <a:prstGeom prst="roundRect">
            <a:avLst>
              <a:gd name="adj" fmla="val 4762"/>
            </a:avLst>
          </a:prstGeom>
          <a:solidFill>
            <a:srgbClr val="23364A"/>
          </a:solidFill>
          <a:ln w="0">
            <a:solidFill>
              <a:srgbClr val="23364A"/>
            </a:solidFill>
            <a:prstDash val="solid"/>
          </a:ln>
        </p:spPr>
      </p:sp>
      <p:sp>
        <p:nvSpPr>
          <p:cNvPr id="11" name="矩形 10"/>
          <p:cNvSpPr>
            <a:spLocks noGrp="1"/>
          </p:cNvSpPr>
          <p:nvPr/>
        </p:nvSpPr>
        <p:spPr>
          <a:xfrm>
            <a:off x="2152650" y="4476750"/>
            <a:ext cx="533400" cy="152400"/>
          </a:xfrm>
          <a:prstGeom prst="rect">
            <a:avLst/>
          </a:prstGeom>
          <a:noFill/>
          <a:ln w="0">
            <a:noFill/>
            <a:prstDash val="solid"/>
          </a:ln>
        </p:spPr>
        <p:txBody>
          <a:bodyPr/>
          <a:lstStyle/>
          <a:p>
            <a:pPr algn="ctr">
              <a:buNone/>
              <a:defRPr sz="1350" b="1">
                <a:solidFill>
                  <a:srgbClr val="FFFFFF"/>
                </a:solidFill>
              </a:defRPr>
            </a:pPr>
            <a:r>
              <a:rPr sz="1350" b="1">
                <a:solidFill>
                  <a:srgbClr val="FFFFFF"/>
                </a:solidFill>
              </a:rPr>
              <a:t>R</a:t>
            </a:r>
          </a:p>
        </p:txBody>
      </p:sp>
      <p:sp>
        <p:nvSpPr>
          <p:cNvPr id="12" name="矩形 11"/>
          <p:cNvSpPr>
            <a:spLocks noGrp="1"/>
          </p:cNvSpPr>
          <p:nvPr/>
        </p:nvSpPr>
        <p:spPr>
          <a:xfrm>
            <a:off x="2990850" y="4476750"/>
            <a:ext cx="533400" cy="152400"/>
          </a:xfrm>
          <a:prstGeom prst="rect">
            <a:avLst/>
          </a:prstGeom>
          <a:noFill/>
          <a:ln w="0">
            <a:noFill/>
            <a:prstDash val="solid"/>
          </a:ln>
        </p:spPr>
        <p:txBody>
          <a:bodyPr/>
          <a:lstStyle/>
          <a:p>
            <a:pPr algn="ctr">
              <a:buNone/>
              <a:defRPr sz="1350" b="1">
                <a:solidFill>
                  <a:srgbClr val="FFFFFF"/>
                </a:solidFill>
              </a:defRPr>
            </a:pPr>
            <a:r>
              <a:rPr sz="1350" b="1">
                <a:solidFill>
                  <a:srgbClr val="FFFFFF"/>
                </a:solidFill>
              </a:rPr>
              <a:t>E</a:t>
            </a:r>
          </a:p>
        </p:txBody>
      </p:sp>
      <p:sp>
        <p:nvSpPr>
          <p:cNvPr id="13" name="矩形 12"/>
          <p:cNvSpPr>
            <a:spLocks noGrp="1"/>
          </p:cNvSpPr>
          <p:nvPr/>
        </p:nvSpPr>
        <p:spPr>
          <a:xfrm>
            <a:off x="1487170" y="4838700"/>
            <a:ext cx="552450" cy="171450"/>
          </a:xfrm>
          <a:prstGeom prst="rect">
            <a:avLst/>
          </a:prstGeom>
          <a:noFill/>
          <a:ln w="0">
            <a:noFill/>
            <a:prstDash val="solid"/>
          </a:ln>
        </p:spPr>
        <p:txBody>
          <a:bodyPr/>
          <a:lstStyle/>
          <a:p>
            <a:pPr>
              <a:buNone/>
              <a:defRPr sz="1350" b="1">
                <a:solidFill>
                  <a:srgbClr val="23364A"/>
                </a:solidFill>
              </a:defRPr>
            </a:pPr>
            <a:r>
              <a:rPr sz="1350" b="1">
                <a:solidFill>
                  <a:srgbClr val="23364A"/>
                </a:solidFill>
              </a:rPr>
              <a:t>R</a:t>
            </a:r>
          </a:p>
        </p:txBody>
      </p:sp>
      <p:sp>
        <p:nvSpPr>
          <p:cNvPr id="14" name="矩形 13"/>
          <p:cNvSpPr>
            <a:spLocks noGrp="1"/>
          </p:cNvSpPr>
          <p:nvPr/>
        </p:nvSpPr>
        <p:spPr>
          <a:xfrm>
            <a:off x="1487170" y="5334000"/>
            <a:ext cx="552450" cy="171450"/>
          </a:xfrm>
          <a:prstGeom prst="rect">
            <a:avLst/>
          </a:prstGeom>
          <a:noFill/>
          <a:ln w="0">
            <a:noFill/>
            <a:prstDash val="solid"/>
          </a:ln>
        </p:spPr>
        <p:txBody>
          <a:bodyPr/>
          <a:lstStyle/>
          <a:p>
            <a:pPr>
              <a:buNone/>
              <a:defRPr sz="1350" b="1">
                <a:solidFill>
                  <a:srgbClr val="23364A"/>
                </a:solidFill>
              </a:defRPr>
            </a:pPr>
            <a:r>
              <a:rPr sz="1350" b="1">
                <a:solidFill>
                  <a:srgbClr val="23364A"/>
                </a:solidFill>
              </a:rPr>
              <a:t>E</a:t>
            </a:r>
          </a:p>
        </p:txBody>
      </p:sp>
      <p:sp>
        <p:nvSpPr>
          <p:cNvPr id="15" name="圆角矩形 14"/>
          <p:cNvSpPr>
            <a:spLocks noGrp="1"/>
          </p:cNvSpPr>
          <p:nvPr/>
        </p:nvSpPr>
        <p:spPr>
          <a:xfrm>
            <a:off x="2000250" y="4838700"/>
            <a:ext cx="838200" cy="400050"/>
          </a:xfrm>
          <a:prstGeom prst="roundRect">
            <a:avLst>
              <a:gd name="adj" fmla="val 4762"/>
            </a:avLst>
          </a:prstGeom>
          <a:solidFill>
            <a:srgbClr val="F4EFE6"/>
          </a:solidFill>
          <a:ln w="9525">
            <a:solidFill>
              <a:srgbClr val="B7ADA0"/>
            </a:solidFill>
            <a:prstDash val="solid"/>
          </a:ln>
        </p:spPr>
      </p:sp>
      <p:sp>
        <p:nvSpPr>
          <p:cNvPr id="16" name="矩形 15"/>
          <p:cNvSpPr>
            <a:spLocks noGrp="1"/>
          </p:cNvSpPr>
          <p:nvPr/>
        </p:nvSpPr>
        <p:spPr>
          <a:xfrm>
            <a:off x="2095500" y="4933950"/>
            <a:ext cx="647700" cy="152400"/>
          </a:xfrm>
          <a:prstGeom prst="rect">
            <a:avLst/>
          </a:prstGeom>
          <a:noFill/>
          <a:ln w="0">
            <a:noFill/>
            <a:prstDash val="solid"/>
          </a:ln>
        </p:spPr>
        <p:txBody>
          <a:bodyPr/>
          <a:lstStyle/>
          <a:p>
            <a:pPr algn="ctr">
              <a:buNone/>
              <a:defRPr sz="1200">
                <a:solidFill>
                  <a:srgbClr val="1C2430"/>
                </a:solidFill>
              </a:defRPr>
            </a:pPr>
            <a:r>
              <a:rPr sz="1200">
                <a:solidFill>
                  <a:srgbClr val="1C2430"/>
                </a:solidFill>
              </a:rPr>
              <a:t>50, 50</a:t>
            </a:r>
          </a:p>
        </p:txBody>
      </p:sp>
      <p:sp>
        <p:nvSpPr>
          <p:cNvPr id="17" name="圆角矩形 16"/>
          <p:cNvSpPr>
            <a:spLocks noGrp="1"/>
          </p:cNvSpPr>
          <p:nvPr/>
        </p:nvSpPr>
        <p:spPr>
          <a:xfrm>
            <a:off x="2838450" y="4838700"/>
            <a:ext cx="838200" cy="400050"/>
          </a:xfrm>
          <a:prstGeom prst="roundRect">
            <a:avLst>
              <a:gd name="adj" fmla="val 4762"/>
            </a:avLst>
          </a:prstGeom>
          <a:solidFill>
            <a:srgbClr val="F4EFE6"/>
          </a:solidFill>
          <a:ln w="9525">
            <a:solidFill>
              <a:srgbClr val="B7ADA0"/>
            </a:solidFill>
            <a:prstDash val="solid"/>
          </a:ln>
        </p:spPr>
      </p:sp>
      <p:sp>
        <p:nvSpPr>
          <p:cNvPr id="18" name="矩形 17"/>
          <p:cNvSpPr>
            <a:spLocks noGrp="1"/>
          </p:cNvSpPr>
          <p:nvPr/>
        </p:nvSpPr>
        <p:spPr>
          <a:xfrm>
            <a:off x="2933700" y="4933950"/>
            <a:ext cx="647700" cy="152400"/>
          </a:xfrm>
          <a:prstGeom prst="rect">
            <a:avLst/>
          </a:prstGeom>
          <a:noFill/>
          <a:ln w="0">
            <a:noFill/>
            <a:prstDash val="solid"/>
          </a:ln>
        </p:spPr>
        <p:txBody>
          <a:bodyPr/>
          <a:lstStyle/>
          <a:p>
            <a:pPr algn="ctr">
              <a:buNone/>
              <a:defRPr sz="1200">
                <a:solidFill>
                  <a:srgbClr val="1C2430"/>
                </a:solidFill>
              </a:defRPr>
            </a:pPr>
            <a:r>
              <a:rPr sz="1200">
                <a:solidFill>
                  <a:srgbClr val="1C2430"/>
                </a:solidFill>
              </a:rPr>
              <a:t>20, 80</a:t>
            </a:r>
          </a:p>
        </p:txBody>
      </p:sp>
      <p:sp>
        <p:nvSpPr>
          <p:cNvPr id="19" name="圆角矩形 18"/>
          <p:cNvSpPr>
            <a:spLocks noGrp="1"/>
          </p:cNvSpPr>
          <p:nvPr/>
        </p:nvSpPr>
        <p:spPr>
          <a:xfrm>
            <a:off x="2000250" y="5295900"/>
            <a:ext cx="838200" cy="400050"/>
          </a:xfrm>
          <a:prstGeom prst="roundRect">
            <a:avLst>
              <a:gd name="adj" fmla="val 4762"/>
            </a:avLst>
          </a:prstGeom>
          <a:solidFill>
            <a:srgbClr val="F4EFE6"/>
          </a:solidFill>
          <a:ln w="9525">
            <a:solidFill>
              <a:srgbClr val="B7ADA0"/>
            </a:solidFill>
            <a:prstDash val="solid"/>
          </a:ln>
        </p:spPr>
      </p:sp>
      <p:sp>
        <p:nvSpPr>
          <p:cNvPr id="20" name="矩形 19"/>
          <p:cNvSpPr>
            <a:spLocks noGrp="1"/>
          </p:cNvSpPr>
          <p:nvPr/>
        </p:nvSpPr>
        <p:spPr>
          <a:xfrm>
            <a:off x="2095500" y="5391150"/>
            <a:ext cx="647700" cy="152400"/>
          </a:xfrm>
          <a:prstGeom prst="rect">
            <a:avLst/>
          </a:prstGeom>
          <a:noFill/>
          <a:ln w="0">
            <a:noFill/>
            <a:prstDash val="solid"/>
          </a:ln>
        </p:spPr>
        <p:txBody>
          <a:bodyPr/>
          <a:lstStyle/>
          <a:p>
            <a:pPr algn="ctr">
              <a:buNone/>
              <a:defRPr sz="1200">
                <a:solidFill>
                  <a:srgbClr val="1C2430"/>
                </a:solidFill>
              </a:defRPr>
            </a:pPr>
            <a:r>
              <a:rPr sz="1200">
                <a:solidFill>
                  <a:srgbClr val="1C2430"/>
                </a:solidFill>
              </a:rPr>
              <a:t>80, 20</a:t>
            </a:r>
          </a:p>
        </p:txBody>
      </p:sp>
      <p:sp>
        <p:nvSpPr>
          <p:cNvPr id="21" name="圆角矩形 20"/>
          <p:cNvSpPr>
            <a:spLocks noGrp="1"/>
          </p:cNvSpPr>
          <p:nvPr/>
        </p:nvSpPr>
        <p:spPr>
          <a:xfrm>
            <a:off x="2838450" y="5295900"/>
            <a:ext cx="838200" cy="400050"/>
          </a:xfrm>
          <a:prstGeom prst="roundRect">
            <a:avLst>
              <a:gd name="adj" fmla="val 4762"/>
            </a:avLst>
          </a:prstGeom>
          <a:solidFill>
            <a:srgbClr val="F4EFE6"/>
          </a:solidFill>
          <a:ln w="9525">
            <a:solidFill>
              <a:srgbClr val="B7ADA0"/>
            </a:solidFill>
            <a:prstDash val="solid"/>
          </a:ln>
        </p:spPr>
      </p:sp>
      <p:sp>
        <p:nvSpPr>
          <p:cNvPr id="22" name="矩形 21"/>
          <p:cNvSpPr>
            <a:spLocks noGrp="1"/>
          </p:cNvSpPr>
          <p:nvPr/>
        </p:nvSpPr>
        <p:spPr>
          <a:xfrm>
            <a:off x="2933700" y="5391150"/>
            <a:ext cx="647700" cy="152400"/>
          </a:xfrm>
          <a:prstGeom prst="rect">
            <a:avLst/>
          </a:prstGeom>
          <a:noFill/>
          <a:ln w="0">
            <a:noFill/>
            <a:prstDash val="solid"/>
          </a:ln>
        </p:spPr>
        <p:txBody>
          <a:bodyPr/>
          <a:lstStyle/>
          <a:p>
            <a:pPr algn="ctr">
              <a:buNone/>
              <a:defRPr sz="1200">
                <a:solidFill>
                  <a:srgbClr val="1C2430"/>
                </a:solidFill>
              </a:defRPr>
            </a:pPr>
            <a:r>
              <a:rPr sz="1200">
                <a:solidFill>
                  <a:srgbClr val="1C2430"/>
                </a:solidFill>
              </a:rPr>
              <a:t>10, 10</a:t>
            </a:r>
          </a:p>
        </p:txBody>
      </p:sp>
      <p:sp>
        <p:nvSpPr>
          <p:cNvPr id="23" name="矩形 22"/>
          <p:cNvSpPr>
            <a:spLocks noGrp="1"/>
          </p:cNvSpPr>
          <p:nvPr/>
        </p:nvSpPr>
        <p:spPr>
          <a:xfrm>
            <a:off x="4819650" y="1657350"/>
            <a:ext cx="3619500" cy="209550"/>
          </a:xfrm>
          <a:prstGeom prst="rect">
            <a:avLst/>
          </a:prstGeom>
          <a:noFill/>
          <a:ln w="0">
            <a:noFill/>
            <a:prstDash val="solid"/>
          </a:ln>
        </p:spPr>
        <p:txBody>
          <a:bodyPr/>
          <a:lstStyle/>
          <a:p>
            <a:pPr>
              <a:buNone/>
              <a:defRPr sz="1650" b="1">
                <a:solidFill>
                  <a:srgbClr val="23364A"/>
                </a:solidFill>
              </a:defRPr>
            </a:pPr>
            <a:r>
              <a:rPr sz="1650" b="1">
                <a:solidFill>
                  <a:srgbClr val="23364A"/>
                </a:solidFill>
              </a:rPr>
              <a:t>Condition logic</a:t>
            </a:r>
          </a:p>
        </p:txBody>
      </p:sp>
      <p:sp>
        <p:nvSpPr>
          <p:cNvPr id="24" name="圆角矩形 23"/>
          <p:cNvSpPr>
            <a:spLocks noGrp="1"/>
          </p:cNvSpPr>
          <p:nvPr/>
        </p:nvSpPr>
        <p:spPr>
          <a:xfrm>
            <a:off x="4800600" y="2038350"/>
            <a:ext cx="1485900" cy="514350"/>
          </a:xfrm>
          <a:prstGeom prst="roundRect">
            <a:avLst>
              <a:gd name="adj" fmla="val 14815"/>
            </a:avLst>
          </a:prstGeom>
          <a:solidFill>
            <a:srgbClr val="23364A"/>
          </a:solidFill>
          <a:ln w="0">
            <a:solidFill>
              <a:srgbClr val="23364A"/>
            </a:solidFill>
            <a:prstDash val="solid"/>
          </a:ln>
        </p:spPr>
      </p:sp>
      <p:sp>
        <p:nvSpPr>
          <p:cNvPr id="25" name="矩形 24"/>
          <p:cNvSpPr>
            <a:spLocks noGrp="1"/>
          </p:cNvSpPr>
          <p:nvPr/>
        </p:nvSpPr>
        <p:spPr>
          <a:xfrm>
            <a:off x="4800600" y="2209800"/>
            <a:ext cx="1485900" cy="171450"/>
          </a:xfrm>
          <a:prstGeom prst="rect">
            <a:avLst/>
          </a:prstGeom>
          <a:noFill/>
          <a:ln w="0">
            <a:noFill/>
            <a:prstDash val="solid"/>
          </a:ln>
        </p:spPr>
        <p:txBody>
          <a:bodyPr/>
          <a:lstStyle/>
          <a:p>
            <a:pPr algn="ctr">
              <a:buNone/>
              <a:defRPr sz="1350" b="1">
                <a:solidFill>
                  <a:srgbClr val="FFFFFF"/>
                </a:solidFill>
              </a:defRPr>
            </a:pPr>
            <a:r>
              <a:rPr sz="1350" b="1">
                <a:solidFill>
                  <a:srgbClr val="FFFFFF"/>
                </a:solidFill>
              </a:rPr>
              <a:t>Human-only</a:t>
            </a:r>
          </a:p>
        </p:txBody>
      </p:sp>
      <p:sp>
        <p:nvSpPr>
          <p:cNvPr id="26" name="圆角矩形 25"/>
          <p:cNvSpPr>
            <a:spLocks noGrp="1"/>
          </p:cNvSpPr>
          <p:nvPr/>
        </p:nvSpPr>
        <p:spPr>
          <a:xfrm>
            <a:off x="6419850" y="2038350"/>
            <a:ext cx="1485900" cy="514350"/>
          </a:xfrm>
          <a:prstGeom prst="roundRect">
            <a:avLst>
              <a:gd name="adj" fmla="val 14815"/>
            </a:avLst>
          </a:prstGeom>
          <a:solidFill>
            <a:srgbClr val="A66A4D"/>
          </a:solidFill>
          <a:ln w="0">
            <a:solidFill>
              <a:srgbClr val="A66A4D"/>
            </a:solidFill>
            <a:prstDash val="solid"/>
          </a:ln>
        </p:spPr>
      </p:sp>
      <p:sp>
        <p:nvSpPr>
          <p:cNvPr id="27" name="矩形 26"/>
          <p:cNvSpPr>
            <a:spLocks noGrp="1"/>
          </p:cNvSpPr>
          <p:nvPr/>
        </p:nvSpPr>
        <p:spPr>
          <a:xfrm>
            <a:off x="6419850" y="2209800"/>
            <a:ext cx="1485900" cy="171450"/>
          </a:xfrm>
          <a:prstGeom prst="rect">
            <a:avLst/>
          </a:prstGeom>
          <a:noFill/>
          <a:ln w="0">
            <a:noFill/>
            <a:prstDash val="solid"/>
          </a:ln>
        </p:spPr>
        <p:txBody>
          <a:bodyPr/>
          <a:lstStyle/>
          <a:p>
            <a:pPr algn="ctr">
              <a:buNone/>
              <a:defRPr sz="1350" b="1">
                <a:solidFill>
                  <a:srgbClr val="FFFFFF"/>
                </a:solidFill>
              </a:defRPr>
            </a:pPr>
            <a:r>
              <a:rPr sz="1350" b="1">
                <a:solidFill>
                  <a:srgbClr val="FFFFFF"/>
                </a:solidFill>
              </a:rPr>
              <a:t>AI-baseline</a:t>
            </a:r>
          </a:p>
        </p:txBody>
      </p:sp>
      <p:sp>
        <p:nvSpPr>
          <p:cNvPr id="28" name="圆角矩形 27"/>
          <p:cNvSpPr>
            <a:spLocks noGrp="1"/>
          </p:cNvSpPr>
          <p:nvPr/>
        </p:nvSpPr>
        <p:spPr>
          <a:xfrm>
            <a:off x="8039100" y="2038350"/>
            <a:ext cx="1485900" cy="514350"/>
          </a:xfrm>
          <a:prstGeom prst="roundRect">
            <a:avLst>
              <a:gd name="adj" fmla="val 14815"/>
            </a:avLst>
          </a:prstGeom>
          <a:solidFill>
            <a:srgbClr val="6F7C60"/>
          </a:solidFill>
          <a:ln w="0">
            <a:solidFill>
              <a:srgbClr val="6F7C60"/>
            </a:solidFill>
            <a:prstDash val="solid"/>
          </a:ln>
        </p:spPr>
      </p:sp>
      <p:sp>
        <p:nvSpPr>
          <p:cNvPr id="29" name="矩形 28"/>
          <p:cNvSpPr>
            <a:spLocks noGrp="1"/>
          </p:cNvSpPr>
          <p:nvPr/>
        </p:nvSpPr>
        <p:spPr>
          <a:xfrm>
            <a:off x="8039100" y="2209800"/>
            <a:ext cx="1485900" cy="171450"/>
          </a:xfrm>
          <a:prstGeom prst="rect">
            <a:avLst/>
          </a:prstGeom>
          <a:noFill/>
          <a:ln w="0">
            <a:noFill/>
            <a:prstDash val="solid"/>
          </a:ln>
        </p:spPr>
        <p:txBody>
          <a:bodyPr/>
          <a:lstStyle/>
          <a:p>
            <a:pPr algn="ctr">
              <a:buNone/>
              <a:defRPr sz="1350" b="1">
                <a:solidFill>
                  <a:srgbClr val="FFFFFF"/>
                </a:solidFill>
              </a:defRPr>
            </a:pPr>
            <a:r>
              <a:rPr sz="1350" b="1">
                <a:solidFill>
                  <a:srgbClr val="FFFFFF"/>
                </a:solidFill>
              </a:rPr>
              <a:t>AI-confirm</a:t>
            </a:r>
          </a:p>
        </p:txBody>
      </p:sp>
      <p:sp>
        <p:nvSpPr>
          <p:cNvPr id="30" name="圆角矩形 29"/>
          <p:cNvSpPr>
            <a:spLocks noGrp="1"/>
          </p:cNvSpPr>
          <p:nvPr/>
        </p:nvSpPr>
        <p:spPr>
          <a:xfrm>
            <a:off x="9658350" y="2038350"/>
            <a:ext cx="1485900" cy="514350"/>
          </a:xfrm>
          <a:prstGeom prst="roundRect">
            <a:avLst>
              <a:gd name="adj" fmla="val 14815"/>
            </a:avLst>
          </a:prstGeom>
          <a:solidFill>
            <a:srgbClr val="9B5D58"/>
          </a:solidFill>
          <a:ln w="0">
            <a:solidFill>
              <a:srgbClr val="9B5D58"/>
            </a:solidFill>
            <a:prstDash val="solid"/>
          </a:ln>
        </p:spPr>
      </p:sp>
      <p:sp>
        <p:nvSpPr>
          <p:cNvPr id="31" name="矩形 30"/>
          <p:cNvSpPr>
            <a:spLocks noGrp="1"/>
          </p:cNvSpPr>
          <p:nvPr/>
        </p:nvSpPr>
        <p:spPr>
          <a:xfrm>
            <a:off x="9658350" y="2209800"/>
            <a:ext cx="1485900" cy="171450"/>
          </a:xfrm>
          <a:prstGeom prst="rect">
            <a:avLst/>
          </a:prstGeom>
          <a:noFill/>
          <a:ln w="0">
            <a:noFill/>
            <a:prstDash val="solid"/>
          </a:ln>
        </p:spPr>
        <p:txBody>
          <a:bodyPr/>
          <a:lstStyle/>
          <a:p>
            <a:pPr algn="ctr">
              <a:buNone/>
              <a:defRPr sz="1350" b="1">
                <a:solidFill>
                  <a:srgbClr val="FFFFFF"/>
                </a:solidFill>
              </a:defRPr>
            </a:pPr>
            <a:r>
              <a:rPr sz="1350" b="1">
                <a:solidFill>
                  <a:srgbClr val="FFFFFF"/>
                </a:solidFill>
              </a:rPr>
              <a:t>AI-disclosure</a:t>
            </a:r>
          </a:p>
        </p:txBody>
      </p:sp>
      <p:sp>
        <p:nvSpPr>
          <p:cNvPr id="32" name="矩形 31"/>
          <p:cNvSpPr>
            <a:spLocks noGrp="1"/>
          </p:cNvSpPr>
          <p:nvPr/>
        </p:nvSpPr>
        <p:spPr>
          <a:xfrm>
            <a:off x="4819650" y="3048000"/>
            <a:ext cx="4000500" cy="209550"/>
          </a:xfrm>
          <a:prstGeom prst="rect">
            <a:avLst/>
          </a:prstGeom>
          <a:noFill/>
          <a:ln w="0">
            <a:noFill/>
            <a:prstDash val="solid"/>
          </a:ln>
        </p:spPr>
        <p:txBody>
          <a:bodyPr/>
          <a:lstStyle/>
          <a:p>
            <a:pPr>
              <a:buNone/>
              <a:defRPr sz="1650" b="1">
                <a:solidFill>
                  <a:srgbClr val="23364A"/>
                </a:solidFill>
              </a:defRPr>
            </a:pPr>
            <a:r>
              <a:rPr sz="1650" b="1">
                <a:solidFill>
                  <a:srgbClr val="23364A"/>
                </a:solidFill>
              </a:rPr>
              <a:t>One participant, one round</a:t>
            </a:r>
          </a:p>
        </p:txBody>
      </p:sp>
      <p:sp>
        <p:nvSpPr>
          <p:cNvPr id="33" name="圆角矩形 32"/>
          <p:cNvSpPr>
            <a:spLocks noGrp="1"/>
          </p:cNvSpPr>
          <p:nvPr/>
        </p:nvSpPr>
        <p:spPr>
          <a:xfrm>
            <a:off x="4800600" y="3429000"/>
            <a:ext cx="1162050" cy="1123950"/>
          </a:xfrm>
          <a:prstGeom prst="roundRect">
            <a:avLst>
              <a:gd name="adj" fmla="val 6780"/>
            </a:avLst>
          </a:prstGeom>
          <a:solidFill>
            <a:srgbClr val="F9F6F0"/>
          </a:solidFill>
          <a:ln w="9525">
            <a:solidFill>
              <a:srgbClr val="B7ADA0"/>
            </a:solidFill>
            <a:prstDash val="solid"/>
          </a:ln>
        </p:spPr>
      </p:sp>
      <p:sp>
        <p:nvSpPr>
          <p:cNvPr id="34" name="矩形 33"/>
          <p:cNvSpPr>
            <a:spLocks noGrp="1"/>
          </p:cNvSpPr>
          <p:nvPr/>
        </p:nvSpPr>
        <p:spPr>
          <a:xfrm>
            <a:off x="4914900" y="3714750"/>
            <a:ext cx="933450" cy="552450"/>
          </a:xfrm>
          <a:prstGeom prst="rect">
            <a:avLst/>
          </a:prstGeom>
          <a:noFill/>
          <a:ln w="0">
            <a:noFill/>
            <a:prstDash val="solid"/>
          </a:ln>
        </p:spPr>
        <p:txBody>
          <a:bodyPr/>
          <a:lstStyle/>
          <a:p>
            <a:pPr algn="ctr">
              <a:buNone/>
              <a:defRPr sz="1275">
                <a:solidFill>
                  <a:srgbClr val="1C2430"/>
                </a:solidFill>
              </a:defRPr>
            </a:pPr>
            <a:r>
              <a:rPr sz="1275">
                <a:solidFill>
                  <a:srgbClr val="1C2430"/>
                </a:solidFill>
              </a:rPr>
              <a:t>See payoff matrix</a:t>
            </a:r>
          </a:p>
        </p:txBody>
      </p:sp>
      <p:sp>
        <p:nvSpPr>
          <p:cNvPr id="35" name="矩形 34"/>
          <p:cNvSpPr>
            <a:spLocks noGrp="1"/>
          </p:cNvSpPr>
          <p:nvPr/>
        </p:nvSpPr>
        <p:spPr>
          <a:xfrm>
            <a:off x="5943600" y="3867150"/>
            <a:ext cx="209550" cy="190500"/>
          </a:xfrm>
          <a:prstGeom prst="rect">
            <a:avLst/>
          </a:prstGeom>
          <a:noFill/>
          <a:ln w="0">
            <a:noFill/>
            <a:prstDash val="solid"/>
          </a:ln>
        </p:spPr>
        <p:txBody>
          <a:bodyPr/>
          <a:lstStyle/>
          <a:p>
            <a:pPr algn="ctr">
              <a:buNone/>
              <a:defRPr sz="1650" b="1">
                <a:solidFill>
                  <a:srgbClr val="5F6875"/>
                </a:solidFill>
              </a:defRPr>
            </a:pPr>
            <a:r>
              <a:rPr sz="1650" b="1">
                <a:solidFill>
                  <a:srgbClr val="5F6875"/>
                </a:solidFill>
              </a:rPr>
              <a:t>→</a:t>
            </a:r>
          </a:p>
        </p:txBody>
      </p:sp>
      <p:sp>
        <p:nvSpPr>
          <p:cNvPr id="36" name="圆角矩形 35"/>
          <p:cNvSpPr>
            <a:spLocks noGrp="1"/>
          </p:cNvSpPr>
          <p:nvPr/>
        </p:nvSpPr>
        <p:spPr>
          <a:xfrm>
            <a:off x="6096000" y="3429000"/>
            <a:ext cx="1162050" cy="1123950"/>
          </a:xfrm>
          <a:prstGeom prst="roundRect">
            <a:avLst>
              <a:gd name="adj" fmla="val 6780"/>
            </a:avLst>
          </a:prstGeom>
          <a:solidFill>
            <a:srgbClr val="EFE7DD"/>
          </a:solidFill>
          <a:ln w="9525">
            <a:solidFill>
              <a:srgbClr val="B7ADA0"/>
            </a:solidFill>
            <a:prstDash val="solid"/>
          </a:ln>
        </p:spPr>
      </p:sp>
      <p:sp>
        <p:nvSpPr>
          <p:cNvPr id="37" name="矩形 36"/>
          <p:cNvSpPr>
            <a:spLocks noGrp="1"/>
          </p:cNvSpPr>
          <p:nvPr/>
        </p:nvSpPr>
        <p:spPr>
          <a:xfrm>
            <a:off x="6210300" y="3714750"/>
            <a:ext cx="933450" cy="552450"/>
          </a:xfrm>
          <a:prstGeom prst="rect">
            <a:avLst/>
          </a:prstGeom>
          <a:noFill/>
          <a:ln w="0">
            <a:noFill/>
            <a:prstDash val="solid"/>
          </a:ln>
        </p:spPr>
        <p:txBody>
          <a:bodyPr/>
          <a:lstStyle/>
          <a:p>
            <a:pPr algn="ctr">
              <a:buNone/>
              <a:defRPr sz="1275">
                <a:solidFill>
                  <a:srgbClr val="1C2430"/>
                </a:solidFill>
              </a:defRPr>
            </a:pPr>
            <a:r>
              <a:rPr sz="1275">
                <a:solidFill>
                  <a:srgbClr val="1C2430"/>
                </a:solidFill>
              </a:rPr>
              <a:t>See AI analysis if assigned</a:t>
            </a:r>
          </a:p>
        </p:txBody>
      </p:sp>
      <p:sp>
        <p:nvSpPr>
          <p:cNvPr id="38" name="矩形 37"/>
          <p:cNvSpPr>
            <a:spLocks noGrp="1"/>
          </p:cNvSpPr>
          <p:nvPr/>
        </p:nvSpPr>
        <p:spPr>
          <a:xfrm>
            <a:off x="7239000" y="3867150"/>
            <a:ext cx="209550" cy="190500"/>
          </a:xfrm>
          <a:prstGeom prst="rect">
            <a:avLst/>
          </a:prstGeom>
          <a:noFill/>
          <a:ln w="0">
            <a:noFill/>
            <a:prstDash val="solid"/>
          </a:ln>
        </p:spPr>
        <p:txBody>
          <a:bodyPr/>
          <a:lstStyle/>
          <a:p>
            <a:pPr algn="ctr">
              <a:buNone/>
              <a:defRPr sz="1650" b="1">
                <a:solidFill>
                  <a:srgbClr val="5F6875"/>
                </a:solidFill>
              </a:defRPr>
            </a:pPr>
            <a:r>
              <a:rPr sz="1650" b="1">
                <a:solidFill>
                  <a:srgbClr val="5F6875"/>
                </a:solidFill>
              </a:rPr>
              <a:t>→</a:t>
            </a:r>
          </a:p>
        </p:txBody>
      </p:sp>
      <p:sp>
        <p:nvSpPr>
          <p:cNvPr id="39" name="圆角矩形 38"/>
          <p:cNvSpPr>
            <a:spLocks noGrp="1"/>
          </p:cNvSpPr>
          <p:nvPr/>
        </p:nvSpPr>
        <p:spPr>
          <a:xfrm>
            <a:off x="7391400" y="3429000"/>
            <a:ext cx="1162050" cy="1123950"/>
          </a:xfrm>
          <a:prstGeom prst="roundRect">
            <a:avLst>
              <a:gd name="adj" fmla="val 6780"/>
            </a:avLst>
          </a:prstGeom>
          <a:solidFill>
            <a:srgbClr val="F9F6F0"/>
          </a:solidFill>
          <a:ln w="9525">
            <a:solidFill>
              <a:srgbClr val="B7ADA0"/>
            </a:solidFill>
            <a:prstDash val="solid"/>
          </a:ln>
        </p:spPr>
      </p:sp>
      <p:sp>
        <p:nvSpPr>
          <p:cNvPr id="40" name="矩形 39"/>
          <p:cNvSpPr>
            <a:spLocks noGrp="1"/>
          </p:cNvSpPr>
          <p:nvPr/>
        </p:nvSpPr>
        <p:spPr>
          <a:xfrm>
            <a:off x="7505700" y="3714750"/>
            <a:ext cx="933450" cy="552450"/>
          </a:xfrm>
          <a:prstGeom prst="rect">
            <a:avLst/>
          </a:prstGeom>
          <a:noFill/>
          <a:ln w="0">
            <a:noFill/>
            <a:prstDash val="solid"/>
          </a:ln>
        </p:spPr>
        <p:txBody>
          <a:bodyPr/>
          <a:lstStyle/>
          <a:p>
            <a:pPr algn="ctr">
              <a:buNone/>
              <a:defRPr sz="1275">
                <a:solidFill>
                  <a:srgbClr val="1C2430"/>
                </a:solidFill>
              </a:defRPr>
            </a:pPr>
            <a:r>
              <a:rPr sz="1275">
                <a:solidFill>
                  <a:srgbClr val="1C2430"/>
                </a:solidFill>
              </a:rPr>
              <a:t>Confirm or disclose if assigned</a:t>
            </a:r>
          </a:p>
        </p:txBody>
      </p:sp>
      <p:sp>
        <p:nvSpPr>
          <p:cNvPr id="41" name="矩形 40"/>
          <p:cNvSpPr>
            <a:spLocks noGrp="1"/>
          </p:cNvSpPr>
          <p:nvPr/>
        </p:nvSpPr>
        <p:spPr>
          <a:xfrm>
            <a:off x="8534400" y="3867150"/>
            <a:ext cx="209550" cy="190500"/>
          </a:xfrm>
          <a:prstGeom prst="rect">
            <a:avLst/>
          </a:prstGeom>
          <a:noFill/>
          <a:ln w="0">
            <a:noFill/>
            <a:prstDash val="solid"/>
          </a:ln>
        </p:spPr>
        <p:txBody>
          <a:bodyPr/>
          <a:lstStyle/>
          <a:p>
            <a:pPr algn="ctr">
              <a:buNone/>
              <a:defRPr sz="1650" b="1">
                <a:solidFill>
                  <a:srgbClr val="5F6875"/>
                </a:solidFill>
              </a:defRPr>
            </a:pPr>
            <a:r>
              <a:rPr sz="1650" b="1">
                <a:solidFill>
                  <a:srgbClr val="5F6875"/>
                </a:solidFill>
              </a:rPr>
              <a:t>→</a:t>
            </a:r>
          </a:p>
        </p:txBody>
      </p:sp>
      <p:sp>
        <p:nvSpPr>
          <p:cNvPr id="42" name="圆角矩形 41"/>
          <p:cNvSpPr>
            <a:spLocks noGrp="1"/>
          </p:cNvSpPr>
          <p:nvPr/>
        </p:nvSpPr>
        <p:spPr>
          <a:xfrm>
            <a:off x="8686800" y="3429000"/>
            <a:ext cx="1162050" cy="1123950"/>
          </a:xfrm>
          <a:prstGeom prst="roundRect">
            <a:avLst>
              <a:gd name="adj" fmla="val 6780"/>
            </a:avLst>
          </a:prstGeom>
          <a:solidFill>
            <a:srgbClr val="EFE7DD"/>
          </a:solidFill>
          <a:ln w="9525">
            <a:solidFill>
              <a:srgbClr val="B7ADA0"/>
            </a:solidFill>
            <a:prstDash val="solid"/>
          </a:ln>
        </p:spPr>
      </p:sp>
      <p:sp>
        <p:nvSpPr>
          <p:cNvPr id="43" name="矩形 42"/>
          <p:cNvSpPr>
            <a:spLocks noGrp="1"/>
          </p:cNvSpPr>
          <p:nvPr/>
        </p:nvSpPr>
        <p:spPr>
          <a:xfrm>
            <a:off x="8801100" y="3714750"/>
            <a:ext cx="933450" cy="552450"/>
          </a:xfrm>
          <a:prstGeom prst="rect">
            <a:avLst/>
          </a:prstGeom>
          <a:noFill/>
          <a:ln w="0">
            <a:noFill/>
            <a:prstDash val="solid"/>
          </a:ln>
        </p:spPr>
        <p:txBody>
          <a:bodyPr/>
          <a:lstStyle/>
          <a:p>
            <a:pPr algn="ctr">
              <a:buNone/>
              <a:defRPr sz="1275">
                <a:solidFill>
                  <a:srgbClr val="1C2430"/>
                </a:solidFill>
              </a:defRPr>
            </a:pPr>
            <a:r>
              <a:rPr sz="1275">
                <a:solidFill>
                  <a:srgbClr val="1C2430"/>
                </a:solidFill>
              </a:rPr>
              <a:t>Choose escalate or restrain</a:t>
            </a:r>
          </a:p>
        </p:txBody>
      </p:sp>
      <p:sp>
        <p:nvSpPr>
          <p:cNvPr id="44" name="矩形 43"/>
          <p:cNvSpPr>
            <a:spLocks noGrp="1"/>
          </p:cNvSpPr>
          <p:nvPr/>
        </p:nvSpPr>
        <p:spPr>
          <a:xfrm>
            <a:off x="9829800" y="3867150"/>
            <a:ext cx="209550" cy="190500"/>
          </a:xfrm>
          <a:prstGeom prst="rect">
            <a:avLst/>
          </a:prstGeom>
          <a:noFill/>
          <a:ln w="0">
            <a:noFill/>
            <a:prstDash val="solid"/>
          </a:ln>
        </p:spPr>
        <p:txBody>
          <a:bodyPr/>
          <a:lstStyle/>
          <a:p>
            <a:pPr algn="ctr">
              <a:buNone/>
              <a:defRPr sz="1650" b="1">
                <a:solidFill>
                  <a:srgbClr val="5F6875"/>
                </a:solidFill>
              </a:defRPr>
            </a:pPr>
            <a:r>
              <a:rPr sz="1650" b="1">
                <a:solidFill>
                  <a:srgbClr val="5F6875"/>
                </a:solidFill>
              </a:rPr>
              <a:t>→</a:t>
            </a:r>
          </a:p>
        </p:txBody>
      </p:sp>
      <p:sp>
        <p:nvSpPr>
          <p:cNvPr id="45" name="圆角矩形 44"/>
          <p:cNvSpPr>
            <a:spLocks noGrp="1"/>
          </p:cNvSpPr>
          <p:nvPr/>
        </p:nvSpPr>
        <p:spPr>
          <a:xfrm>
            <a:off x="9982200" y="3429000"/>
            <a:ext cx="1162050" cy="1123950"/>
          </a:xfrm>
          <a:prstGeom prst="roundRect">
            <a:avLst>
              <a:gd name="adj" fmla="val 6780"/>
            </a:avLst>
          </a:prstGeom>
          <a:solidFill>
            <a:srgbClr val="F9F6F0"/>
          </a:solidFill>
          <a:ln w="9525">
            <a:solidFill>
              <a:srgbClr val="B7ADA0"/>
            </a:solidFill>
            <a:prstDash val="solid"/>
          </a:ln>
        </p:spPr>
      </p:sp>
      <p:sp>
        <p:nvSpPr>
          <p:cNvPr id="46" name="矩形 45"/>
          <p:cNvSpPr>
            <a:spLocks noGrp="1"/>
          </p:cNvSpPr>
          <p:nvPr/>
        </p:nvSpPr>
        <p:spPr>
          <a:xfrm>
            <a:off x="10096500" y="3714750"/>
            <a:ext cx="933450" cy="552450"/>
          </a:xfrm>
          <a:prstGeom prst="rect">
            <a:avLst/>
          </a:prstGeom>
          <a:noFill/>
          <a:ln w="0">
            <a:noFill/>
            <a:prstDash val="solid"/>
          </a:ln>
        </p:spPr>
        <p:txBody>
          <a:bodyPr/>
          <a:lstStyle/>
          <a:p>
            <a:pPr algn="ctr">
              <a:buNone/>
              <a:defRPr sz="1275">
                <a:solidFill>
                  <a:srgbClr val="1C2430"/>
                </a:solidFill>
              </a:defRPr>
            </a:pPr>
            <a:r>
              <a:rPr sz="1275">
                <a:solidFill>
                  <a:srgbClr val="1C2430"/>
                </a:solidFill>
              </a:rPr>
              <a:t>Observe round outcome</a:t>
            </a:r>
          </a:p>
        </p:txBody>
      </p:sp>
      <p:sp>
        <p:nvSpPr>
          <p:cNvPr id="47" name="矩形 46"/>
          <p:cNvSpPr>
            <a:spLocks noGrp="1"/>
          </p:cNvSpPr>
          <p:nvPr/>
        </p:nvSpPr>
        <p:spPr>
          <a:xfrm>
            <a:off x="4819650" y="4953000"/>
            <a:ext cx="6000750" cy="438150"/>
          </a:xfrm>
          <a:prstGeom prst="rect">
            <a:avLst/>
          </a:prstGeom>
          <a:noFill/>
          <a:ln w="0">
            <a:noFill/>
            <a:prstDash val="solid"/>
          </a:ln>
        </p:spPr>
        <p:txBody>
          <a:bodyPr/>
          <a:lstStyle/>
          <a:p>
            <a:pPr>
              <a:buNone/>
              <a:defRPr sz="1425" i="1">
                <a:solidFill>
                  <a:srgbClr val="9B5D58"/>
                </a:solidFill>
              </a:defRPr>
            </a:pPr>
            <a:r>
              <a:rPr sz="1425" i="1">
                <a:solidFill>
                  <a:srgbClr val="9B5D58"/>
                </a:solidFill>
              </a:rPr>
              <a:t>The prototype holds the strategic environment fixed and varies the responsibility architecture inside the same risky choice structure.</a:t>
            </a:r>
          </a:p>
        </p:txBody>
      </p:sp>
      <p:sp>
        <p:nvSpPr>
          <p:cNvPr id="48" name="矩形 47"/>
          <p:cNvSpPr>
            <a:spLocks noGrp="1"/>
          </p:cNvSpPr>
          <p:nvPr/>
        </p:nvSpPr>
        <p:spPr>
          <a:xfrm>
            <a:off x="685800" y="6457950"/>
            <a:ext cx="10820400" cy="11430"/>
          </a:xfrm>
          <a:prstGeom prst="rect">
            <a:avLst/>
          </a:prstGeom>
          <a:solidFill>
            <a:srgbClr val="B7ADA0"/>
          </a:solidFill>
          <a:ln w="0">
            <a:solidFill>
              <a:srgbClr val="B7ADA0"/>
            </a:solidFill>
            <a:prstDash val="solid"/>
          </a:ln>
        </p:spPr>
      </p:sp>
      <p:sp>
        <p:nvSpPr>
          <p:cNvPr id="49" name="矩形 48"/>
          <p:cNvSpPr>
            <a:spLocks noGrp="1"/>
          </p:cNvSpPr>
          <p:nvPr/>
        </p:nvSpPr>
        <p:spPr>
          <a:xfrm>
            <a:off x="685800" y="6534150"/>
            <a:ext cx="1905000" cy="171450"/>
          </a:xfrm>
          <a:prstGeom prst="rect">
            <a:avLst/>
          </a:prstGeom>
          <a:noFill/>
          <a:ln w="0">
            <a:noFill/>
            <a:prstDash val="solid"/>
          </a:ln>
        </p:spPr>
        <p:txBody>
          <a:bodyPr/>
          <a:lstStyle/>
          <a:p>
            <a:pPr>
              <a:buNone/>
              <a:defRPr sz="900" b="1">
                <a:solidFill>
                  <a:srgbClr val="5F6875"/>
                </a:solidFill>
              </a:defRPr>
            </a:pPr>
            <a:r>
              <a:rPr sz="900" b="1">
                <a:solidFill>
                  <a:srgbClr val="5F6875"/>
                </a:solidFill>
              </a:rPr>
              <a:t>PAPER 3</a:t>
            </a:r>
          </a:p>
        </p:txBody>
      </p:sp>
      <p:sp>
        <p:nvSpPr>
          <p:cNvPr id="50" name="矩形 49"/>
          <p:cNvSpPr>
            <a:spLocks noGrp="1"/>
          </p:cNvSpPr>
          <p:nvPr/>
        </p:nvSpPr>
        <p:spPr>
          <a:xfrm>
            <a:off x="11125200" y="6534150"/>
            <a:ext cx="381000" cy="171450"/>
          </a:xfrm>
          <a:prstGeom prst="rect">
            <a:avLst/>
          </a:prstGeom>
          <a:noFill/>
          <a:ln w="0">
            <a:noFill/>
            <a:prstDash val="solid"/>
          </a:ln>
        </p:spPr>
        <p:txBody>
          <a:bodyPr/>
          <a:lstStyle/>
          <a:p>
            <a:pPr algn="r">
              <a:buNone/>
              <a:defRPr sz="900">
                <a:solidFill>
                  <a:srgbClr val="5F6875"/>
                </a:solidFill>
              </a:defRPr>
            </a:pPr>
            <a:r>
              <a:rPr sz="900">
                <a:solidFill>
                  <a:srgbClr val="5F6875"/>
                </a:solidFill>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EFE6"/>
        </a:solidFill>
        <a:effectLst/>
      </p:bgPr>
    </p:bg>
    <p:spTree>
      <p:nvGrpSpPr>
        <p:cNvPr id="1" name=""/>
        <p:cNvGrpSpPr/>
        <p:nvPr/>
      </p:nvGrpSpPr>
      <p:grpSpPr>
        <a:xfrm>
          <a:off x="0" y="0"/>
          <a:ext cx="0" cy="0"/>
          <a:chOff x="0" y="0"/>
          <a:chExt cx="0" cy="0"/>
        </a:xfrm>
      </p:grpSpPr>
      <p:sp>
        <p:nvSpPr>
          <p:cNvPr id="2" name="矩形 1"/>
          <p:cNvSpPr>
            <a:spLocks noGrp="1"/>
          </p:cNvSpPr>
          <p:nvPr/>
        </p:nvSpPr>
        <p:spPr>
          <a:xfrm>
            <a:off x="685800" y="590550"/>
            <a:ext cx="9677400" cy="152400"/>
          </a:xfrm>
          <a:prstGeom prst="rect">
            <a:avLst/>
          </a:prstGeom>
          <a:noFill/>
          <a:ln w="0">
            <a:noFill/>
            <a:prstDash val="solid"/>
          </a:ln>
        </p:spPr>
        <p:txBody>
          <a:bodyPr wrap="square" lIns="0" tIns="0" rIns="0" bIns="0" anchor="t">
            <a:normAutofit/>
          </a:bodyPr>
          <a:lstStyle/>
          <a:p>
            <a:pPr algn="l">
              <a:lnSpc>
                <a:spcPct val="105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a:ea typeface="Times New Roman" panose="02020603050405020304"/>
                <a:cs typeface="Times New Roman" panose="02020603050405020304"/>
              </a:rPr>
              <a:t>METHOD MAP</a:t>
            </a:r>
          </a:p>
        </p:txBody>
      </p:sp>
      <p:sp>
        <p:nvSpPr>
          <p:cNvPr id="3" name="矩形 2"/>
          <p:cNvSpPr>
            <a:spLocks noGrp="1"/>
          </p:cNvSpPr>
          <p:nvPr/>
        </p:nvSpPr>
        <p:spPr>
          <a:xfrm>
            <a:off x="685800" y="742950"/>
            <a:ext cx="9677400" cy="628650"/>
          </a:xfrm>
          <a:prstGeom prst="rect">
            <a:avLst/>
          </a:prstGeom>
          <a:noFill/>
          <a:ln w="0">
            <a:noFill/>
            <a:prstDash val="solid"/>
          </a:ln>
        </p:spPr>
        <p:txBody>
          <a:bodyPr wrap="square" lIns="0" tIns="0" rIns="0" bIns="0" anchor="t">
            <a:normAutofit/>
          </a:bodyPr>
          <a:lstStyle/>
          <a:p>
            <a:pPr algn="l">
              <a:lnSpc>
                <a:spcPct val="98000"/>
              </a:lnSpc>
              <a:buNone/>
              <a:defRPr sz="2550" b="1" i="0">
                <a:solidFill>
                  <a:srgbClr val="231D17"/>
                </a:solidFill>
                <a:latin typeface="Times New Roman" panose="02020603050405020304"/>
                <a:ea typeface="Times New Roman" panose="02020603050405020304"/>
                <a:cs typeface="Times New Roman" panose="02020603050405020304"/>
              </a:defRPr>
            </a:pPr>
            <a:r>
              <a:rPr sz="2550" b="1" i="0">
                <a:solidFill>
                  <a:srgbClr val="231D17"/>
                </a:solidFill>
                <a:latin typeface="Times New Roman" panose="02020603050405020304"/>
                <a:ea typeface="Times New Roman" panose="02020603050405020304"/>
                <a:cs typeface="Times New Roman" panose="02020603050405020304"/>
              </a:rPr>
              <a:t>RQ -&gt; manipulation -&gt; comparison -&gt; what each contrast identifies</a:t>
            </a:r>
          </a:p>
        </p:txBody>
      </p:sp>
      <p:sp>
        <p:nvSpPr>
          <p:cNvPr id="4" name="矩形 3"/>
          <p:cNvSpPr>
            <a:spLocks noGrp="1"/>
          </p:cNvSpPr>
          <p:nvPr/>
        </p:nvSpPr>
        <p:spPr>
          <a:xfrm>
            <a:off x="685800" y="1409700"/>
            <a:ext cx="10820400" cy="11430"/>
          </a:xfrm>
          <a:prstGeom prst="rect">
            <a:avLst/>
          </a:prstGeom>
          <a:solidFill>
            <a:srgbClr val="B7ADA0"/>
          </a:solidFill>
          <a:ln w="0">
            <a:solidFill>
              <a:srgbClr val="B7ADA0"/>
            </a:solidFill>
            <a:prstDash val="solid"/>
          </a:ln>
        </p:spPr>
      </p:sp>
      <p:pic>
        <p:nvPicPr>
          <p:cNvPr id="13" name="图片 11"/>
          <p:cNvPicPr>
            <a:picLocks noChangeAspect="1"/>
          </p:cNvPicPr>
          <p:nvPr/>
        </p:nvPicPr>
        <p:blipFill>
          <a:blip r:embed="rId3"/>
          <a:stretch>
            <a:fillRect/>
          </a:stretch>
        </p:blipFill>
        <p:spPr>
          <a:xfrm>
            <a:off x="800100" y="1718265"/>
            <a:ext cx="10591800" cy="3764369"/>
          </a:xfrm>
          <a:prstGeom prst="rect">
            <a:avLst/>
          </a:prstGeom>
        </p:spPr>
      </p:pic>
      <p:sp>
        <p:nvSpPr>
          <p:cNvPr id="5" name="矩形 4"/>
          <p:cNvSpPr>
            <a:spLocks noGrp="1"/>
          </p:cNvSpPr>
          <p:nvPr/>
        </p:nvSpPr>
        <p:spPr>
          <a:xfrm>
            <a:off x="819150" y="6019800"/>
            <a:ext cx="9239250" cy="171450"/>
          </a:xfrm>
          <a:prstGeom prst="rect">
            <a:avLst/>
          </a:prstGeom>
          <a:noFill/>
          <a:ln w="0">
            <a:noFill/>
            <a:prstDash val="solid"/>
          </a:ln>
        </p:spPr>
        <p:txBody>
          <a:bodyPr wrap="square" lIns="0" tIns="0" rIns="0" bIns="0" anchor="t">
            <a:normAutofit fontScale="95238"/>
          </a:bodyPr>
          <a:lstStyle/>
          <a:p>
            <a:pPr algn="l">
              <a:lnSpc>
                <a:spcPct val="105000"/>
              </a:lnSpc>
              <a:buNone/>
              <a:defRPr sz="1125" b="1" i="0">
                <a:solidFill>
                  <a:srgbClr val="231D17"/>
                </a:solidFill>
                <a:latin typeface="Times New Roman" panose="02020603050405020304"/>
                <a:ea typeface="Times New Roman" panose="02020603050405020304"/>
                <a:cs typeface="Times New Roman" panose="02020603050405020304"/>
              </a:defRPr>
            </a:pPr>
            <a:r>
              <a:rPr sz="1125" b="1" i="0">
                <a:solidFill>
                  <a:srgbClr val="231D17"/>
                </a:solidFill>
                <a:latin typeface="Times New Roman" panose="02020603050405020304"/>
                <a:ea typeface="Times New Roman" panose="02020603050405020304"/>
                <a:cs typeface="Times New Roman" panose="02020603050405020304"/>
              </a:rPr>
              <a:t>The method page should make the four conditions readable: Human-only, AI-baseline, AI-confirm, and AI-disclosure.</a:t>
            </a:r>
          </a:p>
        </p:txBody>
      </p:sp>
      <p:sp>
        <p:nvSpPr>
          <p:cNvPr id="6" name="矩形 5"/>
          <p:cNvSpPr>
            <a:spLocks noGrp="1"/>
          </p:cNvSpPr>
          <p:nvPr/>
        </p:nvSpPr>
        <p:spPr>
          <a:xfrm>
            <a:off x="685800" y="6457950"/>
            <a:ext cx="10820400" cy="11430"/>
          </a:xfrm>
          <a:prstGeom prst="rect">
            <a:avLst/>
          </a:prstGeom>
          <a:solidFill>
            <a:srgbClr val="B7ADA0"/>
          </a:solidFill>
          <a:ln w="0">
            <a:solidFill>
              <a:srgbClr val="B7ADA0"/>
            </a:solidFill>
            <a:prstDash val="solid"/>
          </a:ln>
        </p:spPr>
      </p:sp>
      <p:sp>
        <p:nvSpPr>
          <p:cNvPr id="7" name="矩形 6"/>
          <p:cNvSpPr>
            <a:spLocks noGrp="1"/>
          </p:cNvSpPr>
          <p:nvPr/>
        </p:nvSpPr>
        <p:spPr>
          <a:xfrm>
            <a:off x="685800" y="6534150"/>
            <a:ext cx="1905000" cy="171450"/>
          </a:xfrm>
          <a:prstGeom prst="rect">
            <a:avLst/>
          </a:prstGeom>
          <a:noFill/>
          <a:ln w="0">
            <a:noFill/>
            <a:prstDash val="solid"/>
          </a:ln>
        </p:spPr>
        <p:txBody>
          <a:bodyPr/>
          <a:lstStyle/>
          <a:p>
            <a:pPr>
              <a:buNone/>
              <a:defRPr sz="900" b="1">
                <a:solidFill>
                  <a:srgbClr val="5F6875"/>
                </a:solidFill>
              </a:defRPr>
            </a:pPr>
            <a:r>
              <a:rPr sz="900" b="1">
                <a:solidFill>
                  <a:srgbClr val="5F6875"/>
                </a:solidFill>
              </a:rPr>
              <a:t>PAPER 3</a:t>
            </a:r>
          </a:p>
        </p:txBody>
      </p:sp>
      <p:sp>
        <p:nvSpPr>
          <p:cNvPr id="8" name="矩形 7"/>
          <p:cNvSpPr>
            <a:spLocks noGrp="1"/>
          </p:cNvSpPr>
          <p:nvPr/>
        </p:nvSpPr>
        <p:spPr>
          <a:xfrm>
            <a:off x="11125200" y="6534150"/>
            <a:ext cx="381000" cy="171450"/>
          </a:xfrm>
          <a:prstGeom prst="rect">
            <a:avLst/>
          </a:prstGeom>
          <a:noFill/>
          <a:ln w="0">
            <a:noFill/>
            <a:prstDash val="solid"/>
          </a:ln>
        </p:spPr>
        <p:txBody>
          <a:bodyPr/>
          <a:lstStyle/>
          <a:p>
            <a:pPr algn="r">
              <a:buNone/>
              <a:defRPr sz="900">
                <a:solidFill>
                  <a:srgbClr val="5F6875"/>
                </a:solidFill>
              </a:defRPr>
            </a:pPr>
            <a:r>
              <a:rPr sz="900">
                <a:solidFill>
                  <a:srgbClr val="5F6875"/>
                </a:solidFill>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EFE6"/>
        </a:solidFill>
        <a:effectLst/>
      </p:bgPr>
    </p:bg>
    <p:spTree>
      <p:nvGrpSpPr>
        <p:cNvPr id="1" name=""/>
        <p:cNvGrpSpPr/>
        <p:nvPr/>
      </p:nvGrpSpPr>
      <p:grpSpPr>
        <a:xfrm>
          <a:off x="0" y="0"/>
          <a:ext cx="0" cy="0"/>
          <a:chOff x="0" y="0"/>
          <a:chExt cx="0" cy="0"/>
        </a:xfrm>
      </p:grpSpPr>
      <p:sp>
        <p:nvSpPr>
          <p:cNvPr id="2" name="矩形 1"/>
          <p:cNvSpPr>
            <a:spLocks noGrp="1"/>
          </p:cNvSpPr>
          <p:nvPr/>
        </p:nvSpPr>
        <p:spPr>
          <a:xfrm>
            <a:off x="685800" y="590550"/>
            <a:ext cx="9677400" cy="152400"/>
          </a:xfrm>
          <a:prstGeom prst="rect">
            <a:avLst/>
          </a:prstGeom>
          <a:noFill/>
          <a:ln w="0">
            <a:noFill/>
            <a:prstDash val="solid"/>
          </a:ln>
        </p:spPr>
        <p:txBody>
          <a:bodyPr wrap="square" lIns="0" tIns="0" rIns="0" bIns="0" anchor="t">
            <a:normAutofit/>
          </a:bodyPr>
          <a:lstStyle/>
          <a:p>
            <a:pPr algn="l">
              <a:lnSpc>
                <a:spcPct val="105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charset="0"/>
                <a:ea typeface="Times New Roman" panose="02020603050405020304"/>
                <a:cs typeface="Times New Roman" panose="02020603050405020304" charset="0"/>
              </a:rPr>
              <a:t>CONTRIBUTION</a:t>
            </a:r>
          </a:p>
        </p:txBody>
      </p:sp>
      <p:sp>
        <p:nvSpPr>
          <p:cNvPr id="3" name="矩形 2"/>
          <p:cNvSpPr>
            <a:spLocks noGrp="1"/>
          </p:cNvSpPr>
          <p:nvPr/>
        </p:nvSpPr>
        <p:spPr>
          <a:xfrm>
            <a:off x="685800" y="742950"/>
            <a:ext cx="9677400" cy="628650"/>
          </a:xfrm>
          <a:prstGeom prst="rect">
            <a:avLst/>
          </a:prstGeom>
          <a:noFill/>
          <a:ln w="0">
            <a:noFill/>
            <a:prstDash val="solid"/>
          </a:ln>
        </p:spPr>
        <p:txBody>
          <a:bodyPr wrap="square" lIns="0" tIns="0" rIns="0" bIns="0" anchor="t">
            <a:normAutofit fontScale="82533"/>
          </a:bodyPr>
          <a:lstStyle/>
          <a:p>
            <a:pPr algn="l">
              <a:lnSpc>
                <a:spcPct val="98000"/>
              </a:lnSpc>
              <a:buNone/>
              <a:defRPr sz="2550" b="1" i="0">
                <a:solidFill>
                  <a:srgbClr val="231D17"/>
                </a:solidFill>
                <a:latin typeface="Times New Roman" panose="02020603050405020304"/>
                <a:ea typeface="Times New Roman" panose="02020603050405020304"/>
                <a:cs typeface="Times New Roman" panose="02020603050405020304"/>
              </a:defRPr>
            </a:pPr>
            <a:r>
              <a:rPr sz="2550" b="1" i="0">
                <a:solidFill>
                  <a:srgbClr val="231D17"/>
                </a:solidFill>
                <a:latin typeface="Times New Roman" panose="02020603050405020304" charset="0"/>
                <a:ea typeface="Times New Roman" panose="02020603050405020304"/>
                <a:cs typeface="Times New Roman" panose="02020603050405020304" charset="0"/>
              </a:rPr>
              <a:t>The contribution is to identify where AI changes responsibility before outcomes occur</a:t>
            </a:r>
          </a:p>
        </p:txBody>
      </p:sp>
      <p:sp>
        <p:nvSpPr>
          <p:cNvPr id="4" name="矩形 3"/>
          <p:cNvSpPr>
            <a:spLocks noGrp="1"/>
          </p:cNvSpPr>
          <p:nvPr/>
        </p:nvSpPr>
        <p:spPr>
          <a:xfrm>
            <a:off x="685800" y="1409700"/>
            <a:ext cx="10820400" cy="11430"/>
          </a:xfrm>
          <a:prstGeom prst="rect">
            <a:avLst/>
          </a:prstGeom>
          <a:solidFill>
            <a:srgbClr val="B7ADA0"/>
          </a:solidFill>
          <a:ln w="0">
            <a:solidFill>
              <a:srgbClr val="B7ADA0"/>
            </a:solidFill>
            <a:prstDash val="solid"/>
          </a:ln>
        </p:spPr>
      </p:sp>
      <p:sp>
        <p:nvSpPr>
          <p:cNvPr id="5" name="圆角矩形 4"/>
          <p:cNvSpPr>
            <a:spLocks noGrp="1"/>
          </p:cNvSpPr>
          <p:nvPr>
            <p:custDataLst>
              <p:tags r:id="rId1"/>
            </p:custDataLst>
          </p:nvPr>
        </p:nvSpPr>
        <p:spPr>
          <a:xfrm>
            <a:off x="838200" y="1714500"/>
            <a:ext cx="3048000" cy="3219450"/>
          </a:xfrm>
          <a:prstGeom prst="roundRect">
            <a:avLst>
              <a:gd name="adj" fmla="val 3750"/>
            </a:avLst>
          </a:prstGeom>
          <a:solidFill>
            <a:srgbClr val="E9EDF1"/>
          </a:solidFill>
          <a:ln w="9525">
            <a:solidFill>
              <a:srgbClr val="B7ADA0"/>
            </a:solidFill>
            <a:prstDash val="solid"/>
          </a:ln>
        </p:spPr>
      </p:sp>
      <p:sp>
        <p:nvSpPr>
          <p:cNvPr id="6" name="矩形 5"/>
          <p:cNvSpPr>
            <a:spLocks noGrp="1"/>
          </p:cNvSpPr>
          <p:nvPr>
            <p:custDataLst>
              <p:tags r:id="rId2"/>
            </p:custDataLst>
          </p:nvPr>
        </p:nvSpPr>
        <p:spPr>
          <a:xfrm>
            <a:off x="1066800" y="1981200"/>
            <a:ext cx="2286000" cy="266700"/>
          </a:xfrm>
          <a:prstGeom prst="rect">
            <a:avLst/>
          </a:prstGeom>
          <a:noFill/>
          <a:ln w="0">
            <a:noFill/>
            <a:prstDash val="solid"/>
          </a:ln>
        </p:spPr>
        <p:txBody>
          <a:bodyPr/>
          <a:lstStyle/>
          <a:p>
            <a:pPr>
              <a:buNone/>
              <a:defRPr sz="1800" b="1">
                <a:solidFill>
                  <a:srgbClr val="23364A"/>
                </a:solidFill>
              </a:defRPr>
            </a:pPr>
            <a:r>
              <a:rPr sz="1800" b="1">
                <a:solidFill>
                  <a:srgbClr val="23364A"/>
                </a:solidFill>
                <a:latin typeface="Times New Roman" panose="02020603050405020304" charset="0"/>
                <a:cs typeface="Times New Roman" panose="02020603050405020304" charset="0"/>
              </a:rPr>
              <a:t>Expected pattern</a:t>
            </a:r>
          </a:p>
        </p:txBody>
      </p:sp>
      <p:sp>
        <p:nvSpPr>
          <p:cNvPr id="7" name="矩形 6"/>
          <p:cNvSpPr>
            <a:spLocks noGrp="1"/>
          </p:cNvSpPr>
          <p:nvPr>
            <p:custDataLst>
              <p:tags r:id="rId3"/>
            </p:custDataLst>
          </p:nvPr>
        </p:nvSpPr>
        <p:spPr>
          <a:xfrm>
            <a:off x="1066800" y="2476500"/>
            <a:ext cx="2438400" cy="838200"/>
          </a:xfrm>
          <a:prstGeom prst="rect">
            <a:avLst/>
          </a:prstGeom>
          <a:noFill/>
          <a:ln w="0">
            <a:noFill/>
            <a:prstDash val="solid"/>
          </a:ln>
        </p:spPr>
        <p:txBody>
          <a:bodyPr/>
          <a:lstStyle/>
          <a:p>
            <a:pPr>
              <a:buNone/>
              <a:defRPr sz="1350">
                <a:solidFill>
                  <a:srgbClr val="1C2430"/>
                </a:solidFill>
              </a:defRPr>
            </a:pPr>
            <a:r>
              <a:rPr sz="1350">
                <a:solidFill>
                  <a:srgbClr val="1C2430"/>
                </a:solidFill>
                <a:latin typeface="Times New Roman" panose="02020603050405020304" charset="0"/>
                <a:cs typeface="Times New Roman" panose="02020603050405020304" charset="0"/>
              </a:rPr>
              <a:t>• AI support may already shift escalation and responsibility perception.</a:t>
            </a:r>
          </a:p>
          <a:p>
            <a:pPr>
              <a:buNone/>
              <a:defRPr sz="1350">
                <a:solidFill>
                  <a:srgbClr val="1C2430"/>
                </a:solidFill>
              </a:defRPr>
            </a:pPr>
            <a:r>
              <a:rPr sz="1350">
                <a:solidFill>
                  <a:srgbClr val="1C2430"/>
                </a:solidFill>
                <a:latin typeface="Times New Roman" panose="02020603050405020304" charset="0"/>
                <a:cs typeface="Times New Roman" panose="02020603050405020304" charset="0"/>
              </a:rPr>
              <a:t>• Confirm may raise ownership by making human passage explicit.</a:t>
            </a:r>
          </a:p>
          <a:p>
            <a:pPr>
              <a:buNone/>
              <a:defRPr sz="1350">
                <a:solidFill>
                  <a:srgbClr val="1C2430"/>
                </a:solidFill>
              </a:defRPr>
            </a:pPr>
            <a:r>
              <a:rPr sz="1350">
                <a:solidFill>
                  <a:srgbClr val="1C2430"/>
                </a:solidFill>
                <a:latin typeface="Times New Roman" panose="02020603050405020304" charset="0"/>
                <a:cs typeface="Times New Roman" panose="02020603050405020304" charset="0"/>
              </a:rPr>
              <a:t>• Disclosure may strengthen answerability or normalize responsibility sharing.</a:t>
            </a:r>
          </a:p>
        </p:txBody>
      </p:sp>
      <p:sp>
        <p:nvSpPr>
          <p:cNvPr id="8" name="圆角矩形 7"/>
          <p:cNvSpPr>
            <a:spLocks noGrp="1"/>
          </p:cNvSpPr>
          <p:nvPr>
            <p:custDataLst>
              <p:tags r:id="rId4"/>
            </p:custDataLst>
          </p:nvPr>
        </p:nvSpPr>
        <p:spPr>
          <a:xfrm>
            <a:off x="4267200" y="1714500"/>
            <a:ext cx="3048000" cy="3219450"/>
          </a:xfrm>
          <a:prstGeom prst="roundRect">
            <a:avLst>
              <a:gd name="adj" fmla="val 3750"/>
            </a:avLst>
          </a:prstGeom>
          <a:solidFill>
            <a:srgbClr val="E9DED5"/>
          </a:solidFill>
          <a:ln w="9525">
            <a:solidFill>
              <a:srgbClr val="B7ADA0"/>
            </a:solidFill>
            <a:prstDash val="solid"/>
          </a:ln>
        </p:spPr>
      </p:sp>
      <p:sp>
        <p:nvSpPr>
          <p:cNvPr id="9" name="矩形 8"/>
          <p:cNvSpPr>
            <a:spLocks noGrp="1"/>
          </p:cNvSpPr>
          <p:nvPr>
            <p:custDataLst>
              <p:tags r:id="rId5"/>
            </p:custDataLst>
          </p:nvPr>
        </p:nvSpPr>
        <p:spPr>
          <a:xfrm>
            <a:off x="4495800" y="1981200"/>
            <a:ext cx="2286000" cy="266700"/>
          </a:xfrm>
          <a:prstGeom prst="rect">
            <a:avLst/>
          </a:prstGeom>
          <a:noFill/>
          <a:ln w="0">
            <a:noFill/>
            <a:prstDash val="solid"/>
          </a:ln>
        </p:spPr>
        <p:txBody>
          <a:bodyPr/>
          <a:lstStyle/>
          <a:p>
            <a:pPr>
              <a:buNone/>
              <a:defRPr sz="1800" b="1">
                <a:solidFill>
                  <a:srgbClr val="23364A"/>
                </a:solidFill>
              </a:defRPr>
            </a:pPr>
            <a:r>
              <a:rPr sz="1800" b="1">
                <a:solidFill>
                  <a:srgbClr val="23364A"/>
                </a:solidFill>
                <a:latin typeface="Times New Roman" panose="02020603050405020304" charset="0"/>
                <a:cs typeface="Times New Roman" panose="02020603050405020304" charset="0"/>
              </a:rPr>
              <a:t>Mechanism interpretation</a:t>
            </a:r>
          </a:p>
        </p:txBody>
      </p:sp>
      <p:sp>
        <p:nvSpPr>
          <p:cNvPr id="10" name="矩形 9"/>
          <p:cNvSpPr>
            <a:spLocks noGrp="1"/>
          </p:cNvSpPr>
          <p:nvPr>
            <p:custDataLst>
              <p:tags r:id="rId6"/>
            </p:custDataLst>
          </p:nvPr>
        </p:nvSpPr>
        <p:spPr>
          <a:xfrm>
            <a:off x="4495800" y="2476500"/>
            <a:ext cx="2438400" cy="838200"/>
          </a:xfrm>
          <a:prstGeom prst="rect">
            <a:avLst/>
          </a:prstGeom>
          <a:noFill/>
          <a:ln w="0">
            <a:noFill/>
            <a:prstDash val="solid"/>
          </a:ln>
        </p:spPr>
        <p:txBody>
          <a:bodyPr/>
          <a:lstStyle/>
          <a:p>
            <a:pPr>
              <a:buNone/>
              <a:defRPr sz="1350">
                <a:solidFill>
                  <a:srgbClr val="1C2430"/>
                </a:solidFill>
              </a:defRPr>
            </a:pPr>
            <a:r>
              <a:rPr sz="1350">
                <a:solidFill>
                  <a:srgbClr val="1C2430"/>
                </a:solidFill>
                <a:latin typeface="Times New Roman" panose="02020603050405020304" charset="0"/>
                <a:cs typeface="Times New Roman" panose="02020603050405020304" charset="0"/>
              </a:rPr>
              <a:t>• Structural accountability and felt accountability do not have to move together.</a:t>
            </a:r>
          </a:p>
          <a:p>
            <a:pPr>
              <a:buNone/>
              <a:defRPr sz="1350">
                <a:solidFill>
                  <a:srgbClr val="1C2430"/>
                </a:solidFill>
              </a:defRPr>
            </a:pPr>
            <a:r>
              <a:rPr sz="1350">
                <a:solidFill>
                  <a:srgbClr val="1C2430"/>
                </a:solidFill>
                <a:latin typeface="Times New Roman" panose="02020603050405020304" charset="0"/>
                <a:cs typeface="Times New Roman" panose="02020603050405020304" charset="0"/>
              </a:rPr>
              <a:t>• If behavior changes move with ownership and answerability, the responsibility mechanism is more credible.</a:t>
            </a:r>
          </a:p>
          <a:p>
            <a:pPr>
              <a:buNone/>
              <a:defRPr sz="1350">
                <a:solidFill>
                  <a:srgbClr val="1C2430"/>
                </a:solidFill>
              </a:defRPr>
            </a:pPr>
            <a:r>
              <a:rPr sz="1350">
                <a:solidFill>
                  <a:srgbClr val="1C2430"/>
                </a:solidFill>
                <a:latin typeface="Times New Roman" panose="02020603050405020304" charset="0"/>
                <a:cs typeface="Times New Roman" panose="02020603050405020304" charset="0"/>
              </a:rPr>
              <a:t>• If not, competing mechanisms remain on the table.</a:t>
            </a:r>
          </a:p>
        </p:txBody>
      </p:sp>
      <p:sp>
        <p:nvSpPr>
          <p:cNvPr id="11" name="圆角矩形 10"/>
          <p:cNvSpPr>
            <a:spLocks noGrp="1"/>
          </p:cNvSpPr>
          <p:nvPr>
            <p:custDataLst>
              <p:tags r:id="rId7"/>
            </p:custDataLst>
          </p:nvPr>
        </p:nvSpPr>
        <p:spPr>
          <a:xfrm>
            <a:off x="7696200" y="1714500"/>
            <a:ext cx="3048000" cy="3219450"/>
          </a:xfrm>
          <a:prstGeom prst="roundRect">
            <a:avLst>
              <a:gd name="adj" fmla="val 3750"/>
            </a:avLst>
          </a:prstGeom>
          <a:solidFill>
            <a:srgbClr val="E7E9E0"/>
          </a:solidFill>
          <a:ln w="9525">
            <a:solidFill>
              <a:srgbClr val="B7ADA0"/>
            </a:solidFill>
            <a:prstDash val="solid"/>
          </a:ln>
        </p:spPr>
      </p:sp>
      <p:sp>
        <p:nvSpPr>
          <p:cNvPr id="12" name="矩形 11"/>
          <p:cNvSpPr>
            <a:spLocks noGrp="1"/>
          </p:cNvSpPr>
          <p:nvPr>
            <p:custDataLst>
              <p:tags r:id="rId8"/>
            </p:custDataLst>
          </p:nvPr>
        </p:nvSpPr>
        <p:spPr>
          <a:xfrm>
            <a:off x="7924800" y="1981200"/>
            <a:ext cx="2286000" cy="266700"/>
          </a:xfrm>
          <a:prstGeom prst="rect">
            <a:avLst/>
          </a:prstGeom>
          <a:noFill/>
          <a:ln w="0">
            <a:noFill/>
            <a:prstDash val="solid"/>
          </a:ln>
        </p:spPr>
        <p:txBody>
          <a:bodyPr/>
          <a:lstStyle/>
          <a:p>
            <a:pPr>
              <a:buNone/>
              <a:defRPr sz="1800" b="1">
                <a:solidFill>
                  <a:srgbClr val="23364A"/>
                </a:solidFill>
              </a:defRPr>
            </a:pPr>
            <a:r>
              <a:rPr sz="1800" b="1">
                <a:solidFill>
                  <a:srgbClr val="23364A"/>
                </a:solidFill>
                <a:latin typeface="Times New Roman" panose="02020603050405020304" charset="0"/>
                <a:cs typeface="Times New Roman" panose="02020603050405020304" charset="0"/>
              </a:rPr>
              <a:t>Dissertation role</a:t>
            </a:r>
          </a:p>
        </p:txBody>
      </p:sp>
      <p:sp>
        <p:nvSpPr>
          <p:cNvPr id="13" name="矩形 12"/>
          <p:cNvSpPr>
            <a:spLocks noGrp="1"/>
          </p:cNvSpPr>
          <p:nvPr>
            <p:custDataLst>
              <p:tags r:id="rId9"/>
            </p:custDataLst>
          </p:nvPr>
        </p:nvSpPr>
        <p:spPr>
          <a:xfrm>
            <a:off x="7924800" y="2476500"/>
            <a:ext cx="2438400" cy="838200"/>
          </a:xfrm>
          <a:prstGeom prst="rect">
            <a:avLst/>
          </a:prstGeom>
          <a:noFill/>
          <a:ln w="0">
            <a:noFill/>
            <a:prstDash val="solid"/>
          </a:ln>
        </p:spPr>
        <p:txBody>
          <a:bodyPr/>
          <a:lstStyle/>
          <a:p>
            <a:pPr>
              <a:buNone/>
              <a:defRPr sz="1350">
                <a:solidFill>
                  <a:srgbClr val="1C2430"/>
                </a:solidFill>
              </a:defRPr>
            </a:pPr>
            <a:r>
              <a:rPr sz="1350">
                <a:solidFill>
                  <a:srgbClr val="1C2430"/>
                </a:solidFill>
                <a:latin typeface="Times New Roman" panose="02020603050405020304" charset="0"/>
                <a:cs typeface="Times New Roman" panose="02020603050405020304" charset="0"/>
              </a:rPr>
              <a:t>• Paper 1 studies how AI changes evidence and belief formation.</a:t>
            </a:r>
          </a:p>
          <a:p>
            <a:pPr>
              <a:buNone/>
              <a:defRPr sz="1350">
                <a:solidFill>
                  <a:srgbClr val="1C2430"/>
                </a:solidFill>
              </a:defRPr>
            </a:pPr>
            <a:r>
              <a:rPr sz="1350">
                <a:solidFill>
                  <a:srgbClr val="1C2430"/>
                </a:solidFill>
                <a:latin typeface="Times New Roman" panose="02020603050405020304" charset="0"/>
                <a:cs typeface="Times New Roman" panose="02020603050405020304" charset="0"/>
              </a:rPr>
              <a:t>• Paper 2 studies how repeated feedback reshapes reliance calibration.</a:t>
            </a:r>
          </a:p>
          <a:p>
            <a:pPr>
              <a:buNone/>
              <a:defRPr sz="1350">
                <a:solidFill>
                  <a:srgbClr val="1C2430"/>
                </a:solidFill>
              </a:defRPr>
            </a:pPr>
            <a:r>
              <a:rPr sz="1350">
                <a:solidFill>
                  <a:srgbClr val="1C2430"/>
                </a:solidFill>
                <a:latin typeface="Times New Roman" panose="02020603050405020304" charset="0"/>
                <a:cs typeface="Times New Roman" panose="02020603050405020304" charset="0"/>
              </a:rPr>
              <a:t>• Paper 3 studies how AI-supported action reorganizes responsibility.</a:t>
            </a:r>
          </a:p>
        </p:txBody>
      </p:sp>
      <p:sp>
        <p:nvSpPr>
          <p:cNvPr id="14" name="圆角矩形 13"/>
          <p:cNvSpPr>
            <a:spLocks noGrp="1"/>
          </p:cNvSpPr>
          <p:nvPr/>
        </p:nvSpPr>
        <p:spPr>
          <a:xfrm>
            <a:off x="1619250" y="5257800"/>
            <a:ext cx="8934450" cy="781050"/>
          </a:xfrm>
          <a:prstGeom prst="roundRect">
            <a:avLst>
              <a:gd name="adj" fmla="val 19512"/>
            </a:avLst>
          </a:prstGeom>
          <a:solidFill>
            <a:srgbClr val="23364A"/>
          </a:solidFill>
          <a:ln w="0">
            <a:solidFill>
              <a:srgbClr val="23364A"/>
            </a:solidFill>
            <a:prstDash val="solid"/>
          </a:ln>
        </p:spPr>
      </p:sp>
      <p:sp>
        <p:nvSpPr>
          <p:cNvPr id="15" name="矩形 14"/>
          <p:cNvSpPr>
            <a:spLocks noGrp="1"/>
          </p:cNvSpPr>
          <p:nvPr/>
        </p:nvSpPr>
        <p:spPr>
          <a:xfrm>
            <a:off x="2019300" y="5448300"/>
            <a:ext cx="8096250" cy="476250"/>
          </a:xfrm>
          <a:prstGeom prst="rect">
            <a:avLst/>
          </a:prstGeom>
          <a:noFill/>
          <a:ln w="0">
            <a:noFill/>
            <a:prstDash val="solid"/>
          </a:ln>
        </p:spPr>
        <p:txBody>
          <a:bodyPr wrap="square" lIns="0" tIns="0" rIns="0" bIns="0" anchor="t">
            <a:normAutofit fontScale="94482"/>
          </a:bodyPr>
          <a:lstStyle/>
          <a:p>
            <a:pPr algn="l">
              <a:lnSpc>
                <a:spcPct val="105000"/>
              </a:lnSpc>
              <a:buNone/>
              <a:defRPr sz="1575" b="1" i="0">
                <a:solidFill>
                  <a:srgbClr val="231D17"/>
                </a:solidFill>
                <a:latin typeface="Times New Roman" panose="02020603050405020304"/>
                <a:ea typeface="Times New Roman" panose="02020603050405020304"/>
                <a:cs typeface="Times New Roman" panose="02020603050405020304"/>
              </a:defRPr>
            </a:pPr>
            <a:r>
              <a:rPr sz="1575" b="1" i="0">
                <a:solidFill>
                  <a:schemeClr val="bg1"/>
                </a:solidFill>
                <a:latin typeface="Times New Roman" panose="02020603050405020304" charset="0"/>
                <a:ea typeface="Times New Roman" panose="02020603050405020304"/>
                <a:cs typeface="Times New Roman" panose="02020603050405020304" charset="0"/>
              </a:rPr>
              <a:t>The key question is not only whether people use AI, but how AI system design reorganizes responsibility before action is taken.</a:t>
            </a:r>
          </a:p>
        </p:txBody>
      </p:sp>
      <p:sp>
        <p:nvSpPr>
          <p:cNvPr id="16" name="矩形 15"/>
          <p:cNvSpPr>
            <a:spLocks noGrp="1"/>
          </p:cNvSpPr>
          <p:nvPr/>
        </p:nvSpPr>
        <p:spPr>
          <a:xfrm>
            <a:off x="685800" y="6457950"/>
            <a:ext cx="10820400" cy="11430"/>
          </a:xfrm>
          <a:prstGeom prst="rect">
            <a:avLst/>
          </a:prstGeom>
          <a:solidFill>
            <a:srgbClr val="B7ADA0"/>
          </a:solidFill>
          <a:ln w="0">
            <a:solidFill>
              <a:srgbClr val="B7ADA0"/>
            </a:solidFill>
            <a:prstDash val="solid"/>
          </a:ln>
        </p:spPr>
      </p:sp>
      <p:sp>
        <p:nvSpPr>
          <p:cNvPr id="17" name="矩形 16"/>
          <p:cNvSpPr>
            <a:spLocks noGrp="1"/>
          </p:cNvSpPr>
          <p:nvPr/>
        </p:nvSpPr>
        <p:spPr>
          <a:xfrm>
            <a:off x="685800" y="6534150"/>
            <a:ext cx="1905000" cy="171450"/>
          </a:xfrm>
          <a:prstGeom prst="rect">
            <a:avLst/>
          </a:prstGeom>
          <a:noFill/>
          <a:ln w="0">
            <a:noFill/>
            <a:prstDash val="solid"/>
          </a:ln>
        </p:spPr>
        <p:txBody>
          <a:bodyPr/>
          <a:lstStyle/>
          <a:p>
            <a:pPr>
              <a:buNone/>
              <a:defRPr sz="900" b="1">
                <a:solidFill>
                  <a:srgbClr val="5F6875"/>
                </a:solidFill>
              </a:defRPr>
            </a:pPr>
            <a:r>
              <a:rPr sz="900" b="1">
                <a:solidFill>
                  <a:srgbClr val="5F6875"/>
                </a:solidFill>
                <a:latin typeface="Times New Roman" panose="02020603050405020304" charset="0"/>
                <a:cs typeface="Times New Roman" panose="02020603050405020304" charset="0"/>
              </a:rPr>
              <a:t>PAPER 3</a:t>
            </a:r>
          </a:p>
        </p:txBody>
      </p:sp>
      <p:sp>
        <p:nvSpPr>
          <p:cNvPr id="18" name="矩形 17"/>
          <p:cNvSpPr>
            <a:spLocks noGrp="1"/>
          </p:cNvSpPr>
          <p:nvPr/>
        </p:nvSpPr>
        <p:spPr>
          <a:xfrm>
            <a:off x="11125200" y="6534150"/>
            <a:ext cx="381000" cy="171450"/>
          </a:xfrm>
          <a:prstGeom prst="rect">
            <a:avLst/>
          </a:prstGeom>
          <a:noFill/>
          <a:ln w="0">
            <a:noFill/>
            <a:prstDash val="solid"/>
          </a:ln>
        </p:spPr>
        <p:txBody>
          <a:bodyPr/>
          <a:lstStyle/>
          <a:p>
            <a:pPr algn="r">
              <a:buNone/>
              <a:defRPr sz="900">
                <a:solidFill>
                  <a:srgbClr val="5F6875"/>
                </a:solidFill>
              </a:defRPr>
            </a:pPr>
            <a:r>
              <a:rPr sz="900">
                <a:solidFill>
                  <a:srgbClr val="5F6875"/>
                </a:solidFill>
                <a:latin typeface="Times New Roman" panose="02020603050405020304" charset="0"/>
                <a:cs typeface="Times New Roman" panose="02020603050405020304" charset="0"/>
              </a:rPr>
              <a:t>10</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171,&quot;left&quot;:72,&quot;top&quot;:138,&quot;width&quot;:814.5}"/>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171,&quot;left&quot;:72,&quot;top&quot;:138,&quot;width&quot;:814.5}"/>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171,&quot;left&quot;:72,&quot;top&quot;:138,&quot;width&quot;:814.5}"/>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171,&quot;left&quot;:72,&quot;top&quot;:138,&quot;width&quot;:814.5}"/>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171,&quot;left&quot;:72,&quot;top&quot;:138,&quot;width&quot;:814.5}"/>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171,&quot;left&quot;:72,&quot;top&quot;:138,&quot;width&quot;:814.5}"/>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171,&quot;left&quot;:72,&quot;top&quot;:138,&quot;width&quot;:814.5}"/>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171,&quot;left&quot;:72,&quot;top&quot;:138,&quot;width&quot;:814.5}"/>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253.5,&quot;left&quot;:66,&quot;top&quot;:135,&quot;width&quot;:780}"/>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253.5,&quot;left&quot;:66,&quot;top&quot;:135,&quot;width&quot;:780}"/>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253.5,&quot;left&quot;:66,&quot;top&quot;:135,&quot;width&quot;:780}"/>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253.5,&quot;left&quot;:66,&quot;top&quot;:135,&quot;width&quot;:780}"/>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253.5,&quot;left&quot;:66,&quot;top&quot;:135,&quot;width&quot;:780}"/>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253.5,&quot;left&quot;:66,&quot;top&quot;:135,&quot;width&quot;:780}"/>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253.5,&quot;left&quot;:66,&quot;top&quot;:135,&quot;width&quot;:780}"/>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253.5,&quot;left&quot;:66,&quot;top&quot;:135,&quot;width&quot;:780}"/>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253.5,&quot;left&quot;:66,&quot;top&quot;:135,&quot;width&quot;:780}"/>
</p:tagLst>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2385</Words>
  <Application>Microsoft Office PowerPoint</Application>
  <PresentationFormat>宽屏</PresentationFormat>
  <Paragraphs>265</Paragraphs>
  <Slides>10</Slides>
  <Notes>10</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10</vt:i4>
      </vt:variant>
    </vt:vector>
  </HeadingPairs>
  <TitlesOfParts>
    <vt:vector size="13" baseType="lpstr">
      <vt:lpstr>Calibri</vt:lpstr>
      <vt:lpstr>Times New Roman</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Xiangyu XU</cp:lastModifiedBy>
  <cp:revision>7</cp:revision>
  <dcterms:created xsi:type="dcterms:W3CDTF">2026-07-06T13:15:00Z</dcterms:created>
  <dcterms:modified xsi:type="dcterms:W3CDTF">2026-07-07T03:49:46Z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2052-12.1.0.26895</vt:lpwstr>
  </property>
  <property fmtid="{D5CDD505-2E9C-101B-9397-08002B2CF9AE}" pid="3" name="ICV">
    <vt:lpwstr>53F76E501AD049E29B8549BAA7F5ADBD_12</vt:lpwstr>
  </property>
</Properties>
</file>