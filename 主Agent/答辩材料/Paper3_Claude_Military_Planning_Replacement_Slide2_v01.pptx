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Let me start with a concrete example rather than an abstract responsibility theory. Recent reporting said that Claude was used by the U.S. military during the Iran operation, although the exact deployment was not publicly disclosed. Anthropic's own public statement is also useful here: it describes Claude in national-security workflows such as intelligence analysis, modeling and simulation, operational planning, and cyber operations.</a:t>
            </a:r>
          </a:p>
          <a:p/>
          <a:p>
            <a:r>
              <a:t>So I am not claiming that Claude autonomously made a strike decision. The point is more subtle and more important for this paper. AI can enter the decision process before the final human approval. It can analyze information, simulate options, prioritize what looks actionable, and shape the choice environment that a human later approves or rejects.</a:t>
            </a:r>
          </a:p>
          <a:p/>
          <a:p>
            <a:r>
              <a:t>Once that happens, human in the loop no longer fully answers the responsibility question. If the final action produces harm or escalation, does the human still experience the choice as fully theirs? Or does responsibility feel shared with the system, the organization, and the workflow? That is the question Paper 3 turns into an experiment.</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43747"/>
        </a:solidFill>
        <a:effectLst/>
      </p:bgPr>
    </p:bg>
    <p:spTree>
      <p:nvGrpSpPr>
        <p:cNvPr id="1" name=""/>
        <p:cNvGrpSpPr/>
        <p:nvPr/>
      </p:nvGrpSpPr>
      <p:grpSpPr/>
      <p:sp>
        <p:nvSpPr>
          <p:cNvPr id="2" name="left-accent-rule"/>
          <p:cNvSpPr>
            <a:spLocks noGrp="1"/>
          </p:cNvSpPr>
          <p:nvPr/>
        </p:nvSpPr>
        <p:spPr>
          <a:xfrm>
            <a:off x="685800" y="628650"/>
            <a:ext cx="19050" cy="5619750"/>
          </a:xfrm>
          <a:prstGeom prst="rect">
            <a:avLst/>
          </a:prstGeom>
          <a:solidFill>
            <a:srgbClr val="BE7A46"/>
          </a:solidFill>
          <a:ln w="0">
            <a:noFill/>
            <a:prstDash val="solid"/>
          </a:ln>
        </p:spPr>
      </p:sp>
      <p:sp>
        <p:nvSpPr>
          <p:cNvPr id="3" name="bottom-rule"/>
          <p:cNvSpPr>
            <a:spLocks noGrp="1"/>
          </p:cNvSpPr>
          <p:nvPr/>
        </p:nvSpPr>
        <p:spPr>
          <a:xfrm>
            <a:off x="685800" y="6172200"/>
            <a:ext cx="10820400" cy="11430"/>
          </a:xfrm>
          <a:prstGeom prst="rect">
            <a:avLst/>
          </a:prstGeom>
          <a:solidFill>
            <a:srgbClr val="D9C7AA"/>
          </a:solidFill>
          <a:ln w="0">
            <a:noFill/>
            <a:prstDash val="solid"/>
          </a:ln>
        </p:spPr>
      </p:sp>
      <p:sp>
        <p:nvSpPr>
          <p:cNvPr id="4" name="eyebrow"/>
          <p:cNvSpPr>
            <a:spLocks noGrp="1"/>
          </p:cNvSpPr>
          <p:nvPr/>
        </p:nvSpPr>
        <p:spPr>
          <a:xfrm>
            <a:off x="895350" y="742950"/>
            <a:ext cx="4381500" cy="266700"/>
          </a:xfrm>
          <a:prstGeom prst="rect">
            <a:avLst/>
          </a:prstGeom>
          <a:noFill/>
          <a:ln w="0">
            <a:noFill/>
            <a:prstDash val="solid"/>
          </a:ln>
        </p:spPr>
        <p:txBody>
          <a:bodyPr wrap="none" lIns="0" tIns="0" rIns="0" bIns="0"/>
          <a:lstStyle/>
          <a:p>
            <a:pPr>
              <a:defRPr sz="1125" b="1">
                <a:solidFill>
                  <a:srgbClr val="D6A06F"/>
                </a:solidFill>
                <a:latin typeface="Times New Roman" panose="02020603050405020304"/>
                <a:ea typeface="Times New Roman" panose="02020603050405020304"/>
                <a:cs typeface="Times New Roman" panose="02020603050405020304"/>
              </a:defRPr>
            </a:pPr>
            <a:r>
              <a:rPr sz="1125" b="1">
                <a:solidFill>
                  <a:srgbClr val="D6A06F"/>
                </a:solidFill>
                <a:latin typeface="Times New Roman" panose="02020603050405020304"/>
                <a:ea typeface="Times New Roman" panose="02020603050405020304"/>
                <a:cs typeface="Times New Roman" panose="02020603050405020304"/>
              </a:rPr>
              <a:t>PAPER 3  ·  CONCRETE ENTRY POINT</a:t>
            </a:r>
            <a:endParaRPr sz="1125" b="1">
              <a:solidFill>
                <a:srgbClr val="D6A06F"/>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895350" y="1200150"/>
            <a:ext cx="5143500" cy="1695450"/>
          </a:xfrm>
          <a:prstGeom prst="rect">
            <a:avLst/>
          </a:prstGeom>
          <a:noFill/>
          <a:ln w="0">
            <a:noFill/>
            <a:prstDash val="solid"/>
          </a:ln>
        </p:spPr>
        <p:txBody>
          <a:bodyPr lIns="0" tIns="0" rIns="0" bIns="0"/>
          <a:lstStyle/>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r>
              <a:rPr lang="en-US" altLang="zh-CN" sz="3525" b="1">
                <a:solidFill>
                  <a:srgbClr val="F3EBDD"/>
                </a:solidFill>
                <a:latin typeface="Times New Roman" panose="02020603050405020304"/>
                <a:ea typeface="Times New Roman" panose="02020603050405020304"/>
                <a:cs typeface="Times New Roman" panose="02020603050405020304"/>
              </a:rPr>
              <a:t>Claude has reportedly been used in U.S. military operations related to Iran.</a:t>
            </a:r>
            <a:endParaRPr lang="en-US" altLang="zh-CN" sz="3525" b="1">
              <a:solidFill>
                <a:srgbClr val="F3EBDD"/>
              </a:solidFill>
              <a:latin typeface="Times New Roman" panose="02020603050405020304"/>
              <a:ea typeface="Times New Roman" panose="02020603050405020304"/>
              <a:cs typeface="Times New Roman" panose="02020603050405020304"/>
            </a:endParaRPr>
          </a:p>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endParaRPr lang="en-US" altLang="zh-CN" sz="3525" b="1">
              <a:solidFill>
                <a:srgbClr val="F3EBDD"/>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895350" y="3105150"/>
            <a:ext cx="5191125" cy="914400"/>
          </a:xfrm>
          <a:prstGeom prst="rect">
            <a:avLst/>
          </a:prstGeom>
          <a:noFill/>
          <a:ln w="0">
            <a:noFill/>
            <a:prstDash val="solid"/>
          </a:ln>
        </p:spPr>
        <p:txBody>
          <a:bodyPr lIns="0" tIns="0" rIns="0" bIns="0"/>
          <a:lstStyle/>
          <a:p>
            <a:pPr>
              <a:lnSpc>
                <a:spcPct val="114000"/>
              </a:lnSpc>
              <a:buNone/>
              <a:defRPr sz="1725">
                <a:solidFill>
                  <a:srgbClr val="E7DDCD"/>
                </a:solidFill>
                <a:latin typeface="Times New Roman" panose="02020603050405020304"/>
                <a:ea typeface="Times New Roman" panose="02020603050405020304"/>
                <a:cs typeface="Times New Roman" panose="02020603050405020304"/>
              </a:defRPr>
            </a:pPr>
            <a:r>
              <a:rPr sz="1725">
                <a:solidFill>
                  <a:srgbClr val="E7DDCD"/>
                </a:solidFill>
                <a:latin typeface="Times New Roman" panose="02020603050405020304"/>
                <a:ea typeface="Times New Roman" panose="02020603050405020304"/>
                <a:cs typeface="Times New Roman" panose="02020603050405020304"/>
              </a:rPr>
              <a:t>AI may not choose the final action. It can still analyze intelligence, simulate options, and structure what a human sees as actionable.</a:t>
            </a:r>
            <a:endParaRPr sz="1725">
              <a:solidFill>
                <a:srgbClr val="E7DDCD"/>
              </a:solidFill>
              <a:latin typeface="Times New Roman" panose="02020603050405020304"/>
              <a:ea typeface="Times New Roman" panose="02020603050405020304"/>
              <a:cs typeface="Times New Roman" panose="02020603050405020304"/>
            </a:endParaRPr>
          </a:p>
        </p:txBody>
      </p:sp>
      <p:sp>
        <p:nvSpPr>
          <p:cNvPr id="7" name="workflow-step-1"/>
          <p:cNvSpPr>
            <a:spLocks noGrp="1"/>
          </p:cNvSpPr>
          <p:nvPr/>
        </p:nvSpPr>
        <p:spPr>
          <a:xfrm>
            <a:off x="895350" y="4343400"/>
            <a:ext cx="1543050" cy="876300"/>
          </a:xfrm>
          <a:prstGeom prst="roundRect">
            <a:avLst>
              <a:gd name="adj" fmla="val 8696"/>
            </a:avLst>
          </a:prstGeom>
          <a:solidFill>
            <a:srgbClr val="182A38"/>
          </a:solidFill>
          <a:ln w="9525">
            <a:solidFill>
              <a:srgbClr val="7F8B77"/>
            </a:solidFill>
            <a:prstDash val="solid"/>
          </a:ln>
        </p:spPr>
      </p:sp>
      <p:sp>
        <p:nvSpPr>
          <p:cNvPr id="8" name="workflow-step-1-head"/>
          <p:cNvSpPr>
            <a:spLocks noGrp="1"/>
          </p:cNvSpPr>
          <p:nvPr/>
        </p:nvSpPr>
        <p:spPr>
          <a:xfrm>
            <a:off x="10477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AI analyzes</a:t>
            </a:r>
            <a:endParaRPr sz="1350" b="1">
              <a:solidFill>
                <a:srgbClr val="F3EBDD"/>
              </a:solidFill>
              <a:latin typeface="Times New Roman" panose="02020603050405020304"/>
              <a:ea typeface="Times New Roman" panose="02020603050405020304"/>
              <a:cs typeface="Times New Roman" panose="02020603050405020304"/>
            </a:endParaRPr>
          </a:p>
        </p:txBody>
      </p:sp>
      <p:sp>
        <p:nvSpPr>
          <p:cNvPr id="9" name="workflow-step-1-body"/>
          <p:cNvSpPr>
            <a:spLocks noGrp="1"/>
          </p:cNvSpPr>
          <p:nvPr/>
        </p:nvSpPr>
        <p:spPr>
          <a:xfrm>
            <a:off x="10477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intelligence</a:t>
            </a:r>
            <a:endParaRPr sz="1110">
              <a:solidFill>
                <a:srgbClr val="CFC5B6"/>
              </a:solidFill>
              <a:latin typeface="Times New Roman" panose="02020603050405020304"/>
              <a:ea typeface="Times New Roman" panose="02020603050405020304"/>
              <a:cs typeface="Times New Roman" panose="02020603050405020304"/>
            </a:endParaRP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simulation</a:t>
            </a:r>
            <a:endParaRPr sz="1110">
              <a:solidFill>
                <a:srgbClr val="CFC5B6"/>
              </a:solidFill>
              <a:latin typeface="Times New Roman" panose="02020603050405020304"/>
              <a:ea typeface="Times New Roman" panose="02020603050405020304"/>
              <a:cs typeface="Times New Roman" panose="02020603050405020304"/>
            </a:endParaRPr>
          </a:p>
        </p:txBody>
      </p:sp>
      <p:sp>
        <p:nvSpPr>
          <p:cNvPr id="10" name="workflow-arrow-1"/>
          <p:cNvSpPr>
            <a:spLocks noGrp="1"/>
          </p:cNvSpPr>
          <p:nvPr/>
        </p:nvSpPr>
        <p:spPr>
          <a:xfrm>
            <a:off x="24860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endParaRPr sz="1800">
              <a:solidFill>
                <a:srgbClr val="D6A06F"/>
              </a:solidFill>
              <a:latin typeface="Times New Roman" panose="02020603050405020304"/>
              <a:ea typeface="Times New Roman" panose="02020603050405020304"/>
              <a:cs typeface="Times New Roman" panose="02020603050405020304"/>
            </a:endParaRPr>
          </a:p>
        </p:txBody>
      </p:sp>
      <p:sp>
        <p:nvSpPr>
          <p:cNvPr id="11" name="workflow-step-2"/>
          <p:cNvSpPr>
            <a:spLocks noGrp="1"/>
          </p:cNvSpPr>
          <p:nvPr/>
        </p:nvSpPr>
        <p:spPr>
          <a:xfrm>
            <a:off x="2647950" y="4343400"/>
            <a:ext cx="1543050" cy="876300"/>
          </a:xfrm>
          <a:prstGeom prst="roundRect">
            <a:avLst>
              <a:gd name="adj" fmla="val 8696"/>
            </a:avLst>
          </a:prstGeom>
          <a:noFill/>
          <a:ln w="9525">
            <a:solidFill>
              <a:srgbClr val="7F8B77"/>
            </a:solidFill>
            <a:prstDash val="solid"/>
          </a:ln>
        </p:spPr>
      </p:sp>
      <p:sp>
        <p:nvSpPr>
          <p:cNvPr id="12" name="workflow-step-2-head"/>
          <p:cNvSpPr>
            <a:spLocks noGrp="1"/>
          </p:cNvSpPr>
          <p:nvPr/>
        </p:nvSpPr>
        <p:spPr>
          <a:xfrm>
            <a:off x="28003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Human approves</a:t>
            </a:r>
            <a:endParaRPr sz="1350" b="1">
              <a:solidFill>
                <a:srgbClr val="F3EBDD"/>
              </a:solidFill>
              <a:latin typeface="Times New Roman" panose="02020603050405020304"/>
              <a:ea typeface="Times New Roman" panose="02020603050405020304"/>
              <a:cs typeface="Times New Roman" panose="02020603050405020304"/>
            </a:endParaRPr>
          </a:p>
        </p:txBody>
      </p:sp>
      <p:sp>
        <p:nvSpPr>
          <p:cNvPr id="13" name="workflow-step-2-body"/>
          <p:cNvSpPr>
            <a:spLocks noGrp="1"/>
          </p:cNvSpPr>
          <p:nvPr/>
        </p:nvSpPr>
        <p:spPr>
          <a:xfrm>
            <a:off x="28003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verify</a:t>
            </a:r>
            <a:endParaRPr sz="1110">
              <a:solidFill>
                <a:srgbClr val="CFC5B6"/>
              </a:solidFill>
              <a:latin typeface="Times New Roman" panose="02020603050405020304"/>
              <a:ea typeface="Times New Roman" panose="02020603050405020304"/>
              <a:cs typeface="Times New Roman" panose="02020603050405020304"/>
            </a:endParaRP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reject</a:t>
            </a:r>
            <a:endParaRPr sz="1110">
              <a:solidFill>
                <a:srgbClr val="CFC5B6"/>
              </a:solidFill>
              <a:latin typeface="Times New Roman" panose="02020603050405020304"/>
              <a:ea typeface="Times New Roman" panose="02020603050405020304"/>
              <a:cs typeface="Times New Roman" panose="02020603050405020304"/>
            </a:endParaRPr>
          </a:p>
        </p:txBody>
      </p:sp>
      <p:sp>
        <p:nvSpPr>
          <p:cNvPr id="14" name="workflow-arrow-2"/>
          <p:cNvSpPr>
            <a:spLocks noGrp="1"/>
          </p:cNvSpPr>
          <p:nvPr/>
        </p:nvSpPr>
        <p:spPr>
          <a:xfrm>
            <a:off x="42386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endParaRPr sz="1800">
              <a:solidFill>
                <a:srgbClr val="D6A06F"/>
              </a:solidFill>
              <a:latin typeface="Times New Roman" panose="02020603050405020304"/>
              <a:ea typeface="Times New Roman" panose="02020603050405020304"/>
              <a:cs typeface="Times New Roman" panose="02020603050405020304"/>
            </a:endParaRPr>
          </a:p>
        </p:txBody>
      </p:sp>
      <p:sp>
        <p:nvSpPr>
          <p:cNvPr id="15" name="workflow-step-3"/>
          <p:cNvSpPr>
            <a:spLocks noGrp="1"/>
          </p:cNvSpPr>
          <p:nvPr/>
        </p:nvSpPr>
        <p:spPr>
          <a:xfrm>
            <a:off x="4400550" y="4343400"/>
            <a:ext cx="1543050" cy="876300"/>
          </a:xfrm>
          <a:prstGeom prst="roundRect">
            <a:avLst>
              <a:gd name="adj" fmla="val 8696"/>
            </a:avLst>
          </a:prstGeom>
          <a:noFill/>
          <a:ln w="9525">
            <a:solidFill>
              <a:srgbClr val="BE7A46"/>
            </a:solidFill>
            <a:prstDash val="solid"/>
          </a:ln>
        </p:spPr>
      </p:sp>
      <p:sp>
        <p:nvSpPr>
          <p:cNvPr id="16" name="workflow-step-3-head"/>
          <p:cNvSpPr>
            <a:spLocks noGrp="1"/>
          </p:cNvSpPr>
          <p:nvPr/>
        </p:nvSpPr>
        <p:spPr>
          <a:xfrm>
            <a:off x="45529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Ownership shifts</a:t>
            </a:r>
            <a:endParaRPr sz="1350" b="1">
              <a:solidFill>
                <a:srgbClr val="F3EBDD"/>
              </a:solidFill>
              <a:latin typeface="Times New Roman" panose="02020603050405020304"/>
              <a:ea typeface="Times New Roman" panose="02020603050405020304"/>
              <a:cs typeface="Times New Roman" panose="02020603050405020304"/>
            </a:endParaRPr>
          </a:p>
        </p:txBody>
      </p:sp>
      <p:sp>
        <p:nvSpPr>
          <p:cNvPr id="17" name="workflow-step-3-body"/>
          <p:cNvSpPr>
            <a:spLocks noGrp="1"/>
          </p:cNvSpPr>
          <p:nvPr/>
        </p:nvSpPr>
        <p:spPr>
          <a:xfrm>
            <a:off x="45529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feels</a:t>
            </a:r>
            <a:endParaRPr sz="1110">
              <a:solidFill>
                <a:srgbClr val="CFC5B6"/>
              </a:solidFill>
              <a:latin typeface="Times New Roman" panose="02020603050405020304"/>
              <a:ea typeface="Times New Roman" panose="02020603050405020304"/>
              <a:cs typeface="Times New Roman" panose="02020603050405020304"/>
            </a:endParaRP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shared</a:t>
            </a:r>
            <a:endParaRPr sz="1110">
              <a:solidFill>
                <a:srgbClr val="CFC5B6"/>
              </a:solidFill>
              <a:latin typeface="Times New Roman" panose="02020603050405020304"/>
              <a:ea typeface="Times New Roman" panose="02020603050405020304"/>
              <a:cs typeface="Times New Roman" panose="02020603050405020304"/>
            </a:endParaRPr>
          </a:p>
        </p:txBody>
      </p:sp>
      <p:sp>
        <p:nvSpPr>
          <p:cNvPr id="18" name="image-frame"/>
          <p:cNvSpPr>
            <a:spLocks noGrp="1"/>
          </p:cNvSpPr>
          <p:nvPr/>
        </p:nvSpPr>
        <p:spPr>
          <a:xfrm>
            <a:off x="6524625" y="876300"/>
            <a:ext cx="5010150" cy="2838450"/>
          </a:xfrm>
          <a:prstGeom prst="roundRect">
            <a:avLst>
              <a:gd name="adj" fmla="val 2685"/>
            </a:avLst>
          </a:prstGeom>
          <a:solidFill>
            <a:srgbClr val="0E1114"/>
          </a:solidFill>
          <a:ln w="9525">
            <a:solidFill>
              <a:srgbClr val="D9C7AA"/>
            </a:solidFill>
            <a:prstDash val="solid"/>
          </a:ln>
        </p:spPr>
      </p:sp>
      <p:pic>
        <p:nvPicPr>
          <p:cNvPr id="43" name="图片 42"/>
          <p:cNvPicPr>
            <a:picLocks noChangeAspect="1"/>
          </p:cNvPicPr>
          <p:nvPr/>
        </p:nvPicPr>
        <p:blipFill>
          <a:blip r:embed="rId1"/>
          <a:stretch>
            <a:fillRect/>
          </a:stretch>
        </p:blipFill>
        <p:spPr>
          <a:xfrm>
            <a:off x="6630449" y="933450"/>
            <a:ext cx="4798503" cy="2724150"/>
          </a:xfrm>
          <a:prstGeom prst="roundRect">
            <a:avLst>
              <a:gd name="adj" fmla="val 2797"/>
            </a:avLst>
          </a:prstGeom>
        </p:spPr>
      </p:pic>
      <p:sp>
        <p:nvSpPr>
          <p:cNvPr id="19" name="case-card"/>
          <p:cNvSpPr>
            <a:spLocks noGrp="1"/>
          </p:cNvSpPr>
          <p:nvPr/>
        </p:nvSpPr>
        <p:spPr>
          <a:xfrm>
            <a:off x="6524625" y="3943350"/>
            <a:ext cx="5010150" cy="1352550"/>
          </a:xfrm>
          <a:prstGeom prst="roundRect">
            <a:avLst>
              <a:gd name="adj" fmla="val 5634"/>
            </a:avLst>
          </a:prstGeom>
          <a:solidFill>
            <a:srgbClr val="F3EBDD"/>
          </a:solidFill>
          <a:ln w="9525">
            <a:solidFill>
              <a:srgbClr val="D9C7AA"/>
            </a:solidFill>
            <a:prstDash val="solid"/>
          </a:ln>
        </p:spPr>
      </p:sp>
      <p:sp>
        <p:nvSpPr>
          <p:cNvPr id="20" name="case-label"/>
          <p:cNvSpPr>
            <a:spLocks noGrp="1"/>
          </p:cNvSpPr>
          <p:nvPr/>
        </p:nvSpPr>
        <p:spPr>
          <a:xfrm>
            <a:off x="6791325" y="4133850"/>
            <a:ext cx="1714500" cy="209550"/>
          </a:xfrm>
          <a:prstGeom prst="rect">
            <a:avLst/>
          </a:prstGeom>
          <a:noFill/>
          <a:ln w="0">
            <a:noFill/>
            <a:prstDash val="solid"/>
          </a:ln>
        </p:spPr>
        <p:txBody>
          <a:bodyPr wrap="none" lIns="0" tIns="0" rIns="0" bIns="0"/>
          <a:lstStyle/>
          <a:p>
            <a:pPr>
              <a:defRPr sz="1050" b="1">
                <a:solidFill>
                  <a:srgbClr val="BE7A46"/>
                </a:solidFill>
                <a:latin typeface="Times New Roman" panose="02020603050405020304"/>
                <a:ea typeface="Times New Roman" panose="02020603050405020304"/>
                <a:cs typeface="Times New Roman" panose="02020603050405020304"/>
              </a:defRPr>
            </a:pPr>
            <a:r>
              <a:rPr sz="1050" b="1">
                <a:solidFill>
                  <a:srgbClr val="BE7A46"/>
                </a:solidFill>
                <a:latin typeface="Times New Roman" panose="02020603050405020304"/>
                <a:ea typeface="Times New Roman" panose="02020603050405020304"/>
                <a:cs typeface="Times New Roman" panose="02020603050405020304"/>
              </a:rPr>
              <a:t>REPORTED CASE</a:t>
            </a:r>
            <a:endParaRPr sz="1050" b="1">
              <a:solidFill>
                <a:srgbClr val="BE7A46"/>
              </a:solidFill>
              <a:latin typeface="Times New Roman" panose="02020603050405020304"/>
              <a:ea typeface="Times New Roman" panose="02020603050405020304"/>
              <a:cs typeface="Times New Roman" panose="02020603050405020304"/>
            </a:endParaRPr>
          </a:p>
        </p:txBody>
      </p:sp>
      <p:sp>
        <p:nvSpPr>
          <p:cNvPr id="21" name="case-copy"/>
          <p:cNvSpPr>
            <a:spLocks noGrp="1"/>
          </p:cNvSpPr>
          <p:nvPr/>
        </p:nvSpPr>
        <p:spPr>
          <a:xfrm>
            <a:off x="6791325" y="4400550"/>
            <a:ext cx="4400550" cy="838200"/>
          </a:xfrm>
          <a:prstGeom prst="rect">
            <a:avLst/>
          </a:prstGeom>
          <a:noFill/>
          <a:ln w="0">
            <a:noFill/>
            <a:prstDash val="solid"/>
          </a:ln>
        </p:spPr>
        <p:txBody>
          <a:bodyPr lIns="0" tIns="0" rIns="0" bIns="0"/>
          <a:lstStyle/>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CBS: Claude was reportedly used during the Iran operation; the exact role was not publicly disclosed.</a:t>
            </a:r>
            <a:endParaRPr sz="1260">
              <a:solidFill>
                <a:srgbClr val="1F2F3A"/>
              </a:solidFill>
              <a:latin typeface="Times New Roman" panose="02020603050405020304"/>
              <a:ea typeface="Times New Roman" panose="02020603050405020304"/>
              <a:cs typeface="Times New Roman" panose="02020603050405020304"/>
            </a:endParaRPr>
          </a:p>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Anthropic: Claude is described in intelligence analysis, simulation, operational planning, and cyber operations.</a:t>
            </a:r>
            <a:endParaRPr sz="1260">
              <a:solidFill>
                <a:srgbClr val="1F2F3A"/>
              </a:solidFill>
              <a:latin typeface="Times New Roman" panose="02020603050405020304"/>
              <a:ea typeface="Times New Roman" panose="02020603050405020304"/>
              <a:cs typeface="Times New Roman" panose="02020603050405020304"/>
            </a:endParaRPr>
          </a:p>
        </p:txBody>
      </p:sp>
      <p:sp>
        <p:nvSpPr>
          <p:cNvPr id="22" name="paper3-question"/>
          <p:cNvSpPr>
            <a:spLocks noGrp="1"/>
          </p:cNvSpPr>
          <p:nvPr/>
        </p:nvSpPr>
        <p:spPr>
          <a:xfrm>
            <a:off x="895350" y="5772150"/>
            <a:ext cx="10429875" cy="304800"/>
          </a:xfrm>
          <a:prstGeom prst="rect">
            <a:avLst/>
          </a:prstGeom>
          <a:noFill/>
          <a:ln w="0">
            <a:noFill/>
            <a:prstDash val="solid"/>
          </a:ln>
        </p:spPr>
        <p:txBody>
          <a:bodyPr wrap="none" lIns="0" tIns="0" rIns="0" bIns="0"/>
          <a:lstStyle/>
          <a:p>
            <a:pPr>
              <a:defRPr sz="1725" i="1">
                <a:solidFill>
                  <a:srgbClr val="F3EBDD"/>
                </a:solidFill>
                <a:latin typeface="Times New Roman" panose="02020603050405020304"/>
                <a:ea typeface="Times New Roman" panose="02020603050405020304"/>
                <a:cs typeface="Times New Roman" panose="02020603050405020304"/>
              </a:defRPr>
            </a:pPr>
            <a:r>
              <a:rPr sz="1725" i="1">
                <a:solidFill>
                  <a:srgbClr val="F3EBDD"/>
                </a:solidFill>
                <a:latin typeface="Times New Roman" panose="02020603050405020304"/>
                <a:ea typeface="Times New Roman" panose="02020603050405020304"/>
                <a:cs typeface="Times New Roman" panose="02020603050405020304"/>
              </a:rPr>
              <a:t>Paper 3 asks whether AI role proximity changes decisional ownership and felt accountability before a high-risk action is taken.</a:t>
            </a:r>
            <a:endParaRPr sz="1725" i="1">
              <a:solidFill>
                <a:srgbClr val="F3EBDD"/>
              </a:solidFill>
              <a:latin typeface="Times New Roman" panose="02020603050405020304"/>
              <a:ea typeface="Times New Roman" panose="02020603050405020304"/>
              <a:cs typeface="Times New Roman" panose="02020603050405020304"/>
            </a:endParaRPr>
          </a:p>
        </p:txBody>
      </p:sp>
      <p:sp>
        <p:nvSpPr>
          <p:cNvPr id="23" name="source-note"/>
          <p:cNvSpPr>
            <a:spLocks noGrp="1"/>
          </p:cNvSpPr>
          <p:nvPr/>
        </p:nvSpPr>
        <p:spPr>
          <a:xfrm>
            <a:off x="895350" y="6381750"/>
            <a:ext cx="10191750" cy="171450"/>
          </a:xfrm>
          <a:prstGeom prst="rect">
            <a:avLst/>
          </a:prstGeom>
          <a:noFill/>
          <a:ln w="0">
            <a:noFill/>
            <a:prstDash val="solid"/>
          </a:ln>
        </p:spPr>
        <p:txBody>
          <a:bodyPr wrap="none" lIns="0" tIns="0" rIns="0" bIns="0"/>
          <a:lstStyle/>
          <a:p>
            <a:pPr>
              <a:defRPr sz="865">
                <a:solidFill>
                  <a:srgbClr val="AAB2B7"/>
                </a:solidFill>
                <a:latin typeface="Times New Roman" panose="02020603050405020304"/>
                <a:ea typeface="Times New Roman" panose="02020603050405020304"/>
                <a:cs typeface="Times New Roman" panose="02020603050405020304"/>
              </a:defRPr>
            </a:pPr>
            <a:r>
              <a:rPr sz="865">
                <a:solidFill>
                  <a:srgbClr val="AAB2B7"/>
                </a:solidFill>
                <a:latin typeface="Times New Roman" panose="02020603050405020304"/>
                <a:ea typeface="Times New Roman" panose="02020603050405020304"/>
                <a:cs typeface="Times New Roman" panose="02020603050405020304"/>
              </a:rPr>
              <a:t>Sources: CBS News; Anthropic public statements and DoD agreement. Image: user-provided Maven Smart System illustration; visual entry point only.</a:t>
            </a:r>
            <a:endParaRPr sz="865">
              <a:solidFill>
                <a:srgbClr val="AAB2B7"/>
              </a:solidFill>
              <a:latin typeface="Times New Roman" panose="02020603050405020304"/>
              <a:ea typeface="Times New Roman" panose="02020603050405020304"/>
              <a:cs typeface="Times New Roman" panose="02020603050405020304"/>
            </a:endParaRPr>
          </a:p>
        </p:txBody>
      </p:sp>
      <p:sp>
        <p:nvSpPr>
          <p:cNvPr id="24" name="footer-left"/>
          <p:cNvSpPr>
            <a:spLocks noGrp="1"/>
          </p:cNvSpPr>
          <p:nvPr/>
        </p:nvSpPr>
        <p:spPr>
          <a:xfrm>
            <a:off x="895350" y="6610350"/>
            <a:ext cx="1143000" cy="152400"/>
          </a:xfrm>
          <a:prstGeom prst="rect">
            <a:avLst/>
          </a:prstGeom>
          <a:noFill/>
          <a:ln w="0">
            <a:noFill/>
            <a:prstDash val="solid"/>
          </a:ln>
        </p:spPr>
        <p:txBody>
          <a:bodyPr wrap="none" lIns="0" tIns="0" rIns="0" bIns="0"/>
          <a:lstStyle/>
          <a:p>
            <a:pPr>
              <a:defRPr sz="825" b="1">
                <a:solidFill>
                  <a:srgbClr val="91A0A9"/>
                </a:solidFill>
                <a:latin typeface="Times New Roman" panose="02020603050405020304"/>
                <a:ea typeface="Times New Roman" panose="02020603050405020304"/>
                <a:cs typeface="Times New Roman" panose="02020603050405020304"/>
              </a:defRPr>
            </a:pPr>
            <a:r>
              <a:rPr sz="825" b="1">
                <a:solidFill>
                  <a:srgbClr val="91A0A9"/>
                </a:solidFill>
                <a:latin typeface="Times New Roman" panose="02020603050405020304"/>
                <a:ea typeface="Times New Roman" panose="02020603050405020304"/>
                <a:cs typeface="Times New Roman" panose="02020603050405020304"/>
              </a:rPr>
              <a:t>PAPER 3</a:t>
            </a:r>
            <a:endParaRPr sz="825" b="1">
              <a:solidFill>
                <a:srgbClr val="91A0A9"/>
              </a:solidFill>
              <a:latin typeface="Times New Roman" panose="02020603050405020304"/>
              <a:ea typeface="Times New Roman" panose="02020603050405020304"/>
              <a:cs typeface="Times New Roman" panose="02020603050405020304"/>
            </a:endParaRPr>
          </a:p>
        </p:txBody>
      </p:sp>
      <p:sp>
        <p:nvSpPr>
          <p:cNvPr id="25" name="footer-right"/>
          <p:cNvSpPr>
            <a:spLocks noGrp="1"/>
          </p:cNvSpPr>
          <p:nvPr/>
        </p:nvSpPr>
        <p:spPr>
          <a:xfrm>
            <a:off x="11258550" y="6610350"/>
            <a:ext cx="266700" cy="152400"/>
          </a:xfrm>
          <a:prstGeom prst="rect">
            <a:avLst/>
          </a:prstGeom>
          <a:noFill/>
          <a:ln w="0">
            <a:noFill/>
            <a:prstDash val="solid"/>
          </a:ln>
        </p:spPr>
        <p:txBody>
          <a:bodyPr wrap="none" lIns="0" tIns="0" rIns="0" bIns="0"/>
          <a:lstStyle/>
          <a:p>
            <a:pPr algn="r">
              <a:defRPr sz="825">
                <a:solidFill>
                  <a:srgbClr val="91A0A9"/>
                </a:solidFill>
                <a:latin typeface="Times New Roman" panose="02020603050405020304"/>
                <a:ea typeface="Times New Roman" panose="02020603050405020304"/>
                <a:cs typeface="Times New Roman" panose="02020603050405020304"/>
              </a:defRPr>
            </a:pPr>
            <a:r>
              <a:rPr sz="825">
                <a:solidFill>
                  <a:srgbClr val="91A0A9"/>
                </a:solidFill>
                <a:latin typeface="Times New Roman" panose="02020603050405020304"/>
                <a:ea typeface="Times New Roman" panose="02020603050405020304"/>
                <a:cs typeface="Times New Roman" panose="02020603050405020304"/>
              </a:rPr>
              <a:t>2</a:t>
            </a:r>
            <a:endParaRPr sz="825">
              <a:solidFill>
                <a:srgbClr val="91A0A9"/>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836</Words>
  <Application>WPS 演示</Application>
  <PresentationFormat>Converted Presentation</PresentationFormat>
  <Paragraphs>39</Paragraphs>
  <Slides>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宋体</vt:lpstr>
      <vt:lpstr>Wingdings</vt:lpstr>
      <vt:lpstr>Times New Roman</vt:lpstr>
      <vt:lpstr>微软雅黑</vt:lpstr>
      <vt:lpstr>Arial Unicode MS</vt:lpstr>
      <vt:lpstr>Calibri</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汉克克克克克克克</cp:lastModifiedBy>
  <cp:revision>1</cp:revision>
  <dcterms:created xsi:type="dcterms:W3CDTF">2026-07-06T16:01:24Z</dcterms:created>
  <dcterms:modified xsi:type="dcterms:W3CDTF">2026-07-06T16:01:24Z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E3E315E758F84C788D5809AA59457434_12</vt:lpwstr>
  </property>
</Properties>
</file>