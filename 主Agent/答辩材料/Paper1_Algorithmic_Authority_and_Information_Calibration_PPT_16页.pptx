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Now I will move to the first paper of my dissertation.</a:t>
            </a:r>
            <a:endParaRPr lang="en-US" altLang="zh-CN"/>
          </a:p>
          <a:p>
            <a:r>
              <a:rPr lang="en-US" altLang="zh-CN"/>
              <a:t>This paper focuses on the first step in the broader decision process: how people move from evidence to belief.</a:t>
            </a:r>
            <a:endParaRPr lang="en-US" altLang="zh-CN"/>
          </a:p>
          <a:p>
            <a:r>
              <a:rPr lang="en-US" altLang="zh-CN"/>
              <a:t>The basic idea is simple.</a:t>
            </a:r>
            <a:endParaRPr lang="en-US" altLang="zh-CN"/>
          </a:p>
          <a:p>
            <a:r>
              <a:rPr lang="en-US" altLang="zh-CN"/>
              <a:t>Generative AI does not only give people an answer faster.</a:t>
            </a:r>
            <a:endParaRPr lang="en-US" altLang="zh-CN"/>
          </a:p>
          <a:p>
            <a:r>
              <a:rPr lang="en-US" altLang="zh-CN"/>
              <a:t>It may also change when people feel they have already seen enough evidence.</a:t>
            </a:r>
            <a:endParaRPr lang="en-US" altLang="zh-CN"/>
          </a:p>
          <a:p>
            <a:r>
              <a:rPr lang="en-US" altLang="zh-CN"/>
              <a:t>The key question is: does AI change the point at which people stop looking for more information?</a:t>
            </a:r>
            <a:endParaRPr lang="en-US" altLang="zh-CN"/>
          </a:p>
          <a:p>
            <a:r>
              <a:rPr lang="en-US" altLang="zh-CN"/>
              <a:t>and if it does </a:t>
            </a:r>
            <a:r>
              <a:rPr lang="zh-CN" altLang="en-US">
                <a:ea typeface="宋体" panose="02010600030101010101" pitchFamily="2" charset="-122"/>
              </a:rPr>
              <a:t>，</a:t>
            </a:r>
            <a:r>
              <a:rPr lang="en-US" altLang="zh-CN">
                <a:ea typeface="宋体" panose="02010600030101010101" pitchFamily="2" charset="-122"/>
              </a:rPr>
              <a:t>is that change beneficial or harmful?</a:t>
            </a:r>
            <a:endParaRPr lang="en-US" altLang="zh-CN"/>
          </a:p>
          <a:p>
            <a:r>
              <a:rPr lang="en-US" altLang="zh-CN"/>
              <a:t>That is why this p</a:t>
            </a:r>
            <a:r>
              <a:rPr lang="en-US" altLang="zh-CN"/>
              <a:t>aper focuses on information calibration.</a:t>
            </a:r>
            <a:endParaRPr lang="en-US" altLang="zh-CN"/>
          </a:p>
          <a:p>
            <a:r>
              <a:rPr lang="en-US" altLang="zh-CN"/>
              <a:t>By information calibration, I mean whether people can correctly judge whether the current evidence is already enough, or whether more evidence is still worth searching for.</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Let me start with a simple contrast.</a:t>
            </a:r>
            <a:endParaRPr lang="en-US" altLang="zh-CN"/>
          </a:p>
          <a:p>
            <a:r>
              <a:rPr lang="en-US" altLang="zh-CN"/>
              <a:t>When we use a search engine, we usually see evidence first.</a:t>
            </a:r>
            <a:endParaRPr lang="en-US" altLang="zh-CN"/>
          </a:p>
          <a:p>
            <a:r>
              <a:rPr lang="en-US" altLang="zh-CN"/>
              <a:t>We open different links.</a:t>
            </a:r>
            <a:endParaRPr lang="en-US" altLang="zh-CN"/>
          </a:p>
          <a:p>
            <a:r>
              <a:rPr lang="en-US" altLang="zh-CN"/>
              <a:t>We compare sources.</a:t>
            </a:r>
            <a:endParaRPr lang="en-US" altLang="zh-CN"/>
          </a:p>
          <a:p>
            <a:r>
              <a:rPr lang="en-US" altLang="zh-CN"/>
              <a:t>We notice disagreement.</a:t>
            </a:r>
            <a:endParaRPr lang="en-US" altLang="zh-CN"/>
          </a:p>
          <a:p>
            <a:r>
              <a:rPr lang="en-US" altLang="zh-CN"/>
              <a:t>Then we slowly form our own judgment.</a:t>
            </a:r>
            <a:endParaRPr lang="en-US" altLang="zh-CN"/>
          </a:p>
          <a:p>
            <a:r>
              <a:rPr lang="en-US" altLang="zh-CN"/>
              <a:t>But when we use an AI assistant, the order is often reversed.</a:t>
            </a:r>
            <a:endParaRPr lang="en-US" altLang="zh-CN"/>
          </a:p>
          <a:p>
            <a:r>
              <a:rPr lang="en-US" altLang="zh-CN"/>
              <a:t>We first receive a summarized answer.</a:t>
            </a:r>
            <a:endParaRPr lang="en-US" altLang="zh-CN"/>
          </a:p>
          <a:p>
            <a:r>
              <a:rPr lang="en-US" altLang="zh-CN"/>
              <a:t>The answer may already include an explanation, an example, and a conclusion.</a:t>
            </a:r>
            <a:endParaRPr lang="en-US" altLang="zh-CN"/>
          </a:p>
          <a:p>
            <a:r>
              <a:rPr lang="en-US" altLang="zh-CN"/>
              <a:t>Only after that do we decide whether we want to verify it.</a:t>
            </a:r>
            <a:endParaRPr lang="en-US" altLang="zh-CN"/>
          </a:p>
          <a:p>
            <a:r>
              <a:rPr lang="en-US" altLang="zh-CN"/>
              <a:t>So the difference is not only speed.</a:t>
            </a:r>
            <a:endParaRPr lang="en-US" altLang="zh-CN"/>
          </a:p>
          <a:p>
            <a:r>
              <a:rPr lang="en-US" altLang="zh-CN"/>
              <a:t>The deeper difference is the order of the process.</a:t>
            </a:r>
            <a:endParaRPr lang="en-US" altLang="zh-CN"/>
          </a:p>
          <a:p>
            <a:r>
              <a:rPr lang="en-US" altLang="zh-CN"/>
              <a:t>With search engines, the user moves from evidence to interpretation.</a:t>
            </a:r>
            <a:endParaRPr lang="en-US" altLang="zh-CN"/>
          </a:p>
          <a:p>
            <a:r>
              <a:rPr lang="en-US" altLang="zh-CN"/>
              <a:t>With AI assistants, the user often receives an interpretation first, and verification becomes optional.</a:t>
            </a:r>
            <a:endParaRPr lang="en-US" altLang="zh-CN"/>
          </a:p>
          <a:p>
            <a:r>
              <a:rPr lang="en-US" altLang="zh-CN"/>
              <a:t>This reversal is the starting intuition of the paper.</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This creates an important problem.</a:t>
            </a:r>
            <a:endParaRPr lang="en-US" altLang="zh-CN"/>
          </a:p>
          <a:p>
            <a:r>
              <a:rPr lang="en-US" altLang="zh-CN"/>
              <a:t>If people search less after seeing an AI answer, should we worry?</a:t>
            </a:r>
            <a:endParaRPr lang="en-US" altLang="zh-CN"/>
          </a:p>
          <a:p>
            <a:r>
              <a:rPr lang="en-US" altLang="zh-CN"/>
              <a:t>Not necessarily.</a:t>
            </a:r>
            <a:endParaRPr lang="en-US" altLang="zh-CN"/>
          </a:p>
          <a:p>
            <a:r>
              <a:rPr lang="en-US" altLang="zh-CN"/>
              <a:t>Less search can mean two very different things.</a:t>
            </a:r>
            <a:endParaRPr lang="en-US" altLang="zh-CN"/>
          </a:p>
          <a:p>
            <a:r>
              <a:rPr lang="en-US" altLang="zh-CN"/>
              <a:t>In the first case, AI has already compressed useful evidence well.</a:t>
            </a:r>
            <a:endParaRPr lang="en-US" altLang="zh-CN"/>
          </a:p>
          <a:p>
            <a:r>
              <a:rPr lang="en-US" altLang="zh-CN"/>
              <a:t>Then the user searches less, but the final judgment does not become worse.</a:t>
            </a:r>
            <a:endParaRPr lang="en-US" altLang="zh-CN"/>
          </a:p>
          <a:p>
            <a:r>
              <a:rPr lang="en-US" altLang="zh-CN"/>
              <a:t>That is efficient compressio</a:t>
            </a:r>
            <a:r>
              <a:rPr lang="en-US" altLang="zh-CN"/>
              <a:t>n.</a:t>
            </a:r>
            <a:endParaRPr lang="en-US" altLang="zh-CN"/>
          </a:p>
          <a:p>
            <a:r>
              <a:rPr lang="en-US" altLang="zh-CN"/>
              <a:t>But in the second case, the user searches less because the AI answer makes the evidence feel more complete than it really is.</a:t>
            </a:r>
            <a:endParaRPr lang="en-US" altLang="zh-CN"/>
          </a:p>
          <a:p>
            <a:r>
              <a:rPr lang="en-US" altLang="zh-CN"/>
              <a:t>Then the user may stop too early, and the final judgment may become worse.</a:t>
            </a:r>
            <a:endParaRPr lang="en-US" altLang="zh-CN"/>
          </a:p>
          <a:p>
            <a:r>
              <a:rPr lang="en-US" altLang="zh-CN"/>
              <a:t>That is harmful under-search.</a:t>
            </a:r>
            <a:endParaRPr lang="en-US" altLang="zh-CN"/>
          </a:p>
          <a:p>
            <a:r>
              <a:rPr lang="en-US" altLang="zh-CN"/>
              <a:t>So the paper does not simply ask whether AI reduces search.</a:t>
            </a:r>
            <a:endParaRPr lang="en-US" altLang="zh-CN"/>
          </a:p>
          <a:p>
            <a:r>
              <a:rPr lang="en-US" altLang="zh-CN"/>
              <a:t>It asks whether reduced search is justified.</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Here I want to anchor the paper in the existing literature more concretely.</a:t>
            </a:r>
          </a:p>
          <a:p>
            <a:r>
              <a:t>The image summarizes the closest literature targets on automation bias, reduced search, and verification. These papers are valuable, but they often move too quickly from less search to worse judgment, or they treat verification intensity as the key mechanism.</a:t>
            </a:r>
          </a:p>
          <a:p>
            <a:r>
              <a:rPr lang="en-US" altLang="zh-CN"/>
              <a:t>So my paper separates three things.</a:t>
            </a:r>
            <a:endParaRPr lang="en-US" altLang="zh-CN"/>
          </a:p>
          <a:p>
            <a:r>
              <a:rPr lang="en-US" altLang="zh-CN"/>
              <a:t>How much people search.</a:t>
            </a:r>
            <a:endParaRPr lang="en-US" altLang="zh-CN"/>
          </a:p>
          <a:p>
            <a:r>
              <a:rPr lang="en-US" altLang="zh-CN"/>
              <a:t>Whether their final belief is normatively close to the evidence.</a:t>
            </a:r>
            <a:endParaRPr lang="en-US" altLang="zh-CN"/>
          </a:p>
          <a:p>
            <a:r>
              <a:rPr lang="en-US" altLang="zh-CN"/>
              <a:t>And whether they feel they understand the issue.</a:t>
            </a:r>
            <a:endParaRPr lang="en-US" altLang="zh-CN"/>
          </a:p>
          <a:p>
            <a:r>
              <a:rPr lang="en-US" altLang="zh-CN"/>
              <a:t>This is why I frame the paper around information calibration.</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People should not search forever.</a:t>
            </a:r>
            <a:endParaRPr lang="en-US" altLang="zh-CN"/>
          </a:p>
          <a:p>
            <a:r>
              <a:rPr lang="en-US" altLang="zh-CN"/>
              <a:t>They should continue searching only when the expected value of more evidence is larger than the cost of getting it.</a:t>
            </a:r>
            <a:endParaRPr lang="en-US" altLang="zh-CN"/>
          </a:p>
          <a:p>
            <a:r>
              <a:rPr lang="en-US" altLang="zh-CN"/>
              <a:t>So stopping early is not automatically irrational.</a:t>
            </a:r>
            <a:endParaRPr lang="en-US" altLang="zh-CN"/>
          </a:p>
          <a:p>
            <a:r>
              <a:rPr lang="en-US" altLang="zh-CN"/>
              <a:t>If the current evidence is already strong enough, then stopping can be reasonable.</a:t>
            </a:r>
            <a:endParaRPr lang="en-US" altLang="zh-CN"/>
          </a:p>
          <a:p>
            <a:r>
              <a:rPr lang="en-US" altLang="zh-CN"/>
              <a:t>The problem appears when people stop too early.</a:t>
            </a:r>
            <a:endParaRPr lang="en-US" altLang="zh-CN"/>
          </a:p>
          <a:p>
            <a:r>
              <a:rPr lang="en-US" altLang="zh-CN"/>
              <a:t>That means they believe the evidence is already sufficient, but more evidence would still meaningfully change the posterior judgment.</a:t>
            </a:r>
            <a:endParaRPr lang="en-US" altLang="zh-CN"/>
          </a:p>
          <a:p>
            <a:r>
              <a:rPr lang="en-US" altLang="zh-CN"/>
              <a:t>So the key issue is not search depth by itself.</a:t>
            </a:r>
            <a:endParaRPr lang="en-US" altLang="zh-CN"/>
          </a:p>
          <a:p>
            <a:r>
              <a:rPr lang="en-US" altLang="zh-CN"/>
              <a:t>The key issue is whether AI changes the stopping rule in a justified way.</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is the gap that motivates the paper.</a:t>
            </a:r>
          </a:p>
          <a:p>
            <a:r>
              <a:t>The unresolved question is not merely whether AI reduces search. It is whether an AI answer changes the user's judgment that the current evidence is already enough.</a:t>
            </a:r>
          </a:p>
          <a:p>
            <a:r>
              <a:t>That matters because a shift in perceived sufficiency can affect later evidence acquisition, later Bayesian updating, and the user's own sense of how much they really know.</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At this point I can state the paper's analytical framing directly.</a:t>
            </a:r>
          </a:p>
          <a:p>
            <a:r>
              <a:t>The paper is not about generic AI trust. It is about information calibration: whether users correctly assess if more evidence is still worth acquiring after they receive an answer-first summary.</a:t>
            </a:r>
          </a:p>
          <a:p>
            <a:r>
              <a:t>Algorithmic authority matters here because the AI label can change what users infer about how much searching and integration has already happened behind the scenes.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paper's mechanism is not that users merely read a conclusion and obey it.</a:t>
            </a:r>
          </a:p>
          <a:p>
            <a:r>
              <a:t>They infer a hidden signal structure behind the summary: that more searching has already occurred, that conflict has already been resolved, and that counterevidence has already been processed.</a:t>
            </a:r>
          </a:p>
          <a:p>
            <a:r>
              <a:t>If those inferences are too strong, then the perceived value of additional evidence can fall too quickly, and that is where harmful under-search becomes possible.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three research questions are deliberately ordered.</a:t>
            </a:r>
          </a:p>
          <a:p>
            <a:r>
              <a:t>The first is behavioral: does the AI label change the stopping threshold for additional search? The second is normative: when search declines, is that efficient compression or harmful deviation? The third is metacognitive: do subjective mastery and objective judgment quality separate from each other?</a:t>
            </a:r>
          </a:p>
          <a:p>
            <a:r>
              <a:t>That sequence is what allows the paper to move from what users do, to whether it is justified, to whether they recognize their own informational position correctly.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Before moving to the full design, I want to explain what the task prototype must accomplish.</a:t>
            </a:r>
          </a:p>
          <a:p>
            <a:r>
              <a:t>It has to hold the initial content constant when the label changes, keep additional search cost the same across conditions, and make the value of each new evidence item calculable.</a:t>
            </a:r>
          </a:p>
          <a:p>
            <a:r>
              <a:t>That is why the paper uses a fixed and controlled evidence environment rather than an open search setting.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is an important correction relative to the older six-cell description.</a:t>
            </a:r>
          </a:p>
          <a:p>
            <a:r>
              <a:t>The current design has five groups. There is one no-summary baseline that enters the shared full evidence pool directly, and then four summary groups produced by completeness crossed with source label.</a:t>
            </a:r>
          </a:p>
          <a:p>
            <a:r>
              <a:t>The baseline does not need to be split in two, because the baseline always faces the same full pool rather than a separate summary condition.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slide captures the cleanest identification logic in the design.</a:t>
            </a:r>
          </a:p>
          <a:p>
            <a:r>
              <a:t>The unlabeled-summary and AI-labeled-summary groups read exactly the same summary text. The only difference is whether the source is explicitly marked as AI.</a:t>
            </a:r>
          </a:p>
          <a:p>
            <a:r>
              <a:t>So if their later search, posterior, or mastery judgments diverge, that difference cannot be attributed to content. It has to come from the source label and the authority inferences it triggers.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slide shows why the experiment can move beyond raw click counts.</a:t>
            </a:r>
          </a:p>
          <a:p>
            <a:r>
              <a:t>Because the evidence pool is fixed and each item has a known likelihood ratio, we can compute the posterior that should follow from the evidence a participant actually saw.</a:t>
            </a:r>
          </a:p>
          <a:p>
            <a:r>
              <a:t>That gives the paper a normative benchmark and lets it compare behavioral search depth with informational quality rather than confusing the two.</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distinction is methodologically central.</a:t>
            </a:r>
          </a:p>
          <a:p>
            <a:r>
              <a:t>Conditional deviation asks whether people used the evidence they actually saw correctly. Full-information deviation asks whether they stopped too early relative to the complete pool.</a:t>
            </a:r>
          </a:p>
          <a:p>
            <a:r>
              <a:t>That is what allows the paper to separate harmful under-search from poor updating instead of treating all posterior error as one undifferentiated mistake.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paper's third contribution is metacognitive rather than purely behavioral.</a:t>
            </a:r>
          </a:p>
          <a:p>
            <a:r>
              <a:t>Direct search can produce stronger epistemic ownership because the user did the work personally, but that does not necessarily produce a better posterior. Summary use can produce a better posterior while still leaving the user with a weaker sense of ownership.</a:t>
            </a:r>
          </a:p>
          <a:p>
            <a:r>
              <a:t>So one expected pattern is an information-calibration mismatch between subjective mastery and objective judgment quality.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closing idea is that the same behavioral fact, less additional search, can correspond to very different underlying realities.</a:t>
            </a:r>
          </a:p>
          <a:p>
            <a:r>
              <a:t>In one case it reflects efficient compression. In another it reflects harmful under-search because evidentiary sufficiency was overestimated. And in a third layer it may coexist with a mismatch between objective quality and subjective mastery.</a:t>
            </a:r>
          </a:p>
          <a:p>
            <a:r>
              <a:t>That is why the paper's governance implication is not simply to tell people to verify more. It is to understand how AI changes judgments about when further evidence is still worth seeking.</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2937"/>
        </a:solidFill>
        <a:effectLst/>
      </p:bgPr>
    </p:bg>
    <p:spTree>
      <p:nvGrpSpPr>
        <p:cNvPr id="1" name=""/>
        <p:cNvGrpSpPr/>
        <p:nvPr/>
      </p:nvGrpSpPr>
      <p:grpSpPr/>
      <p:sp>
        <p:nvSpPr>
          <p:cNvPr id="2" name="椭圆 1"/>
          <p:cNvSpPr>
            <a:spLocks noGrp="1"/>
          </p:cNvSpPr>
          <p:nvPr/>
        </p:nvSpPr>
        <p:spPr>
          <a:xfrm>
            <a:off x="8715375" y="-1524000"/>
            <a:ext cx="4191000" cy="4191000"/>
          </a:xfrm>
          <a:prstGeom prst="ellipse">
            <a:avLst/>
          </a:prstGeom>
          <a:solidFill>
            <a:srgbClr val="30384A"/>
          </a:solidFill>
          <a:ln w="0">
            <a:solidFill>
              <a:srgbClr val="30384A"/>
            </a:solidFill>
            <a:prstDash val="solid"/>
          </a:ln>
        </p:spPr>
      </p:sp>
      <p:sp>
        <p:nvSpPr>
          <p:cNvPr id="3" name="椭圆 2"/>
          <p:cNvSpPr>
            <a:spLocks noGrp="1"/>
          </p:cNvSpPr>
          <p:nvPr/>
        </p:nvSpPr>
        <p:spPr>
          <a:xfrm>
            <a:off x="-1047750" y="4476750"/>
            <a:ext cx="2857500" cy="2857500"/>
          </a:xfrm>
          <a:prstGeom prst="ellipse">
            <a:avLst/>
          </a:prstGeom>
          <a:solidFill>
            <a:srgbClr val="2B3241"/>
          </a:solidFill>
          <a:ln w="0">
            <a:solidFill>
              <a:srgbClr val="2B3241"/>
            </a:solidFill>
            <a:prstDash val="solid"/>
          </a:ln>
        </p:spPr>
      </p:sp>
      <p:sp>
        <p:nvSpPr>
          <p:cNvPr id="4" name="矩形 3"/>
          <p:cNvSpPr>
            <a:spLocks noGrp="1"/>
          </p:cNvSpPr>
          <p:nvPr/>
        </p:nvSpPr>
        <p:spPr>
          <a:xfrm>
            <a:off x="819150" y="819150"/>
            <a:ext cx="228600" cy="228600"/>
          </a:xfrm>
          <a:prstGeom prst="rect">
            <a:avLst/>
          </a:prstGeom>
          <a:solidFill>
            <a:srgbClr val="B45A3C"/>
          </a:solidFill>
          <a:ln w="0">
            <a:solidFill>
              <a:srgbClr val="B45A3C"/>
            </a:solidFill>
            <a:prstDash val="solid"/>
          </a:ln>
        </p:spPr>
      </p:sp>
      <p:sp>
        <p:nvSpPr>
          <p:cNvPr id="5" name="矩形 4"/>
          <p:cNvSpPr>
            <a:spLocks noGrp="1"/>
          </p:cNvSpPr>
          <p:nvPr/>
        </p:nvSpPr>
        <p:spPr>
          <a:xfrm>
            <a:off x="800100" y="5962650"/>
            <a:ext cx="10591800" cy="9525"/>
          </a:xfrm>
          <a:prstGeom prst="rect">
            <a:avLst/>
          </a:prstGeom>
          <a:solidFill>
            <a:srgbClr val="465067"/>
          </a:solidFill>
          <a:ln w="0">
            <a:solidFill>
              <a:srgbClr val="465067"/>
            </a:solidFill>
            <a:prstDash val="solid"/>
          </a:ln>
        </p:spPr>
      </p:sp>
      <p:sp>
        <p:nvSpPr>
          <p:cNvPr id="6" name="矩形 5"/>
          <p:cNvSpPr>
            <a:spLocks noGrp="1"/>
          </p:cNvSpPr>
          <p:nvPr/>
        </p:nvSpPr>
        <p:spPr>
          <a:xfrm>
            <a:off x="1219200" y="781050"/>
            <a:ext cx="2476500" cy="228600"/>
          </a:xfrm>
          <a:prstGeom prst="rect">
            <a:avLst/>
          </a:prstGeom>
          <a:noFill/>
          <a:ln w="0">
            <a:noFill/>
            <a:prstDash val="solid"/>
          </a:ln>
        </p:spPr>
        <p:txBody>
          <a:bodyPr/>
          <a:lstStyle/>
          <a:p>
            <a:pPr algn="l">
              <a:defRPr sz="1125" b="1" i="0">
                <a:solidFill>
                  <a:srgbClr val="D7A792"/>
                </a:solidFill>
                <a:latin typeface="Times New Roman" panose="02020603050405020304"/>
                <a:ea typeface="Times New Roman" panose="02020603050405020304"/>
                <a:cs typeface="Times New Roman" panose="02020603050405020304"/>
              </a:defRPr>
            </a:pPr>
            <a:r>
              <a:rPr sz="1125" b="1" i="0">
                <a:solidFill>
                  <a:srgbClr val="D7A792"/>
                </a:solidFill>
                <a:latin typeface="Times New Roman" panose="02020603050405020304"/>
                <a:ea typeface="Times New Roman" panose="02020603050405020304"/>
                <a:cs typeface="Times New Roman" panose="02020603050405020304"/>
              </a:rPr>
              <a:t>PAPER 1</a:t>
            </a:r>
            <a:endParaRPr sz="1125" b="1" i="0">
              <a:solidFill>
                <a:srgbClr val="D7A792"/>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1219200" y="1371600"/>
            <a:ext cx="9334500" cy="723900"/>
          </a:xfrm>
          <a:prstGeom prst="rect">
            <a:avLst/>
          </a:prstGeom>
          <a:noFill/>
          <a:ln w="0">
            <a:noFill/>
            <a:prstDash val="solid"/>
          </a:ln>
        </p:spPr>
        <p:txBody>
          <a:bodyPr/>
          <a:lstStyle/>
          <a:p>
            <a:pPr algn="l">
              <a:defRPr sz="3000" b="1" i="0">
                <a:solidFill>
                  <a:srgbClr val="F8F2E9"/>
                </a:solidFill>
                <a:latin typeface="Times New Roman" panose="02020603050405020304"/>
                <a:ea typeface="Times New Roman" panose="02020603050405020304"/>
                <a:cs typeface="Times New Roman" panose="02020603050405020304"/>
              </a:defRPr>
            </a:pPr>
            <a:r>
              <a:rPr sz="3000" b="1" i="0">
                <a:solidFill>
                  <a:srgbClr val="F8F2E9"/>
                </a:solidFill>
                <a:latin typeface="Times New Roman" panose="02020603050405020304"/>
                <a:ea typeface="Times New Roman" panose="02020603050405020304"/>
                <a:cs typeface="Times New Roman" panose="02020603050405020304"/>
              </a:rPr>
              <a:t>Algorithmic Authority and Information Calibration</a:t>
            </a:r>
            <a:endParaRPr sz="3000" b="1" i="0">
              <a:solidFill>
                <a:srgbClr val="F8F2E9"/>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1219200" y="2190750"/>
            <a:ext cx="8191500" cy="533400"/>
          </a:xfrm>
          <a:prstGeom prst="rect">
            <a:avLst/>
          </a:prstGeom>
          <a:noFill/>
          <a:ln w="0">
            <a:noFill/>
            <a:prstDash val="solid"/>
          </a:ln>
        </p:spPr>
        <p:txBody>
          <a:bodyPr/>
          <a:lstStyle/>
          <a:p>
            <a:pPr algn="l">
              <a:defRPr sz="1650" b="0" i="0">
                <a:solidFill>
                  <a:srgbClr val="D8DCE6"/>
                </a:solidFill>
                <a:latin typeface="Times New Roman" panose="02020603050405020304"/>
                <a:ea typeface="Times New Roman" panose="02020603050405020304"/>
                <a:cs typeface="Times New Roman" panose="02020603050405020304"/>
              </a:defRPr>
            </a:pPr>
            <a:r>
              <a:rPr sz="1650" b="0" i="0">
                <a:solidFill>
                  <a:srgbClr val="D8DCE6"/>
                </a:solidFill>
                <a:latin typeface="Times New Roman" panose="02020603050405020304"/>
                <a:ea typeface="Times New Roman" panose="02020603050405020304"/>
                <a:cs typeface="Times New Roman" panose="02020603050405020304"/>
              </a:rPr>
              <a:t>How generative AI changes additional search and belief updating under uncertainty</a:t>
            </a:r>
            <a:endParaRPr sz="1650" b="0" i="0">
              <a:solidFill>
                <a:srgbClr val="D8DCE6"/>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1219200" y="3390900"/>
            <a:ext cx="4038600" cy="1371600"/>
          </a:xfrm>
          <a:prstGeom prst="roundRect">
            <a:avLst>
              <a:gd name="adj" fmla="val 5556"/>
            </a:avLst>
          </a:prstGeom>
          <a:solidFill>
            <a:srgbClr val="2E3648"/>
          </a:solidFill>
          <a:ln w="9525">
            <a:solidFill>
              <a:srgbClr val="E8DCCB"/>
            </a:solidFill>
            <a:prstDash val="solid"/>
          </a:ln>
        </p:spPr>
      </p:sp>
      <p:sp>
        <p:nvSpPr>
          <p:cNvPr id="10" name="矩形 9"/>
          <p:cNvSpPr>
            <a:spLocks noGrp="1"/>
          </p:cNvSpPr>
          <p:nvPr/>
        </p:nvSpPr>
        <p:spPr>
          <a:xfrm>
            <a:off x="1219200" y="3390900"/>
            <a:ext cx="57150" cy="1371600"/>
          </a:xfrm>
          <a:prstGeom prst="rect">
            <a:avLst/>
          </a:prstGeom>
          <a:solidFill>
            <a:srgbClr val="B45A3C"/>
          </a:solidFill>
          <a:ln w="0">
            <a:solidFill>
              <a:srgbClr val="B45A3C"/>
            </a:solidFill>
            <a:prstDash val="solid"/>
          </a:ln>
        </p:spPr>
      </p:sp>
      <p:sp>
        <p:nvSpPr>
          <p:cNvPr id="11" name="矩形 10"/>
          <p:cNvSpPr>
            <a:spLocks noGrp="1"/>
          </p:cNvSpPr>
          <p:nvPr/>
        </p:nvSpPr>
        <p:spPr>
          <a:xfrm>
            <a:off x="1390650" y="3505200"/>
            <a:ext cx="3752850" cy="285750"/>
          </a:xfrm>
          <a:prstGeom prst="rect">
            <a:avLst/>
          </a:prstGeom>
          <a:noFill/>
          <a:ln w="0">
            <a:noFill/>
            <a:prstDash val="solid"/>
          </a:ln>
        </p:spPr>
        <p:txBody>
          <a:bodyPr/>
          <a:lstStyle/>
          <a:p>
            <a:pPr algn="l">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a:ea typeface="Times New Roman" panose="02020603050405020304"/>
                <a:cs typeface="Times New Roman" panose="02020603050405020304"/>
              </a:rPr>
              <a:t>Problem shift</a:t>
            </a:r>
            <a:endParaRPr sz="1650" b="1" i="0">
              <a:solidFill>
                <a:srgbClr val="F8F2E9"/>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390650" y="3848100"/>
            <a:ext cx="3752850" cy="800100"/>
          </a:xfrm>
          <a:prstGeom prst="rect">
            <a:avLst/>
          </a:prstGeom>
          <a:noFill/>
          <a:ln w="0">
            <a:noFill/>
            <a:prstDash val="solid"/>
          </a:ln>
        </p:spPr>
        <p:txBody>
          <a:bodyPr/>
          <a:lstStyle/>
          <a:p>
            <a:pPr algn="l">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a:ea typeface="Times New Roman" panose="02020603050405020304"/>
                <a:cs typeface="Times New Roman" panose="02020603050405020304"/>
              </a:rPr>
              <a:t>The question is not only what answer AI gives. The question is whether AI changes when people feel ready to stop looking for more evidence.</a:t>
            </a:r>
            <a:endParaRPr sz="1275" b="0" i="0">
              <a:solidFill>
                <a:srgbClr val="D8DCE6"/>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5543550" y="3390900"/>
            <a:ext cx="5486400" cy="1371600"/>
          </a:xfrm>
          <a:prstGeom prst="roundRect">
            <a:avLst>
              <a:gd name="adj" fmla="val 5556"/>
            </a:avLst>
          </a:prstGeom>
          <a:solidFill>
            <a:srgbClr val="2E3648"/>
          </a:solidFill>
          <a:ln w="9525">
            <a:solidFill>
              <a:srgbClr val="E8DCCB"/>
            </a:solidFill>
            <a:prstDash val="solid"/>
          </a:ln>
        </p:spPr>
      </p:sp>
      <p:sp>
        <p:nvSpPr>
          <p:cNvPr id="14" name="矩形 13"/>
          <p:cNvSpPr>
            <a:spLocks noGrp="1"/>
          </p:cNvSpPr>
          <p:nvPr/>
        </p:nvSpPr>
        <p:spPr>
          <a:xfrm>
            <a:off x="5543550" y="3390900"/>
            <a:ext cx="57150" cy="1371600"/>
          </a:xfrm>
          <a:prstGeom prst="rect">
            <a:avLst/>
          </a:prstGeom>
          <a:solidFill>
            <a:srgbClr val="C89B4A"/>
          </a:solidFill>
          <a:ln w="0">
            <a:solidFill>
              <a:srgbClr val="C89B4A"/>
            </a:solidFill>
            <a:prstDash val="solid"/>
          </a:ln>
        </p:spPr>
      </p:sp>
      <p:sp>
        <p:nvSpPr>
          <p:cNvPr id="15" name="矩形 14"/>
          <p:cNvSpPr>
            <a:spLocks noGrp="1"/>
          </p:cNvSpPr>
          <p:nvPr/>
        </p:nvSpPr>
        <p:spPr>
          <a:xfrm>
            <a:off x="5715000" y="3505200"/>
            <a:ext cx="5200650" cy="285750"/>
          </a:xfrm>
          <a:prstGeom prst="rect">
            <a:avLst/>
          </a:prstGeom>
          <a:noFill/>
          <a:ln w="0">
            <a:noFill/>
            <a:prstDash val="solid"/>
          </a:ln>
        </p:spPr>
        <p:txBody>
          <a:bodyPr/>
          <a:lstStyle/>
          <a:p>
            <a:pPr algn="l">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a:ea typeface="Times New Roman" panose="02020603050405020304"/>
                <a:cs typeface="Times New Roman" panose="02020603050405020304"/>
              </a:rPr>
              <a:t>Dissertation position</a:t>
            </a:r>
            <a:endParaRPr sz="1650" b="1" i="0">
              <a:solidFill>
                <a:srgbClr val="F8F2E9"/>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5715000" y="3848100"/>
            <a:ext cx="5200650" cy="800100"/>
          </a:xfrm>
          <a:prstGeom prst="rect">
            <a:avLst/>
          </a:prstGeom>
          <a:noFill/>
          <a:ln w="0">
            <a:noFill/>
            <a:prstDash val="solid"/>
          </a:ln>
        </p:spPr>
        <p:txBody>
          <a:bodyPr/>
          <a:lstStyle/>
          <a:p>
            <a:pPr algn="l">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a:ea typeface="Times New Roman" panose="02020603050405020304"/>
                <a:cs typeface="Times New Roman" panose="02020603050405020304"/>
              </a:rPr>
              <a:t>Paper 1 studies the first link in the broader chain: how AI reshapes the move from evidence to belief.</a:t>
            </a:r>
            <a:endParaRPr sz="1275" b="0" i="0">
              <a:solidFill>
                <a:srgbClr val="D8DCE6"/>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1257300" y="6153150"/>
            <a:ext cx="9334500" cy="171450"/>
          </a:xfrm>
          <a:prstGeom prst="rect">
            <a:avLst/>
          </a:prstGeom>
          <a:noFill/>
          <a:ln w="0">
            <a:noFill/>
            <a:prstDash val="solid"/>
          </a:ln>
        </p:spPr>
        <p:txBody>
          <a:bodyPr/>
          <a:lstStyle/>
          <a:p>
            <a:pPr algn="l">
              <a:defRPr sz="1125" b="0" i="1">
                <a:solidFill>
                  <a:srgbClr val="D8DCE6"/>
                </a:solidFill>
                <a:latin typeface="Times New Roman" panose="02020603050405020304"/>
                <a:ea typeface="Times New Roman" panose="02020603050405020304"/>
                <a:cs typeface="Times New Roman" panose="02020603050405020304"/>
              </a:defRPr>
            </a:pPr>
            <a:r>
              <a:rPr sz="1125" b="0" i="1">
                <a:solidFill>
                  <a:srgbClr val="D8DCE6"/>
                </a:solidFill>
                <a:latin typeface="Times New Roman" panose="02020603050405020304"/>
                <a:ea typeface="Times New Roman" panose="02020603050405020304"/>
                <a:cs typeface="Times New Roman" panose="02020603050405020304"/>
              </a:rPr>
              <a:t>Belief formation -&gt; reliance calibration -&gt; responsibility</a:t>
            </a:r>
            <a:endParaRPr sz="1125" b="0" i="1">
              <a:solidFill>
                <a:srgbClr val="D8DCE6"/>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p:sp>
        <p:nvSpPr>
          <p:cNvPr id="2" name="椭圆 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3" name="椭圆 2"/>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4" name="矩形 3"/>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5" name="矩形 4"/>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6" name="矩形 5"/>
          <p:cNvSpPr>
            <a:spLocks noGrp="1"/>
          </p:cNvSpPr>
          <p:nvPr/>
        </p:nvSpPr>
        <p:spPr>
          <a:xfrm>
            <a:off x="1181100" y="571500"/>
            <a:ext cx="4000500" cy="228600"/>
          </a:xfrm>
          <a:prstGeom prst="rect">
            <a:avLst/>
          </a:prstGeom>
          <a:noFill/>
          <a:ln w="0">
            <a:noFill/>
            <a:prstDash val="solid"/>
          </a:ln>
        </p:spPr>
        <p:txBody>
          <a:bodyPr/>
          <a:lstStyle/>
          <a:p>
            <a:pPr algn="l">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a:ea typeface="Times New Roman" panose="02020603050405020304"/>
                <a:cs typeface="Times New Roman" panose="02020603050405020304"/>
              </a:rPr>
              <a:t>CONCRETE EXAMPLE</a:t>
            </a:r>
            <a:endParaRPr sz="1050" b="1" i="0">
              <a:solidFill>
                <a:srgbClr val="B45A3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914400"/>
            <a:ext cx="10287000" cy="704850"/>
          </a:xfrm>
          <a:prstGeom prst="rect">
            <a:avLst/>
          </a:prstGeom>
          <a:noFill/>
          <a:ln w="0">
            <a:noFill/>
            <a:prstDash val="solid"/>
          </a:ln>
        </p:spPr>
        <p:txBody>
          <a:bodyPr/>
          <a:lstStyle/>
          <a:p>
            <a:pPr algn="l">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a:ea typeface="Times New Roman" panose="02020603050405020304"/>
                <a:cs typeface="Times New Roman" panose="02020603050405020304"/>
              </a:rPr>
              <a:t>Search engines ask for evidence first, but AI assistants answer first</a:t>
            </a:r>
            <a:endParaRPr sz="2475" b="1" i="0">
              <a:solidFill>
                <a:srgbClr val="1E2433"/>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676400"/>
            <a:ext cx="10096500" cy="2857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The basic reversal is not only about speed. It changes the user's sense of whether more search is still worth doing.</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914400" y="2190750"/>
            <a:ext cx="4762500" cy="3048000"/>
          </a:xfrm>
          <a:prstGeom prst="roundRect">
            <a:avLst>
              <a:gd name="adj" fmla="val 2500"/>
            </a:avLst>
          </a:prstGeom>
          <a:solidFill>
            <a:srgbClr val="FFF9F0"/>
          </a:solidFill>
          <a:ln w="9525">
            <a:solidFill>
              <a:srgbClr val="E8DCCB"/>
            </a:solidFill>
            <a:prstDash val="solid"/>
          </a:ln>
        </p:spPr>
      </p:sp>
      <p:sp>
        <p:nvSpPr>
          <p:cNvPr id="10" name="矩形 9"/>
          <p:cNvSpPr>
            <a:spLocks noGrp="1"/>
          </p:cNvSpPr>
          <p:nvPr/>
        </p:nvSpPr>
        <p:spPr>
          <a:xfrm>
            <a:off x="914400" y="2190750"/>
            <a:ext cx="57150" cy="3048000"/>
          </a:xfrm>
          <a:prstGeom prst="rect">
            <a:avLst/>
          </a:prstGeom>
          <a:solidFill>
            <a:srgbClr val="78836A"/>
          </a:solidFill>
          <a:ln w="0">
            <a:solidFill>
              <a:srgbClr val="78836A"/>
            </a:solidFill>
            <a:prstDash val="solid"/>
          </a:ln>
        </p:spPr>
      </p:sp>
      <p:sp>
        <p:nvSpPr>
          <p:cNvPr id="11" name="矩形 10"/>
          <p:cNvSpPr>
            <a:spLocks noGrp="1"/>
          </p:cNvSpPr>
          <p:nvPr/>
        </p:nvSpPr>
        <p:spPr>
          <a:xfrm>
            <a:off x="1085850" y="2305050"/>
            <a:ext cx="4476750" cy="285750"/>
          </a:xfrm>
          <a:prstGeom prst="rect">
            <a:avLst/>
          </a:prstGeom>
          <a:noFill/>
          <a:ln w="0">
            <a:noFill/>
            <a:prstDash val="solid"/>
          </a:ln>
        </p:spPr>
        <p:txBody>
          <a:bodyPr/>
          <a:lstStyle/>
          <a:p>
            <a:pPr algn="l">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a:ea typeface="Times New Roman" panose="02020603050405020304"/>
                <a:cs typeface="Times New Roman" panose="02020603050405020304"/>
              </a:rPr>
              <a:t>Search engine logic</a:t>
            </a:r>
            <a:endParaRPr sz="2100" b="1" i="0">
              <a:solidFill>
                <a:srgbClr val="1E2433"/>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085850" y="2647950"/>
            <a:ext cx="4476750" cy="2476500"/>
          </a:xfrm>
          <a:prstGeom prst="rect">
            <a:avLst/>
          </a:prstGeom>
          <a:noFill/>
          <a:ln w="0">
            <a:noFill/>
            <a:prstDash val="solid"/>
          </a:ln>
        </p:spPr>
        <p:txBody>
          <a:bodyPr/>
          <a:lstStyle/>
          <a:p>
            <a:pPr algn="l">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a:ea typeface="Times New Roman" panose="02020603050405020304"/>
                <a:cs typeface="Times New Roman" panose="02020603050405020304"/>
              </a:rPr>
              <a:t>Source 1</a:t>
            </a:r>
            <a:endParaRPr sz="1425" b="0" i="0">
              <a:solidFill>
                <a:srgbClr val="5E6675"/>
              </a:solidFill>
              <a:latin typeface="Times New Roman" panose="02020603050405020304"/>
              <a:ea typeface="Times New Roman" panose="02020603050405020304"/>
              <a:cs typeface="Times New Roman" panose="02020603050405020304"/>
            </a:endParaRPr>
          </a:p>
          <a:p>
            <a:pPr algn="l">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a:ea typeface="Times New Roman" panose="02020603050405020304"/>
                <a:cs typeface="Times New Roman" panose="02020603050405020304"/>
              </a:rPr>
              <a:t>Source 2</a:t>
            </a:r>
            <a:endParaRPr sz="1425" b="0" i="0">
              <a:solidFill>
                <a:srgbClr val="5E6675"/>
              </a:solidFill>
              <a:latin typeface="Times New Roman" panose="02020603050405020304"/>
              <a:ea typeface="Times New Roman" panose="02020603050405020304"/>
              <a:cs typeface="Times New Roman" panose="02020603050405020304"/>
            </a:endParaRPr>
          </a:p>
          <a:p>
            <a:pPr algn="l">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a:ea typeface="Times New Roman" panose="02020603050405020304"/>
                <a:cs typeface="Times New Roman" panose="02020603050405020304"/>
              </a:rPr>
              <a:t>Source 3</a:t>
            </a:r>
            <a:endParaRPr sz="1425" b="0" i="0">
              <a:solidFill>
                <a:srgbClr val="5E6675"/>
              </a:solidFill>
              <a:latin typeface="Times New Roman" panose="02020603050405020304"/>
              <a:ea typeface="Times New Roman" panose="02020603050405020304"/>
              <a:cs typeface="Times New Roman" panose="02020603050405020304"/>
            </a:endParaRPr>
          </a:p>
          <a:p>
            <a:pPr algn="l">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a:ea typeface="Times New Roman" panose="02020603050405020304"/>
                <a:cs typeface="Times New Roman" panose="02020603050405020304"/>
              </a:rPr>
              <a:t>Source 4</a:t>
            </a:r>
            <a:endParaRPr sz="1425" b="0" i="0">
              <a:solidFill>
                <a:srgbClr val="5E6675"/>
              </a:solidFill>
              <a:latin typeface="Times New Roman" panose="02020603050405020304"/>
              <a:ea typeface="Times New Roman" panose="02020603050405020304"/>
              <a:cs typeface="Times New Roman" panose="02020603050405020304"/>
            </a:endParaRPr>
          </a:p>
          <a:p>
            <a:endParaRPr sz="1425"/>
          </a:p>
          <a:p>
            <a:pPr algn="l">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a:ea typeface="Times New Roman" panose="02020603050405020304"/>
                <a:cs typeface="Times New Roman" panose="02020603050405020304"/>
              </a:rPr>
              <a:t>The user opens links, compares sources, notices conflict, and then forms a judgment.</a:t>
            </a:r>
            <a:endParaRPr sz="1425" b="0" i="0">
              <a:solidFill>
                <a:srgbClr val="5E6675"/>
              </a:solidFill>
              <a:latin typeface="Times New Roman" panose="02020603050405020304"/>
              <a:ea typeface="Times New Roman" panose="02020603050405020304"/>
              <a:cs typeface="Times New Roman" panose="02020603050405020304"/>
            </a:endParaRPr>
          </a:p>
          <a:p>
            <a:endParaRPr sz="1425"/>
          </a:p>
          <a:p>
            <a:pPr algn="l">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a:ea typeface="Times New Roman" panose="02020603050405020304"/>
                <a:cs typeface="Times New Roman" panose="02020603050405020304"/>
              </a:rPr>
              <a:t>Evidence first -&gt; interpretation later</a:t>
            </a:r>
            <a:endParaRPr sz="1425" b="0" i="0">
              <a:solidFill>
                <a:srgbClr val="5E6675"/>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6477000" y="2190750"/>
            <a:ext cx="4724400" cy="3048000"/>
          </a:xfrm>
          <a:prstGeom prst="roundRect">
            <a:avLst>
              <a:gd name="adj" fmla="val 2500"/>
            </a:avLst>
          </a:prstGeom>
          <a:solidFill>
            <a:srgbClr val="FFF9F0"/>
          </a:solidFill>
          <a:ln w="9525">
            <a:solidFill>
              <a:srgbClr val="E8DCCB"/>
            </a:solidFill>
            <a:prstDash val="solid"/>
          </a:ln>
        </p:spPr>
      </p:sp>
      <p:sp>
        <p:nvSpPr>
          <p:cNvPr id="14" name="矩形 13"/>
          <p:cNvSpPr>
            <a:spLocks noGrp="1"/>
          </p:cNvSpPr>
          <p:nvPr/>
        </p:nvSpPr>
        <p:spPr>
          <a:xfrm>
            <a:off x="6477000" y="2190750"/>
            <a:ext cx="57150" cy="3048000"/>
          </a:xfrm>
          <a:prstGeom prst="rect">
            <a:avLst/>
          </a:prstGeom>
          <a:solidFill>
            <a:srgbClr val="B45A3C"/>
          </a:solidFill>
          <a:ln w="0">
            <a:solidFill>
              <a:srgbClr val="B45A3C"/>
            </a:solidFill>
            <a:prstDash val="solid"/>
          </a:ln>
        </p:spPr>
      </p:sp>
      <p:sp>
        <p:nvSpPr>
          <p:cNvPr id="15" name="矩形 14"/>
          <p:cNvSpPr>
            <a:spLocks noGrp="1"/>
          </p:cNvSpPr>
          <p:nvPr/>
        </p:nvSpPr>
        <p:spPr>
          <a:xfrm>
            <a:off x="6648450" y="2305050"/>
            <a:ext cx="4438650" cy="285750"/>
          </a:xfrm>
          <a:prstGeom prst="rect">
            <a:avLst/>
          </a:prstGeom>
          <a:noFill/>
          <a:ln w="0">
            <a:noFill/>
            <a:prstDash val="solid"/>
          </a:ln>
        </p:spPr>
        <p:txBody>
          <a:bodyPr/>
          <a:lstStyle/>
          <a:p>
            <a:pPr algn="l">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a:ea typeface="Times New Roman" panose="02020603050405020304"/>
                <a:cs typeface="Times New Roman" panose="02020603050405020304"/>
              </a:rPr>
              <a:t>AI assistant logic</a:t>
            </a:r>
            <a:endParaRPr sz="2100" b="1" i="0">
              <a:solidFill>
                <a:srgbClr val="1E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6648450" y="2647950"/>
            <a:ext cx="4438650" cy="247650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A summarized definition</a:t>
            </a:r>
            <a:endParaRPr sz="1350" b="0" i="0">
              <a:solidFill>
                <a:srgbClr val="5E6675"/>
              </a:solidFill>
              <a:latin typeface="Times New Roman" panose="02020603050405020304"/>
              <a:ea typeface="Times New Roman" panose="02020603050405020304"/>
              <a:cs typeface="Times New Roman" panose="02020603050405020304"/>
            </a:endParaRPr>
          </a:p>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A coherent explanation</a:t>
            </a:r>
            <a:endParaRPr sz="1350" b="0" i="0">
              <a:solidFill>
                <a:srgbClr val="5E6675"/>
              </a:solidFill>
              <a:latin typeface="Times New Roman" panose="02020603050405020304"/>
              <a:ea typeface="Times New Roman" panose="02020603050405020304"/>
              <a:cs typeface="Times New Roman" panose="02020603050405020304"/>
            </a:endParaRPr>
          </a:p>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A worked example</a:t>
            </a:r>
            <a:endParaRPr sz="1350" b="0" i="0">
              <a:solidFill>
                <a:srgbClr val="5E6675"/>
              </a:solidFill>
              <a:latin typeface="Times New Roman" panose="02020603050405020304"/>
              <a:ea typeface="Times New Roman" panose="02020603050405020304"/>
              <a:cs typeface="Times New Roman" panose="02020603050405020304"/>
            </a:endParaRPr>
          </a:p>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A ready-made conclusion</a:t>
            </a:r>
            <a:endParaRPr sz="1350" b="0" i="0">
              <a:solidFill>
                <a:srgbClr val="5E6675"/>
              </a:solidFill>
              <a:latin typeface="Times New Roman" panose="02020603050405020304"/>
              <a:ea typeface="Times New Roman" panose="02020603050405020304"/>
              <a:cs typeface="Times New Roman" panose="02020603050405020304"/>
            </a:endParaRPr>
          </a:p>
          <a:p>
            <a:endParaRPr sz="1350"/>
          </a:p>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The user first receives an interpreted answer and only later decides whether to verify it.</a:t>
            </a:r>
            <a:endParaRPr sz="1350" b="0" i="0">
              <a:solidFill>
                <a:srgbClr val="5E6675"/>
              </a:solidFill>
              <a:latin typeface="Times New Roman" panose="02020603050405020304"/>
              <a:ea typeface="Times New Roman" panose="02020603050405020304"/>
              <a:cs typeface="Times New Roman" panose="02020603050405020304"/>
            </a:endParaRPr>
          </a:p>
          <a:p>
            <a:endParaRPr sz="1350"/>
          </a:p>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Interpreted answer first -&gt; optional verification later</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1200150" y="5638800"/>
            <a:ext cx="9791700" cy="247650"/>
          </a:xfrm>
          <a:prstGeom prst="rect">
            <a:avLst/>
          </a:prstGeom>
          <a:noFill/>
          <a:ln w="0">
            <a:noFill/>
            <a:prstDash val="solid"/>
          </a:ln>
        </p:spPr>
        <p:txBody>
          <a:bodyPr/>
          <a:lstStyle/>
          <a:p>
            <a:pPr algn="ctr">
              <a:defRPr sz="1425" b="0" i="1">
                <a:solidFill>
                  <a:srgbClr val="5E6675"/>
                </a:solidFill>
                <a:latin typeface="Times New Roman" panose="02020603050405020304"/>
                <a:ea typeface="Times New Roman" panose="02020603050405020304"/>
                <a:cs typeface="Times New Roman" panose="02020603050405020304"/>
              </a:defRPr>
            </a:pPr>
            <a:r>
              <a:rPr sz="1425" b="0" i="1">
                <a:solidFill>
                  <a:srgbClr val="5E6675"/>
                </a:solidFill>
                <a:latin typeface="Times New Roman" panose="02020603050405020304"/>
                <a:ea typeface="Times New Roman" panose="02020603050405020304"/>
                <a:cs typeface="Times New Roman" panose="02020603050405020304"/>
              </a:rPr>
              <a:t>The reversal matters because the user may now judge the value of additional evidence through the AI's summary rather than through raw search alone.</a:t>
            </a:r>
            <a:endParaRPr sz="1425" b="0" i="1">
              <a:solidFill>
                <a:srgbClr val="5E66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p:sp>
        <p:nvSpPr>
          <p:cNvPr id="2" name="椭圆 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3" name="椭圆 2"/>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4" name="矩形 3"/>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5" name="矩形 4"/>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6" name="矩形 5"/>
          <p:cNvSpPr>
            <a:spLocks noGrp="1"/>
          </p:cNvSpPr>
          <p:nvPr/>
        </p:nvSpPr>
        <p:spPr>
          <a:xfrm>
            <a:off x="1181100" y="571500"/>
            <a:ext cx="4000500" cy="228600"/>
          </a:xfrm>
          <a:prstGeom prst="rect">
            <a:avLst/>
          </a:prstGeom>
          <a:noFill/>
          <a:ln w="0">
            <a:noFill/>
            <a:prstDash val="solid"/>
          </a:ln>
        </p:spPr>
        <p:txBody>
          <a:bodyPr/>
          <a:lstStyle/>
          <a:p>
            <a:pPr algn="l">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a:ea typeface="Times New Roman" panose="02020603050405020304"/>
                <a:cs typeface="Times New Roman" panose="02020603050405020304"/>
              </a:rPr>
              <a:t>CORE PROBLEM</a:t>
            </a:r>
            <a:endParaRPr sz="1050" b="1" i="0">
              <a:solidFill>
                <a:srgbClr val="B45A3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914400"/>
            <a:ext cx="9144000" cy="704850"/>
          </a:xfrm>
          <a:prstGeom prst="rect">
            <a:avLst/>
          </a:prstGeom>
          <a:noFill/>
          <a:ln w="0">
            <a:noFill/>
            <a:prstDash val="solid"/>
          </a:ln>
        </p:spPr>
        <p:txBody>
          <a:bodyPr/>
          <a:lstStyle/>
          <a:p>
            <a:pPr algn="l">
              <a:defRPr sz="2625" b="1" i="0">
                <a:solidFill>
                  <a:srgbClr val="1E2433"/>
                </a:solidFill>
                <a:latin typeface="Times New Roman" panose="02020603050405020304"/>
                <a:ea typeface="Times New Roman" panose="02020603050405020304"/>
                <a:cs typeface="Times New Roman" panose="02020603050405020304"/>
              </a:defRPr>
            </a:pPr>
            <a:r>
              <a:rPr sz="2625" b="1" i="0">
                <a:solidFill>
                  <a:srgbClr val="1E2433"/>
                </a:solidFill>
                <a:latin typeface="Times New Roman" panose="02020603050405020304"/>
                <a:ea typeface="Times New Roman" panose="02020603050405020304"/>
                <a:cs typeface="Times New Roman" panose="02020603050405020304"/>
              </a:rPr>
              <a:t>Less search can mean efficiency or harmful under-search</a:t>
            </a:r>
            <a:endParaRPr sz="2625" b="1" i="0">
              <a:solidFill>
                <a:srgbClr val="1E2433"/>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676400"/>
            <a:ext cx="10096500" cy="2857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The key is not whether search declines. The key is whether judgment quality declines once search declines.</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1485900" y="2362200"/>
            <a:ext cx="4000500" cy="2362200"/>
          </a:xfrm>
          <a:prstGeom prst="roundRect">
            <a:avLst>
              <a:gd name="adj" fmla="val 3226"/>
            </a:avLst>
          </a:prstGeom>
          <a:solidFill>
            <a:srgbClr val="FFF9F0"/>
          </a:solidFill>
          <a:ln w="9525">
            <a:solidFill>
              <a:srgbClr val="E8DCCB"/>
            </a:solidFill>
            <a:prstDash val="solid"/>
          </a:ln>
        </p:spPr>
      </p:sp>
      <p:sp>
        <p:nvSpPr>
          <p:cNvPr id="10" name="矩形 9"/>
          <p:cNvSpPr>
            <a:spLocks noGrp="1"/>
          </p:cNvSpPr>
          <p:nvPr/>
        </p:nvSpPr>
        <p:spPr>
          <a:xfrm>
            <a:off x="1485900" y="2362200"/>
            <a:ext cx="57150" cy="2362200"/>
          </a:xfrm>
          <a:prstGeom prst="rect">
            <a:avLst/>
          </a:prstGeom>
          <a:solidFill>
            <a:srgbClr val="78836A"/>
          </a:solidFill>
          <a:ln w="0">
            <a:solidFill>
              <a:srgbClr val="78836A"/>
            </a:solidFill>
            <a:prstDash val="solid"/>
          </a:ln>
        </p:spPr>
      </p:sp>
      <p:sp>
        <p:nvSpPr>
          <p:cNvPr id="11" name="矩形 10"/>
          <p:cNvSpPr>
            <a:spLocks noGrp="1"/>
          </p:cNvSpPr>
          <p:nvPr/>
        </p:nvSpPr>
        <p:spPr>
          <a:xfrm>
            <a:off x="1657350" y="2476500"/>
            <a:ext cx="3714750" cy="285750"/>
          </a:xfrm>
          <a:prstGeom prst="rect">
            <a:avLst/>
          </a:prstGeom>
          <a:noFill/>
          <a:ln w="0">
            <a:noFill/>
            <a:prstDash val="solid"/>
          </a:ln>
        </p:spPr>
        <p:txBody>
          <a:bodyPr/>
          <a:lstStyle/>
          <a:p>
            <a:pPr algn="l">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a:ea typeface="Times New Roman" panose="02020603050405020304"/>
                <a:cs typeface="Times New Roman" panose="02020603050405020304"/>
              </a:rPr>
              <a:t>Efficient compression</a:t>
            </a:r>
            <a:endParaRPr sz="1950" b="1" i="0">
              <a:solidFill>
                <a:srgbClr val="1E2433"/>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657350" y="2819400"/>
            <a:ext cx="3714750" cy="1790700"/>
          </a:xfrm>
          <a:prstGeom prst="rect">
            <a:avLst/>
          </a:prstGeom>
          <a:noFill/>
          <a:ln w="0">
            <a:noFill/>
            <a:prstDash val="solid"/>
          </a:ln>
        </p:spPr>
        <p:txBody>
          <a:bodyPr/>
          <a:lstStyle/>
          <a:p>
            <a:pPr algn="l">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a:ea typeface="Times New Roman" panose="02020603050405020304"/>
                <a:cs typeface="Times New Roman" panose="02020603050405020304"/>
              </a:rPr>
              <a:t>Users search less because the summary has already compressed informative evidence.</a:t>
            </a:r>
            <a:endParaRPr sz="1575" b="0" i="0">
              <a:solidFill>
                <a:srgbClr val="5E6675"/>
              </a:solidFill>
              <a:latin typeface="Times New Roman" panose="02020603050405020304"/>
              <a:ea typeface="Times New Roman" panose="02020603050405020304"/>
              <a:cs typeface="Times New Roman" panose="02020603050405020304"/>
            </a:endParaRPr>
          </a:p>
          <a:p>
            <a:endParaRPr sz="1575"/>
          </a:p>
          <a:p>
            <a:pPr algn="l">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a:ea typeface="Times New Roman" panose="02020603050405020304"/>
                <a:cs typeface="Times New Roman" panose="02020603050405020304"/>
              </a:rPr>
              <a:t>Later posterior quality does not deteriorate.</a:t>
            </a:r>
            <a:endParaRPr sz="1575" b="0" i="0">
              <a:solidFill>
                <a:srgbClr val="5E6675"/>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6705600" y="2362200"/>
            <a:ext cx="4000500" cy="2362200"/>
          </a:xfrm>
          <a:prstGeom prst="roundRect">
            <a:avLst>
              <a:gd name="adj" fmla="val 3226"/>
            </a:avLst>
          </a:prstGeom>
          <a:solidFill>
            <a:srgbClr val="FFF9F0"/>
          </a:solidFill>
          <a:ln w="9525">
            <a:solidFill>
              <a:srgbClr val="E8DCCB"/>
            </a:solidFill>
            <a:prstDash val="solid"/>
          </a:ln>
        </p:spPr>
      </p:sp>
      <p:sp>
        <p:nvSpPr>
          <p:cNvPr id="14" name="矩形 13"/>
          <p:cNvSpPr>
            <a:spLocks noGrp="1"/>
          </p:cNvSpPr>
          <p:nvPr/>
        </p:nvSpPr>
        <p:spPr>
          <a:xfrm>
            <a:off x="6705600" y="2362200"/>
            <a:ext cx="57150" cy="2362200"/>
          </a:xfrm>
          <a:prstGeom prst="rect">
            <a:avLst/>
          </a:prstGeom>
          <a:solidFill>
            <a:srgbClr val="B45A3C"/>
          </a:solidFill>
          <a:ln w="0">
            <a:solidFill>
              <a:srgbClr val="B45A3C"/>
            </a:solidFill>
            <a:prstDash val="solid"/>
          </a:ln>
        </p:spPr>
      </p:sp>
      <p:sp>
        <p:nvSpPr>
          <p:cNvPr id="15" name="矩形 14"/>
          <p:cNvSpPr>
            <a:spLocks noGrp="1"/>
          </p:cNvSpPr>
          <p:nvPr/>
        </p:nvSpPr>
        <p:spPr>
          <a:xfrm>
            <a:off x="6877050" y="2476500"/>
            <a:ext cx="3714750" cy="285750"/>
          </a:xfrm>
          <a:prstGeom prst="rect">
            <a:avLst/>
          </a:prstGeom>
          <a:noFill/>
          <a:ln w="0">
            <a:noFill/>
            <a:prstDash val="solid"/>
          </a:ln>
        </p:spPr>
        <p:txBody>
          <a:bodyPr/>
          <a:lstStyle/>
          <a:p>
            <a:pPr algn="l">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a:ea typeface="Times New Roman" panose="02020603050405020304"/>
                <a:cs typeface="Times New Roman" panose="02020603050405020304"/>
              </a:rPr>
              <a:t>Harmful under-search</a:t>
            </a:r>
            <a:endParaRPr sz="1950" b="1" i="0">
              <a:solidFill>
                <a:srgbClr val="1E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6877050" y="2819400"/>
            <a:ext cx="3714750" cy="1790700"/>
          </a:xfrm>
          <a:prstGeom prst="rect">
            <a:avLst/>
          </a:prstGeom>
          <a:noFill/>
          <a:ln w="0">
            <a:noFill/>
            <a:prstDash val="solid"/>
          </a:ln>
        </p:spPr>
        <p:txBody>
          <a:bodyPr/>
          <a:lstStyle/>
          <a:p>
            <a:pPr algn="l">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a:ea typeface="Times New Roman" panose="02020603050405020304"/>
                <a:cs typeface="Times New Roman" panose="02020603050405020304"/>
              </a:rPr>
              <a:t>Users search less because they overestimate how complete the summary already is.</a:t>
            </a:r>
            <a:endParaRPr sz="1575" b="0" i="0">
              <a:solidFill>
                <a:srgbClr val="5E6675"/>
              </a:solidFill>
              <a:latin typeface="Times New Roman" panose="02020603050405020304"/>
              <a:ea typeface="Times New Roman" panose="02020603050405020304"/>
              <a:cs typeface="Times New Roman" panose="02020603050405020304"/>
            </a:endParaRPr>
          </a:p>
          <a:p>
            <a:endParaRPr sz="1575"/>
          </a:p>
          <a:p>
            <a:pPr algn="l">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a:ea typeface="Times New Roman" panose="02020603050405020304"/>
                <a:cs typeface="Times New Roman" panose="02020603050405020304"/>
              </a:rPr>
              <a:t>Later judgment moves further away from the full-information benchmark.</a:t>
            </a:r>
            <a:endParaRPr sz="1575" b="0" i="0">
              <a:solidFill>
                <a:srgbClr val="5E6675"/>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5734050" y="3333750"/>
            <a:ext cx="762000" cy="247650"/>
          </a:xfrm>
          <a:prstGeom prst="rect">
            <a:avLst/>
          </a:prstGeom>
          <a:noFill/>
          <a:ln w="0">
            <a:noFill/>
            <a:prstDash val="solid"/>
          </a:ln>
        </p:spPr>
        <p:txBody>
          <a:bodyPr/>
          <a:lstStyle/>
          <a:p>
            <a:pPr algn="ctr">
              <a:defRPr sz="1800" b="1" i="0">
                <a:solidFill>
                  <a:srgbClr val="C89B4A"/>
                </a:solidFill>
                <a:latin typeface="Times New Roman" panose="02020603050405020304"/>
                <a:ea typeface="Times New Roman" panose="02020603050405020304"/>
                <a:cs typeface="Times New Roman" panose="02020603050405020304"/>
              </a:defRPr>
            </a:pPr>
            <a:r>
              <a:rPr sz="1800" b="1" i="0">
                <a:solidFill>
                  <a:srgbClr val="C89B4A"/>
                </a:solidFill>
                <a:latin typeface="Times New Roman" panose="02020603050405020304"/>
                <a:ea typeface="Times New Roman" panose="02020603050405020304"/>
                <a:cs typeface="Times New Roman" panose="02020603050405020304"/>
              </a:rPr>
              <a:t>vs</a:t>
            </a:r>
            <a:endParaRPr sz="1800" b="1" i="0">
              <a:solidFill>
                <a:srgbClr val="C89B4A"/>
              </a:solidFill>
              <a:latin typeface="Times New Roman" panose="02020603050405020304"/>
              <a:ea typeface="Times New Roman" panose="02020603050405020304"/>
              <a:cs typeface="Times New Roman" panose="02020603050405020304"/>
            </a:endParaRPr>
          </a:p>
        </p:txBody>
      </p:sp>
      <p:sp>
        <p:nvSpPr>
          <p:cNvPr id="18" name="圆角矩形 17"/>
          <p:cNvSpPr>
            <a:spLocks noGrp="1"/>
          </p:cNvSpPr>
          <p:nvPr/>
        </p:nvSpPr>
        <p:spPr>
          <a:xfrm>
            <a:off x="1714500" y="5219700"/>
            <a:ext cx="8763000" cy="781050"/>
          </a:xfrm>
          <a:prstGeom prst="roundRect">
            <a:avLst>
              <a:gd name="adj" fmla="val 9756"/>
            </a:avLst>
          </a:prstGeom>
          <a:solidFill>
            <a:srgbClr val="FFF9F0"/>
          </a:solidFill>
          <a:ln w="9525">
            <a:solidFill>
              <a:srgbClr val="E8DCCB"/>
            </a:solidFill>
            <a:prstDash val="solid"/>
          </a:ln>
        </p:spPr>
      </p:sp>
      <p:sp>
        <p:nvSpPr>
          <p:cNvPr id="19" name="矩形 18"/>
          <p:cNvSpPr>
            <a:spLocks noGrp="1"/>
          </p:cNvSpPr>
          <p:nvPr/>
        </p:nvSpPr>
        <p:spPr>
          <a:xfrm>
            <a:off x="1714500" y="5219700"/>
            <a:ext cx="57150" cy="781050"/>
          </a:xfrm>
          <a:prstGeom prst="rect">
            <a:avLst/>
          </a:prstGeom>
          <a:solidFill>
            <a:srgbClr val="C89B4A"/>
          </a:solidFill>
          <a:ln w="0">
            <a:solidFill>
              <a:srgbClr val="C89B4A"/>
            </a:solidFill>
            <a:prstDash val="solid"/>
          </a:ln>
        </p:spPr>
      </p:sp>
      <p:sp>
        <p:nvSpPr>
          <p:cNvPr id="20" name="矩形 19"/>
          <p:cNvSpPr>
            <a:spLocks noGrp="1"/>
          </p:cNvSpPr>
          <p:nvPr/>
        </p:nvSpPr>
        <p:spPr>
          <a:xfrm>
            <a:off x="1885950" y="5334000"/>
            <a:ext cx="8477250" cy="285750"/>
          </a:xfrm>
          <a:prstGeom prst="rect">
            <a:avLst/>
          </a:prstGeom>
          <a:noFill/>
          <a:ln w="0">
            <a:noFill/>
            <a:prstDash val="solid"/>
          </a:ln>
        </p:spPr>
        <p:txBody>
          <a:bodyPr/>
          <a:lstStyle/>
          <a:p>
            <a:pPr algn="l">
              <a:defRPr sz="1575" b="1" i="0">
                <a:solidFill>
                  <a:srgbClr val="1E2433"/>
                </a:solidFill>
                <a:latin typeface="Times New Roman" panose="02020603050405020304"/>
                <a:ea typeface="Times New Roman" panose="02020603050405020304"/>
                <a:cs typeface="Times New Roman" panose="02020603050405020304"/>
              </a:defRPr>
            </a:pPr>
            <a:r>
              <a:rPr sz="1575" b="1" i="0">
                <a:solidFill>
                  <a:srgbClr val="1E2433"/>
                </a:solidFill>
                <a:latin typeface="Times New Roman" panose="02020603050405020304"/>
                <a:ea typeface="Times New Roman" panose="02020603050405020304"/>
                <a:cs typeface="Times New Roman" panose="02020603050405020304"/>
              </a:rPr>
              <a:t>What this slide does</a:t>
            </a:r>
            <a:endParaRPr sz="1575" b="1" i="0">
              <a:solidFill>
                <a:srgbClr val="1E2433"/>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1885950" y="5676900"/>
            <a:ext cx="8477250" cy="209550"/>
          </a:xfrm>
          <a:prstGeom prst="rect">
            <a:avLst/>
          </a:prstGeom>
          <a:noFill/>
          <a:ln w="0">
            <a:noFill/>
            <a:prstDash val="solid"/>
          </a:ln>
        </p:spPr>
        <p:txBody>
          <a:bodyPr/>
          <a:lstStyle/>
          <a:p>
            <a:pPr algn="l">
              <a:defRPr sz="1275" b="0" i="0">
                <a:solidFill>
                  <a:srgbClr val="5E6675"/>
                </a:solidFill>
                <a:latin typeface="Times New Roman" panose="02020603050405020304"/>
                <a:ea typeface="Times New Roman" panose="02020603050405020304"/>
                <a:cs typeface="Times New Roman" panose="02020603050405020304"/>
              </a:defRPr>
            </a:pPr>
            <a:r>
              <a:rPr sz="1275" b="0" i="0">
                <a:solidFill>
                  <a:srgbClr val="5E6675"/>
                </a:solidFill>
                <a:latin typeface="Times New Roman" panose="02020603050405020304"/>
                <a:ea typeface="Times New Roman" panose="02020603050405020304"/>
                <a:cs typeface="Times New Roman" panose="02020603050405020304"/>
              </a:rPr>
              <a:t>It separates the behavioral fact of reduced search from the normative question of whether reduced search actually harms posterior judgment.</a:t>
            </a:r>
            <a:endParaRPr sz="1275" b="0" i="0">
              <a:solidFill>
                <a:srgbClr val="5E66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p:sp>
        <p:nvSpPr>
          <p:cNvPr id="2" name="椭圆 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3" name="椭圆 2"/>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4" name="矩形 3"/>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5" name="矩形 4"/>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6" name="矩形 5"/>
          <p:cNvSpPr>
            <a:spLocks noGrp="1"/>
          </p:cNvSpPr>
          <p:nvPr/>
        </p:nvSpPr>
        <p:spPr>
          <a:xfrm>
            <a:off x="1181100" y="571500"/>
            <a:ext cx="4000500" cy="228600"/>
          </a:xfrm>
          <a:prstGeom prst="rect">
            <a:avLst/>
          </a:prstGeom>
          <a:noFill/>
          <a:ln w="0">
            <a:noFill/>
            <a:prstDash val="solid"/>
          </a:ln>
        </p:spPr>
        <p:txBody>
          <a:bodyPr/>
          <a:lstStyle/>
          <a:p>
            <a:pPr algn="l">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a:ea typeface="Times New Roman" panose="02020603050405020304"/>
                <a:cs typeface="Times New Roman" panose="02020603050405020304"/>
              </a:rPr>
              <a:t>EXISTING WORK</a:t>
            </a:r>
            <a:endParaRPr sz="1050" b="1" i="0">
              <a:solidFill>
                <a:srgbClr val="B45A3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914400"/>
            <a:ext cx="10096500" cy="704850"/>
          </a:xfrm>
          <a:prstGeom prst="rect">
            <a:avLst/>
          </a:prstGeom>
          <a:noFill/>
          <a:ln w="0">
            <a:noFill/>
            <a:prstDash val="solid"/>
          </a:ln>
        </p:spPr>
        <p:txBody>
          <a:bodyPr/>
          <a:lstStyle/>
          <a:p>
            <a:pPr algn="l">
              <a:defRPr sz="2250" b="1" i="0">
                <a:solidFill>
                  <a:srgbClr val="1E2433"/>
                </a:solidFill>
                <a:latin typeface="Times New Roman" panose="02020603050405020304"/>
                <a:ea typeface="Times New Roman" panose="02020603050405020304"/>
                <a:cs typeface="Times New Roman" panose="02020603050405020304"/>
              </a:defRPr>
            </a:pPr>
            <a:r>
              <a:rPr sz="2250" b="1" i="0">
                <a:solidFill>
                  <a:srgbClr val="1E2433"/>
                </a:solidFill>
                <a:latin typeface="Times New Roman" panose="02020603050405020304"/>
                <a:ea typeface="Times New Roman" panose="02020603050405020304"/>
                <a:cs typeface="Times New Roman" panose="02020603050405020304"/>
              </a:rPr>
              <a:t>The literature gives us reduced search and automation bias, but not a direct account of information calibration</a:t>
            </a:r>
            <a:endParaRPr sz="2250" b="1" i="0">
              <a:solidFill>
                <a:srgbClr val="1E2433"/>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676400"/>
            <a:ext cx="10096500" cy="2857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This literature map shows the closest targets and clarifies why the paper must distinguish search behavior from evidentiary sufficiency and posterior quality.</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914400" y="2152650"/>
            <a:ext cx="10287000" cy="4171950"/>
          </a:xfrm>
          <a:prstGeom prst="roundRect">
            <a:avLst>
              <a:gd name="adj" fmla="val 2740"/>
            </a:avLst>
          </a:prstGeom>
          <a:solidFill>
            <a:srgbClr val="FFFDFC"/>
          </a:solidFill>
          <a:ln w="9525">
            <a:solidFill>
              <a:srgbClr val="E8DCCB"/>
            </a:solidFill>
            <a:prstDash val="solid"/>
          </a:ln>
        </p:spPr>
      </p:sp>
      <p:pic>
        <p:nvPicPr>
          <p:cNvPr id="18" name="图片 17"/>
          <p:cNvPicPr>
            <a:picLocks noChangeAspect="1"/>
          </p:cNvPicPr>
          <p:nvPr/>
        </p:nvPicPr>
        <p:blipFill>
          <a:blip r:embed="rId1"/>
          <a:stretch>
            <a:fillRect/>
          </a:stretch>
        </p:blipFill>
        <p:spPr>
          <a:xfrm>
            <a:off x="1445462" y="2286000"/>
            <a:ext cx="9224876" cy="3905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p:sp>
        <p:nvSpPr>
          <p:cNvPr id="2" name="椭圆 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3" name="椭圆 2"/>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4" name="矩形 3"/>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5" name="矩形 4"/>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6" name="矩形 5"/>
          <p:cNvSpPr>
            <a:spLocks noGrp="1"/>
          </p:cNvSpPr>
          <p:nvPr/>
        </p:nvSpPr>
        <p:spPr>
          <a:xfrm>
            <a:off x="1181100" y="571500"/>
            <a:ext cx="4000500" cy="228600"/>
          </a:xfrm>
          <a:prstGeom prst="rect">
            <a:avLst/>
          </a:prstGeom>
          <a:noFill/>
          <a:ln w="0">
            <a:noFill/>
            <a:prstDash val="solid"/>
          </a:ln>
        </p:spPr>
        <p:txBody>
          <a:bodyPr/>
          <a:lstStyle/>
          <a:p>
            <a:pPr algn="l">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a:ea typeface="Times New Roman" panose="02020603050405020304"/>
                <a:cs typeface="Times New Roman" panose="02020603050405020304"/>
              </a:rPr>
              <a:t>TRADITIONAL BENCHMARK</a:t>
            </a:r>
            <a:endParaRPr sz="1050" b="1" i="0">
              <a:solidFill>
                <a:srgbClr val="B45A3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914400"/>
            <a:ext cx="10001250" cy="704850"/>
          </a:xfrm>
          <a:prstGeom prst="rect">
            <a:avLst/>
          </a:prstGeom>
          <a:noFill/>
          <a:ln w="0">
            <a:noFill/>
            <a:prstDash val="solid"/>
          </a:ln>
        </p:spPr>
        <p:txBody>
          <a:bodyPr/>
          <a:lstStyle/>
          <a:p>
            <a:pPr algn="l">
              <a:defRPr sz="2325" b="1" i="0">
                <a:solidFill>
                  <a:srgbClr val="1E2433"/>
                </a:solidFill>
                <a:latin typeface="Times New Roman" panose="02020603050405020304"/>
                <a:ea typeface="Times New Roman" panose="02020603050405020304"/>
                <a:cs typeface="Times New Roman" panose="02020603050405020304"/>
              </a:defRPr>
            </a:pPr>
            <a:r>
              <a:rPr sz="2325" b="1" i="0">
                <a:solidFill>
                  <a:srgbClr val="1E2433"/>
                </a:solidFill>
                <a:latin typeface="Times New Roman" panose="02020603050405020304"/>
                <a:ea typeface="Times New Roman" panose="02020603050405020304"/>
                <a:cs typeface="Times New Roman" panose="02020603050405020304"/>
              </a:rPr>
              <a:t>The standard benchmark says people should stop when extra evidence is no longer worth its cost</a:t>
            </a:r>
            <a:endParaRPr sz="2325" b="1" i="0">
              <a:solidFill>
                <a:srgbClr val="1E2433"/>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676400"/>
            <a:ext cx="10096500" cy="2857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Under a rational search view, less search is not itself a failure. It becomes a problem only when people stop too early.</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914400" y="2343150"/>
            <a:ext cx="3086100" cy="2362200"/>
          </a:xfrm>
          <a:prstGeom prst="roundRect">
            <a:avLst>
              <a:gd name="adj" fmla="val 3226"/>
            </a:avLst>
          </a:prstGeom>
          <a:solidFill>
            <a:srgbClr val="FFF9F0"/>
          </a:solidFill>
          <a:ln w="9525">
            <a:solidFill>
              <a:srgbClr val="E8DCCB"/>
            </a:solidFill>
            <a:prstDash val="solid"/>
          </a:ln>
        </p:spPr>
      </p:sp>
      <p:sp>
        <p:nvSpPr>
          <p:cNvPr id="10" name="矩形 9"/>
          <p:cNvSpPr>
            <a:spLocks noGrp="1"/>
          </p:cNvSpPr>
          <p:nvPr/>
        </p:nvSpPr>
        <p:spPr>
          <a:xfrm>
            <a:off x="914400" y="2343150"/>
            <a:ext cx="57150" cy="2362200"/>
          </a:xfrm>
          <a:prstGeom prst="rect">
            <a:avLst/>
          </a:prstGeom>
          <a:solidFill>
            <a:srgbClr val="78836A"/>
          </a:solidFill>
          <a:ln w="0">
            <a:solidFill>
              <a:srgbClr val="78836A"/>
            </a:solidFill>
            <a:prstDash val="solid"/>
          </a:ln>
        </p:spPr>
      </p:sp>
      <p:sp>
        <p:nvSpPr>
          <p:cNvPr id="11" name="矩形 10"/>
          <p:cNvSpPr>
            <a:spLocks noGrp="1"/>
          </p:cNvSpPr>
          <p:nvPr/>
        </p:nvSpPr>
        <p:spPr>
          <a:xfrm>
            <a:off x="1085850" y="2457450"/>
            <a:ext cx="2800350" cy="285750"/>
          </a:xfrm>
          <a:prstGeom prst="rect">
            <a:avLst/>
          </a:prstGeom>
          <a:noFill/>
          <a:ln w="0">
            <a:noFill/>
            <a:prstDash val="solid"/>
          </a:ln>
        </p:spPr>
        <p:txBody>
          <a:bodyPr/>
          <a:lstStyle/>
          <a:p>
            <a:pPr algn="l">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a:ea typeface="Times New Roman" panose="02020603050405020304"/>
                <a:cs typeface="Times New Roman" panose="02020603050405020304"/>
              </a:rPr>
              <a:t>Step 1</a:t>
            </a:r>
            <a:endParaRPr sz="1800" b="1" i="0">
              <a:solidFill>
                <a:srgbClr val="1E2433"/>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085850" y="2800350"/>
            <a:ext cx="2800350" cy="1790700"/>
          </a:xfrm>
          <a:prstGeom prst="rect">
            <a:avLst/>
          </a:prstGeom>
          <a:noFill/>
          <a:ln w="0">
            <a:noFill/>
            <a:prstDash val="solid"/>
          </a:ln>
        </p:spPr>
        <p:txBody>
          <a:bodyPr/>
          <a:lstStyle/>
          <a:p>
            <a:pPr algn="l">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a:ea typeface="Times New Roman" panose="02020603050405020304"/>
                <a:cs typeface="Times New Roman" panose="02020603050405020304"/>
              </a:rPr>
              <a:t>Users weigh the expected value of additional evidence against the cost of getting it.</a:t>
            </a:r>
            <a:endParaRPr sz="1500" b="0" i="0">
              <a:solidFill>
                <a:srgbClr val="5E6675"/>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4552950" y="2343150"/>
            <a:ext cx="3086100" cy="2362200"/>
          </a:xfrm>
          <a:prstGeom prst="roundRect">
            <a:avLst>
              <a:gd name="adj" fmla="val 3226"/>
            </a:avLst>
          </a:prstGeom>
          <a:solidFill>
            <a:srgbClr val="FFF9F0"/>
          </a:solidFill>
          <a:ln w="9525">
            <a:solidFill>
              <a:srgbClr val="E8DCCB"/>
            </a:solidFill>
            <a:prstDash val="solid"/>
          </a:ln>
        </p:spPr>
      </p:sp>
      <p:sp>
        <p:nvSpPr>
          <p:cNvPr id="14" name="矩形 13"/>
          <p:cNvSpPr>
            <a:spLocks noGrp="1"/>
          </p:cNvSpPr>
          <p:nvPr/>
        </p:nvSpPr>
        <p:spPr>
          <a:xfrm>
            <a:off x="4552950" y="2343150"/>
            <a:ext cx="57150" cy="2362200"/>
          </a:xfrm>
          <a:prstGeom prst="rect">
            <a:avLst/>
          </a:prstGeom>
          <a:solidFill>
            <a:srgbClr val="C89B4A"/>
          </a:solidFill>
          <a:ln w="0">
            <a:solidFill>
              <a:srgbClr val="C89B4A"/>
            </a:solidFill>
            <a:prstDash val="solid"/>
          </a:ln>
        </p:spPr>
      </p:sp>
      <p:sp>
        <p:nvSpPr>
          <p:cNvPr id="15" name="矩形 14"/>
          <p:cNvSpPr>
            <a:spLocks noGrp="1"/>
          </p:cNvSpPr>
          <p:nvPr/>
        </p:nvSpPr>
        <p:spPr>
          <a:xfrm>
            <a:off x="4724400" y="2457450"/>
            <a:ext cx="2800350" cy="285750"/>
          </a:xfrm>
          <a:prstGeom prst="rect">
            <a:avLst/>
          </a:prstGeom>
          <a:noFill/>
          <a:ln w="0">
            <a:noFill/>
            <a:prstDash val="solid"/>
          </a:ln>
        </p:spPr>
        <p:txBody>
          <a:bodyPr/>
          <a:lstStyle/>
          <a:p>
            <a:pPr algn="l">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a:ea typeface="Times New Roman" panose="02020603050405020304"/>
                <a:cs typeface="Times New Roman" panose="02020603050405020304"/>
              </a:rPr>
              <a:t>Step 2</a:t>
            </a:r>
            <a:endParaRPr sz="1800" b="1" i="0">
              <a:solidFill>
                <a:srgbClr val="1E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4724400" y="2800350"/>
            <a:ext cx="2800350" cy="1790700"/>
          </a:xfrm>
          <a:prstGeom prst="rect">
            <a:avLst/>
          </a:prstGeom>
          <a:noFill/>
          <a:ln w="0">
            <a:noFill/>
            <a:prstDash val="solid"/>
          </a:ln>
        </p:spPr>
        <p:txBody>
          <a:bodyPr/>
          <a:lstStyle/>
          <a:p>
            <a:pPr algn="l">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a:ea typeface="Times New Roman" panose="02020603050405020304"/>
                <a:cs typeface="Times New Roman" panose="02020603050405020304"/>
              </a:rPr>
              <a:t>They continue searching if more evidence is still likely to change the posterior enough to matter.</a:t>
            </a:r>
            <a:endParaRPr sz="1500" b="0" i="0">
              <a:solidFill>
                <a:srgbClr val="5E6675"/>
              </a:solidFill>
              <a:latin typeface="Times New Roman" panose="02020603050405020304"/>
              <a:ea typeface="Times New Roman" panose="02020603050405020304"/>
              <a:cs typeface="Times New Roman" panose="02020603050405020304"/>
            </a:endParaRPr>
          </a:p>
        </p:txBody>
      </p:sp>
      <p:sp>
        <p:nvSpPr>
          <p:cNvPr id="17" name="圆角矩形 16"/>
          <p:cNvSpPr>
            <a:spLocks noGrp="1"/>
          </p:cNvSpPr>
          <p:nvPr/>
        </p:nvSpPr>
        <p:spPr>
          <a:xfrm>
            <a:off x="8191500" y="2343150"/>
            <a:ext cx="3009900" cy="2362200"/>
          </a:xfrm>
          <a:prstGeom prst="roundRect">
            <a:avLst>
              <a:gd name="adj" fmla="val 3226"/>
            </a:avLst>
          </a:prstGeom>
          <a:solidFill>
            <a:srgbClr val="FFF9F0"/>
          </a:solidFill>
          <a:ln w="9525">
            <a:solidFill>
              <a:srgbClr val="E8DCCB"/>
            </a:solidFill>
            <a:prstDash val="solid"/>
          </a:ln>
        </p:spPr>
      </p:sp>
      <p:sp>
        <p:nvSpPr>
          <p:cNvPr id="18" name="矩形 17"/>
          <p:cNvSpPr>
            <a:spLocks noGrp="1"/>
          </p:cNvSpPr>
          <p:nvPr/>
        </p:nvSpPr>
        <p:spPr>
          <a:xfrm>
            <a:off x="8191500" y="2343150"/>
            <a:ext cx="57150" cy="2362200"/>
          </a:xfrm>
          <a:prstGeom prst="rect">
            <a:avLst/>
          </a:prstGeom>
          <a:solidFill>
            <a:srgbClr val="B45A3C"/>
          </a:solidFill>
          <a:ln w="0">
            <a:solidFill>
              <a:srgbClr val="B45A3C"/>
            </a:solidFill>
            <a:prstDash val="solid"/>
          </a:ln>
        </p:spPr>
      </p:sp>
      <p:sp>
        <p:nvSpPr>
          <p:cNvPr id="19" name="矩形 18"/>
          <p:cNvSpPr>
            <a:spLocks noGrp="1"/>
          </p:cNvSpPr>
          <p:nvPr/>
        </p:nvSpPr>
        <p:spPr>
          <a:xfrm>
            <a:off x="8362950" y="2457450"/>
            <a:ext cx="2724150" cy="285750"/>
          </a:xfrm>
          <a:prstGeom prst="rect">
            <a:avLst/>
          </a:prstGeom>
          <a:noFill/>
          <a:ln w="0">
            <a:noFill/>
            <a:prstDash val="solid"/>
          </a:ln>
        </p:spPr>
        <p:txBody>
          <a:bodyPr/>
          <a:lstStyle/>
          <a:p>
            <a:pPr algn="l">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a:ea typeface="Times New Roman" panose="02020603050405020304"/>
                <a:cs typeface="Times New Roman" panose="02020603050405020304"/>
              </a:rPr>
              <a:t>Implication</a:t>
            </a:r>
            <a:endParaRPr sz="1800" b="1" i="0">
              <a:solidFill>
                <a:srgbClr val="1E2433"/>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8362950" y="2800350"/>
            <a:ext cx="2724150" cy="1790700"/>
          </a:xfrm>
          <a:prstGeom prst="rect">
            <a:avLst/>
          </a:prstGeom>
          <a:noFill/>
          <a:ln w="0">
            <a:noFill/>
            <a:prstDash val="solid"/>
          </a:ln>
        </p:spPr>
        <p:txBody>
          <a:bodyPr/>
          <a:lstStyle/>
          <a:p>
            <a:pPr algn="l">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a:ea typeface="Times New Roman" panose="02020603050405020304"/>
                <a:cs typeface="Times New Roman" panose="02020603050405020304"/>
              </a:rPr>
              <a:t>Reduced search is rational when information has already been efficiently compressed, but not when sufficiency is overestimated.</a:t>
            </a:r>
            <a:endParaRPr sz="1500" b="0" i="0">
              <a:solidFill>
                <a:srgbClr val="5E6675"/>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4095750" y="3352800"/>
            <a:ext cx="457200" cy="228600"/>
          </a:xfrm>
          <a:prstGeom prst="rect">
            <a:avLst/>
          </a:prstGeom>
          <a:noFill/>
          <a:ln w="0">
            <a:noFill/>
            <a:prstDash val="solid"/>
          </a:ln>
        </p:spPr>
        <p:txBody>
          <a:bodyPr/>
          <a:lstStyle/>
          <a:p>
            <a:pPr algn="ctr">
              <a:defRPr sz="1800" b="1" i="0">
                <a:solidFill>
                  <a:srgbClr val="5E6675"/>
                </a:solidFill>
                <a:latin typeface="Times New Roman" panose="02020603050405020304"/>
                <a:ea typeface="Times New Roman" panose="02020603050405020304"/>
                <a:cs typeface="Times New Roman" panose="02020603050405020304"/>
              </a:defRPr>
            </a:pPr>
            <a:r>
              <a:rPr sz="1800" b="1" i="0">
                <a:solidFill>
                  <a:srgbClr val="5E6675"/>
                </a:solidFill>
                <a:latin typeface="Times New Roman" panose="02020603050405020304"/>
                <a:ea typeface="Times New Roman" panose="02020603050405020304"/>
                <a:cs typeface="Times New Roman" panose="02020603050405020304"/>
              </a:rPr>
              <a:t>→</a:t>
            </a:r>
            <a:endParaRPr sz="1800" b="1" i="0">
              <a:solidFill>
                <a:srgbClr val="5E6675"/>
              </a:solidFill>
              <a:latin typeface="Times New Roman" panose="02020603050405020304"/>
              <a:ea typeface="Times New Roman" panose="02020603050405020304"/>
              <a:cs typeface="Times New Roman" panose="02020603050405020304"/>
            </a:endParaRPr>
          </a:p>
        </p:txBody>
      </p:sp>
      <p:sp>
        <p:nvSpPr>
          <p:cNvPr id="22" name="矩形 21"/>
          <p:cNvSpPr>
            <a:spLocks noGrp="1"/>
          </p:cNvSpPr>
          <p:nvPr/>
        </p:nvSpPr>
        <p:spPr>
          <a:xfrm>
            <a:off x="7734300" y="3352800"/>
            <a:ext cx="457200" cy="228600"/>
          </a:xfrm>
          <a:prstGeom prst="rect">
            <a:avLst/>
          </a:prstGeom>
          <a:noFill/>
          <a:ln w="0">
            <a:noFill/>
            <a:prstDash val="solid"/>
          </a:ln>
        </p:spPr>
        <p:txBody>
          <a:bodyPr/>
          <a:lstStyle/>
          <a:p>
            <a:pPr algn="ctr">
              <a:defRPr sz="1800" b="1" i="0">
                <a:solidFill>
                  <a:srgbClr val="5E6675"/>
                </a:solidFill>
                <a:latin typeface="Times New Roman" panose="02020603050405020304"/>
                <a:ea typeface="Times New Roman" panose="02020603050405020304"/>
                <a:cs typeface="Times New Roman" panose="02020603050405020304"/>
              </a:defRPr>
            </a:pPr>
            <a:r>
              <a:rPr sz="1800" b="1" i="0">
                <a:solidFill>
                  <a:srgbClr val="5E6675"/>
                </a:solidFill>
                <a:latin typeface="Times New Roman" panose="02020603050405020304"/>
                <a:ea typeface="Times New Roman" panose="02020603050405020304"/>
                <a:cs typeface="Times New Roman" panose="02020603050405020304"/>
              </a:rPr>
              <a:t>→</a:t>
            </a:r>
            <a:endParaRPr sz="1800" b="1" i="0">
              <a:solidFill>
                <a:srgbClr val="5E6675"/>
              </a:solidFill>
              <a:latin typeface="Times New Roman" panose="02020603050405020304"/>
              <a:ea typeface="Times New Roman" panose="02020603050405020304"/>
              <a:cs typeface="Times New Roman" panose="02020603050405020304"/>
            </a:endParaRPr>
          </a:p>
        </p:txBody>
      </p:sp>
      <p:sp>
        <p:nvSpPr>
          <p:cNvPr id="23" name="矩形 22"/>
          <p:cNvSpPr>
            <a:spLocks noGrp="1"/>
          </p:cNvSpPr>
          <p:nvPr/>
        </p:nvSpPr>
        <p:spPr>
          <a:xfrm>
            <a:off x="1581150" y="5219700"/>
            <a:ext cx="9029700" cy="457200"/>
          </a:xfrm>
          <a:prstGeom prst="rect">
            <a:avLst/>
          </a:prstGeom>
          <a:noFill/>
          <a:ln w="0">
            <a:noFill/>
            <a:prstDash val="solid"/>
          </a:ln>
        </p:spPr>
        <p:txBody>
          <a:bodyPr/>
          <a:lstStyle/>
          <a:p>
            <a:pPr algn="ctr">
              <a:defRPr sz="1650" b="1" i="0">
                <a:solidFill>
                  <a:srgbClr val="B45A3C"/>
                </a:solidFill>
                <a:latin typeface="Times New Roman" panose="02020603050405020304"/>
                <a:ea typeface="Times New Roman" panose="02020603050405020304"/>
                <a:cs typeface="Times New Roman" panose="02020603050405020304"/>
              </a:defRPr>
            </a:pPr>
            <a:r>
              <a:rPr sz="1650" b="1" i="0">
                <a:solidFill>
                  <a:srgbClr val="B45A3C"/>
                </a:solidFill>
                <a:latin typeface="Times New Roman" panose="02020603050405020304"/>
                <a:ea typeface="Times New Roman" panose="02020603050405020304"/>
                <a:cs typeface="Times New Roman" panose="02020603050405020304"/>
              </a:rPr>
              <a:t>This is why the main question is not whether AI reduces search, but whether it changes the stopping rule in a way that remains normatively justified.</a:t>
            </a:r>
            <a:endParaRPr sz="1650" b="1" i="0">
              <a:solidFill>
                <a:srgbClr val="B45A3C"/>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p:sp>
        <p:nvSpPr>
          <p:cNvPr id="2" name="椭圆 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3" name="椭圆 2"/>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4" name="矩形 3"/>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5" name="矩形 4"/>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6" name="矩形 5"/>
          <p:cNvSpPr>
            <a:spLocks noGrp="1"/>
          </p:cNvSpPr>
          <p:nvPr/>
        </p:nvSpPr>
        <p:spPr>
          <a:xfrm>
            <a:off x="1181100" y="571500"/>
            <a:ext cx="4000500" cy="228600"/>
          </a:xfrm>
          <a:prstGeom prst="rect">
            <a:avLst/>
          </a:prstGeom>
          <a:noFill/>
          <a:ln w="0">
            <a:noFill/>
            <a:prstDash val="solid"/>
          </a:ln>
        </p:spPr>
        <p:txBody>
          <a:bodyPr/>
          <a:lstStyle/>
          <a:p>
            <a:pPr algn="l">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a:ea typeface="Times New Roman" panose="02020603050405020304"/>
                <a:cs typeface="Times New Roman" panose="02020603050405020304"/>
              </a:rPr>
              <a:t>GAP</a:t>
            </a:r>
            <a:endParaRPr sz="1050" b="1" i="0">
              <a:solidFill>
                <a:srgbClr val="B45A3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914400"/>
            <a:ext cx="9715500" cy="704850"/>
          </a:xfrm>
          <a:prstGeom prst="rect">
            <a:avLst/>
          </a:prstGeom>
          <a:noFill/>
          <a:ln w="0">
            <a:noFill/>
            <a:prstDash val="solid"/>
          </a:ln>
        </p:spPr>
        <p:txBody>
          <a:bodyPr/>
          <a:lstStyle/>
          <a:p>
            <a:pPr algn="l">
              <a:defRPr sz="2400" b="1" i="0">
                <a:solidFill>
                  <a:srgbClr val="1E2433"/>
                </a:solidFill>
                <a:latin typeface="Times New Roman" panose="02020603050405020304"/>
                <a:ea typeface="Times New Roman" panose="02020603050405020304"/>
                <a:cs typeface="Times New Roman" panose="02020603050405020304"/>
              </a:defRPr>
            </a:pPr>
            <a:r>
              <a:rPr sz="2400" b="1" i="0">
                <a:solidFill>
                  <a:srgbClr val="1E2433"/>
                </a:solidFill>
                <a:latin typeface="Times New Roman" panose="02020603050405020304"/>
                <a:ea typeface="Times New Roman" panose="02020603050405020304"/>
                <a:cs typeface="Times New Roman" panose="02020603050405020304"/>
              </a:rPr>
              <a:t>What is still missing is the judgment of evidentiary sufficiency after an AI answer</a:t>
            </a:r>
            <a:endParaRPr sz="2400" b="1" i="0">
              <a:solidFill>
                <a:srgbClr val="1E2433"/>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676400"/>
            <a:ext cx="10096500" cy="2857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The unresolved issue is not simply search depth. It is whether answer-first systems change how complete the current evidence feels.</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914400" y="2247900"/>
            <a:ext cx="10287000" cy="1009650"/>
          </a:xfrm>
          <a:prstGeom prst="roundRect">
            <a:avLst>
              <a:gd name="adj" fmla="val 7547"/>
            </a:avLst>
          </a:prstGeom>
          <a:solidFill>
            <a:srgbClr val="FFF9F0"/>
          </a:solidFill>
          <a:ln w="9525">
            <a:solidFill>
              <a:srgbClr val="E8DCCB"/>
            </a:solidFill>
            <a:prstDash val="solid"/>
          </a:ln>
        </p:spPr>
      </p:sp>
      <p:sp>
        <p:nvSpPr>
          <p:cNvPr id="10" name="矩形 9"/>
          <p:cNvSpPr>
            <a:spLocks noGrp="1"/>
          </p:cNvSpPr>
          <p:nvPr/>
        </p:nvSpPr>
        <p:spPr>
          <a:xfrm>
            <a:off x="914400" y="2247900"/>
            <a:ext cx="57150" cy="1009650"/>
          </a:xfrm>
          <a:prstGeom prst="rect">
            <a:avLst/>
          </a:prstGeom>
          <a:solidFill>
            <a:srgbClr val="78836A"/>
          </a:solidFill>
          <a:ln w="0">
            <a:solidFill>
              <a:srgbClr val="78836A"/>
            </a:solidFill>
            <a:prstDash val="solid"/>
          </a:ln>
        </p:spPr>
      </p:sp>
      <p:sp>
        <p:nvSpPr>
          <p:cNvPr id="11" name="矩形 10"/>
          <p:cNvSpPr>
            <a:spLocks noGrp="1"/>
          </p:cNvSpPr>
          <p:nvPr/>
        </p:nvSpPr>
        <p:spPr>
          <a:xfrm>
            <a:off x="1085850" y="2362200"/>
            <a:ext cx="10001250" cy="285750"/>
          </a:xfrm>
          <a:prstGeom prst="rect">
            <a:avLst/>
          </a:prstGeom>
          <a:noFill/>
          <a:ln w="0">
            <a:noFill/>
            <a:prstDash val="solid"/>
          </a:ln>
        </p:spPr>
        <p:txBody>
          <a:bodyPr/>
          <a:lstStyle/>
          <a:p>
            <a:pPr algn="l">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a:ea typeface="Times New Roman" panose="02020603050405020304"/>
                <a:cs typeface="Times New Roman" panose="02020603050405020304"/>
              </a:rPr>
              <a:t>What has been shown</a:t>
            </a:r>
            <a:endParaRPr sz="1800" b="1" i="0">
              <a:solidFill>
                <a:srgbClr val="1E2433"/>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085850" y="2705100"/>
            <a:ext cx="10001250" cy="4381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AI can reduce search behavior, and algorithmic labels can shape later responses.</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914400" y="3429000"/>
            <a:ext cx="10287000" cy="1009650"/>
          </a:xfrm>
          <a:prstGeom prst="roundRect">
            <a:avLst>
              <a:gd name="adj" fmla="val 7547"/>
            </a:avLst>
          </a:prstGeom>
          <a:solidFill>
            <a:srgbClr val="FFF9F0"/>
          </a:solidFill>
          <a:ln w="9525">
            <a:solidFill>
              <a:srgbClr val="E8DCCB"/>
            </a:solidFill>
            <a:prstDash val="solid"/>
          </a:ln>
        </p:spPr>
      </p:sp>
      <p:sp>
        <p:nvSpPr>
          <p:cNvPr id="14" name="矩形 13"/>
          <p:cNvSpPr>
            <a:spLocks noGrp="1"/>
          </p:cNvSpPr>
          <p:nvPr/>
        </p:nvSpPr>
        <p:spPr>
          <a:xfrm>
            <a:off x="914400" y="3429000"/>
            <a:ext cx="57150" cy="1009650"/>
          </a:xfrm>
          <a:prstGeom prst="rect">
            <a:avLst/>
          </a:prstGeom>
          <a:solidFill>
            <a:srgbClr val="B45A3C"/>
          </a:solidFill>
          <a:ln w="0">
            <a:solidFill>
              <a:srgbClr val="B45A3C"/>
            </a:solidFill>
            <a:prstDash val="solid"/>
          </a:ln>
        </p:spPr>
      </p:sp>
      <p:sp>
        <p:nvSpPr>
          <p:cNvPr id="15" name="矩形 14"/>
          <p:cNvSpPr>
            <a:spLocks noGrp="1"/>
          </p:cNvSpPr>
          <p:nvPr/>
        </p:nvSpPr>
        <p:spPr>
          <a:xfrm>
            <a:off x="1085850" y="3543300"/>
            <a:ext cx="10001250" cy="285750"/>
          </a:xfrm>
          <a:prstGeom prst="rect">
            <a:avLst/>
          </a:prstGeom>
          <a:noFill/>
          <a:ln w="0">
            <a:noFill/>
            <a:prstDash val="solid"/>
          </a:ln>
        </p:spPr>
        <p:txBody>
          <a:bodyPr/>
          <a:lstStyle/>
          <a:p>
            <a:pPr algn="l">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a:ea typeface="Times New Roman" panose="02020603050405020304"/>
                <a:cs typeface="Times New Roman" panose="02020603050405020304"/>
              </a:rPr>
              <a:t>What remains unresolved</a:t>
            </a:r>
            <a:endParaRPr sz="1800" b="1" i="0">
              <a:solidFill>
                <a:srgbClr val="1E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1085850" y="3886200"/>
            <a:ext cx="10001250" cy="4381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We still do not know whether an AI summary changes users' judgment that the available evidence is already sufficient.</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17" name="圆角矩形 16"/>
          <p:cNvSpPr>
            <a:spLocks noGrp="1"/>
          </p:cNvSpPr>
          <p:nvPr/>
        </p:nvSpPr>
        <p:spPr>
          <a:xfrm>
            <a:off x="914400" y="4610100"/>
            <a:ext cx="10287000" cy="1009650"/>
          </a:xfrm>
          <a:prstGeom prst="roundRect">
            <a:avLst>
              <a:gd name="adj" fmla="val 7547"/>
            </a:avLst>
          </a:prstGeom>
          <a:solidFill>
            <a:srgbClr val="FFF9F0"/>
          </a:solidFill>
          <a:ln w="9525">
            <a:solidFill>
              <a:srgbClr val="E8DCCB"/>
            </a:solidFill>
            <a:prstDash val="solid"/>
          </a:ln>
        </p:spPr>
      </p:sp>
      <p:sp>
        <p:nvSpPr>
          <p:cNvPr id="18" name="矩形 17"/>
          <p:cNvSpPr>
            <a:spLocks noGrp="1"/>
          </p:cNvSpPr>
          <p:nvPr/>
        </p:nvSpPr>
        <p:spPr>
          <a:xfrm>
            <a:off x="914400" y="4610100"/>
            <a:ext cx="57150" cy="1009650"/>
          </a:xfrm>
          <a:prstGeom prst="rect">
            <a:avLst/>
          </a:prstGeom>
          <a:solidFill>
            <a:srgbClr val="C89B4A"/>
          </a:solidFill>
          <a:ln w="0">
            <a:solidFill>
              <a:srgbClr val="C89B4A"/>
            </a:solidFill>
            <a:prstDash val="solid"/>
          </a:ln>
        </p:spPr>
      </p:sp>
      <p:sp>
        <p:nvSpPr>
          <p:cNvPr id="19" name="矩形 18"/>
          <p:cNvSpPr>
            <a:spLocks noGrp="1"/>
          </p:cNvSpPr>
          <p:nvPr/>
        </p:nvSpPr>
        <p:spPr>
          <a:xfrm>
            <a:off x="1085850" y="4724400"/>
            <a:ext cx="10001250" cy="285750"/>
          </a:xfrm>
          <a:prstGeom prst="rect">
            <a:avLst/>
          </a:prstGeom>
          <a:noFill/>
          <a:ln w="0">
            <a:noFill/>
            <a:prstDash val="solid"/>
          </a:ln>
        </p:spPr>
        <p:txBody>
          <a:bodyPr/>
          <a:lstStyle/>
          <a:p>
            <a:pPr algn="l">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a:ea typeface="Times New Roman" panose="02020603050405020304"/>
                <a:cs typeface="Times New Roman" panose="02020603050405020304"/>
              </a:rPr>
              <a:t>Why that matters</a:t>
            </a:r>
            <a:endParaRPr sz="1800" b="1" i="0">
              <a:solidFill>
                <a:srgbClr val="1E2433"/>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1085850" y="5067300"/>
            <a:ext cx="10001250" cy="4381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If the sufficiency judgment shifts, then AI can alter later evidence acquisition, posterior beliefs, and subjective mastery at the same time.</a:t>
            </a:r>
            <a:endParaRPr sz="1350" b="0" i="0">
              <a:solidFill>
                <a:srgbClr val="5E66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p:sp>
        <p:nvSpPr>
          <p:cNvPr id="2" name="椭圆 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3" name="椭圆 2"/>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4" name="矩形 3"/>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5" name="矩形 4"/>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6" name="矩形 5"/>
          <p:cNvSpPr>
            <a:spLocks noGrp="1"/>
          </p:cNvSpPr>
          <p:nvPr/>
        </p:nvSpPr>
        <p:spPr>
          <a:xfrm>
            <a:off x="1181100" y="571500"/>
            <a:ext cx="4000500" cy="228600"/>
          </a:xfrm>
          <a:prstGeom prst="rect">
            <a:avLst/>
          </a:prstGeom>
          <a:noFill/>
          <a:ln w="0">
            <a:noFill/>
            <a:prstDash val="solid"/>
          </a:ln>
        </p:spPr>
        <p:txBody>
          <a:bodyPr/>
          <a:lstStyle/>
          <a:p>
            <a:pPr algn="l">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a:ea typeface="Times New Roman" panose="02020603050405020304"/>
                <a:cs typeface="Times New Roman" panose="02020603050405020304"/>
              </a:rPr>
              <a:t>FRAMING</a:t>
            </a:r>
            <a:endParaRPr sz="1050" b="1" i="0">
              <a:solidFill>
                <a:srgbClr val="B45A3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914400"/>
            <a:ext cx="10287000" cy="914400"/>
          </a:xfrm>
          <a:prstGeom prst="rect">
            <a:avLst/>
          </a:prstGeom>
          <a:noFill/>
          <a:ln w="0">
            <a:noFill/>
            <a:prstDash val="solid"/>
          </a:ln>
        </p:spPr>
        <p:txBody>
          <a:bodyPr/>
          <a:lstStyle/>
          <a:p>
            <a:pPr algn="l">
              <a:defRPr sz="2400" b="1" i="0">
                <a:solidFill>
                  <a:srgbClr val="1E2433"/>
                </a:solidFill>
                <a:latin typeface="Times New Roman" panose="02020603050405020304"/>
                <a:ea typeface="Times New Roman" panose="02020603050405020304"/>
                <a:cs typeface="Times New Roman" panose="02020603050405020304"/>
              </a:defRPr>
            </a:pPr>
            <a:r>
              <a:rPr sz="2400" b="1" i="0">
                <a:solidFill>
                  <a:srgbClr val="1E2433"/>
                </a:solidFill>
                <a:latin typeface="Times New Roman" panose="02020603050405020304"/>
                <a:ea typeface="Times New Roman" panose="02020603050405020304"/>
                <a:cs typeface="Times New Roman" panose="02020603050405020304"/>
              </a:rPr>
              <a:t>This paper studies information calibration rather than generic AI trust</a:t>
            </a:r>
            <a:endParaRPr sz="2400" b="1" i="0">
              <a:solidFill>
                <a:srgbClr val="1E2433"/>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885950"/>
            <a:ext cx="10096500" cy="2857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The core issue is whether perceived sufficiency stays aligned with the real value of further evidence.</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914400" y="2286000"/>
            <a:ext cx="4000500" cy="2724150"/>
          </a:xfrm>
          <a:prstGeom prst="roundRect">
            <a:avLst>
              <a:gd name="adj" fmla="val 2797"/>
            </a:avLst>
          </a:prstGeom>
          <a:solidFill>
            <a:srgbClr val="FFF9F0"/>
          </a:solidFill>
          <a:ln w="9525">
            <a:solidFill>
              <a:srgbClr val="E8DCCB"/>
            </a:solidFill>
            <a:prstDash val="solid"/>
          </a:ln>
        </p:spPr>
      </p:sp>
      <p:sp>
        <p:nvSpPr>
          <p:cNvPr id="10" name="矩形 9"/>
          <p:cNvSpPr>
            <a:spLocks noGrp="1"/>
          </p:cNvSpPr>
          <p:nvPr/>
        </p:nvSpPr>
        <p:spPr>
          <a:xfrm>
            <a:off x="914400" y="2286000"/>
            <a:ext cx="57150" cy="2724150"/>
          </a:xfrm>
          <a:prstGeom prst="rect">
            <a:avLst/>
          </a:prstGeom>
          <a:solidFill>
            <a:srgbClr val="B45A3C"/>
          </a:solidFill>
          <a:ln w="0">
            <a:solidFill>
              <a:srgbClr val="B45A3C"/>
            </a:solidFill>
            <a:prstDash val="solid"/>
          </a:ln>
        </p:spPr>
      </p:sp>
      <p:sp>
        <p:nvSpPr>
          <p:cNvPr id="11" name="矩形 10"/>
          <p:cNvSpPr>
            <a:spLocks noGrp="1"/>
          </p:cNvSpPr>
          <p:nvPr/>
        </p:nvSpPr>
        <p:spPr>
          <a:xfrm>
            <a:off x="1085850" y="2400300"/>
            <a:ext cx="3714750" cy="285750"/>
          </a:xfrm>
          <a:prstGeom prst="rect">
            <a:avLst/>
          </a:prstGeom>
          <a:noFill/>
          <a:ln w="0">
            <a:noFill/>
            <a:prstDash val="solid"/>
          </a:ln>
        </p:spPr>
        <p:txBody>
          <a:bodyPr/>
          <a:lstStyle/>
          <a:p>
            <a:pPr algn="l">
              <a:defRPr sz="2025" b="1" i="0">
                <a:solidFill>
                  <a:srgbClr val="1E2433"/>
                </a:solidFill>
                <a:latin typeface="Times New Roman" panose="02020603050405020304"/>
                <a:ea typeface="Times New Roman" panose="02020603050405020304"/>
                <a:cs typeface="Times New Roman" panose="02020603050405020304"/>
              </a:defRPr>
            </a:pPr>
            <a:r>
              <a:rPr sz="2025" b="1" i="0">
                <a:solidFill>
                  <a:srgbClr val="1E2433"/>
                </a:solidFill>
                <a:latin typeface="Times New Roman" panose="02020603050405020304"/>
                <a:ea typeface="Times New Roman" panose="02020603050405020304"/>
                <a:cs typeface="Times New Roman" panose="02020603050405020304"/>
              </a:rPr>
              <a:t>Algorithmic authority</a:t>
            </a:r>
            <a:endParaRPr sz="2025" b="1" i="0">
              <a:solidFill>
                <a:srgbClr val="1E2433"/>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085850" y="2743200"/>
            <a:ext cx="3714750" cy="2152650"/>
          </a:xfrm>
          <a:prstGeom prst="rect">
            <a:avLst/>
          </a:prstGeom>
          <a:noFill/>
          <a:ln w="0">
            <a:noFill/>
            <a:prstDash val="solid"/>
          </a:ln>
        </p:spPr>
        <p:txBody>
          <a:bodyPr/>
          <a:lstStyle/>
          <a:p>
            <a:pPr algn="l">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a:ea typeface="Times New Roman" panose="02020603050405020304"/>
                <a:cs typeface="Times New Roman" panose="02020603050405020304"/>
              </a:rPr>
              <a:t>The user may infer that the AI has already searched widely, integrated conflict, and handled counterevidence.</a:t>
            </a:r>
            <a:endParaRPr sz="1500" b="0" i="0">
              <a:solidFill>
                <a:srgbClr val="5E6675"/>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5238750" y="2286000"/>
            <a:ext cx="5962650" cy="2724150"/>
          </a:xfrm>
          <a:prstGeom prst="roundRect">
            <a:avLst>
              <a:gd name="adj" fmla="val 2797"/>
            </a:avLst>
          </a:prstGeom>
          <a:solidFill>
            <a:srgbClr val="FFF9F0"/>
          </a:solidFill>
          <a:ln w="9525">
            <a:solidFill>
              <a:srgbClr val="E8DCCB"/>
            </a:solidFill>
            <a:prstDash val="solid"/>
          </a:ln>
        </p:spPr>
      </p:sp>
      <p:sp>
        <p:nvSpPr>
          <p:cNvPr id="14" name="矩形 13"/>
          <p:cNvSpPr>
            <a:spLocks noGrp="1"/>
          </p:cNvSpPr>
          <p:nvPr/>
        </p:nvSpPr>
        <p:spPr>
          <a:xfrm>
            <a:off x="5238750" y="2286000"/>
            <a:ext cx="57150" cy="2724150"/>
          </a:xfrm>
          <a:prstGeom prst="rect">
            <a:avLst/>
          </a:prstGeom>
          <a:solidFill>
            <a:srgbClr val="C89B4A"/>
          </a:solidFill>
          <a:ln w="0">
            <a:solidFill>
              <a:srgbClr val="C89B4A"/>
            </a:solidFill>
            <a:prstDash val="solid"/>
          </a:ln>
        </p:spPr>
      </p:sp>
      <p:sp>
        <p:nvSpPr>
          <p:cNvPr id="15" name="矩形 14"/>
          <p:cNvSpPr>
            <a:spLocks noGrp="1"/>
          </p:cNvSpPr>
          <p:nvPr/>
        </p:nvSpPr>
        <p:spPr>
          <a:xfrm>
            <a:off x="5410200" y="2400300"/>
            <a:ext cx="5676900" cy="285750"/>
          </a:xfrm>
          <a:prstGeom prst="rect">
            <a:avLst/>
          </a:prstGeom>
          <a:noFill/>
          <a:ln w="0">
            <a:noFill/>
            <a:prstDash val="solid"/>
          </a:ln>
        </p:spPr>
        <p:txBody>
          <a:bodyPr/>
          <a:lstStyle/>
          <a:p>
            <a:pPr algn="l">
              <a:defRPr sz="2025" b="1" i="0">
                <a:solidFill>
                  <a:srgbClr val="1E2433"/>
                </a:solidFill>
                <a:latin typeface="Times New Roman" panose="02020603050405020304"/>
                <a:ea typeface="Times New Roman" panose="02020603050405020304"/>
                <a:cs typeface="Times New Roman" panose="02020603050405020304"/>
              </a:defRPr>
            </a:pPr>
            <a:r>
              <a:rPr sz="2025" b="1" i="0">
                <a:solidFill>
                  <a:srgbClr val="1E2433"/>
                </a:solidFill>
                <a:latin typeface="Times New Roman" panose="02020603050405020304"/>
                <a:ea typeface="Times New Roman" panose="02020603050405020304"/>
                <a:cs typeface="Times New Roman" panose="02020603050405020304"/>
              </a:rPr>
              <a:t>Information calibration</a:t>
            </a:r>
            <a:endParaRPr sz="2025" b="1" i="0">
              <a:solidFill>
                <a:srgbClr val="1E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5410200" y="2743200"/>
            <a:ext cx="5676900" cy="2152650"/>
          </a:xfrm>
          <a:prstGeom prst="rect">
            <a:avLst/>
          </a:prstGeom>
          <a:noFill/>
          <a:ln w="0">
            <a:noFill/>
            <a:prstDash val="solid"/>
          </a:ln>
        </p:spPr>
        <p:txBody>
          <a:bodyPr/>
          <a:lstStyle/>
          <a:p>
            <a:pPr algn="l">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a:ea typeface="Times New Roman" panose="02020603050405020304"/>
                <a:cs typeface="Times New Roman" panose="02020603050405020304"/>
              </a:rPr>
              <a:t>Information calibration asks whether users correctly value additional evidence.</a:t>
            </a:r>
            <a:endParaRPr sz="1500" b="0" i="0">
              <a:solidFill>
                <a:srgbClr val="5E6675"/>
              </a:solidFill>
              <a:latin typeface="Times New Roman" panose="02020603050405020304"/>
              <a:ea typeface="Times New Roman" panose="02020603050405020304"/>
              <a:cs typeface="Times New Roman" panose="02020603050405020304"/>
            </a:endParaRPr>
          </a:p>
          <a:p>
            <a:endParaRPr sz="1500"/>
          </a:p>
          <a:p>
            <a:pPr algn="l">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a:ea typeface="Times New Roman" panose="02020603050405020304"/>
                <a:cs typeface="Times New Roman" panose="02020603050405020304"/>
              </a:rPr>
              <a:t>Working definition:</a:t>
            </a:r>
            <a:endParaRPr sz="1500" b="0" i="0">
              <a:solidFill>
                <a:srgbClr val="5E6675"/>
              </a:solidFill>
              <a:latin typeface="Times New Roman" panose="02020603050405020304"/>
              <a:ea typeface="Times New Roman" panose="02020603050405020304"/>
              <a:cs typeface="Times New Roman" panose="02020603050405020304"/>
            </a:endParaRPr>
          </a:p>
          <a:p>
            <a:pPr algn="l">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a:ea typeface="Times New Roman" panose="02020603050405020304"/>
                <a:cs typeface="Times New Roman" panose="02020603050405020304"/>
              </a:rPr>
              <a:t>perceived evidentiary sufficiency remains aligned with the actual value of further search.</a:t>
            </a:r>
            <a:endParaRPr sz="1500" b="0" i="0">
              <a:solidFill>
                <a:srgbClr val="5E6675"/>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1714500" y="5391150"/>
            <a:ext cx="8763000" cy="247650"/>
          </a:xfrm>
          <a:prstGeom prst="rect">
            <a:avLst/>
          </a:prstGeom>
          <a:noFill/>
          <a:ln w="0">
            <a:noFill/>
            <a:prstDash val="solid"/>
          </a:ln>
        </p:spPr>
        <p:txBody>
          <a:bodyPr/>
          <a:lstStyle/>
          <a:p>
            <a:pPr algn="ctr">
              <a:defRPr sz="1500" b="0" i="1">
                <a:solidFill>
                  <a:srgbClr val="5E6675"/>
                </a:solidFill>
                <a:latin typeface="Times New Roman" panose="02020603050405020304"/>
                <a:ea typeface="Times New Roman" panose="02020603050405020304"/>
                <a:cs typeface="Times New Roman" panose="02020603050405020304"/>
              </a:defRPr>
            </a:pPr>
            <a:r>
              <a:rPr sz="1500" b="0" i="1">
                <a:solidFill>
                  <a:srgbClr val="5E6675"/>
                </a:solidFill>
                <a:latin typeface="Times New Roman" panose="02020603050405020304"/>
                <a:ea typeface="Times New Roman" panose="02020603050405020304"/>
                <a:cs typeface="Times New Roman" panose="02020603050405020304"/>
              </a:rPr>
              <a:t>The paper therefore treats AI authority as a change in how users evaluate whether more evidence is still worth obtaining.</a:t>
            </a:r>
            <a:endParaRPr sz="1500" b="0" i="1">
              <a:solidFill>
                <a:srgbClr val="5E66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p:sp>
        <p:nvSpPr>
          <p:cNvPr id="2" name="椭圆 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3" name="椭圆 2"/>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4" name="矩形 3"/>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5" name="矩形 4"/>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6" name="矩形 5"/>
          <p:cNvSpPr>
            <a:spLocks noGrp="1"/>
          </p:cNvSpPr>
          <p:nvPr/>
        </p:nvSpPr>
        <p:spPr>
          <a:xfrm>
            <a:off x="1181100" y="571500"/>
            <a:ext cx="4000500" cy="228600"/>
          </a:xfrm>
          <a:prstGeom prst="rect">
            <a:avLst/>
          </a:prstGeom>
          <a:noFill/>
          <a:ln w="0">
            <a:noFill/>
            <a:prstDash val="solid"/>
          </a:ln>
        </p:spPr>
        <p:txBody>
          <a:bodyPr/>
          <a:lstStyle/>
          <a:p>
            <a:pPr algn="l">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a:ea typeface="Times New Roman" panose="02020603050405020304"/>
                <a:cs typeface="Times New Roman" panose="02020603050405020304"/>
              </a:rPr>
              <a:t>MECHANISM</a:t>
            </a:r>
            <a:endParaRPr sz="1050" b="1" i="0">
              <a:solidFill>
                <a:srgbClr val="B45A3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914400"/>
            <a:ext cx="9334500" cy="704850"/>
          </a:xfrm>
          <a:prstGeom prst="rect">
            <a:avLst/>
          </a:prstGeom>
          <a:noFill/>
          <a:ln w="0">
            <a:noFill/>
            <a:prstDash val="solid"/>
          </a:ln>
        </p:spPr>
        <p:txBody>
          <a:bodyPr/>
          <a:lstStyle/>
          <a:p>
            <a:pPr algn="l">
              <a:defRPr sz="2625" b="1" i="0">
                <a:solidFill>
                  <a:srgbClr val="1E2433"/>
                </a:solidFill>
                <a:latin typeface="Times New Roman" panose="02020603050405020304"/>
                <a:ea typeface="Times New Roman" panose="02020603050405020304"/>
                <a:cs typeface="Times New Roman" panose="02020603050405020304"/>
              </a:defRPr>
            </a:pPr>
            <a:r>
              <a:rPr sz="2625" b="1" i="0">
                <a:solidFill>
                  <a:srgbClr val="1E2433"/>
                </a:solidFill>
                <a:latin typeface="Times New Roman" panose="02020603050405020304"/>
                <a:ea typeface="Times New Roman" panose="02020603050405020304"/>
                <a:cs typeface="Times New Roman" panose="02020603050405020304"/>
              </a:rPr>
              <a:t>AI summaries create a perceived signal structure</a:t>
            </a:r>
            <a:endParaRPr sz="2625" b="1" i="0">
              <a:solidFill>
                <a:srgbClr val="1E2433"/>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676400"/>
            <a:ext cx="10096500" cy="2857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Users do not read only the answer. They also infer what kind of hidden information process must have produced it.</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914400" y="2324100"/>
            <a:ext cx="3086100" cy="2362200"/>
          </a:xfrm>
          <a:prstGeom prst="roundRect">
            <a:avLst>
              <a:gd name="adj" fmla="val 3226"/>
            </a:avLst>
          </a:prstGeom>
          <a:solidFill>
            <a:srgbClr val="FFF9F0"/>
          </a:solidFill>
          <a:ln w="9525">
            <a:solidFill>
              <a:srgbClr val="E8DCCB"/>
            </a:solidFill>
            <a:prstDash val="solid"/>
          </a:ln>
        </p:spPr>
      </p:sp>
      <p:sp>
        <p:nvSpPr>
          <p:cNvPr id="10" name="矩形 9"/>
          <p:cNvSpPr>
            <a:spLocks noGrp="1"/>
          </p:cNvSpPr>
          <p:nvPr/>
        </p:nvSpPr>
        <p:spPr>
          <a:xfrm>
            <a:off x="914400" y="2324100"/>
            <a:ext cx="57150" cy="2362200"/>
          </a:xfrm>
          <a:prstGeom prst="rect">
            <a:avLst/>
          </a:prstGeom>
          <a:solidFill>
            <a:srgbClr val="78836A"/>
          </a:solidFill>
          <a:ln w="0">
            <a:solidFill>
              <a:srgbClr val="78836A"/>
            </a:solidFill>
            <a:prstDash val="solid"/>
          </a:ln>
        </p:spPr>
      </p:sp>
      <p:sp>
        <p:nvSpPr>
          <p:cNvPr id="11" name="矩形 10"/>
          <p:cNvSpPr>
            <a:spLocks noGrp="1"/>
          </p:cNvSpPr>
          <p:nvPr/>
        </p:nvSpPr>
        <p:spPr>
          <a:xfrm>
            <a:off x="1085850" y="2438400"/>
            <a:ext cx="2800350" cy="285750"/>
          </a:xfrm>
          <a:prstGeom prst="rect">
            <a:avLst/>
          </a:prstGeom>
          <a:noFill/>
          <a:ln w="0">
            <a:noFill/>
            <a:prstDash val="solid"/>
          </a:ln>
        </p:spPr>
        <p:txBody>
          <a:bodyPr/>
          <a:lstStyle/>
          <a:p>
            <a:pPr algn="l">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a:ea typeface="Times New Roman" panose="02020603050405020304"/>
                <a:cs typeface="Times New Roman" panose="02020603050405020304"/>
              </a:rPr>
              <a:t>Search already happened</a:t>
            </a:r>
            <a:endParaRPr sz="1800" b="1" i="0">
              <a:solidFill>
                <a:srgbClr val="1E2433"/>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085850" y="2781300"/>
            <a:ext cx="2800350" cy="1790700"/>
          </a:xfrm>
          <a:prstGeom prst="rect">
            <a:avLst/>
          </a:prstGeom>
          <a:noFill/>
          <a:ln w="0">
            <a:noFill/>
            <a:prstDash val="solid"/>
          </a:ln>
        </p:spPr>
        <p:txBody>
          <a:bodyPr/>
          <a:lstStyle/>
          <a:p>
            <a:pPr algn="l">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a:ea typeface="Times New Roman" panose="02020603050405020304"/>
                <a:cs typeface="Times New Roman" panose="02020603050405020304"/>
              </a:rPr>
              <a:t>The user may infer that the system has already looked across a wider evidence space.</a:t>
            </a:r>
            <a:endParaRPr sz="1425" b="0" i="0">
              <a:solidFill>
                <a:srgbClr val="5E6675"/>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4305300" y="2324100"/>
            <a:ext cx="3086100" cy="2362200"/>
          </a:xfrm>
          <a:prstGeom prst="roundRect">
            <a:avLst>
              <a:gd name="adj" fmla="val 3226"/>
            </a:avLst>
          </a:prstGeom>
          <a:solidFill>
            <a:srgbClr val="FFF9F0"/>
          </a:solidFill>
          <a:ln w="9525">
            <a:solidFill>
              <a:srgbClr val="E8DCCB"/>
            </a:solidFill>
            <a:prstDash val="solid"/>
          </a:ln>
        </p:spPr>
      </p:sp>
      <p:sp>
        <p:nvSpPr>
          <p:cNvPr id="14" name="矩形 13"/>
          <p:cNvSpPr>
            <a:spLocks noGrp="1"/>
          </p:cNvSpPr>
          <p:nvPr/>
        </p:nvSpPr>
        <p:spPr>
          <a:xfrm>
            <a:off x="4305300" y="2324100"/>
            <a:ext cx="57150" cy="2362200"/>
          </a:xfrm>
          <a:prstGeom prst="rect">
            <a:avLst/>
          </a:prstGeom>
          <a:solidFill>
            <a:srgbClr val="C89B4A"/>
          </a:solidFill>
          <a:ln w="0">
            <a:solidFill>
              <a:srgbClr val="C89B4A"/>
            </a:solidFill>
            <a:prstDash val="solid"/>
          </a:ln>
        </p:spPr>
      </p:sp>
      <p:sp>
        <p:nvSpPr>
          <p:cNvPr id="15" name="矩形 14"/>
          <p:cNvSpPr>
            <a:spLocks noGrp="1"/>
          </p:cNvSpPr>
          <p:nvPr/>
        </p:nvSpPr>
        <p:spPr>
          <a:xfrm>
            <a:off x="4476750" y="2438400"/>
            <a:ext cx="2800350" cy="285750"/>
          </a:xfrm>
          <a:prstGeom prst="rect">
            <a:avLst/>
          </a:prstGeom>
          <a:noFill/>
          <a:ln w="0">
            <a:noFill/>
            <a:prstDash val="solid"/>
          </a:ln>
        </p:spPr>
        <p:txBody>
          <a:bodyPr/>
          <a:lstStyle/>
          <a:p>
            <a:pPr algn="l">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a:ea typeface="Times New Roman" panose="02020603050405020304"/>
                <a:cs typeface="Times New Roman" panose="02020603050405020304"/>
              </a:rPr>
              <a:t>Conflict was compressed</a:t>
            </a:r>
            <a:endParaRPr sz="1800" b="1" i="0">
              <a:solidFill>
                <a:srgbClr val="1E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4476750" y="2781300"/>
            <a:ext cx="2800350" cy="1790700"/>
          </a:xfrm>
          <a:prstGeom prst="rect">
            <a:avLst/>
          </a:prstGeom>
          <a:noFill/>
          <a:ln w="0">
            <a:noFill/>
            <a:prstDash val="solid"/>
          </a:ln>
        </p:spPr>
        <p:txBody>
          <a:bodyPr/>
          <a:lstStyle/>
          <a:p>
            <a:pPr algn="l">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a:ea typeface="Times New Roman" panose="02020603050405020304"/>
                <a:cs typeface="Times New Roman" panose="02020603050405020304"/>
              </a:rPr>
              <a:t>The user may assume that the summary has already screened noise and organized disagreement.</a:t>
            </a:r>
            <a:endParaRPr sz="1425" b="0" i="0">
              <a:solidFill>
                <a:srgbClr val="5E6675"/>
              </a:solidFill>
              <a:latin typeface="Times New Roman" panose="02020603050405020304"/>
              <a:ea typeface="Times New Roman" panose="02020603050405020304"/>
              <a:cs typeface="Times New Roman" panose="02020603050405020304"/>
            </a:endParaRPr>
          </a:p>
        </p:txBody>
      </p:sp>
      <p:sp>
        <p:nvSpPr>
          <p:cNvPr id="17" name="圆角矩形 16"/>
          <p:cNvSpPr>
            <a:spLocks noGrp="1"/>
          </p:cNvSpPr>
          <p:nvPr/>
        </p:nvSpPr>
        <p:spPr>
          <a:xfrm>
            <a:off x="7696200" y="2324100"/>
            <a:ext cx="3086100" cy="2362200"/>
          </a:xfrm>
          <a:prstGeom prst="roundRect">
            <a:avLst>
              <a:gd name="adj" fmla="val 3226"/>
            </a:avLst>
          </a:prstGeom>
          <a:solidFill>
            <a:srgbClr val="FFF9F0"/>
          </a:solidFill>
          <a:ln w="9525">
            <a:solidFill>
              <a:srgbClr val="E8DCCB"/>
            </a:solidFill>
            <a:prstDash val="solid"/>
          </a:ln>
        </p:spPr>
      </p:sp>
      <p:sp>
        <p:nvSpPr>
          <p:cNvPr id="18" name="矩形 17"/>
          <p:cNvSpPr>
            <a:spLocks noGrp="1"/>
          </p:cNvSpPr>
          <p:nvPr/>
        </p:nvSpPr>
        <p:spPr>
          <a:xfrm>
            <a:off x="7696200" y="2324100"/>
            <a:ext cx="57150" cy="2362200"/>
          </a:xfrm>
          <a:prstGeom prst="rect">
            <a:avLst/>
          </a:prstGeom>
          <a:solidFill>
            <a:srgbClr val="B45A3C"/>
          </a:solidFill>
          <a:ln w="0">
            <a:solidFill>
              <a:srgbClr val="B45A3C"/>
            </a:solidFill>
            <a:prstDash val="solid"/>
          </a:ln>
        </p:spPr>
      </p:sp>
      <p:sp>
        <p:nvSpPr>
          <p:cNvPr id="19" name="矩形 18"/>
          <p:cNvSpPr>
            <a:spLocks noGrp="1"/>
          </p:cNvSpPr>
          <p:nvPr/>
        </p:nvSpPr>
        <p:spPr>
          <a:xfrm>
            <a:off x="7867650" y="2438400"/>
            <a:ext cx="2800350" cy="285750"/>
          </a:xfrm>
          <a:prstGeom prst="rect">
            <a:avLst/>
          </a:prstGeom>
          <a:noFill/>
          <a:ln w="0">
            <a:noFill/>
            <a:prstDash val="solid"/>
          </a:ln>
        </p:spPr>
        <p:txBody>
          <a:bodyPr/>
          <a:lstStyle/>
          <a:p>
            <a:pPr algn="l">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a:ea typeface="Times New Roman" panose="02020603050405020304"/>
                <a:cs typeface="Times New Roman" panose="02020603050405020304"/>
              </a:rPr>
              <a:t>Counterevidence was handled</a:t>
            </a:r>
            <a:endParaRPr sz="1800" b="1" i="0">
              <a:solidFill>
                <a:srgbClr val="1E2433"/>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7867650" y="2781300"/>
            <a:ext cx="2800350" cy="1790700"/>
          </a:xfrm>
          <a:prstGeom prst="rect">
            <a:avLst/>
          </a:prstGeom>
          <a:noFill/>
          <a:ln w="0">
            <a:noFill/>
            <a:prstDash val="solid"/>
          </a:ln>
        </p:spPr>
        <p:txBody>
          <a:bodyPr/>
          <a:lstStyle/>
          <a:p>
            <a:pPr algn="l">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a:ea typeface="Times New Roman" panose="02020603050405020304"/>
                <a:cs typeface="Times New Roman" panose="02020603050405020304"/>
              </a:rPr>
              <a:t>The user may infer that opposing signals have already been considered and discounted.</a:t>
            </a:r>
            <a:endParaRPr sz="1425" b="0" i="0">
              <a:solidFill>
                <a:srgbClr val="5E6675"/>
              </a:solidFill>
              <a:latin typeface="Times New Roman" panose="02020603050405020304"/>
              <a:ea typeface="Times New Roman" panose="02020603050405020304"/>
              <a:cs typeface="Times New Roman" panose="02020603050405020304"/>
            </a:endParaRPr>
          </a:p>
        </p:txBody>
      </p:sp>
      <p:sp>
        <p:nvSpPr>
          <p:cNvPr id="21" name="圆角矩形 20"/>
          <p:cNvSpPr>
            <a:spLocks noGrp="1"/>
          </p:cNvSpPr>
          <p:nvPr/>
        </p:nvSpPr>
        <p:spPr>
          <a:xfrm>
            <a:off x="1714500" y="5105400"/>
            <a:ext cx="8763000" cy="819150"/>
          </a:xfrm>
          <a:prstGeom prst="roundRect">
            <a:avLst>
              <a:gd name="adj" fmla="val 9302"/>
            </a:avLst>
          </a:prstGeom>
          <a:solidFill>
            <a:srgbClr val="FFF9F0"/>
          </a:solidFill>
          <a:ln w="9525">
            <a:solidFill>
              <a:srgbClr val="E8DCCB"/>
            </a:solidFill>
            <a:prstDash val="solid"/>
          </a:ln>
        </p:spPr>
      </p:sp>
      <p:sp>
        <p:nvSpPr>
          <p:cNvPr id="22" name="矩形 21"/>
          <p:cNvSpPr>
            <a:spLocks noGrp="1"/>
          </p:cNvSpPr>
          <p:nvPr/>
        </p:nvSpPr>
        <p:spPr>
          <a:xfrm>
            <a:off x="1714500" y="5105400"/>
            <a:ext cx="57150" cy="819150"/>
          </a:xfrm>
          <a:prstGeom prst="rect">
            <a:avLst/>
          </a:prstGeom>
          <a:solidFill>
            <a:srgbClr val="B45A3C"/>
          </a:solidFill>
          <a:ln w="0">
            <a:solidFill>
              <a:srgbClr val="B45A3C"/>
            </a:solidFill>
            <a:prstDash val="solid"/>
          </a:ln>
        </p:spPr>
      </p:sp>
      <p:sp>
        <p:nvSpPr>
          <p:cNvPr id="23" name="矩形 22"/>
          <p:cNvSpPr>
            <a:spLocks noGrp="1"/>
          </p:cNvSpPr>
          <p:nvPr/>
        </p:nvSpPr>
        <p:spPr>
          <a:xfrm>
            <a:off x="1885950" y="5219700"/>
            <a:ext cx="8477250" cy="285750"/>
          </a:xfrm>
          <a:prstGeom prst="rect">
            <a:avLst/>
          </a:prstGeom>
          <a:noFill/>
          <a:ln w="0">
            <a:noFill/>
            <a:prstDash val="solid"/>
          </a:ln>
        </p:spPr>
        <p:txBody>
          <a:bodyPr/>
          <a:lstStyle/>
          <a:p>
            <a:pPr algn="l">
              <a:defRPr sz="1575" b="1" i="0">
                <a:solidFill>
                  <a:srgbClr val="1E2433"/>
                </a:solidFill>
                <a:latin typeface="Times New Roman" panose="02020603050405020304"/>
                <a:ea typeface="Times New Roman" panose="02020603050405020304"/>
                <a:cs typeface="Times New Roman" panose="02020603050405020304"/>
              </a:defRPr>
            </a:pPr>
            <a:r>
              <a:rPr sz="1575" b="1" i="0">
                <a:solidFill>
                  <a:srgbClr val="1E2433"/>
                </a:solidFill>
                <a:latin typeface="Times New Roman" panose="02020603050405020304"/>
                <a:ea typeface="Times New Roman" panose="02020603050405020304"/>
                <a:cs typeface="Times New Roman" panose="02020603050405020304"/>
              </a:rPr>
              <a:t>Behavioral implication</a:t>
            </a:r>
            <a:endParaRPr sz="1575" b="1" i="0">
              <a:solidFill>
                <a:srgbClr val="1E2433"/>
              </a:solidFill>
              <a:latin typeface="Times New Roman" panose="02020603050405020304"/>
              <a:ea typeface="Times New Roman" panose="02020603050405020304"/>
              <a:cs typeface="Times New Roman" panose="02020603050405020304"/>
            </a:endParaRPr>
          </a:p>
        </p:txBody>
      </p:sp>
      <p:sp>
        <p:nvSpPr>
          <p:cNvPr id="24" name="矩形 23"/>
          <p:cNvSpPr>
            <a:spLocks noGrp="1"/>
          </p:cNvSpPr>
          <p:nvPr/>
        </p:nvSpPr>
        <p:spPr>
          <a:xfrm>
            <a:off x="1885950" y="5562600"/>
            <a:ext cx="8477250" cy="2476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If the hidden signal structure is overestimated, the perceived value of additional evidence falls too quickly and users may stop searching too early.</a:t>
            </a:r>
            <a:endParaRPr sz="1350" b="0" i="0">
              <a:solidFill>
                <a:srgbClr val="5E66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p:sp>
        <p:nvSpPr>
          <p:cNvPr id="2" name="椭圆 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3" name="椭圆 2"/>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4" name="矩形 3"/>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5" name="矩形 4"/>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6" name="矩形 5"/>
          <p:cNvSpPr>
            <a:spLocks noGrp="1"/>
          </p:cNvSpPr>
          <p:nvPr/>
        </p:nvSpPr>
        <p:spPr>
          <a:xfrm>
            <a:off x="1181100" y="571500"/>
            <a:ext cx="4000500" cy="228600"/>
          </a:xfrm>
          <a:prstGeom prst="rect">
            <a:avLst/>
          </a:prstGeom>
          <a:noFill/>
          <a:ln w="0">
            <a:noFill/>
            <a:prstDash val="solid"/>
          </a:ln>
        </p:spPr>
        <p:txBody>
          <a:bodyPr/>
          <a:lstStyle/>
          <a:p>
            <a:pPr algn="l">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a:ea typeface="Times New Roman" panose="02020603050405020304"/>
                <a:cs typeface="Times New Roman" panose="02020603050405020304"/>
              </a:rPr>
              <a:t>RESEARCH QUESTIONS</a:t>
            </a:r>
            <a:endParaRPr sz="1050" b="1" i="0">
              <a:solidFill>
                <a:srgbClr val="B45A3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914400"/>
            <a:ext cx="8191500" cy="704850"/>
          </a:xfrm>
          <a:prstGeom prst="rect">
            <a:avLst/>
          </a:prstGeom>
          <a:noFill/>
          <a:ln w="0">
            <a:noFill/>
            <a:prstDash val="solid"/>
          </a:ln>
        </p:spPr>
        <p:txBody>
          <a:bodyPr/>
          <a:lstStyle/>
          <a:p>
            <a:pPr algn="l">
              <a:defRPr sz="2700" b="1" i="0">
                <a:solidFill>
                  <a:srgbClr val="1E2433"/>
                </a:solidFill>
                <a:latin typeface="Times New Roman" panose="02020603050405020304"/>
                <a:ea typeface="Times New Roman" panose="02020603050405020304"/>
                <a:cs typeface="Times New Roman" panose="02020603050405020304"/>
              </a:defRPr>
            </a:pPr>
            <a:r>
              <a:rPr sz="2700" b="1" i="0">
                <a:solidFill>
                  <a:srgbClr val="1E2433"/>
                </a:solidFill>
                <a:latin typeface="Times New Roman" panose="02020603050405020304"/>
                <a:ea typeface="Times New Roman" panose="02020603050405020304"/>
                <a:cs typeface="Times New Roman" panose="02020603050405020304"/>
              </a:rPr>
              <a:t>The study asks three linked questions</a:t>
            </a:r>
            <a:endParaRPr sz="2700" b="1" i="0">
              <a:solidFill>
                <a:srgbClr val="1E2433"/>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676400"/>
            <a:ext cx="10096500" cy="2857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The sequence runs from behavior, to normative evaluation, to metacognitive calibration.</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914400" y="2266950"/>
            <a:ext cx="3086100" cy="2819400"/>
          </a:xfrm>
          <a:prstGeom prst="roundRect">
            <a:avLst>
              <a:gd name="adj" fmla="val 2703"/>
            </a:avLst>
          </a:prstGeom>
          <a:solidFill>
            <a:srgbClr val="FFF9F0"/>
          </a:solidFill>
          <a:ln w="9525">
            <a:solidFill>
              <a:srgbClr val="E8DCCB"/>
            </a:solidFill>
            <a:prstDash val="solid"/>
          </a:ln>
        </p:spPr>
      </p:sp>
      <p:sp>
        <p:nvSpPr>
          <p:cNvPr id="10" name="矩形 9"/>
          <p:cNvSpPr>
            <a:spLocks noGrp="1"/>
          </p:cNvSpPr>
          <p:nvPr/>
        </p:nvSpPr>
        <p:spPr>
          <a:xfrm>
            <a:off x="914400" y="2266950"/>
            <a:ext cx="57150" cy="2819400"/>
          </a:xfrm>
          <a:prstGeom prst="rect">
            <a:avLst/>
          </a:prstGeom>
          <a:solidFill>
            <a:srgbClr val="B45A3C"/>
          </a:solidFill>
          <a:ln w="0">
            <a:solidFill>
              <a:srgbClr val="B45A3C"/>
            </a:solidFill>
            <a:prstDash val="solid"/>
          </a:ln>
        </p:spPr>
      </p:sp>
      <p:sp>
        <p:nvSpPr>
          <p:cNvPr id="11" name="矩形 10"/>
          <p:cNvSpPr>
            <a:spLocks noGrp="1"/>
          </p:cNvSpPr>
          <p:nvPr/>
        </p:nvSpPr>
        <p:spPr>
          <a:xfrm>
            <a:off x="1085850" y="2381250"/>
            <a:ext cx="2800350" cy="285750"/>
          </a:xfrm>
          <a:prstGeom prst="rect">
            <a:avLst/>
          </a:prstGeom>
          <a:noFill/>
          <a:ln w="0">
            <a:noFill/>
            <a:prstDash val="solid"/>
          </a:ln>
        </p:spPr>
        <p:txBody>
          <a:bodyPr/>
          <a:lstStyle/>
          <a:p>
            <a:pPr algn="l">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a:ea typeface="Times New Roman" panose="02020603050405020304"/>
                <a:cs typeface="Times New Roman" panose="02020603050405020304"/>
              </a:rPr>
              <a:t>RQ1</a:t>
            </a:r>
            <a:endParaRPr sz="2100" b="1" i="0">
              <a:solidFill>
                <a:srgbClr val="1E2433"/>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085850" y="2724150"/>
            <a:ext cx="2800350" cy="2247900"/>
          </a:xfrm>
          <a:prstGeom prst="rect">
            <a:avLst/>
          </a:prstGeom>
          <a:noFill/>
          <a:ln w="0">
            <a:noFill/>
            <a:prstDash val="solid"/>
          </a:ln>
        </p:spPr>
        <p:txBody>
          <a:bodyPr/>
          <a:lstStyle/>
          <a:p>
            <a:pPr algn="l">
              <a:defRPr sz="1650" b="0" i="0">
                <a:solidFill>
                  <a:srgbClr val="5E6675"/>
                </a:solidFill>
                <a:latin typeface="Times New Roman" panose="02020603050405020304"/>
                <a:ea typeface="Times New Roman" panose="02020603050405020304"/>
                <a:cs typeface="Times New Roman" panose="02020603050405020304"/>
              </a:defRPr>
            </a:pPr>
            <a:r>
              <a:rPr sz="1650" b="0" i="0">
                <a:solidFill>
                  <a:srgbClr val="5E6675"/>
                </a:solidFill>
                <a:latin typeface="Times New Roman" panose="02020603050405020304"/>
                <a:ea typeface="Times New Roman" panose="02020603050405020304"/>
                <a:cs typeface="Times New Roman" panose="02020603050405020304"/>
              </a:rPr>
              <a:t>Does an AI-labeled summary lower the stopping threshold for additional search?</a:t>
            </a:r>
            <a:endParaRPr sz="1650" b="0" i="0">
              <a:solidFill>
                <a:srgbClr val="5E6675"/>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4552950" y="2266950"/>
            <a:ext cx="3086100" cy="2819400"/>
          </a:xfrm>
          <a:prstGeom prst="roundRect">
            <a:avLst>
              <a:gd name="adj" fmla="val 2703"/>
            </a:avLst>
          </a:prstGeom>
          <a:solidFill>
            <a:srgbClr val="FFF9F0"/>
          </a:solidFill>
          <a:ln w="9525">
            <a:solidFill>
              <a:srgbClr val="E8DCCB"/>
            </a:solidFill>
            <a:prstDash val="solid"/>
          </a:ln>
        </p:spPr>
      </p:sp>
      <p:sp>
        <p:nvSpPr>
          <p:cNvPr id="14" name="矩形 13"/>
          <p:cNvSpPr>
            <a:spLocks noGrp="1"/>
          </p:cNvSpPr>
          <p:nvPr/>
        </p:nvSpPr>
        <p:spPr>
          <a:xfrm>
            <a:off x="4552950" y="2266950"/>
            <a:ext cx="57150" cy="2819400"/>
          </a:xfrm>
          <a:prstGeom prst="rect">
            <a:avLst/>
          </a:prstGeom>
          <a:solidFill>
            <a:srgbClr val="C89B4A"/>
          </a:solidFill>
          <a:ln w="0">
            <a:solidFill>
              <a:srgbClr val="C89B4A"/>
            </a:solidFill>
            <a:prstDash val="solid"/>
          </a:ln>
        </p:spPr>
      </p:sp>
      <p:sp>
        <p:nvSpPr>
          <p:cNvPr id="15" name="矩形 14"/>
          <p:cNvSpPr>
            <a:spLocks noGrp="1"/>
          </p:cNvSpPr>
          <p:nvPr/>
        </p:nvSpPr>
        <p:spPr>
          <a:xfrm>
            <a:off x="4724400" y="2381250"/>
            <a:ext cx="2800350" cy="285750"/>
          </a:xfrm>
          <a:prstGeom prst="rect">
            <a:avLst/>
          </a:prstGeom>
          <a:noFill/>
          <a:ln w="0">
            <a:noFill/>
            <a:prstDash val="solid"/>
          </a:ln>
        </p:spPr>
        <p:txBody>
          <a:bodyPr/>
          <a:lstStyle/>
          <a:p>
            <a:pPr algn="l">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a:ea typeface="Times New Roman" panose="02020603050405020304"/>
                <a:cs typeface="Times New Roman" panose="02020603050405020304"/>
              </a:rPr>
              <a:t>RQ2</a:t>
            </a:r>
            <a:endParaRPr sz="2100" b="1" i="0">
              <a:solidFill>
                <a:srgbClr val="1E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4724400" y="2724150"/>
            <a:ext cx="2800350" cy="2247900"/>
          </a:xfrm>
          <a:prstGeom prst="rect">
            <a:avLst/>
          </a:prstGeom>
          <a:noFill/>
          <a:ln w="0">
            <a:noFill/>
            <a:prstDash val="solid"/>
          </a:ln>
        </p:spPr>
        <p:txBody>
          <a:bodyPr/>
          <a:lstStyle/>
          <a:p>
            <a:pPr algn="l">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a:ea typeface="Times New Roman" panose="02020603050405020304"/>
                <a:cs typeface="Times New Roman" panose="02020603050405020304"/>
              </a:rPr>
              <a:t>When search falls, is that rational information compression or harmful information-acquisition deviation?</a:t>
            </a:r>
            <a:endParaRPr sz="1575" b="0" i="0">
              <a:solidFill>
                <a:srgbClr val="5E6675"/>
              </a:solidFill>
              <a:latin typeface="Times New Roman" panose="02020603050405020304"/>
              <a:ea typeface="Times New Roman" panose="02020603050405020304"/>
              <a:cs typeface="Times New Roman" panose="02020603050405020304"/>
            </a:endParaRPr>
          </a:p>
        </p:txBody>
      </p:sp>
      <p:sp>
        <p:nvSpPr>
          <p:cNvPr id="17" name="圆角矩形 16"/>
          <p:cNvSpPr>
            <a:spLocks noGrp="1"/>
          </p:cNvSpPr>
          <p:nvPr/>
        </p:nvSpPr>
        <p:spPr>
          <a:xfrm>
            <a:off x="8191500" y="2266950"/>
            <a:ext cx="3009900" cy="2819400"/>
          </a:xfrm>
          <a:prstGeom prst="roundRect">
            <a:avLst>
              <a:gd name="adj" fmla="val 2703"/>
            </a:avLst>
          </a:prstGeom>
          <a:solidFill>
            <a:srgbClr val="FFF9F0"/>
          </a:solidFill>
          <a:ln w="9525">
            <a:solidFill>
              <a:srgbClr val="E8DCCB"/>
            </a:solidFill>
            <a:prstDash val="solid"/>
          </a:ln>
        </p:spPr>
      </p:sp>
      <p:sp>
        <p:nvSpPr>
          <p:cNvPr id="18" name="矩形 17"/>
          <p:cNvSpPr>
            <a:spLocks noGrp="1"/>
          </p:cNvSpPr>
          <p:nvPr/>
        </p:nvSpPr>
        <p:spPr>
          <a:xfrm>
            <a:off x="8191500" y="2266950"/>
            <a:ext cx="57150" cy="2819400"/>
          </a:xfrm>
          <a:prstGeom prst="rect">
            <a:avLst/>
          </a:prstGeom>
          <a:solidFill>
            <a:srgbClr val="78836A"/>
          </a:solidFill>
          <a:ln w="0">
            <a:solidFill>
              <a:srgbClr val="78836A"/>
            </a:solidFill>
            <a:prstDash val="solid"/>
          </a:ln>
        </p:spPr>
      </p:sp>
      <p:sp>
        <p:nvSpPr>
          <p:cNvPr id="19" name="矩形 18"/>
          <p:cNvSpPr>
            <a:spLocks noGrp="1"/>
          </p:cNvSpPr>
          <p:nvPr/>
        </p:nvSpPr>
        <p:spPr>
          <a:xfrm>
            <a:off x="8362950" y="2381250"/>
            <a:ext cx="2724150" cy="285750"/>
          </a:xfrm>
          <a:prstGeom prst="rect">
            <a:avLst/>
          </a:prstGeom>
          <a:noFill/>
          <a:ln w="0">
            <a:noFill/>
            <a:prstDash val="solid"/>
          </a:ln>
        </p:spPr>
        <p:txBody>
          <a:bodyPr/>
          <a:lstStyle/>
          <a:p>
            <a:pPr algn="l">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a:ea typeface="Times New Roman" panose="02020603050405020304"/>
                <a:cs typeface="Times New Roman" panose="02020603050405020304"/>
              </a:rPr>
              <a:t>RQ3</a:t>
            </a:r>
            <a:endParaRPr sz="2100" b="1" i="0">
              <a:solidFill>
                <a:srgbClr val="1E2433"/>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8362950" y="2724150"/>
            <a:ext cx="2724150" cy="2247900"/>
          </a:xfrm>
          <a:prstGeom prst="rect">
            <a:avLst/>
          </a:prstGeom>
          <a:noFill/>
          <a:ln w="0">
            <a:noFill/>
            <a:prstDash val="solid"/>
          </a:ln>
        </p:spPr>
        <p:txBody>
          <a:bodyPr/>
          <a:lstStyle/>
          <a:p>
            <a:pPr algn="l">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a:ea typeface="Times New Roman" panose="02020603050405020304"/>
                <a:cs typeface="Times New Roman" panose="02020603050405020304"/>
              </a:rPr>
              <a:t>Does subjective information mastery become misaligned with objective judgment quality?</a:t>
            </a:r>
            <a:endParaRPr sz="1575" b="0" i="0">
              <a:solidFill>
                <a:srgbClr val="5E66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p:sp>
        <p:nvSpPr>
          <p:cNvPr id="2" name="椭圆 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3" name="椭圆 2"/>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4" name="矩形 3"/>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5" name="矩形 4"/>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6" name="矩形 5"/>
          <p:cNvSpPr>
            <a:spLocks noGrp="1"/>
          </p:cNvSpPr>
          <p:nvPr/>
        </p:nvSpPr>
        <p:spPr>
          <a:xfrm>
            <a:off x="1181100" y="571500"/>
            <a:ext cx="4000500" cy="228600"/>
          </a:xfrm>
          <a:prstGeom prst="rect">
            <a:avLst/>
          </a:prstGeom>
          <a:noFill/>
          <a:ln w="0">
            <a:noFill/>
            <a:prstDash val="solid"/>
          </a:ln>
        </p:spPr>
        <p:txBody>
          <a:bodyPr/>
          <a:lstStyle/>
          <a:p>
            <a:pPr algn="l">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a:ea typeface="Times New Roman" panose="02020603050405020304"/>
                <a:cs typeface="Times New Roman" panose="02020603050405020304"/>
              </a:rPr>
              <a:t>TASK PROTOTYPE</a:t>
            </a:r>
            <a:endParaRPr sz="1050" b="1" i="0">
              <a:solidFill>
                <a:srgbClr val="B45A3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914400"/>
            <a:ext cx="9525000" cy="704850"/>
          </a:xfrm>
          <a:prstGeom prst="rect">
            <a:avLst/>
          </a:prstGeom>
          <a:noFill/>
          <a:ln w="0">
            <a:noFill/>
            <a:prstDash val="solid"/>
          </a:ln>
        </p:spPr>
        <p:txBody>
          <a:bodyPr/>
          <a:lstStyle/>
          <a:p>
            <a:pPr algn="l">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a:ea typeface="Times New Roman" panose="02020603050405020304"/>
                <a:cs typeface="Times New Roman" panose="02020603050405020304"/>
              </a:rPr>
              <a:t>The prototype has to separate information value from search effort</a:t>
            </a:r>
            <a:endParaRPr sz="2475" b="1" i="0">
              <a:solidFill>
                <a:srgbClr val="1E2433"/>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676400"/>
            <a:ext cx="10096500" cy="2857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Before the design details matter, the task has to make additional evidence comparable across conditions.</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914400" y="2266950"/>
            <a:ext cx="4762500" cy="1409700"/>
          </a:xfrm>
          <a:prstGeom prst="roundRect">
            <a:avLst>
              <a:gd name="adj" fmla="val 5405"/>
            </a:avLst>
          </a:prstGeom>
          <a:solidFill>
            <a:srgbClr val="FFF9F0"/>
          </a:solidFill>
          <a:ln w="9525">
            <a:solidFill>
              <a:srgbClr val="E8DCCB"/>
            </a:solidFill>
            <a:prstDash val="solid"/>
          </a:ln>
        </p:spPr>
      </p:sp>
      <p:sp>
        <p:nvSpPr>
          <p:cNvPr id="10" name="矩形 9"/>
          <p:cNvSpPr>
            <a:spLocks noGrp="1"/>
          </p:cNvSpPr>
          <p:nvPr/>
        </p:nvSpPr>
        <p:spPr>
          <a:xfrm>
            <a:off x="914400" y="2266950"/>
            <a:ext cx="57150" cy="1409700"/>
          </a:xfrm>
          <a:prstGeom prst="rect">
            <a:avLst/>
          </a:prstGeom>
          <a:solidFill>
            <a:srgbClr val="B45A3C"/>
          </a:solidFill>
          <a:ln w="0">
            <a:solidFill>
              <a:srgbClr val="B45A3C"/>
            </a:solidFill>
            <a:prstDash val="solid"/>
          </a:ln>
        </p:spPr>
      </p:sp>
      <p:sp>
        <p:nvSpPr>
          <p:cNvPr id="11" name="矩形 10"/>
          <p:cNvSpPr>
            <a:spLocks noGrp="1"/>
          </p:cNvSpPr>
          <p:nvPr/>
        </p:nvSpPr>
        <p:spPr>
          <a:xfrm>
            <a:off x="1085850" y="2381250"/>
            <a:ext cx="4476750" cy="285750"/>
          </a:xfrm>
          <a:prstGeom prst="rect">
            <a:avLst/>
          </a:prstGeom>
          <a:noFill/>
          <a:ln w="0">
            <a:noFill/>
            <a:prstDash val="solid"/>
          </a:ln>
        </p:spPr>
        <p:txBody>
          <a:bodyPr/>
          <a:lstStyle/>
          <a:p>
            <a:pPr algn="l">
              <a:defRPr sz="1725" b="1" i="0">
                <a:solidFill>
                  <a:srgbClr val="1E2433"/>
                </a:solidFill>
                <a:latin typeface="Times New Roman" panose="02020603050405020304"/>
                <a:ea typeface="Times New Roman" panose="02020603050405020304"/>
                <a:cs typeface="Times New Roman" panose="02020603050405020304"/>
              </a:defRPr>
            </a:pPr>
            <a:r>
              <a:rPr sz="1725" b="1" i="0">
                <a:solidFill>
                  <a:srgbClr val="1E2433"/>
                </a:solidFill>
                <a:latin typeface="Times New Roman" panose="02020603050405020304"/>
                <a:ea typeface="Times New Roman" panose="02020603050405020304"/>
                <a:cs typeface="Times New Roman" panose="02020603050405020304"/>
              </a:rPr>
              <a:t>Same initial content</a:t>
            </a:r>
            <a:endParaRPr sz="1725" b="1" i="0">
              <a:solidFill>
                <a:srgbClr val="1E2433"/>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085850" y="2724150"/>
            <a:ext cx="4476750" cy="838200"/>
          </a:xfrm>
          <a:prstGeom prst="rect">
            <a:avLst/>
          </a:prstGeom>
          <a:noFill/>
          <a:ln w="0">
            <a:noFill/>
            <a:prstDash val="solid"/>
          </a:ln>
        </p:spPr>
        <p:txBody>
          <a:bodyPr/>
          <a:lstStyle/>
          <a:p>
            <a:pPr algn="l">
              <a:defRPr sz="1275" b="0" i="0">
                <a:solidFill>
                  <a:srgbClr val="5E6675"/>
                </a:solidFill>
                <a:latin typeface="Times New Roman" panose="02020603050405020304"/>
                <a:ea typeface="Times New Roman" panose="02020603050405020304"/>
                <a:cs typeface="Times New Roman" panose="02020603050405020304"/>
              </a:defRPr>
            </a:pPr>
            <a:r>
              <a:rPr sz="1275" b="0" i="0">
                <a:solidFill>
                  <a:srgbClr val="5E6675"/>
                </a:solidFill>
                <a:latin typeface="Times New Roman" panose="02020603050405020304"/>
                <a:ea typeface="Times New Roman" panose="02020603050405020304"/>
                <a:cs typeface="Times New Roman" panose="02020603050405020304"/>
              </a:rPr>
              <a:t>The starting summary content must be held constant when the source label changes.</a:t>
            </a:r>
            <a:endParaRPr sz="1275" b="0" i="0">
              <a:solidFill>
                <a:srgbClr val="5E6675"/>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6438900" y="2266950"/>
            <a:ext cx="4762500" cy="1409700"/>
          </a:xfrm>
          <a:prstGeom prst="roundRect">
            <a:avLst>
              <a:gd name="adj" fmla="val 5405"/>
            </a:avLst>
          </a:prstGeom>
          <a:solidFill>
            <a:srgbClr val="FFF9F0"/>
          </a:solidFill>
          <a:ln w="9525">
            <a:solidFill>
              <a:srgbClr val="E8DCCB"/>
            </a:solidFill>
            <a:prstDash val="solid"/>
          </a:ln>
        </p:spPr>
      </p:sp>
      <p:sp>
        <p:nvSpPr>
          <p:cNvPr id="14" name="矩形 13"/>
          <p:cNvSpPr>
            <a:spLocks noGrp="1"/>
          </p:cNvSpPr>
          <p:nvPr/>
        </p:nvSpPr>
        <p:spPr>
          <a:xfrm>
            <a:off x="6438900" y="2266950"/>
            <a:ext cx="57150" cy="1409700"/>
          </a:xfrm>
          <a:prstGeom prst="rect">
            <a:avLst/>
          </a:prstGeom>
          <a:solidFill>
            <a:srgbClr val="C89B4A"/>
          </a:solidFill>
          <a:ln w="0">
            <a:solidFill>
              <a:srgbClr val="C89B4A"/>
            </a:solidFill>
            <a:prstDash val="solid"/>
          </a:ln>
        </p:spPr>
      </p:sp>
      <p:sp>
        <p:nvSpPr>
          <p:cNvPr id="15" name="矩形 14"/>
          <p:cNvSpPr>
            <a:spLocks noGrp="1"/>
          </p:cNvSpPr>
          <p:nvPr/>
        </p:nvSpPr>
        <p:spPr>
          <a:xfrm>
            <a:off x="6610350" y="2381250"/>
            <a:ext cx="4476750" cy="285750"/>
          </a:xfrm>
          <a:prstGeom prst="rect">
            <a:avLst/>
          </a:prstGeom>
          <a:noFill/>
          <a:ln w="0">
            <a:noFill/>
            <a:prstDash val="solid"/>
          </a:ln>
        </p:spPr>
        <p:txBody>
          <a:bodyPr/>
          <a:lstStyle/>
          <a:p>
            <a:pPr algn="l">
              <a:defRPr sz="1725" b="1" i="0">
                <a:solidFill>
                  <a:srgbClr val="1E2433"/>
                </a:solidFill>
                <a:latin typeface="Times New Roman" panose="02020603050405020304"/>
                <a:ea typeface="Times New Roman" panose="02020603050405020304"/>
                <a:cs typeface="Times New Roman" panose="02020603050405020304"/>
              </a:defRPr>
            </a:pPr>
            <a:r>
              <a:rPr sz="1725" b="1" i="0">
                <a:solidFill>
                  <a:srgbClr val="1E2433"/>
                </a:solidFill>
                <a:latin typeface="Times New Roman" panose="02020603050405020304"/>
                <a:ea typeface="Times New Roman" panose="02020603050405020304"/>
                <a:cs typeface="Times New Roman" panose="02020603050405020304"/>
              </a:rPr>
              <a:t>Same extra search cost</a:t>
            </a:r>
            <a:endParaRPr sz="1725" b="1" i="0">
              <a:solidFill>
                <a:srgbClr val="1E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6610350" y="2724150"/>
            <a:ext cx="4476750" cy="838200"/>
          </a:xfrm>
          <a:prstGeom prst="rect">
            <a:avLst/>
          </a:prstGeom>
          <a:noFill/>
          <a:ln w="0">
            <a:noFill/>
            <a:prstDash val="solid"/>
          </a:ln>
        </p:spPr>
        <p:txBody>
          <a:bodyPr/>
          <a:lstStyle/>
          <a:p>
            <a:pPr algn="l">
              <a:defRPr sz="1275" b="0" i="0">
                <a:solidFill>
                  <a:srgbClr val="5E6675"/>
                </a:solidFill>
                <a:latin typeface="Times New Roman" panose="02020603050405020304"/>
                <a:ea typeface="Times New Roman" panose="02020603050405020304"/>
                <a:cs typeface="Times New Roman" panose="02020603050405020304"/>
              </a:defRPr>
            </a:pPr>
            <a:r>
              <a:rPr sz="1275" b="0" i="0">
                <a:solidFill>
                  <a:srgbClr val="5E6675"/>
                </a:solidFill>
                <a:latin typeface="Times New Roman" panose="02020603050405020304"/>
                <a:ea typeface="Times New Roman" panose="02020603050405020304"/>
                <a:cs typeface="Times New Roman" panose="02020603050405020304"/>
              </a:rPr>
              <a:t>The cost of viewing additional evidence must remain the same across groups.</a:t>
            </a:r>
            <a:endParaRPr sz="1275" b="0" i="0">
              <a:solidFill>
                <a:srgbClr val="5E6675"/>
              </a:solidFill>
              <a:latin typeface="Times New Roman" panose="02020603050405020304"/>
              <a:ea typeface="Times New Roman" panose="02020603050405020304"/>
              <a:cs typeface="Times New Roman" panose="02020603050405020304"/>
            </a:endParaRPr>
          </a:p>
        </p:txBody>
      </p:sp>
      <p:sp>
        <p:nvSpPr>
          <p:cNvPr id="17" name="圆角矩形 16"/>
          <p:cNvSpPr>
            <a:spLocks noGrp="1"/>
          </p:cNvSpPr>
          <p:nvPr/>
        </p:nvSpPr>
        <p:spPr>
          <a:xfrm>
            <a:off x="914400" y="3943350"/>
            <a:ext cx="4762500" cy="1409700"/>
          </a:xfrm>
          <a:prstGeom prst="roundRect">
            <a:avLst>
              <a:gd name="adj" fmla="val 5405"/>
            </a:avLst>
          </a:prstGeom>
          <a:solidFill>
            <a:srgbClr val="FFF9F0"/>
          </a:solidFill>
          <a:ln w="9525">
            <a:solidFill>
              <a:srgbClr val="E8DCCB"/>
            </a:solidFill>
            <a:prstDash val="solid"/>
          </a:ln>
        </p:spPr>
      </p:sp>
      <p:sp>
        <p:nvSpPr>
          <p:cNvPr id="18" name="矩形 17"/>
          <p:cNvSpPr>
            <a:spLocks noGrp="1"/>
          </p:cNvSpPr>
          <p:nvPr/>
        </p:nvSpPr>
        <p:spPr>
          <a:xfrm>
            <a:off x="914400" y="3943350"/>
            <a:ext cx="57150" cy="1409700"/>
          </a:xfrm>
          <a:prstGeom prst="rect">
            <a:avLst/>
          </a:prstGeom>
          <a:solidFill>
            <a:srgbClr val="B45A3C"/>
          </a:solidFill>
          <a:ln w="0">
            <a:solidFill>
              <a:srgbClr val="B45A3C"/>
            </a:solidFill>
            <a:prstDash val="solid"/>
          </a:ln>
        </p:spPr>
      </p:sp>
      <p:sp>
        <p:nvSpPr>
          <p:cNvPr id="19" name="矩形 18"/>
          <p:cNvSpPr>
            <a:spLocks noGrp="1"/>
          </p:cNvSpPr>
          <p:nvPr/>
        </p:nvSpPr>
        <p:spPr>
          <a:xfrm>
            <a:off x="1085850" y="4057650"/>
            <a:ext cx="4476750" cy="285750"/>
          </a:xfrm>
          <a:prstGeom prst="rect">
            <a:avLst/>
          </a:prstGeom>
          <a:noFill/>
          <a:ln w="0">
            <a:noFill/>
            <a:prstDash val="solid"/>
          </a:ln>
        </p:spPr>
        <p:txBody>
          <a:bodyPr/>
          <a:lstStyle/>
          <a:p>
            <a:pPr algn="l">
              <a:defRPr sz="1725" b="1" i="0">
                <a:solidFill>
                  <a:srgbClr val="1E2433"/>
                </a:solidFill>
                <a:latin typeface="Times New Roman" panose="02020603050405020304"/>
                <a:ea typeface="Times New Roman" panose="02020603050405020304"/>
                <a:cs typeface="Times New Roman" panose="02020603050405020304"/>
              </a:defRPr>
            </a:pPr>
            <a:r>
              <a:rPr sz="1725" b="1" i="0">
                <a:solidFill>
                  <a:srgbClr val="1E2433"/>
                </a:solidFill>
                <a:latin typeface="Times New Roman" panose="02020603050405020304"/>
                <a:ea typeface="Times New Roman" panose="02020603050405020304"/>
                <a:cs typeface="Times New Roman" panose="02020603050405020304"/>
              </a:rPr>
              <a:t>Computable evidence value</a:t>
            </a:r>
            <a:endParaRPr sz="1725" b="1" i="0">
              <a:solidFill>
                <a:srgbClr val="1E2433"/>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1085850" y="4400550"/>
            <a:ext cx="4476750" cy="838200"/>
          </a:xfrm>
          <a:prstGeom prst="rect">
            <a:avLst/>
          </a:prstGeom>
          <a:noFill/>
          <a:ln w="0">
            <a:noFill/>
            <a:prstDash val="solid"/>
          </a:ln>
        </p:spPr>
        <p:txBody>
          <a:bodyPr/>
          <a:lstStyle/>
          <a:p>
            <a:pPr algn="l">
              <a:defRPr sz="1275" b="0" i="0">
                <a:solidFill>
                  <a:srgbClr val="5E6675"/>
                </a:solidFill>
                <a:latin typeface="Times New Roman" panose="02020603050405020304"/>
                <a:ea typeface="Times New Roman" panose="02020603050405020304"/>
                <a:cs typeface="Times New Roman" panose="02020603050405020304"/>
              </a:defRPr>
            </a:pPr>
            <a:r>
              <a:rPr sz="1275" b="0" i="0">
                <a:solidFill>
                  <a:srgbClr val="5E6675"/>
                </a:solidFill>
                <a:latin typeface="Times New Roman" panose="02020603050405020304"/>
                <a:ea typeface="Times New Roman" panose="02020603050405020304"/>
                <a:cs typeface="Times New Roman" panose="02020603050405020304"/>
              </a:rPr>
              <a:t>Each evidence item must have a known diagnostic weight so the value of further evidence is measurable.</a:t>
            </a:r>
            <a:endParaRPr sz="1275" b="0" i="0">
              <a:solidFill>
                <a:srgbClr val="5E6675"/>
              </a:solidFill>
              <a:latin typeface="Times New Roman" panose="02020603050405020304"/>
              <a:ea typeface="Times New Roman" panose="02020603050405020304"/>
              <a:cs typeface="Times New Roman" panose="02020603050405020304"/>
            </a:endParaRPr>
          </a:p>
        </p:txBody>
      </p:sp>
      <p:sp>
        <p:nvSpPr>
          <p:cNvPr id="21" name="圆角矩形 20"/>
          <p:cNvSpPr>
            <a:spLocks noGrp="1"/>
          </p:cNvSpPr>
          <p:nvPr/>
        </p:nvSpPr>
        <p:spPr>
          <a:xfrm>
            <a:off x="6438900" y="3943350"/>
            <a:ext cx="4762500" cy="1409700"/>
          </a:xfrm>
          <a:prstGeom prst="roundRect">
            <a:avLst>
              <a:gd name="adj" fmla="val 5405"/>
            </a:avLst>
          </a:prstGeom>
          <a:solidFill>
            <a:srgbClr val="FFF9F0"/>
          </a:solidFill>
          <a:ln w="9525">
            <a:solidFill>
              <a:srgbClr val="E8DCCB"/>
            </a:solidFill>
            <a:prstDash val="solid"/>
          </a:ln>
        </p:spPr>
      </p:sp>
      <p:sp>
        <p:nvSpPr>
          <p:cNvPr id="22" name="矩形 21"/>
          <p:cNvSpPr>
            <a:spLocks noGrp="1"/>
          </p:cNvSpPr>
          <p:nvPr/>
        </p:nvSpPr>
        <p:spPr>
          <a:xfrm>
            <a:off x="6438900" y="3943350"/>
            <a:ext cx="57150" cy="1409700"/>
          </a:xfrm>
          <a:prstGeom prst="rect">
            <a:avLst/>
          </a:prstGeom>
          <a:solidFill>
            <a:srgbClr val="C89B4A"/>
          </a:solidFill>
          <a:ln w="0">
            <a:solidFill>
              <a:srgbClr val="C89B4A"/>
            </a:solidFill>
            <a:prstDash val="solid"/>
          </a:ln>
        </p:spPr>
      </p:sp>
      <p:sp>
        <p:nvSpPr>
          <p:cNvPr id="23" name="矩形 22"/>
          <p:cNvSpPr>
            <a:spLocks noGrp="1"/>
          </p:cNvSpPr>
          <p:nvPr/>
        </p:nvSpPr>
        <p:spPr>
          <a:xfrm>
            <a:off x="6610350" y="4057650"/>
            <a:ext cx="4476750" cy="285750"/>
          </a:xfrm>
          <a:prstGeom prst="rect">
            <a:avLst/>
          </a:prstGeom>
          <a:noFill/>
          <a:ln w="0">
            <a:noFill/>
            <a:prstDash val="solid"/>
          </a:ln>
        </p:spPr>
        <p:txBody>
          <a:bodyPr/>
          <a:lstStyle/>
          <a:p>
            <a:pPr algn="l">
              <a:defRPr sz="1725" b="1" i="0">
                <a:solidFill>
                  <a:srgbClr val="1E2433"/>
                </a:solidFill>
                <a:latin typeface="Times New Roman" panose="02020603050405020304"/>
                <a:ea typeface="Times New Roman" panose="02020603050405020304"/>
                <a:cs typeface="Times New Roman" panose="02020603050405020304"/>
              </a:defRPr>
            </a:pPr>
            <a:r>
              <a:rPr sz="1725" b="1" i="0">
                <a:solidFill>
                  <a:srgbClr val="1E2433"/>
                </a:solidFill>
                <a:latin typeface="Times New Roman" panose="02020603050405020304"/>
                <a:ea typeface="Times New Roman" panose="02020603050405020304"/>
                <a:cs typeface="Times New Roman" panose="02020603050405020304"/>
              </a:rPr>
              <a:t>Controlled evidence pool</a:t>
            </a:r>
            <a:endParaRPr sz="1725" b="1" i="0">
              <a:solidFill>
                <a:srgbClr val="1E2433"/>
              </a:solidFill>
              <a:latin typeface="Times New Roman" panose="02020603050405020304"/>
              <a:ea typeface="Times New Roman" panose="02020603050405020304"/>
              <a:cs typeface="Times New Roman" panose="02020603050405020304"/>
            </a:endParaRPr>
          </a:p>
        </p:txBody>
      </p:sp>
      <p:sp>
        <p:nvSpPr>
          <p:cNvPr id="24" name="矩形 23"/>
          <p:cNvSpPr>
            <a:spLocks noGrp="1"/>
          </p:cNvSpPr>
          <p:nvPr/>
        </p:nvSpPr>
        <p:spPr>
          <a:xfrm>
            <a:off x="6610350" y="4400550"/>
            <a:ext cx="4476750" cy="838200"/>
          </a:xfrm>
          <a:prstGeom prst="rect">
            <a:avLst/>
          </a:prstGeom>
          <a:noFill/>
          <a:ln w="0">
            <a:noFill/>
            <a:prstDash val="solid"/>
          </a:ln>
        </p:spPr>
        <p:txBody>
          <a:bodyPr/>
          <a:lstStyle/>
          <a:p>
            <a:pPr algn="l">
              <a:defRPr sz="1275" b="0" i="0">
                <a:solidFill>
                  <a:srgbClr val="5E6675"/>
                </a:solidFill>
                <a:latin typeface="Times New Roman" panose="02020603050405020304"/>
                <a:ea typeface="Times New Roman" panose="02020603050405020304"/>
                <a:cs typeface="Times New Roman" panose="02020603050405020304"/>
              </a:defRPr>
            </a:pPr>
            <a:r>
              <a:rPr sz="1275" b="0" i="0">
                <a:solidFill>
                  <a:srgbClr val="5E6675"/>
                </a:solidFill>
                <a:latin typeface="Times New Roman" panose="02020603050405020304"/>
                <a:ea typeface="Times New Roman" panose="02020603050405020304"/>
                <a:cs typeface="Times New Roman" panose="02020603050405020304"/>
              </a:rPr>
              <a:t>Everyone must draw from the same fixed evidence environment rather than an open web context.</a:t>
            </a:r>
            <a:endParaRPr sz="1275" b="0" i="0">
              <a:solidFill>
                <a:srgbClr val="5E66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p:sp>
        <p:nvSpPr>
          <p:cNvPr id="2" name="椭圆 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3" name="椭圆 2"/>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4" name="矩形 3"/>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5" name="矩形 4"/>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6" name="矩形 5"/>
          <p:cNvSpPr>
            <a:spLocks noGrp="1"/>
          </p:cNvSpPr>
          <p:nvPr/>
        </p:nvSpPr>
        <p:spPr>
          <a:xfrm>
            <a:off x="1181100" y="571500"/>
            <a:ext cx="4000500" cy="228600"/>
          </a:xfrm>
          <a:prstGeom prst="rect">
            <a:avLst/>
          </a:prstGeom>
          <a:noFill/>
          <a:ln w="0">
            <a:noFill/>
            <a:prstDash val="solid"/>
          </a:ln>
        </p:spPr>
        <p:txBody>
          <a:bodyPr/>
          <a:lstStyle/>
          <a:p>
            <a:pPr algn="l">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a:ea typeface="Times New Roman" panose="02020603050405020304"/>
                <a:cs typeface="Times New Roman" panose="02020603050405020304"/>
              </a:rPr>
              <a:t>DESIGN</a:t>
            </a:r>
            <a:endParaRPr sz="1050" b="1" i="0">
              <a:solidFill>
                <a:srgbClr val="B45A3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914400"/>
            <a:ext cx="9715500" cy="704850"/>
          </a:xfrm>
          <a:prstGeom prst="rect">
            <a:avLst/>
          </a:prstGeom>
          <a:noFill/>
          <a:ln w="0">
            <a:noFill/>
            <a:prstDash val="solid"/>
          </a:ln>
        </p:spPr>
        <p:txBody>
          <a:bodyPr/>
          <a:lstStyle/>
          <a:p>
            <a:pPr algn="l">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a:ea typeface="Times New Roman" panose="02020603050405020304"/>
                <a:cs typeface="Times New Roman" panose="02020603050405020304"/>
              </a:rPr>
              <a:t>The experiment has five groups built on one shared evidence pool</a:t>
            </a:r>
            <a:endParaRPr sz="2475" b="1" i="0">
              <a:solidFill>
                <a:srgbClr val="1E2433"/>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676400"/>
            <a:ext cx="10096500" cy="2857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One baseline enters the full evidence pool directly, and four summary groups vary completeness and source label.</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914400" y="2381250"/>
            <a:ext cx="1905000" cy="2038350"/>
          </a:xfrm>
          <a:prstGeom prst="roundRect">
            <a:avLst>
              <a:gd name="adj" fmla="val 4000"/>
            </a:avLst>
          </a:prstGeom>
          <a:solidFill>
            <a:srgbClr val="FFF9F0"/>
          </a:solidFill>
          <a:ln w="9525">
            <a:solidFill>
              <a:srgbClr val="E8DCCB"/>
            </a:solidFill>
            <a:prstDash val="solid"/>
          </a:ln>
        </p:spPr>
      </p:sp>
      <p:sp>
        <p:nvSpPr>
          <p:cNvPr id="10" name="矩形 9"/>
          <p:cNvSpPr>
            <a:spLocks noGrp="1"/>
          </p:cNvSpPr>
          <p:nvPr/>
        </p:nvSpPr>
        <p:spPr>
          <a:xfrm>
            <a:off x="914400" y="2381250"/>
            <a:ext cx="57150" cy="2038350"/>
          </a:xfrm>
          <a:prstGeom prst="rect">
            <a:avLst/>
          </a:prstGeom>
          <a:solidFill>
            <a:srgbClr val="78836A"/>
          </a:solidFill>
          <a:ln w="0">
            <a:solidFill>
              <a:srgbClr val="78836A"/>
            </a:solidFill>
            <a:prstDash val="solid"/>
          </a:ln>
        </p:spPr>
      </p:sp>
      <p:sp>
        <p:nvSpPr>
          <p:cNvPr id="11" name="矩形 10"/>
          <p:cNvSpPr>
            <a:spLocks noGrp="1"/>
          </p:cNvSpPr>
          <p:nvPr/>
        </p:nvSpPr>
        <p:spPr>
          <a:xfrm>
            <a:off x="1085850" y="2495550"/>
            <a:ext cx="1619250" cy="285750"/>
          </a:xfrm>
          <a:prstGeom prst="rect">
            <a:avLst/>
          </a:prstGeom>
          <a:noFill/>
          <a:ln w="0">
            <a:noFill/>
            <a:prstDash val="solid"/>
          </a:ln>
        </p:spPr>
        <p:txBody>
          <a:bodyPr/>
          <a:lstStyle/>
          <a:p>
            <a:pPr algn="l">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a:ea typeface="Times New Roman" panose="02020603050405020304"/>
                <a:cs typeface="Times New Roman" panose="02020603050405020304"/>
              </a:rPr>
              <a:t>Baseline</a:t>
            </a:r>
            <a:endParaRPr sz="1650" b="1" i="0">
              <a:solidFill>
                <a:srgbClr val="1E2433"/>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085850" y="2838450"/>
            <a:ext cx="1619250" cy="14668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No summary</a:t>
            </a:r>
            <a:endParaRPr sz="1350" b="0" i="0">
              <a:solidFill>
                <a:srgbClr val="5E6675"/>
              </a:solidFill>
              <a:latin typeface="Times New Roman" panose="02020603050405020304"/>
              <a:ea typeface="Times New Roman" panose="02020603050405020304"/>
              <a:cs typeface="Times New Roman" panose="02020603050405020304"/>
            </a:endParaRPr>
          </a:p>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Direct entry to the evidence pool</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3048000" y="2381250"/>
            <a:ext cx="2038350" cy="2038350"/>
          </a:xfrm>
          <a:prstGeom prst="roundRect">
            <a:avLst>
              <a:gd name="adj" fmla="val 3738"/>
            </a:avLst>
          </a:prstGeom>
          <a:solidFill>
            <a:srgbClr val="FFF9F0"/>
          </a:solidFill>
          <a:ln w="9525">
            <a:solidFill>
              <a:srgbClr val="E8DCCB"/>
            </a:solidFill>
            <a:prstDash val="solid"/>
          </a:ln>
        </p:spPr>
      </p:sp>
      <p:sp>
        <p:nvSpPr>
          <p:cNvPr id="14" name="矩形 13"/>
          <p:cNvSpPr>
            <a:spLocks noGrp="1"/>
          </p:cNvSpPr>
          <p:nvPr/>
        </p:nvSpPr>
        <p:spPr>
          <a:xfrm>
            <a:off x="3048000" y="2381250"/>
            <a:ext cx="57150" cy="2038350"/>
          </a:xfrm>
          <a:prstGeom prst="rect">
            <a:avLst/>
          </a:prstGeom>
          <a:solidFill>
            <a:srgbClr val="C89B4A"/>
          </a:solidFill>
          <a:ln w="0">
            <a:solidFill>
              <a:srgbClr val="C89B4A"/>
            </a:solidFill>
            <a:prstDash val="solid"/>
          </a:ln>
        </p:spPr>
      </p:sp>
      <p:sp>
        <p:nvSpPr>
          <p:cNvPr id="15" name="矩形 14"/>
          <p:cNvSpPr>
            <a:spLocks noGrp="1"/>
          </p:cNvSpPr>
          <p:nvPr/>
        </p:nvSpPr>
        <p:spPr>
          <a:xfrm>
            <a:off x="3219450" y="2495550"/>
            <a:ext cx="1752600" cy="285750"/>
          </a:xfrm>
          <a:prstGeom prst="rect">
            <a:avLst/>
          </a:prstGeom>
          <a:noFill/>
          <a:ln w="0">
            <a:noFill/>
            <a:prstDash val="solid"/>
          </a:ln>
        </p:spPr>
        <p:txBody>
          <a:bodyPr/>
          <a:lstStyle/>
          <a:p>
            <a:pPr algn="l">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a:ea typeface="Times New Roman" panose="02020603050405020304"/>
                <a:cs typeface="Times New Roman" panose="02020603050405020304"/>
              </a:rPr>
              <a:t>Complete</a:t>
            </a:r>
            <a:endParaRPr sz="1350" b="1" i="0">
              <a:solidFill>
                <a:srgbClr val="1E2433"/>
              </a:solidFill>
              <a:latin typeface="Times New Roman" panose="02020603050405020304"/>
              <a:ea typeface="Times New Roman" panose="02020603050405020304"/>
              <a:cs typeface="Times New Roman" panose="02020603050405020304"/>
            </a:endParaRPr>
          </a:p>
          <a:p>
            <a:pPr algn="l">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a:ea typeface="Times New Roman" panose="02020603050405020304"/>
                <a:cs typeface="Times New Roman" panose="02020603050405020304"/>
              </a:rPr>
              <a:t>No label</a:t>
            </a:r>
            <a:endParaRPr sz="1350" b="1" i="0">
              <a:solidFill>
                <a:srgbClr val="1E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3219450" y="2838450"/>
            <a:ext cx="1752600" cy="14668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Representative summary</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17" name="圆角矩形 16"/>
          <p:cNvSpPr>
            <a:spLocks noGrp="1"/>
          </p:cNvSpPr>
          <p:nvPr/>
        </p:nvSpPr>
        <p:spPr>
          <a:xfrm>
            <a:off x="5219700" y="2381250"/>
            <a:ext cx="2038350" cy="2038350"/>
          </a:xfrm>
          <a:prstGeom prst="roundRect">
            <a:avLst>
              <a:gd name="adj" fmla="val 3738"/>
            </a:avLst>
          </a:prstGeom>
          <a:solidFill>
            <a:srgbClr val="FFF9F0"/>
          </a:solidFill>
          <a:ln w="9525">
            <a:solidFill>
              <a:srgbClr val="E8DCCB"/>
            </a:solidFill>
            <a:prstDash val="solid"/>
          </a:ln>
        </p:spPr>
      </p:sp>
      <p:sp>
        <p:nvSpPr>
          <p:cNvPr id="18" name="矩形 17"/>
          <p:cNvSpPr>
            <a:spLocks noGrp="1"/>
          </p:cNvSpPr>
          <p:nvPr/>
        </p:nvSpPr>
        <p:spPr>
          <a:xfrm>
            <a:off x="5219700" y="2381250"/>
            <a:ext cx="57150" cy="2038350"/>
          </a:xfrm>
          <a:prstGeom prst="rect">
            <a:avLst/>
          </a:prstGeom>
          <a:solidFill>
            <a:srgbClr val="B45A3C"/>
          </a:solidFill>
          <a:ln w="0">
            <a:solidFill>
              <a:srgbClr val="B45A3C"/>
            </a:solidFill>
            <a:prstDash val="solid"/>
          </a:ln>
        </p:spPr>
      </p:sp>
      <p:sp>
        <p:nvSpPr>
          <p:cNvPr id="19" name="矩形 18"/>
          <p:cNvSpPr>
            <a:spLocks noGrp="1"/>
          </p:cNvSpPr>
          <p:nvPr/>
        </p:nvSpPr>
        <p:spPr>
          <a:xfrm>
            <a:off x="5391150" y="2495550"/>
            <a:ext cx="1752600" cy="285750"/>
          </a:xfrm>
          <a:prstGeom prst="rect">
            <a:avLst/>
          </a:prstGeom>
          <a:noFill/>
          <a:ln w="0">
            <a:noFill/>
            <a:prstDash val="solid"/>
          </a:ln>
        </p:spPr>
        <p:txBody>
          <a:bodyPr/>
          <a:lstStyle/>
          <a:p>
            <a:pPr algn="l">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a:ea typeface="Times New Roman" panose="02020603050405020304"/>
                <a:cs typeface="Times New Roman" panose="02020603050405020304"/>
              </a:rPr>
              <a:t>Complete</a:t>
            </a:r>
            <a:endParaRPr sz="1350" b="1" i="0">
              <a:solidFill>
                <a:srgbClr val="1E2433"/>
              </a:solidFill>
              <a:latin typeface="Times New Roman" panose="02020603050405020304"/>
              <a:ea typeface="Times New Roman" panose="02020603050405020304"/>
              <a:cs typeface="Times New Roman" panose="02020603050405020304"/>
            </a:endParaRPr>
          </a:p>
          <a:p>
            <a:pPr algn="l">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a:ea typeface="Times New Roman" panose="02020603050405020304"/>
                <a:cs typeface="Times New Roman" panose="02020603050405020304"/>
              </a:rPr>
              <a:t>AI label</a:t>
            </a:r>
            <a:endParaRPr sz="1350" b="1" i="0">
              <a:solidFill>
                <a:srgbClr val="1E2433"/>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5391150" y="2838450"/>
            <a:ext cx="1752600" cy="14668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Representative summary</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21" name="圆角矩形 20"/>
          <p:cNvSpPr>
            <a:spLocks noGrp="1"/>
          </p:cNvSpPr>
          <p:nvPr/>
        </p:nvSpPr>
        <p:spPr>
          <a:xfrm>
            <a:off x="7391400" y="2381250"/>
            <a:ext cx="2038350" cy="2038350"/>
          </a:xfrm>
          <a:prstGeom prst="roundRect">
            <a:avLst>
              <a:gd name="adj" fmla="val 3738"/>
            </a:avLst>
          </a:prstGeom>
          <a:solidFill>
            <a:srgbClr val="FFF9F0"/>
          </a:solidFill>
          <a:ln w="9525">
            <a:solidFill>
              <a:srgbClr val="E8DCCB"/>
            </a:solidFill>
            <a:prstDash val="solid"/>
          </a:ln>
        </p:spPr>
      </p:sp>
      <p:sp>
        <p:nvSpPr>
          <p:cNvPr id="22" name="矩形 21"/>
          <p:cNvSpPr>
            <a:spLocks noGrp="1"/>
          </p:cNvSpPr>
          <p:nvPr/>
        </p:nvSpPr>
        <p:spPr>
          <a:xfrm>
            <a:off x="7391400" y="2381250"/>
            <a:ext cx="57150" cy="2038350"/>
          </a:xfrm>
          <a:prstGeom prst="rect">
            <a:avLst/>
          </a:prstGeom>
          <a:solidFill>
            <a:srgbClr val="C89B4A"/>
          </a:solidFill>
          <a:ln w="0">
            <a:solidFill>
              <a:srgbClr val="C89B4A"/>
            </a:solidFill>
            <a:prstDash val="solid"/>
          </a:ln>
        </p:spPr>
      </p:sp>
      <p:sp>
        <p:nvSpPr>
          <p:cNvPr id="23" name="矩形 22"/>
          <p:cNvSpPr>
            <a:spLocks noGrp="1"/>
          </p:cNvSpPr>
          <p:nvPr/>
        </p:nvSpPr>
        <p:spPr>
          <a:xfrm>
            <a:off x="7562850" y="2495550"/>
            <a:ext cx="1752600" cy="285750"/>
          </a:xfrm>
          <a:prstGeom prst="rect">
            <a:avLst/>
          </a:prstGeom>
          <a:noFill/>
          <a:ln w="0">
            <a:noFill/>
            <a:prstDash val="solid"/>
          </a:ln>
        </p:spPr>
        <p:txBody>
          <a:bodyPr/>
          <a:lstStyle/>
          <a:p>
            <a:pPr algn="l">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a:ea typeface="Times New Roman" panose="02020603050405020304"/>
                <a:cs typeface="Times New Roman" panose="02020603050405020304"/>
              </a:rPr>
              <a:t>Incomplete</a:t>
            </a:r>
            <a:endParaRPr sz="1350" b="1" i="0">
              <a:solidFill>
                <a:srgbClr val="1E2433"/>
              </a:solidFill>
              <a:latin typeface="Times New Roman" panose="02020603050405020304"/>
              <a:ea typeface="Times New Roman" panose="02020603050405020304"/>
              <a:cs typeface="Times New Roman" panose="02020603050405020304"/>
            </a:endParaRPr>
          </a:p>
          <a:p>
            <a:pPr algn="l">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a:ea typeface="Times New Roman" panose="02020603050405020304"/>
                <a:cs typeface="Times New Roman" panose="02020603050405020304"/>
              </a:rPr>
              <a:t>No label</a:t>
            </a:r>
            <a:endParaRPr sz="1350" b="1" i="0">
              <a:solidFill>
                <a:srgbClr val="1E2433"/>
              </a:solidFill>
              <a:latin typeface="Times New Roman" panose="02020603050405020304"/>
              <a:ea typeface="Times New Roman" panose="02020603050405020304"/>
              <a:cs typeface="Times New Roman" panose="02020603050405020304"/>
            </a:endParaRPr>
          </a:p>
        </p:txBody>
      </p:sp>
      <p:sp>
        <p:nvSpPr>
          <p:cNvPr id="24" name="矩形 23"/>
          <p:cNvSpPr>
            <a:spLocks noGrp="1"/>
          </p:cNvSpPr>
          <p:nvPr/>
        </p:nvSpPr>
        <p:spPr>
          <a:xfrm>
            <a:off x="7562850" y="2838450"/>
            <a:ext cx="1752600" cy="14668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Incomplete summary</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25" name="圆角矩形 24"/>
          <p:cNvSpPr>
            <a:spLocks noGrp="1"/>
          </p:cNvSpPr>
          <p:nvPr/>
        </p:nvSpPr>
        <p:spPr>
          <a:xfrm>
            <a:off x="9563100" y="2381250"/>
            <a:ext cx="2038350" cy="2038350"/>
          </a:xfrm>
          <a:prstGeom prst="roundRect">
            <a:avLst>
              <a:gd name="adj" fmla="val 3738"/>
            </a:avLst>
          </a:prstGeom>
          <a:solidFill>
            <a:srgbClr val="FFF9F0"/>
          </a:solidFill>
          <a:ln w="9525">
            <a:solidFill>
              <a:srgbClr val="E8DCCB"/>
            </a:solidFill>
            <a:prstDash val="solid"/>
          </a:ln>
        </p:spPr>
      </p:sp>
      <p:sp>
        <p:nvSpPr>
          <p:cNvPr id="26" name="矩形 25"/>
          <p:cNvSpPr>
            <a:spLocks noGrp="1"/>
          </p:cNvSpPr>
          <p:nvPr/>
        </p:nvSpPr>
        <p:spPr>
          <a:xfrm>
            <a:off x="9563100" y="2381250"/>
            <a:ext cx="57150" cy="2038350"/>
          </a:xfrm>
          <a:prstGeom prst="rect">
            <a:avLst/>
          </a:prstGeom>
          <a:solidFill>
            <a:srgbClr val="B45A3C"/>
          </a:solidFill>
          <a:ln w="0">
            <a:solidFill>
              <a:srgbClr val="B45A3C"/>
            </a:solidFill>
            <a:prstDash val="solid"/>
          </a:ln>
        </p:spPr>
      </p:sp>
      <p:sp>
        <p:nvSpPr>
          <p:cNvPr id="27" name="矩形 26"/>
          <p:cNvSpPr>
            <a:spLocks noGrp="1"/>
          </p:cNvSpPr>
          <p:nvPr/>
        </p:nvSpPr>
        <p:spPr>
          <a:xfrm>
            <a:off x="9734550" y="2495550"/>
            <a:ext cx="1752600" cy="285750"/>
          </a:xfrm>
          <a:prstGeom prst="rect">
            <a:avLst/>
          </a:prstGeom>
          <a:noFill/>
          <a:ln w="0">
            <a:noFill/>
            <a:prstDash val="solid"/>
          </a:ln>
        </p:spPr>
        <p:txBody>
          <a:bodyPr/>
          <a:lstStyle/>
          <a:p>
            <a:pPr algn="l">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a:ea typeface="Times New Roman" panose="02020603050405020304"/>
                <a:cs typeface="Times New Roman" panose="02020603050405020304"/>
              </a:rPr>
              <a:t>Incomplete</a:t>
            </a:r>
            <a:endParaRPr sz="1350" b="1" i="0">
              <a:solidFill>
                <a:srgbClr val="1E2433"/>
              </a:solidFill>
              <a:latin typeface="Times New Roman" panose="02020603050405020304"/>
              <a:ea typeface="Times New Roman" panose="02020603050405020304"/>
              <a:cs typeface="Times New Roman" panose="02020603050405020304"/>
            </a:endParaRPr>
          </a:p>
          <a:p>
            <a:pPr algn="l">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a:ea typeface="Times New Roman" panose="02020603050405020304"/>
                <a:cs typeface="Times New Roman" panose="02020603050405020304"/>
              </a:rPr>
              <a:t>AI label</a:t>
            </a:r>
            <a:endParaRPr sz="1350" b="1" i="0">
              <a:solidFill>
                <a:srgbClr val="1E2433"/>
              </a:solidFill>
              <a:latin typeface="Times New Roman" panose="02020603050405020304"/>
              <a:ea typeface="Times New Roman" panose="02020603050405020304"/>
              <a:cs typeface="Times New Roman" panose="02020603050405020304"/>
            </a:endParaRPr>
          </a:p>
        </p:txBody>
      </p:sp>
      <p:sp>
        <p:nvSpPr>
          <p:cNvPr id="28" name="矩形 27"/>
          <p:cNvSpPr>
            <a:spLocks noGrp="1"/>
          </p:cNvSpPr>
          <p:nvPr/>
        </p:nvSpPr>
        <p:spPr>
          <a:xfrm>
            <a:off x="9734550" y="2838450"/>
            <a:ext cx="1752600" cy="14668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Incomplete summary</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29" name="圆角矩形 28"/>
          <p:cNvSpPr>
            <a:spLocks noGrp="1"/>
          </p:cNvSpPr>
          <p:nvPr/>
        </p:nvSpPr>
        <p:spPr>
          <a:xfrm>
            <a:off x="1714500" y="4953000"/>
            <a:ext cx="8763000" cy="876300"/>
          </a:xfrm>
          <a:prstGeom prst="roundRect">
            <a:avLst>
              <a:gd name="adj" fmla="val 8696"/>
            </a:avLst>
          </a:prstGeom>
          <a:solidFill>
            <a:srgbClr val="FFF9F0"/>
          </a:solidFill>
          <a:ln w="9525">
            <a:solidFill>
              <a:srgbClr val="E8DCCB"/>
            </a:solidFill>
            <a:prstDash val="solid"/>
          </a:ln>
        </p:spPr>
      </p:sp>
      <p:sp>
        <p:nvSpPr>
          <p:cNvPr id="30" name="矩形 29"/>
          <p:cNvSpPr>
            <a:spLocks noGrp="1"/>
          </p:cNvSpPr>
          <p:nvPr/>
        </p:nvSpPr>
        <p:spPr>
          <a:xfrm>
            <a:off x="1714500" y="4953000"/>
            <a:ext cx="57150" cy="876300"/>
          </a:xfrm>
          <a:prstGeom prst="rect">
            <a:avLst/>
          </a:prstGeom>
          <a:solidFill>
            <a:srgbClr val="B45A3C"/>
          </a:solidFill>
          <a:ln w="0">
            <a:solidFill>
              <a:srgbClr val="B45A3C"/>
            </a:solidFill>
            <a:prstDash val="solid"/>
          </a:ln>
        </p:spPr>
      </p:sp>
      <p:sp>
        <p:nvSpPr>
          <p:cNvPr id="31" name="矩形 30"/>
          <p:cNvSpPr>
            <a:spLocks noGrp="1"/>
          </p:cNvSpPr>
          <p:nvPr/>
        </p:nvSpPr>
        <p:spPr>
          <a:xfrm>
            <a:off x="1885950" y="5067300"/>
            <a:ext cx="8477250" cy="285750"/>
          </a:xfrm>
          <a:prstGeom prst="rect">
            <a:avLst/>
          </a:prstGeom>
          <a:noFill/>
          <a:ln w="0">
            <a:noFill/>
            <a:prstDash val="solid"/>
          </a:ln>
        </p:spPr>
        <p:txBody>
          <a:bodyPr/>
          <a:lstStyle/>
          <a:p>
            <a:pPr algn="l">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a:ea typeface="Times New Roman" panose="02020603050405020304"/>
                <a:cs typeface="Times New Roman" panose="02020603050405020304"/>
              </a:rPr>
              <a:t>Why five groups instead of a full six-cell matrix</a:t>
            </a:r>
            <a:endParaRPr sz="1650" b="1" i="0">
              <a:solidFill>
                <a:srgbClr val="1E2433"/>
              </a:solidFill>
              <a:latin typeface="Times New Roman" panose="02020603050405020304"/>
              <a:ea typeface="Times New Roman" panose="02020603050405020304"/>
              <a:cs typeface="Times New Roman" panose="02020603050405020304"/>
            </a:endParaRPr>
          </a:p>
        </p:txBody>
      </p:sp>
      <p:sp>
        <p:nvSpPr>
          <p:cNvPr id="32" name="矩形 31"/>
          <p:cNvSpPr>
            <a:spLocks noGrp="1"/>
          </p:cNvSpPr>
          <p:nvPr/>
        </p:nvSpPr>
        <p:spPr>
          <a:xfrm>
            <a:off x="1885950" y="5410200"/>
            <a:ext cx="8477250" cy="30480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The no-summary baseline does not need a representative versus incomplete split because everyone in that condition enters the same full evidence pool directly.</a:t>
            </a:r>
            <a:endParaRPr sz="1350" b="0" i="0">
              <a:solidFill>
                <a:srgbClr val="5E66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p:sp>
        <p:nvSpPr>
          <p:cNvPr id="2" name="椭圆 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3" name="椭圆 2"/>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4" name="矩形 3"/>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5" name="矩形 4"/>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6" name="矩形 5"/>
          <p:cNvSpPr>
            <a:spLocks noGrp="1"/>
          </p:cNvSpPr>
          <p:nvPr/>
        </p:nvSpPr>
        <p:spPr>
          <a:xfrm>
            <a:off x="1181100" y="571500"/>
            <a:ext cx="4000500" cy="228600"/>
          </a:xfrm>
          <a:prstGeom prst="rect">
            <a:avLst/>
          </a:prstGeom>
          <a:noFill/>
          <a:ln w="0">
            <a:noFill/>
            <a:prstDash val="solid"/>
          </a:ln>
        </p:spPr>
        <p:txBody>
          <a:bodyPr/>
          <a:lstStyle/>
          <a:p>
            <a:pPr algn="l">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a:ea typeface="Times New Roman" panose="02020603050405020304"/>
                <a:cs typeface="Times New Roman" panose="02020603050405020304"/>
              </a:rPr>
              <a:t>IDENTIFICATION</a:t>
            </a:r>
            <a:endParaRPr sz="1050" b="1" i="0">
              <a:solidFill>
                <a:srgbClr val="B45A3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914400"/>
            <a:ext cx="9334500" cy="704850"/>
          </a:xfrm>
          <a:prstGeom prst="rect">
            <a:avLst/>
          </a:prstGeom>
          <a:noFill/>
          <a:ln w="0">
            <a:noFill/>
            <a:prstDash val="solid"/>
          </a:ln>
        </p:spPr>
        <p:txBody>
          <a:bodyPr/>
          <a:lstStyle/>
          <a:p>
            <a:pPr algn="l">
              <a:defRPr sz="2550" b="1" i="0">
                <a:solidFill>
                  <a:srgbClr val="1E2433"/>
                </a:solidFill>
                <a:latin typeface="Times New Roman" panose="02020603050405020304"/>
                <a:ea typeface="Times New Roman" panose="02020603050405020304"/>
                <a:cs typeface="Times New Roman" panose="02020603050405020304"/>
              </a:defRPr>
            </a:pPr>
            <a:r>
              <a:rPr sz="2550" b="1" i="0">
                <a:solidFill>
                  <a:srgbClr val="1E2433"/>
                </a:solidFill>
                <a:latin typeface="Times New Roman" panose="02020603050405020304"/>
                <a:ea typeface="Times New Roman" panose="02020603050405020304"/>
                <a:cs typeface="Times New Roman" panose="02020603050405020304"/>
              </a:rPr>
              <a:t>The same summary text isolates the AI label effect</a:t>
            </a:r>
            <a:endParaRPr sz="2550" b="1" i="0">
              <a:solidFill>
                <a:srgbClr val="1E2433"/>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676400"/>
            <a:ext cx="10096500" cy="2857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The content stays the same while the label changes, and every participant then moves through the same additional-search sequence.</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914400" y="2247900"/>
            <a:ext cx="4762500" cy="2038350"/>
          </a:xfrm>
          <a:prstGeom prst="roundRect">
            <a:avLst>
              <a:gd name="adj" fmla="val 3738"/>
            </a:avLst>
          </a:prstGeom>
          <a:solidFill>
            <a:srgbClr val="FFF9F0"/>
          </a:solidFill>
          <a:ln w="9525">
            <a:solidFill>
              <a:srgbClr val="E8DCCB"/>
            </a:solidFill>
            <a:prstDash val="solid"/>
          </a:ln>
        </p:spPr>
      </p:sp>
      <p:sp>
        <p:nvSpPr>
          <p:cNvPr id="10" name="矩形 9"/>
          <p:cNvSpPr>
            <a:spLocks noGrp="1"/>
          </p:cNvSpPr>
          <p:nvPr/>
        </p:nvSpPr>
        <p:spPr>
          <a:xfrm>
            <a:off x="914400" y="2247900"/>
            <a:ext cx="57150" cy="2038350"/>
          </a:xfrm>
          <a:prstGeom prst="rect">
            <a:avLst/>
          </a:prstGeom>
          <a:solidFill>
            <a:srgbClr val="C89B4A"/>
          </a:solidFill>
          <a:ln w="0">
            <a:solidFill>
              <a:srgbClr val="C89B4A"/>
            </a:solidFill>
            <a:prstDash val="solid"/>
          </a:ln>
        </p:spPr>
      </p:sp>
      <p:sp>
        <p:nvSpPr>
          <p:cNvPr id="11" name="矩形 10"/>
          <p:cNvSpPr>
            <a:spLocks noGrp="1"/>
          </p:cNvSpPr>
          <p:nvPr/>
        </p:nvSpPr>
        <p:spPr>
          <a:xfrm>
            <a:off x="1085850" y="2362200"/>
            <a:ext cx="4476750" cy="285750"/>
          </a:xfrm>
          <a:prstGeom prst="rect">
            <a:avLst/>
          </a:prstGeom>
          <a:noFill/>
          <a:ln w="0">
            <a:noFill/>
            <a:prstDash val="solid"/>
          </a:ln>
        </p:spPr>
        <p:txBody>
          <a:bodyPr/>
          <a:lstStyle/>
          <a:p>
            <a:pPr algn="l">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a:ea typeface="Times New Roman" panose="02020603050405020304"/>
                <a:cs typeface="Times New Roman" panose="02020603050405020304"/>
              </a:rPr>
              <a:t>Unlabeled summary</a:t>
            </a:r>
            <a:endParaRPr sz="1875" b="1" i="0">
              <a:solidFill>
                <a:srgbClr val="1E2433"/>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085850" y="2705100"/>
            <a:ext cx="4476750" cy="1466850"/>
          </a:xfrm>
          <a:prstGeom prst="rect">
            <a:avLst/>
          </a:prstGeom>
          <a:noFill/>
          <a:ln w="0">
            <a:noFill/>
            <a:prstDash val="solid"/>
          </a:ln>
        </p:spPr>
        <p:txBody>
          <a:bodyPr/>
          <a:lstStyle/>
          <a:p>
            <a:pPr algn="l">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a:ea typeface="Times New Roman" panose="02020603050405020304"/>
                <a:cs typeface="Times New Roman" panose="02020603050405020304"/>
              </a:rPr>
              <a:t>The participant sees a summary of the exact same initial evidence, but the source is not identified as AI.</a:t>
            </a:r>
            <a:endParaRPr sz="1425" b="0" i="0">
              <a:solidFill>
                <a:srgbClr val="5E6675"/>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6477000" y="2247900"/>
            <a:ext cx="4724400" cy="2038350"/>
          </a:xfrm>
          <a:prstGeom prst="roundRect">
            <a:avLst>
              <a:gd name="adj" fmla="val 3738"/>
            </a:avLst>
          </a:prstGeom>
          <a:solidFill>
            <a:srgbClr val="FFF9F0"/>
          </a:solidFill>
          <a:ln w="9525">
            <a:solidFill>
              <a:srgbClr val="E8DCCB"/>
            </a:solidFill>
            <a:prstDash val="solid"/>
          </a:ln>
        </p:spPr>
      </p:sp>
      <p:sp>
        <p:nvSpPr>
          <p:cNvPr id="14" name="矩形 13"/>
          <p:cNvSpPr>
            <a:spLocks noGrp="1"/>
          </p:cNvSpPr>
          <p:nvPr/>
        </p:nvSpPr>
        <p:spPr>
          <a:xfrm>
            <a:off x="6477000" y="2247900"/>
            <a:ext cx="57150" cy="2038350"/>
          </a:xfrm>
          <a:prstGeom prst="rect">
            <a:avLst/>
          </a:prstGeom>
          <a:solidFill>
            <a:srgbClr val="B45A3C"/>
          </a:solidFill>
          <a:ln w="0">
            <a:solidFill>
              <a:srgbClr val="B45A3C"/>
            </a:solidFill>
            <a:prstDash val="solid"/>
          </a:ln>
        </p:spPr>
      </p:sp>
      <p:sp>
        <p:nvSpPr>
          <p:cNvPr id="15" name="矩形 14"/>
          <p:cNvSpPr>
            <a:spLocks noGrp="1"/>
          </p:cNvSpPr>
          <p:nvPr/>
        </p:nvSpPr>
        <p:spPr>
          <a:xfrm>
            <a:off x="6648450" y="2362200"/>
            <a:ext cx="4438650" cy="285750"/>
          </a:xfrm>
          <a:prstGeom prst="rect">
            <a:avLst/>
          </a:prstGeom>
          <a:noFill/>
          <a:ln w="0">
            <a:noFill/>
            <a:prstDash val="solid"/>
          </a:ln>
        </p:spPr>
        <p:txBody>
          <a:bodyPr/>
          <a:lstStyle/>
          <a:p>
            <a:pPr algn="l">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a:ea typeface="Times New Roman" panose="02020603050405020304"/>
                <a:cs typeface="Times New Roman" panose="02020603050405020304"/>
              </a:rPr>
              <a:t>AI-labeled summary</a:t>
            </a:r>
            <a:endParaRPr sz="1875" b="1" i="0">
              <a:solidFill>
                <a:srgbClr val="1E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6648450" y="2705100"/>
            <a:ext cx="4438650" cy="1466850"/>
          </a:xfrm>
          <a:prstGeom prst="rect">
            <a:avLst/>
          </a:prstGeom>
          <a:noFill/>
          <a:ln w="0">
            <a:noFill/>
            <a:prstDash val="solid"/>
          </a:ln>
        </p:spPr>
        <p:txBody>
          <a:bodyPr/>
          <a:lstStyle/>
          <a:p>
            <a:pPr algn="l">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a:ea typeface="Times New Roman" panose="02020603050405020304"/>
                <a:cs typeface="Times New Roman" panose="02020603050405020304"/>
              </a:rPr>
              <a:t>The participant sees the very same summary text, but now the system explicitly says the summary was generated by AI.</a:t>
            </a:r>
            <a:endParaRPr sz="1425" b="0" i="0">
              <a:solidFill>
                <a:srgbClr val="5E6675"/>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914400" y="4629150"/>
            <a:ext cx="2476500" cy="228600"/>
          </a:xfrm>
          <a:prstGeom prst="rect">
            <a:avLst/>
          </a:prstGeom>
          <a:noFill/>
          <a:ln w="0">
            <a:noFill/>
            <a:prstDash val="solid"/>
          </a:ln>
        </p:spPr>
        <p:txBody>
          <a:bodyPr/>
          <a:lstStyle/>
          <a:p>
            <a:pPr algn="l">
              <a:defRPr sz="1575" b="1" i="0">
                <a:solidFill>
                  <a:srgbClr val="B45A3C"/>
                </a:solidFill>
                <a:latin typeface="Times New Roman" panose="02020603050405020304"/>
                <a:ea typeface="Times New Roman" panose="02020603050405020304"/>
                <a:cs typeface="Times New Roman" panose="02020603050405020304"/>
              </a:defRPr>
            </a:pPr>
            <a:r>
              <a:rPr sz="1575" b="1" i="0">
                <a:solidFill>
                  <a:srgbClr val="B45A3C"/>
                </a:solidFill>
                <a:latin typeface="Times New Roman" panose="02020603050405020304"/>
                <a:ea typeface="Times New Roman" panose="02020603050405020304"/>
                <a:cs typeface="Times New Roman" panose="02020603050405020304"/>
              </a:rPr>
              <a:t>Participant sequence</a:t>
            </a:r>
            <a:endParaRPr sz="1575" b="1" i="0">
              <a:solidFill>
                <a:srgbClr val="B45A3C"/>
              </a:solidFill>
              <a:latin typeface="Times New Roman" panose="02020603050405020304"/>
              <a:ea typeface="Times New Roman" panose="02020603050405020304"/>
              <a:cs typeface="Times New Roman" panose="02020603050405020304"/>
            </a:endParaRPr>
          </a:p>
        </p:txBody>
      </p:sp>
      <p:sp>
        <p:nvSpPr>
          <p:cNvPr id="18" name="圆角矩形 17"/>
          <p:cNvSpPr>
            <a:spLocks noGrp="1"/>
          </p:cNvSpPr>
          <p:nvPr/>
        </p:nvSpPr>
        <p:spPr>
          <a:xfrm>
            <a:off x="914400" y="4991100"/>
            <a:ext cx="1790700" cy="1028700"/>
          </a:xfrm>
          <a:prstGeom prst="roundRect">
            <a:avLst>
              <a:gd name="adj" fmla="val 7407"/>
            </a:avLst>
          </a:prstGeom>
          <a:solidFill>
            <a:srgbClr val="FFF9F0"/>
          </a:solidFill>
          <a:ln w="9525">
            <a:solidFill>
              <a:srgbClr val="E8DCCB"/>
            </a:solidFill>
            <a:prstDash val="solid"/>
          </a:ln>
        </p:spPr>
      </p:sp>
      <p:sp>
        <p:nvSpPr>
          <p:cNvPr id="19" name="矩形 18"/>
          <p:cNvSpPr>
            <a:spLocks noGrp="1"/>
          </p:cNvSpPr>
          <p:nvPr/>
        </p:nvSpPr>
        <p:spPr>
          <a:xfrm>
            <a:off x="914400" y="4991100"/>
            <a:ext cx="57150" cy="1028700"/>
          </a:xfrm>
          <a:prstGeom prst="rect">
            <a:avLst/>
          </a:prstGeom>
          <a:solidFill>
            <a:srgbClr val="B45A3C"/>
          </a:solidFill>
          <a:ln w="0">
            <a:solidFill>
              <a:srgbClr val="B45A3C"/>
            </a:solidFill>
            <a:prstDash val="solid"/>
          </a:ln>
        </p:spPr>
      </p:sp>
      <p:sp>
        <p:nvSpPr>
          <p:cNvPr id="20" name="矩形 19"/>
          <p:cNvSpPr>
            <a:spLocks noGrp="1"/>
          </p:cNvSpPr>
          <p:nvPr/>
        </p:nvSpPr>
        <p:spPr>
          <a:xfrm>
            <a:off x="1085850" y="5105400"/>
            <a:ext cx="1504950" cy="285750"/>
          </a:xfrm>
          <a:prstGeom prst="rect">
            <a:avLst/>
          </a:prstGeom>
          <a:noFill/>
          <a:ln w="0">
            <a:noFill/>
            <a:prstDash val="solid"/>
          </a:ln>
        </p:spPr>
        <p:txBody>
          <a:bodyPr/>
          <a:lstStyle/>
          <a:p>
            <a:pPr algn="l">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a:ea typeface="Times New Roman" panose="02020603050405020304"/>
                <a:cs typeface="Times New Roman" panose="02020603050405020304"/>
              </a:rPr>
              <a:t>See prior</a:t>
            </a:r>
            <a:endParaRPr sz="1350" b="1" i="0">
              <a:solidFill>
                <a:srgbClr val="1E2433"/>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1085850" y="5448300"/>
            <a:ext cx="1504950" cy="457200"/>
          </a:xfrm>
          <a:prstGeom prst="rect">
            <a:avLst/>
          </a:prstGeom>
          <a:noFill/>
          <a:ln w="0">
            <a:noFill/>
            <a:prstDash val="solid"/>
          </a:ln>
        </p:spPr>
        <p:txBody>
          <a:bodyPr/>
          <a:lstStyle/>
          <a:p>
            <a:pPr algn="l">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a:ea typeface="Times New Roman" panose="02020603050405020304"/>
                <a:cs typeface="Times New Roman" panose="02020603050405020304"/>
              </a:rPr>
              <a:t>Start from the same prior</a:t>
            </a:r>
            <a:endParaRPr sz="1125" b="0" i="0">
              <a:solidFill>
                <a:srgbClr val="5E6675"/>
              </a:solidFill>
              <a:latin typeface="Times New Roman" panose="02020603050405020304"/>
              <a:ea typeface="Times New Roman" panose="02020603050405020304"/>
              <a:cs typeface="Times New Roman" panose="02020603050405020304"/>
            </a:endParaRPr>
          </a:p>
        </p:txBody>
      </p:sp>
      <p:sp>
        <p:nvSpPr>
          <p:cNvPr id="22" name="矩形 21"/>
          <p:cNvSpPr>
            <a:spLocks noGrp="1"/>
          </p:cNvSpPr>
          <p:nvPr/>
        </p:nvSpPr>
        <p:spPr>
          <a:xfrm>
            <a:off x="2762250" y="5505450"/>
            <a:ext cx="171450" cy="19050"/>
          </a:xfrm>
          <a:prstGeom prst="rect">
            <a:avLst/>
          </a:prstGeom>
          <a:solidFill>
            <a:srgbClr val="B45A3C"/>
          </a:solidFill>
          <a:ln w="0">
            <a:solidFill>
              <a:srgbClr val="B45A3C"/>
            </a:solidFill>
            <a:prstDash val="solid"/>
          </a:ln>
        </p:spPr>
      </p:sp>
      <p:sp>
        <p:nvSpPr>
          <p:cNvPr id="23" name="圆角矩形 22"/>
          <p:cNvSpPr>
            <a:spLocks noGrp="1"/>
          </p:cNvSpPr>
          <p:nvPr/>
        </p:nvSpPr>
        <p:spPr>
          <a:xfrm>
            <a:off x="2971800" y="4991100"/>
            <a:ext cx="1790700" cy="1028700"/>
          </a:xfrm>
          <a:prstGeom prst="roundRect">
            <a:avLst>
              <a:gd name="adj" fmla="val 7407"/>
            </a:avLst>
          </a:prstGeom>
          <a:solidFill>
            <a:srgbClr val="FFF9F0"/>
          </a:solidFill>
          <a:ln w="9525">
            <a:solidFill>
              <a:srgbClr val="E8DCCB"/>
            </a:solidFill>
            <a:prstDash val="solid"/>
          </a:ln>
        </p:spPr>
      </p:sp>
      <p:sp>
        <p:nvSpPr>
          <p:cNvPr id="24" name="矩形 23"/>
          <p:cNvSpPr>
            <a:spLocks noGrp="1"/>
          </p:cNvSpPr>
          <p:nvPr/>
        </p:nvSpPr>
        <p:spPr>
          <a:xfrm>
            <a:off x="2971800" y="4991100"/>
            <a:ext cx="57150" cy="1028700"/>
          </a:xfrm>
          <a:prstGeom prst="rect">
            <a:avLst/>
          </a:prstGeom>
          <a:solidFill>
            <a:srgbClr val="B45A3C"/>
          </a:solidFill>
          <a:ln w="0">
            <a:solidFill>
              <a:srgbClr val="B45A3C"/>
            </a:solidFill>
            <a:prstDash val="solid"/>
          </a:ln>
        </p:spPr>
      </p:sp>
      <p:sp>
        <p:nvSpPr>
          <p:cNvPr id="25" name="矩形 24"/>
          <p:cNvSpPr>
            <a:spLocks noGrp="1"/>
          </p:cNvSpPr>
          <p:nvPr/>
        </p:nvSpPr>
        <p:spPr>
          <a:xfrm>
            <a:off x="3143250" y="5105400"/>
            <a:ext cx="1504950" cy="285750"/>
          </a:xfrm>
          <a:prstGeom prst="rect">
            <a:avLst/>
          </a:prstGeom>
          <a:noFill/>
          <a:ln w="0">
            <a:noFill/>
            <a:prstDash val="solid"/>
          </a:ln>
        </p:spPr>
        <p:txBody>
          <a:bodyPr/>
          <a:lstStyle/>
          <a:p>
            <a:pPr algn="l">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a:ea typeface="Times New Roman" panose="02020603050405020304"/>
                <a:cs typeface="Times New Roman" panose="02020603050405020304"/>
              </a:rPr>
              <a:t>Read summary</a:t>
            </a:r>
            <a:endParaRPr sz="1350" b="1" i="0">
              <a:solidFill>
                <a:srgbClr val="1E2433"/>
              </a:solidFill>
              <a:latin typeface="Times New Roman" panose="02020603050405020304"/>
              <a:ea typeface="Times New Roman" panose="02020603050405020304"/>
              <a:cs typeface="Times New Roman" panose="02020603050405020304"/>
            </a:endParaRPr>
          </a:p>
        </p:txBody>
      </p:sp>
      <p:sp>
        <p:nvSpPr>
          <p:cNvPr id="26" name="矩形 25"/>
          <p:cNvSpPr>
            <a:spLocks noGrp="1"/>
          </p:cNvSpPr>
          <p:nvPr/>
        </p:nvSpPr>
        <p:spPr>
          <a:xfrm>
            <a:off x="3143250" y="5448300"/>
            <a:ext cx="1504950" cy="457200"/>
          </a:xfrm>
          <a:prstGeom prst="rect">
            <a:avLst/>
          </a:prstGeom>
          <a:noFill/>
          <a:ln w="0">
            <a:noFill/>
            <a:prstDash val="solid"/>
          </a:ln>
        </p:spPr>
        <p:txBody>
          <a:bodyPr/>
          <a:lstStyle/>
          <a:p>
            <a:pPr algn="l">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a:ea typeface="Times New Roman" panose="02020603050405020304"/>
                <a:cs typeface="Times New Roman" panose="02020603050405020304"/>
              </a:rPr>
              <a:t>Or skip summary in baseline</a:t>
            </a:r>
            <a:endParaRPr sz="1125" b="0" i="0">
              <a:solidFill>
                <a:srgbClr val="5E6675"/>
              </a:solidFill>
              <a:latin typeface="Times New Roman" panose="02020603050405020304"/>
              <a:ea typeface="Times New Roman" panose="02020603050405020304"/>
              <a:cs typeface="Times New Roman" panose="02020603050405020304"/>
            </a:endParaRPr>
          </a:p>
        </p:txBody>
      </p:sp>
      <p:sp>
        <p:nvSpPr>
          <p:cNvPr id="27" name="矩形 26"/>
          <p:cNvSpPr>
            <a:spLocks noGrp="1"/>
          </p:cNvSpPr>
          <p:nvPr/>
        </p:nvSpPr>
        <p:spPr>
          <a:xfrm>
            <a:off x="4819650" y="5505450"/>
            <a:ext cx="171450" cy="19050"/>
          </a:xfrm>
          <a:prstGeom prst="rect">
            <a:avLst/>
          </a:prstGeom>
          <a:solidFill>
            <a:srgbClr val="B45A3C"/>
          </a:solidFill>
          <a:ln w="0">
            <a:solidFill>
              <a:srgbClr val="B45A3C"/>
            </a:solidFill>
            <a:prstDash val="solid"/>
          </a:ln>
        </p:spPr>
      </p:sp>
      <p:sp>
        <p:nvSpPr>
          <p:cNvPr id="28" name="圆角矩形 27"/>
          <p:cNvSpPr>
            <a:spLocks noGrp="1"/>
          </p:cNvSpPr>
          <p:nvPr/>
        </p:nvSpPr>
        <p:spPr>
          <a:xfrm>
            <a:off x="5029200" y="4991100"/>
            <a:ext cx="1790700" cy="1028700"/>
          </a:xfrm>
          <a:prstGeom prst="roundRect">
            <a:avLst>
              <a:gd name="adj" fmla="val 7407"/>
            </a:avLst>
          </a:prstGeom>
          <a:solidFill>
            <a:srgbClr val="FFF9F0"/>
          </a:solidFill>
          <a:ln w="9525">
            <a:solidFill>
              <a:srgbClr val="E8DCCB"/>
            </a:solidFill>
            <a:prstDash val="solid"/>
          </a:ln>
        </p:spPr>
      </p:sp>
      <p:sp>
        <p:nvSpPr>
          <p:cNvPr id="29" name="矩形 28"/>
          <p:cNvSpPr>
            <a:spLocks noGrp="1"/>
          </p:cNvSpPr>
          <p:nvPr/>
        </p:nvSpPr>
        <p:spPr>
          <a:xfrm>
            <a:off x="5029200" y="4991100"/>
            <a:ext cx="57150" cy="1028700"/>
          </a:xfrm>
          <a:prstGeom prst="rect">
            <a:avLst/>
          </a:prstGeom>
          <a:solidFill>
            <a:srgbClr val="C89B4A"/>
          </a:solidFill>
          <a:ln w="0">
            <a:solidFill>
              <a:srgbClr val="C89B4A"/>
            </a:solidFill>
            <a:prstDash val="solid"/>
          </a:ln>
        </p:spPr>
      </p:sp>
      <p:sp>
        <p:nvSpPr>
          <p:cNvPr id="30" name="矩形 29"/>
          <p:cNvSpPr>
            <a:spLocks noGrp="1"/>
          </p:cNvSpPr>
          <p:nvPr/>
        </p:nvSpPr>
        <p:spPr>
          <a:xfrm>
            <a:off x="5200650" y="5105400"/>
            <a:ext cx="1504950" cy="285750"/>
          </a:xfrm>
          <a:prstGeom prst="rect">
            <a:avLst/>
          </a:prstGeom>
          <a:noFill/>
          <a:ln w="0">
            <a:noFill/>
            <a:prstDash val="solid"/>
          </a:ln>
        </p:spPr>
        <p:txBody>
          <a:bodyPr/>
          <a:lstStyle/>
          <a:p>
            <a:pPr algn="l">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a:ea typeface="Times New Roman" panose="02020603050405020304"/>
                <a:cs typeface="Times New Roman" panose="02020603050405020304"/>
              </a:rPr>
              <a:t>Choose search</a:t>
            </a:r>
            <a:endParaRPr sz="1350" b="1" i="0">
              <a:solidFill>
                <a:srgbClr val="1E2433"/>
              </a:solidFill>
              <a:latin typeface="Times New Roman" panose="02020603050405020304"/>
              <a:ea typeface="Times New Roman" panose="02020603050405020304"/>
              <a:cs typeface="Times New Roman" panose="02020603050405020304"/>
            </a:endParaRPr>
          </a:p>
        </p:txBody>
      </p:sp>
      <p:sp>
        <p:nvSpPr>
          <p:cNvPr id="31" name="矩形 30"/>
          <p:cNvSpPr>
            <a:spLocks noGrp="1"/>
          </p:cNvSpPr>
          <p:nvPr/>
        </p:nvSpPr>
        <p:spPr>
          <a:xfrm>
            <a:off x="5200650" y="5448300"/>
            <a:ext cx="1504950" cy="457200"/>
          </a:xfrm>
          <a:prstGeom prst="rect">
            <a:avLst/>
          </a:prstGeom>
          <a:noFill/>
          <a:ln w="0">
            <a:noFill/>
            <a:prstDash val="solid"/>
          </a:ln>
        </p:spPr>
        <p:txBody>
          <a:bodyPr/>
          <a:lstStyle/>
          <a:p>
            <a:pPr algn="l">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a:ea typeface="Times New Roman" panose="02020603050405020304"/>
                <a:cs typeface="Times New Roman" panose="02020603050405020304"/>
              </a:rPr>
              <a:t>Open more evidence or stop</a:t>
            </a:r>
            <a:endParaRPr sz="1125" b="0" i="0">
              <a:solidFill>
                <a:srgbClr val="5E6675"/>
              </a:solidFill>
              <a:latin typeface="Times New Roman" panose="02020603050405020304"/>
              <a:ea typeface="Times New Roman" panose="02020603050405020304"/>
              <a:cs typeface="Times New Roman" panose="02020603050405020304"/>
            </a:endParaRPr>
          </a:p>
        </p:txBody>
      </p:sp>
      <p:sp>
        <p:nvSpPr>
          <p:cNvPr id="32" name="矩形 31"/>
          <p:cNvSpPr>
            <a:spLocks noGrp="1"/>
          </p:cNvSpPr>
          <p:nvPr/>
        </p:nvSpPr>
        <p:spPr>
          <a:xfrm>
            <a:off x="6877050" y="5505450"/>
            <a:ext cx="171450" cy="19050"/>
          </a:xfrm>
          <a:prstGeom prst="rect">
            <a:avLst/>
          </a:prstGeom>
          <a:solidFill>
            <a:srgbClr val="B45A3C"/>
          </a:solidFill>
          <a:ln w="0">
            <a:solidFill>
              <a:srgbClr val="B45A3C"/>
            </a:solidFill>
            <a:prstDash val="solid"/>
          </a:ln>
        </p:spPr>
      </p:sp>
      <p:sp>
        <p:nvSpPr>
          <p:cNvPr id="33" name="圆角矩形 32"/>
          <p:cNvSpPr>
            <a:spLocks noGrp="1"/>
          </p:cNvSpPr>
          <p:nvPr/>
        </p:nvSpPr>
        <p:spPr>
          <a:xfrm>
            <a:off x="7086600" y="4991100"/>
            <a:ext cx="1790700" cy="1028700"/>
          </a:xfrm>
          <a:prstGeom prst="roundRect">
            <a:avLst>
              <a:gd name="adj" fmla="val 7407"/>
            </a:avLst>
          </a:prstGeom>
          <a:solidFill>
            <a:srgbClr val="FFF9F0"/>
          </a:solidFill>
          <a:ln w="9525">
            <a:solidFill>
              <a:srgbClr val="E8DCCB"/>
            </a:solidFill>
            <a:prstDash val="solid"/>
          </a:ln>
        </p:spPr>
      </p:sp>
      <p:sp>
        <p:nvSpPr>
          <p:cNvPr id="34" name="矩形 33"/>
          <p:cNvSpPr>
            <a:spLocks noGrp="1"/>
          </p:cNvSpPr>
          <p:nvPr/>
        </p:nvSpPr>
        <p:spPr>
          <a:xfrm>
            <a:off x="7086600" y="4991100"/>
            <a:ext cx="57150" cy="1028700"/>
          </a:xfrm>
          <a:prstGeom prst="rect">
            <a:avLst/>
          </a:prstGeom>
          <a:solidFill>
            <a:srgbClr val="B45A3C"/>
          </a:solidFill>
          <a:ln w="0">
            <a:solidFill>
              <a:srgbClr val="B45A3C"/>
            </a:solidFill>
            <a:prstDash val="solid"/>
          </a:ln>
        </p:spPr>
      </p:sp>
      <p:sp>
        <p:nvSpPr>
          <p:cNvPr id="35" name="矩形 34"/>
          <p:cNvSpPr>
            <a:spLocks noGrp="1"/>
          </p:cNvSpPr>
          <p:nvPr/>
        </p:nvSpPr>
        <p:spPr>
          <a:xfrm>
            <a:off x="7258050" y="5105400"/>
            <a:ext cx="1504950" cy="285750"/>
          </a:xfrm>
          <a:prstGeom prst="rect">
            <a:avLst/>
          </a:prstGeom>
          <a:noFill/>
          <a:ln w="0">
            <a:noFill/>
            <a:prstDash val="solid"/>
          </a:ln>
        </p:spPr>
        <p:txBody>
          <a:bodyPr/>
          <a:lstStyle/>
          <a:p>
            <a:pPr algn="l">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a:ea typeface="Times New Roman" panose="02020603050405020304"/>
                <a:cs typeface="Times New Roman" panose="02020603050405020304"/>
              </a:rPr>
              <a:t>Report posterior</a:t>
            </a:r>
            <a:endParaRPr sz="1350" b="1" i="0">
              <a:solidFill>
                <a:srgbClr val="1E2433"/>
              </a:solidFill>
              <a:latin typeface="Times New Roman" panose="02020603050405020304"/>
              <a:ea typeface="Times New Roman" panose="02020603050405020304"/>
              <a:cs typeface="Times New Roman" panose="02020603050405020304"/>
            </a:endParaRPr>
          </a:p>
        </p:txBody>
      </p:sp>
      <p:sp>
        <p:nvSpPr>
          <p:cNvPr id="36" name="矩形 35"/>
          <p:cNvSpPr>
            <a:spLocks noGrp="1"/>
          </p:cNvSpPr>
          <p:nvPr/>
        </p:nvSpPr>
        <p:spPr>
          <a:xfrm>
            <a:off x="7258050" y="5448300"/>
            <a:ext cx="1504950" cy="457200"/>
          </a:xfrm>
          <a:prstGeom prst="rect">
            <a:avLst/>
          </a:prstGeom>
          <a:noFill/>
          <a:ln w="0">
            <a:noFill/>
            <a:prstDash val="solid"/>
          </a:ln>
        </p:spPr>
        <p:txBody>
          <a:bodyPr/>
          <a:lstStyle/>
          <a:p>
            <a:pPr algn="l">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a:ea typeface="Times New Roman" panose="02020603050405020304"/>
                <a:cs typeface="Times New Roman" panose="02020603050405020304"/>
              </a:rPr>
              <a:t>Give the final probability</a:t>
            </a:r>
            <a:endParaRPr sz="1125" b="0" i="0">
              <a:solidFill>
                <a:srgbClr val="5E6675"/>
              </a:solidFill>
              <a:latin typeface="Times New Roman" panose="02020603050405020304"/>
              <a:ea typeface="Times New Roman" panose="02020603050405020304"/>
              <a:cs typeface="Times New Roman" panose="02020603050405020304"/>
            </a:endParaRPr>
          </a:p>
        </p:txBody>
      </p:sp>
      <p:sp>
        <p:nvSpPr>
          <p:cNvPr id="37" name="矩形 36"/>
          <p:cNvSpPr>
            <a:spLocks noGrp="1"/>
          </p:cNvSpPr>
          <p:nvPr/>
        </p:nvSpPr>
        <p:spPr>
          <a:xfrm>
            <a:off x="8934450" y="5505450"/>
            <a:ext cx="171450" cy="19050"/>
          </a:xfrm>
          <a:prstGeom prst="rect">
            <a:avLst/>
          </a:prstGeom>
          <a:solidFill>
            <a:srgbClr val="B45A3C"/>
          </a:solidFill>
          <a:ln w="0">
            <a:solidFill>
              <a:srgbClr val="B45A3C"/>
            </a:solidFill>
            <a:prstDash val="solid"/>
          </a:ln>
        </p:spPr>
      </p:sp>
      <p:sp>
        <p:nvSpPr>
          <p:cNvPr id="38" name="圆角矩形 37"/>
          <p:cNvSpPr>
            <a:spLocks noGrp="1"/>
          </p:cNvSpPr>
          <p:nvPr/>
        </p:nvSpPr>
        <p:spPr>
          <a:xfrm>
            <a:off x="9144000" y="4991100"/>
            <a:ext cx="1790700" cy="1028700"/>
          </a:xfrm>
          <a:prstGeom prst="roundRect">
            <a:avLst>
              <a:gd name="adj" fmla="val 7407"/>
            </a:avLst>
          </a:prstGeom>
          <a:solidFill>
            <a:srgbClr val="FFF9F0"/>
          </a:solidFill>
          <a:ln w="9525">
            <a:solidFill>
              <a:srgbClr val="E8DCCB"/>
            </a:solidFill>
            <a:prstDash val="solid"/>
          </a:ln>
        </p:spPr>
      </p:sp>
      <p:sp>
        <p:nvSpPr>
          <p:cNvPr id="39" name="矩形 38"/>
          <p:cNvSpPr>
            <a:spLocks noGrp="1"/>
          </p:cNvSpPr>
          <p:nvPr/>
        </p:nvSpPr>
        <p:spPr>
          <a:xfrm>
            <a:off x="9144000" y="4991100"/>
            <a:ext cx="57150" cy="1028700"/>
          </a:xfrm>
          <a:prstGeom prst="rect">
            <a:avLst/>
          </a:prstGeom>
          <a:solidFill>
            <a:srgbClr val="B45A3C"/>
          </a:solidFill>
          <a:ln w="0">
            <a:solidFill>
              <a:srgbClr val="B45A3C"/>
            </a:solidFill>
            <a:prstDash val="solid"/>
          </a:ln>
        </p:spPr>
      </p:sp>
      <p:sp>
        <p:nvSpPr>
          <p:cNvPr id="40" name="矩形 39"/>
          <p:cNvSpPr>
            <a:spLocks noGrp="1"/>
          </p:cNvSpPr>
          <p:nvPr/>
        </p:nvSpPr>
        <p:spPr>
          <a:xfrm>
            <a:off x="9315450" y="5105400"/>
            <a:ext cx="1504950" cy="285750"/>
          </a:xfrm>
          <a:prstGeom prst="rect">
            <a:avLst/>
          </a:prstGeom>
          <a:noFill/>
          <a:ln w="0">
            <a:noFill/>
            <a:prstDash val="solid"/>
          </a:ln>
        </p:spPr>
        <p:txBody>
          <a:bodyPr/>
          <a:lstStyle/>
          <a:p>
            <a:pPr algn="l">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a:ea typeface="Times New Roman" panose="02020603050405020304"/>
                <a:cs typeface="Times New Roman" panose="02020603050405020304"/>
              </a:rPr>
              <a:t>Rate mastery</a:t>
            </a:r>
            <a:endParaRPr sz="1350" b="1" i="0">
              <a:solidFill>
                <a:srgbClr val="1E2433"/>
              </a:solidFill>
              <a:latin typeface="Times New Roman" panose="02020603050405020304"/>
              <a:ea typeface="Times New Roman" panose="02020603050405020304"/>
              <a:cs typeface="Times New Roman" panose="02020603050405020304"/>
            </a:endParaRPr>
          </a:p>
        </p:txBody>
      </p:sp>
      <p:sp>
        <p:nvSpPr>
          <p:cNvPr id="41" name="矩形 40"/>
          <p:cNvSpPr>
            <a:spLocks noGrp="1"/>
          </p:cNvSpPr>
          <p:nvPr/>
        </p:nvSpPr>
        <p:spPr>
          <a:xfrm>
            <a:off x="9315450" y="5448300"/>
            <a:ext cx="1504950" cy="457200"/>
          </a:xfrm>
          <a:prstGeom prst="rect">
            <a:avLst/>
          </a:prstGeom>
          <a:noFill/>
          <a:ln w="0">
            <a:noFill/>
            <a:prstDash val="solid"/>
          </a:ln>
        </p:spPr>
        <p:txBody>
          <a:bodyPr/>
          <a:lstStyle/>
          <a:p>
            <a:pPr algn="l">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a:ea typeface="Times New Roman" panose="02020603050405020304"/>
                <a:cs typeface="Times New Roman" panose="02020603050405020304"/>
              </a:rPr>
              <a:t>Report confidence and ownership</a:t>
            </a:r>
            <a:endParaRPr sz="1125" b="0" i="0">
              <a:solidFill>
                <a:srgbClr val="5E66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p:sp>
        <p:nvSpPr>
          <p:cNvPr id="2" name="椭圆 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3" name="椭圆 2"/>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4" name="矩形 3"/>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5" name="矩形 4"/>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6" name="矩形 5"/>
          <p:cNvSpPr>
            <a:spLocks noGrp="1"/>
          </p:cNvSpPr>
          <p:nvPr/>
        </p:nvSpPr>
        <p:spPr>
          <a:xfrm>
            <a:off x="1181100" y="571500"/>
            <a:ext cx="4000500" cy="228600"/>
          </a:xfrm>
          <a:prstGeom prst="rect">
            <a:avLst/>
          </a:prstGeom>
          <a:noFill/>
          <a:ln w="0">
            <a:noFill/>
            <a:prstDash val="solid"/>
          </a:ln>
        </p:spPr>
        <p:txBody>
          <a:bodyPr/>
          <a:lstStyle/>
          <a:p>
            <a:pPr algn="l">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a:ea typeface="Times New Roman" panose="02020603050405020304"/>
                <a:cs typeface="Times New Roman" panose="02020603050405020304"/>
              </a:rPr>
              <a:t>EVIDENCE AND BENCHMARK</a:t>
            </a:r>
            <a:endParaRPr sz="1050" b="1" i="0">
              <a:solidFill>
                <a:srgbClr val="B45A3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914400"/>
            <a:ext cx="9620250" cy="704850"/>
          </a:xfrm>
          <a:prstGeom prst="rect">
            <a:avLst/>
          </a:prstGeom>
          <a:noFill/>
          <a:ln w="0">
            <a:noFill/>
            <a:prstDash val="solid"/>
          </a:ln>
        </p:spPr>
        <p:txBody>
          <a:bodyPr/>
          <a:lstStyle/>
          <a:p>
            <a:pPr algn="l">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a:ea typeface="Times New Roman" panose="02020603050405020304"/>
                <a:cs typeface="Times New Roman" panose="02020603050405020304"/>
              </a:rPr>
              <a:t>A controlled evidence pool makes Bayesian benchmarks computable</a:t>
            </a:r>
            <a:endParaRPr sz="2475" b="1" i="0">
              <a:solidFill>
                <a:srgbClr val="1E2433"/>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676400"/>
            <a:ext cx="10096500" cy="2857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The task is a company-risk judgment problem with fixed evidence items and known likelihood ratios.</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914400" y="2247900"/>
            <a:ext cx="3962400" cy="2514600"/>
          </a:xfrm>
          <a:prstGeom prst="roundRect">
            <a:avLst>
              <a:gd name="adj" fmla="val 3030"/>
            </a:avLst>
          </a:prstGeom>
          <a:solidFill>
            <a:srgbClr val="FFF9F0"/>
          </a:solidFill>
          <a:ln w="9525">
            <a:solidFill>
              <a:srgbClr val="E8DCCB"/>
            </a:solidFill>
            <a:prstDash val="solid"/>
          </a:ln>
        </p:spPr>
      </p:sp>
      <p:sp>
        <p:nvSpPr>
          <p:cNvPr id="10" name="矩形 9"/>
          <p:cNvSpPr>
            <a:spLocks noGrp="1"/>
          </p:cNvSpPr>
          <p:nvPr/>
        </p:nvSpPr>
        <p:spPr>
          <a:xfrm>
            <a:off x="914400" y="2247900"/>
            <a:ext cx="57150" cy="2514600"/>
          </a:xfrm>
          <a:prstGeom prst="rect">
            <a:avLst/>
          </a:prstGeom>
          <a:solidFill>
            <a:srgbClr val="78836A"/>
          </a:solidFill>
          <a:ln w="0">
            <a:solidFill>
              <a:srgbClr val="78836A"/>
            </a:solidFill>
            <a:prstDash val="solid"/>
          </a:ln>
        </p:spPr>
      </p:sp>
      <p:sp>
        <p:nvSpPr>
          <p:cNvPr id="11" name="矩形 10"/>
          <p:cNvSpPr>
            <a:spLocks noGrp="1"/>
          </p:cNvSpPr>
          <p:nvPr/>
        </p:nvSpPr>
        <p:spPr>
          <a:xfrm>
            <a:off x="1085850" y="2362200"/>
            <a:ext cx="3676650" cy="285750"/>
          </a:xfrm>
          <a:prstGeom prst="rect">
            <a:avLst/>
          </a:prstGeom>
          <a:noFill/>
          <a:ln w="0">
            <a:noFill/>
            <a:prstDash val="solid"/>
          </a:ln>
        </p:spPr>
        <p:txBody>
          <a:bodyPr/>
          <a:lstStyle/>
          <a:p>
            <a:pPr algn="l">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a:ea typeface="Times New Roman" panose="02020603050405020304"/>
                <a:cs typeface="Times New Roman" panose="02020603050405020304"/>
              </a:rPr>
              <a:t>Task structure</a:t>
            </a:r>
            <a:endParaRPr sz="1875" b="1" i="0">
              <a:solidFill>
                <a:srgbClr val="1E2433"/>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085850" y="2705100"/>
            <a:ext cx="3676650" cy="1943100"/>
          </a:xfrm>
          <a:prstGeom prst="rect">
            <a:avLst/>
          </a:prstGeom>
          <a:noFill/>
          <a:ln w="0">
            <a:noFill/>
            <a:prstDash val="solid"/>
          </a:ln>
        </p:spPr>
        <p:txBody>
          <a:bodyPr/>
          <a:lstStyle/>
          <a:p>
            <a:pPr algn="l">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a:ea typeface="Times New Roman" panose="02020603050405020304"/>
                <a:cs typeface="Times New Roman" panose="02020603050405020304"/>
              </a:rPr>
              <a:t>Participants judge whether a company is in a high-risk state.</a:t>
            </a:r>
            <a:endParaRPr sz="1425" b="0" i="0">
              <a:solidFill>
                <a:srgbClr val="5E6675"/>
              </a:solidFill>
              <a:latin typeface="Times New Roman" panose="02020603050405020304"/>
              <a:ea typeface="Times New Roman" panose="02020603050405020304"/>
              <a:cs typeface="Times New Roman" panose="02020603050405020304"/>
            </a:endParaRPr>
          </a:p>
          <a:p>
            <a:endParaRPr sz="1425"/>
          </a:p>
          <a:p>
            <a:pPr algn="l">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a:ea typeface="Times New Roman" panose="02020603050405020304"/>
                <a:cs typeface="Times New Roman" panose="02020603050405020304"/>
              </a:rPr>
              <a:t>They begin from a common prior, view evidence items, and report a posterior probability.</a:t>
            </a:r>
            <a:endParaRPr sz="1425" b="0" i="0">
              <a:solidFill>
                <a:srgbClr val="5E6675"/>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5295900" y="2247900"/>
            <a:ext cx="5905500" cy="2514600"/>
          </a:xfrm>
          <a:prstGeom prst="roundRect">
            <a:avLst>
              <a:gd name="adj" fmla="val 3030"/>
            </a:avLst>
          </a:prstGeom>
          <a:solidFill>
            <a:srgbClr val="FFF9F0"/>
          </a:solidFill>
          <a:ln w="9525">
            <a:solidFill>
              <a:srgbClr val="E8DCCB"/>
            </a:solidFill>
            <a:prstDash val="solid"/>
          </a:ln>
        </p:spPr>
      </p:sp>
      <p:sp>
        <p:nvSpPr>
          <p:cNvPr id="14" name="矩形 13"/>
          <p:cNvSpPr>
            <a:spLocks noGrp="1"/>
          </p:cNvSpPr>
          <p:nvPr/>
        </p:nvSpPr>
        <p:spPr>
          <a:xfrm>
            <a:off x="5295900" y="2247900"/>
            <a:ext cx="57150" cy="2514600"/>
          </a:xfrm>
          <a:prstGeom prst="rect">
            <a:avLst/>
          </a:prstGeom>
          <a:solidFill>
            <a:srgbClr val="C89B4A"/>
          </a:solidFill>
          <a:ln w="0">
            <a:solidFill>
              <a:srgbClr val="C89B4A"/>
            </a:solidFill>
            <a:prstDash val="solid"/>
          </a:ln>
        </p:spPr>
      </p:sp>
      <p:sp>
        <p:nvSpPr>
          <p:cNvPr id="15" name="矩形 14"/>
          <p:cNvSpPr>
            <a:spLocks noGrp="1"/>
          </p:cNvSpPr>
          <p:nvPr/>
        </p:nvSpPr>
        <p:spPr>
          <a:xfrm>
            <a:off x="5467350" y="2362200"/>
            <a:ext cx="5619750" cy="285750"/>
          </a:xfrm>
          <a:prstGeom prst="rect">
            <a:avLst/>
          </a:prstGeom>
          <a:noFill/>
          <a:ln w="0">
            <a:noFill/>
            <a:prstDash val="solid"/>
          </a:ln>
        </p:spPr>
        <p:txBody>
          <a:bodyPr/>
          <a:lstStyle/>
          <a:p>
            <a:pPr algn="l">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a:ea typeface="Times New Roman" panose="02020603050405020304"/>
                <a:cs typeface="Times New Roman" panose="02020603050405020304"/>
              </a:rPr>
              <a:t>Normative reference point</a:t>
            </a:r>
            <a:endParaRPr sz="1875" b="1" i="0">
              <a:solidFill>
                <a:srgbClr val="1E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5467350" y="2705100"/>
            <a:ext cx="5619750" cy="194310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logit(posterior) = logit(prior) + sum log(LR_j)</a:t>
            </a:r>
            <a:endParaRPr sz="1350" b="0" i="0">
              <a:solidFill>
                <a:srgbClr val="5E6675"/>
              </a:solidFill>
              <a:latin typeface="Times New Roman" panose="02020603050405020304"/>
              <a:ea typeface="Times New Roman" panose="02020603050405020304"/>
              <a:cs typeface="Times New Roman" panose="02020603050405020304"/>
            </a:endParaRPr>
          </a:p>
          <a:p>
            <a:endParaRPr sz="1350"/>
          </a:p>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Each evidence item has a known diagnostic direction and likelihood ratio, so we can compare the participant's reported posterior with the posterior implied by the evidence they actually saw.</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17" name="圆角矩形 16"/>
          <p:cNvSpPr>
            <a:spLocks noGrp="1"/>
          </p:cNvSpPr>
          <p:nvPr/>
        </p:nvSpPr>
        <p:spPr>
          <a:xfrm>
            <a:off x="1714500" y="5105400"/>
            <a:ext cx="8763000" cy="819150"/>
          </a:xfrm>
          <a:prstGeom prst="roundRect">
            <a:avLst>
              <a:gd name="adj" fmla="val 9302"/>
            </a:avLst>
          </a:prstGeom>
          <a:solidFill>
            <a:srgbClr val="FFF9F0"/>
          </a:solidFill>
          <a:ln w="9525">
            <a:solidFill>
              <a:srgbClr val="E8DCCB"/>
            </a:solidFill>
            <a:prstDash val="solid"/>
          </a:ln>
        </p:spPr>
      </p:sp>
      <p:sp>
        <p:nvSpPr>
          <p:cNvPr id="18" name="矩形 17"/>
          <p:cNvSpPr>
            <a:spLocks noGrp="1"/>
          </p:cNvSpPr>
          <p:nvPr/>
        </p:nvSpPr>
        <p:spPr>
          <a:xfrm>
            <a:off x="1714500" y="5105400"/>
            <a:ext cx="57150" cy="819150"/>
          </a:xfrm>
          <a:prstGeom prst="rect">
            <a:avLst/>
          </a:prstGeom>
          <a:solidFill>
            <a:srgbClr val="B45A3C"/>
          </a:solidFill>
          <a:ln w="0">
            <a:solidFill>
              <a:srgbClr val="B45A3C"/>
            </a:solidFill>
            <a:prstDash val="solid"/>
          </a:ln>
        </p:spPr>
      </p:sp>
      <p:sp>
        <p:nvSpPr>
          <p:cNvPr id="19" name="矩形 18"/>
          <p:cNvSpPr>
            <a:spLocks noGrp="1"/>
          </p:cNvSpPr>
          <p:nvPr/>
        </p:nvSpPr>
        <p:spPr>
          <a:xfrm>
            <a:off x="1885950" y="5219700"/>
            <a:ext cx="8477250" cy="285750"/>
          </a:xfrm>
          <a:prstGeom prst="rect">
            <a:avLst/>
          </a:prstGeom>
          <a:noFill/>
          <a:ln w="0">
            <a:noFill/>
            <a:prstDash val="solid"/>
          </a:ln>
        </p:spPr>
        <p:txBody>
          <a:bodyPr/>
          <a:lstStyle/>
          <a:p>
            <a:pPr algn="l">
              <a:defRPr sz="1575" b="1" i="0">
                <a:solidFill>
                  <a:srgbClr val="1E2433"/>
                </a:solidFill>
                <a:latin typeface="Times New Roman" panose="02020603050405020304"/>
                <a:ea typeface="Times New Roman" panose="02020603050405020304"/>
                <a:cs typeface="Times New Roman" panose="02020603050405020304"/>
              </a:defRPr>
            </a:pPr>
            <a:r>
              <a:rPr sz="1575" b="1" i="0">
                <a:solidFill>
                  <a:srgbClr val="1E2433"/>
                </a:solidFill>
                <a:latin typeface="Times New Roman" panose="02020603050405020304"/>
                <a:ea typeface="Times New Roman" panose="02020603050405020304"/>
                <a:cs typeface="Times New Roman" panose="02020603050405020304"/>
              </a:rPr>
              <a:t>Why the controlled pool matters</a:t>
            </a:r>
            <a:endParaRPr sz="1575" b="1" i="0">
              <a:solidFill>
                <a:srgbClr val="1E2433"/>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1885950" y="5562600"/>
            <a:ext cx="8477250" cy="2476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It lets us align evidence exposure with normative updating instead of treating clicks or browsing depth as if they were the same as informational quality.</a:t>
            </a:r>
            <a:endParaRPr sz="1350" b="0" i="0">
              <a:solidFill>
                <a:srgbClr val="5E66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p:sp>
        <p:nvSpPr>
          <p:cNvPr id="2" name="椭圆 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3" name="椭圆 2"/>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4" name="矩形 3"/>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5" name="矩形 4"/>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6" name="矩形 5"/>
          <p:cNvSpPr>
            <a:spLocks noGrp="1"/>
          </p:cNvSpPr>
          <p:nvPr/>
        </p:nvSpPr>
        <p:spPr>
          <a:xfrm>
            <a:off x="1181100" y="571500"/>
            <a:ext cx="4000500" cy="228600"/>
          </a:xfrm>
          <a:prstGeom prst="rect">
            <a:avLst/>
          </a:prstGeom>
          <a:noFill/>
          <a:ln w="0">
            <a:noFill/>
            <a:prstDash val="solid"/>
          </a:ln>
        </p:spPr>
        <p:txBody>
          <a:bodyPr/>
          <a:lstStyle/>
          <a:p>
            <a:pPr algn="l">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a:ea typeface="Times New Roman" panose="02020603050405020304"/>
                <a:cs typeface="Times New Roman" panose="02020603050405020304"/>
              </a:rPr>
              <a:t>DEVIATION MEASURES</a:t>
            </a:r>
            <a:endParaRPr sz="1050" b="1" i="0">
              <a:solidFill>
                <a:srgbClr val="B45A3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914400"/>
            <a:ext cx="9144000" cy="704850"/>
          </a:xfrm>
          <a:prstGeom prst="rect">
            <a:avLst/>
          </a:prstGeom>
          <a:noFill/>
          <a:ln w="0">
            <a:noFill/>
            <a:prstDash val="solid"/>
          </a:ln>
        </p:spPr>
        <p:txBody>
          <a:bodyPr/>
          <a:lstStyle/>
          <a:p>
            <a:pPr algn="l">
              <a:defRPr sz="2550" b="1" i="0">
                <a:solidFill>
                  <a:srgbClr val="1E2433"/>
                </a:solidFill>
                <a:latin typeface="Times New Roman" panose="02020603050405020304"/>
                <a:ea typeface="Times New Roman" panose="02020603050405020304"/>
                <a:cs typeface="Times New Roman" panose="02020603050405020304"/>
              </a:defRPr>
            </a:pPr>
            <a:r>
              <a:rPr sz="2550" b="1" i="0">
                <a:solidFill>
                  <a:srgbClr val="1E2433"/>
                </a:solidFill>
                <a:latin typeface="Times New Roman" panose="02020603050405020304"/>
                <a:ea typeface="Times New Roman" panose="02020603050405020304"/>
                <a:cs typeface="Times New Roman" panose="02020603050405020304"/>
              </a:rPr>
              <a:t>Two deviation measures separate under-search from poor updating</a:t>
            </a:r>
            <a:endParaRPr sz="2550" b="1" i="0">
              <a:solidFill>
                <a:srgbClr val="1E2433"/>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676400"/>
            <a:ext cx="10096500" cy="2857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The paper distinguishes seeing less from updating worse by comparing two different Bayesian benchmarks.</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914400" y="2324100"/>
            <a:ext cx="4762500" cy="2552700"/>
          </a:xfrm>
          <a:prstGeom prst="roundRect">
            <a:avLst>
              <a:gd name="adj" fmla="val 2985"/>
            </a:avLst>
          </a:prstGeom>
          <a:solidFill>
            <a:srgbClr val="FFF9F0"/>
          </a:solidFill>
          <a:ln w="9525">
            <a:solidFill>
              <a:srgbClr val="E8DCCB"/>
            </a:solidFill>
            <a:prstDash val="solid"/>
          </a:ln>
        </p:spPr>
      </p:sp>
      <p:sp>
        <p:nvSpPr>
          <p:cNvPr id="10" name="矩形 9"/>
          <p:cNvSpPr>
            <a:spLocks noGrp="1"/>
          </p:cNvSpPr>
          <p:nvPr/>
        </p:nvSpPr>
        <p:spPr>
          <a:xfrm>
            <a:off x="914400" y="2324100"/>
            <a:ext cx="57150" cy="2552700"/>
          </a:xfrm>
          <a:prstGeom prst="rect">
            <a:avLst/>
          </a:prstGeom>
          <a:solidFill>
            <a:srgbClr val="C89B4A"/>
          </a:solidFill>
          <a:ln w="0">
            <a:solidFill>
              <a:srgbClr val="C89B4A"/>
            </a:solidFill>
            <a:prstDash val="solid"/>
          </a:ln>
        </p:spPr>
      </p:sp>
      <p:sp>
        <p:nvSpPr>
          <p:cNvPr id="11" name="矩形 10"/>
          <p:cNvSpPr>
            <a:spLocks noGrp="1"/>
          </p:cNvSpPr>
          <p:nvPr/>
        </p:nvSpPr>
        <p:spPr>
          <a:xfrm>
            <a:off x="1085850" y="2438400"/>
            <a:ext cx="4476750" cy="285750"/>
          </a:xfrm>
          <a:prstGeom prst="rect">
            <a:avLst/>
          </a:prstGeom>
          <a:noFill/>
          <a:ln w="0">
            <a:noFill/>
            <a:prstDash val="solid"/>
          </a:ln>
        </p:spPr>
        <p:txBody>
          <a:bodyPr/>
          <a:lstStyle/>
          <a:p>
            <a:pPr algn="l">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a:ea typeface="Times New Roman" panose="02020603050405020304"/>
                <a:cs typeface="Times New Roman" panose="02020603050405020304"/>
              </a:rPr>
              <a:t>Conditional Bayesian deviation</a:t>
            </a:r>
            <a:endParaRPr sz="1875" b="1" i="0">
              <a:solidFill>
                <a:srgbClr val="1E2433"/>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085850" y="2781300"/>
            <a:ext cx="4476750" cy="198120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How far is the reported posterior from the Bayesian posterior implied by the evidence the participant actually saw?</a:t>
            </a:r>
            <a:endParaRPr sz="1350" b="0" i="0">
              <a:solidFill>
                <a:srgbClr val="5E6675"/>
              </a:solidFill>
              <a:latin typeface="Times New Roman" panose="02020603050405020304"/>
              <a:ea typeface="Times New Roman" panose="02020603050405020304"/>
              <a:cs typeface="Times New Roman" panose="02020603050405020304"/>
            </a:endParaRPr>
          </a:p>
          <a:p>
            <a:endParaRPr sz="1350"/>
          </a:p>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This captures whether the participant used the observed evidence correctly.</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6438900" y="2324100"/>
            <a:ext cx="4762500" cy="2552700"/>
          </a:xfrm>
          <a:prstGeom prst="roundRect">
            <a:avLst>
              <a:gd name="adj" fmla="val 2985"/>
            </a:avLst>
          </a:prstGeom>
          <a:solidFill>
            <a:srgbClr val="FFF9F0"/>
          </a:solidFill>
          <a:ln w="9525">
            <a:solidFill>
              <a:srgbClr val="E8DCCB"/>
            </a:solidFill>
            <a:prstDash val="solid"/>
          </a:ln>
        </p:spPr>
      </p:sp>
      <p:sp>
        <p:nvSpPr>
          <p:cNvPr id="14" name="矩形 13"/>
          <p:cNvSpPr>
            <a:spLocks noGrp="1"/>
          </p:cNvSpPr>
          <p:nvPr/>
        </p:nvSpPr>
        <p:spPr>
          <a:xfrm>
            <a:off x="6438900" y="2324100"/>
            <a:ext cx="57150" cy="2552700"/>
          </a:xfrm>
          <a:prstGeom prst="rect">
            <a:avLst/>
          </a:prstGeom>
          <a:solidFill>
            <a:srgbClr val="B45A3C"/>
          </a:solidFill>
          <a:ln w="0">
            <a:solidFill>
              <a:srgbClr val="B45A3C"/>
            </a:solidFill>
            <a:prstDash val="solid"/>
          </a:ln>
        </p:spPr>
      </p:sp>
      <p:sp>
        <p:nvSpPr>
          <p:cNvPr id="15" name="矩形 14"/>
          <p:cNvSpPr>
            <a:spLocks noGrp="1"/>
          </p:cNvSpPr>
          <p:nvPr/>
        </p:nvSpPr>
        <p:spPr>
          <a:xfrm>
            <a:off x="6610350" y="2438400"/>
            <a:ext cx="4476750" cy="285750"/>
          </a:xfrm>
          <a:prstGeom prst="rect">
            <a:avLst/>
          </a:prstGeom>
          <a:noFill/>
          <a:ln w="0">
            <a:noFill/>
            <a:prstDash val="solid"/>
          </a:ln>
        </p:spPr>
        <p:txBody>
          <a:bodyPr/>
          <a:lstStyle/>
          <a:p>
            <a:pPr algn="l">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a:ea typeface="Times New Roman" panose="02020603050405020304"/>
                <a:cs typeface="Times New Roman" panose="02020603050405020304"/>
              </a:rPr>
              <a:t>Full-information deviation</a:t>
            </a:r>
            <a:endParaRPr sz="1875" b="1" i="0">
              <a:solidFill>
                <a:srgbClr val="1E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6610350" y="2781300"/>
            <a:ext cx="4476750" cy="198120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How far is the reported posterior from the Bayesian posterior implied by the full evidence pool?</a:t>
            </a:r>
            <a:endParaRPr sz="1350" b="0" i="0">
              <a:solidFill>
                <a:srgbClr val="5E6675"/>
              </a:solidFill>
              <a:latin typeface="Times New Roman" panose="02020603050405020304"/>
              <a:ea typeface="Times New Roman" panose="02020603050405020304"/>
              <a:cs typeface="Times New Roman" panose="02020603050405020304"/>
            </a:endParaRPr>
          </a:p>
          <a:p>
            <a:endParaRPr sz="1350"/>
          </a:p>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This captures whether stopping early left the participant too far from the complete-evidence benchmark.</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17" name="圆角矩形 16"/>
          <p:cNvSpPr>
            <a:spLocks noGrp="1"/>
          </p:cNvSpPr>
          <p:nvPr/>
        </p:nvSpPr>
        <p:spPr>
          <a:xfrm>
            <a:off x="1714500" y="5200650"/>
            <a:ext cx="8763000" cy="800100"/>
          </a:xfrm>
          <a:prstGeom prst="roundRect">
            <a:avLst>
              <a:gd name="adj" fmla="val 9524"/>
            </a:avLst>
          </a:prstGeom>
          <a:solidFill>
            <a:srgbClr val="FFF9F0"/>
          </a:solidFill>
          <a:ln w="9525">
            <a:solidFill>
              <a:srgbClr val="E8DCCB"/>
            </a:solidFill>
            <a:prstDash val="solid"/>
          </a:ln>
        </p:spPr>
      </p:sp>
      <p:sp>
        <p:nvSpPr>
          <p:cNvPr id="18" name="矩形 17"/>
          <p:cNvSpPr>
            <a:spLocks noGrp="1"/>
          </p:cNvSpPr>
          <p:nvPr/>
        </p:nvSpPr>
        <p:spPr>
          <a:xfrm>
            <a:off x="1714500" y="5200650"/>
            <a:ext cx="57150" cy="800100"/>
          </a:xfrm>
          <a:prstGeom prst="rect">
            <a:avLst/>
          </a:prstGeom>
          <a:solidFill>
            <a:srgbClr val="78836A"/>
          </a:solidFill>
          <a:ln w="0">
            <a:solidFill>
              <a:srgbClr val="78836A"/>
            </a:solidFill>
            <a:prstDash val="solid"/>
          </a:ln>
        </p:spPr>
      </p:sp>
      <p:sp>
        <p:nvSpPr>
          <p:cNvPr id="19" name="矩形 18"/>
          <p:cNvSpPr>
            <a:spLocks noGrp="1"/>
          </p:cNvSpPr>
          <p:nvPr/>
        </p:nvSpPr>
        <p:spPr>
          <a:xfrm>
            <a:off x="1885950" y="5314950"/>
            <a:ext cx="8477250" cy="285750"/>
          </a:xfrm>
          <a:prstGeom prst="rect">
            <a:avLst/>
          </a:prstGeom>
          <a:noFill/>
          <a:ln w="0">
            <a:noFill/>
            <a:prstDash val="solid"/>
          </a:ln>
        </p:spPr>
        <p:txBody>
          <a:bodyPr/>
          <a:lstStyle/>
          <a:p>
            <a:pPr algn="l">
              <a:defRPr sz="1575" b="1" i="0">
                <a:solidFill>
                  <a:srgbClr val="1E2433"/>
                </a:solidFill>
                <a:latin typeface="Times New Roman" panose="02020603050405020304"/>
                <a:ea typeface="Times New Roman" panose="02020603050405020304"/>
                <a:cs typeface="Times New Roman" panose="02020603050405020304"/>
              </a:defRPr>
            </a:pPr>
            <a:r>
              <a:rPr sz="1575" b="1" i="0">
                <a:solidFill>
                  <a:srgbClr val="1E2433"/>
                </a:solidFill>
                <a:latin typeface="Times New Roman" panose="02020603050405020304"/>
                <a:ea typeface="Times New Roman" panose="02020603050405020304"/>
                <a:cs typeface="Times New Roman" panose="02020603050405020304"/>
              </a:rPr>
              <a:t>What the distinction buys us</a:t>
            </a:r>
            <a:endParaRPr sz="1575" b="1" i="0">
              <a:solidFill>
                <a:srgbClr val="1E2433"/>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1885950" y="5657850"/>
            <a:ext cx="8477250" cy="22860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It identifies cases such as seeing less but updating well, seeing more but updating badly, and seeing too little because evidentiary sufficiency was overestimated.</a:t>
            </a:r>
            <a:endParaRPr sz="1350" b="0" i="0">
              <a:solidFill>
                <a:srgbClr val="5E66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p:sp>
        <p:nvSpPr>
          <p:cNvPr id="2" name="椭圆 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3" name="椭圆 2"/>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4" name="矩形 3"/>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5" name="矩形 4"/>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6" name="矩形 5"/>
          <p:cNvSpPr>
            <a:spLocks noGrp="1"/>
          </p:cNvSpPr>
          <p:nvPr/>
        </p:nvSpPr>
        <p:spPr>
          <a:xfrm>
            <a:off x="1181100" y="571500"/>
            <a:ext cx="4000500" cy="228600"/>
          </a:xfrm>
          <a:prstGeom prst="rect">
            <a:avLst/>
          </a:prstGeom>
          <a:noFill/>
          <a:ln w="0">
            <a:noFill/>
            <a:prstDash val="solid"/>
          </a:ln>
        </p:spPr>
        <p:txBody>
          <a:bodyPr/>
          <a:lstStyle/>
          <a:p>
            <a:pPr algn="l">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a:ea typeface="Times New Roman" panose="02020603050405020304"/>
                <a:cs typeface="Times New Roman" panose="02020603050405020304"/>
              </a:rPr>
              <a:t>SUBJECTIVE MASTERY</a:t>
            </a:r>
            <a:endParaRPr sz="1050" b="1" i="0">
              <a:solidFill>
                <a:srgbClr val="B45A3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914400"/>
            <a:ext cx="8953500" cy="704850"/>
          </a:xfrm>
          <a:prstGeom prst="rect">
            <a:avLst/>
          </a:prstGeom>
          <a:noFill/>
          <a:ln w="0">
            <a:noFill/>
            <a:prstDash val="solid"/>
          </a:ln>
        </p:spPr>
        <p:txBody>
          <a:bodyPr/>
          <a:lstStyle/>
          <a:p>
            <a:pPr algn="l">
              <a:defRPr sz="2625" b="1" i="0">
                <a:solidFill>
                  <a:srgbClr val="1E2433"/>
                </a:solidFill>
                <a:latin typeface="Times New Roman" panose="02020603050405020304"/>
                <a:ea typeface="Times New Roman" panose="02020603050405020304"/>
                <a:cs typeface="Times New Roman" panose="02020603050405020304"/>
              </a:defRPr>
            </a:pPr>
            <a:r>
              <a:rPr sz="2625" b="1" i="0">
                <a:solidFill>
                  <a:srgbClr val="1E2433"/>
                </a:solidFill>
                <a:latin typeface="Times New Roman" panose="02020603050405020304"/>
                <a:ea typeface="Times New Roman" panose="02020603050405020304"/>
                <a:cs typeface="Times New Roman" panose="02020603050405020304"/>
              </a:rPr>
              <a:t>AI can improve access while weakening epistemic ownership</a:t>
            </a:r>
            <a:endParaRPr sz="2625" b="1" i="0">
              <a:solidFill>
                <a:srgbClr val="1E2433"/>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676400"/>
            <a:ext cx="10096500" cy="2857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The paper also asks whether objective quality and subjective mastery move apart after summary-based interaction.</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914400" y="2286000"/>
            <a:ext cx="4762500" cy="2667000"/>
          </a:xfrm>
          <a:prstGeom prst="roundRect">
            <a:avLst>
              <a:gd name="adj" fmla="val 2857"/>
            </a:avLst>
          </a:prstGeom>
          <a:solidFill>
            <a:srgbClr val="FFF9F0"/>
          </a:solidFill>
          <a:ln w="9525">
            <a:solidFill>
              <a:srgbClr val="E8DCCB"/>
            </a:solidFill>
            <a:prstDash val="solid"/>
          </a:ln>
        </p:spPr>
      </p:sp>
      <p:sp>
        <p:nvSpPr>
          <p:cNvPr id="10" name="矩形 9"/>
          <p:cNvSpPr>
            <a:spLocks noGrp="1"/>
          </p:cNvSpPr>
          <p:nvPr/>
        </p:nvSpPr>
        <p:spPr>
          <a:xfrm>
            <a:off x="914400" y="2286000"/>
            <a:ext cx="57150" cy="2667000"/>
          </a:xfrm>
          <a:prstGeom prst="rect">
            <a:avLst/>
          </a:prstGeom>
          <a:solidFill>
            <a:srgbClr val="78836A"/>
          </a:solidFill>
          <a:ln w="0">
            <a:solidFill>
              <a:srgbClr val="78836A"/>
            </a:solidFill>
            <a:prstDash val="solid"/>
          </a:ln>
        </p:spPr>
      </p:sp>
      <p:sp>
        <p:nvSpPr>
          <p:cNvPr id="11" name="矩形 10"/>
          <p:cNvSpPr>
            <a:spLocks noGrp="1"/>
          </p:cNvSpPr>
          <p:nvPr/>
        </p:nvSpPr>
        <p:spPr>
          <a:xfrm>
            <a:off x="1085850" y="2400300"/>
            <a:ext cx="4476750" cy="285750"/>
          </a:xfrm>
          <a:prstGeom prst="rect">
            <a:avLst/>
          </a:prstGeom>
          <a:noFill/>
          <a:ln w="0">
            <a:noFill/>
            <a:prstDash val="solid"/>
          </a:ln>
        </p:spPr>
        <p:txBody>
          <a:bodyPr/>
          <a:lstStyle/>
          <a:p>
            <a:pPr algn="l">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a:ea typeface="Times New Roman" panose="02020603050405020304"/>
                <a:cs typeface="Times New Roman" panose="02020603050405020304"/>
              </a:rPr>
              <a:t>Direct search path</a:t>
            </a:r>
            <a:endParaRPr sz="1875" b="1" i="0">
              <a:solidFill>
                <a:srgbClr val="1E2433"/>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085850" y="2743200"/>
            <a:ext cx="4476750" cy="2095500"/>
          </a:xfrm>
          <a:prstGeom prst="rect">
            <a:avLst/>
          </a:prstGeom>
          <a:noFill/>
          <a:ln w="0">
            <a:noFill/>
            <a:prstDash val="solid"/>
          </a:ln>
        </p:spPr>
        <p:txBody>
          <a:bodyPr/>
          <a:lstStyle/>
          <a:p>
            <a:pPr algn="l">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a:ea typeface="Times New Roman" panose="02020603050405020304"/>
                <a:cs typeface="Times New Roman" panose="02020603050405020304"/>
              </a:rPr>
              <a:t>Users may inspect more raw evidence and feel stronger ownership over the judgment.</a:t>
            </a:r>
            <a:endParaRPr sz="1500" b="0" i="0">
              <a:solidFill>
                <a:srgbClr val="5E6675"/>
              </a:solidFill>
              <a:latin typeface="Times New Roman" panose="02020603050405020304"/>
              <a:ea typeface="Times New Roman" panose="02020603050405020304"/>
              <a:cs typeface="Times New Roman" panose="02020603050405020304"/>
            </a:endParaRPr>
          </a:p>
          <a:p>
            <a:endParaRPr sz="1500"/>
          </a:p>
          <a:p>
            <a:pPr algn="l">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a:ea typeface="Times New Roman" panose="02020603050405020304"/>
                <a:cs typeface="Times New Roman" panose="02020603050405020304"/>
              </a:rPr>
              <a:t>But stronger ownership does not guarantee a better posterior.</a:t>
            </a:r>
            <a:endParaRPr sz="1500" b="0" i="0">
              <a:solidFill>
                <a:srgbClr val="5E6675"/>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6438900" y="2286000"/>
            <a:ext cx="4762500" cy="2667000"/>
          </a:xfrm>
          <a:prstGeom prst="roundRect">
            <a:avLst>
              <a:gd name="adj" fmla="val 2857"/>
            </a:avLst>
          </a:prstGeom>
          <a:solidFill>
            <a:srgbClr val="FFF9F0"/>
          </a:solidFill>
          <a:ln w="9525">
            <a:solidFill>
              <a:srgbClr val="E8DCCB"/>
            </a:solidFill>
            <a:prstDash val="solid"/>
          </a:ln>
        </p:spPr>
      </p:sp>
      <p:sp>
        <p:nvSpPr>
          <p:cNvPr id="14" name="矩形 13"/>
          <p:cNvSpPr>
            <a:spLocks noGrp="1"/>
          </p:cNvSpPr>
          <p:nvPr/>
        </p:nvSpPr>
        <p:spPr>
          <a:xfrm>
            <a:off x="6438900" y="2286000"/>
            <a:ext cx="57150" cy="2667000"/>
          </a:xfrm>
          <a:prstGeom prst="rect">
            <a:avLst/>
          </a:prstGeom>
          <a:solidFill>
            <a:srgbClr val="B45A3C"/>
          </a:solidFill>
          <a:ln w="0">
            <a:solidFill>
              <a:srgbClr val="B45A3C"/>
            </a:solidFill>
            <a:prstDash val="solid"/>
          </a:ln>
        </p:spPr>
      </p:sp>
      <p:sp>
        <p:nvSpPr>
          <p:cNvPr id="15" name="矩形 14"/>
          <p:cNvSpPr>
            <a:spLocks noGrp="1"/>
          </p:cNvSpPr>
          <p:nvPr/>
        </p:nvSpPr>
        <p:spPr>
          <a:xfrm>
            <a:off x="6610350" y="2400300"/>
            <a:ext cx="4476750" cy="285750"/>
          </a:xfrm>
          <a:prstGeom prst="rect">
            <a:avLst/>
          </a:prstGeom>
          <a:noFill/>
          <a:ln w="0">
            <a:noFill/>
            <a:prstDash val="solid"/>
          </a:ln>
        </p:spPr>
        <p:txBody>
          <a:bodyPr/>
          <a:lstStyle/>
          <a:p>
            <a:pPr algn="l">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a:ea typeface="Times New Roman" panose="02020603050405020304"/>
                <a:cs typeface="Times New Roman" panose="02020603050405020304"/>
              </a:rPr>
              <a:t>Summary path</a:t>
            </a:r>
            <a:endParaRPr sz="1875" b="1" i="0">
              <a:solidFill>
                <a:srgbClr val="1E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6610350" y="2743200"/>
            <a:ext cx="4476750" cy="2095500"/>
          </a:xfrm>
          <a:prstGeom prst="rect">
            <a:avLst/>
          </a:prstGeom>
          <a:noFill/>
          <a:ln w="0">
            <a:noFill/>
            <a:prstDash val="solid"/>
          </a:ln>
        </p:spPr>
        <p:txBody>
          <a:bodyPr/>
          <a:lstStyle/>
          <a:p>
            <a:pPr algn="l">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a:ea typeface="Times New Roman" panose="02020603050405020304"/>
                <a:cs typeface="Times New Roman" panose="02020603050405020304"/>
              </a:rPr>
              <a:t>Users may reach a better posterior with less raw search because evidence was compressed for them.</a:t>
            </a:r>
            <a:endParaRPr sz="1425" b="0" i="0">
              <a:solidFill>
                <a:srgbClr val="5E6675"/>
              </a:solidFill>
              <a:latin typeface="Times New Roman" panose="02020603050405020304"/>
              <a:ea typeface="Times New Roman" panose="02020603050405020304"/>
              <a:cs typeface="Times New Roman" panose="02020603050405020304"/>
            </a:endParaRPr>
          </a:p>
          <a:p>
            <a:endParaRPr sz="1425"/>
          </a:p>
          <a:p>
            <a:pPr algn="l">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a:ea typeface="Times New Roman" panose="02020603050405020304"/>
                <a:cs typeface="Times New Roman" panose="02020603050405020304"/>
              </a:rPr>
              <a:t>Yet they may feel they did not really acquire or own the knowledge themselves.</a:t>
            </a:r>
            <a:endParaRPr sz="1425" b="0" i="0">
              <a:solidFill>
                <a:srgbClr val="5E6675"/>
              </a:solidFill>
              <a:latin typeface="Times New Roman" panose="02020603050405020304"/>
              <a:ea typeface="Times New Roman" panose="02020603050405020304"/>
              <a:cs typeface="Times New Roman" panose="02020603050405020304"/>
            </a:endParaRPr>
          </a:p>
        </p:txBody>
      </p:sp>
      <p:sp>
        <p:nvSpPr>
          <p:cNvPr id="17" name="圆角矩形 16"/>
          <p:cNvSpPr>
            <a:spLocks noGrp="1"/>
          </p:cNvSpPr>
          <p:nvPr/>
        </p:nvSpPr>
        <p:spPr>
          <a:xfrm>
            <a:off x="1714500" y="5219700"/>
            <a:ext cx="8763000" cy="800100"/>
          </a:xfrm>
          <a:prstGeom prst="roundRect">
            <a:avLst>
              <a:gd name="adj" fmla="val 9524"/>
            </a:avLst>
          </a:prstGeom>
          <a:solidFill>
            <a:srgbClr val="FFF9F0"/>
          </a:solidFill>
          <a:ln w="9525">
            <a:solidFill>
              <a:srgbClr val="E8DCCB"/>
            </a:solidFill>
            <a:prstDash val="solid"/>
          </a:ln>
        </p:spPr>
      </p:sp>
      <p:sp>
        <p:nvSpPr>
          <p:cNvPr id="18" name="矩形 17"/>
          <p:cNvSpPr>
            <a:spLocks noGrp="1"/>
          </p:cNvSpPr>
          <p:nvPr/>
        </p:nvSpPr>
        <p:spPr>
          <a:xfrm>
            <a:off x="1714500" y="5219700"/>
            <a:ext cx="57150" cy="800100"/>
          </a:xfrm>
          <a:prstGeom prst="rect">
            <a:avLst/>
          </a:prstGeom>
          <a:solidFill>
            <a:srgbClr val="C89B4A"/>
          </a:solidFill>
          <a:ln w="0">
            <a:solidFill>
              <a:srgbClr val="C89B4A"/>
            </a:solidFill>
            <a:prstDash val="solid"/>
          </a:ln>
        </p:spPr>
      </p:sp>
      <p:sp>
        <p:nvSpPr>
          <p:cNvPr id="19" name="矩形 18"/>
          <p:cNvSpPr>
            <a:spLocks noGrp="1"/>
          </p:cNvSpPr>
          <p:nvPr/>
        </p:nvSpPr>
        <p:spPr>
          <a:xfrm>
            <a:off x="1885950" y="5334000"/>
            <a:ext cx="8477250" cy="285750"/>
          </a:xfrm>
          <a:prstGeom prst="rect">
            <a:avLst/>
          </a:prstGeom>
          <a:noFill/>
          <a:ln w="0">
            <a:noFill/>
            <a:prstDash val="solid"/>
          </a:ln>
        </p:spPr>
        <p:txBody>
          <a:bodyPr/>
          <a:lstStyle/>
          <a:p>
            <a:pPr algn="l">
              <a:defRPr sz="1575" b="1" i="0">
                <a:solidFill>
                  <a:srgbClr val="1E2433"/>
                </a:solidFill>
                <a:latin typeface="Times New Roman" panose="02020603050405020304"/>
                <a:ea typeface="Times New Roman" panose="02020603050405020304"/>
                <a:cs typeface="Times New Roman" panose="02020603050405020304"/>
              </a:defRPr>
            </a:pPr>
            <a:r>
              <a:rPr sz="1575" b="1" i="0">
                <a:solidFill>
                  <a:srgbClr val="1E2433"/>
                </a:solidFill>
                <a:latin typeface="Times New Roman" panose="02020603050405020304"/>
                <a:ea typeface="Times New Roman" panose="02020603050405020304"/>
                <a:cs typeface="Times New Roman" panose="02020603050405020304"/>
              </a:rPr>
              <a:t>Calibration mismatch</a:t>
            </a:r>
            <a:endParaRPr sz="1575" b="1" i="0">
              <a:solidFill>
                <a:srgbClr val="1E2433"/>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1885950" y="5676900"/>
            <a:ext cx="8477250" cy="22860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The paper expects subjective mastery, confidence, and epistemic ownership to become separable from objective posterior quality.</a:t>
            </a:r>
            <a:endParaRPr sz="1350" b="0" i="0">
              <a:solidFill>
                <a:srgbClr val="5E66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p:sp>
        <p:nvSpPr>
          <p:cNvPr id="2" name="椭圆 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3" name="椭圆 2"/>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4" name="矩形 3"/>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5" name="矩形 4"/>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6" name="矩形 5"/>
          <p:cNvSpPr>
            <a:spLocks noGrp="1"/>
          </p:cNvSpPr>
          <p:nvPr/>
        </p:nvSpPr>
        <p:spPr>
          <a:xfrm>
            <a:off x="1181100" y="571500"/>
            <a:ext cx="4000500" cy="228600"/>
          </a:xfrm>
          <a:prstGeom prst="rect">
            <a:avLst/>
          </a:prstGeom>
          <a:noFill/>
          <a:ln w="0">
            <a:noFill/>
            <a:prstDash val="solid"/>
          </a:ln>
        </p:spPr>
        <p:txBody>
          <a:bodyPr/>
          <a:lstStyle/>
          <a:p>
            <a:pPr algn="l">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a:ea typeface="Times New Roman" panose="02020603050405020304"/>
                <a:cs typeface="Times New Roman" panose="02020603050405020304"/>
              </a:rPr>
              <a:t>EXPECTED PATTERNS</a:t>
            </a:r>
            <a:endParaRPr sz="1050" b="1" i="0">
              <a:solidFill>
                <a:srgbClr val="B45A3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914400"/>
            <a:ext cx="9906000" cy="704850"/>
          </a:xfrm>
          <a:prstGeom prst="rect">
            <a:avLst/>
          </a:prstGeom>
          <a:noFill/>
          <a:ln w="0">
            <a:noFill/>
            <a:prstDash val="solid"/>
          </a:ln>
        </p:spPr>
        <p:txBody>
          <a:bodyPr/>
          <a:lstStyle/>
          <a:p>
            <a:pPr algn="l">
              <a:defRPr sz="2400" b="1" i="0">
                <a:solidFill>
                  <a:srgbClr val="1E2433"/>
                </a:solidFill>
                <a:latin typeface="Times New Roman" panose="02020603050405020304"/>
                <a:ea typeface="Times New Roman" panose="02020603050405020304"/>
                <a:cs typeface="Times New Roman" panose="02020603050405020304"/>
              </a:defRPr>
            </a:pPr>
            <a:r>
              <a:rPr sz="2400" b="1" i="0">
                <a:solidFill>
                  <a:srgbClr val="1E2433"/>
                </a:solidFill>
                <a:latin typeface="Times New Roman" panose="02020603050405020304"/>
                <a:ea typeface="Times New Roman" panose="02020603050405020304"/>
                <a:cs typeface="Times New Roman" panose="02020603050405020304"/>
              </a:rPr>
              <a:t>The expected results separate efficient compression from harmful under-search</a:t>
            </a:r>
            <a:endParaRPr sz="2400" b="1" i="0">
              <a:solidFill>
                <a:srgbClr val="1E2433"/>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1676400"/>
            <a:ext cx="10096500" cy="28575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The contribution is to locate where AI changes additional search, posterior updating, and information calibration.</a:t>
            </a:r>
            <a:endParaRPr sz="1350" b="0" i="0">
              <a:solidFill>
                <a:srgbClr val="5E6675"/>
              </a:solidFill>
              <a:latin typeface="Times New Roman" panose="02020603050405020304"/>
              <a:ea typeface="Times New Roman" panose="02020603050405020304"/>
              <a:cs typeface="Times New Roman" panose="02020603050405020304"/>
            </a:endParaRPr>
          </a:p>
        </p:txBody>
      </p:sp>
      <p:sp>
        <p:nvSpPr>
          <p:cNvPr id="9" name="圆角矩形 8"/>
          <p:cNvSpPr>
            <a:spLocks noGrp="1"/>
          </p:cNvSpPr>
          <p:nvPr/>
        </p:nvSpPr>
        <p:spPr>
          <a:xfrm>
            <a:off x="914400" y="2266950"/>
            <a:ext cx="3086100" cy="2609850"/>
          </a:xfrm>
          <a:prstGeom prst="roundRect">
            <a:avLst>
              <a:gd name="adj" fmla="val 2920"/>
            </a:avLst>
          </a:prstGeom>
          <a:solidFill>
            <a:srgbClr val="FFF9F0"/>
          </a:solidFill>
          <a:ln w="9525">
            <a:solidFill>
              <a:srgbClr val="E8DCCB"/>
            </a:solidFill>
            <a:prstDash val="solid"/>
          </a:ln>
        </p:spPr>
      </p:sp>
      <p:sp>
        <p:nvSpPr>
          <p:cNvPr id="10" name="矩形 9"/>
          <p:cNvSpPr>
            <a:spLocks noGrp="1"/>
          </p:cNvSpPr>
          <p:nvPr/>
        </p:nvSpPr>
        <p:spPr>
          <a:xfrm>
            <a:off x="914400" y="2266950"/>
            <a:ext cx="57150" cy="2609850"/>
          </a:xfrm>
          <a:prstGeom prst="rect">
            <a:avLst/>
          </a:prstGeom>
          <a:solidFill>
            <a:srgbClr val="78836A"/>
          </a:solidFill>
          <a:ln w="0">
            <a:solidFill>
              <a:srgbClr val="78836A"/>
            </a:solidFill>
            <a:prstDash val="solid"/>
          </a:ln>
        </p:spPr>
      </p:sp>
      <p:sp>
        <p:nvSpPr>
          <p:cNvPr id="11" name="矩形 10"/>
          <p:cNvSpPr>
            <a:spLocks noGrp="1"/>
          </p:cNvSpPr>
          <p:nvPr/>
        </p:nvSpPr>
        <p:spPr>
          <a:xfrm>
            <a:off x="1085850" y="2381250"/>
            <a:ext cx="2800350" cy="285750"/>
          </a:xfrm>
          <a:prstGeom prst="rect">
            <a:avLst/>
          </a:prstGeom>
          <a:noFill/>
          <a:ln w="0">
            <a:noFill/>
            <a:prstDash val="solid"/>
          </a:ln>
        </p:spPr>
        <p:txBody>
          <a:bodyPr/>
          <a:lstStyle/>
          <a:p>
            <a:pPr algn="l">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a:ea typeface="Times New Roman" panose="02020603050405020304"/>
                <a:cs typeface="Times New Roman" panose="02020603050405020304"/>
              </a:rPr>
              <a:t>Complete summary</a:t>
            </a:r>
            <a:endParaRPr sz="1800" b="1" i="0">
              <a:solidFill>
                <a:srgbClr val="1E2433"/>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1085850" y="2724150"/>
            <a:ext cx="2800350" cy="2038350"/>
          </a:xfrm>
          <a:prstGeom prst="rect">
            <a:avLst/>
          </a:prstGeom>
          <a:noFill/>
          <a:ln w="0">
            <a:noFill/>
            <a:prstDash val="solid"/>
          </a:ln>
        </p:spPr>
        <p:txBody>
          <a:bodyPr/>
          <a:lstStyle/>
          <a:p>
            <a:pPr algn="l">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a:ea typeface="Times New Roman" panose="02020603050405020304"/>
                <a:cs typeface="Times New Roman" panose="02020603050405020304"/>
              </a:rPr>
              <a:t>Search may fall without worse full-information performance.</a:t>
            </a:r>
            <a:endParaRPr sz="1500" b="0" i="0">
              <a:solidFill>
                <a:srgbClr val="5E6675"/>
              </a:solidFill>
              <a:latin typeface="Times New Roman" panose="02020603050405020304"/>
              <a:ea typeface="Times New Roman" panose="02020603050405020304"/>
              <a:cs typeface="Times New Roman" panose="02020603050405020304"/>
            </a:endParaRPr>
          </a:p>
          <a:p>
            <a:endParaRPr sz="1500"/>
          </a:p>
          <a:p>
            <a:pPr algn="l">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a:ea typeface="Times New Roman" panose="02020603050405020304"/>
                <a:cs typeface="Times New Roman" panose="02020603050405020304"/>
              </a:rPr>
              <a:t>That would support efficient information compression.</a:t>
            </a:r>
            <a:endParaRPr sz="1500" b="0" i="0">
              <a:solidFill>
                <a:srgbClr val="5E6675"/>
              </a:solidFill>
              <a:latin typeface="Times New Roman" panose="02020603050405020304"/>
              <a:ea typeface="Times New Roman" panose="02020603050405020304"/>
              <a:cs typeface="Times New Roman" panose="02020603050405020304"/>
            </a:endParaRPr>
          </a:p>
        </p:txBody>
      </p:sp>
      <p:sp>
        <p:nvSpPr>
          <p:cNvPr id="13" name="圆角矩形 12"/>
          <p:cNvSpPr>
            <a:spLocks noGrp="1"/>
          </p:cNvSpPr>
          <p:nvPr/>
        </p:nvSpPr>
        <p:spPr>
          <a:xfrm>
            <a:off x="4552950" y="2266950"/>
            <a:ext cx="3086100" cy="2609850"/>
          </a:xfrm>
          <a:prstGeom prst="roundRect">
            <a:avLst>
              <a:gd name="adj" fmla="val 2920"/>
            </a:avLst>
          </a:prstGeom>
          <a:solidFill>
            <a:srgbClr val="FFF9F0"/>
          </a:solidFill>
          <a:ln w="9525">
            <a:solidFill>
              <a:srgbClr val="E8DCCB"/>
            </a:solidFill>
            <a:prstDash val="solid"/>
          </a:ln>
        </p:spPr>
      </p:sp>
      <p:sp>
        <p:nvSpPr>
          <p:cNvPr id="14" name="矩形 13"/>
          <p:cNvSpPr>
            <a:spLocks noGrp="1"/>
          </p:cNvSpPr>
          <p:nvPr/>
        </p:nvSpPr>
        <p:spPr>
          <a:xfrm>
            <a:off x="4552950" y="2266950"/>
            <a:ext cx="57150" cy="2609850"/>
          </a:xfrm>
          <a:prstGeom prst="rect">
            <a:avLst/>
          </a:prstGeom>
          <a:solidFill>
            <a:srgbClr val="B45A3C"/>
          </a:solidFill>
          <a:ln w="0">
            <a:solidFill>
              <a:srgbClr val="B45A3C"/>
            </a:solidFill>
            <a:prstDash val="solid"/>
          </a:ln>
        </p:spPr>
      </p:sp>
      <p:sp>
        <p:nvSpPr>
          <p:cNvPr id="15" name="矩形 14"/>
          <p:cNvSpPr>
            <a:spLocks noGrp="1"/>
          </p:cNvSpPr>
          <p:nvPr/>
        </p:nvSpPr>
        <p:spPr>
          <a:xfrm>
            <a:off x="4724400" y="2381250"/>
            <a:ext cx="2800350" cy="285750"/>
          </a:xfrm>
          <a:prstGeom prst="rect">
            <a:avLst/>
          </a:prstGeom>
          <a:noFill/>
          <a:ln w="0">
            <a:noFill/>
            <a:prstDash val="solid"/>
          </a:ln>
        </p:spPr>
        <p:txBody>
          <a:bodyPr/>
          <a:lstStyle/>
          <a:p>
            <a:pPr algn="l">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a:ea typeface="Times New Roman" panose="02020603050405020304"/>
                <a:cs typeface="Times New Roman" panose="02020603050405020304"/>
              </a:rPr>
              <a:t>Incomplete summary</a:t>
            </a:r>
            <a:endParaRPr sz="1800" b="1" i="0">
              <a:solidFill>
                <a:srgbClr val="1E2433"/>
              </a:solidFill>
              <a:latin typeface="Times New Roman" panose="02020603050405020304"/>
              <a:ea typeface="Times New Roman" panose="02020603050405020304"/>
              <a:cs typeface="Times New Roman" panose="02020603050405020304"/>
            </a:endParaRPr>
          </a:p>
        </p:txBody>
      </p:sp>
      <p:sp>
        <p:nvSpPr>
          <p:cNvPr id="16" name="矩形 15"/>
          <p:cNvSpPr>
            <a:spLocks noGrp="1"/>
          </p:cNvSpPr>
          <p:nvPr/>
        </p:nvSpPr>
        <p:spPr>
          <a:xfrm>
            <a:off x="4724400" y="2724150"/>
            <a:ext cx="2800350" cy="2038350"/>
          </a:xfrm>
          <a:prstGeom prst="rect">
            <a:avLst/>
          </a:prstGeom>
          <a:noFill/>
          <a:ln w="0">
            <a:noFill/>
            <a:prstDash val="solid"/>
          </a:ln>
        </p:spPr>
        <p:txBody>
          <a:bodyPr/>
          <a:lstStyle/>
          <a:p>
            <a:pPr algn="l">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a:ea typeface="Times New Roman" panose="02020603050405020304"/>
                <a:cs typeface="Times New Roman" panose="02020603050405020304"/>
              </a:rPr>
              <a:t>Search may fall and full-information deviation may grow.</a:t>
            </a:r>
            <a:endParaRPr sz="1500" b="0" i="0">
              <a:solidFill>
                <a:srgbClr val="5E6675"/>
              </a:solidFill>
              <a:latin typeface="Times New Roman" panose="02020603050405020304"/>
              <a:ea typeface="Times New Roman" panose="02020603050405020304"/>
              <a:cs typeface="Times New Roman" panose="02020603050405020304"/>
            </a:endParaRPr>
          </a:p>
          <a:p>
            <a:endParaRPr sz="1500"/>
          </a:p>
          <a:p>
            <a:pPr algn="l">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a:ea typeface="Times New Roman" panose="02020603050405020304"/>
                <a:cs typeface="Times New Roman" panose="02020603050405020304"/>
              </a:rPr>
              <a:t>That would indicate harmful under-search.</a:t>
            </a:r>
            <a:endParaRPr sz="1500" b="0" i="0">
              <a:solidFill>
                <a:srgbClr val="5E6675"/>
              </a:solidFill>
              <a:latin typeface="Times New Roman" panose="02020603050405020304"/>
              <a:ea typeface="Times New Roman" panose="02020603050405020304"/>
              <a:cs typeface="Times New Roman" panose="02020603050405020304"/>
            </a:endParaRPr>
          </a:p>
        </p:txBody>
      </p:sp>
      <p:sp>
        <p:nvSpPr>
          <p:cNvPr id="17" name="圆角矩形 16"/>
          <p:cNvSpPr>
            <a:spLocks noGrp="1"/>
          </p:cNvSpPr>
          <p:nvPr/>
        </p:nvSpPr>
        <p:spPr>
          <a:xfrm>
            <a:off x="8191500" y="2266950"/>
            <a:ext cx="3009900" cy="2609850"/>
          </a:xfrm>
          <a:prstGeom prst="roundRect">
            <a:avLst>
              <a:gd name="adj" fmla="val 2920"/>
            </a:avLst>
          </a:prstGeom>
          <a:solidFill>
            <a:srgbClr val="FFF9F0"/>
          </a:solidFill>
          <a:ln w="9525">
            <a:solidFill>
              <a:srgbClr val="E8DCCB"/>
            </a:solidFill>
            <a:prstDash val="solid"/>
          </a:ln>
        </p:spPr>
      </p:sp>
      <p:sp>
        <p:nvSpPr>
          <p:cNvPr id="18" name="矩形 17"/>
          <p:cNvSpPr>
            <a:spLocks noGrp="1"/>
          </p:cNvSpPr>
          <p:nvPr/>
        </p:nvSpPr>
        <p:spPr>
          <a:xfrm>
            <a:off x="8191500" y="2266950"/>
            <a:ext cx="57150" cy="2609850"/>
          </a:xfrm>
          <a:prstGeom prst="rect">
            <a:avLst/>
          </a:prstGeom>
          <a:solidFill>
            <a:srgbClr val="C89B4A"/>
          </a:solidFill>
          <a:ln w="0">
            <a:solidFill>
              <a:srgbClr val="C89B4A"/>
            </a:solidFill>
            <a:prstDash val="solid"/>
          </a:ln>
        </p:spPr>
      </p:sp>
      <p:sp>
        <p:nvSpPr>
          <p:cNvPr id="19" name="矩形 18"/>
          <p:cNvSpPr>
            <a:spLocks noGrp="1"/>
          </p:cNvSpPr>
          <p:nvPr/>
        </p:nvSpPr>
        <p:spPr>
          <a:xfrm>
            <a:off x="8362950" y="2381250"/>
            <a:ext cx="2724150" cy="285750"/>
          </a:xfrm>
          <a:prstGeom prst="rect">
            <a:avLst/>
          </a:prstGeom>
          <a:noFill/>
          <a:ln w="0">
            <a:noFill/>
            <a:prstDash val="solid"/>
          </a:ln>
        </p:spPr>
        <p:txBody>
          <a:bodyPr/>
          <a:lstStyle/>
          <a:p>
            <a:pPr algn="l">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a:ea typeface="Times New Roman" panose="02020603050405020304"/>
                <a:cs typeface="Times New Roman" panose="02020603050405020304"/>
              </a:rPr>
              <a:t>Contribution</a:t>
            </a:r>
            <a:endParaRPr sz="1800" b="1" i="0">
              <a:solidFill>
                <a:srgbClr val="1E2433"/>
              </a:solidFill>
              <a:latin typeface="Times New Roman" panose="02020603050405020304"/>
              <a:ea typeface="Times New Roman" panose="02020603050405020304"/>
              <a:cs typeface="Times New Roman" panose="02020603050405020304"/>
            </a:endParaRPr>
          </a:p>
        </p:txBody>
      </p:sp>
      <p:sp>
        <p:nvSpPr>
          <p:cNvPr id="20" name="矩形 19"/>
          <p:cNvSpPr>
            <a:spLocks noGrp="1"/>
          </p:cNvSpPr>
          <p:nvPr/>
        </p:nvSpPr>
        <p:spPr>
          <a:xfrm>
            <a:off x="8362950" y="2724150"/>
            <a:ext cx="2724150" cy="2038350"/>
          </a:xfrm>
          <a:prstGeom prst="rect">
            <a:avLst/>
          </a:prstGeom>
          <a:noFill/>
          <a:ln w="0">
            <a:noFill/>
            <a:prstDash val="solid"/>
          </a:ln>
        </p:spPr>
        <p:txBody>
          <a:bodyPr/>
          <a:lstStyle/>
          <a:p>
            <a:pPr algn="l">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a:ea typeface="Times New Roman" panose="02020603050405020304"/>
                <a:cs typeface="Times New Roman" panose="02020603050405020304"/>
              </a:rPr>
              <a:t>The paper shows where AI changes the stopping rule, where it changes updating quality, and where it changes subjective mastery.</a:t>
            </a:r>
            <a:endParaRPr sz="1500" b="0" i="0">
              <a:solidFill>
                <a:srgbClr val="5E6675"/>
              </a:solidFill>
              <a:latin typeface="Times New Roman" panose="02020603050405020304"/>
              <a:ea typeface="Times New Roman" panose="02020603050405020304"/>
              <a:cs typeface="Times New Roman" panose="02020603050405020304"/>
            </a:endParaRPr>
          </a:p>
        </p:txBody>
      </p:sp>
      <p:sp>
        <p:nvSpPr>
          <p:cNvPr id="21" name="圆角矩形 20"/>
          <p:cNvSpPr>
            <a:spLocks noGrp="1"/>
          </p:cNvSpPr>
          <p:nvPr/>
        </p:nvSpPr>
        <p:spPr>
          <a:xfrm>
            <a:off x="1485900" y="5219700"/>
            <a:ext cx="9220200" cy="800100"/>
          </a:xfrm>
          <a:prstGeom prst="roundRect">
            <a:avLst>
              <a:gd name="adj" fmla="val 9524"/>
            </a:avLst>
          </a:prstGeom>
          <a:solidFill>
            <a:srgbClr val="FFF9F0"/>
          </a:solidFill>
          <a:ln w="9525">
            <a:solidFill>
              <a:srgbClr val="E8DCCB"/>
            </a:solidFill>
            <a:prstDash val="solid"/>
          </a:ln>
        </p:spPr>
      </p:sp>
      <p:sp>
        <p:nvSpPr>
          <p:cNvPr id="22" name="矩形 21"/>
          <p:cNvSpPr>
            <a:spLocks noGrp="1"/>
          </p:cNvSpPr>
          <p:nvPr/>
        </p:nvSpPr>
        <p:spPr>
          <a:xfrm>
            <a:off x="1485900" y="5219700"/>
            <a:ext cx="57150" cy="800100"/>
          </a:xfrm>
          <a:prstGeom prst="rect">
            <a:avLst/>
          </a:prstGeom>
          <a:solidFill>
            <a:srgbClr val="B45A3C"/>
          </a:solidFill>
          <a:ln w="0">
            <a:solidFill>
              <a:srgbClr val="B45A3C"/>
            </a:solidFill>
            <a:prstDash val="solid"/>
          </a:ln>
        </p:spPr>
      </p:sp>
      <p:sp>
        <p:nvSpPr>
          <p:cNvPr id="23" name="矩形 22"/>
          <p:cNvSpPr>
            <a:spLocks noGrp="1"/>
          </p:cNvSpPr>
          <p:nvPr/>
        </p:nvSpPr>
        <p:spPr>
          <a:xfrm>
            <a:off x="1657350" y="5334000"/>
            <a:ext cx="8934450" cy="285750"/>
          </a:xfrm>
          <a:prstGeom prst="rect">
            <a:avLst/>
          </a:prstGeom>
          <a:noFill/>
          <a:ln w="0">
            <a:noFill/>
            <a:prstDash val="solid"/>
          </a:ln>
        </p:spPr>
        <p:txBody>
          <a:bodyPr/>
          <a:lstStyle/>
          <a:p>
            <a:pPr algn="l">
              <a:defRPr sz="1575" b="1" i="0">
                <a:solidFill>
                  <a:srgbClr val="1E2433"/>
                </a:solidFill>
                <a:latin typeface="Times New Roman" panose="02020603050405020304"/>
                <a:ea typeface="Times New Roman" panose="02020603050405020304"/>
                <a:cs typeface="Times New Roman" panose="02020603050405020304"/>
              </a:defRPr>
            </a:pPr>
            <a:r>
              <a:rPr sz="1575" b="1" i="0">
                <a:solidFill>
                  <a:srgbClr val="1E2433"/>
                </a:solidFill>
                <a:latin typeface="Times New Roman" panose="02020603050405020304"/>
                <a:ea typeface="Times New Roman" panose="02020603050405020304"/>
                <a:cs typeface="Times New Roman" panose="02020603050405020304"/>
              </a:rPr>
              <a:t>Takeaway</a:t>
            </a:r>
            <a:endParaRPr sz="1575" b="1" i="0">
              <a:solidFill>
                <a:srgbClr val="1E2433"/>
              </a:solidFill>
              <a:latin typeface="Times New Roman" panose="02020603050405020304"/>
              <a:ea typeface="Times New Roman" panose="02020603050405020304"/>
              <a:cs typeface="Times New Roman" panose="02020603050405020304"/>
            </a:endParaRPr>
          </a:p>
        </p:txBody>
      </p:sp>
      <p:sp>
        <p:nvSpPr>
          <p:cNvPr id="24" name="矩形 23"/>
          <p:cNvSpPr>
            <a:spLocks noGrp="1"/>
          </p:cNvSpPr>
          <p:nvPr/>
        </p:nvSpPr>
        <p:spPr>
          <a:xfrm>
            <a:off x="1657350" y="5676900"/>
            <a:ext cx="8934450" cy="228600"/>
          </a:xfrm>
          <a:prstGeom prst="rect">
            <a:avLst/>
          </a:prstGeom>
          <a:noFill/>
          <a:ln w="0">
            <a:noFill/>
            <a:prstDash val="solid"/>
          </a:ln>
        </p:spPr>
        <p:txBody>
          <a:bodyPr/>
          <a:lstStyle/>
          <a:p>
            <a:pPr algn="l">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a:ea typeface="Times New Roman" panose="02020603050405020304"/>
                <a:cs typeface="Times New Roman" panose="02020603050405020304"/>
              </a:rPr>
              <a:t>AI governance should not ask only whether people verify more. It should also ask whether users correctly judge when more evidence is still worth acquiring.</a:t>
            </a:r>
            <a:endParaRPr sz="1350" b="0" i="0">
              <a:solidFill>
                <a:srgbClr val="5E66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10168</Words>
  <Application>WPS 演示</Application>
  <PresentationFormat>Converted Presentation</PresentationFormat>
  <Paragraphs>362</Paragraphs>
  <Slides>16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16</vt:i4>
      </vt:variant>
    </vt:vector>
  </HeadingPairs>
  <TitlesOfParts>
    <vt:vector size="24" baseType="lpstr">
      <vt:lpstr>Arial</vt:lpstr>
      <vt:lpstr>宋体</vt:lpstr>
      <vt:lpstr>Wingdings</vt:lpstr>
      <vt:lpstr>Times New Roman</vt:lpstr>
      <vt:lpstr>微软雅黑</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汉克克克克克克克</cp:lastModifiedBy>
  <cp:revision>1</cp:revision>
  <dcterms:created xsi:type="dcterms:W3CDTF">2026-07-06T06:02:05Z</dcterms:created>
  <dcterms:modified xsi:type="dcterms:W3CDTF">2026-07-06T06:02:05Z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FCBC16D9B5D14FDDB0256BF68636629E_12</vt:lpwstr>
  </property>
</Properties>
</file>