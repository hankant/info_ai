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b7fa7e2a1440f3" /><Relationship Type="http://schemas.openxmlformats.org/officeDocument/2006/relationships/extended-properties" Target="/docProps/app.xml" Id="Rd4bf4491858e4300" /><Relationship Type="http://schemas.openxmlformats.org/officeDocument/2006/relationships/officeDocument" Target="/ppt/presentation.xml" Id="Ra435469276ee4e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77a7d7d7ac47d6"/>
  </p:sldMasterIdLst>
  <p:notesMasterIdLst>
    <p:notesMasterId xmlns:r="http://schemas.openxmlformats.org/officeDocument/2006/relationships" r:id="R0bbb62b46d7b48a5"/>
  </p:notesMasterIdLst>
  <p:sldIdLst>
    <p:sldId xmlns:r="http://schemas.openxmlformats.org/officeDocument/2006/relationships" id="256" r:id="R952280599729439a"/>
    <p:sldId xmlns:r="http://schemas.openxmlformats.org/officeDocument/2006/relationships" id="257" r:id="Rbcadc50a3cff4c4f"/>
    <p:sldId xmlns:r="http://schemas.openxmlformats.org/officeDocument/2006/relationships" id="258" r:id="R05880645da7c45a6"/>
    <p:sldId xmlns:r="http://schemas.openxmlformats.org/officeDocument/2006/relationships" id="259" r:id="R57188f571ae640af"/>
    <p:sldId xmlns:r="http://schemas.openxmlformats.org/officeDocument/2006/relationships" id="260" r:id="R075d898aa87b49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4837bc5ddd425f" /><Relationship Type="http://schemas.openxmlformats.org/officeDocument/2006/relationships/slideMaster" Target="/ppt/slideMasters/slideMaster1.xml" Id="R6377a7d7d7ac47d6" /><Relationship Type="http://schemas.openxmlformats.org/officeDocument/2006/relationships/notesMaster" Target="/ppt/notesMasters/notesMaster1.xml" Id="R0bbb62b46d7b48a5" /><Relationship Type="http://schemas.openxmlformats.org/officeDocument/2006/relationships/presProps" Target="/ppt/presProps.xml" Id="R6f760f7bf5b44371" /><Relationship Type="http://schemas.openxmlformats.org/officeDocument/2006/relationships/tableStyles" Target="/ppt/tableStyles.xml" Id="R4c936adc1253452a" /><Relationship Type="http://schemas.openxmlformats.org/officeDocument/2006/relationships/slide" Target="/ppt/slides/slide1.xml" Id="R952280599729439a" /><Relationship Type="http://schemas.openxmlformats.org/officeDocument/2006/relationships/slide" Target="/ppt/slides/slide2.xml" Id="Rbcadc50a3cff4c4f" /><Relationship Type="http://schemas.openxmlformats.org/officeDocument/2006/relationships/slide" Target="/ppt/slides/slide3.xml" Id="R05880645da7c45a6" /><Relationship Type="http://schemas.openxmlformats.org/officeDocument/2006/relationships/slide" Target="/ppt/slides/slide4.xml" Id="R57188f571ae640af" /><Relationship Type="http://schemas.openxmlformats.org/officeDocument/2006/relationships/slide" Target="/ppt/slides/slide5.xml" Id="R075d898aa87b49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b7c74a8bed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36bf38b50c4dbf" /><Relationship Type="http://schemas.openxmlformats.org/officeDocument/2006/relationships/notesMaster" Target="/ppt/notesMasters/notesMaster1.xml" Id="R1eeefc5d7ad247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b193431c82497f" /><Relationship Type="http://schemas.openxmlformats.org/officeDocument/2006/relationships/notesMaster" Target="/ppt/notesMasters/notesMaster1.xml" Id="R9b1baf9cac744c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9bb42c072b4de5" /><Relationship Type="http://schemas.openxmlformats.org/officeDocument/2006/relationships/notesMaster" Target="/ppt/notesMasters/notesMaster1.xml" Id="R9d8ecf01771b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04181c28464a4c" /><Relationship Type="http://schemas.openxmlformats.org/officeDocument/2006/relationships/notesMaster" Target="/ppt/notesMasters/notesMaster1.xml" Id="R69c281619905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05911beb504bf8" /><Relationship Type="http://schemas.openxmlformats.org/officeDocument/2006/relationships/notesMaster" Target="/ppt/notesMasters/notesMaster1.xml" Id="R65de583cb4584d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want to begin with a broad background rather than with the framework term itself.</a:t>
            </a:r>
          </a:p>
          <a:p xmlns:a="http://schemas.openxmlformats.org/drawingml/2006/main">
            <a:r>
              <a:t>Today, AI is moving into more real decision environments, including crisis judgment, organizational governance, public administration, healthcare, and other high-risk settings.</a:t>
            </a:r>
          </a:p>
          <a:p xmlns:a="http://schemas.openxmlformats.org/drawingml/2006/main">
            <a:r>
              <a:t>That means AI is no longer only a laboratory system or a stand-alone tool. It is increasingly embedded in consequential decision chains.</a:t>
            </a:r>
          </a:p>
          <a:p xmlns:a="http://schemas.openxmlformats.org/drawingml/2006/main">
            <a:r>
              <a:t>So the opening question is not yet what decision architecture means. The opening question is why this broader shift changes the governance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Once AI is embedded in real decision environments, governance can no longer focus only on model performance, safety standards, and compliance.</a:t>
            </a:r>
          </a:p>
          <a:p xmlns:a="http://schemas.openxmlformats.org/drawingml/2006/main">
            <a:r>
              <a:t>Those remain necessary, but they are no longer sufficient.</a:t>
            </a:r>
          </a:p>
          <a:p xmlns:a="http://schemas.openxmlformats.org/drawingml/2006/main">
            <a:r>
              <a:t>Why? Because failure may also come from the human side: how people interpret AI output, how they change their reliance, and how they act once AI becomes part of the process.</a:t>
            </a:r>
          </a:p>
          <a:p xmlns:a="http://schemas.openxmlformats.org/drawingml/2006/main">
            <a:r>
              <a:t>That is why the human-AI interaction itself becomes a governance object.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leads to the puzzle that motivates the dissertation.</a:t>
            </a:r>
          </a:p>
          <a:p xmlns:a="http://schemas.openxmlformats.org/drawingml/2006/main">
            <a:r>
              <a:t>If we care about governance in real settings, we must ask not only what AI does, but what happens to humans once they interact with AI.</a:t>
            </a:r>
          </a:p>
          <a:p xmlns:a="http://schemas.openxmlformats.org/drawingml/2006/main">
            <a:r>
              <a:t>People may form different beliefs, they may recalibrate reliance in path-dependent ways, and they may redistribute responsibility even when a human still makes the final decision.</a:t>
            </a:r>
          </a:p>
          <a:p xmlns:a="http://schemas.openxmlformats.org/drawingml/2006/main">
            <a:r>
              <a:t>These are the behavioral puzzles that the dissertation tries to explain before I introduce the broader framework on the next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8862184256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5b39dacef43cd" /><Relationship Type="http://schemas.openxmlformats.org/officeDocument/2006/relationships/slideLayout" Target="/ppt/slideLayouts/slideLayout1.xml" Id="Rb15e52f2e24644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e52f2e24644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1b839a8d748fe" /><Relationship Type="http://schemas.openxmlformats.org/officeDocument/2006/relationships/notesSlide" Target="/ppt/notesSlides/notesSlide1.xml" Id="R354b5c0380d845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a6a661a74a05" /><Relationship Type="http://schemas.openxmlformats.org/officeDocument/2006/relationships/notesSlide" Target="/ppt/notesSlides/notesSlide2.xml" Id="Rdc4b39153a1743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e1c3988724d88" /><Relationship Type="http://schemas.openxmlformats.org/officeDocument/2006/relationships/notesSlide" Target="/ppt/notesSlides/notesSlide3.xml" Id="R5e772488ec50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49fd257e1422e" /><Relationship Type="http://schemas.openxmlformats.org/officeDocument/2006/relationships/notesSlide" Target="/ppt/notesSlides/notesSlide4.xml" Id="R7eeb490da03b4e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e91227dd847a7" /><Relationship Type="http://schemas.openxmlformats.org/officeDocument/2006/relationships/notesSlide" Target="/ppt/notesSlides/notesSlide5.xml" Id="Re72eb6d2b63f4c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CC204B-3179-44D8-81E7-FEAB9CD5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A44"/>
          </a:solidFill>
          <a:ln xmlns:a="http://schemas.openxmlformats.org/drawingml/2006/main" w="0">
            <a:solidFill>
              <a:srgbClr val="1F2A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37A29-86EF-4A74-8CA8-A69E3647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4062"/>
          </a:solidFill>
          <a:ln xmlns:a="http://schemas.openxmlformats.org/drawingml/2006/main" w="0">
            <a:solidFill>
              <a:srgbClr val="31406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96497-882C-4AF6-8BA4-F01DE5F1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3554"/>
          </a:solidFill>
          <a:ln xmlns:a="http://schemas.openxmlformats.org/drawingml/2006/main" w="0">
            <a:solidFill>
              <a:srgbClr val="2735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DC890-D599-49A0-8FE6-67D1CCA3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EFDAA85-D395-4DE1-98D7-873FCD92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9C07FF-7E19-4104-BF41-50865A70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DOCTORAL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7CFF7-BFDF-478D-B3F2-B4058F0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23950"/>
            <a:ext cx="6096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The Puzzle That Motivates the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CA5DD-ABAC-468E-8D1E-A5AFDD41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905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D8DDE7"/>
                </a:solidFill>
                <a:latin typeface="Times New Roman"/>
                <a:ea typeface="Times New Roman"/>
                <a:cs typeface="Times New Roman"/>
              </a:rPr>
              <a:t>AI is entering more real decision settings, but governance still often looks at the model before it looks at the human-AI decision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7BC5-2FD6-4ACB-B366-0520013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Xu | Doctoral Project Intro | July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1F2-DFFC-4047-8D5E-1BF8C1E0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16E328-5B26-4BFC-9065-3C8A799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239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B497-1322-46F4-9FAB-49DCD4A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763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REAL 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54B6D-4CBC-4BA3-8748-198E3629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Where AI is entering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112DA-5C4B-40D6-B599-619F832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859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Crisis judgment, organizational governance, public administration, healthcare, and other high-risk settings.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76047-05A3-4996-9D4E-774241E0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8571E-12B6-45F9-9B1E-92DC7E5E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5516C-F448-49BC-8642-A0CFBC0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051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WHAT CHANGES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658D2-68D2-405C-B0A2-69AAFDD2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7655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Embedded decision chains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EF8D6-EA3D-48DE-8BC5-56DEFFE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1470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AI is no longer only a lab system or a stand-alone tool. It is becoming part of real organizational and institutional processes.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5BD51-27D3-4547-A140-05BC1569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654"/>
          </a:solidFill>
          <a:ln xmlns:a="http://schemas.openxmlformats.org/drawingml/2006/main" w="9525">
            <a:solidFill>
              <a:srgbClr val="4350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8C82F-B218-49F6-A5E6-74D3E21A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4FFA7-7B17-4112-B63B-124E393E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WHY THIS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31015-7C78-4200-AC34-8E97670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05300"/>
            <a:ext cx="262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Governance cannot stop at the 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4030D-34E5-4E98-BC05-4A8E687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Once AI is embedded in consequential decision chains, governance must also explain what happens to the human side of the interaction.</a:t>
            </a:r>
          </a:p>
        </p:txBody>
      </p:sp>
      <p:cxnSp>
        <p:nvCxnSpPr>
          <p:cNvPr id="105" name=""/>
          <p:cNvCxnSpPr>
            <a:stCxn xmlns:a="http://schemas.openxmlformats.org/drawingml/2006/main" id="10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144000" y="217170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cxnSp>
        <p:nvCxnSpPr>
          <p:cNvPr id="106" name=""/>
          <p:cNvCxnSpPr>
            <a:stCxn xmlns:a="http://schemas.openxmlformats.org/drawingml/2006/main" id="15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9144000" y="3600450"/>
            <a:ext cx="57150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89B4A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D0981-74B2-474B-BBC5-CDD361AA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D7DCE7"/>
                </a:solidFill>
                <a:latin typeface="Times New Roman"/>
                <a:ea typeface="Times New Roman"/>
                <a:cs typeface="Times New Roman"/>
              </a:rPr>
              <a:t>The dissertation starts from that broader shift.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17D40-2546-45E1-B5EF-1B71676B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79060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8DCD4-B3A9-43A9-9636-6301648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E1FE3-3025-4189-ABD5-70DD71F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4B50C-AA6A-4AF1-918F-ABDC2835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06DD-4C17-467F-A888-3DE46489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5ED8AC3-5B34-40FA-994E-891DCFBE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634ED8-D3EA-49E9-BBEA-98737AC9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GOVERNANCE LENS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85B24-C435-404E-9859-EF3CBE34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666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Model performance and compliance are necessary, but no longer sufficient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40841-F33B-4F60-A7DB-4BD19550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Once AI is used inside human decision environments, failure may also come from how people interpret, rely on, and act with AI.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982E-BCBD-4F34-A9C2-610D8E43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8B511-A69D-4108-BA0E-1D6DCF4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FACBB-8ECA-4AAE-A3E9-78952C39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AI governance still needs performance, safety, and compliance.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2EDA6-59F5-49AE-9B0B-AEBB4A6A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2272-86A5-48D4-8C1F-630C7A04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But those tools alone cannot explain what happens when humans and AI make decisions together.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1E046-AA38-4284-AA6B-8F3E1B27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28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85529-8CB3-4DDC-9B83-0A823D3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That is why the human-AI interaction becomes a governance object in its own right.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29D49-83B2-492F-9A36-C6988EAA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3429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5C835-8862-466B-9549-8D694E0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829A-5E76-48CB-B589-B3426000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24100"/>
            <a:ext cx="300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USUAL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40875-1A42-43C0-84C3-85E102E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we already study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17304-94AA-4AD0-AB49-4B1F6555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4F557-BD78-4306-AF40-3364D71F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908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Model quality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CF72C-0B05-4899-B130-DD62B7A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5280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DDCB"/>
          </a:solidFill>
          <a:ln xmlns:a="http://schemas.openxmlformats.org/drawingml/2006/main" w="0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5ECB-3ADF-431F-8E94-99CDBA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8137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Safety and standards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9C01C-CA3E-42E3-BEA4-B1D27B4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43350"/>
            <a:ext cx="2476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6E0D4"/>
          </a:solidFill>
          <a:ln xmlns:a="http://schemas.openxmlformats.org/drawingml/2006/main" w="0">
            <a:solidFill>
              <a:srgbClr val="E6E0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8EC10-EBD0-40A8-80FE-2A51AC9E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71925"/>
            <a:ext cx="2247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Compliance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8FF79-CD46-45DB-98A3-BF020AA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971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 missing layer is what happens to human judgment and behavior once AI is embedded in the process.</a:t>
            </a:r>
          </a:p>
        </p:txBody>
      </p:sp>
    </p:spTree>
    <p:extLst>
      <p:ext uri="{BB962C8B-B14F-4D97-AF65-F5344CB8AC3E}">
        <p14:creationId xmlns:p14="http://schemas.microsoft.com/office/powerpoint/2010/main" val="299027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0B490-F503-4348-8B85-ABC6868B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DD532-520B-4FA3-A150-B0726C4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B2CFD-2CA2-49DC-ADC9-0EC550F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E1879-730D-446E-A681-5200E119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F3E2A9B-A207-46C6-932C-1D7A34A7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AD13DF-8328-4108-8536-78DE4AE0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BEHAVIORAL PROCESS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BA439-45F1-4AC3-B4A6-912461C3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191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puzzle is what happens to humans once they interact with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7F08D-0A37-4E3E-8D4E-3B8CC8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rPr>
              <a:t>Belief change, reliance calibration, and responsibility shift are linked stages of one governance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A54A5-6AE4-4CD9-BA49-9F6F2914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05D0A-D15A-4B18-AE34-F4777E0F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BD551-3543-4A54-B6C7-8C10B1E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2FB1B-FAD5-44A7-9AA6-A9CA9D00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PUZZLE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E7F4DF-FE0B-4EA2-A277-0769B4B8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Belief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4F90E-477F-4FE3-8C31-2D9B560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8A1044-8F37-43A7-9572-735DFDD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People may form different beliefs after receiving AI output.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2C7F7-C882-4711-ACB6-7412EA7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8E49D-6A06-4751-B27E-54A37664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What looks like information support may already be reshaping what counts as sufficient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D1B18-855A-44E7-8FC6-FF0F0FC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DBA94-3785-4DAC-ADEB-937FEC7D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human side is already changing before any final action is taken.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8094C-2003-4BEE-89F1-B0352219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This is not only a content problem but an interaction problem.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EBA97-5994-4F1D-91D2-354C1BF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8CE64-4F1F-4917-9536-3A1F1007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F40BC-79C6-4E57-A66B-83E25CA1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PUZZLE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9F7CB-0813-4F95-96E3-B10C45B8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Reliance shift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5312F-76D1-409A-8A01-64D2502B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A1277-C91F-4AC7-A2F4-B08F55D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belief / feedback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→ action threshold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B8AC7-F07C-4D4C-AFB4-A301E55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E1FD0A-02DD-412B-889B-C8E414F7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So the issue is not only whether people adopt AI once, but how they recalibrate over time.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B11C56-1D95-471B-B830-3B030A0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B617C-0AEF-466A-A187-F61F883E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The same objective system can produce very different reliance paths.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4902D-7F0D-4B30-B813-392A5DE4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That makes feedback and human learning part of governance.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6B56D3-4A38-4C8D-83BC-F2CD169B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31432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4499CE-5F78-426B-8EC0-70A07C51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66950"/>
            <a:ext cx="571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C5510-7182-4C6E-A31E-3CF4B88E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PUZZLE 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E947F6-A9CD-425F-8C5E-7695ADE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908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Responsibility shift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1D993-2EF9-48EE-B140-1CF4C38F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59BA36-73F0-4D88-AA45-B58BD5F9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718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Aptos"/>
                <a:ea typeface="Aptos"/>
                <a:cs typeface="Aptos"/>
              </a:rPr>
              <a:t>action → responsibility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CDBB11-5167-450A-A4DB-3D7722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300760-3BED-445F-A2B2-609BBD80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576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Ownership, accountability, and blame may no longer map cleanly onto one actor.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2EBC5-E7B6-41D5-8F3C-74FC6940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62450"/>
            <a:ext cx="228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AD32CB-CB15-4A12-A134-64A2049F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434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rPr>
              <a:t>So governance must explain more than technical error.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A99488E-876D-420E-B5B3-732150B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1015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rPr>
              <a:t>These puzzles are what lead to the dissertation's behavioral framing.</a:t>
            </a:r>
          </a:p>
        </p:txBody>
      </p:sp>
    </p:spTree>
    <p:extLst>
      <p:ext uri="{BB962C8B-B14F-4D97-AF65-F5344CB8AC3E}">
        <p14:creationId xmlns:p14="http://schemas.microsoft.com/office/powerpoint/2010/main" val="20827991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AA6DC-0A3F-4A0A-92B4-BA0F34D3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82403-E887-43FB-83EA-DB4457C8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38DA2-B957-4A3C-82FD-2DE6CD4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D2913-3A1F-45AD-BFCB-4FF13DDB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0954E1A-7423-4892-8495-56FA1881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0E9CF0-3CE7-4F3E-866B-4A58DF7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DECISION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4E459D-4D7E-4F6F-8463-4CCF3B6D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dissertation narrows this governance problem into AI as decision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47445-2287-4552-AFC7-2C7FF02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The term is used here as an integrative framework for how AI restructures information flow, thresholds, and responsibility relations.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0A81-00FF-408D-875D-30888C7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C392D-CC58-42B5-9FDE-337AF7F0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21BBA-3882-466F-8589-8A07F624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D0D9D-AA3A-49C9-BF32-0C10E99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PAPER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6AA9D4-3CF3-4FEB-964A-ACB91C9C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evidence → belief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CA554-105E-4B63-86E8-B06F9C8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Answer-first structure changes evidence search, Bayesian updating, and subjective mastery.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95D2B-01BB-4540-AE2E-6CCD1532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99B27-3BC4-4B29-889D-AA7BA3A2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C0984-4EAE-4789-BFC6-FC920CD5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PAPER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3C395-EDFA-4ABF-8F2A-5ADEF5B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6700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belief / feedback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→ action threshold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CACEB-AC25-49ED-9971-D1A20F3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0515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Early AI error changes reliance calibration and risk thresholds under repeated feedback.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EE24A-54AC-4D04-BC9B-B45F95C7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56CA49-7978-4E65-BCA5-5F3D91A2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EDF29-299C-40D9-94C3-FEBC3C20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PAPER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6E2BB-D340-4117-9CCE-DF05C1C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action → responsibility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C7ECA-4258-4C86-981A-EBAF483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After AI participates in action, ownership and responsibility attribution are restructured.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D24D6A-FCD9-4551-8EBE-79CA4337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4076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4A393-3DFA-48AF-A635-0FFDFA91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0005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19CFB-0A1E-4FDA-92AC-B00D63C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52900"/>
            <a:ext cx="3657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3AB15C-07F1-476D-B2BA-A04344E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24350"/>
            <a:ext cx="365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One problem, layered studies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310E3-1BD9-411D-BFAA-BC0C2E6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762500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7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775"/>
                </a:solidFill>
                <a:latin typeface="Aptos"/>
                <a:ea typeface="Aptos"/>
                <a:cs typeface="Aptos"/>
              </a:rPr>
              <a:t>The papers are independent in design but cumulative in what they explain about governance.</a:t>
            </a:r>
          </a:p>
        </p:txBody>
      </p:sp>
    </p:spTree>
    <p:extLst>
      <p:ext uri="{BB962C8B-B14F-4D97-AF65-F5344CB8AC3E}">
        <p14:creationId xmlns:p14="http://schemas.microsoft.com/office/powerpoint/2010/main" val="1694884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1AFAC-A811-4506-9EE6-ED6A2F4B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F6F1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0868E-2E4A-4755-B655-3776EF5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-11430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1D0"/>
          </a:solidFill>
          <a:ln xmlns:a="http://schemas.openxmlformats.org/drawingml/2006/main" w="0">
            <a:solidFill>
              <a:srgbClr val="EDE1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DCDA0-B520-4C6E-BA0A-E5C09B3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33631-AFA0-432E-B55D-1EB695C8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ACD987-1F0A-42D1-9961-3024CD8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BA5193-3942-47C1-9EB6-448E4D9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6174C-9EAE-4F18-B203-FC84E7A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The three papers are separate studies of one high-stakes decision process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6241-72EE-4F09-9A44-2BFACD15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96050"/>
            <a:ext cx="885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7F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7B7F88"/>
                </a:solidFill>
                <a:latin typeface="Aptos"/>
                <a:ea typeface="Aptos"/>
                <a:cs typeface="Aptos"/>
              </a:rPr>
              <a:t>Their unity comes from one behavioral governance problem and their independence comes from different mechanisms and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4BF8E-884E-4856-9F94-33636F9D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B45A3C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4AB93-355B-44B4-B9A5-2846659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6DF73-638F-419D-9BA9-D58A270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EC75C-94F4-46B5-AD41-B1EEE30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B45A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5A3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3F307-9F94-48E4-A1A5-A1BFF18B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How does AI change human judgment in consequential decisions?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6B0F5-DE73-433E-8E49-4C3F6667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D8148-829A-4CF8-A848-A82B583E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561"/>
          </a:solidFill>
          <a:ln xmlns:a="http://schemas.openxmlformats.org/drawingml/2006/main" w="0">
            <a:solidFill>
              <a:srgbClr val="66756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5EC26-BBB2-41ED-898D-A4B72018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675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561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2A9A1-3CD2-4807-BF33-6479DDC7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Paper 1 isolates belief, Paper 2 calibration, and Paper 3 responsibility.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3FABD5-B9C3-49DC-8315-FBEC63F3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26860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62EA11-D077-4409-BCE7-6D7E431C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67000"/>
            <a:ext cx="571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A6919-BCFB-483C-B8D4-D5DE5283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19400"/>
            <a:ext cx="2266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AC472-23C9-4C3B-B76F-5459D7C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/>
            </a:r>
          </a:p>
          <a:p xmlns:a="http://schemas.openxmlformats.org/drawingml/2006/main">
            <a:pPr algn="l">
              <a:buNone/>
              <a:defRPr sz="150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Later reliance rests on a belief base AI may already have reshaped.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1EF7A-55D7-4ACC-95D8-EBE847ED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372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9525">
            <a:solidFill>
              <a:srgbClr val="E9DDC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0FD9E-642F-4BB3-96D0-46C13BA5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29717-9624-470E-B2B7-46F868F1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C89B4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03A13-9322-4627-B297-6483987C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1D2433"/>
                </a:solidFill>
                <a:latin typeface="Georgia"/>
                <a:ea typeface="Georgia"/>
                <a:cs typeface="Georgia"/>
              </a:rPr>
              <a:t>I begin with Paper 1, which asks how AI changes the evidence-to-belief mapping before later reliance and responsibility are even possible.</a:t>
            </a:r>
          </a:p>
        </p:txBody>
      </p:sp>
    </p:spTree>
    <p:extLst>
      <p:ext uri="{BB962C8B-B14F-4D97-AF65-F5344CB8AC3E}">
        <p14:creationId xmlns:p14="http://schemas.microsoft.com/office/powerpoint/2010/main" val="1237911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2026-07-05T12:30:00.9340000Z</dcterms:created>
  <dcterms:modified xsi:type="dcterms:W3CDTF">2026-07-05T12:30:00.9340000Z</dcterms:modified>
</coreProperties>
</file>