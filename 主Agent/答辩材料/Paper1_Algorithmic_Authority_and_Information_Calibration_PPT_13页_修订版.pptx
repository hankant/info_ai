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588bdc03c9463f" /><Relationship Type="http://schemas.openxmlformats.org/officeDocument/2006/relationships/extended-properties" Target="/docProps/app.xml" Id="Rd63a3f36129e4119" /><Relationship Type="http://schemas.openxmlformats.org/officeDocument/2006/relationships/officeDocument" Target="/ppt/presentation.xml" Id="Rb90be5e18c274478" /></Relationships>
</file>

<file path=ppt/presentation.xml><?xml version="1.0" encoding="utf-8"?>
<p:presentation xmlns:p="http://schemas.openxmlformats.org/presentationml/2006/main">
  <p:sldMasterIdLst>
    <p:sldMasterId xmlns:r="http://schemas.openxmlformats.org/officeDocument/2006/relationships" id="2147483648" r:id="R19b9f4e43cf04727"/>
  </p:sldMasterIdLst>
  <p:notesMasterIdLst>
    <p:notesMasterId xmlns:r="http://schemas.openxmlformats.org/officeDocument/2006/relationships" r:id="Ree76a14904354572"/>
  </p:notesMasterIdLst>
  <p:sldIdLst>
    <p:sldId xmlns:r="http://schemas.openxmlformats.org/officeDocument/2006/relationships" id="256" r:id="R75c960519b264b1c"/>
    <p:sldId xmlns:r="http://schemas.openxmlformats.org/officeDocument/2006/relationships" id="257" r:id="R0f64cde97c474228"/>
    <p:sldId xmlns:r="http://schemas.openxmlformats.org/officeDocument/2006/relationships" id="258" r:id="R01a6530f54a54d3a"/>
    <p:sldId xmlns:r="http://schemas.openxmlformats.org/officeDocument/2006/relationships" id="259" r:id="R3525109f63284e8b"/>
    <p:sldId xmlns:r="http://schemas.openxmlformats.org/officeDocument/2006/relationships" id="260" r:id="Rbf685eaf3d014980"/>
    <p:sldId xmlns:r="http://schemas.openxmlformats.org/officeDocument/2006/relationships" id="261" r:id="R76247c6618134330"/>
    <p:sldId xmlns:r="http://schemas.openxmlformats.org/officeDocument/2006/relationships" id="262" r:id="R4626eeeafd0f410e"/>
    <p:sldId xmlns:r="http://schemas.openxmlformats.org/officeDocument/2006/relationships" id="263" r:id="Rc168e516af4c4eca"/>
    <p:sldId xmlns:r="http://schemas.openxmlformats.org/officeDocument/2006/relationships" id="264" r:id="R83ad2225edab4ed4"/>
    <p:sldId xmlns:r="http://schemas.openxmlformats.org/officeDocument/2006/relationships" id="265" r:id="R4b5471b4ac3845dd"/>
    <p:sldId xmlns:r="http://schemas.openxmlformats.org/officeDocument/2006/relationships" id="266" r:id="R08cc2faa3f6a4c9b"/>
    <p:sldId xmlns:r="http://schemas.openxmlformats.org/officeDocument/2006/relationships" id="267" r:id="R4bd1e4d6f98045cd"/>
    <p:sldId xmlns:r="http://schemas.openxmlformats.org/officeDocument/2006/relationships" id="268" r:id="R31ef390f18dd40b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73c32531fa4680" /><Relationship Type="http://schemas.openxmlformats.org/officeDocument/2006/relationships/slideMaster" Target="/ppt/slideMasters/slideMaster1.xml" Id="R19b9f4e43cf04727" /><Relationship Type="http://schemas.openxmlformats.org/officeDocument/2006/relationships/notesMaster" Target="/ppt/notesMasters/notesMaster1.xml" Id="Ree76a14904354572" /><Relationship Type="http://schemas.openxmlformats.org/officeDocument/2006/relationships/presProps" Target="/ppt/presProps.xml" Id="Rdddc25cf95b64571" /><Relationship Type="http://schemas.openxmlformats.org/officeDocument/2006/relationships/tableStyles" Target="/ppt/tableStyles.xml" Id="Rdd5a995a31dc4a86" /><Relationship Type="http://schemas.openxmlformats.org/officeDocument/2006/relationships/slide" Target="/ppt/slides/slide1.xml" Id="R75c960519b264b1c" /><Relationship Type="http://schemas.openxmlformats.org/officeDocument/2006/relationships/slide" Target="/ppt/slides/slide2.xml" Id="R0f64cde97c474228" /><Relationship Type="http://schemas.openxmlformats.org/officeDocument/2006/relationships/slide" Target="/ppt/slides/slide3.xml" Id="R01a6530f54a54d3a" /><Relationship Type="http://schemas.openxmlformats.org/officeDocument/2006/relationships/slide" Target="/ppt/slides/slide4.xml" Id="R3525109f63284e8b" /><Relationship Type="http://schemas.openxmlformats.org/officeDocument/2006/relationships/slide" Target="/ppt/slides/slide5.xml" Id="Rbf685eaf3d014980" /><Relationship Type="http://schemas.openxmlformats.org/officeDocument/2006/relationships/slide" Target="/ppt/slides/slide6.xml" Id="R76247c6618134330" /><Relationship Type="http://schemas.openxmlformats.org/officeDocument/2006/relationships/slide" Target="/ppt/slides/slide7.xml" Id="R4626eeeafd0f410e" /><Relationship Type="http://schemas.openxmlformats.org/officeDocument/2006/relationships/slide" Target="/ppt/slides/slide8.xml" Id="Rc168e516af4c4eca" /><Relationship Type="http://schemas.openxmlformats.org/officeDocument/2006/relationships/slide" Target="/ppt/slides/slide9.xml" Id="R83ad2225edab4ed4" /><Relationship Type="http://schemas.openxmlformats.org/officeDocument/2006/relationships/slide" Target="/ppt/slides/slide10.xml" Id="R4b5471b4ac3845dd" /><Relationship Type="http://schemas.openxmlformats.org/officeDocument/2006/relationships/slide" Target="/ppt/slides/slide11.xml" Id="R08cc2faa3f6a4c9b" /><Relationship Type="http://schemas.openxmlformats.org/officeDocument/2006/relationships/slide" Target="/ppt/slides/slide12.xml" Id="R4bd1e4d6f98045cd" /><Relationship Type="http://schemas.openxmlformats.org/officeDocument/2006/relationships/slide" Target="/ppt/slides/slide13.xml" Id="R31ef390f18dd40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c6ed3a78ae49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5f431cdcf8462c" /><Relationship Type="http://schemas.openxmlformats.org/officeDocument/2006/relationships/notesMaster" Target="/ppt/notesMasters/notesMaster1.xml" Id="Rcef4ca30b69145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ffd5401228442f" /><Relationship Type="http://schemas.openxmlformats.org/officeDocument/2006/relationships/notesMaster" Target="/ppt/notesMasters/notesMaster1.xml" Id="R9635c5fd10a442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014d568f94478c" /><Relationship Type="http://schemas.openxmlformats.org/officeDocument/2006/relationships/notesMaster" Target="/ppt/notesMasters/notesMaster1.xml" Id="R5dd8cb479cac43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c28ad9e28640a9" /><Relationship Type="http://schemas.openxmlformats.org/officeDocument/2006/relationships/notesMaster" Target="/ppt/notesMasters/notesMaster1.xml" Id="R498b2297b50047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e50510384641a3" /><Relationship Type="http://schemas.openxmlformats.org/officeDocument/2006/relationships/notesMaster" Target="/ppt/notesMasters/notesMaster1.xml" Id="Rac92432cb6dd4c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9fdce1a25a4c6a" /><Relationship Type="http://schemas.openxmlformats.org/officeDocument/2006/relationships/notesMaster" Target="/ppt/notesMasters/notesMaster1.xml" Id="R8eee2ca6fe8443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52e4a0d19643f2" /><Relationship Type="http://schemas.openxmlformats.org/officeDocument/2006/relationships/notesMaster" Target="/ppt/notesMasters/notesMaster1.xml" Id="R57fb1340e46149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4d54862c1f4ccd" /><Relationship Type="http://schemas.openxmlformats.org/officeDocument/2006/relationships/notesMaster" Target="/ppt/notesMasters/notesMaster1.xml" Id="R17e20a30813e43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97695f12d64538" /><Relationship Type="http://schemas.openxmlformats.org/officeDocument/2006/relationships/notesMaster" Target="/ppt/notesMasters/notesMaster1.xml" Id="Rcd9139990baa47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658b95bdeb4903" /><Relationship Type="http://schemas.openxmlformats.org/officeDocument/2006/relationships/notesMaster" Target="/ppt/notesMasters/notesMaster1.xml" Id="Recd0d09fb0d946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16492cabb6410b" /><Relationship Type="http://schemas.openxmlformats.org/officeDocument/2006/relationships/notesMaster" Target="/ppt/notesMasters/notesMaster1.xml" Id="Rbf0e38966d324a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3250f7a72b4f54" /><Relationship Type="http://schemas.openxmlformats.org/officeDocument/2006/relationships/notesMaster" Target="/ppt/notesMasters/notesMaster1.xml" Id="R2810cd368cf945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cd593fc0974040" /><Relationship Type="http://schemas.openxmlformats.org/officeDocument/2006/relationships/notesMaster" Target="/ppt/notesMasters/notesMaster1.xml" Id="R7f6f49d0162745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first paper focuses on the opening step in the dissertation: how AI changes the movement from evidence to belief.</a:t>
            </a:r>
          </a:p>
          <a:p xmlns:a="http://schemas.openxmlformats.org/drawingml/2006/main">
            <a:r>
              <a:t>The key shift is that generative AI does not just give a faster answer. It may change when users feel they have already seen enough and no longer need additional evidence.</a:t>
            </a:r>
          </a:p>
          <a:p xmlns:a="http://schemas.openxmlformats.org/drawingml/2006/main">
            <a:r>
              <a:t>So the central object is information calibration, not the older framing of double Bayesian distortion as a starting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start with a simple and familiar contrast rather than an abstract framework.</a:t>
            </a:r>
          </a:p>
          <a:p xmlns:a="http://schemas.openxmlformats.org/drawingml/2006/main">
            <a:r>
              <a:t>In a search-engine setting, users usually see sources first and construct an interpretation later. In an AI-assistant setting, they often receive a coherent interpretation before they have seen the raw evidence.</a:t>
            </a:r>
          </a:p>
          <a:p xmlns:a="http://schemas.openxmlformats.org/drawingml/2006/main">
            <a:r>
              <a:t>That reversal is the opening intuition for the whole paper. It suggests that AI may change not just how much people search, but how they judge the value of searching further.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cuts off a common shortcut in the discussion of AI and search.</a:t>
            </a:r>
          </a:p>
          <a:p xmlns:a="http://schemas.openxmlformats.org/drawingml/2006/main">
            <a:r>
              <a:t>If users search less after receiving an AI answer, that is not automatically a problem. It could be rational compression if the summary already captures informative evidence.</a:t>
            </a:r>
          </a:p>
          <a:p xmlns:a="http://schemas.openxmlformats.org/drawingml/2006/main">
            <a:r>
              <a:t>The paper therefore asks a stricter question: when search falls, do later beliefs still stay close to the appropriate benchmark, or do they move away from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 want to anchor the paper in the existing literature more concretely.</a:t>
            </a:r>
          </a:p>
          <a:p xmlns:a="http://schemas.openxmlformats.org/drawingml/2006/main">
            <a:r>
              <a:t>The image summarizes the closest literature targets on automation bias, reduced search, and verification. These papers are valuable, but they often move too quickly from less search to worse judgment, or they treat verification intensity as the key mechanism.</a:t>
            </a:r>
          </a:p>
          <a:p xmlns:a="http://schemas.openxmlformats.org/drawingml/2006/main">
            <a:r>
              <a:t>My paper's move is different. I ask whether AI changes information calibration: whether users still correctly judge the value of additional evidence, and whether posterior quality remains aligned with what they think they know.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traditional benchmark behind this paper is a search-cost benchmark.</a:t>
            </a:r>
          </a:p>
          <a:p xmlns:a="http://schemas.openxmlformats.org/drawingml/2006/main">
            <a:r>
              <a:t>People should stop searching when the expected value of additional evidence falls below the cost of getting it. So stopping early is not automatically irrational.</a:t>
            </a:r>
          </a:p>
          <a:p xmlns:a="http://schemas.openxmlformats.org/drawingml/2006/main">
            <a:r>
              <a:t>The paper becomes interesting only if AI changes the stopping rule in a way that makes users think the evidence is already sufficient when, in fact, it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gap that motivates the paper.</a:t>
            </a:r>
          </a:p>
          <a:p xmlns:a="http://schemas.openxmlformats.org/drawingml/2006/main">
            <a:r>
              <a:t>The unresolved question is not merely whether AI reduces search. It is whether an AI answer changes the user's judgment that the current evidence is already enough.</a:t>
            </a:r>
          </a:p>
          <a:p xmlns:a="http://schemas.openxmlformats.org/drawingml/2006/main">
            <a:r>
              <a:t>That matters because a shift in perceived sufficiency can affect later evidence acquisition, later Bayesian updating, and the user's own sense of how much they really know.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merges the earlier framing and mechanism pages into one core question slide.</a:t>
            </a:r>
          </a:p>
          <a:p xmlns:a="http://schemas.openxmlformats.org/drawingml/2006/main">
            <a:r>
              <a:t>The paper does not treat reduced raw-evidence viewing as search laziness. Instead, it reevaluates that behavior inside a Bayesian belief-updating framework.</a:t>
            </a:r>
          </a:p>
          <a:p xmlns:a="http://schemas.openxmlformats.org/drawingml/2006/main">
            <a:r>
              <a:t>The mechanism is that AI answers may change what users infer about hidden search and integration, which can make the current evidence feel sufficient too early and move the stopping threshold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research questions are deliberately ordered.</a:t>
            </a:r>
          </a:p>
          <a:p xmlns:a="http://schemas.openxmlformats.org/drawingml/2006/main">
            <a: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xmlns:a="http://schemas.openxmlformats.org/drawingml/2006/main">
            <a:r>
              <a:t>That sequence is what allows the paper to move from what users do, to whether it is justified, to whether they recognize their own informational position correctly.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design details matter, I want to say clearly what kind of experiment this is.</a:t>
            </a:r>
          </a:p>
          <a:p xmlns:a="http://schemas.openxmlformats.org/drawingml/2006/main">
            <a:r>
              <a:t>Its Bayesian prototype is the classic urn-drawing or bookbag-and-poker-chip belief-updating task.</a:t>
            </a:r>
          </a:p>
          <a:p xmlns:a="http://schemas.openxmlformats.org/drawingml/2006/main">
            <a:r>
              <a:t>The innovation is to contextualize that prototype as company-risk judgment and add summary-first presentation plus later evidence search under a common cost 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important correction relative to the older six-cell description.</a:t>
            </a:r>
          </a:p>
          <a:p xmlns:a="http://schemas.openxmlformats.org/drawingml/2006/main">
            <a:r>
              <a:t>The current design has five groups. There is one no-summary baseline that enters the shared full evidence pool directly, and then four summary groups produced by completeness crossed with source label.</a:t>
            </a:r>
          </a:p>
          <a:p xmlns:a="http://schemas.openxmlformats.org/drawingml/2006/main">
            <a:r>
              <a:t>The baseline does not need to be split in two, because the baseline always faces the same full pool rather than a separate summary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captures the cleanest identification logic in the design.</a:t>
            </a:r>
          </a:p>
          <a:p xmlns:a="http://schemas.openxmlformats.org/drawingml/2006/main">
            <a:r>
              <a:t>The unlabeled-summary and AI-labeled-summary groups read exactly the same summary text. The only difference is whether the source is explicitly marked as AI.</a:t>
            </a:r>
          </a:p>
          <a:p xmlns:a="http://schemas.openxmlformats.org/drawingml/2006/main">
            <a:r>
              <a:t>So if their later search, posterior, or mastery judgments diverge, that difference cannot be attributed to content. It has to come from the source label and the authority inferences it triggers.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page explains how different result patterns would count as support for different hypotheses.</a:t>
            </a:r>
          </a:p>
          <a:p xmlns:a="http://schemas.openxmlformats.org/drawingml/2006/main">
            <a:r>
              <a:t>First, RQ1 is supported if the AI label lowers the stopping threshold relative to the unlabeled summary.</a:t>
            </a:r>
          </a:p>
          <a:p xmlns:a="http://schemas.openxmlformats.org/drawingml/2006/main">
            <a:r>
              <a:t>Second, RQ2 splits into two possibilities: representative summaries can reveal efficient compression, while incomplete summaries can reveal harmful under-search.</a:t>
            </a:r>
          </a:p>
          <a:p xmlns:a="http://schemas.openxmlformats.org/drawingml/2006/main">
            <a:r>
              <a:t>Third, RQ3 is supported if objective posterior quality and subjective mastery move apart after summary-based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close the paper by emphasizing three contributions.</a:t>
            </a:r>
          </a:p>
          <a:p xmlns:a="http://schemas.openxmlformats.org/drawingml/2006/main">
            <a:r>
              <a:t>The first is theoretical: the move from generic trust to information calibration as an evidence-to-belief mechanism.</a:t>
            </a:r>
          </a:p>
          <a:p xmlns:a="http://schemas.openxmlformats.org/drawingml/2006/main">
            <a:r>
              <a:t>The second is methodological: the paper adapts a classical Bayesian updating paradigm and adds summary-first presentation, extra search, and same-summary source-label identification.</a:t>
            </a:r>
          </a:p>
          <a:p xmlns:a="http://schemas.openxmlformats.org/drawingml/2006/main">
            <a:r>
              <a:t>The third is substantive: it separates efficient compression, harmful under-search, and subjective-objective calibration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16469f242c4f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daf45251054e49" /><Relationship Type="http://schemas.openxmlformats.org/officeDocument/2006/relationships/slideLayout" Target="/ppt/slideLayouts/slideLayout1.xml" Id="R478809ab59f54f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8809ab59f54f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96d63aa68b4daa" /><Relationship Type="http://schemas.openxmlformats.org/officeDocument/2006/relationships/notesSlide" Target="/ppt/notesSlides/notesSlide1.xml" Id="R782c9db8de0848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745b5112ab4e5b" /><Relationship Type="http://schemas.openxmlformats.org/officeDocument/2006/relationships/notesSlide" Target="/ppt/notesSlides/notesSlide2.xml" Id="R99c27c043c5c4e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b169ce94ee478c" /><Relationship Type="http://schemas.openxmlformats.org/officeDocument/2006/relationships/notesSlide" Target="/ppt/notesSlides/notesSlide3.xml" Id="R40fd27e385ec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6eb8dc3a36466b" /><Relationship Type="http://schemas.openxmlformats.org/officeDocument/2006/relationships/image" Target="/ppt/media/image.png" Id="R5308ad4a4a6a441a" /><Relationship Type="http://schemas.openxmlformats.org/officeDocument/2006/relationships/notesSlide" Target="/ppt/notesSlides/notesSlide4.xml" Id="Rd549d286fb3343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636a020a1941b1" /><Relationship Type="http://schemas.openxmlformats.org/officeDocument/2006/relationships/notesSlide" Target="/ppt/notesSlides/notesSlide5.xml" Id="R3ca5d03c874c44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7f36a7ad754c51" /><Relationship Type="http://schemas.openxmlformats.org/officeDocument/2006/relationships/notesSlide" Target="/ppt/notesSlides/notesSlide6.xml" Id="Rfac5be696acd42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56af4a0b17443b" /><Relationship Type="http://schemas.openxmlformats.org/officeDocument/2006/relationships/notesSlide" Target="/ppt/notesSlides/notesSlide7.xml" Id="R2ca5a504d32144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6992a3016c44f1" /><Relationship Type="http://schemas.openxmlformats.org/officeDocument/2006/relationships/notesSlide" Target="/ppt/notesSlides/notesSlide8.xml" Id="R0772df29901349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c6707730b943ff" /><Relationship Type="http://schemas.openxmlformats.org/officeDocument/2006/relationships/notesSlide" Target="/ppt/notesSlides/notesSlide9.xml" Id="Rbd77b79161dd48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929c1a536b4fee" /><Relationship Type="http://schemas.openxmlformats.org/officeDocument/2006/relationships/notesSlide" Target="/ppt/notesSlides/notesSlide10.xml" Id="R2d91c7ba78fe43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52fd53d9bb4f84" /><Relationship Type="http://schemas.openxmlformats.org/officeDocument/2006/relationships/notesSlide" Target="/ppt/notesSlides/notesSlide11.xml" Id="Rbd8903c3e6c04f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33c8d6438e45af" /><Relationship Type="http://schemas.openxmlformats.org/officeDocument/2006/relationships/notesSlide" Target="/ppt/notesSlides/notesSlide12.xml" Id="R9527f9b16e394a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27c22d824a4973" /><Relationship Type="http://schemas.openxmlformats.org/officeDocument/2006/relationships/notesSlide" Target="/ppt/notesSlides/notesSlide13.xml" Id="Rbb415f8dad064c36" /></Relationships>
</file>

<file path=ppt/slides/slide1.xml><?xml version="1.0" encoding="utf-8"?>
<p:sld xmlns:p="http://schemas.openxmlformats.org/presentationml/2006/main">
  <p:cSld>
    <p:bg>
      <p:bgPr>
        <a:solidFill xmlns:a="http://schemas.openxmlformats.org/drawingml/2006/main">
          <a:srgbClr val="23293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D8EAFF-F22C-44F5-8F3E-6DDBFC4E6373}"/>
              </a:ext>
            </a:extLst>
          </p:cNvPr>
          <p:cNvSpPr>
            <a:spLocks xmlns:a="http://schemas.openxmlformats.org/drawingml/2006/main" noGrp="1"/>
          </p:cNvSpPr>
          <p:nvPr/>
        </p:nvSpPr>
        <p:spPr>
          <a:xfrm xmlns:a="http://schemas.openxmlformats.org/drawingml/2006/main">
            <a:off x="8715375" y="-1524000"/>
            <a:ext cx="4191000" cy="4191000"/>
          </a:xfrm>
          <a:prstGeom xmlns:a="http://schemas.openxmlformats.org/drawingml/2006/main" prst="ellipse">
            <a:avLst/>
          </a:prstGeom>
          <a:solidFill xmlns:a="http://schemas.openxmlformats.org/drawingml/2006/main">
            <a:srgbClr val="30384A"/>
          </a:solidFill>
          <a:ln xmlns:a="http://schemas.openxmlformats.org/drawingml/2006/main" w="0">
            <a:solidFill>
              <a:srgbClr val="30384A"/>
            </a:solidFill>
            <a:prstDash val="solid"/>
          </a:ln>
        </p:spPr>
      </p:sp>
      <p:sp>
        <p:nvSpPr>
          <p:cNvPr id="2" name="">
            <a:extLst xmlns:a="http://schemas.openxmlformats.org/drawingml/2006/main">
              <a:ext uri="{FF2B5EF4-FFF2-40B4-BE49-F238E27FC236}">
                <a16:creationId xmlns:a16="http://schemas.microsoft.com/office/drawing/2014/main" id="{2A245BBC-FBB4-4B1D-B337-FCC4229A38B2}"/>
              </a:ext>
            </a:extLst>
          </p:cNvPr>
          <p:cNvSpPr>
            <a:spLocks xmlns:a="http://schemas.openxmlformats.org/drawingml/2006/main" noGrp="1"/>
          </p:cNvSpPr>
          <p:nvPr/>
        </p:nvSpPr>
        <p:spPr>
          <a:xfrm xmlns:a="http://schemas.openxmlformats.org/drawingml/2006/main">
            <a:off x="-1047750" y="4476750"/>
            <a:ext cx="2857500" cy="2857500"/>
          </a:xfrm>
          <a:prstGeom xmlns:a="http://schemas.openxmlformats.org/drawingml/2006/main" prst="ellipse">
            <a:avLst/>
          </a:prstGeom>
          <a:solidFill xmlns:a="http://schemas.openxmlformats.org/drawingml/2006/main">
            <a:srgbClr val="2B3241"/>
          </a:solidFill>
          <a:ln xmlns:a="http://schemas.openxmlformats.org/drawingml/2006/main" w="0">
            <a:solidFill>
              <a:srgbClr val="2B3241"/>
            </a:solidFill>
            <a:prstDash val="solid"/>
          </a:ln>
        </p:spPr>
      </p:sp>
      <p:sp>
        <p:nvSpPr>
          <p:cNvPr id="3" name="">
            <a:extLst xmlns:a="http://schemas.openxmlformats.org/drawingml/2006/main">
              <a:ext uri="{FF2B5EF4-FFF2-40B4-BE49-F238E27FC236}">
                <a16:creationId xmlns:a16="http://schemas.microsoft.com/office/drawing/2014/main" id="{DF011BAA-790B-4D6E-8163-DF7613892A21}"/>
              </a:ext>
            </a:extLst>
          </p:cNvPr>
          <p:cNvSpPr>
            <a:spLocks xmlns:a="http://schemas.openxmlformats.org/drawingml/2006/main" noGrp="1"/>
          </p:cNvSpPr>
          <p:nvPr/>
        </p:nvSpPr>
        <p:spPr>
          <a:xfrm xmlns:a="http://schemas.openxmlformats.org/drawingml/2006/main">
            <a:off x="819150" y="819150"/>
            <a:ext cx="228600" cy="2286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4" name="">
            <a:extLst xmlns:a="http://schemas.openxmlformats.org/drawingml/2006/main">
              <a:ext uri="{FF2B5EF4-FFF2-40B4-BE49-F238E27FC236}">
                <a16:creationId xmlns:a16="http://schemas.microsoft.com/office/drawing/2014/main" id="{3E9F8945-CEA3-4CAF-83CF-17766F7EAD75}"/>
              </a:ext>
            </a:extLst>
          </p:cNvPr>
          <p:cNvSpPr>
            <a:spLocks xmlns:a="http://schemas.openxmlformats.org/drawingml/2006/main" noGrp="1"/>
          </p:cNvSpPr>
          <p:nvPr/>
        </p:nvSpPr>
        <p:spPr>
          <a:xfrm xmlns:a="http://schemas.openxmlformats.org/drawingml/2006/main">
            <a:off x="800100" y="5962650"/>
            <a:ext cx="10591800" cy="9525"/>
          </a:xfrm>
          <a:prstGeom xmlns:a="http://schemas.openxmlformats.org/drawingml/2006/main" prst="rect">
            <a:avLst/>
          </a:prstGeom>
          <a:solidFill xmlns:a="http://schemas.openxmlformats.org/drawingml/2006/main">
            <a:srgbClr val="465067"/>
          </a:solidFill>
          <a:ln xmlns:a="http://schemas.openxmlformats.org/drawingml/2006/main" w="0">
            <a:solidFill>
              <a:srgbClr val="465067"/>
            </a:solidFill>
            <a:prstDash val="solid"/>
          </a:ln>
        </p:spPr>
      </p:sp>
      <p:sp>
        <p:nvSpPr>
          <p:cNvPr id="5" name="">
            <a:extLst xmlns:a="http://schemas.openxmlformats.org/drawingml/2006/main">
              <a:ext uri="{FF2B5EF4-FFF2-40B4-BE49-F238E27FC236}">
                <a16:creationId xmlns:a16="http://schemas.microsoft.com/office/drawing/2014/main" id="{AD94C181-286B-4872-8119-76729D731A99}"/>
              </a:ext>
            </a:extLst>
          </p:cNvPr>
          <p:cNvSpPr>
            <a:spLocks xmlns:a="http://schemas.openxmlformats.org/drawingml/2006/main" noGrp="1"/>
          </p:cNvSpPr>
          <p:nvPr/>
        </p:nvSpPr>
        <p:spPr>
          <a:xfrm xmlns:a="http://schemas.openxmlformats.org/drawingml/2006/main">
            <a:off x="1219200" y="781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D7A792"/>
                </a:solidFill>
                <a:latin typeface="Times New Roman"/>
                <a:ea typeface="Times New Roman"/>
                <a:cs typeface="Times New Roman"/>
              </a:defRPr>
            </a:pPr>
            <a:r>
              <a:rPr sz="1125" b="1" i="0">
                <a:solidFill>
                  <a:srgbClr val="D7A792"/>
                </a:solidFill>
                <a:latin typeface="Times New Roman"/>
                <a:ea typeface="Times New Roman"/>
                <a:cs typeface="Times New Roman"/>
              </a:rPr>
              <a:t>PAPER 1</a:t>
            </a:r>
          </a:p>
        </p:txBody>
      </p:sp>
      <p:sp>
        <p:nvSpPr>
          <p:cNvPr id="6" name="">
            <a:extLst xmlns:a="http://schemas.openxmlformats.org/drawingml/2006/main">
              <a:ext uri="{FF2B5EF4-FFF2-40B4-BE49-F238E27FC236}">
                <a16:creationId xmlns:a16="http://schemas.microsoft.com/office/drawing/2014/main" id="{4960D891-149B-4900-B70D-BFDF8B7216EF}"/>
              </a:ext>
            </a:extLst>
          </p:cNvPr>
          <p:cNvSpPr>
            <a:spLocks xmlns:a="http://schemas.openxmlformats.org/drawingml/2006/main" noGrp="1"/>
          </p:cNvSpPr>
          <p:nvPr/>
        </p:nvSpPr>
        <p:spPr>
          <a:xfrm xmlns:a="http://schemas.openxmlformats.org/drawingml/2006/main">
            <a:off x="1219200" y="1371600"/>
            <a:ext cx="933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F8F2E9"/>
                </a:solidFill>
                <a:latin typeface="Times New Roman"/>
                <a:ea typeface="Times New Roman"/>
                <a:cs typeface="Times New Roman"/>
              </a:defRPr>
            </a:pPr>
            <a:r>
              <a:rPr sz="3000" b="1" i="0">
                <a:solidFill>
                  <a:srgbClr val="F8F2E9"/>
                </a:solidFill>
                <a:latin typeface="Times New Roman"/>
                <a:ea typeface="Times New Roman"/>
                <a:cs typeface="Times New Roman"/>
              </a:rPr>
              <a:t>Algorithmic Authority and Information Calibration</a:t>
            </a:r>
          </a:p>
        </p:txBody>
      </p:sp>
      <p:sp>
        <p:nvSpPr>
          <p:cNvPr id="7" name="">
            <a:extLst xmlns:a="http://schemas.openxmlformats.org/drawingml/2006/main">
              <a:ext uri="{FF2B5EF4-FFF2-40B4-BE49-F238E27FC236}">
                <a16:creationId xmlns:a16="http://schemas.microsoft.com/office/drawing/2014/main" id="{B604AAC7-347C-4486-B5A4-35DC7B70F47A}"/>
              </a:ext>
            </a:extLst>
          </p:cNvPr>
          <p:cNvSpPr>
            <a:spLocks xmlns:a="http://schemas.openxmlformats.org/drawingml/2006/main" noGrp="1"/>
          </p:cNvSpPr>
          <p:nvPr/>
        </p:nvSpPr>
        <p:spPr>
          <a:xfrm xmlns:a="http://schemas.openxmlformats.org/drawingml/2006/main">
            <a:off x="1219200" y="2190750"/>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D8DCE6"/>
                </a:solidFill>
                <a:latin typeface="Times New Roman"/>
                <a:ea typeface="Times New Roman"/>
                <a:cs typeface="Times New Roman"/>
              </a:defRPr>
            </a:pPr>
            <a:r>
              <a:rPr sz="1650" b="0" i="0">
                <a:solidFill>
                  <a:srgbClr val="D8DCE6"/>
                </a:solidFill>
                <a:latin typeface="Times New Roman"/>
                <a:ea typeface="Times New Roman"/>
                <a:cs typeface="Times New Roman"/>
              </a:rPr>
              <a:t>How generative AI changes additional search and belief updating under uncertainty</a:t>
            </a:r>
          </a:p>
        </p:txBody>
      </p:sp>
      <p:sp>
        <p:nvSpPr>
          <p:cNvPr id="8" name="">
            <a:extLst xmlns:a="http://schemas.openxmlformats.org/drawingml/2006/main">
              <a:ext uri="{FF2B5EF4-FFF2-40B4-BE49-F238E27FC236}">
                <a16:creationId xmlns:a16="http://schemas.microsoft.com/office/drawing/2014/main" id="{67177C3E-D047-4477-A9F4-E7939A96A49B}"/>
              </a:ext>
            </a:extLst>
          </p:cNvPr>
          <p:cNvSpPr>
            <a:spLocks xmlns:a="http://schemas.openxmlformats.org/drawingml/2006/main" noGrp="1"/>
          </p:cNvSpPr>
          <p:nvPr/>
        </p:nvSpPr>
        <p:spPr>
          <a:xfrm xmlns:a="http://schemas.openxmlformats.org/drawingml/2006/main">
            <a:off x="1219200" y="3390900"/>
            <a:ext cx="4038600" cy="1371600"/>
          </a:xfrm>
          <a:prstGeom xmlns:a="http://schemas.openxmlformats.org/drawingml/2006/main" prst="roundRect">
            <a:avLst>
              <a:gd name="adj" fmla="val 5556"/>
            </a:avLst>
          </a:prstGeom>
          <a:solidFill xmlns:a="http://schemas.openxmlformats.org/drawingml/2006/main">
            <a:srgbClr val="2E3648"/>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7F95E7EB-378A-4D65-867E-03C030FE1C70}"/>
              </a:ext>
            </a:extLst>
          </p:cNvPr>
          <p:cNvSpPr>
            <a:spLocks xmlns:a="http://schemas.openxmlformats.org/drawingml/2006/main" noGrp="1"/>
          </p:cNvSpPr>
          <p:nvPr/>
        </p:nvSpPr>
        <p:spPr>
          <a:xfrm xmlns:a="http://schemas.openxmlformats.org/drawingml/2006/main">
            <a:off x="1219200" y="3390900"/>
            <a:ext cx="57150" cy="13716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7610BB9A-E56A-4C68-B67A-C9846E10C90E}"/>
              </a:ext>
            </a:extLst>
          </p:cNvPr>
          <p:cNvSpPr>
            <a:spLocks xmlns:a="http://schemas.openxmlformats.org/drawingml/2006/main" noGrp="1"/>
          </p:cNvSpPr>
          <p:nvPr/>
        </p:nvSpPr>
        <p:spPr>
          <a:xfrm xmlns:a="http://schemas.openxmlformats.org/drawingml/2006/main">
            <a:off x="1390650" y="3505200"/>
            <a:ext cx="3752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F8F2E9"/>
                </a:solidFill>
                <a:latin typeface="Times New Roman"/>
                <a:ea typeface="Times New Roman"/>
                <a:cs typeface="Times New Roman"/>
              </a:defRPr>
            </a:pPr>
            <a:r>
              <a:rPr sz="1650" b="1" i="0">
                <a:solidFill>
                  <a:srgbClr val="F8F2E9"/>
                </a:solidFill>
                <a:latin typeface="Times New Roman"/>
                <a:ea typeface="Times New Roman"/>
                <a:cs typeface="Times New Roman"/>
              </a:rPr>
              <a:t>Problem shift</a:t>
            </a:r>
          </a:p>
        </p:txBody>
      </p:sp>
      <p:sp>
        <p:nvSpPr>
          <p:cNvPr id="11" name="">
            <a:extLst xmlns:a="http://schemas.openxmlformats.org/drawingml/2006/main">
              <a:ext uri="{FF2B5EF4-FFF2-40B4-BE49-F238E27FC236}">
                <a16:creationId xmlns:a16="http://schemas.microsoft.com/office/drawing/2014/main" id="{B7514817-3E7D-4039-9737-36510AB5F30B}"/>
              </a:ext>
            </a:extLst>
          </p:cNvPr>
          <p:cNvSpPr>
            <a:spLocks xmlns:a="http://schemas.openxmlformats.org/drawingml/2006/main" noGrp="1"/>
          </p:cNvSpPr>
          <p:nvPr/>
        </p:nvSpPr>
        <p:spPr>
          <a:xfrm xmlns:a="http://schemas.openxmlformats.org/drawingml/2006/main">
            <a:off x="1390650" y="3848100"/>
            <a:ext cx="3752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D8DCE6"/>
                </a:solidFill>
                <a:latin typeface="Times New Roman"/>
                <a:ea typeface="Times New Roman"/>
                <a:cs typeface="Times New Roman"/>
              </a:defRPr>
            </a:pPr>
            <a:r>
              <a:rPr sz="1275" b="0" i="0">
                <a:solidFill>
                  <a:srgbClr val="D8DCE6"/>
                </a:solidFill>
                <a:latin typeface="Times New Roman"/>
                <a:ea typeface="Times New Roman"/>
                <a:cs typeface="Times New Roman"/>
              </a:rPr>
              <a:t>The question is not only what answer AI gives. The question is whether AI changes when people feel ready to stop looking for more evidence.</a:t>
            </a:r>
          </a:p>
        </p:txBody>
      </p:sp>
      <p:sp>
        <p:nvSpPr>
          <p:cNvPr id="12" name="">
            <a:extLst xmlns:a="http://schemas.openxmlformats.org/drawingml/2006/main">
              <a:ext uri="{FF2B5EF4-FFF2-40B4-BE49-F238E27FC236}">
                <a16:creationId xmlns:a16="http://schemas.microsoft.com/office/drawing/2014/main" id="{B3D38CAA-2B6D-45AA-B9C1-069E76B75ACF}"/>
              </a:ext>
            </a:extLst>
          </p:cNvPr>
          <p:cNvSpPr>
            <a:spLocks xmlns:a="http://schemas.openxmlformats.org/drawingml/2006/main" noGrp="1"/>
          </p:cNvSpPr>
          <p:nvPr/>
        </p:nvSpPr>
        <p:spPr>
          <a:xfrm xmlns:a="http://schemas.openxmlformats.org/drawingml/2006/main">
            <a:off x="5543550" y="3390900"/>
            <a:ext cx="5486400" cy="1371600"/>
          </a:xfrm>
          <a:prstGeom xmlns:a="http://schemas.openxmlformats.org/drawingml/2006/main" prst="roundRect">
            <a:avLst>
              <a:gd name="adj" fmla="val 5556"/>
            </a:avLst>
          </a:prstGeom>
          <a:solidFill xmlns:a="http://schemas.openxmlformats.org/drawingml/2006/main">
            <a:srgbClr val="2E3648"/>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37763291-05A7-443D-BFFE-A244EA20783C}"/>
              </a:ext>
            </a:extLst>
          </p:cNvPr>
          <p:cNvSpPr>
            <a:spLocks xmlns:a="http://schemas.openxmlformats.org/drawingml/2006/main" noGrp="1"/>
          </p:cNvSpPr>
          <p:nvPr/>
        </p:nvSpPr>
        <p:spPr>
          <a:xfrm xmlns:a="http://schemas.openxmlformats.org/drawingml/2006/main">
            <a:off x="5543550" y="3390900"/>
            <a:ext cx="57150" cy="13716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E6A664B3-7D4B-4AD3-AB45-0BBC76CF4FD4}"/>
              </a:ext>
            </a:extLst>
          </p:cNvPr>
          <p:cNvSpPr>
            <a:spLocks xmlns:a="http://schemas.openxmlformats.org/drawingml/2006/main" noGrp="1"/>
          </p:cNvSpPr>
          <p:nvPr/>
        </p:nvSpPr>
        <p:spPr>
          <a:xfrm xmlns:a="http://schemas.openxmlformats.org/drawingml/2006/main">
            <a:off x="5715000" y="3505200"/>
            <a:ext cx="520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F8F2E9"/>
                </a:solidFill>
                <a:latin typeface="Times New Roman"/>
                <a:ea typeface="Times New Roman"/>
                <a:cs typeface="Times New Roman"/>
              </a:defRPr>
            </a:pPr>
            <a:r>
              <a:rPr sz="1650" b="1" i="0">
                <a:solidFill>
                  <a:srgbClr val="F8F2E9"/>
                </a:solidFill>
                <a:latin typeface="Times New Roman"/>
                <a:ea typeface="Times New Roman"/>
                <a:cs typeface="Times New Roman"/>
              </a:rPr>
              <a:t>Dissertation position</a:t>
            </a:r>
          </a:p>
        </p:txBody>
      </p:sp>
      <p:sp>
        <p:nvSpPr>
          <p:cNvPr id="15" name="">
            <a:extLst xmlns:a="http://schemas.openxmlformats.org/drawingml/2006/main">
              <a:ext uri="{FF2B5EF4-FFF2-40B4-BE49-F238E27FC236}">
                <a16:creationId xmlns:a16="http://schemas.microsoft.com/office/drawing/2014/main" id="{FB2FD02E-19CD-4882-9CA1-CE0001992961}"/>
              </a:ext>
            </a:extLst>
          </p:cNvPr>
          <p:cNvSpPr>
            <a:spLocks xmlns:a="http://schemas.openxmlformats.org/drawingml/2006/main" noGrp="1"/>
          </p:cNvSpPr>
          <p:nvPr/>
        </p:nvSpPr>
        <p:spPr>
          <a:xfrm xmlns:a="http://schemas.openxmlformats.org/drawingml/2006/main">
            <a:off x="5715000" y="3848100"/>
            <a:ext cx="5200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D8DCE6"/>
                </a:solidFill>
                <a:latin typeface="Times New Roman"/>
                <a:ea typeface="Times New Roman"/>
                <a:cs typeface="Times New Roman"/>
              </a:defRPr>
            </a:pPr>
            <a:r>
              <a:rPr sz="1275" b="0" i="0">
                <a:solidFill>
                  <a:srgbClr val="D8DCE6"/>
                </a:solidFill>
                <a:latin typeface="Times New Roman"/>
                <a:ea typeface="Times New Roman"/>
                <a:cs typeface="Times New Roman"/>
              </a:rPr>
              <a:t>Paper 1 studies the first link in the broader chain: how AI reshapes the move from evidence to belief.</a:t>
            </a:r>
          </a:p>
        </p:txBody>
      </p:sp>
      <p:sp>
        <p:nvSpPr>
          <p:cNvPr id="16" name="">
            <a:extLst xmlns:a="http://schemas.openxmlformats.org/drawingml/2006/main">
              <a:ext uri="{FF2B5EF4-FFF2-40B4-BE49-F238E27FC236}">
                <a16:creationId xmlns:a16="http://schemas.microsoft.com/office/drawing/2014/main" id="{585EFC56-12E4-4BF5-BBBF-41F76D3030D8}"/>
              </a:ext>
            </a:extLst>
          </p:cNvPr>
          <p:cNvSpPr>
            <a:spLocks xmlns:a="http://schemas.openxmlformats.org/drawingml/2006/main" noGrp="1"/>
          </p:cNvSpPr>
          <p:nvPr/>
        </p:nvSpPr>
        <p:spPr>
          <a:xfrm xmlns:a="http://schemas.openxmlformats.org/drawingml/2006/main">
            <a:off x="1257300" y="615315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1">
                <a:solidFill>
                  <a:srgbClr val="D8DCE6"/>
                </a:solidFill>
                <a:latin typeface="Times New Roman"/>
                <a:ea typeface="Times New Roman"/>
                <a:cs typeface="Times New Roman"/>
              </a:defRPr>
            </a:pPr>
            <a:r>
              <a:rPr sz="1125" b="0" i="1">
                <a:solidFill>
                  <a:srgbClr val="D8DCE6"/>
                </a:solidFill>
                <a:latin typeface="Times New Roman"/>
                <a:ea typeface="Times New Roman"/>
                <a:cs typeface="Times New Roman"/>
              </a:rPr>
              <a:t>Belief formation -&gt; reliance calibration -&gt; responsibility</a:t>
            </a:r>
          </a:p>
        </p:txBody>
      </p:sp>
    </p:spTree>
    <p:extLst>
      <p:ext uri="{BB962C8B-B14F-4D97-AF65-F5344CB8AC3E}">
        <p14:creationId xmlns:p14="http://schemas.microsoft.com/office/powerpoint/2010/main" val="1768588250"/>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0BA122-2A4A-4DA9-8E90-DD8B03315DAF}"/>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29A2C943-ED15-46E7-A1A0-2FBABE76BAEF}"/>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E75CD1C3-FDDB-4159-AEA5-CED03F42288D}"/>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04E2D40F-0E2A-427F-94E9-8CEA21B3F01D}"/>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2015A4E7-D5B2-4FDC-930E-18B9E3071D34}"/>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CONCRETE EXAMPLE</a:t>
            </a:r>
          </a:p>
        </p:txBody>
      </p:sp>
      <p:sp>
        <p:nvSpPr>
          <p:cNvPr id="6" name="">
            <a:extLst xmlns:a="http://schemas.openxmlformats.org/drawingml/2006/main">
              <a:ext uri="{FF2B5EF4-FFF2-40B4-BE49-F238E27FC236}">
                <a16:creationId xmlns:a16="http://schemas.microsoft.com/office/drawing/2014/main" id="{0EC1583A-AA22-44C4-8FF1-06A22C3BC0AE}"/>
              </a:ext>
            </a:extLst>
          </p:cNvPr>
          <p:cNvSpPr>
            <a:spLocks xmlns:a="http://schemas.openxmlformats.org/drawingml/2006/main" noGrp="1"/>
          </p:cNvSpPr>
          <p:nvPr/>
        </p:nvSpPr>
        <p:spPr>
          <a:xfrm xmlns:a="http://schemas.openxmlformats.org/drawingml/2006/main">
            <a:off x="914400" y="914400"/>
            <a:ext cx="1028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75" b="1" i="0">
                <a:solidFill>
                  <a:srgbClr val="1E2433"/>
                </a:solidFill>
                <a:latin typeface="Times New Roman"/>
                <a:ea typeface="Times New Roman"/>
                <a:cs typeface="Times New Roman"/>
              </a:defRPr>
            </a:pPr>
            <a:r>
              <a:rPr sz="2475" b="1" i="0">
                <a:solidFill>
                  <a:srgbClr val="1E2433"/>
                </a:solidFill>
                <a:latin typeface="Times New Roman"/>
                <a:ea typeface="Times New Roman"/>
                <a:cs typeface="Times New Roman"/>
              </a:rPr>
              <a:t>Search engines ask for evidence first, but AI assistants answer first</a:t>
            </a:r>
          </a:p>
        </p:txBody>
      </p:sp>
      <p:sp>
        <p:nvSpPr>
          <p:cNvPr id="7" name="">
            <a:extLst xmlns:a="http://schemas.openxmlformats.org/drawingml/2006/main">
              <a:ext uri="{FF2B5EF4-FFF2-40B4-BE49-F238E27FC236}">
                <a16:creationId xmlns:a16="http://schemas.microsoft.com/office/drawing/2014/main" id="{B96BD3E0-ADBE-4A0C-961F-3D73DA535F0D}"/>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basic reversal is not only about speed. It changes the user's sense of whether more search is still worth doing.</a:t>
            </a:r>
          </a:p>
        </p:txBody>
      </p:sp>
      <p:sp>
        <p:nvSpPr>
          <p:cNvPr id="8" name="">
            <a:extLst xmlns:a="http://schemas.openxmlformats.org/drawingml/2006/main">
              <a:ext uri="{FF2B5EF4-FFF2-40B4-BE49-F238E27FC236}">
                <a16:creationId xmlns:a16="http://schemas.microsoft.com/office/drawing/2014/main" id="{D8C38BB9-BE20-421B-9351-7739BF342A91}"/>
              </a:ext>
            </a:extLst>
          </p:cNvPr>
          <p:cNvSpPr>
            <a:spLocks xmlns:a="http://schemas.openxmlformats.org/drawingml/2006/main" noGrp="1"/>
          </p:cNvSpPr>
          <p:nvPr/>
        </p:nvSpPr>
        <p:spPr>
          <a:xfrm xmlns:a="http://schemas.openxmlformats.org/drawingml/2006/main">
            <a:off x="914400" y="2190750"/>
            <a:ext cx="4762500" cy="3048000"/>
          </a:xfrm>
          <a:prstGeom xmlns:a="http://schemas.openxmlformats.org/drawingml/2006/main" prst="roundRect">
            <a:avLst>
              <a:gd name="adj" fmla="val 2500"/>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97869C28-E11A-42CF-8A5F-78DE9F1B6A0B}"/>
              </a:ext>
            </a:extLst>
          </p:cNvPr>
          <p:cNvSpPr>
            <a:spLocks xmlns:a="http://schemas.openxmlformats.org/drawingml/2006/main" noGrp="1"/>
          </p:cNvSpPr>
          <p:nvPr/>
        </p:nvSpPr>
        <p:spPr>
          <a:xfrm xmlns:a="http://schemas.openxmlformats.org/drawingml/2006/main">
            <a:off x="914400" y="2190750"/>
            <a:ext cx="57150" cy="304800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EB2518C2-E546-42F5-BC40-B5C40951A5A7}"/>
              </a:ext>
            </a:extLst>
          </p:cNvPr>
          <p:cNvSpPr>
            <a:spLocks xmlns:a="http://schemas.openxmlformats.org/drawingml/2006/main" noGrp="1"/>
          </p:cNvSpPr>
          <p:nvPr/>
        </p:nvSpPr>
        <p:spPr>
          <a:xfrm xmlns:a="http://schemas.openxmlformats.org/drawingml/2006/main">
            <a:off x="1085850" y="23050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E2433"/>
                </a:solidFill>
                <a:latin typeface="Times New Roman"/>
                <a:ea typeface="Times New Roman"/>
                <a:cs typeface="Times New Roman"/>
              </a:defRPr>
            </a:pPr>
            <a:r>
              <a:rPr sz="2100" b="1" i="0">
                <a:solidFill>
                  <a:srgbClr val="1E2433"/>
                </a:solidFill>
                <a:latin typeface="Times New Roman"/>
                <a:ea typeface="Times New Roman"/>
                <a:cs typeface="Times New Roman"/>
              </a:rPr>
              <a:t>Search engine logic</a:t>
            </a:r>
          </a:p>
        </p:txBody>
      </p:sp>
      <p:sp>
        <p:nvSpPr>
          <p:cNvPr id="11" name="">
            <a:extLst xmlns:a="http://schemas.openxmlformats.org/drawingml/2006/main">
              <a:ext uri="{FF2B5EF4-FFF2-40B4-BE49-F238E27FC236}">
                <a16:creationId xmlns:a16="http://schemas.microsoft.com/office/drawing/2014/main" id="{1E5F1DBC-917C-45A3-B520-4350C4D2355A}"/>
              </a:ext>
            </a:extLst>
          </p:cNvPr>
          <p:cNvSpPr>
            <a:spLocks xmlns:a="http://schemas.openxmlformats.org/drawingml/2006/main" noGrp="1"/>
          </p:cNvSpPr>
          <p:nvPr/>
        </p:nvSpPr>
        <p:spPr>
          <a:xfrm xmlns:a="http://schemas.openxmlformats.org/drawingml/2006/main">
            <a:off x="1085850" y="264795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Source 1</a:t>
            </a:r>
          </a:p>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Source 2</a:t>
            </a:r>
          </a:p>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Source 3</a:t>
            </a:r>
          </a:p>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Source 4</a:t>
            </a:r>
          </a:p>
          <a:p xmlns:a="http://schemas.openxmlformats.org/drawingml/2006/main">
            <a:r>
              <a:t/>
            </a:r>
          </a:p>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The user opens links, compares sources, notices conflict, and then forms a judgment.</a:t>
            </a:r>
          </a:p>
          <a:p xmlns:a="http://schemas.openxmlformats.org/drawingml/2006/main">
            <a:r>
              <a:t/>
            </a:r>
          </a:p>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Evidence first -&gt; interpretation later</a:t>
            </a:r>
          </a:p>
        </p:txBody>
      </p:sp>
      <p:sp>
        <p:nvSpPr>
          <p:cNvPr id="12" name="">
            <a:extLst xmlns:a="http://schemas.openxmlformats.org/drawingml/2006/main">
              <a:ext uri="{FF2B5EF4-FFF2-40B4-BE49-F238E27FC236}">
                <a16:creationId xmlns:a16="http://schemas.microsoft.com/office/drawing/2014/main" id="{A588A58D-514D-4BD1-BB67-1330E7ABBF3F}"/>
              </a:ext>
            </a:extLst>
          </p:cNvPr>
          <p:cNvSpPr>
            <a:spLocks xmlns:a="http://schemas.openxmlformats.org/drawingml/2006/main" noGrp="1"/>
          </p:cNvSpPr>
          <p:nvPr/>
        </p:nvSpPr>
        <p:spPr>
          <a:xfrm xmlns:a="http://schemas.openxmlformats.org/drawingml/2006/main">
            <a:off x="6477000" y="2190750"/>
            <a:ext cx="4724400" cy="3048000"/>
          </a:xfrm>
          <a:prstGeom xmlns:a="http://schemas.openxmlformats.org/drawingml/2006/main" prst="roundRect">
            <a:avLst>
              <a:gd name="adj" fmla="val 2500"/>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4B8B97CD-5D59-48BA-B09F-6754B69692BD}"/>
              </a:ext>
            </a:extLst>
          </p:cNvPr>
          <p:cNvSpPr>
            <a:spLocks xmlns:a="http://schemas.openxmlformats.org/drawingml/2006/main" noGrp="1"/>
          </p:cNvSpPr>
          <p:nvPr/>
        </p:nvSpPr>
        <p:spPr>
          <a:xfrm xmlns:a="http://schemas.openxmlformats.org/drawingml/2006/main">
            <a:off x="6477000" y="2190750"/>
            <a:ext cx="57150" cy="30480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25E9DE2F-B44F-42FC-BB74-4187CB2E968F}"/>
              </a:ext>
            </a:extLst>
          </p:cNvPr>
          <p:cNvSpPr>
            <a:spLocks xmlns:a="http://schemas.openxmlformats.org/drawingml/2006/main" noGrp="1"/>
          </p:cNvSpPr>
          <p:nvPr/>
        </p:nvSpPr>
        <p:spPr>
          <a:xfrm xmlns:a="http://schemas.openxmlformats.org/drawingml/2006/main">
            <a:off x="6648450" y="2305050"/>
            <a:ext cx="443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E2433"/>
                </a:solidFill>
                <a:latin typeface="Times New Roman"/>
                <a:ea typeface="Times New Roman"/>
                <a:cs typeface="Times New Roman"/>
              </a:defRPr>
            </a:pPr>
            <a:r>
              <a:rPr sz="2100" b="1" i="0">
                <a:solidFill>
                  <a:srgbClr val="1E2433"/>
                </a:solidFill>
                <a:latin typeface="Times New Roman"/>
                <a:ea typeface="Times New Roman"/>
                <a:cs typeface="Times New Roman"/>
              </a:rPr>
              <a:t>AI assistant logic</a:t>
            </a:r>
          </a:p>
        </p:txBody>
      </p:sp>
      <p:sp>
        <p:nvSpPr>
          <p:cNvPr id="15" name="">
            <a:extLst xmlns:a="http://schemas.openxmlformats.org/drawingml/2006/main">
              <a:ext uri="{FF2B5EF4-FFF2-40B4-BE49-F238E27FC236}">
                <a16:creationId xmlns:a16="http://schemas.microsoft.com/office/drawing/2014/main" id="{88FDC5EA-E9D3-43FD-9F91-995C3074EA47}"/>
              </a:ext>
            </a:extLst>
          </p:cNvPr>
          <p:cNvSpPr>
            <a:spLocks xmlns:a="http://schemas.openxmlformats.org/drawingml/2006/main" noGrp="1"/>
          </p:cNvSpPr>
          <p:nvPr/>
        </p:nvSpPr>
        <p:spPr>
          <a:xfrm xmlns:a="http://schemas.openxmlformats.org/drawingml/2006/main">
            <a:off x="6648450" y="2647950"/>
            <a:ext cx="44386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A summarized definition</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A coherent explanation</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A worked example</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A ready-made conclusion</a:t>
            </a:r>
          </a:p>
          <a:p xmlns:a="http://schemas.openxmlformats.org/drawingml/2006/main">
            <a:r>
              <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user first receives an interpreted answer and only later decides whether to verify it.</a:t>
            </a:r>
          </a:p>
          <a:p xmlns:a="http://schemas.openxmlformats.org/drawingml/2006/main">
            <a:r>
              <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Interpreted answer first -&gt; optional verification later</a:t>
            </a:r>
          </a:p>
        </p:txBody>
      </p:sp>
      <p:sp>
        <p:nvSpPr>
          <p:cNvPr id="16" name="">
            <a:extLst xmlns:a="http://schemas.openxmlformats.org/drawingml/2006/main">
              <a:ext uri="{FF2B5EF4-FFF2-40B4-BE49-F238E27FC236}">
                <a16:creationId xmlns:a16="http://schemas.microsoft.com/office/drawing/2014/main" id="{9ABD6B14-AFAE-41C5-A05E-98DF4206DC5A}"/>
              </a:ext>
            </a:extLst>
          </p:cNvPr>
          <p:cNvSpPr>
            <a:spLocks xmlns:a="http://schemas.openxmlformats.org/drawingml/2006/main" noGrp="1"/>
          </p:cNvSpPr>
          <p:nvPr/>
        </p:nvSpPr>
        <p:spPr>
          <a:xfrm xmlns:a="http://schemas.openxmlformats.org/drawingml/2006/main">
            <a:off x="1200150" y="5638800"/>
            <a:ext cx="9791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i="1">
                <a:solidFill>
                  <a:srgbClr val="5E6675"/>
                </a:solidFill>
                <a:latin typeface="Times New Roman"/>
                <a:ea typeface="Times New Roman"/>
                <a:cs typeface="Times New Roman"/>
              </a:defRPr>
            </a:pPr>
            <a:r>
              <a:rPr sz="1425" b="0" i="1">
                <a:solidFill>
                  <a:srgbClr val="5E6675"/>
                </a:solidFill>
                <a:latin typeface="Times New Roman"/>
                <a:ea typeface="Times New Roman"/>
                <a:cs typeface="Times New Roman"/>
              </a:rPr>
              <a:t>The reversal matters because the user may now judge the value of additional evidence through the AI's summary rather than through raw search alone.</a:t>
            </a:r>
          </a:p>
        </p:txBody>
      </p:sp>
    </p:spTree>
    <p:extLst>
      <p:ext uri="{BB962C8B-B14F-4D97-AF65-F5344CB8AC3E}">
        <p14:creationId xmlns:p14="http://schemas.microsoft.com/office/powerpoint/2010/main" val="320067431"/>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59A15A-A3A5-46E5-8400-902C09F55DF3}"/>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6C42121E-156F-4862-BBC4-DAB8614C4CDB}"/>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D55E7FD7-7D22-4806-8024-1B04D95AB6C7}"/>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124C1AE7-1EA7-4386-89F7-B33FE2AC82E7}"/>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A2C506EA-15FB-46F0-9F36-4EA392D0242F}"/>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CORE PROBLEM</a:t>
            </a:r>
          </a:p>
        </p:txBody>
      </p:sp>
      <p:sp>
        <p:nvSpPr>
          <p:cNvPr id="6" name="">
            <a:extLst xmlns:a="http://schemas.openxmlformats.org/drawingml/2006/main">
              <a:ext uri="{FF2B5EF4-FFF2-40B4-BE49-F238E27FC236}">
                <a16:creationId xmlns:a16="http://schemas.microsoft.com/office/drawing/2014/main" id="{49395B76-4CB5-4769-BAE8-1761350E5E8B}"/>
              </a:ext>
            </a:extLst>
          </p:cNvPr>
          <p:cNvSpPr>
            <a:spLocks xmlns:a="http://schemas.openxmlformats.org/drawingml/2006/main" noGrp="1"/>
          </p:cNvSpPr>
          <p:nvPr/>
        </p:nvSpPr>
        <p:spPr>
          <a:xfrm xmlns:a="http://schemas.openxmlformats.org/drawingml/2006/main">
            <a:off x="914400" y="9144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i="0">
                <a:solidFill>
                  <a:srgbClr val="1E2433"/>
                </a:solidFill>
                <a:latin typeface="Times New Roman"/>
                <a:ea typeface="Times New Roman"/>
                <a:cs typeface="Times New Roman"/>
              </a:defRPr>
            </a:pPr>
            <a:r>
              <a:rPr sz="2625" b="1" i="0">
                <a:solidFill>
                  <a:srgbClr val="1E2433"/>
                </a:solidFill>
                <a:latin typeface="Times New Roman"/>
                <a:ea typeface="Times New Roman"/>
                <a:cs typeface="Times New Roman"/>
              </a:rPr>
              <a:t>Less search can mean efficiency or harmful under-search</a:t>
            </a:r>
          </a:p>
        </p:txBody>
      </p:sp>
      <p:sp>
        <p:nvSpPr>
          <p:cNvPr id="7" name="">
            <a:extLst xmlns:a="http://schemas.openxmlformats.org/drawingml/2006/main">
              <a:ext uri="{FF2B5EF4-FFF2-40B4-BE49-F238E27FC236}">
                <a16:creationId xmlns:a16="http://schemas.microsoft.com/office/drawing/2014/main" id="{BDD94DBB-0DB2-42E6-89F4-6653CAAEE13A}"/>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key is not whether search declines. The key is whether judgment quality declines once search declines.</a:t>
            </a:r>
          </a:p>
        </p:txBody>
      </p:sp>
      <p:sp>
        <p:nvSpPr>
          <p:cNvPr id="8" name="">
            <a:extLst xmlns:a="http://schemas.openxmlformats.org/drawingml/2006/main">
              <a:ext uri="{FF2B5EF4-FFF2-40B4-BE49-F238E27FC236}">
                <a16:creationId xmlns:a16="http://schemas.microsoft.com/office/drawing/2014/main" id="{57172189-14BA-465C-BDD9-DBC8471C10CF}"/>
              </a:ext>
            </a:extLst>
          </p:cNvPr>
          <p:cNvSpPr>
            <a:spLocks xmlns:a="http://schemas.openxmlformats.org/drawingml/2006/main" noGrp="1"/>
          </p:cNvSpPr>
          <p:nvPr/>
        </p:nvSpPr>
        <p:spPr>
          <a:xfrm xmlns:a="http://schemas.openxmlformats.org/drawingml/2006/main">
            <a:off x="1485900" y="2362200"/>
            <a:ext cx="4000500" cy="2362200"/>
          </a:xfrm>
          <a:prstGeom xmlns:a="http://schemas.openxmlformats.org/drawingml/2006/main" prst="roundRect">
            <a:avLst>
              <a:gd name="adj" fmla="val 3226"/>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B08FB661-F8CD-4988-B908-1489C724828F}"/>
              </a:ext>
            </a:extLst>
          </p:cNvPr>
          <p:cNvSpPr>
            <a:spLocks xmlns:a="http://schemas.openxmlformats.org/drawingml/2006/main" noGrp="1"/>
          </p:cNvSpPr>
          <p:nvPr/>
        </p:nvSpPr>
        <p:spPr>
          <a:xfrm xmlns:a="http://schemas.openxmlformats.org/drawingml/2006/main">
            <a:off x="1485900" y="2362200"/>
            <a:ext cx="57150" cy="236220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9649244B-1402-4326-84DD-BDBDE4FDFA34}"/>
              </a:ext>
            </a:extLst>
          </p:cNvPr>
          <p:cNvSpPr>
            <a:spLocks xmlns:a="http://schemas.openxmlformats.org/drawingml/2006/main" noGrp="1"/>
          </p:cNvSpPr>
          <p:nvPr/>
        </p:nvSpPr>
        <p:spPr>
          <a:xfrm xmlns:a="http://schemas.openxmlformats.org/drawingml/2006/main">
            <a:off x="1657350" y="24765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i="0">
                <a:solidFill>
                  <a:srgbClr val="1E2433"/>
                </a:solidFill>
                <a:latin typeface="Times New Roman"/>
                <a:ea typeface="Times New Roman"/>
                <a:cs typeface="Times New Roman"/>
              </a:defRPr>
            </a:pPr>
            <a:r>
              <a:rPr sz="1950" b="1" i="0">
                <a:solidFill>
                  <a:srgbClr val="1E2433"/>
                </a:solidFill>
                <a:latin typeface="Times New Roman"/>
                <a:ea typeface="Times New Roman"/>
                <a:cs typeface="Times New Roman"/>
              </a:rPr>
              <a:t>Efficient compression</a:t>
            </a:r>
          </a:p>
        </p:txBody>
      </p:sp>
      <p:sp>
        <p:nvSpPr>
          <p:cNvPr id="11" name="">
            <a:extLst xmlns:a="http://schemas.openxmlformats.org/drawingml/2006/main">
              <a:ext uri="{FF2B5EF4-FFF2-40B4-BE49-F238E27FC236}">
                <a16:creationId xmlns:a16="http://schemas.microsoft.com/office/drawing/2014/main" id="{9BB201E5-7794-4C51-A9BA-D46A0F897DEC}"/>
              </a:ext>
            </a:extLst>
          </p:cNvPr>
          <p:cNvSpPr>
            <a:spLocks xmlns:a="http://schemas.openxmlformats.org/drawingml/2006/main" noGrp="1"/>
          </p:cNvSpPr>
          <p:nvPr/>
        </p:nvSpPr>
        <p:spPr>
          <a:xfrm xmlns:a="http://schemas.openxmlformats.org/drawingml/2006/main">
            <a:off x="1657350" y="2819400"/>
            <a:ext cx="3714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Users search less because the summary has already compressed informative evidence.</a:t>
            </a:r>
          </a:p>
          <a:p xmlns:a="http://schemas.openxmlformats.org/drawingml/2006/main">
            <a:r>
              <a:t/>
            </a:r>
          </a:p>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Later posterior quality does not deteriorate.</a:t>
            </a:r>
          </a:p>
        </p:txBody>
      </p:sp>
      <p:sp>
        <p:nvSpPr>
          <p:cNvPr id="12" name="">
            <a:extLst xmlns:a="http://schemas.openxmlformats.org/drawingml/2006/main">
              <a:ext uri="{FF2B5EF4-FFF2-40B4-BE49-F238E27FC236}">
                <a16:creationId xmlns:a16="http://schemas.microsoft.com/office/drawing/2014/main" id="{8E7685A2-985E-41B6-B2A1-952848300568}"/>
              </a:ext>
            </a:extLst>
          </p:cNvPr>
          <p:cNvSpPr>
            <a:spLocks xmlns:a="http://schemas.openxmlformats.org/drawingml/2006/main" noGrp="1"/>
          </p:cNvSpPr>
          <p:nvPr/>
        </p:nvSpPr>
        <p:spPr>
          <a:xfrm xmlns:a="http://schemas.openxmlformats.org/drawingml/2006/main">
            <a:off x="6705600" y="2362200"/>
            <a:ext cx="4000500" cy="2362200"/>
          </a:xfrm>
          <a:prstGeom xmlns:a="http://schemas.openxmlformats.org/drawingml/2006/main" prst="roundRect">
            <a:avLst>
              <a:gd name="adj" fmla="val 3226"/>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91380B82-3B76-43B2-977E-9A76570570E2}"/>
              </a:ext>
            </a:extLst>
          </p:cNvPr>
          <p:cNvSpPr>
            <a:spLocks xmlns:a="http://schemas.openxmlformats.org/drawingml/2006/main" noGrp="1"/>
          </p:cNvSpPr>
          <p:nvPr/>
        </p:nvSpPr>
        <p:spPr>
          <a:xfrm xmlns:a="http://schemas.openxmlformats.org/drawingml/2006/main">
            <a:off x="6705600" y="2362200"/>
            <a:ext cx="57150" cy="23622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81C3486C-8F76-4743-BAA4-7D1F47772CE4}"/>
              </a:ext>
            </a:extLst>
          </p:cNvPr>
          <p:cNvSpPr>
            <a:spLocks xmlns:a="http://schemas.openxmlformats.org/drawingml/2006/main" noGrp="1"/>
          </p:cNvSpPr>
          <p:nvPr/>
        </p:nvSpPr>
        <p:spPr>
          <a:xfrm xmlns:a="http://schemas.openxmlformats.org/drawingml/2006/main">
            <a:off x="6877050" y="24765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i="0">
                <a:solidFill>
                  <a:srgbClr val="1E2433"/>
                </a:solidFill>
                <a:latin typeface="Times New Roman"/>
                <a:ea typeface="Times New Roman"/>
                <a:cs typeface="Times New Roman"/>
              </a:defRPr>
            </a:pPr>
            <a:r>
              <a:rPr sz="1950" b="1" i="0">
                <a:solidFill>
                  <a:srgbClr val="1E2433"/>
                </a:solidFill>
                <a:latin typeface="Times New Roman"/>
                <a:ea typeface="Times New Roman"/>
                <a:cs typeface="Times New Roman"/>
              </a:rPr>
              <a:t>Harmful under-search</a:t>
            </a:r>
          </a:p>
        </p:txBody>
      </p:sp>
      <p:sp>
        <p:nvSpPr>
          <p:cNvPr id="15" name="">
            <a:extLst xmlns:a="http://schemas.openxmlformats.org/drawingml/2006/main">
              <a:ext uri="{FF2B5EF4-FFF2-40B4-BE49-F238E27FC236}">
                <a16:creationId xmlns:a16="http://schemas.microsoft.com/office/drawing/2014/main" id="{56B2B300-D386-4D46-AE4E-DC7D1FD7AA94}"/>
              </a:ext>
            </a:extLst>
          </p:cNvPr>
          <p:cNvSpPr>
            <a:spLocks xmlns:a="http://schemas.openxmlformats.org/drawingml/2006/main" noGrp="1"/>
          </p:cNvSpPr>
          <p:nvPr/>
        </p:nvSpPr>
        <p:spPr>
          <a:xfrm xmlns:a="http://schemas.openxmlformats.org/drawingml/2006/main">
            <a:off x="6877050" y="2819400"/>
            <a:ext cx="3714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Users search less because they overestimate how complete the summary already is.</a:t>
            </a:r>
          </a:p>
          <a:p xmlns:a="http://schemas.openxmlformats.org/drawingml/2006/main">
            <a:r>
              <a:t/>
            </a:r>
          </a:p>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Later judgment moves further away from the full-information benchmark.</a:t>
            </a:r>
          </a:p>
        </p:txBody>
      </p:sp>
      <p:sp>
        <p:nvSpPr>
          <p:cNvPr id="16" name="">
            <a:extLst xmlns:a="http://schemas.openxmlformats.org/drawingml/2006/main">
              <a:ext uri="{FF2B5EF4-FFF2-40B4-BE49-F238E27FC236}">
                <a16:creationId xmlns:a16="http://schemas.microsoft.com/office/drawing/2014/main" id="{DAC4C0CD-5FCA-4C8B-BAA0-5A0B6F55C593}"/>
              </a:ext>
            </a:extLst>
          </p:cNvPr>
          <p:cNvSpPr>
            <a:spLocks xmlns:a="http://schemas.openxmlformats.org/drawingml/2006/main" noGrp="1"/>
          </p:cNvSpPr>
          <p:nvPr/>
        </p:nvSpPr>
        <p:spPr>
          <a:xfrm xmlns:a="http://schemas.openxmlformats.org/drawingml/2006/main">
            <a:off x="5734050" y="33337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C89B4A"/>
                </a:solidFill>
                <a:latin typeface="Times New Roman"/>
                <a:ea typeface="Times New Roman"/>
                <a:cs typeface="Times New Roman"/>
              </a:defRPr>
            </a:pPr>
            <a:r>
              <a:rPr sz="1800" b="1" i="0">
                <a:solidFill>
                  <a:srgbClr val="C89B4A"/>
                </a:solidFill>
                <a:latin typeface="Times New Roman"/>
                <a:ea typeface="Times New Roman"/>
                <a:cs typeface="Times New Roman"/>
              </a:rPr>
              <a:t>vs</a:t>
            </a:r>
          </a:p>
        </p:txBody>
      </p:sp>
      <p:sp>
        <p:nvSpPr>
          <p:cNvPr id="17" name="">
            <a:extLst xmlns:a="http://schemas.openxmlformats.org/drawingml/2006/main">
              <a:ext uri="{FF2B5EF4-FFF2-40B4-BE49-F238E27FC236}">
                <a16:creationId xmlns:a16="http://schemas.microsoft.com/office/drawing/2014/main" id="{BA51F0A6-80EB-4188-B0E5-8FA036DADA34}"/>
              </a:ext>
            </a:extLst>
          </p:cNvPr>
          <p:cNvSpPr>
            <a:spLocks xmlns:a="http://schemas.openxmlformats.org/drawingml/2006/main" noGrp="1"/>
          </p:cNvSpPr>
          <p:nvPr/>
        </p:nvSpPr>
        <p:spPr>
          <a:xfrm xmlns:a="http://schemas.openxmlformats.org/drawingml/2006/main">
            <a:off x="1714500" y="5219700"/>
            <a:ext cx="8763000" cy="781050"/>
          </a:xfrm>
          <a:prstGeom xmlns:a="http://schemas.openxmlformats.org/drawingml/2006/main" prst="roundRect">
            <a:avLst>
              <a:gd name="adj" fmla="val 9756"/>
            </a:avLst>
          </a:prstGeom>
          <a:solidFill xmlns:a="http://schemas.openxmlformats.org/drawingml/2006/main">
            <a:srgbClr val="FFF9F0"/>
          </a:solidFill>
          <a:ln xmlns:a="http://schemas.openxmlformats.org/drawingml/2006/main" w="9525">
            <a:solidFill>
              <a:srgbClr val="E8DCCB"/>
            </a:solidFill>
            <a:prstDash val="solid"/>
          </a:ln>
        </p:spPr>
      </p:sp>
      <p:sp>
        <p:nvSpPr>
          <p:cNvPr id="18" name="">
            <a:extLst xmlns:a="http://schemas.openxmlformats.org/drawingml/2006/main">
              <a:ext uri="{FF2B5EF4-FFF2-40B4-BE49-F238E27FC236}">
                <a16:creationId xmlns:a16="http://schemas.microsoft.com/office/drawing/2014/main" id="{B79211A4-D124-4B2E-B9FE-32E318096D73}"/>
              </a:ext>
            </a:extLst>
          </p:cNvPr>
          <p:cNvSpPr>
            <a:spLocks xmlns:a="http://schemas.openxmlformats.org/drawingml/2006/main" noGrp="1"/>
          </p:cNvSpPr>
          <p:nvPr/>
        </p:nvSpPr>
        <p:spPr>
          <a:xfrm xmlns:a="http://schemas.openxmlformats.org/drawingml/2006/main">
            <a:off x="1714500" y="5219700"/>
            <a:ext cx="57150" cy="7810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9" name="">
            <a:extLst xmlns:a="http://schemas.openxmlformats.org/drawingml/2006/main">
              <a:ext uri="{FF2B5EF4-FFF2-40B4-BE49-F238E27FC236}">
                <a16:creationId xmlns:a16="http://schemas.microsoft.com/office/drawing/2014/main" id="{EAF45482-AFB5-43EA-AA28-9F0B5E5AFFDA}"/>
              </a:ext>
            </a:extLst>
          </p:cNvPr>
          <p:cNvSpPr>
            <a:spLocks xmlns:a="http://schemas.openxmlformats.org/drawingml/2006/main" noGrp="1"/>
          </p:cNvSpPr>
          <p:nvPr/>
        </p:nvSpPr>
        <p:spPr>
          <a:xfrm xmlns:a="http://schemas.openxmlformats.org/drawingml/2006/main">
            <a:off x="1885950" y="53340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What this slide does</a:t>
            </a:r>
          </a:p>
        </p:txBody>
      </p:sp>
      <p:sp>
        <p:nvSpPr>
          <p:cNvPr id="20" name="">
            <a:extLst xmlns:a="http://schemas.openxmlformats.org/drawingml/2006/main">
              <a:ext uri="{FF2B5EF4-FFF2-40B4-BE49-F238E27FC236}">
                <a16:creationId xmlns:a16="http://schemas.microsoft.com/office/drawing/2014/main" id="{5385FE87-C6A3-4603-BD49-D85BC49F0C48}"/>
              </a:ext>
            </a:extLst>
          </p:cNvPr>
          <p:cNvSpPr>
            <a:spLocks xmlns:a="http://schemas.openxmlformats.org/drawingml/2006/main" noGrp="1"/>
          </p:cNvSpPr>
          <p:nvPr/>
        </p:nvSpPr>
        <p:spPr>
          <a:xfrm xmlns:a="http://schemas.openxmlformats.org/drawingml/2006/main">
            <a:off x="1885950" y="5676900"/>
            <a:ext cx="847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It separates the behavioral fact of reduced search from the normative question of whether reduced search actually harms posterior judgment.</a:t>
            </a:r>
          </a:p>
        </p:txBody>
      </p:sp>
    </p:spTree>
    <p:extLst>
      <p:ext uri="{BB962C8B-B14F-4D97-AF65-F5344CB8AC3E}">
        <p14:creationId xmlns:p14="http://schemas.microsoft.com/office/powerpoint/2010/main" val="956195972"/>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A0D9E2-D493-4D7D-AB28-BB24879574A0}"/>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95E9C7FE-BE08-4657-B58E-F305CE41F2DF}"/>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5475D9CF-36FF-4D8C-946C-9903F42C556F}"/>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2C7E0BAF-19BD-4FC0-9FF5-205E73A602E6}"/>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CD3B3D2A-21BA-4542-AA18-A71BEE4191B6}"/>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EXISTING WORK</a:t>
            </a:r>
          </a:p>
        </p:txBody>
      </p:sp>
      <p:sp>
        <p:nvSpPr>
          <p:cNvPr id="6" name="">
            <a:extLst xmlns:a="http://schemas.openxmlformats.org/drawingml/2006/main">
              <a:ext uri="{FF2B5EF4-FFF2-40B4-BE49-F238E27FC236}">
                <a16:creationId xmlns:a16="http://schemas.microsoft.com/office/drawing/2014/main" id="{2E0732AF-3EA7-4571-AFC4-B29A4E310A2A}"/>
              </a:ext>
            </a:extLst>
          </p:cNvPr>
          <p:cNvSpPr>
            <a:spLocks xmlns:a="http://schemas.openxmlformats.org/drawingml/2006/main" noGrp="1"/>
          </p:cNvSpPr>
          <p:nvPr/>
        </p:nvSpPr>
        <p:spPr>
          <a:xfrm xmlns:a="http://schemas.openxmlformats.org/drawingml/2006/main">
            <a:off x="914400" y="914400"/>
            <a:ext cx="10096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1E2433"/>
                </a:solidFill>
                <a:latin typeface="Times New Roman"/>
                <a:ea typeface="Times New Roman"/>
                <a:cs typeface="Times New Roman"/>
              </a:defRPr>
            </a:pPr>
            <a:r>
              <a:rPr sz="2250" b="1" i="0">
                <a:solidFill>
                  <a:srgbClr val="1E2433"/>
                </a:solidFill>
                <a:latin typeface="Times New Roman"/>
                <a:ea typeface="Times New Roman"/>
                <a:cs typeface="Times New Roman"/>
              </a:rPr>
              <a:t>The literature gives us reduced search and automation bias, but not a direct account of information calibration</a:t>
            </a:r>
          </a:p>
        </p:txBody>
      </p:sp>
      <p:sp>
        <p:nvSpPr>
          <p:cNvPr id="7" name="">
            <a:extLst xmlns:a="http://schemas.openxmlformats.org/drawingml/2006/main">
              <a:ext uri="{FF2B5EF4-FFF2-40B4-BE49-F238E27FC236}">
                <a16:creationId xmlns:a16="http://schemas.microsoft.com/office/drawing/2014/main" id="{6A987FAD-D1BA-4A6F-98F4-27D838F2C994}"/>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This literature map shows the closest targets and clarifies why the paper must distinguish search behavior from evidentiary sufficiency and posterior quality.</a:t>
            </a:r>
          </a:p>
        </p:txBody>
      </p:sp>
      <p:sp>
        <p:nvSpPr>
          <p:cNvPr id="8" name="">
            <a:extLst xmlns:a="http://schemas.openxmlformats.org/drawingml/2006/main">
              <a:ext uri="{FF2B5EF4-FFF2-40B4-BE49-F238E27FC236}">
                <a16:creationId xmlns:a16="http://schemas.microsoft.com/office/drawing/2014/main" id="{B6D878CE-283B-4ABC-A8E8-66EB5F725935}"/>
              </a:ext>
            </a:extLst>
          </p:cNvPr>
          <p:cNvSpPr>
            <a:spLocks xmlns:a="http://schemas.openxmlformats.org/drawingml/2006/main" noGrp="1"/>
          </p:cNvSpPr>
          <p:nvPr/>
        </p:nvSpPr>
        <p:spPr>
          <a:xfrm xmlns:a="http://schemas.openxmlformats.org/drawingml/2006/main">
            <a:off x="914400" y="2152650"/>
            <a:ext cx="10287000" cy="4171950"/>
          </a:xfrm>
          <a:prstGeom xmlns:a="http://schemas.openxmlformats.org/drawingml/2006/main" prst="roundRect">
            <a:avLst>
              <a:gd name="adj" fmla="val 2740"/>
            </a:avLst>
          </a:prstGeom>
          <a:solidFill xmlns:a="http://schemas.openxmlformats.org/drawingml/2006/main">
            <a:srgbClr val="FFFDFC"/>
          </a:solidFill>
          <a:ln xmlns:a="http://schemas.openxmlformats.org/drawingml/2006/main" w="9525">
            <a:solidFill>
              <a:srgbClr val="E8DCCB"/>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308ad4a4a6a441a"/>
          <a:stretch xmlns:a="http://schemas.openxmlformats.org/drawingml/2006/main"/>
        </p:blipFill>
        <p:spPr>
          <a:xfrm xmlns:a="http://schemas.openxmlformats.org/drawingml/2006/main">
            <a:off x="1445462" y="2286000"/>
            <a:ext cx="9224876" cy="3905250"/>
          </a:xfrm>
          <a:prstGeom xmlns:a="http://schemas.openxmlformats.org/drawingml/2006/main" prst="rect">
            <a:avLst/>
          </a:prstGeom>
        </p:spPr>
      </p:pic>
    </p:spTree>
    <p:extLst>
      <p:ext uri="{BB962C8B-B14F-4D97-AF65-F5344CB8AC3E}">
        <p14:creationId xmlns:p14="http://schemas.microsoft.com/office/powerpoint/2010/main" val="1857879689"/>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D472B6-5106-4344-926E-64BAF48459C0}"/>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8440177A-8B2E-4C12-8C92-9E4B16782C8F}"/>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47EC3204-734A-4CB4-8A79-BA24A67D2744}"/>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BC943444-517B-45AA-8A1F-67CA196631C7}"/>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F9A40C74-9E96-4AA4-A04D-FDCB1AC43DD3}"/>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TRADITIONAL BENCHMARK</a:t>
            </a:r>
          </a:p>
        </p:txBody>
      </p:sp>
      <p:sp>
        <p:nvSpPr>
          <p:cNvPr id="6" name="">
            <a:extLst xmlns:a="http://schemas.openxmlformats.org/drawingml/2006/main">
              <a:ext uri="{FF2B5EF4-FFF2-40B4-BE49-F238E27FC236}">
                <a16:creationId xmlns:a16="http://schemas.microsoft.com/office/drawing/2014/main" id="{61492E4D-4BD6-47D1-9BB1-28A95B12F889}"/>
              </a:ext>
            </a:extLst>
          </p:cNvPr>
          <p:cNvSpPr>
            <a:spLocks xmlns:a="http://schemas.openxmlformats.org/drawingml/2006/main" noGrp="1"/>
          </p:cNvSpPr>
          <p:nvPr/>
        </p:nvSpPr>
        <p:spPr>
          <a:xfrm xmlns:a="http://schemas.openxmlformats.org/drawingml/2006/main">
            <a:off x="914400" y="914400"/>
            <a:ext cx="10001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1" i="0">
                <a:solidFill>
                  <a:srgbClr val="1E2433"/>
                </a:solidFill>
                <a:latin typeface="Times New Roman"/>
                <a:ea typeface="Times New Roman"/>
                <a:cs typeface="Times New Roman"/>
              </a:defRPr>
            </a:pPr>
            <a:r>
              <a:rPr sz="2325" b="1" i="0">
                <a:solidFill>
                  <a:srgbClr val="1E2433"/>
                </a:solidFill>
                <a:latin typeface="Times New Roman"/>
                <a:ea typeface="Times New Roman"/>
                <a:cs typeface="Times New Roman"/>
              </a:rPr>
              <a:t>The standard benchmark says people should stop when extra evidence is no longer worth its cost</a:t>
            </a:r>
          </a:p>
        </p:txBody>
      </p:sp>
      <p:sp>
        <p:nvSpPr>
          <p:cNvPr id="7" name="">
            <a:extLst xmlns:a="http://schemas.openxmlformats.org/drawingml/2006/main">
              <a:ext uri="{FF2B5EF4-FFF2-40B4-BE49-F238E27FC236}">
                <a16:creationId xmlns:a16="http://schemas.microsoft.com/office/drawing/2014/main" id="{1DCD5992-ECDB-4D25-91B6-14427BA96146}"/>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Under a rational search view, less search is not itself a failure. It becomes a problem only when people stop too early.</a:t>
            </a:r>
          </a:p>
        </p:txBody>
      </p:sp>
      <p:sp>
        <p:nvSpPr>
          <p:cNvPr id="8" name="">
            <a:extLst xmlns:a="http://schemas.openxmlformats.org/drawingml/2006/main">
              <a:ext uri="{FF2B5EF4-FFF2-40B4-BE49-F238E27FC236}">
                <a16:creationId xmlns:a16="http://schemas.microsoft.com/office/drawing/2014/main" id="{675C8F5F-6F97-485D-8352-4FFF85E55D41}"/>
              </a:ext>
            </a:extLst>
          </p:cNvPr>
          <p:cNvSpPr>
            <a:spLocks xmlns:a="http://schemas.openxmlformats.org/drawingml/2006/main" noGrp="1"/>
          </p:cNvSpPr>
          <p:nvPr/>
        </p:nvSpPr>
        <p:spPr>
          <a:xfrm xmlns:a="http://schemas.openxmlformats.org/drawingml/2006/main">
            <a:off x="914400" y="2343150"/>
            <a:ext cx="3086100" cy="2362200"/>
          </a:xfrm>
          <a:prstGeom xmlns:a="http://schemas.openxmlformats.org/drawingml/2006/main" prst="roundRect">
            <a:avLst>
              <a:gd name="adj" fmla="val 3226"/>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7EB8E841-F2B6-4680-8F95-D5C9FC1186F3}"/>
              </a:ext>
            </a:extLst>
          </p:cNvPr>
          <p:cNvSpPr>
            <a:spLocks xmlns:a="http://schemas.openxmlformats.org/drawingml/2006/main" noGrp="1"/>
          </p:cNvSpPr>
          <p:nvPr/>
        </p:nvSpPr>
        <p:spPr>
          <a:xfrm xmlns:a="http://schemas.openxmlformats.org/drawingml/2006/main">
            <a:off x="914400" y="2343150"/>
            <a:ext cx="57150" cy="236220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73DF9076-14ED-4082-A691-DBDF8ABA0C93}"/>
              </a:ext>
            </a:extLst>
          </p:cNvPr>
          <p:cNvSpPr>
            <a:spLocks xmlns:a="http://schemas.openxmlformats.org/drawingml/2006/main" noGrp="1"/>
          </p:cNvSpPr>
          <p:nvPr/>
        </p:nvSpPr>
        <p:spPr>
          <a:xfrm xmlns:a="http://schemas.openxmlformats.org/drawingml/2006/main">
            <a:off x="1085850" y="24574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Step 1</a:t>
            </a:r>
          </a:p>
        </p:txBody>
      </p:sp>
      <p:sp>
        <p:nvSpPr>
          <p:cNvPr id="11" name="">
            <a:extLst xmlns:a="http://schemas.openxmlformats.org/drawingml/2006/main">
              <a:ext uri="{FF2B5EF4-FFF2-40B4-BE49-F238E27FC236}">
                <a16:creationId xmlns:a16="http://schemas.microsoft.com/office/drawing/2014/main" id="{3D82171E-E25D-47F6-B46A-8A954249541F}"/>
              </a:ext>
            </a:extLst>
          </p:cNvPr>
          <p:cNvSpPr>
            <a:spLocks xmlns:a="http://schemas.openxmlformats.org/drawingml/2006/main" noGrp="1"/>
          </p:cNvSpPr>
          <p:nvPr/>
        </p:nvSpPr>
        <p:spPr>
          <a:xfrm xmlns:a="http://schemas.openxmlformats.org/drawingml/2006/main">
            <a:off x="1085850" y="2800350"/>
            <a:ext cx="28003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Users weigh the expected value of additional evidence against the cost of getting it.</a:t>
            </a:r>
          </a:p>
        </p:txBody>
      </p:sp>
      <p:sp>
        <p:nvSpPr>
          <p:cNvPr id="12" name="">
            <a:extLst xmlns:a="http://schemas.openxmlformats.org/drawingml/2006/main">
              <a:ext uri="{FF2B5EF4-FFF2-40B4-BE49-F238E27FC236}">
                <a16:creationId xmlns:a16="http://schemas.microsoft.com/office/drawing/2014/main" id="{8E0198F6-97CF-4DCD-A685-8BB7DF85FDC9}"/>
              </a:ext>
            </a:extLst>
          </p:cNvPr>
          <p:cNvSpPr>
            <a:spLocks xmlns:a="http://schemas.openxmlformats.org/drawingml/2006/main" noGrp="1"/>
          </p:cNvSpPr>
          <p:nvPr/>
        </p:nvSpPr>
        <p:spPr>
          <a:xfrm xmlns:a="http://schemas.openxmlformats.org/drawingml/2006/main">
            <a:off x="4552950" y="2343150"/>
            <a:ext cx="3086100" cy="2362200"/>
          </a:xfrm>
          <a:prstGeom xmlns:a="http://schemas.openxmlformats.org/drawingml/2006/main" prst="roundRect">
            <a:avLst>
              <a:gd name="adj" fmla="val 3226"/>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FD23E460-7D75-4052-9D54-AFF5367FC247}"/>
              </a:ext>
            </a:extLst>
          </p:cNvPr>
          <p:cNvSpPr>
            <a:spLocks xmlns:a="http://schemas.openxmlformats.org/drawingml/2006/main" noGrp="1"/>
          </p:cNvSpPr>
          <p:nvPr/>
        </p:nvSpPr>
        <p:spPr>
          <a:xfrm xmlns:a="http://schemas.openxmlformats.org/drawingml/2006/main">
            <a:off x="4552950" y="2343150"/>
            <a:ext cx="57150" cy="23622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4AE67586-FC44-49E3-8435-CEC46A5171B9}"/>
              </a:ext>
            </a:extLst>
          </p:cNvPr>
          <p:cNvSpPr>
            <a:spLocks xmlns:a="http://schemas.openxmlformats.org/drawingml/2006/main" noGrp="1"/>
          </p:cNvSpPr>
          <p:nvPr/>
        </p:nvSpPr>
        <p:spPr>
          <a:xfrm xmlns:a="http://schemas.openxmlformats.org/drawingml/2006/main">
            <a:off x="4724400" y="24574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Step 2</a:t>
            </a:r>
          </a:p>
        </p:txBody>
      </p:sp>
      <p:sp>
        <p:nvSpPr>
          <p:cNvPr id="15" name="">
            <a:extLst xmlns:a="http://schemas.openxmlformats.org/drawingml/2006/main">
              <a:ext uri="{FF2B5EF4-FFF2-40B4-BE49-F238E27FC236}">
                <a16:creationId xmlns:a16="http://schemas.microsoft.com/office/drawing/2014/main" id="{58B116F7-69F2-425C-A37B-2695EF4BBC4D}"/>
              </a:ext>
            </a:extLst>
          </p:cNvPr>
          <p:cNvSpPr>
            <a:spLocks xmlns:a="http://schemas.openxmlformats.org/drawingml/2006/main" noGrp="1"/>
          </p:cNvSpPr>
          <p:nvPr/>
        </p:nvSpPr>
        <p:spPr>
          <a:xfrm xmlns:a="http://schemas.openxmlformats.org/drawingml/2006/main">
            <a:off x="4724400" y="2800350"/>
            <a:ext cx="28003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They continue searching if more evidence is still likely to change the posterior enough to matter.</a:t>
            </a:r>
          </a:p>
        </p:txBody>
      </p:sp>
      <p:sp>
        <p:nvSpPr>
          <p:cNvPr id="16" name="">
            <a:extLst xmlns:a="http://schemas.openxmlformats.org/drawingml/2006/main">
              <a:ext uri="{FF2B5EF4-FFF2-40B4-BE49-F238E27FC236}">
                <a16:creationId xmlns:a16="http://schemas.microsoft.com/office/drawing/2014/main" id="{60219B8D-EFF9-42F8-92AB-FD625279E7E4}"/>
              </a:ext>
            </a:extLst>
          </p:cNvPr>
          <p:cNvSpPr>
            <a:spLocks xmlns:a="http://schemas.openxmlformats.org/drawingml/2006/main" noGrp="1"/>
          </p:cNvSpPr>
          <p:nvPr/>
        </p:nvSpPr>
        <p:spPr>
          <a:xfrm xmlns:a="http://schemas.openxmlformats.org/drawingml/2006/main">
            <a:off x="8191500" y="2343150"/>
            <a:ext cx="3009900" cy="2362200"/>
          </a:xfrm>
          <a:prstGeom xmlns:a="http://schemas.openxmlformats.org/drawingml/2006/main" prst="roundRect">
            <a:avLst>
              <a:gd name="adj" fmla="val 3226"/>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19665571-9648-479B-93B6-83A84F3C5BD2}"/>
              </a:ext>
            </a:extLst>
          </p:cNvPr>
          <p:cNvSpPr>
            <a:spLocks xmlns:a="http://schemas.openxmlformats.org/drawingml/2006/main" noGrp="1"/>
          </p:cNvSpPr>
          <p:nvPr/>
        </p:nvSpPr>
        <p:spPr>
          <a:xfrm xmlns:a="http://schemas.openxmlformats.org/drawingml/2006/main">
            <a:off x="8191500" y="2343150"/>
            <a:ext cx="57150" cy="23622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8" name="">
            <a:extLst xmlns:a="http://schemas.openxmlformats.org/drawingml/2006/main">
              <a:ext uri="{FF2B5EF4-FFF2-40B4-BE49-F238E27FC236}">
                <a16:creationId xmlns:a16="http://schemas.microsoft.com/office/drawing/2014/main" id="{311F8136-63B6-400E-BE3E-7A0D5453E4B9}"/>
              </a:ext>
            </a:extLst>
          </p:cNvPr>
          <p:cNvSpPr>
            <a:spLocks xmlns:a="http://schemas.openxmlformats.org/drawingml/2006/main" noGrp="1"/>
          </p:cNvSpPr>
          <p:nvPr/>
        </p:nvSpPr>
        <p:spPr>
          <a:xfrm xmlns:a="http://schemas.openxmlformats.org/drawingml/2006/main">
            <a:off x="8362950" y="24574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Implication</a:t>
            </a:r>
          </a:p>
        </p:txBody>
      </p:sp>
      <p:sp>
        <p:nvSpPr>
          <p:cNvPr id="19" name="">
            <a:extLst xmlns:a="http://schemas.openxmlformats.org/drawingml/2006/main">
              <a:ext uri="{FF2B5EF4-FFF2-40B4-BE49-F238E27FC236}">
                <a16:creationId xmlns:a16="http://schemas.microsoft.com/office/drawing/2014/main" id="{F84D752F-2028-42AB-A51D-BC73B1511B02}"/>
              </a:ext>
            </a:extLst>
          </p:cNvPr>
          <p:cNvSpPr>
            <a:spLocks xmlns:a="http://schemas.openxmlformats.org/drawingml/2006/main" noGrp="1"/>
          </p:cNvSpPr>
          <p:nvPr/>
        </p:nvSpPr>
        <p:spPr>
          <a:xfrm xmlns:a="http://schemas.openxmlformats.org/drawingml/2006/main">
            <a:off x="8362950" y="2800350"/>
            <a:ext cx="27241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Reduced search is rational when information has already been efficiently compressed, but not when sufficiency is overestimated.</a:t>
            </a:r>
          </a:p>
        </p:txBody>
      </p:sp>
      <p:sp>
        <p:nvSpPr>
          <p:cNvPr id="20" name="">
            <a:extLst xmlns:a="http://schemas.openxmlformats.org/drawingml/2006/main">
              <a:ext uri="{FF2B5EF4-FFF2-40B4-BE49-F238E27FC236}">
                <a16:creationId xmlns:a16="http://schemas.microsoft.com/office/drawing/2014/main" id="{16A3928A-4204-4A7B-84AF-4CC0388E70AB}"/>
              </a:ext>
            </a:extLst>
          </p:cNvPr>
          <p:cNvSpPr>
            <a:spLocks xmlns:a="http://schemas.openxmlformats.org/drawingml/2006/main" noGrp="1"/>
          </p:cNvSpPr>
          <p:nvPr/>
        </p:nvSpPr>
        <p:spPr>
          <a:xfrm xmlns:a="http://schemas.openxmlformats.org/drawingml/2006/main">
            <a:off x="4095750" y="3352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5E6675"/>
                </a:solidFill>
                <a:latin typeface="Times New Roman"/>
                <a:ea typeface="Times New Roman"/>
                <a:cs typeface="Times New Roman"/>
              </a:defRPr>
            </a:pPr>
            <a:r>
              <a:rPr sz="1800" b="1" i="0">
                <a:solidFill>
                  <a:srgbClr val="5E6675"/>
                </a:solidFill>
                <a:latin typeface="Times New Roman"/>
                <a:ea typeface="Times New Roman"/>
                <a:cs typeface="Times New Roman"/>
              </a:rPr>
              <a:t>→</a:t>
            </a:r>
          </a:p>
        </p:txBody>
      </p:sp>
      <p:sp>
        <p:nvSpPr>
          <p:cNvPr id="21" name="">
            <a:extLst xmlns:a="http://schemas.openxmlformats.org/drawingml/2006/main">
              <a:ext uri="{FF2B5EF4-FFF2-40B4-BE49-F238E27FC236}">
                <a16:creationId xmlns:a16="http://schemas.microsoft.com/office/drawing/2014/main" id="{3AF0C394-179E-4DA5-8BE0-B6777D81541D}"/>
              </a:ext>
            </a:extLst>
          </p:cNvPr>
          <p:cNvSpPr>
            <a:spLocks xmlns:a="http://schemas.openxmlformats.org/drawingml/2006/main" noGrp="1"/>
          </p:cNvSpPr>
          <p:nvPr/>
        </p:nvSpPr>
        <p:spPr>
          <a:xfrm xmlns:a="http://schemas.openxmlformats.org/drawingml/2006/main">
            <a:off x="7734300" y="3352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5E6675"/>
                </a:solidFill>
                <a:latin typeface="Times New Roman"/>
                <a:ea typeface="Times New Roman"/>
                <a:cs typeface="Times New Roman"/>
              </a:defRPr>
            </a:pPr>
            <a:r>
              <a:rPr sz="1800" b="1" i="0">
                <a:solidFill>
                  <a:srgbClr val="5E6675"/>
                </a:solidFill>
                <a:latin typeface="Times New Roman"/>
                <a:ea typeface="Times New Roman"/>
                <a:cs typeface="Times New Roman"/>
              </a:rPr>
              <a:t>→</a:t>
            </a:r>
          </a:p>
        </p:txBody>
      </p:sp>
      <p:sp>
        <p:nvSpPr>
          <p:cNvPr id="22" name="">
            <a:extLst xmlns:a="http://schemas.openxmlformats.org/drawingml/2006/main">
              <a:ext uri="{FF2B5EF4-FFF2-40B4-BE49-F238E27FC236}">
                <a16:creationId xmlns:a16="http://schemas.microsoft.com/office/drawing/2014/main" id="{513617C9-C380-4920-85FB-65B5578827EF}"/>
              </a:ext>
            </a:extLst>
          </p:cNvPr>
          <p:cNvSpPr>
            <a:spLocks xmlns:a="http://schemas.openxmlformats.org/drawingml/2006/main" noGrp="1"/>
          </p:cNvSpPr>
          <p:nvPr/>
        </p:nvSpPr>
        <p:spPr>
          <a:xfrm xmlns:a="http://schemas.openxmlformats.org/drawingml/2006/main">
            <a:off x="1581150" y="5219700"/>
            <a:ext cx="902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This is why the main question is not whether AI reduces search, but whether it changes the stopping rule in a way that remains normatively justified.</a:t>
            </a:r>
          </a:p>
        </p:txBody>
      </p:sp>
    </p:spTree>
    <p:extLst>
      <p:ext uri="{BB962C8B-B14F-4D97-AF65-F5344CB8AC3E}">
        <p14:creationId xmlns:p14="http://schemas.microsoft.com/office/powerpoint/2010/main" val="1203492387"/>
      </p:ext>
    </p:extLst>
  </p:cSld>
</p:sld>
</file>

<file path=ppt/slides/slide6.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6C5ECD-98A7-400A-AC27-7DBA6B72EFF0}"/>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445683FB-1B84-497F-8920-96517BB99B1D}"/>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2178FF8B-4E46-48C8-8D8E-58E2A16D9FE4}"/>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FA4C15F6-A671-49FD-83EA-CD52F90F4884}"/>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4C15464F-7F54-4753-86DD-B234FD0F7342}"/>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GAP</a:t>
            </a:r>
          </a:p>
        </p:txBody>
      </p:sp>
      <p:sp>
        <p:nvSpPr>
          <p:cNvPr id="6" name="">
            <a:extLst xmlns:a="http://schemas.openxmlformats.org/drawingml/2006/main">
              <a:ext uri="{FF2B5EF4-FFF2-40B4-BE49-F238E27FC236}">
                <a16:creationId xmlns:a16="http://schemas.microsoft.com/office/drawing/2014/main" id="{D45DDD24-16E8-43F8-A78A-80017867C6A3}"/>
              </a:ext>
            </a:extLst>
          </p:cNvPr>
          <p:cNvSpPr>
            <a:spLocks xmlns:a="http://schemas.openxmlformats.org/drawingml/2006/main" noGrp="1"/>
          </p:cNvSpPr>
          <p:nvPr/>
        </p:nvSpPr>
        <p:spPr>
          <a:xfrm xmlns:a="http://schemas.openxmlformats.org/drawingml/2006/main">
            <a:off x="914400" y="914400"/>
            <a:ext cx="971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i="0">
                <a:solidFill>
                  <a:srgbClr val="1E2433"/>
                </a:solidFill>
                <a:latin typeface="Times New Roman"/>
                <a:ea typeface="Times New Roman"/>
                <a:cs typeface="Times New Roman"/>
              </a:defRPr>
            </a:pPr>
            <a:r>
              <a:rPr sz="2400" b="1" i="0">
                <a:solidFill>
                  <a:srgbClr val="1E2433"/>
                </a:solidFill>
                <a:latin typeface="Times New Roman"/>
                <a:ea typeface="Times New Roman"/>
                <a:cs typeface="Times New Roman"/>
              </a:rPr>
              <a:t>What is still missing is the judgment of evidentiary sufficiency after an AI answer</a:t>
            </a:r>
          </a:p>
        </p:txBody>
      </p:sp>
      <p:sp>
        <p:nvSpPr>
          <p:cNvPr id="7" name="">
            <a:extLst xmlns:a="http://schemas.openxmlformats.org/drawingml/2006/main">
              <a:ext uri="{FF2B5EF4-FFF2-40B4-BE49-F238E27FC236}">
                <a16:creationId xmlns:a16="http://schemas.microsoft.com/office/drawing/2014/main" id="{2BD8B4D5-B134-4ED6-9584-059D56711904}"/>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unresolved issue is not simply search depth. It is whether answer-first systems change how complete the current evidence feels.</a:t>
            </a:r>
          </a:p>
        </p:txBody>
      </p:sp>
      <p:sp>
        <p:nvSpPr>
          <p:cNvPr id="8" name="">
            <a:extLst xmlns:a="http://schemas.openxmlformats.org/drawingml/2006/main">
              <a:ext uri="{FF2B5EF4-FFF2-40B4-BE49-F238E27FC236}">
                <a16:creationId xmlns:a16="http://schemas.microsoft.com/office/drawing/2014/main" id="{260A3A10-370D-4DD1-B7A8-0AB4BC746821}"/>
              </a:ext>
            </a:extLst>
          </p:cNvPr>
          <p:cNvSpPr>
            <a:spLocks xmlns:a="http://schemas.openxmlformats.org/drawingml/2006/main" noGrp="1"/>
          </p:cNvSpPr>
          <p:nvPr/>
        </p:nvSpPr>
        <p:spPr>
          <a:xfrm xmlns:a="http://schemas.openxmlformats.org/drawingml/2006/main">
            <a:off x="914400" y="224790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37D58976-92AA-4260-897F-448B1407A669}"/>
              </a:ext>
            </a:extLst>
          </p:cNvPr>
          <p:cNvSpPr>
            <a:spLocks xmlns:a="http://schemas.openxmlformats.org/drawingml/2006/main" noGrp="1"/>
          </p:cNvSpPr>
          <p:nvPr/>
        </p:nvSpPr>
        <p:spPr>
          <a:xfrm xmlns:a="http://schemas.openxmlformats.org/drawingml/2006/main">
            <a:off x="914400" y="2247900"/>
            <a:ext cx="57150" cy="10096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AC61DEE1-5FFF-40CA-A12D-7C5E1F482244}"/>
              </a:ext>
            </a:extLst>
          </p:cNvPr>
          <p:cNvSpPr>
            <a:spLocks xmlns:a="http://schemas.openxmlformats.org/drawingml/2006/main" noGrp="1"/>
          </p:cNvSpPr>
          <p:nvPr/>
        </p:nvSpPr>
        <p:spPr>
          <a:xfrm xmlns:a="http://schemas.openxmlformats.org/drawingml/2006/main">
            <a:off x="1085850" y="23622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What has been shown</a:t>
            </a:r>
          </a:p>
        </p:txBody>
      </p:sp>
      <p:sp>
        <p:nvSpPr>
          <p:cNvPr id="11" name="">
            <a:extLst xmlns:a="http://schemas.openxmlformats.org/drawingml/2006/main">
              <a:ext uri="{FF2B5EF4-FFF2-40B4-BE49-F238E27FC236}">
                <a16:creationId xmlns:a16="http://schemas.microsoft.com/office/drawing/2014/main" id="{64876CE8-DE56-40AD-A715-680F660A2275}"/>
              </a:ext>
            </a:extLst>
          </p:cNvPr>
          <p:cNvSpPr>
            <a:spLocks xmlns:a="http://schemas.openxmlformats.org/drawingml/2006/main" noGrp="1"/>
          </p:cNvSpPr>
          <p:nvPr/>
        </p:nvSpPr>
        <p:spPr>
          <a:xfrm xmlns:a="http://schemas.openxmlformats.org/drawingml/2006/main">
            <a:off x="1085850" y="27051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AI can reduce search behavior, and algorithmic labels can shape later responses.</a:t>
            </a:r>
          </a:p>
        </p:txBody>
      </p:sp>
      <p:sp>
        <p:nvSpPr>
          <p:cNvPr id="12" name="">
            <a:extLst xmlns:a="http://schemas.openxmlformats.org/drawingml/2006/main">
              <a:ext uri="{FF2B5EF4-FFF2-40B4-BE49-F238E27FC236}">
                <a16:creationId xmlns:a16="http://schemas.microsoft.com/office/drawing/2014/main" id="{11F81BEE-1CDF-401B-A274-FBF32B10F958}"/>
              </a:ext>
            </a:extLst>
          </p:cNvPr>
          <p:cNvSpPr>
            <a:spLocks xmlns:a="http://schemas.openxmlformats.org/drawingml/2006/main" noGrp="1"/>
          </p:cNvSpPr>
          <p:nvPr/>
        </p:nvSpPr>
        <p:spPr>
          <a:xfrm xmlns:a="http://schemas.openxmlformats.org/drawingml/2006/main">
            <a:off x="914400" y="342900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E88BFDEF-B009-490C-A026-41651BD316F5}"/>
              </a:ext>
            </a:extLst>
          </p:cNvPr>
          <p:cNvSpPr>
            <a:spLocks xmlns:a="http://schemas.openxmlformats.org/drawingml/2006/main" noGrp="1"/>
          </p:cNvSpPr>
          <p:nvPr/>
        </p:nvSpPr>
        <p:spPr>
          <a:xfrm xmlns:a="http://schemas.openxmlformats.org/drawingml/2006/main">
            <a:off x="914400" y="3429000"/>
            <a:ext cx="57150" cy="10096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45689BF3-C50D-4F4D-88EB-15FBF7342275}"/>
              </a:ext>
            </a:extLst>
          </p:cNvPr>
          <p:cNvSpPr>
            <a:spLocks xmlns:a="http://schemas.openxmlformats.org/drawingml/2006/main" noGrp="1"/>
          </p:cNvSpPr>
          <p:nvPr/>
        </p:nvSpPr>
        <p:spPr>
          <a:xfrm xmlns:a="http://schemas.openxmlformats.org/drawingml/2006/main">
            <a:off x="1085850" y="35433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What remains unresolved</a:t>
            </a:r>
          </a:p>
        </p:txBody>
      </p:sp>
      <p:sp>
        <p:nvSpPr>
          <p:cNvPr id="15" name="">
            <a:extLst xmlns:a="http://schemas.openxmlformats.org/drawingml/2006/main">
              <a:ext uri="{FF2B5EF4-FFF2-40B4-BE49-F238E27FC236}">
                <a16:creationId xmlns:a16="http://schemas.microsoft.com/office/drawing/2014/main" id="{B6B7CC37-C0AA-442F-A59D-80E170051073}"/>
              </a:ext>
            </a:extLst>
          </p:cNvPr>
          <p:cNvSpPr>
            <a:spLocks xmlns:a="http://schemas.openxmlformats.org/drawingml/2006/main" noGrp="1"/>
          </p:cNvSpPr>
          <p:nvPr/>
        </p:nvSpPr>
        <p:spPr>
          <a:xfrm xmlns:a="http://schemas.openxmlformats.org/drawingml/2006/main">
            <a:off x="1085850" y="38862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We still do not know whether an AI summary changes users' judgment that the available evidence is already sufficient.</a:t>
            </a:r>
          </a:p>
        </p:txBody>
      </p:sp>
      <p:sp>
        <p:nvSpPr>
          <p:cNvPr id="16" name="">
            <a:extLst xmlns:a="http://schemas.openxmlformats.org/drawingml/2006/main">
              <a:ext uri="{FF2B5EF4-FFF2-40B4-BE49-F238E27FC236}">
                <a16:creationId xmlns:a16="http://schemas.microsoft.com/office/drawing/2014/main" id="{F94304EF-3C1F-4795-8AA5-5B4DE0C9369C}"/>
              </a:ext>
            </a:extLst>
          </p:cNvPr>
          <p:cNvSpPr>
            <a:spLocks xmlns:a="http://schemas.openxmlformats.org/drawingml/2006/main" noGrp="1"/>
          </p:cNvSpPr>
          <p:nvPr/>
        </p:nvSpPr>
        <p:spPr>
          <a:xfrm xmlns:a="http://schemas.openxmlformats.org/drawingml/2006/main">
            <a:off x="914400" y="461010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FF8709BA-2B9F-411F-BBB8-82B12C964456}"/>
              </a:ext>
            </a:extLst>
          </p:cNvPr>
          <p:cNvSpPr>
            <a:spLocks xmlns:a="http://schemas.openxmlformats.org/drawingml/2006/main" noGrp="1"/>
          </p:cNvSpPr>
          <p:nvPr/>
        </p:nvSpPr>
        <p:spPr>
          <a:xfrm xmlns:a="http://schemas.openxmlformats.org/drawingml/2006/main">
            <a:off x="914400" y="4610100"/>
            <a:ext cx="57150" cy="10096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8" name="">
            <a:extLst xmlns:a="http://schemas.openxmlformats.org/drawingml/2006/main">
              <a:ext uri="{FF2B5EF4-FFF2-40B4-BE49-F238E27FC236}">
                <a16:creationId xmlns:a16="http://schemas.microsoft.com/office/drawing/2014/main" id="{1C3F4D50-2EDD-41A0-88B0-4A60DFE7DEEA}"/>
              </a:ext>
            </a:extLst>
          </p:cNvPr>
          <p:cNvSpPr>
            <a:spLocks xmlns:a="http://schemas.openxmlformats.org/drawingml/2006/main" noGrp="1"/>
          </p:cNvSpPr>
          <p:nvPr/>
        </p:nvSpPr>
        <p:spPr>
          <a:xfrm xmlns:a="http://schemas.openxmlformats.org/drawingml/2006/main">
            <a:off x="1085850" y="47244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Why that matters</a:t>
            </a:r>
          </a:p>
        </p:txBody>
      </p:sp>
      <p:sp>
        <p:nvSpPr>
          <p:cNvPr id="19" name="">
            <a:extLst xmlns:a="http://schemas.openxmlformats.org/drawingml/2006/main">
              <a:ext uri="{FF2B5EF4-FFF2-40B4-BE49-F238E27FC236}">
                <a16:creationId xmlns:a16="http://schemas.microsoft.com/office/drawing/2014/main" id="{083B3F64-774E-4076-8EA7-2D4268999DDF}"/>
              </a:ext>
            </a:extLst>
          </p:cNvPr>
          <p:cNvSpPr>
            <a:spLocks xmlns:a="http://schemas.openxmlformats.org/drawingml/2006/main" noGrp="1"/>
          </p:cNvSpPr>
          <p:nvPr/>
        </p:nvSpPr>
        <p:spPr>
          <a:xfrm xmlns:a="http://schemas.openxmlformats.org/drawingml/2006/main">
            <a:off x="1085850" y="50673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If the sufficiency judgment shifts, then AI can alter later evidence acquisition, posterior beliefs, and subjective mastery at the same time.</a:t>
            </a:r>
          </a:p>
        </p:txBody>
      </p:sp>
    </p:spTree>
    <p:extLst>
      <p:ext uri="{BB962C8B-B14F-4D97-AF65-F5344CB8AC3E}">
        <p14:creationId xmlns:p14="http://schemas.microsoft.com/office/powerpoint/2010/main" val="1912158129"/>
      </p:ext>
    </p:extLst>
  </p:cSld>
</p:sld>
</file>

<file path=ppt/slides/slide7.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3EE339-74EF-4C82-801C-F0965EB4F369}"/>
              </a:ext>
            </a:extLst>
          </p:cNvPr>
          <p:cNvSpPr>
            <a:spLocks xmlns:a="http://schemas.openxmlformats.org/drawingml/2006/main" noGrp="1"/>
          </p:cNvSpPr>
          <p:nvPr/>
        </p:nvSpPr>
        <p:spPr>
          <a:xfrm xmlns:a="http://schemas.openxmlformats.org/drawingml/2006/main">
            <a:off x="9715500" y="-342900"/>
            <a:ext cx="2514600" cy="2247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245A1A-9831-4AFB-B5C4-2C63C6BD66DF}"/>
              </a:ext>
            </a:extLst>
          </p:cNvPr>
          <p:cNvSpPr>
            <a:spLocks xmlns:a="http://schemas.openxmlformats.org/drawingml/2006/main" noGrp="1"/>
          </p:cNvSpPr>
          <p:nvPr/>
        </p:nvSpPr>
        <p:spPr>
          <a:xfrm xmlns:a="http://schemas.openxmlformats.org/drawingml/2006/main">
            <a:off x="-704850" y="5105400"/>
            <a:ext cx="1866900" cy="1866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21178A8-4CD8-4A93-880E-51CC469EFD2A}"/>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7D9C8"/>
          </a:solidFill>
          <a:ln xmlns:a="http://schemas.openxmlformats.org/drawingml/2006/main" w="0">
            <a:solidFill>
              <a:srgbClr val="E7D9C8"/>
            </a:solidFill>
            <a:prstDash val="solid"/>
          </a:ln>
        </p:spPr>
      </p:sp>
      <p:sp>
        <p:nvSpPr>
          <p:cNvPr id="4" name="">
            <a:extLst xmlns:a="http://schemas.openxmlformats.org/drawingml/2006/main">
              <a:ext uri="{FF2B5EF4-FFF2-40B4-BE49-F238E27FC236}">
                <a16:creationId xmlns:a16="http://schemas.microsoft.com/office/drawing/2014/main" id="{BDEC3C38-887E-48EF-93A3-52445988CB22}"/>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5" name="">
            <a:extLst xmlns:a="http://schemas.openxmlformats.org/drawingml/2006/main">
              <a:ext uri="{FF2B5EF4-FFF2-40B4-BE49-F238E27FC236}">
                <a16:creationId xmlns:a16="http://schemas.microsoft.com/office/drawing/2014/main" id="{70959E1C-2BAD-4DEF-8A96-2CE73E388EAE}"/>
              </a:ext>
            </a:extLst>
          </p:cNvPr>
          <p:cNvSpPr>
            <a:spLocks xmlns:a="http://schemas.openxmlformats.org/drawingml/2006/main" noGrp="1"/>
          </p:cNvSpPr>
          <p:nvPr/>
        </p:nvSpPr>
        <p:spPr>
          <a:xfrm xmlns:a="http://schemas.openxmlformats.org/drawingml/2006/main">
            <a:off x="1257300" y="571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E643F"/>
                </a:solidFill>
              </a:defRPr>
            </a:pPr>
            <a:r>
              <a:rPr sz="975" b="1">
                <a:solidFill>
                  <a:srgbClr val="BE643F"/>
                </a:solidFill>
              </a:rPr>
              <a:t>CORE QUESTION</a:t>
            </a:r>
          </a:p>
        </p:txBody>
      </p:sp>
      <p:sp>
        <p:nvSpPr>
          <p:cNvPr id="6" name="">
            <a:extLst xmlns:a="http://schemas.openxmlformats.org/drawingml/2006/main">
              <a:ext uri="{FF2B5EF4-FFF2-40B4-BE49-F238E27FC236}">
                <a16:creationId xmlns:a16="http://schemas.microsoft.com/office/drawing/2014/main" id="{290E2B8A-FED4-4A90-88AC-61A0449BFABF}"/>
              </a:ext>
            </a:extLst>
          </p:cNvPr>
          <p:cNvSpPr>
            <a:spLocks xmlns:a="http://schemas.openxmlformats.org/drawingml/2006/main" noGrp="1"/>
          </p:cNvSpPr>
          <p:nvPr/>
        </p:nvSpPr>
        <p:spPr>
          <a:xfrm xmlns:a="http://schemas.openxmlformats.org/drawingml/2006/main">
            <a:off x="1009650" y="1028700"/>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232B3A"/>
                </a:solidFill>
              </a:defRPr>
            </a:pPr>
            <a:r>
              <a:rPr sz="2325" b="1">
                <a:solidFill>
                  <a:srgbClr val="232B3A"/>
                </a:solidFill>
              </a:rPr>
              <a:t>Core question: How do generative AI answers change users' stopping thresholds, Bayesian posterior quality, and subjective information mastery?</a:t>
            </a:r>
          </a:p>
        </p:txBody>
      </p:sp>
      <p:sp>
        <p:nvSpPr>
          <p:cNvPr id="7" name="">
            <a:extLst xmlns:a="http://schemas.openxmlformats.org/drawingml/2006/main">
              <a:ext uri="{FF2B5EF4-FFF2-40B4-BE49-F238E27FC236}">
                <a16:creationId xmlns:a16="http://schemas.microsoft.com/office/drawing/2014/main" id="{5C1BB8BF-65E7-4779-AE36-B0DE1BC5A19A}"/>
              </a:ext>
            </a:extLst>
          </p:cNvPr>
          <p:cNvSpPr>
            <a:spLocks xmlns:a="http://schemas.openxmlformats.org/drawingml/2006/main" noGrp="1"/>
          </p:cNvSpPr>
          <p:nvPr/>
        </p:nvSpPr>
        <p:spPr>
          <a:xfrm xmlns:a="http://schemas.openxmlformats.org/drawingml/2006/main">
            <a:off x="1009650" y="19621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67085"/>
                </a:solidFill>
              </a:defRPr>
            </a:pPr>
            <a:r>
              <a:rPr sz="1350">
                <a:solidFill>
                  <a:srgbClr val="667085"/>
                </a:solidFill>
              </a:rPr>
              <a:t>The paper does not treat reduced raw-evidence viewing as search laziness. It reevaluates that behavior inside a Bayesian belief-updating framework.</a:t>
            </a:r>
          </a:p>
        </p:txBody>
      </p:sp>
      <p:sp>
        <p:nvSpPr>
          <p:cNvPr id="8" name="">
            <a:extLst xmlns:a="http://schemas.openxmlformats.org/drawingml/2006/main">
              <a:ext uri="{FF2B5EF4-FFF2-40B4-BE49-F238E27FC236}">
                <a16:creationId xmlns:a16="http://schemas.microsoft.com/office/drawing/2014/main" id="{375E59C0-047D-45CA-8523-FCCA328C18D6}"/>
              </a:ext>
            </a:extLst>
          </p:cNvPr>
          <p:cNvSpPr>
            <a:spLocks xmlns:a="http://schemas.openxmlformats.org/drawingml/2006/main" noGrp="1"/>
          </p:cNvSpPr>
          <p:nvPr/>
        </p:nvSpPr>
        <p:spPr>
          <a:xfrm xmlns:a="http://schemas.openxmlformats.org/drawingml/2006/main">
            <a:off x="914400" y="2571750"/>
            <a:ext cx="3810000" cy="2381250"/>
          </a:xfrm>
          <a:prstGeom xmlns:a="http://schemas.openxmlformats.org/drawingml/2006/main" prst="roundRect">
            <a:avLst>
              <a:gd name="adj" fmla="val 4800"/>
            </a:avLst>
          </a:prstGeom>
          <a:solidFill xmlns:a="http://schemas.openxmlformats.org/drawingml/2006/main">
            <a:srgbClr val="FEFCF8"/>
          </a:solidFill>
          <a:ln xmlns:a="http://schemas.openxmlformats.org/drawingml/2006/main" w="9525">
            <a:solidFill>
              <a:srgbClr val="F0E2D1"/>
            </a:solidFill>
            <a:prstDash val="solid"/>
          </a:ln>
        </p:spPr>
      </p:sp>
      <p:sp>
        <p:nvSpPr>
          <p:cNvPr id="9" name="">
            <a:extLst xmlns:a="http://schemas.openxmlformats.org/drawingml/2006/main">
              <a:ext uri="{FF2B5EF4-FFF2-40B4-BE49-F238E27FC236}">
                <a16:creationId xmlns:a16="http://schemas.microsoft.com/office/drawing/2014/main" id="{63F7F65A-3222-4A80-BBEC-C087C41ABDBC}"/>
              </a:ext>
            </a:extLst>
          </p:cNvPr>
          <p:cNvSpPr>
            <a:spLocks xmlns:a="http://schemas.openxmlformats.org/drawingml/2006/main" noGrp="1"/>
          </p:cNvSpPr>
          <p:nvPr/>
        </p:nvSpPr>
        <p:spPr>
          <a:xfrm xmlns:a="http://schemas.openxmlformats.org/drawingml/2006/main">
            <a:off x="914400" y="2571750"/>
            <a:ext cx="57150" cy="23812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10" name="">
            <a:extLst xmlns:a="http://schemas.openxmlformats.org/drawingml/2006/main">
              <a:ext uri="{FF2B5EF4-FFF2-40B4-BE49-F238E27FC236}">
                <a16:creationId xmlns:a16="http://schemas.microsoft.com/office/drawing/2014/main" id="{536B5B89-A795-484A-B0CF-0B9C4C58FA5E}"/>
              </a:ext>
            </a:extLst>
          </p:cNvPr>
          <p:cNvSpPr>
            <a:spLocks xmlns:a="http://schemas.openxmlformats.org/drawingml/2006/main" noGrp="1"/>
          </p:cNvSpPr>
          <p:nvPr/>
        </p:nvSpPr>
        <p:spPr>
          <a:xfrm xmlns:a="http://schemas.openxmlformats.org/drawingml/2006/main">
            <a:off x="1181100" y="2743200"/>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Framing</a:t>
            </a:r>
          </a:p>
        </p:txBody>
      </p:sp>
      <p:sp>
        <p:nvSpPr>
          <p:cNvPr id="11" name="">
            <a:extLst xmlns:a="http://schemas.openxmlformats.org/drawingml/2006/main">
              <a:ext uri="{FF2B5EF4-FFF2-40B4-BE49-F238E27FC236}">
                <a16:creationId xmlns:a16="http://schemas.microsoft.com/office/drawing/2014/main" id="{F7FF626A-0D5B-4E1A-8956-B2632C4F8DDD}"/>
              </a:ext>
            </a:extLst>
          </p:cNvPr>
          <p:cNvSpPr>
            <a:spLocks xmlns:a="http://schemas.openxmlformats.org/drawingml/2006/main" noGrp="1"/>
          </p:cNvSpPr>
          <p:nvPr/>
        </p:nvSpPr>
        <p:spPr>
          <a:xfrm xmlns:a="http://schemas.openxmlformats.org/drawingml/2006/main">
            <a:off x="1181100" y="3124200"/>
            <a:ext cx="33528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 Reduced raw-evidence viewing is not assumed to be lazy by default.</a:t>
            </a:r>
          </a:p>
          <a:p xmlns:a="http://schemas.openxmlformats.org/drawingml/2006/main">
            <a:r>
              <a:t/>
            </a:r>
          </a:p>
          <a:p xmlns:a="http://schemas.openxmlformats.org/drawingml/2006/main">
            <a:pPr>
              <a:defRPr sz="1275">
                <a:solidFill>
                  <a:srgbClr val="667085"/>
                </a:solidFill>
              </a:defRPr>
            </a:pPr>
            <a:r>
              <a:rPr sz="1275">
                <a:solidFill>
                  <a:srgbClr val="667085"/>
                </a:solidFill>
              </a:rPr>
              <a:t>• The key question is whether AI changes how sufficient the current evidence feels.</a:t>
            </a:r>
          </a:p>
          <a:p xmlns:a="http://schemas.openxmlformats.org/drawingml/2006/main">
            <a:r>
              <a:t/>
            </a:r>
          </a:p>
          <a:p xmlns:a="http://schemas.openxmlformats.org/drawingml/2006/main">
            <a:pPr>
              <a:defRPr sz="1275">
                <a:solidFill>
                  <a:srgbClr val="667085"/>
                </a:solidFill>
              </a:defRPr>
            </a:pPr>
            <a:r>
              <a:rPr sz="1275">
                <a:solidFill>
                  <a:srgbClr val="667085"/>
                </a:solidFill>
              </a:rPr>
              <a:t>• Information calibration asks whether perceived sufficiency stays aligned with the real value of further evidence.</a:t>
            </a:r>
          </a:p>
        </p:txBody>
      </p:sp>
      <p:sp>
        <p:nvSpPr>
          <p:cNvPr id="12" name="">
            <a:extLst xmlns:a="http://schemas.openxmlformats.org/drawingml/2006/main">
              <a:ext uri="{FF2B5EF4-FFF2-40B4-BE49-F238E27FC236}">
                <a16:creationId xmlns:a16="http://schemas.microsoft.com/office/drawing/2014/main" id="{6884247C-BA7A-43AA-9137-FAA1924B1D3B}"/>
              </a:ext>
            </a:extLst>
          </p:cNvPr>
          <p:cNvSpPr>
            <a:spLocks xmlns:a="http://schemas.openxmlformats.org/drawingml/2006/main" noGrp="1"/>
          </p:cNvSpPr>
          <p:nvPr/>
        </p:nvSpPr>
        <p:spPr>
          <a:xfrm xmlns:a="http://schemas.openxmlformats.org/drawingml/2006/main">
            <a:off x="5048250" y="2571750"/>
            <a:ext cx="6153150" cy="2381250"/>
          </a:xfrm>
          <a:prstGeom xmlns:a="http://schemas.openxmlformats.org/drawingml/2006/main" prst="roundRect">
            <a:avLst>
              <a:gd name="adj" fmla="val 4800"/>
            </a:avLst>
          </a:prstGeom>
          <a:solidFill xmlns:a="http://schemas.openxmlformats.org/drawingml/2006/main">
            <a:srgbClr val="FEFCF8"/>
          </a:solidFill>
          <a:ln xmlns:a="http://schemas.openxmlformats.org/drawingml/2006/main" w="9525">
            <a:solidFill>
              <a:srgbClr val="F0E2D1"/>
            </a:solidFill>
            <a:prstDash val="solid"/>
          </a:ln>
        </p:spPr>
      </p:sp>
      <p:sp>
        <p:nvSpPr>
          <p:cNvPr id="13" name="">
            <a:extLst xmlns:a="http://schemas.openxmlformats.org/drawingml/2006/main">
              <a:ext uri="{FF2B5EF4-FFF2-40B4-BE49-F238E27FC236}">
                <a16:creationId xmlns:a16="http://schemas.microsoft.com/office/drawing/2014/main" id="{D3271FDD-6257-4FBF-A943-BE67EE0D0066}"/>
              </a:ext>
            </a:extLst>
          </p:cNvPr>
          <p:cNvSpPr>
            <a:spLocks xmlns:a="http://schemas.openxmlformats.org/drawingml/2006/main" noGrp="1"/>
          </p:cNvSpPr>
          <p:nvPr/>
        </p:nvSpPr>
        <p:spPr>
          <a:xfrm xmlns:a="http://schemas.openxmlformats.org/drawingml/2006/main">
            <a:off x="5048250" y="2571750"/>
            <a:ext cx="57150" cy="2381250"/>
          </a:xfrm>
          <a:prstGeom xmlns:a="http://schemas.openxmlformats.org/drawingml/2006/main" prst="rect">
            <a:avLst/>
          </a:prstGeom>
          <a:solidFill xmlns:a="http://schemas.openxmlformats.org/drawingml/2006/main">
            <a:srgbClr val="D1A63A"/>
          </a:solidFill>
          <a:ln xmlns:a="http://schemas.openxmlformats.org/drawingml/2006/main" w="0">
            <a:solidFill>
              <a:srgbClr val="D1A63A"/>
            </a:solidFill>
            <a:prstDash val="solid"/>
          </a:ln>
        </p:spPr>
      </p:sp>
      <p:sp>
        <p:nvSpPr>
          <p:cNvPr id="14" name="">
            <a:extLst xmlns:a="http://schemas.openxmlformats.org/drawingml/2006/main">
              <a:ext uri="{FF2B5EF4-FFF2-40B4-BE49-F238E27FC236}">
                <a16:creationId xmlns:a16="http://schemas.microsoft.com/office/drawing/2014/main" id="{6394E517-F9B8-46E5-AF4E-99FA998B969C}"/>
              </a:ext>
            </a:extLst>
          </p:cNvPr>
          <p:cNvSpPr>
            <a:spLocks xmlns:a="http://schemas.openxmlformats.org/drawingml/2006/main" noGrp="1"/>
          </p:cNvSpPr>
          <p:nvPr/>
        </p:nvSpPr>
        <p:spPr>
          <a:xfrm xmlns:a="http://schemas.openxmlformats.org/drawingml/2006/main">
            <a:off x="5314950" y="2743200"/>
            <a:ext cx="558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Mechanism in one line</a:t>
            </a:r>
          </a:p>
        </p:txBody>
      </p:sp>
      <p:sp>
        <p:nvSpPr>
          <p:cNvPr id="15" name="">
            <a:extLst xmlns:a="http://schemas.openxmlformats.org/drawingml/2006/main">
              <a:ext uri="{FF2B5EF4-FFF2-40B4-BE49-F238E27FC236}">
                <a16:creationId xmlns:a16="http://schemas.microsoft.com/office/drawing/2014/main" id="{8A56AA3A-A9D3-4097-8681-C5B57A44E01F}"/>
              </a:ext>
            </a:extLst>
          </p:cNvPr>
          <p:cNvSpPr>
            <a:spLocks xmlns:a="http://schemas.openxmlformats.org/drawingml/2006/main" noGrp="1"/>
          </p:cNvSpPr>
          <p:nvPr/>
        </p:nvSpPr>
        <p:spPr>
          <a:xfrm xmlns:a="http://schemas.openxmlformats.org/drawingml/2006/main">
            <a:off x="5638800" y="31051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667085"/>
                </a:solidFill>
              </a:defRPr>
            </a:pPr>
            <a:r>
              <a:rPr sz="1275" b="1">
                <a:solidFill>
                  <a:srgbClr val="667085"/>
                </a:solidFill>
              </a:rPr>
              <a:t>AI answer / AI label</a:t>
            </a:r>
          </a:p>
        </p:txBody>
      </p:sp>
      <p:sp>
        <p:nvSpPr>
          <p:cNvPr id="16" name="">
            <a:extLst xmlns:a="http://schemas.openxmlformats.org/drawingml/2006/main">
              <a:ext uri="{FF2B5EF4-FFF2-40B4-BE49-F238E27FC236}">
                <a16:creationId xmlns:a16="http://schemas.microsoft.com/office/drawing/2014/main" id="{578676D6-073A-48F1-85DA-26B773689D9F}"/>
              </a:ext>
            </a:extLst>
          </p:cNvPr>
          <p:cNvSpPr>
            <a:spLocks xmlns:a="http://schemas.openxmlformats.org/drawingml/2006/main" noGrp="1"/>
          </p:cNvSpPr>
          <p:nvPr/>
        </p:nvSpPr>
        <p:spPr>
          <a:xfrm xmlns:a="http://schemas.openxmlformats.org/drawingml/2006/main">
            <a:off x="7829550" y="32956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a:solidFill>
                  <a:srgbClr val="D1A63A"/>
                </a:solidFill>
              </a:defRPr>
            </a:pPr>
            <a:r>
              <a:rPr sz="1350">
                <a:solidFill>
                  <a:srgbClr val="D1A63A"/>
                </a:solidFill>
              </a:rPr>
              <a:t>↓</a:t>
            </a:r>
          </a:p>
        </p:txBody>
      </p:sp>
      <p:sp>
        <p:nvSpPr>
          <p:cNvPr id="17" name="">
            <a:extLst xmlns:a="http://schemas.openxmlformats.org/drawingml/2006/main">
              <a:ext uri="{FF2B5EF4-FFF2-40B4-BE49-F238E27FC236}">
                <a16:creationId xmlns:a16="http://schemas.microsoft.com/office/drawing/2014/main" id="{2D02CA61-758C-4BBC-9BB3-A72DDAA1A6DA}"/>
              </a:ext>
            </a:extLst>
          </p:cNvPr>
          <p:cNvSpPr>
            <a:spLocks xmlns:a="http://schemas.openxmlformats.org/drawingml/2006/main" noGrp="1"/>
          </p:cNvSpPr>
          <p:nvPr/>
        </p:nvSpPr>
        <p:spPr>
          <a:xfrm xmlns:a="http://schemas.openxmlformats.org/drawingml/2006/main">
            <a:off x="5638800" y="34099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67085"/>
                </a:solidFill>
              </a:defRPr>
            </a:pPr>
            <a:r>
              <a:rPr sz="1275" b="0">
                <a:solidFill>
                  <a:srgbClr val="667085"/>
                </a:solidFill>
              </a:rPr>
              <a:t>inferred hidden search-and-integration process</a:t>
            </a:r>
          </a:p>
        </p:txBody>
      </p:sp>
      <p:sp>
        <p:nvSpPr>
          <p:cNvPr id="18" name="">
            <a:extLst xmlns:a="http://schemas.openxmlformats.org/drawingml/2006/main">
              <a:ext uri="{FF2B5EF4-FFF2-40B4-BE49-F238E27FC236}">
                <a16:creationId xmlns:a16="http://schemas.microsoft.com/office/drawing/2014/main" id="{375F8930-4AD7-4925-AC84-DD9CB2EEBAC0}"/>
              </a:ext>
            </a:extLst>
          </p:cNvPr>
          <p:cNvSpPr>
            <a:spLocks xmlns:a="http://schemas.openxmlformats.org/drawingml/2006/main" noGrp="1"/>
          </p:cNvSpPr>
          <p:nvPr/>
        </p:nvSpPr>
        <p:spPr>
          <a:xfrm xmlns:a="http://schemas.openxmlformats.org/drawingml/2006/main">
            <a:off x="7829550" y="36004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a:solidFill>
                  <a:srgbClr val="D1A63A"/>
                </a:solidFill>
              </a:defRPr>
            </a:pPr>
            <a:r>
              <a:rPr sz="1350">
                <a:solidFill>
                  <a:srgbClr val="D1A63A"/>
                </a:solidFill>
              </a:rPr>
              <a:t>↓</a:t>
            </a:r>
          </a:p>
        </p:txBody>
      </p:sp>
      <p:sp>
        <p:nvSpPr>
          <p:cNvPr id="19" name="">
            <a:extLst xmlns:a="http://schemas.openxmlformats.org/drawingml/2006/main">
              <a:ext uri="{FF2B5EF4-FFF2-40B4-BE49-F238E27FC236}">
                <a16:creationId xmlns:a16="http://schemas.microsoft.com/office/drawing/2014/main" id="{574769AC-C1A0-4C08-B15F-AEF4A8ED0075}"/>
              </a:ext>
            </a:extLst>
          </p:cNvPr>
          <p:cNvSpPr>
            <a:spLocks xmlns:a="http://schemas.openxmlformats.org/drawingml/2006/main" noGrp="1"/>
          </p:cNvSpPr>
          <p:nvPr/>
        </p:nvSpPr>
        <p:spPr>
          <a:xfrm xmlns:a="http://schemas.openxmlformats.org/drawingml/2006/main">
            <a:off x="5638800" y="3714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67085"/>
                </a:solidFill>
              </a:defRPr>
            </a:pPr>
            <a:r>
              <a:rPr sz="1275" b="0">
                <a:solidFill>
                  <a:srgbClr val="667085"/>
                </a:solidFill>
              </a:rPr>
              <a:t>perceived evidentiary sufficiency rises</a:t>
            </a:r>
          </a:p>
        </p:txBody>
      </p:sp>
      <p:sp>
        <p:nvSpPr>
          <p:cNvPr id="20" name="">
            <a:extLst xmlns:a="http://schemas.openxmlformats.org/drawingml/2006/main">
              <a:ext uri="{FF2B5EF4-FFF2-40B4-BE49-F238E27FC236}">
                <a16:creationId xmlns:a16="http://schemas.microsoft.com/office/drawing/2014/main" id="{34813298-9FAB-4C19-9F58-1D6A83234B07}"/>
              </a:ext>
            </a:extLst>
          </p:cNvPr>
          <p:cNvSpPr>
            <a:spLocks xmlns:a="http://schemas.openxmlformats.org/drawingml/2006/main" noGrp="1"/>
          </p:cNvSpPr>
          <p:nvPr/>
        </p:nvSpPr>
        <p:spPr>
          <a:xfrm xmlns:a="http://schemas.openxmlformats.org/drawingml/2006/main">
            <a:off x="7829550" y="39052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a:solidFill>
                  <a:srgbClr val="D1A63A"/>
                </a:solidFill>
              </a:defRPr>
            </a:pPr>
            <a:r>
              <a:rPr sz="1350">
                <a:solidFill>
                  <a:srgbClr val="D1A63A"/>
                </a:solidFill>
              </a:rPr>
              <a:t>↓</a:t>
            </a:r>
          </a:p>
        </p:txBody>
      </p:sp>
      <p:sp>
        <p:nvSpPr>
          <p:cNvPr id="21" name="">
            <a:extLst xmlns:a="http://schemas.openxmlformats.org/drawingml/2006/main">
              <a:ext uri="{FF2B5EF4-FFF2-40B4-BE49-F238E27FC236}">
                <a16:creationId xmlns:a16="http://schemas.microsoft.com/office/drawing/2014/main" id="{57D2E6EF-FF2C-4CE5-96CA-02B468586109}"/>
              </a:ext>
            </a:extLst>
          </p:cNvPr>
          <p:cNvSpPr>
            <a:spLocks xmlns:a="http://schemas.openxmlformats.org/drawingml/2006/main" noGrp="1"/>
          </p:cNvSpPr>
          <p:nvPr/>
        </p:nvSpPr>
        <p:spPr>
          <a:xfrm xmlns:a="http://schemas.openxmlformats.org/drawingml/2006/main">
            <a:off x="5638800" y="40195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67085"/>
                </a:solidFill>
              </a:defRPr>
            </a:pPr>
            <a:r>
              <a:rPr sz="1275" b="0">
                <a:solidFill>
                  <a:srgbClr val="667085"/>
                </a:solidFill>
              </a:rPr>
              <a:t>the value of additional evidence falls</a:t>
            </a:r>
          </a:p>
        </p:txBody>
      </p:sp>
      <p:sp>
        <p:nvSpPr>
          <p:cNvPr id="22" name="">
            <a:extLst xmlns:a="http://schemas.openxmlformats.org/drawingml/2006/main">
              <a:ext uri="{FF2B5EF4-FFF2-40B4-BE49-F238E27FC236}">
                <a16:creationId xmlns:a16="http://schemas.microsoft.com/office/drawing/2014/main" id="{570FAD64-A4A5-4B53-9828-AB623D005774}"/>
              </a:ext>
            </a:extLst>
          </p:cNvPr>
          <p:cNvSpPr>
            <a:spLocks xmlns:a="http://schemas.openxmlformats.org/drawingml/2006/main" noGrp="1"/>
          </p:cNvSpPr>
          <p:nvPr/>
        </p:nvSpPr>
        <p:spPr>
          <a:xfrm xmlns:a="http://schemas.openxmlformats.org/drawingml/2006/main">
            <a:off x="7829550" y="4210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a:solidFill>
                  <a:srgbClr val="D1A63A"/>
                </a:solidFill>
              </a:defRPr>
            </a:pPr>
            <a:r>
              <a:rPr sz="1350">
                <a:solidFill>
                  <a:srgbClr val="D1A63A"/>
                </a:solidFill>
              </a:rPr>
              <a:t>↓</a:t>
            </a:r>
          </a:p>
        </p:txBody>
      </p:sp>
      <p:sp>
        <p:nvSpPr>
          <p:cNvPr id="23" name="">
            <a:extLst xmlns:a="http://schemas.openxmlformats.org/drawingml/2006/main">
              <a:ext uri="{FF2B5EF4-FFF2-40B4-BE49-F238E27FC236}">
                <a16:creationId xmlns:a16="http://schemas.microsoft.com/office/drawing/2014/main" id="{BDEA695B-2AA2-445E-A160-45CC1C0746DE}"/>
              </a:ext>
            </a:extLst>
          </p:cNvPr>
          <p:cNvSpPr>
            <a:spLocks xmlns:a="http://schemas.openxmlformats.org/drawingml/2006/main" noGrp="1"/>
          </p:cNvSpPr>
          <p:nvPr/>
        </p:nvSpPr>
        <p:spPr>
          <a:xfrm xmlns:a="http://schemas.openxmlformats.org/drawingml/2006/main">
            <a:off x="5638800" y="4324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E643F"/>
                </a:solidFill>
              </a:defRPr>
            </a:pPr>
            <a:r>
              <a:rPr sz="1350" b="1">
                <a:solidFill>
                  <a:srgbClr val="BE643F"/>
                </a:solidFill>
              </a:rPr>
              <a:t>the stopping threshold shifts forward</a:t>
            </a:r>
          </a:p>
        </p:txBody>
      </p:sp>
      <p:sp>
        <p:nvSpPr>
          <p:cNvPr id="24" name="">
            <a:extLst xmlns:a="http://schemas.openxmlformats.org/drawingml/2006/main">
              <a:ext uri="{FF2B5EF4-FFF2-40B4-BE49-F238E27FC236}">
                <a16:creationId xmlns:a16="http://schemas.microsoft.com/office/drawing/2014/main" id="{015AC50D-4FA8-429B-B318-89A58755CD23}"/>
              </a:ext>
            </a:extLst>
          </p:cNvPr>
          <p:cNvSpPr>
            <a:spLocks xmlns:a="http://schemas.openxmlformats.org/drawingml/2006/main" noGrp="1"/>
          </p:cNvSpPr>
          <p:nvPr/>
        </p:nvSpPr>
        <p:spPr>
          <a:xfrm xmlns:a="http://schemas.openxmlformats.org/drawingml/2006/main">
            <a:off x="1676400" y="54292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i="1">
                <a:solidFill>
                  <a:srgbClr val="667085"/>
                </a:solidFill>
              </a:defRPr>
            </a:pPr>
            <a:r>
              <a:rPr sz="1275" i="1">
                <a:solidFill>
                  <a:srgbClr val="667085"/>
                </a:solidFill>
              </a:rPr>
              <a:t>The paper therefore studies whether AI shifts the stopping rule by changing perceived evidentiary sufficiency.</a:t>
            </a:r>
          </a:p>
        </p:txBody>
      </p:sp>
    </p:spTree>
    <p:extLst>
      <p:ext uri="{BB962C8B-B14F-4D97-AF65-F5344CB8AC3E}">
        <p14:creationId xmlns:p14="http://schemas.microsoft.com/office/powerpoint/2010/main" val="895032069"/>
      </p:ext>
    </p:extLst>
  </p:cSld>
</p:sld>
</file>

<file path=ppt/slides/slide8.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033645-3335-4E5A-BBB6-E1D2951F49E1}"/>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A2FE45E6-CEE1-4D72-AB5A-75B6B9DBBE98}"/>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6F71D3B0-07A4-4AE4-AA44-DB800C51153B}"/>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5FE3B35A-3763-4FED-A6AF-CDEAD583B2C4}"/>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9D43AD7D-3FD9-40BB-8BCE-CD1894748676}"/>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RESEARCH QUESTIONS</a:t>
            </a:r>
          </a:p>
        </p:txBody>
      </p:sp>
      <p:sp>
        <p:nvSpPr>
          <p:cNvPr id="6" name="">
            <a:extLst xmlns:a="http://schemas.openxmlformats.org/drawingml/2006/main">
              <a:ext uri="{FF2B5EF4-FFF2-40B4-BE49-F238E27FC236}">
                <a16:creationId xmlns:a16="http://schemas.microsoft.com/office/drawing/2014/main" id="{BA25C5C7-7DC4-403D-BCF2-A596A048A60B}"/>
              </a:ext>
            </a:extLst>
          </p:cNvPr>
          <p:cNvSpPr>
            <a:spLocks xmlns:a="http://schemas.openxmlformats.org/drawingml/2006/main" noGrp="1"/>
          </p:cNvSpPr>
          <p:nvPr/>
        </p:nvSpPr>
        <p:spPr>
          <a:xfrm xmlns:a="http://schemas.openxmlformats.org/drawingml/2006/main">
            <a:off x="914400" y="914400"/>
            <a:ext cx="8191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E2433"/>
                </a:solidFill>
                <a:latin typeface="Times New Roman"/>
                <a:ea typeface="Times New Roman"/>
                <a:cs typeface="Times New Roman"/>
              </a:defRPr>
            </a:pPr>
            <a:r>
              <a:rPr sz="2700" b="1" i="0">
                <a:solidFill>
                  <a:srgbClr val="1E2433"/>
                </a:solidFill>
                <a:latin typeface="Times New Roman"/>
                <a:ea typeface="Times New Roman"/>
                <a:cs typeface="Times New Roman"/>
              </a:rPr>
              <a:t>The study asks three linked questions</a:t>
            </a:r>
          </a:p>
        </p:txBody>
      </p:sp>
      <p:sp>
        <p:nvSpPr>
          <p:cNvPr id="7" name="">
            <a:extLst xmlns:a="http://schemas.openxmlformats.org/drawingml/2006/main">
              <a:ext uri="{FF2B5EF4-FFF2-40B4-BE49-F238E27FC236}">
                <a16:creationId xmlns:a16="http://schemas.microsoft.com/office/drawing/2014/main" id="{53F2C81A-E665-4015-864D-D82938163388}"/>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sequence runs from behavior, to normative evaluation, to metacognitive calibration.</a:t>
            </a:r>
          </a:p>
        </p:txBody>
      </p:sp>
      <p:sp>
        <p:nvSpPr>
          <p:cNvPr id="8" name="">
            <a:extLst xmlns:a="http://schemas.openxmlformats.org/drawingml/2006/main">
              <a:ext uri="{FF2B5EF4-FFF2-40B4-BE49-F238E27FC236}">
                <a16:creationId xmlns:a16="http://schemas.microsoft.com/office/drawing/2014/main" id="{D0C41044-7178-4BC7-B819-5383FA702D91}"/>
              </a:ext>
            </a:extLst>
          </p:cNvPr>
          <p:cNvSpPr>
            <a:spLocks xmlns:a="http://schemas.openxmlformats.org/drawingml/2006/main" noGrp="1"/>
          </p:cNvSpPr>
          <p:nvPr/>
        </p:nvSpPr>
        <p:spPr>
          <a:xfrm xmlns:a="http://schemas.openxmlformats.org/drawingml/2006/main">
            <a:off x="914400" y="2266950"/>
            <a:ext cx="3086100" cy="2819400"/>
          </a:xfrm>
          <a:prstGeom xmlns:a="http://schemas.openxmlformats.org/drawingml/2006/main" prst="roundRect">
            <a:avLst>
              <a:gd name="adj" fmla="val 2703"/>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CB8FB26E-BEC0-4EB6-A412-9FC3BC718533}"/>
              </a:ext>
            </a:extLst>
          </p:cNvPr>
          <p:cNvSpPr>
            <a:spLocks xmlns:a="http://schemas.openxmlformats.org/drawingml/2006/main" noGrp="1"/>
          </p:cNvSpPr>
          <p:nvPr/>
        </p:nvSpPr>
        <p:spPr>
          <a:xfrm xmlns:a="http://schemas.openxmlformats.org/drawingml/2006/main">
            <a:off x="914400" y="2266950"/>
            <a:ext cx="57150" cy="28194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2BC754C2-10A6-4836-8965-DACE8EAB6A61}"/>
              </a:ext>
            </a:extLst>
          </p:cNvPr>
          <p:cNvSpPr>
            <a:spLocks xmlns:a="http://schemas.openxmlformats.org/drawingml/2006/main" noGrp="1"/>
          </p:cNvSpPr>
          <p:nvPr/>
        </p:nvSpPr>
        <p:spPr>
          <a:xfrm xmlns:a="http://schemas.openxmlformats.org/drawingml/2006/main">
            <a:off x="1085850" y="23812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E2433"/>
                </a:solidFill>
                <a:latin typeface="Times New Roman"/>
                <a:ea typeface="Times New Roman"/>
                <a:cs typeface="Times New Roman"/>
              </a:defRPr>
            </a:pPr>
            <a:r>
              <a:rPr sz="2100" b="1" i="0">
                <a:solidFill>
                  <a:srgbClr val="1E2433"/>
                </a:solidFill>
                <a:latin typeface="Times New Roman"/>
                <a:ea typeface="Times New Roman"/>
                <a:cs typeface="Times New Roman"/>
              </a:rPr>
              <a:t>RQ1</a:t>
            </a:r>
          </a:p>
        </p:txBody>
      </p:sp>
      <p:sp>
        <p:nvSpPr>
          <p:cNvPr id="11" name="">
            <a:extLst xmlns:a="http://schemas.openxmlformats.org/drawingml/2006/main">
              <a:ext uri="{FF2B5EF4-FFF2-40B4-BE49-F238E27FC236}">
                <a16:creationId xmlns:a16="http://schemas.microsoft.com/office/drawing/2014/main" id="{52C3899C-6FAB-4D02-910F-62F098478ADC}"/>
              </a:ext>
            </a:extLst>
          </p:cNvPr>
          <p:cNvSpPr>
            <a:spLocks xmlns:a="http://schemas.openxmlformats.org/drawingml/2006/main" noGrp="1"/>
          </p:cNvSpPr>
          <p:nvPr/>
        </p:nvSpPr>
        <p:spPr>
          <a:xfrm xmlns:a="http://schemas.openxmlformats.org/drawingml/2006/main">
            <a:off x="1085850" y="2724150"/>
            <a:ext cx="28003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i="0">
                <a:solidFill>
                  <a:srgbClr val="5E6675"/>
                </a:solidFill>
                <a:latin typeface="Times New Roman"/>
                <a:ea typeface="Times New Roman"/>
                <a:cs typeface="Times New Roman"/>
              </a:defRPr>
            </a:pPr>
            <a:r>
              <a:rPr sz="1650" b="0" i="0">
                <a:solidFill>
                  <a:srgbClr val="5E6675"/>
                </a:solidFill>
                <a:latin typeface="Times New Roman"/>
                <a:ea typeface="Times New Roman"/>
                <a:cs typeface="Times New Roman"/>
              </a:rPr>
              <a:t>Does an AI-labeled summary lower the stopping threshold for additional search?</a:t>
            </a:r>
          </a:p>
        </p:txBody>
      </p:sp>
      <p:sp>
        <p:nvSpPr>
          <p:cNvPr id="12" name="">
            <a:extLst xmlns:a="http://schemas.openxmlformats.org/drawingml/2006/main">
              <a:ext uri="{FF2B5EF4-FFF2-40B4-BE49-F238E27FC236}">
                <a16:creationId xmlns:a16="http://schemas.microsoft.com/office/drawing/2014/main" id="{57C7F6BA-D4AD-41D1-8D1F-8D1C3F5D8A82}"/>
              </a:ext>
            </a:extLst>
          </p:cNvPr>
          <p:cNvSpPr>
            <a:spLocks xmlns:a="http://schemas.openxmlformats.org/drawingml/2006/main" noGrp="1"/>
          </p:cNvSpPr>
          <p:nvPr/>
        </p:nvSpPr>
        <p:spPr>
          <a:xfrm xmlns:a="http://schemas.openxmlformats.org/drawingml/2006/main">
            <a:off x="4552950" y="2266950"/>
            <a:ext cx="3086100" cy="2819400"/>
          </a:xfrm>
          <a:prstGeom xmlns:a="http://schemas.openxmlformats.org/drawingml/2006/main" prst="roundRect">
            <a:avLst>
              <a:gd name="adj" fmla="val 2703"/>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5300E776-550A-4E0C-8911-D0B0D763ED33}"/>
              </a:ext>
            </a:extLst>
          </p:cNvPr>
          <p:cNvSpPr>
            <a:spLocks xmlns:a="http://schemas.openxmlformats.org/drawingml/2006/main" noGrp="1"/>
          </p:cNvSpPr>
          <p:nvPr/>
        </p:nvSpPr>
        <p:spPr>
          <a:xfrm xmlns:a="http://schemas.openxmlformats.org/drawingml/2006/main">
            <a:off x="4552950" y="2266950"/>
            <a:ext cx="57150" cy="28194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AA247021-0445-42A6-BD23-7535241606B4}"/>
              </a:ext>
            </a:extLst>
          </p:cNvPr>
          <p:cNvSpPr>
            <a:spLocks xmlns:a="http://schemas.openxmlformats.org/drawingml/2006/main" noGrp="1"/>
          </p:cNvSpPr>
          <p:nvPr/>
        </p:nvSpPr>
        <p:spPr>
          <a:xfrm xmlns:a="http://schemas.openxmlformats.org/drawingml/2006/main">
            <a:off x="4724400" y="2381250"/>
            <a:ext cx="2800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E2433"/>
                </a:solidFill>
                <a:latin typeface="Times New Roman"/>
                <a:ea typeface="Times New Roman"/>
                <a:cs typeface="Times New Roman"/>
              </a:defRPr>
            </a:pPr>
            <a:r>
              <a:rPr sz="2100" b="1" i="0">
                <a:solidFill>
                  <a:srgbClr val="1E2433"/>
                </a:solidFill>
                <a:latin typeface="Times New Roman"/>
                <a:ea typeface="Times New Roman"/>
                <a:cs typeface="Times New Roman"/>
              </a:rPr>
              <a:t>RQ2</a:t>
            </a:r>
          </a:p>
        </p:txBody>
      </p:sp>
      <p:sp>
        <p:nvSpPr>
          <p:cNvPr id="15" name="">
            <a:extLst xmlns:a="http://schemas.openxmlformats.org/drawingml/2006/main">
              <a:ext uri="{FF2B5EF4-FFF2-40B4-BE49-F238E27FC236}">
                <a16:creationId xmlns:a16="http://schemas.microsoft.com/office/drawing/2014/main" id="{2348EBCF-359C-4EAE-B4AB-30B6EA4FFBAB}"/>
              </a:ext>
            </a:extLst>
          </p:cNvPr>
          <p:cNvSpPr>
            <a:spLocks xmlns:a="http://schemas.openxmlformats.org/drawingml/2006/main" noGrp="1"/>
          </p:cNvSpPr>
          <p:nvPr/>
        </p:nvSpPr>
        <p:spPr>
          <a:xfrm xmlns:a="http://schemas.openxmlformats.org/drawingml/2006/main">
            <a:off x="4724400" y="2724150"/>
            <a:ext cx="28003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When search falls, is that rational information compression or harmful information-acquisition deviation?</a:t>
            </a:r>
          </a:p>
        </p:txBody>
      </p:sp>
      <p:sp>
        <p:nvSpPr>
          <p:cNvPr id="16" name="">
            <a:extLst xmlns:a="http://schemas.openxmlformats.org/drawingml/2006/main">
              <a:ext uri="{FF2B5EF4-FFF2-40B4-BE49-F238E27FC236}">
                <a16:creationId xmlns:a16="http://schemas.microsoft.com/office/drawing/2014/main" id="{C26DC28C-E0A0-4496-BFB4-C6DFC80DF4E3}"/>
              </a:ext>
            </a:extLst>
          </p:cNvPr>
          <p:cNvSpPr>
            <a:spLocks xmlns:a="http://schemas.openxmlformats.org/drawingml/2006/main" noGrp="1"/>
          </p:cNvSpPr>
          <p:nvPr/>
        </p:nvSpPr>
        <p:spPr>
          <a:xfrm xmlns:a="http://schemas.openxmlformats.org/drawingml/2006/main">
            <a:off x="8191500" y="2266950"/>
            <a:ext cx="3009900" cy="2819400"/>
          </a:xfrm>
          <a:prstGeom xmlns:a="http://schemas.openxmlformats.org/drawingml/2006/main" prst="roundRect">
            <a:avLst>
              <a:gd name="adj" fmla="val 2703"/>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D5504B0C-D9A1-4DE0-A2A3-8DCBD79FD435}"/>
              </a:ext>
            </a:extLst>
          </p:cNvPr>
          <p:cNvSpPr>
            <a:spLocks xmlns:a="http://schemas.openxmlformats.org/drawingml/2006/main" noGrp="1"/>
          </p:cNvSpPr>
          <p:nvPr/>
        </p:nvSpPr>
        <p:spPr>
          <a:xfrm xmlns:a="http://schemas.openxmlformats.org/drawingml/2006/main">
            <a:off x="8191500" y="2266950"/>
            <a:ext cx="57150" cy="281940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8" name="">
            <a:extLst xmlns:a="http://schemas.openxmlformats.org/drawingml/2006/main">
              <a:ext uri="{FF2B5EF4-FFF2-40B4-BE49-F238E27FC236}">
                <a16:creationId xmlns:a16="http://schemas.microsoft.com/office/drawing/2014/main" id="{6861AD37-B2BE-4D3A-81B2-BE387F90A1E4}"/>
              </a:ext>
            </a:extLst>
          </p:cNvPr>
          <p:cNvSpPr>
            <a:spLocks xmlns:a="http://schemas.openxmlformats.org/drawingml/2006/main" noGrp="1"/>
          </p:cNvSpPr>
          <p:nvPr/>
        </p:nvSpPr>
        <p:spPr>
          <a:xfrm xmlns:a="http://schemas.openxmlformats.org/drawingml/2006/main">
            <a:off x="8362950" y="2381250"/>
            <a:ext cx="272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i="0">
                <a:solidFill>
                  <a:srgbClr val="1E2433"/>
                </a:solidFill>
                <a:latin typeface="Times New Roman"/>
                <a:ea typeface="Times New Roman"/>
                <a:cs typeface="Times New Roman"/>
              </a:defRPr>
            </a:pPr>
            <a:r>
              <a:rPr sz="2100" b="1" i="0">
                <a:solidFill>
                  <a:srgbClr val="1E2433"/>
                </a:solidFill>
                <a:latin typeface="Times New Roman"/>
                <a:ea typeface="Times New Roman"/>
                <a:cs typeface="Times New Roman"/>
              </a:rPr>
              <a:t>RQ3</a:t>
            </a:r>
          </a:p>
        </p:txBody>
      </p:sp>
      <p:sp>
        <p:nvSpPr>
          <p:cNvPr id="19" name="">
            <a:extLst xmlns:a="http://schemas.openxmlformats.org/drawingml/2006/main">
              <a:ext uri="{FF2B5EF4-FFF2-40B4-BE49-F238E27FC236}">
                <a16:creationId xmlns:a16="http://schemas.microsoft.com/office/drawing/2014/main" id="{1C93DB62-B70F-4C97-858C-1680A21E5127}"/>
              </a:ext>
            </a:extLst>
          </p:cNvPr>
          <p:cNvSpPr>
            <a:spLocks xmlns:a="http://schemas.openxmlformats.org/drawingml/2006/main" noGrp="1"/>
          </p:cNvSpPr>
          <p:nvPr/>
        </p:nvSpPr>
        <p:spPr>
          <a:xfrm xmlns:a="http://schemas.openxmlformats.org/drawingml/2006/main">
            <a:off x="8362950" y="2724150"/>
            <a:ext cx="27241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E6675"/>
                </a:solidFill>
                <a:latin typeface="Times New Roman"/>
                <a:ea typeface="Times New Roman"/>
                <a:cs typeface="Times New Roman"/>
              </a:defRPr>
            </a:pPr>
            <a:r>
              <a:rPr sz="1575" b="0" i="0">
                <a:solidFill>
                  <a:srgbClr val="5E6675"/>
                </a:solidFill>
                <a:latin typeface="Times New Roman"/>
                <a:ea typeface="Times New Roman"/>
                <a:cs typeface="Times New Roman"/>
              </a:rPr>
              <a:t>Does subjective information mastery become misaligned with objective judgment quality?</a:t>
            </a:r>
          </a:p>
        </p:txBody>
      </p:sp>
    </p:spTree>
    <p:extLst>
      <p:ext uri="{BB962C8B-B14F-4D97-AF65-F5344CB8AC3E}">
        <p14:creationId xmlns:p14="http://schemas.microsoft.com/office/powerpoint/2010/main" val="608924068"/>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21961A-BC73-4E57-BF1F-CC2A9A0DB5BD}"/>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B64D2C16-D437-42B5-8141-466465E61F58}"/>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05CCE2E7-86F8-4404-BCEB-493B027DD4BF}"/>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953B1E03-DC95-447D-9D9D-1F272341EE96}"/>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36897A93-1A54-40D6-A484-37524620DFCB}"/>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TASK PROTOTYPE</a:t>
            </a:r>
          </a:p>
        </p:txBody>
      </p:sp>
      <p:sp>
        <p:nvSpPr>
          <p:cNvPr id="6" name="">
            <a:extLst xmlns:a="http://schemas.openxmlformats.org/drawingml/2006/main">
              <a:ext uri="{FF2B5EF4-FFF2-40B4-BE49-F238E27FC236}">
                <a16:creationId xmlns:a16="http://schemas.microsoft.com/office/drawing/2014/main" id="{E765E7C8-16E3-413C-B911-B536F307DC06}"/>
              </a:ext>
            </a:extLst>
          </p:cNvPr>
          <p:cNvSpPr>
            <a:spLocks xmlns:a="http://schemas.openxmlformats.org/drawingml/2006/main" noGrp="1"/>
          </p:cNvSpPr>
          <p:nvPr/>
        </p:nvSpPr>
        <p:spPr>
          <a:xfrm xmlns:a="http://schemas.openxmlformats.org/drawingml/2006/main">
            <a:off x="914400" y="914400"/>
            <a:ext cx="952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75" b="1" i="0">
                <a:solidFill>
                  <a:srgbClr val="1E2433"/>
                </a:solidFill>
                <a:latin typeface="Times New Roman"/>
                <a:ea typeface="Times New Roman"/>
                <a:cs typeface="Times New Roman"/>
              </a:defRPr>
            </a:pPr>
            <a:r>
              <a:rPr sz="2475" b="1" i="0">
                <a:solidFill>
                  <a:srgbClr val="1E2433"/>
                </a:solidFill>
                <a:latin typeface="Times New Roman"/>
                <a:ea typeface="Times New Roman"/>
                <a:cs typeface="Times New Roman"/>
              </a:rPr>
              <a:t>The prototype has to separate information value from search effort</a:t>
            </a:r>
          </a:p>
        </p:txBody>
      </p:sp>
      <p:sp>
        <p:nvSpPr>
          <p:cNvPr id="7" name="">
            <a:extLst xmlns:a="http://schemas.openxmlformats.org/drawingml/2006/main">
              <a:ext uri="{FF2B5EF4-FFF2-40B4-BE49-F238E27FC236}">
                <a16:creationId xmlns:a16="http://schemas.microsoft.com/office/drawing/2014/main" id="{2B559B90-B55D-4562-A92A-E604091C5879}"/>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Before the design details matter, the task has to make additional evidence comparable across conditions.</a:t>
            </a:r>
          </a:p>
        </p:txBody>
      </p:sp>
      <p:sp>
        <p:nvSpPr>
          <p:cNvPr id="8" name="">
            <a:extLst xmlns:a="http://schemas.openxmlformats.org/drawingml/2006/main">
              <a:ext uri="{FF2B5EF4-FFF2-40B4-BE49-F238E27FC236}">
                <a16:creationId xmlns:a16="http://schemas.microsoft.com/office/drawing/2014/main" id="{169EEDE7-904A-4201-BDB3-CD0CC7A1D811}"/>
              </a:ext>
            </a:extLst>
          </p:cNvPr>
          <p:cNvSpPr>
            <a:spLocks xmlns:a="http://schemas.openxmlformats.org/drawingml/2006/main" noGrp="1"/>
          </p:cNvSpPr>
          <p:nvPr/>
        </p:nvSpPr>
        <p:spPr>
          <a:xfrm xmlns:a="http://schemas.openxmlformats.org/drawingml/2006/main">
            <a:off x="914400" y="2266950"/>
            <a:ext cx="4762500" cy="1409700"/>
          </a:xfrm>
          <a:prstGeom xmlns:a="http://schemas.openxmlformats.org/drawingml/2006/main" prst="roundRect">
            <a:avLst>
              <a:gd name="adj" fmla="val 5405"/>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A209B2B2-B780-460B-A61E-55881EAE232C}"/>
              </a:ext>
            </a:extLst>
          </p:cNvPr>
          <p:cNvSpPr>
            <a:spLocks xmlns:a="http://schemas.openxmlformats.org/drawingml/2006/main" noGrp="1"/>
          </p:cNvSpPr>
          <p:nvPr/>
        </p:nvSpPr>
        <p:spPr>
          <a:xfrm xmlns:a="http://schemas.openxmlformats.org/drawingml/2006/main">
            <a:off x="914400" y="2266950"/>
            <a:ext cx="57150" cy="1409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B6B41881-CD91-4BB7-94A9-FBD16DCC4564}"/>
              </a:ext>
            </a:extLst>
          </p:cNvPr>
          <p:cNvSpPr>
            <a:spLocks xmlns:a="http://schemas.openxmlformats.org/drawingml/2006/main" noGrp="1"/>
          </p:cNvSpPr>
          <p:nvPr/>
        </p:nvSpPr>
        <p:spPr>
          <a:xfrm xmlns:a="http://schemas.openxmlformats.org/drawingml/2006/main">
            <a:off x="1085850" y="2381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Same initial content</a:t>
            </a:r>
          </a:p>
        </p:txBody>
      </p:sp>
      <p:sp>
        <p:nvSpPr>
          <p:cNvPr id="11" name="">
            <a:extLst xmlns:a="http://schemas.openxmlformats.org/drawingml/2006/main">
              <a:ext uri="{FF2B5EF4-FFF2-40B4-BE49-F238E27FC236}">
                <a16:creationId xmlns:a16="http://schemas.microsoft.com/office/drawing/2014/main" id="{C248D87B-1088-4661-9E77-AA7922E44956}"/>
              </a:ext>
            </a:extLst>
          </p:cNvPr>
          <p:cNvSpPr>
            <a:spLocks xmlns:a="http://schemas.openxmlformats.org/drawingml/2006/main" noGrp="1"/>
          </p:cNvSpPr>
          <p:nvPr/>
        </p:nvSpPr>
        <p:spPr>
          <a:xfrm xmlns:a="http://schemas.openxmlformats.org/drawingml/2006/main">
            <a:off x="1085850" y="272415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The starting summary content must be held constant when the source label changes.</a:t>
            </a:r>
          </a:p>
        </p:txBody>
      </p:sp>
      <p:sp>
        <p:nvSpPr>
          <p:cNvPr id="12" name="">
            <a:extLst xmlns:a="http://schemas.openxmlformats.org/drawingml/2006/main">
              <a:ext uri="{FF2B5EF4-FFF2-40B4-BE49-F238E27FC236}">
                <a16:creationId xmlns:a16="http://schemas.microsoft.com/office/drawing/2014/main" id="{9AA849AB-E193-4805-BD9A-CDA772A1A196}"/>
              </a:ext>
            </a:extLst>
          </p:cNvPr>
          <p:cNvSpPr>
            <a:spLocks xmlns:a="http://schemas.openxmlformats.org/drawingml/2006/main" noGrp="1"/>
          </p:cNvSpPr>
          <p:nvPr/>
        </p:nvSpPr>
        <p:spPr>
          <a:xfrm xmlns:a="http://schemas.openxmlformats.org/drawingml/2006/main">
            <a:off x="6438900" y="2266950"/>
            <a:ext cx="4762500" cy="1409700"/>
          </a:xfrm>
          <a:prstGeom xmlns:a="http://schemas.openxmlformats.org/drawingml/2006/main" prst="roundRect">
            <a:avLst>
              <a:gd name="adj" fmla="val 5405"/>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1B178B6D-D8C3-4FF4-99D9-17ADA0E4E4AE}"/>
              </a:ext>
            </a:extLst>
          </p:cNvPr>
          <p:cNvSpPr>
            <a:spLocks xmlns:a="http://schemas.openxmlformats.org/drawingml/2006/main" noGrp="1"/>
          </p:cNvSpPr>
          <p:nvPr/>
        </p:nvSpPr>
        <p:spPr>
          <a:xfrm xmlns:a="http://schemas.openxmlformats.org/drawingml/2006/main">
            <a:off x="6438900" y="2266950"/>
            <a:ext cx="57150" cy="14097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BC2B8E01-2503-409C-8992-95E0410D4518}"/>
              </a:ext>
            </a:extLst>
          </p:cNvPr>
          <p:cNvSpPr>
            <a:spLocks xmlns:a="http://schemas.openxmlformats.org/drawingml/2006/main" noGrp="1"/>
          </p:cNvSpPr>
          <p:nvPr/>
        </p:nvSpPr>
        <p:spPr>
          <a:xfrm xmlns:a="http://schemas.openxmlformats.org/drawingml/2006/main">
            <a:off x="6610350" y="2381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Same extra search cost</a:t>
            </a:r>
          </a:p>
        </p:txBody>
      </p:sp>
      <p:sp>
        <p:nvSpPr>
          <p:cNvPr id="15" name="">
            <a:extLst xmlns:a="http://schemas.openxmlformats.org/drawingml/2006/main">
              <a:ext uri="{FF2B5EF4-FFF2-40B4-BE49-F238E27FC236}">
                <a16:creationId xmlns:a16="http://schemas.microsoft.com/office/drawing/2014/main" id="{30B59956-7A64-4BDF-AE00-8F5518C13D5E}"/>
              </a:ext>
            </a:extLst>
          </p:cNvPr>
          <p:cNvSpPr>
            <a:spLocks xmlns:a="http://schemas.openxmlformats.org/drawingml/2006/main" noGrp="1"/>
          </p:cNvSpPr>
          <p:nvPr/>
        </p:nvSpPr>
        <p:spPr>
          <a:xfrm xmlns:a="http://schemas.openxmlformats.org/drawingml/2006/main">
            <a:off x="6610350" y="272415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The cost of viewing additional evidence must remain the same across groups.</a:t>
            </a:r>
          </a:p>
        </p:txBody>
      </p:sp>
      <p:sp>
        <p:nvSpPr>
          <p:cNvPr id="16" name="">
            <a:extLst xmlns:a="http://schemas.openxmlformats.org/drawingml/2006/main">
              <a:ext uri="{FF2B5EF4-FFF2-40B4-BE49-F238E27FC236}">
                <a16:creationId xmlns:a16="http://schemas.microsoft.com/office/drawing/2014/main" id="{3249AC98-5064-4AF2-ADC8-4E044161B683}"/>
              </a:ext>
            </a:extLst>
          </p:cNvPr>
          <p:cNvSpPr>
            <a:spLocks xmlns:a="http://schemas.openxmlformats.org/drawingml/2006/main" noGrp="1"/>
          </p:cNvSpPr>
          <p:nvPr/>
        </p:nvSpPr>
        <p:spPr>
          <a:xfrm xmlns:a="http://schemas.openxmlformats.org/drawingml/2006/main">
            <a:off x="914400" y="3943350"/>
            <a:ext cx="4762500" cy="1409700"/>
          </a:xfrm>
          <a:prstGeom xmlns:a="http://schemas.openxmlformats.org/drawingml/2006/main" prst="roundRect">
            <a:avLst>
              <a:gd name="adj" fmla="val 5405"/>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48D069A6-13B6-4DE1-8235-FC2D743C747F}"/>
              </a:ext>
            </a:extLst>
          </p:cNvPr>
          <p:cNvSpPr>
            <a:spLocks xmlns:a="http://schemas.openxmlformats.org/drawingml/2006/main" noGrp="1"/>
          </p:cNvSpPr>
          <p:nvPr/>
        </p:nvSpPr>
        <p:spPr>
          <a:xfrm xmlns:a="http://schemas.openxmlformats.org/drawingml/2006/main">
            <a:off x="914400" y="3943350"/>
            <a:ext cx="57150" cy="1409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8" name="">
            <a:extLst xmlns:a="http://schemas.openxmlformats.org/drawingml/2006/main">
              <a:ext uri="{FF2B5EF4-FFF2-40B4-BE49-F238E27FC236}">
                <a16:creationId xmlns:a16="http://schemas.microsoft.com/office/drawing/2014/main" id="{E6385BF4-BBE6-4940-B6A2-04A3F9751244}"/>
              </a:ext>
            </a:extLst>
          </p:cNvPr>
          <p:cNvSpPr>
            <a:spLocks xmlns:a="http://schemas.openxmlformats.org/drawingml/2006/main" noGrp="1"/>
          </p:cNvSpPr>
          <p:nvPr/>
        </p:nvSpPr>
        <p:spPr>
          <a:xfrm xmlns:a="http://schemas.openxmlformats.org/drawingml/2006/main">
            <a:off x="1085850" y="40576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Computable evidence value</a:t>
            </a:r>
          </a:p>
        </p:txBody>
      </p:sp>
      <p:sp>
        <p:nvSpPr>
          <p:cNvPr id="19" name="">
            <a:extLst xmlns:a="http://schemas.openxmlformats.org/drawingml/2006/main">
              <a:ext uri="{FF2B5EF4-FFF2-40B4-BE49-F238E27FC236}">
                <a16:creationId xmlns:a16="http://schemas.microsoft.com/office/drawing/2014/main" id="{B2D00007-0D56-4C44-AA0F-4B6DA21D699B}"/>
              </a:ext>
            </a:extLst>
          </p:cNvPr>
          <p:cNvSpPr>
            <a:spLocks xmlns:a="http://schemas.openxmlformats.org/drawingml/2006/main" noGrp="1"/>
          </p:cNvSpPr>
          <p:nvPr/>
        </p:nvSpPr>
        <p:spPr>
          <a:xfrm xmlns:a="http://schemas.openxmlformats.org/drawingml/2006/main">
            <a:off x="1085850" y="440055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Each evidence item must have a known diagnostic weight so the value of further evidence is measurable.</a:t>
            </a:r>
          </a:p>
        </p:txBody>
      </p:sp>
      <p:sp>
        <p:nvSpPr>
          <p:cNvPr id="20" name="">
            <a:extLst xmlns:a="http://schemas.openxmlformats.org/drawingml/2006/main">
              <a:ext uri="{FF2B5EF4-FFF2-40B4-BE49-F238E27FC236}">
                <a16:creationId xmlns:a16="http://schemas.microsoft.com/office/drawing/2014/main" id="{B313E076-68EF-47CB-A7DE-4A39F48F7F0E}"/>
              </a:ext>
            </a:extLst>
          </p:cNvPr>
          <p:cNvSpPr>
            <a:spLocks xmlns:a="http://schemas.openxmlformats.org/drawingml/2006/main" noGrp="1"/>
          </p:cNvSpPr>
          <p:nvPr/>
        </p:nvSpPr>
        <p:spPr>
          <a:xfrm xmlns:a="http://schemas.openxmlformats.org/drawingml/2006/main">
            <a:off x="6438900" y="3943350"/>
            <a:ext cx="4762500" cy="1409700"/>
          </a:xfrm>
          <a:prstGeom xmlns:a="http://schemas.openxmlformats.org/drawingml/2006/main" prst="roundRect">
            <a:avLst>
              <a:gd name="adj" fmla="val 5405"/>
            </a:avLst>
          </a:prstGeom>
          <a:solidFill xmlns:a="http://schemas.openxmlformats.org/drawingml/2006/main">
            <a:srgbClr val="FFF9F0"/>
          </a:solidFill>
          <a:ln xmlns:a="http://schemas.openxmlformats.org/drawingml/2006/main" w="9525">
            <a:solidFill>
              <a:srgbClr val="E8DCCB"/>
            </a:solidFill>
            <a:prstDash val="solid"/>
          </a:ln>
        </p:spPr>
      </p:sp>
      <p:sp>
        <p:nvSpPr>
          <p:cNvPr id="21" name="">
            <a:extLst xmlns:a="http://schemas.openxmlformats.org/drawingml/2006/main">
              <a:ext uri="{FF2B5EF4-FFF2-40B4-BE49-F238E27FC236}">
                <a16:creationId xmlns:a16="http://schemas.microsoft.com/office/drawing/2014/main" id="{7343261A-A3AA-4680-8B10-6BF18485430A}"/>
              </a:ext>
            </a:extLst>
          </p:cNvPr>
          <p:cNvSpPr>
            <a:spLocks xmlns:a="http://schemas.openxmlformats.org/drawingml/2006/main" noGrp="1"/>
          </p:cNvSpPr>
          <p:nvPr/>
        </p:nvSpPr>
        <p:spPr>
          <a:xfrm xmlns:a="http://schemas.openxmlformats.org/drawingml/2006/main">
            <a:off x="6438900" y="3943350"/>
            <a:ext cx="57150" cy="14097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22" name="">
            <a:extLst xmlns:a="http://schemas.openxmlformats.org/drawingml/2006/main">
              <a:ext uri="{FF2B5EF4-FFF2-40B4-BE49-F238E27FC236}">
                <a16:creationId xmlns:a16="http://schemas.microsoft.com/office/drawing/2014/main" id="{A5FE1172-A5D0-47A8-8953-967E0D2527D3}"/>
              </a:ext>
            </a:extLst>
          </p:cNvPr>
          <p:cNvSpPr>
            <a:spLocks xmlns:a="http://schemas.openxmlformats.org/drawingml/2006/main" noGrp="1"/>
          </p:cNvSpPr>
          <p:nvPr/>
        </p:nvSpPr>
        <p:spPr>
          <a:xfrm xmlns:a="http://schemas.openxmlformats.org/drawingml/2006/main">
            <a:off x="6610350" y="40576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Controlled evidence pool</a:t>
            </a:r>
          </a:p>
        </p:txBody>
      </p:sp>
      <p:sp>
        <p:nvSpPr>
          <p:cNvPr id="23" name="">
            <a:extLst xmlns:a="http://schemas.openxmlformats.org/drawingml/2006/main">
              <a:ext uri="{FF2B5EF4-FFF2-40B4-BE49-F238E27FC236}">
                <a16:creationId xmlns:a16="http://schemas.microsoft.com/office/drawing/2014/main" id="{BB4891A0-2891-479F-81D4-3DE153D22240}"/>
              </a:ext>
            </a:extLst>
          </p:cNvPr>
          <p:cNvSpPr>
            <a:spLocks xmlns:a="http://schemas.openxmlformats.org/drawingml/2006/main" noGrp="1"/>
          </p:cNvSpPr>
          <p:nvPr/>
        </p:nvSpPr>
        <p:spPr>
          <a:xfrm xmlns:a="http://schemas.openxmlformats.org/drawingml/2006/main">
            <a:off x="6610350" y="440055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Everyone must draw from the same fixed evidence environment rather than an open web context.</a:t>
            </a:r>
          </a:p>
        </p:txBody>
      </p:sp>
    </p:spTree>
    <p:extLst>
      <p:ext uri="{BB962C8B-B14F-4D97-AF65-F5344CB8AC3E}">
        <p14:creationId xmlns:p14="http://schemas.microsoft.com/office/powerpoint/2010/main" val="632507269"/>
      </p:ext>
    </p:extLst>
  </p:cSld>
</p:sld>
</file>

<file path=ppt/slides/slide10.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5DB9B7-9620-46C5-83E4-056D3278177C}"/>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9C35BF79-3418-48E1-AF67-C999F1950D6C}"/>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22BE43AC-D8BE-41C5-AB12-9B51A85E71EA}"/>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DF1D62F6-08E8-4106-A5ED-B0FE024BF32E}"/>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4103268F-4677-47FD-AD83-04A55356A106}"/>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DESIGN</a:t>
            </a:r>
          </a:p>
        </p:txBody>
      </p:sp>
      <p:sp>
        <p:nvSpPr>
          <p:cNvPr id="6" name="">
            <a:extLst xmlns:a="http://schemas.openxmlformats.org/drawingml/2006/main">
              <a:ext uri="{FF2B5EF4-FFF2-40B4-BE49-F238E27FC236}">
                <a16:creationId xmlns:a16="http://schemas.microsoft.com/office/drawing/2014/main" id="{7141950C-C9C4-46E5-91DD-626E3C51A06D}"/>
              </a:ext>
            </a:extLst>
          </p:cNvPr>
          <p:cNvSpPr>
            <a:spLocks xmlns:a="http://schemas.openxmlformats.org/drawingml/2006/main" noGrp="1"/>
          </p:cNvSpPr>
          <p:nvPr/>
        </p:nvSpPr>
        <p:spPr>
          <a:xfrm xmlns:a="http://schemas.openxmlformats.org/drawingml/2006/main">
            <a:off x="914400" y="914400"/>
            <a:ext cx="971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75" b="1" i="0">
                <a:solidFill>
                  <a:srgbClr val="1E2433"/>
                </a:solidFill>
                <a:latin typeface="Times New Roman"/>
                <a:ea typeface="Times New Roman"/>
                <a:cs typeface="Times New Roman"/>
              </a:defRPr>
            </a:pPr>
            <a:r>
              <a:rPr sz="2475" b="1" i="0">
                <a:solidFill>
                  <a:srgbClr val="1E2433"/>
                </a:solidFill>
                <a:latin typeface="Times New Roman"/>
                <a:ea typeface="Times New Roman"/>
                <a:cs typeface="Times New Roman"/>
              </a:rPr>
              <a:t>The experiment has five groups built on one shared evidence pool</a:t>
            </a:r>
          </a:p>
        </p:txBody>
      </p:sp>
      <p:sp>
        <p:nvSpPr>
          <p:cNvPr id="7" name="">
            <a:extLst xmlns:a="http://schemas.openxmlformats.org/drawingml/2006/main">
              <a:ext uri="{FF2B5EF4-FFF2-40B4-BE49-F238E27FC236}">
                <a16:creationId xmlns:a16="http://schemas.microsoft.com/office/drawing/2014/main" id="{2EC6E963-0927-42A6-B422-DEAB4C0D11BD}"/>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One baseline enters the full evidence pool directly, and four summary groups vary completeness and source label.</a:t>
            </a:r>
          </a:p>
        </p:txBody>
      </p:sp>
      <p:sp>
        <p:nvSpPr>
          <p:cNvPr id="8" name="">
            <a:extLst xmlns:a="http://schemas.openxmlformats.org/drawingml/2006/main">
              <a:ext uri="{FF2B5EF4-FFF2-40B4-BE49-F238E27FC236}">
                <a16:creationId xmlns:a16="http://schemas.microsoft.com/office/drawing/2014/main" id="{FBEDB1AC-03F8-4C35-B3F9-0ECCDC2D5BF1}"/>
              </a:ext>
            </a:extLst>
          </p:cNvPr>
          <p:cNvSpPr>
            <a:spLocks xmlns:a="http://schemas.openxmlformats.org/drawingml/2006/main" noGrp="1"/>
          </p:cNvSpPr>
          <p:nvPr/>
        </p:nvSpPr>
        <p:spPr>
          <a:xfrm xmlns:a="http://schemas.openxmlformats.org/drawingml/2006/main">
            <a:off x="914400" y="2381250"/>
            <a:ext cx="1905000" cy="2038350"/>
          </a:xfrm>
          <a:prstGeom xmlns:a="http://schemas.openxmlformats.org/drawingml/2006/main" prst="roundRect">
            <a:avLst>
              <a:gd name="adj" fmla="val 4000"/>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2F51A20B-8725-44F8-AD34-85CC6B35C169}"/>
              </a:ext>
            </a:extLst>
          </p:cNvPr>
          <p:cNvSpPr>
            <a:spLocks xmlns:a="http://schemas.openxmlformats.org/drawingml/2006/main" noGrp="1"/>
          </p:cNvSpPr>
          <p:nvPr/>
        </p:nvSpPr>
        <p:spPr>
          <a:xfrm xmlns:a="http://schemas.openxmlformats.org/drawingml/2006/main">
            <a:off x="914400" y="2381250"/>
            <a:ext cx="57150" cy="20383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CE060DE0-4170-4A7B-B622-1743775CC7BD}"/>
              </a:ext>
            </a:extLst>
          </p:cNvPr>
          <p:cNvSpPr>
            <a:spLocks xmlns:a="http://schemas.openxmlformats.org/drawingml/2006/main" noGrp="1"/>
          </p:cNvSpPr>
          <p:nvPr/>
        </p:nvSpPr>
        <p:spPr>
          <a:xfrm xmlns:a="http://schemas.openxmlformats.org/drawingml/2006/main">
            <a:off x="1085850" y="2495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E2433"/>
                </a:solidFill>
                <a:latin typeface="Times New Roman"/>
                <a:ea typeface="Times New Roman"/>
                <a:cs typeface="Times New Roman"/>
              </a:defRPr>
            </a:pPr>
            <a:r>
              <a:rPr sz="1650" b="1" i="0">
                <a:solidFill>
                  <a:srgbClr val="1E2433"/>
                </a:solidFill>
                <a:latin typeface="Times New Roman"/>
                <a:ea typeface="Times New Roman"/>
                <a:cs typeface="Times New Roman"/>
              </a:rPr>
              <a:t>Baseline</a:t>
            </a:r>
          </a:p>
        </p:txBody>
      </p:sp>
      <p:sp>
        <p:nvSpPr>
          <p:cNvPr id="11" name="">
            <a:extLst xmlns:a="http://schemas.openxmlformats.org/drawingml/2006/main">
              <a:ext uri="{FF2B5EF4-FFF2-40B4-BE49-F238E27FC236}">
                <a16:creationId xmlns:a16="http://schemas.microsoft.com/office/drawing/2014/main" id="{66C69F5D-BBFB-44B8-82CC-B3F72C8DBE6F}"/>
              </a:ext>
            </a:extLst>
          </p:cNvPr>
          <p:cNvSpPr>
            <a:spLocks xmlns:a="http://schemas.openxmlformats.org/drawingml/2006/main" noGrp="1"/>
          </p:cNvSpPr>
          <p:nvPr/>
        </p:nvSpPr>
        <p:spPr>
          <a:xfrm xmlns:a="http://schemas.openxmlformats.org/drawingml/2006/main">
            <a:off x="1085850" y="2838450"/>
            <a:ext cx="1619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No summary</a:t>
            </a:r>
          </a:p>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Direct entry to the evidence pool</a:t>
            </a:r>
          </a:p>
        </p:txBody>
      </p:sp>
      <p:sp>
        <p:nvSpPr>
          <p:cNvPr id="12" name="">
            <a:extLst xmlns:a="http://schemas.openxmlformats.org/drawingml/2006/main">
              <a:ext uri="{FF2B5EF4-FFF2-40B4-BE49-F238E27FC236}">
                <a16:creationId xmlns:a16="http://schemas.microsoft.com/office/drawing/2014/main" id="{885DDA13-70FD-4446-B96F-5F307917352B}"/>
              </a:ext>
            </a:extLst>
          </p:cNvPr>
          <p:cNvSpPr>
            <a:spLocks xmlns:a="http://schemas.openxmlformats.org/drawingml/2006/main" noGrp="1"/>
          </p:cNvSpPr>
          <p:nvPr/>
        </p:nvSpPr>
        <p:spPr>
          <a:xfrm xmlns:a="http://schemas.openxmlformats.org/drawingml/2006/main">
            <a:off x="3048000" y="2381250"/>
            <a:ext cx="203835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14BC32B1-D3B2-473A-8045-02AA8709056E}"/>
              </a:ext>
            </a:extLst>
          </p:cNvPr>
          <p:cNvSpPr>
            <a:spLocks xmlns:a="http://schemas.openxmlformats.org/drawingml/2006/main" noGrp="1"/>
          </p:cNvSpPr>
          <p:nvPr/>
        </p:nvSpPr>
        <p:spPr>
          <a:xfrm xmlns:a="http://schemas.openxmlformats.org/drawingml/2006/main">
            <a:off x="3048000" y="2381250"/>
            <a:ext cx="57150" cy="20383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8E6C8DEB-E669-4D42-8206-7722C57C13B6}"/>
              </a:ext>
            </a:extLst>
          </p:cNvPr>
          <p:cNvSpPr>
            <a:spLocks xmlns:a="http://schemas.openxmlformats.org/drawingml/2006/main" noGrp="1"/>
          </p:cNvSpPr>
          <p:nvPr/>
        </p:nvSpPr>
        <p:spPr>
          <a:xfrm xmlns:a="http://schemas.openxmlformats.org/drawingml/2006/main">
            <a:off x="3219450" y="24955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Complete</a:t>
            </a:r>
          </a:p>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No label</a:t>
            </a:r>
          </a:p>
        </p:txBody>
      </p:sp>
      <p:sp>
        <p:nvSpPr>
          <p:cNvPr id="15" name="">
            <a:extLst xmlns:a="http://schemas.openxmlformats.org/drawingml/2006/main">
              <a:ext uri="{FF2B5EF4-FFF2-40B4-BE49-F238E27FC236}">
                <a16:creationId xmlns:a16="http://schemas.microsoft.com/office/drawing/2014/main" id="{16E3EEE9-621F-4283-9031-D1219762AA35}"/>
              </a:ext>
            </a:extLst>
          </p:cNvPr>
          <p:cNvSpPr>
            <a:spLocks xmlns:a="http://schemas.openxmlformats.org/drawingml/2006/main" noGrp="1"/>
          </p:cNvSpPr>
          <p:nvPr/>
        </p:nvSpPr>
        <p:spPr>
          <a:xfrm xmlns:a="http://schemas.openxmlformats.org/drawingml/2006/main">
            <a:off x="3219450" y="2838450"/>
            <a:ext cx="17526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Representative summary</a:t>
            </a:r>
          </a:p>
        </p:txBody>
      </p:sp>
      <p:sp>
        <p:nvSpPr>
          <p:cNvPr id="16" name="">
            <a:extLst xmlns:a="http://schemas.openxmlformats.org/drawingml/2006/main">
              <a:ext uri="{FF2B5EF4-FFF2-40B4-BE49-F238E27FC236}">
                <a16:creationId xmlns:a16="http://schemas.microsoft.com/office/drawing/2014/main" id="{8354F796-48C6-4EB4-AFB1-5AE27D842170}"/>
              </a:ext>
            </a:extLst>
          </p:cNvPr>
          <p:cNvSpPr>
            <a:spLocks xmlns:a="http://schemas.openxmlformats.org/drawingml/2006/main" noGrp="1"/>
          </p:cNvSpPr>
          <p:nvPr/>
        </p:nvSpPr>
        <p:spPr>
          <a:xfrm xmlns:a="http://schemas.openxmlformats.org/drawingml/2006/main">
            <a:off x="5219700" y="2381250"/>
            <a:ext cx="203835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B00C3A14-9AB2-484E-BE5D-636DC7A95693}"/>
              </a:ext>
            </a:extLst>
          </p:cNvPr>
          <p:cNvSpPr>
            <a:spLocks xmlns:a="http://schemas.openxmlformats.org/drawingml/2006/main" noGrp="1"/>
          </p:cNvSpPr>
          <p:nvPr/>
        </p:nvSpPr>
        <p:spPr>
          <a:xfrm xmlns:a="http://schemas.openxmlformats.org/drawingml/2006/main">
            <a:off x="5219700" y="2381250"/>
            <a:ext cx="57150" cy="20383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8" name="">
            <a:extLst xmlns:a="http://schemas.openxmlformats.org/drawingml/2006/main">
              <a:ext uri="{FF2B5EF4-FFF2-40B4-BE49-F238E27FC236}">
                <a16:creationId xmlns:a16="http://schemas.microsoft.com/office/drawing/2014/main" id="{9B065677-EFFB-4003-A15F-C3695F73E600}"/>
              </a:ext>
            </a:extLst>
          </p:cNvPr>
          <p:cNvSpPr>
            <a:spLocks xmlns:a="http://schemas.openxmlformats.org/drawingml/2006/main" noGrp="1"/>
          </p:cNvSpPr>
          <p:nvPr/>
        </p:nvSpPr>
        <p:spPr>
          <a:xfrm xmlns:a="http://schemas.openxmlformats.org/drawingml/2006/main">
            <a:off x="5391150" y="24955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Complete</a:t>
            </a:r>
          </a:p>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AI label</a:t>
            </a:r>
          </a:p>
        </p:txBody>
      </p:sp>
      <p:sp>
        <p:nvSpPr>
          <p:cNvPr id="19" name="">
            <a:extLst xmlns:a="http://schemas.openxmlformats.org/drawingml/2006/main">
              <a:ext uri="{FF2B5EF4-FFF2-40B4-BE49-F238E27FC236}">
                <a16:creationId xmlns:a16="http://schemas.microsoft.com/office/drawing/2014/main" id="{C1E3B5FA-8B72-405A-9AF4-78A117F51B8A}"/>
              </a:ext>
            </a:extLst>
          </p:cNvPr>
          <p:cNvSpPr>
            <a:spLocks xmlns:a="http://schemas.openxmlformats.org/drawingml/2006/main" noGrp="1"/>
          </p:cNvSpPr>
          <p:nvPr/>
        </p:nvSpPr>
        <p:spPr>
          <a:xfrm xmlns:a="http://schemas.openxmlformats.org/drawingml/2006/main">
            <a:off x="5391150" y="2838450"/>
            <a:ext cx="17526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Representative summary</a:t>
            </a:r>
          </a:p>
        </p:txBody>
      </p:sp>
      <p:sp>
        <p:nvSpPr>
          <p:cNvPr id="20" name="">
            <a:extLst xmlns:a="http://schemas.openxmlformats.org/drawingml/2006/main">
              <a:ext uri="{FF2B5EF4-FFF2-40B4-BE49-F238E27FC236}">
                <a16:creationId xmlns:a16="http://schemas.microsoft.com/office/drawing/2014/main" id="{A7310EB7-3378-49CA-8B15-AD8357096D96}"/>
              </a:ext>
            </a:extLst>
          </p:cNvPr>
          <p:cNvSpPr>
            <a:spLocks xmlns:a="http://schemas.openxmlformats.org/drawingml/2006/main" noGrp="1"/>
          </p:cNvSpPr>
          <p:nvPr/>
        </p:nvSpPr>
        <p:spPr>
          <a:xfrm xmlns:a="http://schemas.openxmlformats.org/drawingml/2006/main">
            <a:off x="7391400" y="2381250"/>
            <a:ext cx="203835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21" name="">
            <a:extLst xmlns:a="http://schemas.openxmlformats.org/drawingml/2006/main">
              <a:ext uri="{FF2B5EF4-FFF2-40B4-BE49-F238E27FC236}">
                <a16:creationId xmlns:a16="http://schemas.microsoft.com/office/drawing/2014/main" id="{B862A295-C7C7-47AC-B491-F8D2BDCD1953}"/>
              </a:ext>
            </a:extLst>
          </p:cNvPr>
          <p:cNvSpPr>
            <a:spLocks xmlns:a="http://schemas.openxmlformats.org/drawingml/2006/main" noGrp="1"/>
          </p:cNvSpPr>
          <p:nvPr/>
        </p:nvSpPr>
        <p:spPr>
          <a:xfrm xmlns:a="http://schemas.openxmlformats.org/drawingml/2006/main">
            <a:off x="7391400" y="2381250"/>
            <a:ext cx="57150" cy="20383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22" name="">
            <a:extLst xmlns:a="http://schemas.openxmlformats.org/drawingml/2006/main">
              <a:ext uri="{FF2B5EF4-FFF2-40B4-BE49-F238E27FC236}">
                <a16:creationId xmlns:a16="http://schemas.microsoft.com/office/drawing/2014/main" id="{AB0BB440-EEFA-4174-8F75-5B69C8EEC01E}"/>
              </a:ext>
            </a:extLst>
          </p:cNvPr>
          <p:cNvSpPr>
            <a:spLocks xmlns:a="http://schemas.openxmlformats.org/drawingml/2006/main" noGrp="1"/>
          </p:cNvSpPr>
          <p:nvPr/>
        </p:nvSpPr>
        <p:spPr>
          <a:xfrm xmlns:a="http://schemas.openxmlformats.org/drawingml/2006/main">
            <a:off x="7562850" y="24955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An AI summary-assisted evidence search task in a company-risk judgment setting</a:t>
            </a:r>
          </a:p>
        </p:txBody>
      </p:sp>
      <p:sp>
        <p:nvSpPr>
          <p:cNvPr id="23" name="">
            <a:extLst xmlns:a="http://schemas.openxmlformats.org/drawingml/2006/main">
              <a:ext uri="{FF2B5EF4-FFF2-40B4-BE49-F238E27FC236}">
                <a16:creationId xmlns:a16="http://schemas.microsoft.com/office/drawing/2014/main" id="{71A91F06-A228-4A8D-AFDC-5B95D0F3C2CC}"/>
              </a:ext>
            </a:extLst>
          </p:cNvPr>
          <p:cNvSpPr>
            <a:spLocks xmlns:a="http://schemas.openxmlformats.org/drawingml/2006/main" noGrp="1"/>
          </p:cNvSpPr>
          <p:nvPr/>
        </p:nvSpPr>
        <p:spPr>
          <a:xfrm xmlns:a="http://schemas.openxmlformats.org/drawingml/2006/main">
            <a:off x="7562850" y="2838450"/>
            <a:ext cx="17526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design adapts a classic urn-drawing / bookbag-and-poker-chip belief-updating task and adds summary-first presentation plus follow-on evidence search.</a:t>
            </a:r>
          </a:p>
        </p:txBody>
      </p:sp>
      <p:sp>
        <p:nvSpPr>
          <p:cNvPr id="24" name="">
            <a:extLst xmlns:a="http://schemas.openxmlformats.org/drawingml/2006/main">
              <a:ext uri="{FF2B5EF4-FFF2-40B4-BE49-F238E27FC236}">
                <a16:creationId xmlns:a16="http://schemas.microsoft.com/office/drawing/2014/main" id="{606D38D3-709F-4FCC-9018-1CA386773E44}"/>
              </a:ext>
            </a:extLst>
          </p:cNvPr>
          <p:cNvSpPr>
            <a:spLocks xmlns:a="http://schemas.openxmlformats.org/drawingml/2006/main" noGrp="1"/>
          </p:cNvSpPr>
          <p:nvPr/>
        </p:nvSpPr>
        <p:spPr>
          <a:xfrm xmlns:a="http://schemas.openxmlformats.org/drawingml/2006/main">
            <a:off x="9563100" y="2381250"/>
            <a:ext cx="203835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25" name="">
            <a:extLst xmlns:a="http://schemas.openxmlformats.org/drawingml/2006/main">
              <a:ext uri="{FF2B5EF4-FFF2-40B4-BE49-F238E27FC236}">
                <a16:creationId xmlns:a16="http://schemas.microsoft.com/office/drawing/2014/main" id="{1187DCFD-9B5E-4B2B-99CE-C78253F93E1A}"/>
              </a:ext>
            </a:extLst>
          </p:cNvPr>
          <p:cNvSpPr>
            <a:spLocks xmlns:a="http://schemas.openxmlformats.org/drawingml/2006/main" noGrp="1"/>
          </p:cNvSpPr>
          <p:nvPr/>
        </p:nvSpPr>
        <p:spPr>
          <a:xfrm xmlns:a="http://schemas.openxmlformats.org/drawingml/2006/main">
            <a:off x="9563100" y="2381250"/>
            <a:ext cx="57150" cy="20383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6" name="">
            <a:extLst xmlns:a="http://schemas.openxmlformats.org/drawingml/2006/main">
              <a:ext uri="{FF2B5EF4-FFF2-40B4-BE49-F238E27FC236}">
                <a16:creationId xmlns:a16="http://schemas.microsoft.com/office/drawing/2014/main" id="{9734C60A-9DD2-4030-B902-D2D7B118A799}"/>
              </a:ext>
            </a:extLst>
          </p:cNvPr>
          <p:cNvSpPr>
            <a:spLocks xmlns:a="http://schemas.openxmlformats.org/drawingml/2006/main" noGrp="1"/>
          </p:cNvSpPr>
          <p:nvPr/>
        </p:nvSpPr>
        <p:spPr>
          <a:xfrm xmlns:a="http://schemas.openxmlformats.org/drawingml/2006/main">
            <a:off x="9734550" y="249555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Incomplete</a:t>
            </a:r>
          </a:p>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AI label</a:t>
            </a:r>
          </a:p>
        </p:txBody>
      </p:sp>
      <p:sp>
        <p:nvSpPr>
          <p:cNvPr id="27" name="">
            <a:extLst xmlns:a="http://schemas.openxmlformats.org/drawingml/2006/main">
              <a:ext uri="{FF2B5EF4-FFF2-40B4-BE49-F238E27FC236}">
                <a16:creationId xmlns:a16="http://schemas.microsoft.com/office/drawing/2014/main" id="{9B17CBEE-0BE2-4ABF-9B53-C1BC1DE3851A}"/>
              </a:ext>
            </a:extLst>
          </p:cNvPr>
          <p:cNvSpPr>
            <a:spLocks xmlns:a="http://schemas.openxmlformats.org/drawingml/2006/main" noGrp="1"/>
          </p:cNvSpPr>
          <p:nvPr/>
        </p:nvSpPr>
        <p:spPr>
          <a:xfrm xmlns:a="http://schemas.openxmlformats.org/drawingml/2006/main">
            <a:off x="9734550" y="2838450"/>
            <a:ext cx="17526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Incomplete summary</a:t>
            </a:r>
          </a:p>
        </p:txBody>
      </p:sp>
      <p:sp>
        <p:nvSpPr>
          <p:cNvPr id="28" name="">
            <a:extLst xmlns:a="http://schemas.openxmlformats.org/drawingml/2006/main">
              <a:ext uri="{FF2B5EF4-FFF2-40B4-BE49-F238E27FC236}">
                <a16:creationId xmlns:a16="http://schemas.microsoft.com/office/drawing/2014/main" id="{BBDDDBD9-ABDD-4A60-9D84-A3668B0ECC01}"/>
              </a:ext>
            </a:extLst>
          </p:cNvPr>
          <p:cNvSpPr>
            <a:spLocks xmlns:a="http://schemas.openxmlformats.org/drawingml/2006/main" noGrp="1"/>
          </p:cNvSpPr>
          <p:nvPr/>
        </p:nvSpPr>
        <p:spPr>
          <a:xfrm xmlns:a="http://schemas.openxmlformats.org/drawingml/2006/main">
            <a:off x="1714500" y="4953000"/>
            <a:ext cx="8763000" cy="876300"/>
          </a:xfrm>
          <a:prstGeom xmlns:a="http://schemas.openxmlformats.org/drawingml/2006/main" prst="roundRect">
            <a:avLst>
              <a:gd name="adj" fmla="val 8696"/>
            </a:avLst>
          </a:prstGeom>
          <a:solidFill xmlns:a="http://schemas.openxmlformats.org/drawingml/2006/main">
            <a:srgbClr val="FFF9F0"/>
          </a:solidFill>
          <a:ln xmlns:a="http://schemas.openxmlformats.org/drawingml/2006/main" w="9525">
            <a:solidFill>
              <a:srgbClr val="E8DCCB"/>
            </a:solidFill>
            <a:prstDash val="solid"/>
          </a:ln>
        </p:spPr>
      </p:sp>
      <p:sp>
        <p:nvSpPr>
          <p:cNvPr id="29" name="">
            <a:extLst xmlns:a="http://schemas.openxmlformats.org/drawingml/2006/main">
              <a:ext uri="{FF2B5EF4-FFF2-40B4-BE49-F238E27FC236}">
                <a16:creationId xmlns:a16="http://schemas.microsoft.com/office/drawing/2014/main" id="{5F532EA3-5D9A-4948-8FE2-50B31AA170D9}"/>
              </a:ext>
            </a:extLst>
          </p:cNvPr>
          <p:cNvSpPr>
            <a:spLocks xmlns:a="http://schemas.openxmlformats.org/drawingml/2006/main" noGrp="1"/>
          </p:cNvSpPr>
          <p:nvPr/>
        </p:nvSpPr>
        <p:spPr>
          <a:xfrm xmlns:a="http://schemas.openxmlformats.org/drawingml/2006/main">
            <a:off x="1714500" y="4953000"/>
            <a:ext cx="57150" cy="8763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0" name="">
            <a:extLst xmlns:a="http://schemas.openxmlformats.org/drawingml/2006/main">
              <a:ext uri="{FF2B5EF4-FFF2-40B4-BE49-F238E27FC236}">
                <a16:creationId xmlns:a16="http://schemas.microsoft.com/office/drawing/2014/main" id="{4B6DBC86-EDFF-4444-B2C6-6F59B6A5B6FC}"/>
              </a:ext>
            </a:extLst>
          </p:cNvPr>
          <p:cNvSpPr>
            <a:spLocks xmlns:a="http://schemas.openxmlformats.org/drawingml/2006/main" noGrp="1"/>
          </p:cNvSpPr>
          <p:nvPr/>
        </p:nvSpPr>
        <p:spPr>
          <a:xfrm xmlns:a="http://schemas.openxmlformats.org/drawingml/2006/main">
            <a:off x="1885950" y="50673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i="0">
                <a:solidFill>
                  <a:srgbClr val="1E2433"/>
                </a:solidFill>
                <a:latin typeface="Times New Roman"/>
                <a:ea typeface="Times New Roman"/>
                <a:cs typeface="Times New Roman"/>
              </a:defRPr>
            </a:pPr>
            <a:r>
              <a:rPr sz="1650" b="1" i="0">
                <a:solidFill>
                  <a:srgbClr val="1E2433"/>
                </a:solidFill>
                <a:latin typeface="Times New Roman"/>
                <a:ea typeface="Times New Roman"/>
                <a:cs typeface="Times New Roman"/>
              </a:rPr>
              <a:t>Why five groups instead of a full six-cell matrix</a:t>
            </a:r>
          </a:p>
        </p:txBody>
      </p:sp>
      <p:sp>
        <p:nvSpPr>
          <p:cNvPr id="31" name="">
            <a:extLst xmlns:a="http://schemas.openxmlformats.org/drawingml/2006/main">
              <a:ext uri="{FF2B5EF4-FFF2-40B4-BE49-F238E27FC236}">
                <a16:creationId xmlns:a16="http://schemas.microsoft.com/office/drawing/2014/main" id="{3AD72564-0A39-4A8A-864C-6EB4258AC35A}"/>
              </a:ext>
            </a:extLst>
          </p:cNvPr>
          <p:cNvSpPr>
            <a:spLocks xmlns:a="http://schemas.openxmlformats.org/drawingml/2006/main" noGrp="1"/>
          </p:cNvSpPr>
          <p:nvPr/>
        </p:nvSpPr>
        <p:spPr>
          <a:xfrm xmlns:a="http://schemas.openxmlformats.org/drawingml/2006/main">
            <a:off x="1885950" y="5410200"/>
            <a:ext cx="847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no-summary baseline does not need a representative versus incomplete split because everyone in that condition enters the same full evidence pool directly.</a:t>
            </a:r>
          </a:p>
        </p:txBody>
      </p:sp>
    </p:spTree>
    <p:extLst>
      <p:ext uri="{BB962C8B-B14F-4D97-AF65-F5344CB8AC3E}">
        <p14:creationId xmlns:p14="http://schemas.microsoft.com/office/powerpoint/2010/main" val="1323769501"/>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A702FD-E5C0-4B58-A036-D5041B51EF1F}"/>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5ABCA164-6770-49B6-93F8-B71E8C9217E7}"/>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78D608DD-03F4-4A3F-B7F9-3DF93ED16049}"/>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5D095C93-6946-4688-B297-37D8D10C6551}"/>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32030750-DDBA-4277-9D8D-F414FDB80A08}"/>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IDENTIFICATION</a:t>
            </a:r>
          </a:p>
        </p:txBody>
      </p:sp>
      <p:sp>
        <p:nvSpPr>
          <p:cNvPr id="6" name="">
            <a:extLst xmlns:a="http://schemas.openxmlformats.org/drawingml/2006/main">
              <a:ext uri="{FF2B5EF4-FFF2-40B4-BE49-F238E27FC236}">
                <a16:creationId xmlns:a16="http://schemas.microsoft.com/office/drawing/2014/main" id="{F95D8C7D-07C4-46F9-A6DC-932167387D66}"/>
              </a:ext>
            </a:extLst>
          </p:cNvPr>
          <p:cNvSpPr>
            <a:spLocks xmlns:a="http://schemas.openxmlformats.org/drawingml/2006/main" noGrp="1"/>
          </p:cNvSpPr>
          <p:nvPr/>
        </p:nvSpPr>
        <p:spPr>
          <a:xfrm xmlns:a="http://schemas.openxmlformats.org/drawingml/2006/main">
            <a:off x="914400" y="914400"/>
            <a:ext cx="9334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i="0">
                <a:solidFill>
                  <a:srgbClr val="1E2433"/>
                </a:solidFill>
                <a:latin typeface="Times New Roman"/>
                <a:ea typeface="Times New Roman"/>
                <a:cs typeface="Times New Roman"/>
              </a:defRPr>
            </a:pPr>
            <a:r>
              <a:rPr sz="2550" b="1" i="0">
                <a:solidFill>
                  <a:srgbClr val="1E2433"/>
                </a:solidFill>
                <a:latin typeface="Times New Roman"/>
                <a:ea typeface="Times New Roman"/>
                <a:cs typeface="Times New Roman"/>
              </a:rPr>
              <a:t>The same summary text isolates the AI label effect</a:t>
            </a:r>
          </a:p>
        </p:txBody>
      </p:sp>
      <p:sp>
        <p:nvSpPr>
          <p:cNvPr id="7" name="">
            <a:extLst xmlns:a="http://schemas.openxmlformats.org/drawingml/2006/main">
              <a:ext uri="{FF2B5EF4-FFF2-40B4-BE49-F238E27FC236}">
                <a16:creationId xmlns:a16="http://schemas.microsoft.com/office/drawing/2014/main" id="{7E0F1CAF-315B-4D0F-93C1-3095AD519944}"/>
              </a:ext>
            </a:extLst>
          </p:cNvPr>
          <p:cNvSpPr>
            <a:spLocks xmlns:a="http://schemas.openxmlformats.org/drawingml/2006/main" noGrp="1"/>
          </p:cNvSpPr>
          <p:nvPr/>
        </p:nvSpPr>
        <p:spPr>
          <a:xfrm xmlns:a="http://schemas.openxmlformats.org/drawingml/2006/main">
            <a:off x="914400" y="16764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content stays the same while the label changes, and every participant then moves through the same additional-search sequence.</a:t>
            </a:r>
          </a:p>
        </p:txBody>
      </p:sp>
      <p:sp>
        <p:nvSpPr>
          <p:cNvPr id="8" name="">
            <a:extLst xmlns:a="http://schemas.openxmlformats.org/drawingml/2006/main">
              <a:ext uri="{FF2B5EF4-FFF2-40B4-BE49-F238E27FC236}">
                <a16:creationId xmlns:a16="http://schemas.microsoft.com/office/drawing/2014/main" id="{F2AE85A9-C088-44D6-A6DC-CFCE8AE4D8B6}"/>
              </a:ext>
            </a:extLst>
          </p:cNvPr>
          <p:cNvSpPr>
            <a:spLocks xmlns:a="http://schemas.openxmlformats.org/drawingml/2006/main" noGrp="1"/>
          </p:cNvSpPr>
          <p:nvPr/>
        </p:nvSpPr>
        <p:spPr>
          <a:xfrm xmlns:a="http://schemas.openxmlformats.org/drawingml/2006/main">
            <a:off x="914400" y="2247900"/>
            <a:ext cx="476250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9C0A7D29-7709-4251-83B2-B02DA5008E30}"/>
              </a:ext>
            </a:extLst>
          </p:cNvPr>
          <p:cNvSpPr>
            <a:spLocks xmlns:a="http://schemas.openxmlformats.org/drawingml/2006/main" noGrp="1"/>
          </p:cNvSpPr>
          <p:nvPr/>
        </p:nvSpPr>
        <p:spPr>
          <a:xfrm xmlns:a="http://schemas.openxmlformats.org/drawingml/2006/main">
            <a:off x="914400" y="2247900"/>
            <a:ext cx="57150" cy="20383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0" name="">
            <a:extLst xmlns:a="http://schemas.openxmlformats.org/drawingml/2006/main">
              <a:ext uri="{FF2B5EF4-FFF2-40B4-BE49-F238E27FC236}">
                <a16:creationId xmlns:a16="http://schemas.microsoft.com/office/drawing/2014/main" id="{DF1D3206-983E-4006-8E45-D357FB11C7C7}"/>
              </a:ext>
            </a:extLst>
          </p:cNvPr>
          <p:cNvSpPr>
            <a:spLocks xmlns:a="http://schemas.openxmlformats.org/drawingml/2006/main" noGrp="1"/>
          </p:cNvSpPr>
          <p:nvPr/>
        </p:nvSpPr>
        <p:spPr>
          <a:xfrm xmlns:a="http://schemas.openxmlformats.org/drawingml/2006/main">
            <a:off x="1085850" y="23622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2433"/>
                </a:solidFill>
                <a:latin typeface="Times New Roman"/>
                <a:ea typeface="Times New Roman"/>
                <a:cs typeface="Times New Roman"/>
              </a:defRPr>
            </a:pPr>
            <a:r>
              <a:rPr sz="1875" b="1" i="0">
                <a:solidFill>
                  <a:srgbClr val="1E2433"/>
                </a:solidFill>
                <a:latin typeface="Times New Roman"/>
                <a:ea typeface="Times New Roman"/>
                <a:cs typeface="Times New Roman"/>
              </a:rPr>
              <a:t>Unlabeled summary</a:t>
            </a:r>
          </a:p>
        </p:txBody>
      </p:sp>
      <p:sp>
        <p:nvSpPr>
          <p:cNvPr id="11" name="">
            <a:extLst xmlns:a="http://schemas.openxmlformats.org/drawingml/2006/main">
              <a:ext uri="{FF2B5EF4-FFF2-40B4-BE49-F238E27FC236}">
                <a16:creationId xmlns:a16="http://schemas.microsoft.com/office/drawing/2014/main" id="{C33C3B97-A7CE-4C22-87AA-803F5AD44526}"/>
              </a:ext>
            </a:extLst>
          </p:cNvPr>
          <p:cNvSpPr>
            <a:spLocks xmlns:a="http://schemas.openxmlformats.org/drawingml/2006/main" noGrp="1"/>
          </p:cNvSpPr>
          <p:nvPr/>
        </p:nvSpPr>
        <p:spPr>
          <a:xfrm xmlns:a="http://schemas.openxmlformats.org/drawingml/2006/main">
            <a:off x="1085850" y="2705100"/>
            <a:ext cx="4476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The participant sees a summary of the exact same initial evidence, but the source is not identified as AI.</a:t>
            </a:r>
          </a:p>
        </p:txBody>
      </p:sp>
      <p:sp>
        <p:nvSpPr>
          <p:cNvPr id="12" name="">
            <a:extLst xmlns:a="http://schemas.openxmlformats.org/drawingml/2006/main">
              <a:ext uri="{FF2B5EF4-FFF2-40B4-BE49-F238E27FC236}">
                <a16:creationId xmlns:a16="http://schemas.microsoft.com/office/drawing/2014/main" id="{280522FF-F8D4-400A-8701-F4D77E50DD82}"/>
              </a:ext>
            </a:extLst>
          </p:cNvPr>
          <p:cNvSpPr>
            <a:spLocks xmlns:a="http://schemas.openxmlformats.org/drawingml/2006/main" noGrp="1"/>
          </p:cNvSpPr>
          <p:nvPr/>
        </p:nvSpPr>
        <p:spPr>
          <a:xfrm xmlns:a="http://schemas.openxmlformats.org/drawingml/2006/main">
            <a:off x="6477000" y="2247900"/>
            <a:ext cx="4724400" cy="2038350"/>
          </a:xfrm>
          <a:prstGeom xmlns:a="http://schemas.openxmlformats.org/drawingml/2006/main" prst="roundRect">
            <a:avLst>
              <a:gd name="adj" fmla="val 3738"/>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E2C4CA0D-1974-4ADB-B1ED-2AA9EB292DAB}"/>
              </a:ext>
            </a:extLst>
          </p:cNvPr>
          <p:cNvSpPr>
            <a:spLocks xmlns:a="http://schemas.openxmlformats.org/drawingml/2006/main" noGrp="1"/>
          </p:cNvSpPr>
          <p:nvPr/>
        </p:nvSpPr>
        <p:spPr>
          <a:xfrm xmlns:a="http://schemas.openxmlformats.org/drawingml/2006/main">
            <a:off x="6477000" y="2247900"/>
            <a:ext cx="57150" cy="20383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5FC496E8-3535-46E0-8ACD-F4B9D73FD525}"/>
              </a:ext>
            </a:extLst>
          </p:cNvPr>
          <p:cNvSpPr>
            <a:spLocks xmlns:a="http://schemas.openxmlformats.org/drawingml/2006/main" noGrp="1"/>
          </p:cNvSpPr>
          <p:nvPr/>
        </p:nvSpPr>
        <p:spPr>
          <a:xfrm xmlns:a="http://schemas.openxmlformats.org/drawingml/2006/main">
            <a:off x="6648450" y="2362200"/>
            <a:ext cx="443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E2433"/>
                </a:solidFill>
                <a:latin typeface="Times New Roman"/>
                <a:ea typeface="Times New Roman"/>
                <a:cs typeface="Times New Roman"/>
              </a:defRPr>
            </a:pPr>
            <a:r>
              <a:rPr sz="1875" b="1" i="0">
                <a:solidFill>
                  <a:srgbClr val="1E2433"/>
                </a:solidFill>
                <a:latin typeface="Times New Roman"/>
                <a:ea typeface="Times New Roman"/>
                <a:cs typeface="Times New Roman"/>
              </a:rPr>
              <a:t>AI-labeled summary</a:t>
            </a:r>
          </a:p>
        </p:txBody>
      </p:sp>
      <p:sp>
        <p:nvSpPr>
          <p:cNvPr id="15" name="">
            <a:extLst xmlns:a="http://schemas.openxmlformats.org/drawingml/2006/main">
              <a:ext uri="{FF2B5EF4-FFF2-40B4-BE49-F238E27FC236}">
                <a16:creationId xmlns:a16="http://schemas.microsoft.com/office/drawing/2014/main" id="{37FB5FC0-57CD-4495-97BB-6B615CBBD7E5}"/>
              </a:ext>
            </a:extLst>
          </p:cNvPr>
          <p:cNvSpPr>
            <a:spLocks xmlns:a="http://schemas.openxmlformats.org/drawingml/2006/main" noGrp="1"/>
          </p:cNvSpPr>
          <p:nvPr/>
        </p:nvSpPr>
        <p:spPr>
          <a:xfrm xmlns:a="http://schemas.openxmlformats.org/drawingml/2006/main">
            <a:off x="6648450" y="2705100"/>
            <a:ext cx="44386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The participant sees the very same summary text, but now the system explicitly says the summary was generated by AI.</a:t>
            </a:r>
          </a:p>
        </p:txBody>
      </p:sp>
      <p:sp>
        <p:nvSpPr>
          <p:cNvPr id="16" name="">
            <a:extLst xmlns:a="http://schemas.openxmlformats.org/drawingml/2006/main">
              <a:ext uri="{FF2B5EF4-FFF2-40B4-BE49-F238E27FC236}">
                <a16:creationId xmlns:a16="http://schemas.microsoft.com/office/drawing/2014/main" id="{04DC9D29-5926-4518-8EF2-5B2EDC519F63}"/>
              </a:ext>
            </a:extLst>
          </p:cNvPr>
          <p:cNvSpPr>
            <a:spLocks xmlns:a="http://schemas.openxmlformats.org/drawingml/2006/main" noGrp="1"/>
          </p:cNvSpPr>
          <p:nvPr/>
        </p:nvSpPr>
        <p:spPr>
          <a:xfrm xmlns:a="http://schemas.openxmlformats.org/drawingml/2006/main">
            <a:off x="914400" y="4629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i="0">
                <a:solidFill>
                  <a:srgbClr val="B45A3C"/>
                </a:solidFill>
                <a:latin typeface="Times New Roman"/>
                <a:ea typeface="Times New Roman"/>
                <a:cs typeface="Times New Roman"/>
              </a:defRPr>
            </a:pPr>
            <a:r>
              <a:rPr sz="1575" b="1" i="0">
                <a:solidFill>
                  <a:srgbClr val="B45A3C"/>
                </a:solidFill>
                <a:latin typeface="Times New Roman"/>
                <a:ea typeface="Times New Roman"/>
                <a:cs typeface="Times New Roman"/>
              </a:rPr>
              <a:t>Participant sequence</a:t>
            </a:r>
          </a:p>
        </p:txBody>
      </p:sp>
      <p:sp>
        <p:nvSpPr>
          <p:cNvPr id="17" name="">
            <a:extLst xmlns:a="http://schemas.openxmlformats.org/drawingml/2006/main">
              <a:ext uri="{FF2B5EF4-FFF2-40B4-BE49-F238E27FC236}">
                <a16:creationId xmlns:a16="http://schemas.microsoft.com/office/drawing/2014/main" id="{FFCA3EAB-98A4-4D23-8448-2DFC86B3F568}"/>
              </a:ext>
            </a:extLst>
          </p:cNvPr>
          <p:cNvSpPr>
            <a:spLocks xmlns:a="http://schemas.openxmlformats.org/drawingml/2006/main" noGrp="1"/>
          </p:cNvSpPr>
          <p:nvPr/>
        </p:nvSpPr>
        <p:spPr>
          <a:xfrm xmlns:a="http://schemas.openxmlformats.org/drawingml/2006/main">
            <a:off x="914400" y="4991100"/>
            <a:ext cx="17907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18" name="">
            <a:extLst xmlns:a="http://schemas.openxmlformats.org/drawingml/2006/main">
              <a:ext uri="{FF2B5EF4-FFF2-40B4-BE49-F238E27FC236}">
                <a16:creationId xmlns:a16="http://schemas.microsoft.com/office/drawing/2014/main" id="{4E439B15-A23C-47CF-B489-563608E22DB6}"/>
              </a:ext>
            </a:extLst>
          </p:cNvPr>
          <p:cNvSpPr>
            <a:spLocks xmlns:a="http://schemas.openxmlformats.org/drawingml/2006/main" noGrp="1"/>
          </p:cNvSpPr>
          <p:nvPr/>
        </p:nvSpPr>
        <p:spPr>
          <a:xfrm xmlns:a="http://schemas.openxmlformats.org/drawingml/2006/main">
            <a:off x="914400" y="499110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9" name="">
            <a:extLst xmlns:a="http://schemas.openxmlformats.org/drawingml/2006/main">
              <a:ext uri="{FF2B5EF4-FFF2-40B4-BE49-F238E27FC236}">
                <a16:creationId xmlns:a16="http://schemas.microsoft.com/office/drawing/2014/main" id="{10B72519-820E-41EC-A9D7-52DA8B3216E2}"/>
              </a:ext>
            </a:extLst>
          </p:cNvPr>
          <p:cNvSpPr>
            <a:spLocks xmlns:a="http://schemas.openxmlformats.org/drawingml/2006/main" noGrp="1"/>
          </p:cNvSpPr>
          <p:nvPr/>
        </p:nvSpPr>
        <p:spPr>
          <a:xfrm xmlns:a="http://schemas.openxmlformats.org/drawingml/2006/main">
            <a:off x="1085850" y="51054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See prior</a:t>
            </a:r>
          </a:p>
        </p:txBody>
      </p:sp>
      <p:sp>
        <p:nvSpPr>
          <p:cNvPr id="20" name="">
            <a:extLst xmlns:a="http://schemas.openxmlformats.org/drawingml/2006/main">
              <a:ext uri="{FF2B5EF4-FFF2-40B4-BE49-F238E27FC236}">
                <a16:creationId xmlns:a16="http://schemas.microsoft.com/office/drawing/2014/main" id="{9A563A24-FA27-48E7-8B26-060406D8924E}"/>
              </a:ext>
            </a:extLst>
          </p:cNvPr>
          <p:cNvSpPr>
            <a:spLocks xmlns:a="http://schemas.openxmlformats.org/drawingml/2006/main" noGrp="1"/>
          </p:cNvSpPr>
          <p:nvPr/>
        </p:nvSpPr>
        <p:spPr>
          <a:xfrm xmlns:a="http://schemas.openxmlformats.org/drawingml/2006/main">
            <a:off x="1085850" y="5448300"/>
            <a:ext cx="150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E6675"/>
                </a:solidFill>
                <a:latin typeface="Times New Roman"/>
                <a:ea typeface="Times New Roman"/>
                <a:cs typeface="Times New Roman"/>
              </a:defRPr>
            </a:pPr>
            <a:r>
              <a:rPr sz="1125" b="0" i="0">
                <a:solidFill>
                  <a:srgbClr val="5E6675"/>
                </a:solidFill>
                <a:latin typeface="Times New Roman"/>
                <a:ea typeface="Times New Roman"/>
                <a:cs typeface="Times New Roman"/>
              </a:rPr>
              <a:t>Start from the same prior</a:t>
            </a:r>
          </a:p>
        </p:txBody>
      </p:sp>
      <p:sp>
        <p:nvSpPr>
          <p:cNvPr id="21" name="">
            <a:extLst xmlns:a="http://schemas.openxmlformats.org/drawingml/2006/main">
              <a:ext uri="{FF2B5EF4-FFF2-40B4-BE49-F238E27FC236}">
                <a16:creationId xmlns:a16="http://schemas.microsoft.com/office/drawing/2014/main" id="{034757F4-5139-4E82-B8B3-36AFE417EE22}"/>
              </a:ext>
            </a:extLst>
          </p:cNvPr>
          <p:cNvSpPr>
            <a:spLocks xmlns:a="http://schemas.openxmlformats.org/drawingml/2006/main" noGrp="1"/>
          </p:cNvSpPr>
          <p:nvPr/>
        </p:nvSpPr>
        <p:spPr>
          <a:xfrm xmlns:a="http://schemas.openxmlformats.org/drawingml/2006/main">
            <a:off x="2762250" y="5505450"/>
            <a:ext cx="171450" cy="190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2" name="">
            <a:extLst xmlns:a="http://schemas.openxmlformats.org/drawingml/2006/main">
              <a:ext uri="{FF2B5EF4-FFF2-40B4-BE49-F238E27FC236}">
                <a16:creationId xmlns:a16="http://schemas.microsoft.com/office/drawing/2014/main" id="{6A998339-F9B6-47E0-B2B6-555661AB8F03}"/>
              </a:ext>
            </a:extLst>
          </p:cNvPr>
          <p:cNvSpPr>
            <a:spLocks xmlns:a="http://schemas.openxmlformats.org/drawingml/2006/main" noGrp="1"/>
          </p:cNvSpPr>
          <p:nvPr/>
        </p:nvSpPr>
        <p:spPr>
          <a:xfrm xmlns:a="http://schemas.openxmlformats.org/drawingml/2006/main">
            <a:off x="2971800" y="4991100"/>
            <a:ext cx="17907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23" name="">
            <a:extLst xmlns:a="http://schemas.openxmlformats.org/drawingml/2006/main">
              <a:ext uri="{FF2B5EF4-FFF2-40B4-BE49-F238E27FC236}">
                <a16:creationId xmlns:a16="http://schemas.microsoft.com/office/drawing/2014/main" id="{3C37BA15-C838-4C12-8FBC-BD8D377768E7}"/>
              </a:ext>
            </a:extLst>
          </p:cNvPr>
          <p:cNvSpPr>
            <a:spLocks xmlns:a="http://schemas.openxmlformats.org/drawingml/2006/main" noGrp="1"/>
          </p:cNvSpPr>
          <p:nvPr/>
        </p:nvSpPr>
        <p:spPr>
          <a:xfrm xmlns:a="http://schemas.openxmlformats.org/drawingml/2006/main">
            <a:off x="2971800" y="499110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4" name="">
            <a:extLst xmlns:a="http://schemas.openxmlformats.org/drawingml/2006/main">
              <a:ext uri="{FF2B5EF4-FFF2-40B4-BE49-F238E27FC236}">
                <a16:creationId xmlns:a16="http://schemas.microsoft.com/office/drawing/2014/main" id="{15B5C093-40BF-4DB8-9818-2AF12F3B1C62}"/>
              </a:ext>
            </a:extLst>
          </p:cNvPr>
          <p:cNvSpPr>
            <a:spLocks xmlns:a="http://schemas.openxmlformats.org/drawingml/2006/main" noGrp="1"/>
          </p:cNvSpPr>
          <p:nvPr/>
        </p:nvSpPr>
        <p:spPr>
          <a:xfrm xmlns:a="http://schemas.openxmlformats.org/drawingml/2006/main">
            <a:off x="3143250" y="51054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Read summary</a:t>
            </a:r>
          </a:p>
        </p:txBody>
      </p:sp>
      <p:sp>
        <p:nvSpPr>
          <p:cNvPr id="25" name="">
            <a:extLst xmlns:a="http://schemas.openxmlformats.org/drawingml/2006/main">
              <a:ext uri="{FF2B5EF4-FFF2-40B4-BE49-F238E27FC236}">
                <a16:creationId xmlns:a16="http://schemas.microsoft.com/office/drawing/2014/main" id="{7124D016-4841-4486-911C-AFBB587DFBDE}"/>
              </a:ext>
            </a:extLst>
          </p:cNvPr>
          <p:cNvSpPr>
            <a:spLocks xmlns:a="http://schemas.openxmlformats.org/drawingml/2006/main" noGrp="1"/>
          </p:cNvSpPr>
          <p:nvPr/>
        </p:nvSpPr>
        <p:spPr>
          <a:xfrm xmlns:a="http://schemas.openxmlformats.org/drawingml/2006/main">
            <a:off x="3143250" y="5448300"/>
            <a:ext cx="150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E6675"/>
                </a:solidFill>
                <a:latin typeface="Times New Roman"/>
                <a:ea typeface="Times New Roman"/>
                <a:cs typeface="Times New Roman"/>
              </a:defRPr>
            </a:pPr>
            <a:r>
              <a:rPr sz="1125" b="0" i="0">
                <a:solidFill>
                  <a:srgbClr val="5E6675"/>
                </a:solidFill>
                <a:latin typeface="Times New Roman"/>
                <a:ea typeface="Times New Roman"/>
                <a:cs typeface="Times New Roman"/>
              </a:rPr>
              <a:t>Or skip summary in baseline</a:t>
            </a:r>
          </a:p>
        </p:txBody>
      </p:sp>
      <p:sp>
        <p:nvSpPr>
          <p:cNvPr id="26" name="">
            <a:extLst xmlns:a="http://schemas.openxmlformats.org/drawingml/2006/main">
              <a:ext uri="{FF2B5EF4-FFF2-40B4-BE49-F238E27FC236}">
                <a16:creationId xmlns:a16="http://schemas.microsoft.com/office/drawing/2014/main" id="{0CA75A33-26CC-49A6-A1ED-B22F32232EFD}"/>
              </a:ext>
            </a:extLst>
          </p:cNvPr>
          <p:cNvSpPr>
            <a:spLocks xmlns:a="http://schemas.openxmlformats.org/drawingml/2006/main" noGrp="1"/>
          </p:cNvSpPr>
          <p:nvPr/>
        </p:nvSpPr>
        <p:spPr>
          <a:xfrm xmlns:a="http://schemas.openxmlformats.org/drawingml/2006/main">
            <a:off x="4819650" y="5505450"/>
            <a:ext cx="171450" cy="190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7" name="">
            <a:extLst xmlns:a="http://schemas.openxmlformats.org/drawingml/2006/main">
              <a:ext uri="{FF2B5EF4-FFF2-40B4-BE49-F238E27FC236}">
                <a16:creationId xmlns:a16="http://schemas.microsoft.com/office/drawing/2014/main" id="{8B4AAE23-6BB8-4387-A2BB-60B942BE48AC}"/>
              </a:ext>
            </a:extLst>
          </p:cNvPr>
          <p:cNvSpPr>
            <a:spLocks xmlns:a="http://schemas.openxmlformats.org/drawingml/2006/main" noGrp="1"/>
          </p:cNvSpPr>
          <p:nvPr/>
        </p:nvSpPr>
        <p:spPr>
          <a:xfrm xmlns:a="http://schemas.openxmlformats.org/drawingml/2006/main">
            <a:off x="5029200" y="4991100"/>
            <a:ext cx="17907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28" name="">
            <a:extLst xmlns:a="http://schemas.openxmlformats.org/drawingml/2006/main">
              <a:ext uri="{FF2B5EF4-FFF2-40B4-BE49-F238E27FC236}">
                <a16:creationId xmlns:a16="http://schemas.microsoft.com/office/drawing/2014/main" id="{EDE4F388-DA4E-4259-B4B9-D2142FEFFCF0}"/>
              </a:ext>
            </a:extLst>
          </p:cNvPr>
          <p:cNvSpPr>
            <a:spLocks xmlns:a="http://schemas.openxmlformats.org/drawingml/2006/main" noGrp="1"/>
          </p:cNvSpPr>
          <p:nvPr/>
        </p:nvSpPr>
        <p:spPr>
          <a:xfrm xmlns:a="http://schemas.openxmlformats.org/drawingml/2006/main">
            <a:off x="5029200" y="4991100"/>
            <a:ext cx="57150" cy="10287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29" name="">
            <a:extLst xmlns:a="http://schemas.openxmlformats.org/drawingml/2006/main">
              <a:ext uri="{FF2B5EF4-FFF2-40B4-BE49-F238E27FC236}">
                <a16:creationId xmlns:a16="http://schemas.microsoft.com/office/drawing/2014/main" id="{49EFF560-050E-494C-AC91-7CB9A4316ABC}"/>
              </a:ext>
            </a:extLst>
          </p:cNvPr>
          <p:cNvSpPr>
            <a:spLocks xmlns:a="http://schemas.openxmlformats.org/drawingml/2006/main" noGrp="1"/>
          </p:cNvSpPr>
          <p:nvPr/>
        </p:nvSpPr>
        <p:spPr>
          <a:xfrm xmlns:a="http://schemas.openxmlformats.org/drawingml/2006/main">
            <a:off x="5200650" y="51054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Choose search</a:t>
            </a:r>
          </a:p>
        </p:txBody>
      </p:sp>
      <p:sp>
        <p:nvSpPr>
          <p:cNvPr id="30" name="">
            <a:extLst xmlns:a="http://schemas.openxmlformats.org/drawingml/2006/main">
              <a:ext uri="{FF2B5EF4-FFF2-40B4-BE49-F238E27FC236}">
                <a16:creationId xmlns:a16="http://schemas.microsoft.com/office/drawing/2014/main" id="{AB9AB403-2168-43BC-A174-123245F80359}"/>
              </a:ext>
            </a:extLst>
          </p:cNvPr>
          <p:cNvSpPr>
            <a:spLocks xmlns:a="http://schemas.openxmlformats.org/drawingml/2006/main" noGrp="1"/>
          </p:cNvSpPr>
          <p:nvPr/>
        </p:nvSpPr>
        <p:spPr>
          <a:xfrm xmlns:a="http://schemas.openxmlformats.org/drawingml/2006/main">
            <a:off x="5200650" y="5448300"/>
            <a:ext cx="150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E6675"/>
                </a:solidFill>
                <a:latin typeface="Times New Roman"/>
                <a:ea typeface="Times New Roman"/>
                <a:cs typeface="Times New Roman"/>
              </a:defRPr>
            </a:pPr>
            <a:r>
              <a:rPr sz="1125" b="0" i="0">
                <a:solidFill>
                  <a:srgbClr val="5E6675"/>
                </a:solidFill>
                <a:latin typeface="Times New Roman"/>
                <a:ea typeface="Times New Roman"/>
                <a:cs typeface="Times New Roman"/>
              </a:rPr>
              <a:t>Open more evidence or stop</a:t>
            </a:r>
          </a:p>
        </p:txBody>
      </p:sp>
      <p:sp>
        <p:nvSpPr>
          <p:cNvPr id="31" name="">
            <a:extLst xmlns:a="http://schemas.openxmlformats.org/drawingml/2006/main">
              <a:ext uri="{FF2B5EF4-FFF2-40B4-BE49-F238E27FC236}">
                <a16:creationId xmlns:a16="http://schemas.microsoft.com/office/drawing/2014/main" id="{91A6599F-1653-443E-8C35-E9282B975CC6}"/>
              </a:ext>
            </a:extLst>
          </p:cNvPr>
          <p:cNvSpPr>
            <a:spLocks xmlns:a="http://schemas.openxmlformats.org/drawingml/2006/main" noGrp="1"/>
          </p:cNvSpPr>
          <p:nvPr/>
        </p:nvSpPr>
        <p:spPr>
          <a:xfrm xmlns:a="http://schemas.openxmlformats.org/drawingml/2006/main">
            <a:off x="6877050" y="5505450"/>
            <a:ext cx="171450" cy="190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2" name="">
            <a:extLst xmlns:a="http://schemas.openxmlformats.org/drawingml/2006/main">
              <a:ext uri="{FF2B5EF4-FFF2-40B4-BE49-F238E27FC236}">
                <a16:creationId xmlns:a16="http://schemas.microsoft.com/office/drawing/2014/main" id="{863150C8-A952-4B10-A5E1-FD9C342AB7E8}"/>
              </a:ext>
            </a:extLst>
          </p:cNvPr>
          <p:cNvSpPr>
            <a:spLocks xmlns:a="http://schemas.openxmlformats.org/drawingml/2006/main" noGrp="1"/>
          </p:cNvSpPr>
          <p:nvPr/>
        </p:nvSpPr>
        <p:spPr>
          <a:xfrm xmlns:a="http://schemas.openxmlformats.org/drawingml/2006/main">
            <a:off x="7086600" y="4991100"/>
            <a:ext cx="17907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33" name="">
            <a:extLst xmlns:a="http://schemas.openxmlformats.org/drawingml/2006/main">
              <a:ext uri="{FF2B5EF4-FFF2-40B4-BE49-F238E27FC236}">
                <a16:creationId xmlns:a16="http://schemas.microsoft.com/office/drawing/2014/main" id="{AC275298-EE94-4670-A399-45129DB8D05F}"/>
              </a:ext>
            </a:extLst>
          </p:cNvPr>
          <p:cNvSpPr>
            <a:spLocks xmlns:a="http://schemas.openxmlformats.org/drawingml/2006/main" noGrp="1"/>
          </p:cNvSpPr>
          <p:nvPr/>
        </p:nvSpPr>
        <p:spPr>
          <a:xfrm xmlns:a="http://schemas.openxmlformats.org/drawingml/2006/main">
            <a:off x="7086600" y="499110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4" name="">
            <a:extLst xmlns:a="http://schemas.openxmlformats.org/drawingml/2006/main">
              <a:ext uri="{FF2B5EF4-FFF2-40B4-BE49-F238E27FC236}">
                <a16:creationId xmlns:a16="http://schemas.microsoft.com/office/drawing/2014/main" id="{10BF20B6-0CD5-4368-8554-8E75BF02839E}"/>
              </a:ext>
            </a:extLst>
          </p:cNvPr>
          <p:cNvSpPr>
            <a:spLocks xmlns:a="http://schemas.openxmlformats.org/drawingml/2006/main" noGrp="1"/>
          </p:cNvSpPr>
          <p:nvPr/>
        </p:nvSpPr>
        <p:spPr>
          <a:xfrm xmlns:a="http://schemas.openxmlformats.org/drawingml/2006/main">
            <a:off x="7258050" y="51054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Report posterior</a:t>
            </a:r>
          </a:p>
        </p:txBody>
      </p:sp>
      <p:sp>
        <p:nvSpPr>
          <p:cNvPr id="35" name="">
            <a:extLst xmlns:a="http://schemas.openxmlformats.org/drawingml/2006/main">
              <a:ext uri="{FF2B5EF4-FFF2-40B4-BE49-F238E27FC236}">
                <a16:creationId xmlns:a16="http://schemas.microsoft.com/office/drawing/2014/main" id="{CA33A2FD-C690-48A4-B236-9DD8FBF4075E}"/>
              </a:ext>
            </a:extLst>
          </p:cNvPr>
          <p:cNvSpPr>
            <a:spLocks xmlns:a="http://schemas.openxmlformats.org/drawingml/2006/main" noGrp="1"/>
          </p:cNvSpPr>
          <p:nvPr/>
        </p:nvSpPr>
        <p:spPr>
          <a:xfrm xmlns:a="http://schemas.openxmlformats.org/drawingml/2006/main">
            <a:off x="7258050" y="5448300"/>
            <a:ext cx="150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E6675"/>
                </a:solidFill>
                <a:latin typeface="Times New Roman"/>
                <a:ea typeface="Times New Roman"/>
                <a:cs typeface="Times New Roman"/>
              </a:defRPr>
            </a:pPr>
            <a:r>
              <a:rPr sz="1125" b="0" i="0">
                <a:solidFill>
                  <a:srgbClr val="5E6675"/>
                </a:solidFill>
                <a:latin typeface="Times New Roman"/>
                <a:ea typeface="Times New Roman"/>
                <a:cs typeface="Times New Roman"/>
              </a:rPr>
              <a:t>Give the final probability</a:t>
            </a:r>
          </a:p>
        </p:txBody>
      </p:sp>
      <p:sp>
        <p:nvSpPr>
          <p:cNvPr id="36" name="">
            <a:extLst xmlns:a="http://schemas.openxmlformats.org/drawingml/2006/main">
              <a:ext uri="{FF2B5EF4-FFF2-40B4-BE49-F238E27FC236}">
                <a16:creationId xmlns:a16="http://schemas.microsoft.com/office/drawing/2014/main" id="{143FF4C6-79B1-4F5D-B34D-54E4A2CC25F2}"/>
              </a:ext>
            </a:extLst>
          </p:cNvPr>
          <p:cNvSpPr>
            <a:spLocks xmlns:a="http://schemas.openxmlformats.org/drawingml/2006/main" noGrp="1"/>
          </p:cNvSpPr>
          <p:nvPr/>
        </p:nvSpPr>
        <p:spPr>
          <a:xfrm xmlns:a="http://schemas.openxmlformats.org/drawingml/2006/main">
            <a:off x="8934450" y="5505450"/>
            <a:ext cx="171450" cy="190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7" name="">
            <a:extLst xmlns:a="http://schemas.openxmlformats.org/drawingml/2006/main">
              <a:ext uri="{FF2B5EF4-FFF2-40B4-BE49-F238E27FC236}">
                <a16:creationId xmlns:a16="http://schemas.microsoft.com/office/drawing/2014/main" id="{6577986D-451F-44C8-A3DB-351ED426ADF1}"/>
              </a:ext>
            </a:extLst>
          </p:cNvPr>
          <p:cNvSpPr>
            <a:spLocks xmlns:a="http://schemas.openxmlformats.org/drawingml/2006/main" noGrp="1"/>
          </p:cNvSpPr>
          <p:nvPr/>
        </p:nvSpPr>
        <p:spPr>
          <a:xfrm xmlns:a="http://schemas.openxmlformats.org/drawingml/2006/main">
            <a:off x="9144000" y="4991100"/>
            <a:ext cx="17907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38" name="">
            <a:extLst xmlns:a="http://schemas.openxmlformats.org/drawingml/2006/main">
              <a:ext uri="{FF2B5EF4-FFF2-40B4-BE49-F238E27FC236}">
                <a16:creationId xmlns:a16="http://schemas.microsoft.com/office/drawing/2014/main" id="{F4567ECD-1AC1-4FFC-973F-69809312266E}"/>
              </a:ext>
            </a:extLst>
          </p:cNvPr>
          <p:cNvSpPr>
            <a:spLocks xmlns:a="http://schemas.openxmlformats.org/drawingml/2006/main" noGrp="1"/>
          </p:cNvSpPr>
          <p:nvPr/>
        </p:nvSpPr>
        <p:spPr>
          <a:xfrm xmlns:a="http://schemas.openxmlformats.org/drawingml/2006/main">
            <a:off x="9144000" y="499110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9" name="">
            <a:extLst xmlns:a="http://schemas.openxmlformats.org/drawingml/2006/main">
              <a:ext uri="{FF2B5EF4-FFF2-40B4-BE49-F238E27FC236}">
                <a16:creationId xmlns:a16="http://schemas.microsoft.com/office/drawing/2014/main" id="{39AB0210-34DB-43A4-8C11-9537145EBE62}"/>
              </a:ext>
            </a:extLst>
          </p:cNvPr>
          <p:cNvSpPr>
            <a:spLocks xmlns:a="http://schemas.openxmlformats.org/drawingml/2006/main" noGrp="1"/>
          </p:cNvSpPr>
          <p:nvPr/>
        </p:nvSpPr>
        <p:spPr>
          <a:xfrm xmlns:a="http://schemas.openxmlformats.org/drawingml/2006/main">
            <a:off x="9315450" y="51054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Rate mastery</a:t>
            </a:r>
          </a:p>
        </p:txBody>
      </p:sp>
      <p:sp>
        <p:nvSpPr>
          <p:cNvPr id="40" name="">
            <a:extLst xmlns:a="http://schemas.openxmlformats.org/drawingml/2006/main">
              <a:ext uri="{FF2B5EF4-FFF2-40B4-BE49-F238E27FC236}">
                <a16:creationId xmlns:a16="http://schemas.microsoft.com/office/drawing/2014/main" id="{7D8D5A87-35AE-4408-B578-7BABCA9DD566}"/>
              </a:ext>
            </a:extLst>
          </p:cNvPr>
          <p:cNvSpPr>
            <a:spLocks xmlns:a="http://schemas.openxmlformats.org/drawingml/2006/main" noGrp="1"/>
          </p:cNvSpPr>
          <p:nvPr/>
        </p:nvSpPr>
        <p:spPr>
          <a:xfrm xmlns:a="http://schemas.openxmlformats.org/drawingml/2006/main">
            <a:off x="9315450" y="5448300"/>
            <a:ext cx="150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E6675"/>
                </a:solidFill>
                <a:latin typeface="Times New Roman"/>
                <a:ea typeface="Times New Roman"/>
                <a:cs typeface="Times New Roman"/>
              </a:defRPr>
            </a:pPr>
            <a:r>
              <a:rPr sz="1125" b="0" i="0">
                <a:solidFill>
                  <a:srgbClr val="5E6675"/>
                </a:solidFill>
                <a:latin typeface="Times New Roman"/>
                <a:ea typeface="Times New Roman"/>
                <a:cs typeface="Times New Roman"/>
              </a:rPr>
              <a:t>Report confidence and ownership</a:t>
            </a:r>
          </a:p>
        </p:txBody>
      </p:sp>
    </p:spTree>
    <p:extLst>
      <p:ext uri="{BB962C8B-B14F-4D97-AF65-F5344CB8AC3E}">
        <p14:creationId xmlns:p14="http://schemas.microsoft.com/office/powerpoint/2010/main" val="2134104871"/>
      </p:ext>
    </p:extLst>
  </p:cSld>
</p:sld>
</file>

<file path=ppt/slides/slide12.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74EA77-688E-458D-8F67-691433988BDF}"/>
              </a:ext>
            </a:extLst>
          </p:cNvPr>
          <p:cNvSpPr>
            <a:spLocks xmlns:a="http://schemas.openxmlformats.org/drawingml/2006/main" noGrp="1"/>
          </p:cNvSpPr>
          <p:nvPr/>
        </p:nvSpPr>
        <p:spPr>
          <a:xfrm xmlns:a="http://schemas.openxmlformats.org/drawingml/2006/main">
            <a:off x="9715500" y="-342900"/>
            <a:ext cx="2514600" cy="2247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1BADDD-9874-4152-9C85-A0DEDCA172B1}"/>
              </a:ext>
            </a:extLst>
          </p:cNvPr>
          <p:cNvSpPr>
            <a:spLocks xmlns:a="http://schemas.openxmlformats.org/drawingml/2006/main" noGrp="1"/>
          </p:cNvSpPr>
          <p:nvPr/>
        </p:nvSpPr>
        <p:spPr>
          <a:xfrm xmlns:a="http://schemas.openxmlformats.org/drawingml/2006/main">
            <a:off x="-704850" y="5105400"/>
            <a:ext cx="1866900" cy="1866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F9CDE8-1AEC-4277-B70A-59ABA6EBD9DB}"/>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7D9C8"/>
          </a:solidFill>
          <a:ln xmlns:a="http://schemas.openxmlformats.org/drawingml/2006/main" w="0">
            <a:solidFill>
              <a:srgbClr val="E7D9C8"/>
            </a:solidFill>
            <a:prstDash val="solid"/>
          </a:ln>
        </p:spPr>
      </p:sp>
      <p:sp>
        <p:nvSpPr>
          <p:cNvPr id="4" name="">
            <a:extLst xmlns:a="http://schemas.openxmlformats.org/drawingml/2006/main">
              <a:ext uri="{FF2B5EF4-FFF2-40B4-BE49-F238E27FC236}">
                <a16:creationId xmlns:a16="http://schemas.microsoft.com/office/drawing/2014/main" id="{9928DA3F-1D15-4997-A780-DAD6351C0D95}"/>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5" name="">
            <a:extLst xmlns:a="http://schemas.openxmlformats.org/drawingml/2006/main">
              <a:ext uri="{FF2B5EF4-FFF2-40B4-BE49-F238E27FC236}">
                <a16:creationId xmlns:a16="http://schemas.microsoft.com/office/drawing/2014/main" id="{214921A8-FBBE-43AD-9AC5-11A1FA9E2F9E}"/>
              </a:ext>
            </a:extLst>
          </p:cNvPr>
          <p:cNvSpPr>
            <a:spLocks xmlns:a="http://schemas.openxmlformats.org/drawingml/2006/main" noGrp="1"/>
          </p:cNvSpPr>
          <p:nvPr/>
        </p:nvSpPr>
        <p:spPr>
          <a:xfrm xmlns:a="http://schemas.openxmlformats.org/drawingml/2006/main">
            <a:off x="1257300" y="571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E643F"/>
                </a:solidFill>
              </a:defRPr>
            </a:pPr>
            <a:r>
              <a:rPr sz="975" b="1">
                <a:solidFill>
                  <a:srgbClr val="BE643F"/>
                </a:solidFill>
              </a:rPr>
              <a:t>RESULT PATTERNS</a:t>
            </a:r>
          </a:p>
        </p:txBody>
      </p:sp>
      <p:sp>
        <p:nvSpPr>
          <p:cNvPr id="6" name="">
            <a:extLst xmlns:a="http://schemas.openxmlformats.org/drawingml/2006/main">
              <a:ext uri="{FF2B5EF4-FFF2-40B4-BE49-F238E27FC236}">
                <a16:creationId xmlns:a16="http://schemas.microsoft.com/office/drawing/2014/main" id="{B959E40E-90CE-432B-A8BE-371702189F55}"/>
              </a:ext>
            </a:extLst>
          </p:cNvPr>
          <p:cNvSpPr>
            <a:spLocks xmlns:a="http://schemas.openxmlformats.org/drawingml/2006/main" noGrp="1"/>
          </p:cNvSpPr>
          <p:nvPr/>
        </p:nvSpPr>
        <p:spPr>
          <a:xfrm xmlns:a="http://schemas.openxmlformats.org/drawingml/2006/main">
            <a:off x="1009650" y="1028700"/>
            <a:ext cx="971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232B3A"/>
                </a:solidFill>
              </a:defRPr>
            </a:pPr>
            <a:r>
              <a:rPr sz="2325" b="1">
                <a:solidFill>
                  <a:srgbClr val="232B3A"/>
                </a:solidFill>
              </a:rPr>
              <a:t>Different result patterns would support different hypotheses</a:t>
            </a:r>
          </a:p>
        </p:txBody>
      </p:sp>
      <p:sp>
        <p:nvSpPr>
          <p:cNvPr id="7" name="">
            <a:extLst xmlns:a="http://schemas.openxmlformats.org/drawingml/2006/main">
              <a:ext uri="{FF2B5EF4-FFF2-40B4-BE49-F238E27FC236}">
                <a16:creationId xmlns:a16="http://schemas.microsoft.com/office/drawing/2014/main" id="{F5CA5911-085C-49BC-90AC-41E154C5966C}"/>
              </a:ext>
            </a:extLst>
          </p:cNvPr>
          <p:cNvSpPr>
            <a:spLocks xmlns:a="http://schemas.openxmlformats.org/drawingml/2006/main" noGrp="1"/>
          </p:cNvSpPr>
          <p:nvPr/>
        </p:nvSpPr>
        <p:spPr>
          <a:xfrm xmlns:a="http://schemas.openxmlformats.org/drawingml/2006/main">
            <a:off x="1009650" y="17526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67085"/>
                </a:solidFill>
              </a:defRPr>
            </a:pPr>
            <a:r>
              <a:rPr sz="1350">
                <a:solidFill>
                  <a:srgbClr val="667085"/>
                </a:solidFill>
              </a:rPr>
              <a:t>Once the experiment is in place, the key issue is how the observed result pattern maps onto the three research questions.</a:t>
            </a:r>
          </a:p>
        </p:txBody>
      </p:sp>
      <p:sp>
        <p:nvSpPr>
          <p:cNvPr id="8" name="">
            <a:extLst xmlns:a="http://schemas.openxmlformats.org/drawingml/2006/main">
              <a:ext uri="{FF2B5EF4-FFF2-40B4-BE49-F238E27FC236}">
                <a16:creationId xmlns:a16="http://schemas.microsoft.com/office/drawing/2014/main" id="{8B457031-E836-4E12-8AB9-2EE56F6B3E5B}"/>
              </a:ext>
            </a:extLst>
          </p:cNvPr>
          <p:cNvSpPr>
            <a:spLocks xmlns:a="http://schemas.openxmlformats.org/drawingml/2006/main" noGrp="1"/>
          </p:cNvSpPr>
          <p:nvPr/>
        </p:nvSpPr>
        <p:spPr>
          <a:xfrm xmlns:a="http://schemas.openxmlformats.org/drawingml/2006/main">
            <a:off x="914400" y="2362200"/>
            <a:ext cx="4762500" cy="1676400"/>
          </a:xfrm>
          <a:prstGeom xmlns:a="http://schemas.openxmlformats.org/drawingml/2006/main" prst="roundRect">
            <a:avLst>
              <a:gd name="adj" fmla="val 6818"/>
            </a:avLst>
          </a:prstGeom>
          <a:solidFill xmlns:a="http://schemas.openxmlformats.org/drawingml/2006/main">
            <a:srgbClr val="FEFCF8"/>
          </a:solidFill>
          <a:ln xmlns:a="http://schemas.openxmlformats.org/drawingml/2006/main" w="9525">
            <a:solidFill>
              <a:srgbClr val="F0E2D1"/>
            </a:solidFill>
            <a:prstDash val="solid"/>
          </a:ln>
        </p:spPr>
      </p:sp>
      <p:sp>
        <p:nvSpPr>
          <p:cNvPr id="9" name="">
            <a:extLst xmlns:a="http://schemas.openxmlformats.org/drawingml/2006/main">
              <a:ext uri="{FF2B5EF4-FFF2-40B4-BE49-F238E27FC236}">
                <a16:creationId xmlns:a16="http://schemas.microsoft.com/office/drawing/2014/main" id="{CE05037F-1F4E-4272-9830-B00B41F88874}"/>
              </a:ext>
            </a:extLst>
          </p:cNvPr>
          <p:cNvSpPr>
            <a:spLocks xmlns:a="http://schemas.openxmlformats.org/drawingml/2006/main" noGrp="1"/>
          </p:cNvSpPr>
          <p:nvPr/>
        </p:nvSpPr>
        <p:spPr>
          <a:xfrm xmlns:a="http://schemas.openxmlformats.org/drawingml/2006/main">
            <a:off x="914400" y="2362200"/>
            <a:ext cx="57150" cy="167640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10" name="">
            <a:extLst xmlns:a="http://schemas.openxmlformats.org/drawingml/2006/main">
              <a:ext uri="{FF2B5EF4-FFF2-40B4-BE49-F238E27FC236}">
                <a16:creationId xmlns:a16="http://schemas.microsoft.com/office/drawing/2014/main" id="{C47485C7-0117-4A10-AE47-686E10F6457D}"/>
              </a:ext>
            </a:extLst>
          </p:cNvPr>
          <p:cNvSpPr>
            <a:spLocks xmlns:a="http://schemas.openxmlformats.org/drawingml/2006/main" noGrp="1"/>
          </p:cNvSpPr>
          <p:nvPr/>
        </p:nvSpPr>
        <p:spPr>
          <a:xfrm xmlns:a="http://schemas.openxmlformats.org/drawingml/2006/main">
            <a:off x="1181100" y="253365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RQ1: stopping-threshold effect</a:t>
            </a:r>
          </a:p>
        </p:txBody>
      </p:sp>
      <p:sp>
        <p:nvSpPr>
          <p:cNvPr id="11" name="">
            <a:extLst xmlns:a="http://schemas.openxmlformats.org/drawingml/2006/main">
              <a:ext uri="{FF2B5EF4-FFF2-40B4-BE49-F238E27FC236}">
                <a16:creationId xmlns:a16="http://schemas.microsoft.com/office/drawing/2014/main" id="{EA9053CD-354C-4A8D-9CC8-8120F81AE178}"/>
              </a:ext>
            </a:extLst>
          </p:cNvPr>
          <p:cNvSpPr>
            <a:spLocks xmlns:a="http://schemas.openxmlformats.org/drawingml/2006/main" noGrp="1"/>
          </p:cNvSpPr>
          <p:nvPr/>
        </p:nvSpPr>
        <p:spPr>
          <a:xfrm xmlns:a="http://schemas.openxmlformats.org/drawingml/2006/main">
            <a:off x="1181100" y="2914650"/>
            <a:ext cx="4305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If the AI-labeled summary group searches less, stops earlier, or is willing to pay less for extra evidence than the unlabeled-summary group, that supports the claim that the AI label shifts the search stopping threshold.</a:t>
            </a:r>
          </a:p>
        </p:txBody>
      </p:sp>
      <p:sp>
        <p:nvSpPr>
          <p:cNvPr id="12" name="">
            <a:extLst xmlns:a="http://schemas.openxmlformats.org/drawingml/2006/main">
              <a:ext uri="{FF2B5EF4-FFF2-40B4-BE49-F238E27FC236}">
                <a16:creationId xmlns:a16="http://schemas.microsoft.com/office/drawing/2014/main" id="{A80FCEB3-F456-4E26-AE93-4EDF4710DBB7}"/>
              </a:ext>
            </a:extLst>
          </p:cNvPr>
          <p:cNvSpPr>
            <a:spLocks xmlns:a="http://schemas.openxmlformats.org/drawingml/2006/main" noGrp="1"/>
          </p:cNvSpPr>
          <p:nvPr/>
        </p:nvSpPr>
        <p:spPr>
          <a:xfrm xmlns:a="http://schemas.openxmlformats.org/drawingml/2006/main">
            <a:off x="6438900" y="2362200"/>
            <a:ext cx="4762500" cy="1676400"/>
          </a:xfrm>
          <a:prstGeom xmlns:a="http://schemas.openxmlformats.org/drawingml/2006/main" prst="roundRect">
            <a:avLst>
              <a:gd name="adj" fmla="val 6818"/>
            </a:avLst>
          </a:prstGeom>
          <a:solidFill xmlns:a="http://schemas.openxmlformats.org/drawingml/2006/main">
            <a:srgbClr val="FEFCF8"/>
          </a:solidFill>
          <a:ln xmlns:a="http://schemas.openxmlformats.org/drawingml/2006/main" w="9525">
            <a:solidFill>
              <a:srgbClr val="F0E2D1"/>
            </a:solidFill>
            <a:prstDash val="solid"/>
          </a:ln>
        </p:spPr>
      </p:sp>
      <p:sp>
        <p:nvSpPr>
          <p:cNvPr id="13" name="">
            <a:extLst xmlns:a="http://schemas.openxmlformats.org/drawingml/2006/main">
              <a:ext uri="{FF2B5EF4-FFF2-40B4-BE49-F238E27FC236}">
                <a16:creationId xmlns:a16="http://schemas.microsoft.com/office/drawing/2014/main" id="{3D52C5A5-C72F-414D-B655-5FD77653231E}"/>
              </a:ext>
            </a:extLst>
          </p:cNvPr>
          <p:cNvSpPr>
            <a:spLocks xmlns:a="http://schemas.openxmlformats.org/drawingml/2006/main" noGrp="1"/>
          </p:cNvSpPr>
          <p:nvPr/>
        </p:nvSpPr>
        <p:spPr>
          <a:xfrm xmlns:a="http://schemas.openxmlformats.org/drawingml/2006/main">
            <a:off x="6438900" y="2362200"/>
            <a:ext cx="57150" cy="1676400"/>
          </a:xfrm>
          <a:prstGeom xmlns:a="http://schemas.openxmlformats.org/drawingml/2006/main" prst="rect">
            <a:avLst/>
          </a:prstGeom>
          <a:solidFill xmlns:a="http://schemas.openxmlformats.org/drawingml/2006/main">
            <a:srgbClr val="7A8A68"/>
          </a:solidFill>
          <a:ln xmlns:a="http://schemas.openxmlformats.org/drawingml/2006/main" w="0">
            <a:solidFill>
              <a:srgbClr val="7A8A68"/>
            </a:solidFill>
            <a:prstDash val="solid"/>
          </a:ln>
        </p:spPr>
      </p:sp>
      <p:sp>
        <p:nvSpPr>
          <p:cNvPr id="14" name="">
            <a:extLst xmlns:a="http://schemas.openxmlformats.org/drawingml/2006/main">
              <a:ext uri="{FF2B5EF4-FFF2-40B4-BE49-F238E27FC236}">
                <a16:creationId xmlns:a16="http://schemas.microsoft.com/office/drawing/2014/main" id="{DD95A94A-AA10-4CE0-B7A2-3774D560328F}"/>
              </a:ext>
            </a:extLst>
          </p:cNvPr>
          <p:cNvSpPr>
            <a:spLocks xmlns:a="http://schemas.openxmlformats.org/drawingml/2006/main" noGrp="1"/>
          </p:cNvSpPr>
          <p:nvPr/>
        </p:nvSpPr>
        <p:spPr>
          <a:xfrm xmlns:a="http://schemas.openxmlformats.org/drawingml/2006/main">
            <a:off x="6705600" y="253365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RQ2: efficient compression</a:t>
            </a:r>
          </a:p>
        </p:txBody>
      </p:sp>
      <p:sp>
        <p:nvSpPr>
          <p:cNvPr id="15" name="">
            <a:extLst xmlns:a="http://schemas.openxmlformats.org/drawingml/2006/main">
              <a:ext uri="{FF2B5EF4-FFF2-40B4-BE49-F238E27FC236}">
                <a16:creationId xmlns:a16="http://schemas.microsoft.com/office/drawing/2014/main" id="{319F623A-1366-4AE4-9C86-D90A2A41C0B4}"/>
              </a:ext>
            </a:extLst>
          </p:cNvPr>
          <p:cNvSpPr>
            <a:spLocks xmlns:a="http://schemas.openxmlformats.org/drawingml/2006/main" noGrp="1"/>
          </p:cNvSpPr>
          <p:nvPr/>
        </p:nvSpPr>
        <p:spPr>
          <a:xfrm xmlns:a="http://schemas.openxmlformats.org/drawingml/2006/main">
            <a:off x="6705600" y="2914650"/>
            <a:ext cx="4305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If search falls under representative summaries without worse full-information performance, the reduction in search is consistent with efficient information compression rather than harmful under-search.</a:t>
            </a:r>
          </a:p>
        </p:txBody>
      </p:sp>
      <p:sp>
        <p:nvSpPr>
          <p:cNvPr id="16" name="">
            <a:extLst xmlns:a="http://schemas.openxmlformats.org/drawingml/2006/main">
              <a:ext uri="{FF2B5EF4-FFF2-40B4-BE49-F238E27FC236}">
                <a16:creationId xmlns:a16="http://schemas.microsoft.com/office/drawing/2014/main" id="{22E5C2AB-FC7C-4A14-B518-443FCF95ED26}"/>
              </a:ext>
            </a:extLst>
          </p:cNvPr>
          <p:cNvSpPr>
            <a:spLocks xmlns:a="http://schemas.openxmlformats.org/drawingml/2006/main" noGrp="1"/>
          </p:cNvSpPr>
          <p:nvPr/>
        </p:nvSpPr>
        <p:spPr>
          <a:xfrm xmlns:a="http://schemas.openxmlformats.org/drawingml/2006/main">
            <a:off x="914400" y="4286250"/>
            <a:ext cx="4762500" cy="1676400"/>
          </a:xfrm>
          <a:prstGeom xmlns:a="http://schemas.openxmlformats.org/drawingml/2006/main" prst="roundRect">
            <a:avLst>
              <a:gd name="adj" fmla="val 6818"/>
            </a:avLst>
          </a:prstGeom>
          <a:solidFill xmlns:a="http://schemas.openxmlformats.org/drawingml/2006/main">
            <a:srgbClr val="FEFCF8"/>
          </a:solidFill>
          <a:ln xmlns:a="http://schemas.openxmlformats.org/drawingml/2006/main" w="9525">
            <a:solidFill>
              <a:srgbClr val="F0E2D1"/>
            </a:solidFill>
            <a:prstDash val="solid"/>
          </a:ln>
        </p:spPr>
      </p:sp>
      <p:sp>
        <p:nvSpPr>
          <p:cNvPr id="17" name="">
            <a:extLst xmlns:a="http://schemas.openxmlformats.org/drawingml/2006/main">
              <a:ext uri="{FF2B5EF4-FFF2-40B4-BE49-F238E27FC236}">
                <a16:creationId xmlns:a16="http://schemas.microsoft.com/office/drawing/2014/main" id="{683C0D50-D2E2-4A5A-A688-8C448760CEBE}"/>
              </a:ext>
            </a:extLst>
          </p:cNvPr>
          <p:cNvSpPr>
            <a:spLocks xmlns:a="http://schemas.openxmlformats.org/drawingml/2006/main" noGrp="1"/>
          </p:cNvSpPr>
          <p:nvPr/>
        </p:nvSpPr>
        <p:spPr>
          <a:xfrm xmlns:a="http://schemas.openxmlformats.org/drawingml/2006/main">
            <a:off x="914400" y="4286250"/>
            <a:ext cx="57150" cy="1676400"/>
          </a:xfrm>
          <a:prstGeom xmlns:a="http://schemas.openxmlformats.org/drawingml/2006/main" prst="rect">
            <a:avLst/>
          </a:prstGeom>
          <a:solidFill xmlns:a="http://schemas.openxmlformats.org/drawingml/2006/main">
            <a:srgbClr val="B45A44"/>
          </a:solidFill>
          <a:ln xmlns:a="http://schemas.openxmlformats.org/drawingml/2006/main" w="0">
            <a:solidFill>
              <a:srgbClr val="B45A44"/>
            </a:solidFill>
            <a:prstDash val="solid"/>
          </a:ln>
        </p:spPr>
      </p:sp>
      <p:sp>
        <p:nvSpPr>
          <p:cNvPr id="18" name="">
            <a:extLst xmlns:a="http://schemas.openxmlformats.org/drawingml/2006/main">
              <a:ext uri="{FF2B5EF4-FFF2-40B4-BE49-F238E27FC236}">
                <a16:creationId xmlns:a16="http://schemas.microsoft.com/office/drawing/2014/main" id="{36949869-5081-4431-8541-E55A46C69489}"/>
              </a:ext>
            </a:extLst>
          </p:cNvPr>
          <p:cNvSpPr>
            <a:spLocks xmlns:a="http://schemas.openxmlformats.org/drawingml/2006/main" noGrp="1"/>
          </p:cNvSpPr>
          <p:nvPr/>
        </p:nvSpPr>
        <p:spPr>
          <a:xfrm xmlns:a="http://schemas.openxmlformats.org/drawingml/2006/main">
            <a:off x="1181100" y="445770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RQ2: harmful under-search</a:t>
            </a:r>
          </a:p>
        </p:txBody>
      </p:sp>
      <p:sp>
        <p:nvSpPr>
          <p:cNvPr id="19" name="">
            <a:extLst xmlns:a="http://schemas.openxmlformats.org/drawingml/2006/main">
              <a:ext uri="{FF2B5EF4-FFF2-40B4-BE49-F238E27FC236}">
                <a16:creationId xmlns:a16="http://schemas.microsoft.com/office/drawing/2014/main" id="{98C97F2C-9025-4FCB-8375-4655C7A49213}"/>
              </a:ext>
            </a:extLst>
          </p:cNvPr>
          <p:cNvSpPr>
            <a:spLocks xmlns:a="http://schemas.openxmlformats.org/drawingml/2006/main" noGrp="1"/>
          </p:cNvSpPr>
          <p:nvPr/>
        </p:nvSpPr>
        <p:spPr>
          <a:xfrm xmlns:a="http://schemas.openxmlformats.org/drawingml/2006/main">
            <a:off x="1181100" y="4838700"/>
            <a:ext cx="4305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If search still falls under incomplete summaries and full-information deviation grows, the result supports harmful information-acquisition deviation caused by overestimated sufficiency.</a:t>
            </a:r>
          </a:p>
        </p:txBody>
      </p:sp>
      <p:sp>
        <p:nvSpPr>
          <p:cNvPr id="20" name="">
            <a:extLst xmlns:a="http://schemas.openxmlformats.org/drawingml/2006/main">
              <a:ext uri="{FF2B5EF4-FFF2-40B4-BE49-F238E27FC236}">
                <a16:creationId xmlns:a16="http://schemas.microsoft.com/office/drawing/2014/main" id="{309B1FCD-6419-44EE-9C85-83F2E38C6106}"/>
              </a:ext>
            </a:extLst>
          </p:cNvPr>
          <p:cNvSpPr>
            <a:spLocks xmlns:a="http://schemas.openxmlformats.org/drawingml/2006/main" noGrp="1"/>
          </p:cNvSpPr>
          <p:nvPr/>
        </p:nvSpPr>
        <p:spPr>
          <a:xfrm xmlns:a="http://schemas.openxmlformats.org/drawingml/2006/main">
            <a:off x="6438900" y="4286250"/>
            <a:ext cx="4762500" cy="1676400"/>
          </a:xfrm>
          <a:prstGeom xmlns:a="http://schemas.openxmlformats.org/drawingml/2006/main" prst="roundRect">
            <a:avLst>
              <a:gd name="adj" fmla="val 6818"/>
            </a:avLst>
          </a:prstGeom>
          <a:solidFill xmlns:a="http://schemas.openxmlformats.org/drawingml/2006/main">
            <a:srgbClr val="FEFCF8"/>
          </a:solidFill>
          <a:ln xmlns:a="http://schemas.openxmlformats.org/drawingml/2006/main" w="9525">
            <a:solidFill>
              <a:srgbClr val="F0E2D1"/>
            </a:solidFill>
            <a:prstDash val="solid"/>
          </a:ln>
        </p:spPr>
      </p:sp>
      <p:sp>
        <p:nvSpPr>
          <p:cNvPr id="21" name="">
            <a:extLst xmlns:a="http://schemas.openxmlformats.org/drawingml/2006/main">
              <a:ext uri="{FF2B5EF4-FFF2-40B4-BE49-F238E27FC236}">
                <a16:creationId xmlns:a16="http://schemas.microsoft.com/office/drawing/2014/main" id="{A5BA89FD-66AB-46F4-83F4-18279F0CB251}"/>
              </a:ext>
            </a:extLst>
          </p:cNvPr>
          <p:cNvSpPr>
            <a:spLocks xmlns:a="http://schemas.openxmlformats.org/drawingml/2006/main" noGrp="1"/>
          </p:cNvSpPr>
          <p:nvPr/>
        </p:nvSpPr>
        <p:spPr>
          <a:xfrm xmlns:a="http://schemas.openxmlformats.org/drawingml/2006/main">
            <a:off x="6438900" y="4286250"/>
            <a:ext cx="57150" cy="1676400"/>
          </a:xfrm>
          <a:prstGeom xmlns:a="http://schemas.openxmlformats.org/drawingml/2006/main" prst="rect">
            <a:avLst/>
          </a:prstGeom>
          <a:solidFill xmlns:a="http://schemas.openxmlformats.org/drawingml/2006/main">
            <a:srgbClr val="D1A63A"/>
          </a:solidFill>
          <a:ln xmlns:a="http://schemas.openxmlformats.org/drawingml/2006/main" w="0">
            <a:solidFill>
              <a:srgbClr val="D1A63A"/>
            </a:solidFill>
            <a:prstDash val="solid"/>
          </a:ln>
        </p:spPr>
      </p:sp>
      <p:sp>
        <p:nvSpPr>
          <p:cNvPr id="22" name="">
            <a:extLst xmlns:a="http://schemas.openxmlformats.org/drawingml/2006/main">
              <a:ext uri="{FF2B5EF4-FFF2-40B4-BE49-F238E27FC236}">
                <a16:creationId xmlns:a16="http://schemas.microsoft.com/office/drawing/2014/main" id="{5D2CDC1D-BED9-44DF-B176-82398B96805A}"/>
              </a:ext>
            </a:extLst>
          </p:cNvPr>
          <p:cNvSpPr>
            <a:spLocks xmlns:a="http://schemas.openxmlformats.org/drawingml/2006/main" noGrp="1"/>
          </p:cNvSpPr>
          <p:nvPr/>
        </p:nvSpPr>
        <p:spPr>
          <a:xfrm xmlns:a="http://schemas.openxmlformats.org/drawingml/2006/main">
            <a:off x="6705600" y="445770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RQ3: calibration mismatch</a:t>
            </a:r>
          </a:p>
        </p:txBody>
      </p:sp>
      <p:sp>
        <p:nvSpPr>
          <p:cNvPr id="23" name="">
            <a:extLst xmlns:a="http://schemas.openxmlformats.org/drawingml/2006/main">
              <a:ext uri="{FF2B5EF4-FFF2-40B4-BE49-F238E27FC236}">
                <a16:creationId xmlns:a16="http://schemas.microsoft.com/office/drawing/2014/main" id="{3A0EA705-E99E-4C8B-8E95-8C941D77FB25}"/>
              </a:ext>
            </a:extLst>
          </p:cNvPr>
          <p:cNvSpPr>
            <a:spLocks xmlns:a="http://schemas.openxmlformats.org/drawingml/2006/main" noGrp="1"/>
          </p:cNvSpPr>
          <p:nvPr/>
        </p:nvSpPr>
        <p:spPr>
          <a:xfrm xmlns:a="http://schemas.openxmlformats.org/drawingml/2006/main">
            <a:off x="6705600" y="4838700"/>
            <a:ext cx="4305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If AI-summary users show better posterior quality but lower subjective mastery or epistemic ownership, the result supports a mismatch between objective updating quality and subjective information mastery.</a:t>
            </a:r>
          </a:p>
        </p:txBody>
      </p:sp>
    </p:spTree>
    <p:extLst>
      <p:ext uri="{BB962C8B-B14F-4D97-AF65-F5344CB8AC3E}">
        <p14:creationId xmlns:p14="http://schemas.microsoft.com/office/powerpoint/2010/main" val="682936626"/>
      </p:ext>
    </p:extLst>
  </p:cSld>
</p:sld>
</file>

<file path=ppt/slides/slide13.xml><?xml version="1.0" encoding="utf-8"?>
<p:sld xmlns:p="http://schemas.openxmlformats.org/presentationml/2006/main">
  <p:cSld>
    <p:bg>
      <p:bgPr>
        <a:solidFill xmlns:a="http://schemas.openxmlformats.org/drawingml/2006/main">
          <a:srgbClr val="F7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BF8DE1-6E1C-4B65-BCFB-46EA95EDA95E}"/>
              </a:ext>
            </a:extLst>
          </p:cNvPr>
          <p:cNvSpPr>
            <a:spLocks xmlns:a="http://schemas.openxmlformats.org/drawingml/2006/main" noGrp="1"/>
          </p:cNvSpPr>
          <p:nvPr/>
        </p:nvSpPr>
        <p:spPr>
          <a:xfrm xmlns:a="http://schemas.openxmlformats.org/drawingml/2006/main">
            <a:off x="9715500" y="-342900"/>
            <a:ext cx="2514600" cy="2247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858189-C3FC-4925-84EE-7DEBC2692CC1}"/>
              </a:ext>
            </a:extLst>
          </p:cNvPr>
          <p:cNvSpPr>
            <a:spLocks xmlns:a="http://schemas.openxmlformats.org/drawingml/2006/main" noGrp="1"/>
          </p:cNvSpPr>
          <p:nvPr/>
        </p:nvSpPr>
        <p:spPr>
          <a:xfrm xmlns:a="http://schemas.openxmlformats.org/drawingml/2006/main">
            <a:off x="-704850" y="5105400"/>
            <a:ext cx="1866900" cy="1866900"/>
          </a:xfrm>
          <a:prstGeom xmlns:a="http://schemas.openxmlformats.org/drawingml/2006/main" prst="ellipse">
            <a:avLst/>
          </a:prstGeom>
          <a:solidFill xmlns:a="http://schemas.openxmlformats.org/drawingml/2006/main">
            <a:srgbClr val="EEE3D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D8AAE5-4257-4D7E-8FE7-D4F870D5E164}"/>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7D9C8"/>
          </a:solidFill>
          <a:ln xmlns:a="http://schemas.openxmlformats.org/drawingml/2006/main" w="0">
            <a:solidFill>
              <a:srgbClr val="E7D9C8"/>
            </a:solidFill>
            <a:prstDash val="solid"/>
          </a:ln>
        </p:spPr>
      </p:sp>
      <p:sp>
        <p:nvSpPr>
          <p:cNvPr id="4" name="">
            <a:extLst xmlns:a="http://schemas.openxmlformats.org/drawingml/2006/main">
              <a:ext uri="{FF2B5EF4-FFF2-40B4-BE49-F238E27FC236}">
                <a16:creationId xmlns:a16="http://schemas.microsoft.com/office/drawing/2014/main" id="{854F99FB-A38F-44A9-96BF-BB0A2882B605}"/>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5" name="">
            <a:extLst xmlns:a="http://schemas.openxmlformats.org/drawingml/2006/main">
              <a:ext uri="{FF2B5EF4-FFF2-40B4-BE49-F238E27FC236}">
                <a16:creationId xmlns:a16="http://schemas.microsoft.com/office/drawing/2014/main" id="{A51E686B-A39D-4502-87A9-CF467B6D710A}"/>
              </a:ext>
            </a:extLst>
          </p:cNvPr>
          <p:cNvSpPr>
            <a:spLocks xmlns:a="http://schemas.openxmlformats.org/drawingml/2006/main" noGrp="1"/>
          </p:cNvSpPr>
          <p:nvPr/>
        </p:nvSpPr>
        <p:spPr>
          <a:xfrm xmlns:a="http://schemas.openxmlformats.org/drawingml/2006/main">
            <a:off x="1257300" y="571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BE643F"/>
                </a:solidFill>
              </a:defRPr>
            </a:pPr>
            <a:r>
              <a:rPr sz="975" b="1">
                <a:solidFill>
                  <a:srgbClr val="BE643F"/>
                </a:solidFill>
              </a:rPr>
              <a:t>EXPECTED CONTRIBUTIONS</a:t>
            </a:r>
          </a:p>
        </p:txBody>
      </p:sp>
      <p:sp>
        <p:nvSpPr>
          <p:cNvPr id="6" name="">
            <a:extLst xmlns:a="http://schemas.openxmlformats.org/drawingml/2006/main">
              <a:ext uri="{FF2B5EF4-FFF2-40B4-BE49-F238E27FC236}">
                <a16:creationId xmlns:a16="http://schemas.microsoft.com/office/drawing/2014/main" id="{5C41EC7C-1DAC-41D9-BEC6-70A18ECFF75B}"/>
              </a:ext>
            </a:extLst>
          </p:cNvPr>
          <p:cNvSpPr>
            <a:spLocks xmlns:a="http://schemas.openxmlformats.org/drawingml/2006/main" noGrp="1"/>
          </p:cNvSpPr>
          <p:nvPr/>
        </p:nvSpPr>
        <p:spPr>
          <a:xfrm xmlns:a="http://schemas.openxmlformats.org/drawingml/2006/main">
            <a:off x="1009650" y="102870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232B3A"/>
                </a:solidFill>
              </a:defRPr>
            </a:pPr>
            <a:r>
              <a:rPr sz="2325" b="1">
                <a:solidFill>
                  <a:srgbClr val="232B3A"/>
                </a:solidFill>
              </a:rPr>
              <a:t>Expected contributions</a:t>
            </a:r>
          </a:p>
        </p:txBody>
      </p:sp>
      <p:sp>
        <p:nvSpPr>
          <p:cNvPr id="7" name="">
            <a:extLst xmlns:a="http://schemas.openxmlformats.org/drawingml/2006/main">
              <a:ext uri="{FF2B5EF4-FFF2-40B4-BE49-F238E27FC236}">
                <a16:creationId xmlns:a16="http://schemas.microsoft.com/office/drawing/2014/main" id="{D46A18F8-A59A-4CC7-8338-ED0DE30E1439}"/>
              </a:ext>
            </a:extLst>
          </p:cNvPr>
          <p:cNvSpPr>
            <a:spLocks xmlns:a="http://schemas.openxmlformats.org/drawingml/2006/main" noGrp="1"/>
          </p:cNvSpPr>
          <p:nvPr/>
        </p:nvSpPr>
        <p:spPr>
          <a:xfrm xmlns:a="http://schemas.openxmlformats.org/drawingml/2006/main">
            <a:off x="1009650" y="17526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667085"/>
                </a:solidFill>
              </a:defRPr>
            </a:pPr>
            <a:r>
              <a:rPr sz="1350">
                <a:solidFill>
                  <a:srgbClr val="667085"/>
                </a:solidFill>
              </a:rPr>
              <a:t>The paper contributes by identifying where AI changes additional search, posterior updating, and subjective information mastery.</a:t>
            </a:r>
          </a:p>
        </p:txBody>
      </p:sp>
      <p:sp>
        <p:nvSpPr>
          <p:cNvPr id="8" name="">
            <a:extLst xmlns:a="http://schemas.openxmlformats.org/drawingml/2006/main">
              <a:ext uri="{FF2B5EF4-FFF2-40B4-BE49-F238E27FC236}">
                <a16:creationId xmlns:a16="http://schemas.microsoft.com/office/drawing/2014/main" id="{AEA8C99F-DD8C-4A75-93E9-E857C2F4D324}"/>
              </a:ext>
            </a:extLst>
          </p:cNvPr>
          <p:cNvSpPr>
            <a:spLocks xmlns:a="http://schemas.openxmlformats.org/drawingml/2006/main" noGrp="1"/>
          </p:cNvSpPr>
          <p:nvPr/>
        </p:nvSpPr>
        <p:spPr>
          <a:xfrm xmlns:a="http://schemas.openxmlformats.org/drawingml/2006/main">
            <a:off x="914400" y="2400300"/>
            <a:ext cx="3238500" cy="2533650"/>
          </a:xfrm>
          <a:prstGeom xmlns:a="http://schemas.openxmlformats.org/drawingml/2006/main" prst="roundRect">
            <a:avLst>
              <a:gd name="adj" fmla="val 4511"/>
            </a:avLst>
          </a:prstGeom>
          <a:solidFill xmlns:a="http://schemas.openxmlformats.org/drawingml/2006/main">
            <a:srgbClr val="FEFCF8"/>
          </a:solidFill>
          <a:ln xmlns:a="http://schemas.openxmlformats.org/drawingml/2006/main" w="9525">
            <a:solidFill>
              <a:srgbClr val="F0E2D1"/>
            </a:solidFill>
            <a:prstDash val="solid"/>
          </a:ln>
        </p:spPr>
      </p:sp>
      <p:sp>
        <p:nvSpPr>
          <p:cNvPr id="9" name="">
            <a:extLst xmlns:a="http://schemas.openxmlformats.org/drawingml/2006/main">
              <a:ext uri="{FF2B5EF4-FFF2-40B4-BE49-F238E27FC236}">
                <a16:creationId xmlns:a16="http://schemas.microsoft.com/office/drawing/2014/main" id="{4662E1BC-AC68-4402-ABE4-28CF98223FBA}"/>
              </a:ext>
            </a:extLst>
          </p:cNvPr>
          <p:cNvSpPr>
            <a:spLocks xmlns:a="http://schemas.openxmlformats.org/drawingml/2006/main" noGrp="1"/>
          </p:cNvSpPr>
          <p:nvPr/>
        </p:nvSpPr>
        <p:spPr>
          <a:xfrm xmlns:a="http://schemas.openxmlformats.org/drawingml/2006/main">
            <a:off x="914400" y="2400300"/>
            <a:ext cx="57150" cy="25336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10" name="">
            <a:extLst xmlns:a="http://schemas.openxmlformats.org/drawingml/2006/main">
              <a:ext uri="{FF2B5EF4-FFF2-40B4-BE49-F238E27FC236}">
                <a16:creationId xmlns:a16="http://schemas.microsoft.com/office/drawing/2014/main" id="{59D59F41-5D3D-4E0A-A453-BD6F9B5754EE}"/>
              </a:ext>
            </a:extLst>
          </p:cNvPr>
          <p:cNvSpPr>
            <a:spLocks xmlns:a="http://schemas.openxmlformats.org/drawingml/2006/main" noGrp="1"/>
          </p:cNvSpPr>
          <p:nvPr/>
        </p:nvSpPr>
        <p:spPr>
          <a:xfrm xmlns:a="http://schemas.openxmlformats.org/drawingml/2006/main">
            <a:off x="1181100" y="25717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Theoretical move</a:t>
            </a:r>
          </a:p>
        </p:txBody>
      </p:sp>
      <p:sp>
        <p:nvSpPr>
          <p:cNvPr id="11" name="">
            <a:extLst xmlns:a="http://schemas.openxmlformats.org/drawingml/2006/main">
              <a:ext uri="{FF2B5EF4-FFF2-40B4-BE49-F238E27FC236}">
                <a16:creationId xmlns:a16="http://schemas.microsoft.com/office/drawing/2014/main" id="{68D80778-FFCC-435D-B54C-68DDA14A8FE1}"/>
              </a:ext>
            </a:extLst>
          </p:cNvPr>
          <p:cNvSpPr>
            <a:spLocks xmlns:a="http://schemas.openxmlformats.org/drawingml/2006/main" noGrp="1"/>
          </p:cNvSpPr>
          <p:nvPr/>
        </p:nvSpPr>
        <p:spPr>
          <a:xfrm xmlns:a="http://schemas.openxmlformats.org/drawingml/2006/main">
            <a:off x="1181100" y="2952750"/>
            <a:ext cx="27813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The paper shifts the focus from generic trust and automation bias to an evidence-to-belief mechanism: how AI changes users' judgments of evidentiary sufficiency and the stopping rule for further search.</a:t>
            </a:r>
          </a:p>
        </p:txBody>
      </p:sp>
      <p:sp>
        <p:nvSpPr>
          <p:cNvPr id="12" name="">
            <a:extLst xmlns:a="http://schemas.openxmlformats.org/drawingml/2006/main">
              <a:ext uri="{FF2B5EF4-FFF2-40B4-BE49-F238E27FC236}">
                <a16:creationId xmlns:a16="http://schemas.microsoft.com/office/drawing/2014/main" id="{7002E35E-9128-4E87-B403-3E78CD6F035E}"/>
              </a:ext>
            </a:extLst>
          </p:cNvPr>
          <p:cNvSpPr>
            <a:spLocks xmlns:a="http://schemas.openxmlformats.org/drawingml/2006/main" noGrp="1"/>
          </p:cNvSpPr>
          <p:nvPr/>
        </p:nvSpPr>
        <p:spPr>
          <a:xfrm xmlns:a="http://schemas.openxmlformats.org/drawingml/2006/main">
            <a:off x="4476750" y="2400300"/>
            <a:ext cx="3238500" cy="2533650"/>
          </a:xfrm>
          <a:prstGeom xmlns:a="http://schemas.openxmlformats.org/drawingml/2006/main" prst="roundRect">
            <a:avLst>
              <a:gd name="adj" fmla="val 4511"/>
            </a:avLst>
          </a:prstGeom>
          <a:solidFill xmlns:a="http://schemas.openxmlformats.org/drawingml/2006/main">
            <a:srgbClr val="FEFCF8"/>
          </a:solidFill>
          <a:ln xmlns:a="http://schemas.openxmlformats.org/drawingml/2006/main" w="9525">
            <a:solidFill>
              <a:srgbClr val="F0E2D1"/>
            </a:solidFill>
            <a:prstDash val="solid"/>
          </a:ln>
        </p:spPr>
      </p:sp>
      <p:sp>
        <p:nvSpPr>
          <p:cNvPr id="13" name="">
            <a:extLst xmlns:a="http://schemas.openxmlformats.org/drawingml/2006/main">
              <a:ext uri="{FF2B5EF4-FFF2-40B4-BE49-F238E27FC236}">
                <a16:creationId xmlns:a16="http://schemas.microsoft.com/office/drawing/2014/main" id="{5F2BE128-311A-4B7D-974C-8B863554F163}"/>
              </a:ext>
            </a:extLst>
          </p:cNvPr>
          <p:cNvSpPr>
            <a:spLocks xmlns:a="http://schemas.openxmlformats.org/drawingml/2006/main" noGrp="1"/>
          </p:cNvSpPr>
          <p:nvPr/>
        </p:nvSpPr>
        <p:spPr>
          <a:xfrm xmlns:a="http://schemas.openxmlformats.org/drawingml/2006/main">
            <a:off x="4476750" y="2400300"/>
            <a:ext cx="57150" cy="2533650"/>
          </a:xfrm>
          <a:prstGeom xmlns:a="http://schemas.openxmlformats.org/drawingml/2006/main" prst="rect">
            <a:avLst/>
          </a:prstGeom>
          <a:solidFill xmlns:a="http://schemas.openxmlformats.org/drawingml/2006/main">
            <a:srgbClr val="D1A63A"/>
          </a:solidFill>
          <a:ln xmlns:a="http://schemas.openxmlformats.org/drawingml/2006/main" w="0">
            <a:solidFill>
              <a:srgbClr val="D1A63A"/>
            </a:solidFill>
            <a:prstDash val="solid"/>
          </a:ln>
        </p:spPr>
      </p:sp>
      <p:sp>
        <p:nvSpPr>
          <p:cNvPr id="14" name="">
            <a:extLst xmlns:a="http://schemas.openxmlformats.org/drawingml/2006/main">
              <a:ext uri="{FF2B5EF4-FFF2-40B4-BE49-F238E27FC236}">
                <a16:creationId xmlns:a16="http://schemas.microsoft.com/office/drawing/2014/main" id="{E1E44ED2-ECFA-4607-BA8D-31C172313A17}"/>
              </a:ext>
            </a:extLst>
          </p:cNvPr>
          <p:cNvSpPr>
            <a:spLocks xmlns:a="http://schemas.openxmlformats.org/drawingml/2006/main" noGrp="1"/>
          </p:cNvSpPr>
          <p:nvPr/>
        </p:nvSpPr>
        <p:spPr>
          <a:xfrm xmlns:a="http://schemas.openxmlformats.org/drawingml/2006/main">
            <a:off x="4743450" y="25717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Method contribution</a:t>
            </a:r>
          </a:p>
        </p:txBody>
      </p:sp>
      <p:sp>
        <p:nvSpPr>
          <p:cNvPr id="15" name="">
            <a:extLst xmlns:a="http://schemas.openxmlformats.org/drawingml/2006/main">
              <a:ext uri="{FF2B5EF4-FFF2-40B4-BE49-F238E27FC236}">
                <a16:creationId xmlns:a16="http://schemas.microsoft.com/office/drawing/2014/main" id="{CC58BB4D-BE9D-40E9-8E71-C8EE92DFFE7C}"/>
              </a:ext>
            </a:extLst>
          </p:cNvPr>
          <p:cNvSpPr>
            <a:spLocks xmlns:a="http://schemas.openxmlformats.org/drawingml/2006/main" noGrp="1"/>
          </p:cNvSpPr>
          <p:nvPr/>
        </p:nvSpPr>
        <p:spPr>
          <a:xfrm xmlns:a="http://schemas.openxmlformats.org/drawingml/2006/main">
            <a:off x="4743450" y="2952750"/>
            <a:ext cx="27813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It extends a classic Bayesian belief-updating paradigm into a company-risk task with summary-first presentation, follow-on evidence search, and same-summary source-label identification.</a:t>
            </a:r>
          </a:p>
        </p:txBody>
      </p:sp>
      <p:sp>
        <p:nvSpPr>
          <p:cNvPr id="16" name="">
            <a:extLst xmlns:a="http://schemas.openxmlformats.org/drawingml/2006/main">
              <a:ext uri="{FF2B5EF4-FFF2-40B4-BE49-F238E27FC236}">
                <a16:creationId xmlns:a16="http://schemas.microsoft.com/office/drawing/2014/main" id="{677A5B7F-AC8A-43A6-9BF3-E0F67991410D}"/>
              </a:ext>
            </a:extLst>
          </p:cNvPr>
          <p:cNvSpPr>
            <a:spLocks xmlns:a="http://schemas.openxmlformats.org/drawingml/2006/main" noGrp="1"/>
          </p:cNvSpPr>
          <p:nvPr/>
        </p:nvSpPr>
        <p:spPr>
          <a:xfrm xmlns:a="http://schemas.openxmlformats.org/drawingml/2006/main">
            <a:off x="8039100" y="2400300"/>
            <a:ext cx="3162300" cy="2533650"/>
          </a:xfrm>
          <a:prstGeom xmlns:a="http://schemas.openxmlformats.org/drawingml/2006/main" prst="roundRect">
            <a:avLst>
              <a:gd name="adj" fmla="val 4511"/>
            </a:avLst>
          </a:prstGeom>
          <a:solidFill xmlns:a="http://schemas.openxmlformats.org/drawingml/2006/main">
            <a:srgbClr val="FEFCF8"/>
          </a:solidFill>
          <a:ln xmlns:a="http://schemas.openxmlformats.org/drawingml/2006/main" w="9525">
            <a:solidFill>
              <a:srgbClr val="F0E2D1"/>
            </a:solidFill>
            <a:prstDash val="solid"/>
          </a:ln>
        </p:spPr>
      </p:sp>
      <p:sp>
        <p:nvSpPr>
          <p:cNvPr id="17" name="">
            <a:extLst xmlns:a="http://schemas.openxmlformats.org/drawingml/2006/main">
              <a:ext uri="{FF2B5EF4-FFF2-40B4-BE49-F238E27FC236}">
                <a16:creationId xmlns:a16="http://schemas.microsoft.com/office/drawing/2014/main" id="{1559CE87-D128-4659-9C45-AF9ABE6DE442}"/>
              </a:ext>
            </a:extLst>
          </p:cNvPr>
          <p:cNvSpPr>
            <a:spLocks xmlns:a="http://schemas.openxmlformats.org/drawingml/2006/main" noGrp="1"/>
          </p:cNvSpPr>
          <p:nvPr/>
        </p:nvSpPr>
        <p:spPr>
          <a:xfrm xmlns:a="http://schemas.openxmlformats.org/drawingml/2006/main">
            <a:off x="8039100" y="2400300"/>
            <a:ext cx="57150" cy="2533650"/>
          </a:xfrm>
          <a:prstGeom xmlns:a="http://schemas.openxmlformats.org/drawingml/2006/main" prst="rect">
            <a:avLst/>
          </a:prstGeom>
          <a:solidFill xmlns:a="http://schemas.openxmlformats.org/drawingml/2006/main">
            <a:srgbClr val="7A8A68"/>
          </a:solidFill>
          <a:ln xmlns:a="http://schemas.openxmlformats.org/drawingml/2006/main" w="0">
            <a:solidFill>
              <a:srgbClr val="7A8A68"/>
            </a:solidFill>
            <a:prstDash val="solid"/>
          </a:ln>
        </p:spPr>
      </p:sp>
      <p:sp>
        <p:nvSpPr>
          <p:cNvPr id="18" name="">
            <a:extLst xmlns:a="http://schemas.openxmlformats.org/drawingml/2006/main">
              <a:ext uri="{FF2B5EF4-FFF2-40B4-BE49-F238E27FC236}">
                <a16:creationId xmlns:a16="http://schemas.microsoft.com/office/drawing/2014/main" id="{32F829A5-0133-4C66-8681-E2B4940F2CB5}"/>
              </a:ext>
            </a:extLst>
          </p:cNvPr>
          <p:cNvSpPr>
            <a:spLocks xmlns:a="http://schemas.openxmlformats.org/drawingml/2006/main" noGrp="1"/>
          </p:cNvSpPr>
          <p:nvPr/>
        </p:nvSpPr>
        <p:spPr>
          <a:xfrm xmlns:a="http://schemas.openxmlformats.org/drawingml/2006/main">
            <a:off x="8305800" y="25717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232B3A"/>
                </a:solidFill>
              </a:defRPr>
            </a:pPr>
            <a:r>
              <a:rPr sz="1650" b="1">
                <a:solidFill>
                  <a:srgbClr val="232B3A"/>
                </a:solidFill>
              </a:rPr>
              <a:t>Substantive contribution</a:t>
            </a:r>
          </a:p>
        </p:txBody>
      </p:sp>
      <p:sp>
        <p:nvSpPr>
          <p:cNvPr id="19" name="">
            <a:extLst xmlns:a="http://schemas.openxmlformats.org/drawingml/2006/main">
              <a:ext uri="{FF2B5EF4-FFF2-40B4-BE49-F238E27FC236}">
                <a16:creationId xmlns:a16="http://schemas.microsoft.com/office/drawing/2014/main" id="{566C41FF-B045-480A-B7CC-884346CFC142}"/>
              </a:ext>
            </a:extLst>
          </p:cNvPr>
          <p:cNvSpPr>
            <a:spLocks xmlns:a="http://schemas.openxmlformats.org/drawingml/2006/main" noGrp="1"/>
          </p:cNvSpPr>
          <p:nvPr/>
        </p:nvSpPr>
        <p:spPr>
          <a:xfrm xmlns:a="http://schemas.openxmlformats.org/drawingml/2006/main">
            <a:off x="8305800" y="2952750"/>
            <a:ext cx="27051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667085"/>
                </a:solidFill>
              </a:defRPr>
            </a:pPr>
            <a:r>
              <a:rPr sz="1275">
                <a:solidFill>
                  <a:srgbClr val="667085"/>
                </a:solidFill>
              </a:rPr>
              <a:t>The paper distinguishes efficient compression from harmful under-search and shows how objective posterior quality can separate from subjective mastery and epistemic ownership.</a:t>
            </a:r>
          </a:p>
        </p:txBody>
      </p:sp>
      <p:sp>
        <p:nvSpPr>
          <p:cNvPr id="20" name="">
            <a:extLst xmlns:a="http://schemas.openxmlformats.org/drawingml/2006/main">
              <a:ext uri="{FF2B5EF4-FFF2-40B4-BE49-F238E27FC236}">
                <a16:creationId xmlns:a16="http://schemas.microsoft.com/office/drawing/2014/main" id="{98BDD084-FAA8-4CFB-8851-3E84774884B2}"/>
              </a:ext>
            </a:extLst>
          </p:cNvPr>
          <p:cNvSpPr>
            <a:spLocks xmlns:a="http://schemas.openxmlformats.org/drawingml/2006/main" noGrp="1"/>
          </p:cNvSpPr>
          <p:nvPr/>
        </p:nvSpPr>
        <p:spPr>
          <a:xfrm xmlns:a="http://schemas.openxmlformats.org/drawingml/2006/main">
            <a:off x="1638300" y="5276850"/>
            <a:ext cx="8839200" cy="704850"/>
          </a:xfrm>
          <a:prstGeom xmlns:a="http://schemas.openxmlformats.org/drawingml/2006/main" prst="roundRect">
            <a:avLst>
              <a:gd name="adj" fmla="val 16216"/>
            </a:avLst>
          </a:prstGeom>
          <a:solidFill xmlns:a="http://schemas.openxmlformats.org/drawingml/2006/main">
            <a:srgbClr val="FCFAF6"/>
          </a:solidFill>
          <a:ln xmlns:a="http://schemas.openxmlformats.org/drawingml/2006/main" w="9525">
            <a:solidFill>
              <a:srgbClr val="F0E2D1"/>
            </a:solidFill>
            <a:prstDash val="solid"/>
          </a:ln>
        </p:spPr>
      </p:sp>
      <p:sp>
        <p:nvSpPr>
          <p:cNvPr id="21" name="">
            <a:extLst xmlns:a="http://schemas.openxmlformats.org/drawingml/2006/main">
              <a:ext uri="{FF2B5EF4-FFF2-40B4-BE49-F238E27FC236}">
                <a16:creationId xmlns:a16="http://schemas.microsoft.com/office/drawing/2014/main" id="{48851162-16CC-480F-8478-B367B56BF9E3}"/>
              </a:ext>
            </a:extLst>
          </p:cNvPr>
          <p:cNvSpPr>
            <a:spLocks xmlns:a="http://schemas.openxmlformats.org/drawingml/2006/main" noGrp="1"/>
          </p:cNvSpPr>
          <p:nvPr/>
        </p:nvSpPr>
        <p:spPr>
          <a:xfrm xmlns:a="http://schemas.openxmlformats.org/drawingml/2006/main">
            <a:off x="1638300" y="5276850"/>
            <a:ext cx="57150" cy="704850"/>
          </a:xfrm>
          <a:prstGeom xmlns:a="http://schemas.openxmlformats.org/drawingml/2006/main" prst="rect">
            <a:avLst/>
          </a:prstGeom>
          <a:solidFill xmlns:a="http://schemas.openxmlformats.org/drawingml/2006/main">
            <a:srgbClr val="BE643F"/>
          </a:solidFill>
          <a:ln xmlns:a="http://schemas.openxmlformats.org/drawingml/2006/main" w="0">
            <a:solidFill>
              <a:srgbClr val="BE643F"/>
            </a:solidFill>
            <a:prstDash val="solid"/>
          </a:ln>
        </p:spPr>
      </p:sp>
      <p:sp>
        <p:nvSpPr>
          <p:cNvPr id="22" name="">
            <a:extLst xmlns:a="http://schemas.openxmlformats.org/drawingml/2006/main">
              <a:ext uri="{FF2B5EF4-FFF2-40B4-BE49-F238E27FC236}">
                <a16:creationId xmlns:a16="http://schemas.microsoft.com/office/drawing/2014/main" id="{A0DEEBE4-5D68-4390-8453-3D6FD78BD6CB}"/>
              </a:ext>
            </a:extLst>
          </p:cNvPr>
          <p:cNvSpPr>
            <a:spLocks xmlns:a="http://schemas.openxmlformats.org/drawingml/2006/main" noGrp="1"/>
          </p:cNvSpPr>
          <p:nvPr/>
        </p:nvSpPr>
        <p:spPr>
          <a:xfrm xmlns:a="http://schemas.openxmlformats.org/drawingml/2006/main">
            <a:off x="1924050" y="5448300"/>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i="1">
                <a:solidFill>
                  <a:srgbClr val="667085"/>
                </a:solidFill>
              </a:defRPr>
            </a:pPr>
            <a:r>
              <a:rPr sz="1350" i="1">
                <a:solidFill>
                  <a:srgbClr val="667085"/>
                </a:solidFill>
              </a:rPr>
              <a:t>Taken together, the paper asks not only whether AI reduces search, but whether it changes when users feel they have already seen enough.</a:t>
            </a:r>
          </a:p>
        </p:txBody>
      </p:sp>
    </p:spTree>
    <p:extLst>
      <p:ext uri="{BB962C8B-B14F-4D97-AF65-F5344CB8AC3E}">
        <p14:creationId xmlns:p14="http://schemas.microsoft.com/office/powerpoint/2010/main" val="6548838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2026-07-06T06:02:08.6700000Z</dcterms:created>
  <dcterms:modified xsi:type="dcterms:W3CDTF">2026-07-06T06:02:08.6700000Z</dcterms:modified>
</coreProperties>
</file>