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22e99be51542c9" /><Relationship Type="http://schemas.openxmlformats.org/officeDocument/2006/relationships/extended-properties" Target="/docProps/app.xml" Id="Rb9b4bad133194731" /><Relationship Type="http://schemas.openxmlformats.org/officeDocument/2006/relationships/officeDocument" Target="/ppt/presentation.xml" Id="R17fc81cd21b34ea8" /></Relationships>
</file>

<file path=ppt/presentation.xml><?xml version="1.0" encoding="utf-8"?>
<p:presentation xmlns:p="http://schemas.openxmlformats.org/presentationml/2006/main">
  <p:sldMasterIdLst>
    <p:sldMasterId xmlns:r="http://schemas.openxmlformats.org/officeDocument/2006/relationships" id="2147483648" r:id="R7c7d7edb30e24e85"/>
  </p:sldMasterIdLst>
  <p:notesMasterIdLst>
    <p:notesMasterId xmlns:r="http://schemas.openxmlformats.org/officeDocument/2006/relationships" r:id="Rce315de739704dee"/>
  </p:notesMasterIdLst>
  <p:sldIdLst>
    <p:sldId xmlns:r="http://schemas.openxmlformats.org/officeDocument/2006/relationships" id="256" r:id="Rafce1395586544f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8e284ec22144f1" /><Relationship Type="http://schemas.openxmlformats.org/officeDocument/2006/relationships/slideMaster" Target="/ppt/slideMasters/slideMaster1.xml" Id="R7c7d7edb30e24e85" /><Relationship Type="http://schemas.openxmlformats.org/officeDocument/2006/relationships/notesMaster" Target="/ppt/notesMasters/notesMaster1.xml" Id="Rce315de739704dee" /><Relationship Type="http://schemas.openxmlformats.org/officeDocument/2006/relationships/presProps" Target="/ppt/presProps.xml" Id="Ref9d13e9f45349d7" /><Relationship Type="http://schemas.openxmlformats.org/officeDocument/2006/relationships/tableStyles" Target="/ppt/tableStyles.xml" Id="R04141bcc54d94fa8" /><Relationship Type="http://schemas.openxmlformats.org/officeDocument/2006/relationships/slide" Target="/ppt/slides/slide1.xml" Id="Rafce1395586544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e6a1532f1b4f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3abb1565034c34" /><Relationship Type="http://schemas.openxmlformats.org/officeDocument/2006/relationships/notesMaster" Target="/ppt/notesMasters/notesMaster1.xml" Id="R3ecec23725a84f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literature review into three pillars.</a:t>
            </a:r>
          </a:p>
          <a:p xmlns:a="http://schemas.openxmlformats.org/drawingml/2006/main">
            <a:r>
              <a:t>First, the management literature shows that AI is not just a tool whose accuracy varies. AI can be placed at different points in the organizational decision process. Shrestha, Ben-Menahem, and von Krogh discuss organizational decision structures in the age of AI. Raisch and Krakowski describe the automation-augmentation paradox. Yin and colleagues show that the timing of AI advice changes diagnostic decision making. Krakowski, Luger, and Raisch show that contextual parameters in AI deployment shape organizational performance. For Paper 3, this means AI role position is a design variable.</a:t>
            </a:r>
          </a:p>
          <a:p xmlns:a="http://schemas.openxmlformats.org/drawingml/2006/main">
            <a:r>
              <a:t>Second, the delegation and responsibility literature shows that delegation is not only about expertise. Steffel, Williams, and Perrmann-Graham show that people may delegate to avoid responsibility and blame. Kirchkamp and Strobel show that machine participation can change responsibility sharing. Chevrier and Teixeira examine algorithm delegation and blame shifting, while Kobis, Bonnefon, and Rahwan show that delegating to AI can change moral costs. For Paper 3, this supports the idea that AI moving closer to final action may weaken decisional ownership.</a:t>
            </a:r>
          </a:p>
          <a:p xmlns:a="http://schemas.openxmlformats.org/drawingml/2006/main">
            <a:r>
              <a:t>Third, the accountability literature warns us not to equate formal accountability with felt accountability. Lerner and Tetlock define accountability as the expectation that one may need to explain beliefs, feelings, and actions. Hall, Frink, and Buckley synthesize felt accountability. Aleksovska, Schillemans, and Grimmelikhuijsen show that accountability mechanisms vary in their behavioral effects. For Paper 3, this motivates the key test: can justification requirements re-anchor responsibility to the human decision-maker, or do they merely document AI use while preserving responsibility sharing?</a:t>
            </a:r>
          </a:p>
          <a:p xmlns:a="http://schemas.openxmlformats.org/drawingml/2006/main">
            <a:r>
              <a:t>The transition sentence is: Paper 3 therefore studies AI role proximity and justification requirements as responsibility architecture, measuring decisional ownership, felt accountability, responsibility sharing, and escalatory choice before the outcome is known.</a:t>
            </a:r>
          </a:p>
          <a:p xmlns:a="http://schemas.openxmlformats.org/drawingml/2006/main">
            <a:r>
              <a:t>References used: Shrestha, Y. R., Ben-Menahem, S. M., &amp; von Krogh, G. (2019). Organizational decision-making structures in the age of artificial intelligence. California Management Review, 61(4), 66-83. Raisch, S., &amp; Krakowski, S. (2021). Artificial intelligence and management: The automation-augmentation paradox. Academy of Management Review, 46(1), 192-210. Yin, J., Ngiam, K. Y., Tan, S. S.-L., &amp; Teo, H. H. (2025). Designing AI-based work processes: How the timing of AI advice affects diagnostic decision making. Management Science, 71(11), 9361-9383. Krakowski, S., Luger, J., &amp; Raisch, S. (2026). Human-centered artificial intelligence: A field experiment. Management Science, 72(1), 57-72. Steffel, M., Williams, E. F., &amp; Perrmann-Graham, J. (2016). Passing the buck: Delegating choices to others to avoid responsibility and blame. Organizational Behavior and Human Decision Processes, 135, 32-44. Kirchkamp, O., &amp; Strobel, C. (2019). Sharing responsibility with a machine. Journal of Behavioral and Experimental Economics, 80, 25-33. Chevrier, M., &amp; Teixeira, V. (2024). Algorithm delegation and responsibility: Shifting blame to the programmer? GREDEG Working Paper. Kobis, N., Bonnefon, J.-F., &amp; Rahwan, I. (2025). Delegation to artificial intelligence can increase dishonest behaviour. Nature. Lerner, J. S., &amp; Tetlock, P. E. (1999). Accounting for the effects of accountability. Psychological Bulletin, 125(2), 255-275. Hall, A. T., Frink, D. D., &amp; Buckley, M. R. (2017). An accountability account: A review and synthesis of the theoretical and empirical research on felt accountability. Journal of Organizational Behavior, 38, 204-224. Aleksovska, M., Schillemans, T., &amp; Grimmelikhuijsen, S. (2019). Lessons from five decades of experimental and behavioral research on accountability: A systematic literature review. Journal of Behavioral Public Administration, 2(2), 1-18.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d08ef0e60347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62c3af86484cc2" /><Relationship Type="http://schemas.openxmlformats.org/officeDocument/2006/relationships/slideLayout" Target="/ppt/slideLayouts/slideLayout1.xml" Id="Re82f62b61acc41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2f62b61acc41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496ddfe86c4797" /><Relationship Type="http://schemas.openxmlformats.org/officeDocument/2006/relationships/notesSlide" Target="/ppt/notesSlides/notesSlide1.xml" Id="Ra9f9722c68f5495a" /></Relationships>
</file>

<file path=ppt/slides/slide1.xml><?xml version="1.0" encoding="utf-8"?>
<p:sld xmlns:p="http://schemas.openxmlformats.org/presentationml/2006/main">
  <p:cSld>
    <p:bg>
      <p:bgPr>
        <a:solidFill xmlns:a="http://schemas.openxmlformats.org/drawingml/2006/main">
          <a:srgbClr val="F5F0E6"/>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A1F4ED-E690-43D3-AFDC-AB73AC51CD03}"/>
              </a:ext>
            </a:extLst>
          </p:cNvPr>
          <p:cNvSpPr>
            <a:spLocks xmlns:a="http://schemas.openxmlformats.org/drawingml/2006/main" noGrp="1"/>
          </p:cNvSpPr>
          <p:nvPr/>
        </p:nvSpPr>
        <p:spPr>
          <a:xfrm xmlns:a="http://schemas.openxmlformats.org/drawingml/2006/main">
            <a:off x="552450" y="457200"/>
            <a:ext cx="0" cy="5943600"/>
          </a:xfrm>
          <a:prstGeom xmlns:a="http://schemas.openxmlformats.org/drawingml/2006/main" prst="line">
            <a:avLst/>
          </a:prstGeom>
          <a:ln xmlns:a="http://schemas.openxmlformats.org/drawingml/2006/main" w="9525">
            <a:solidFill>
              <a:srgbClr val="D8CCBB"/>
            </a:solidFill>
            <a:prstDash val="solid"/>
          </a:ln>
        </p:spPr>
      </p:sp>
      <p:sp>
        <p:nvSpPr>
          <p:cNvPr id="2" name="">
            <a:extLst xmlns:a="http://schemas.openxmlformats.org/drawingml/2006/main">
              <a:ext uri="{FF2B5EF4-FFF2-40B4-BE49-F238E27FC236}">
                <a16:creationId xmlns:a16="http://schemas.microsoft.com/office/drawing/2014/main" id="{4AF53003-6730-4D05-BE9A-1695A264AF5C}"/>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3" name="">
            <a:extLst xmlns:a="http://schemas.openxmlformats.org/drawingml/2006/main">
              <a:ext uri="{FF2B5EF4-FFF2-40B4-BE49-F238E27FC236}">
                <a16:creationId xmlns:a16="http://schemas.microsoft.com/office/drawing/2014/main" id="{ADD74E11-4548-48D3-8F70-D1D045BC4A78}"/>
              </a:ext>
            </a:extLst>
          </p:cNvPr>
          <p:cNvSpPr>
            <a:spLocks xmlns:a="http://schemas.openxmlformats.org/drawingml/2006/main" noGrp="1"/>
          </p:cNvSpPr>
          <p:nvPr/>
        </p:nvSpPr>
        <p:spPr>
          <a:xfrm xmlns:a="http://schemas.openxmlformats.org/drawingml/2006/main">
            <a:off x="1219200" y="59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B77845"/>
                </a:solidFill>
                <a:latin typeface="Times New Roman"/>
                <a:ea typeface="Times New Roman"/>
                <a:cs typeface="Times New Roman"/>
              </a:defRPr>
            </a:pPr>
            <a:r>
              <a:rPr sz="900" b="1" i="0">
                <a:solidFill>
                  <a:srgbClr val="B77845"/>
                </a:solidFill>
                <a:latin typeface="Times New Roman"/>
                <a:ea typeface="Times New Roman"/>
                <a:cs typeface="Times New Roman"/>
              </a:rPr>
              <a:t>EXISTING WORK</a:t>
            </a:r>
          </a:p>
        </p:txBody>
      </p:sp>
      <p:sp>
        <p:nvSpPr>
          <p:cNvPr id="4" name="">
            <a:extLst xmlns:a="http://schemas.openxmlformats.org/drawingml/2006/main">
              <a:ext uri="{FF2B5EF4-FFF2-40B4-BE49-F238E27FC236}">
                <a16:creationId xmlns:a16="http://schemas.microsoft.com/office/drawing/2014/main" id="{5F67D525-7E9A-4810-9A1F-86C6FF532F5E}"/>
              </a:ext>
            </a:extLst>
          </p:cNvPr>
          <p:cNvSpPr>
            <a:spLocks xmlns:a="http://schemas.openxmlformats.org/drawingml/2006/main" noGrp="1"/>
          </p:cNvSpPr>
          <p:nvPr/>
        </p:nvSpPr>
        <p:spPr>
          <a:xfrm xmlns:a="http://schemas.openxmlformats.org/drawingml/2006/main">
            <a:off x="914400" y="952500"/>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i="0">
                <a:solidFill>
                  <a:srgbClr val="231D17"/>
                </a:solidFill>
                <a:latin typeface="Times New Roman"/>
                <a:ea typeface="Times New Roman"/>
                <a:cs typeface="Times New Roman"/>
              </a:defRPr>
            </a:pPr>
            <a:r>
              <a:rPr sz="2550" b="1" i="0">
                <a:solidFill>
                  <a:srgbClr val="231D17"/>
                </a:solidFill>
                <a:latin typeface="Times New Roman"/>
                <a:ea typeface="Times New Roman"/>
                <a:cs typeface="Times New Roman"/>
              </a:rPr>
              <a:t>Responsibility Depends on How AI Enters the Decision Process</a:t>
            </a:r>
          </a:p>
        </p:txBody>
      </p:sp>
      <p:sp>
        <p:nvSpPr>
          <p:cNvPr id="5" name="">
            <a:extLst xmlns:a="http://schemas.openxmlformats.org/drawingml/2006/main">
              <a:ext uri="{FF2B5EF4-FFF2-40B4-BE49-F238E27FC236}">
                <a16:creationId xmlns:a16="http://schemas.microsoft.com/office/drawing/2014/main" id="{6FB242B7-CCF1-4E77-BB59-AE8E1EF5F746}"/>
              </a:ext>
            </a:extLst>
          </p:cNvPr>
          <p:cNvSpPr>
            <a:spLocks xmlns:a="http://schemas.openxmlformats.org/drawingml/2006/main" noGrp="1"/>
          </p:cNvSpPr>
          <p:nvPr/>
        </p:nvSpPr>
        <p:spPr>
          <a:xfrm xmlns:a="http://schemas.openxmlformats.org/drawingml/2006/main">
            <a:off x="914400" y="1466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99"/>
          </a:bodyPr>
          <a:lstStyle xmlns:a="http://schemas.openxmlformats.org/drawingml/2006/main"/>
          <a:p xmlns:a="http://schemas.openxmlformats.org/drawingml/2006/main">
            <a:pPr algn="l">
              <a:lnSpc>
                <a:spcPct val="105000"/>
              </a:lnSpc>
              <a:buNone/>
              <a:defRPr sz="1290" b="0" i="0">
                <a:solidFill>
                  <a:srgbClr val="6F665C"/>
                </a:solidFill>
                <a:latin typeface="Times New Roman"/>
                <a:ea typeface="Times New Roman"/>
                <a:cs typeface="Times New Roman"/>
              </a:defRPr>
            </a:pPr>
            <a:r>
              <a:rPr sz="1290" b="0" i="0">
                <a:solidFill>
                  <a:srgbClr val="6F665C"/>
                </a:solidFill>
                <a:latin typeface="Times New Roman"/>
                <a:ea typeface="Times New Roman"/>
                <a:cs typeface="Times New Roman"/>
              </a:rPr>
              <a:t>Three literatures motivate Paper 3: AI workflow design, delegation as responsibility management, and the gap between external accountability and felt accountability.</a:t>
            </a:r>
          </a:p>
        </p:txBody>
      </p:sp>
      <p:sp>
        <p:nvSpPr>
          <p:cNvPr id="6" name="">
            <a:extLst xmlns:a="http://schemas.openxmlformats.org/drawingml/2006/main">
              <a:ext uri="{FF2B5EF4-FFF2-40B4-BE49-F238E27FC236}">
                <a16:creationId xmlns:a16="http://schemas.microsoft.com/office/drawing/2014/main" id="{D186136D-5B3F-436F-B472-8E90890D0813}"/>
              </a:ext>
            </a:extLst>
          </p:cNvPr>
          <p:cNvSpPr>
            <a:spLocks xmlns:a="http://schemas.openxmlformats.org/drawingml/2006/main" noGrp="1"/>
          </p:cNvSpPr>
          <p:nvPr/>
        </p:nvSpPr>
        <p:spPr>
          <a:xfrm xmlns:a="http://schemas.openxmlformats.org/drawingml/2006/main">
            <a:off x="914400" y="2114550"/>
            <a:ext cx="3257550" cy="30289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D8CCBB"/>
            </a:solidFill>
            <a:prstDash val="solid"/>
          </a:ln>
        </p:spPr>
      </p:sp>
      <p:sp>
        <p:nvSpPr>
          <p:cNvPr id="7" name="">
            <a:extLst xmlns:a="http://schemas.openxmlformats.org/drawingml/2006/main">
              <a:ext uri="{FF2B5EF4-FFF2-40B4-BE49-F238E27FC236}">
                <a16:creationId xmlns:a16="http://schemas.microsoft.com/office/drawing/2014/main" id="{77F04951-8979-4367-A175-9BC7800D21F4}"/>
              </a:ext>
            </a:extLst>
          </p:cNvPr>
          <p:cNvSpPr>
            <a:spLocks xmlns:a="http://schemas.openxmlformats.org/drawingml/2006/main" noGrp="1"/>
          </p:cNvSpPr>
          <p:nvPr/>
        </p:nvSpPr>
        <p:spPr>
          <a:xfrm xmlns:a="http://schemas.openxmlformats.org/drawingml/2006/main">
            <a:off x="914400" y="2114550"/>
            <a:ext cx="3257550" cy="76200"/>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8" name="">
            <a:extLst xmlns:a="http://schemas.openxmlformats.org/drawingml/2006/main">
              <a:ext uri="{FF2B5EF4-FFF2-40B4-BE49-F238E27FC236}">
                <a16:creationId xmlns:a16="http://schemas.microsoft.com/office/drawing/2014/main" id="{D3AA748E-2771-4720-9051-9D237123FBC7}"/>
              </a:ext>
            </a:extLst>
          </p:cNvPr>
          <p:cNvSpPr>
            <a:spLocks xmlns:a="http://schemas.openxmlformats.org/drawingml/2006/main" noGrp="1"/>
          </p:cNvSpPr>
          <p:nvPr/>
        </p:nvSpPr>
        <p:spPr>
          <a:xfrm xmlns:a="http://schemas.openxmlformats.org/drawingml/2006/main">
            <a:off x="1123950" y="2381250"/>
            <a:ext cx="323850" cy="3238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9" name="">
            <a:extLst xmlns:a="http://schemas.openxmlformats.org/drawingml/2006/main">
              <a:ext uri="{FF2B5EF4-FFF2-40B4-BE49-F238E27FC236}">
                <a16:creationId xmlns:a16="http://schemas.microsoft.com/office/drawing/2014/main" id="{AD5C08C4-6D74-43F4-BF4F-9A2DEC988746}"/>
              </a:ext>
            </a:extLst>
          </p:cNvPr>
          <p:cNvSpPr>
            <a:spLocks xmlns:a="http://schemas.openxmlformats.org/drawingml/2006/main" noGrp="1"/>
          </p:cNvSpPr>
          <p:nvPr/>
        </p:nvSpPr>
        <p:spPr>
          <a:xfrm xmlns:a="http://schemas.openxmlformats.org/drawingml/2006/main">
            <a:off x="1228725" y="2466975"/>
            <a:ext cx="114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ctr">
              <a:lnSpc>
                <a:spcPct val="105000"/>
              </a:lnSpc>
              <a:buNone/>
              <a:defRPr sz="1050" b="1" i="0">
                <a:solidFill>
                  <a:srgbClr val="F5F0E6"/>
                </a:solidFill>
                <a:latin typeface="Times New Roman"/>
                <a:ea typeface="Times New Roman"/>
                <a:cs typeface="Times New Roman"/>
              </a:defRPr>
            </a:pPr>
            <a:r>
              <a:rPr sz="1050" b="1" i="0">
                <a:solidFill>
                  <a:srgbClr val="F5F0E6"/>
                </a:solidFill>
                <a:latin typeface="Times New Roman"/>
                <a:ea typeface="Times New Roman"/>
                <a:cs typeface="Times New Roman"/>
              </a:rPr>
              <a:t>1</a:t>
            </a:r>
          </a:p>
        </p:txBody>
      </p:sp>
      <p:sp>
        <p:nvSpPr>
          <p:cNvPr id="10" name="">
            <a:extLst xmlns:a="http://schemas.openxmlformats.org/drawingml/2006/main">
              <a:ext uri="{FF2B5EF4-FFF2-40B4-BE49-F238E27FC236}">
                <a16:creationId xmlns:a16="http://schemas.microsoft.com/office/drawing/2014/main" id="{68C6EE70-7F4D-4D7A-A6B5-AFD173EF3241}"/>
              </a:ext>
            </a:extLst>
          </p:cNvPr>
          <p:cNvSpPr>
            <a:spLocks xmlns:a="http://schemas.openxmlformats.org/drawingml/2006/main" noGrp="1"/>
          </p:cNvSpPr>
          <p:nvPr/>
        </p:nvSpPr>
        <p:spPr>
          <a:xfrm xmlns:a="http://schemas.openxmlformats.org/drawingml/2006/main">
            <a:off x="1600200" y="23526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231D17"/>
                </a:solidFill>
                <a:latin typeface="Times New Roman"/>
                <a:ea typeface="Times New Roman"/>
                <a:cs typeface="Times New Roman"/>
              </a:defRPr>
            </a:pPr>
            <a:r>
              <a:rPr sz="1500" b="1" i="0">
                <a:solidFill>
                  <a:srgbClr val="231D17"/>
                </a:solidFill>
                <a:latin typeface="Times New Roman"/>
                <a:ea typeface="Times New Roman"/>
                <a:cs typeface="Times New Roman"/>
              </a:rPr>
              <a:t>AI workflow position is a design variable</a:t>
            </a:r>
          </a:p>
        </p:txBody>
      </p:sp>
      <p:sp>
        <p:nvSpPr>
          <p:cNvPr id="11" name="">
            <a:extLst xmlns:a="http://schemas.openxmlformats.org/drawingml/2006/main">
              <a:ext uri="{FF2B5EF4-FFF2-40B4-BE49-F238E27FC236}">
                <a16:creationId xmlns:a16="http://schemas.microsoft.com/office/drawing/2014/main" id="{36F34277-F9AE-4134-904E-A3403010D75B}"/>
              </a:ext>
            </a:extLst>
          </p:cNvPr>
          <p:cNvSpPr>
            <a:spLocks xmlns:a="http://schemas.openxmlformats.org/drawingml/2006/main" noGrp="1"/>
          </p:cNvSpPr>
          <p:nvPr/>
        </p:nvSpPr>
        <p:spPr>
          <a:xfrm xmlns:a="http://schemas.openxmlformats.org/drawingml/2006/main">
            <a:off x="1143000" y="29908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133" b="0" i="0">
                <a:solidFill>
                  <a:srgbClr val="231D17"/>
                </a:solidFill>
                <a:latin typeface="Times New Roman"/>
                <a:ea typeface="Times New Roman"/>
                <a:cs typeface="Times New Roman"/>
              </a:defRPr>
            </a:pPr>
            <a:r>
              <a:rPr sz="1133" b="0" i="0">
                <a:solidFill>
                  <a:srgbClr val="231D17"/>
                </a:solidFill>
                <a:latin typeface="Times New Roman"/>
                <a:ea typeface="Times New Roman"/>
                <a:cs typeface="Times New Roman"/>
              </a:rPr>
              <a:t>AI does not merely improve or replace prediction. It can enter before, during, or after human judgment, changing roles, authority, and process control.</a:t>
            </a:r>
          </a:p>
        </p:txBody>
      </p:sp>
      <p:sp>
        <p:nvSpPr>
          <p:cNvPr id="12" name="">
            <a:extLst xmlns:a="http://schemas.openxmlformats.org/drawingml/2006/main">
              <a:ext uri="{FF2B5EF4-FFF2-40B4-BE49-F238E27FC236}">
                <a16:creationId xmlns:a16="http://schemas.microsoft.com/office/drawing/2014/main" id="{C6833F3E-2CC9-48FF-9848-D561F273E816}"/>
              </a:ext>
            </a:extLst>
          </p:cNvPr>
          <p:cNvSpPr>
            <a:spLocks xmlns:a="http://schemas.openxmlformats.org/drawingml/2006/main" noGrp="1"/>
          </p:cNvSpPr>
          <p:nvPr/>
        </p:nvSpPr>
        <p:spPr>
          <a:xfrm xmlns:a="http://schemas.openxmlformats.org/drawingml/2006/main">
            <a:off x="1143000" y="382905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30" b="0" i="1">
                <a:solidFill>
                  <a:srgbClr val="6F665C"/>
                </a:solidFill>
                <a:latin typeface="Times New Roman"/>
                <a:ea typeface="Times New Roman"/>
                <a:cs typeface="Times New Roman"/>
              </a:defRPr>
            </a:pPr>
            <a:r>
              <a:rPr sz="930" b="0" i="1">
                <a:solidFill>
                  <a:srgbClr val="6F665C"/>
                </a:solidFill>
                <a:latin typeface="Times New Roman"/>
                <a:ea typeface="Times New Roman"/>
                <a:cs typeface="Times New Roman"/>
              </a:rPr>
              <a:t>(Shrestha et al., 2019; Raisch &amp; Krakowski, 2021; Yin et al., 2025; Krakowski et al., 2026)</a:t>
            </a:r>
          </a:p>
        </p:txBody>
      </p:sp>
      <p:sp>
        <p:nvSpPr>
          <p:cNvPr id="13" name="">
            <a:extLst xmlns:a="http://schemas.openxmlformats.org/drawingml/2006/main">
              <a:ext uri="{FF2B5EF4-FFF2-40B4-BE49-F238E27FC236}">
                <a16:creationId xmlns:a16="http://schemas.microsoft.com/office/drawing/2014/main" id="{D2C6D34F-02FF-457C-83F6-BC0E498D2FCF}"/>
              </a:ext>
            </a:extLst>
          </p:cNvPr>
          <p:cNvSpPr>
            <a:spLocks xmlns:a="http://schemas.openxmlformats.org/drawingml/2006/main" noGrp="1"/>
          </p:cNvSpPr>
          <p:nvPr/>
        </p:nvSpPr>
        <p:spPr>
          <a:xfrm xmlns:a="http://schemas.openxmlformats.org/drawingml/2006/main">
            <a:off x="1123950" y="4362450"/>
            <a:ext cx="2838450" cy="552450"/>
          </a:xfrm>
          <a:prstGeom xmlns:a="http://schemas.openxmlformats.org/drawingml/2006/main" prst="roundRect">
            <a:avLst>
              <a:gd name="adj" fmla="val 10345"/>
            </a:avLst>
          </a:prstGeom>
          <a:solidFill xmlns:a="http://schemas.openxmlformats.org/drawingml/2006/main">
            <a:srgbClr val="F3EBDD"/>
          </a:solidFill>
          <a:ln xmlns:a="http://schemas.openxmlformats.org/drawingml/2006/main" w="9525">
            <a:solidFill>
              <a:srgbClr val="E4D5C2"/>
            </a:solidFill>
            <a:prstDash val="solid"/>
          </a:ln>
        </p:spPr>
      </p:sp>
      <p:sp>
        <p:nvSpPr>
          <p:cNvPr id="14" name="">
            <a:extLst xmlns:a="http://schemas.openxmlformats.org/drawingml/2006/main">
              <a:ext uri="{FF2B5EF4-FFF2-40B4-BE49-F238E27FC236}">
                <a16:creationId xmlns:a16="http://schemas.microsoft.com/office/drawing/2014/main" id="{5E17C7DA-DDDC-4D99-A522-C32E4487A531}"/>
              </a:ext>
            </a:extLst>
          </p:cNvPr>
          <p:cNvSpPr>
            <a:spLocks xmlns:a="http://schemas.openxmlformats.org/drawingml/2006/main" noGrp="1"/>
          </p:cNvSpPr>
          <p:nvPr/>
        </p:nvSpPr>
        <p:spPr>
          <a:xfrm xmlns:a="http://schemas.openxmlformats.org/drawingml/2006/main">
            <a:off x="1295400" y="44767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92"/>
          </a:bodyPr>
          <a:lstStyle xmlns:a="http://schemas.openxmlformats.org/drawingml/2006/main"/>
          <a:p xmlns:a="http://schemas.openxmlformats.org/drawingml/2006/main">
            <a:pPr algn="ctr">
              <a:lnSpc>
                <a:spcPct val="105000"/>
              </a:lnSpc>
              <a:buNone/>
              <a:defRPr sz="1013" b="1" i="0">
                <a:solidFill>
                  <a:srgbClr val="231D17"/>
                </a:solidFill>
                <a:latin typeface="Times New Roman"/>
                <a:ea typeface="Times New Roman"/>
                <a:cs typeface="Times New Roman"/>
              </a:defRPr>
            </a:pPr>
            <a:r>
              <a:rPr sz="1013" b="1" i="0">
                <a:solidFill>
                  <a:srgbClr val="231D17"/>
                </a:solidFill>
                <a:latin typeface="Times New Roman"/>
                <a:ea typeface="Times New Roman"/>
                <a:cs typeface="Times New Roman"/>
              </a:rPr>
              <a:t>Paper 3 treats AI role position as responsibility architecture.</a:t>
            </a:r>
          </a:p>
        </p:txBody>
      </p:sp>
      <p:sp>
        <p:nvSpPr>
          <p:cNvPr id="15" name="">
            <a:extLst xmlns:a="http://schemas.openxmlformats.org/drawingml/2006/main">
              <a:ext uri="{FF2B5EF4-FFF2-40B4-BE49-F238E27FC236}">
                <a16:creationId xmlns:a16="http://schemas.microsoft.com/office/drawing/2014/main" id="{F7DDA837-BE2A-4704-9984-E10D28784C1F}"/>
              </a:ext>
            </a:extLst>
          </p:cNvPr>
          <p:cNvSpPr>
            <a:spLocks xmlns:a="http://schemas.openxmlformats.org/drawingml/2006/main" noGrp="1"/>
          </p:cNvSpPr>
          <p:nvPr/>
        </p:nvSpPr>
        <p:spPr>
          <a:xfrm xmlns:a="http://schemas.openxmlformats.org/drawingml/2006/main">
            <a:off x="4457700" y="2114550"/>
            <a:ext cx="3257550" cy="30289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D8CCBB"/>
            </a:solidFill>
            <a:prstDash val="solid"/>
          </a:ln>
        </p:spPr>
      </p:sp>
      <p:sp>
        <p:nvSpPr>
          <p:cNvPr id="16" name="">
            <a:extLst xmlns:a="http://schemas.openxmlformats.org/drawingml/2006/main">
              <a:ext uri="{FF2B5EF4-FFF2-40B4-BE49-F238E27FC236}">
                <a16:creationId xmlns:a16="http://schemas.microsoft.com/office/drawing/2014/main" id="{1DE8A44D-7076-4C66-AB99-502CE3BFDF87}"/>
              </a:ext>
            </a:extLst>
          </p:cNvPr>
          <p:cNvSpPr>
            <a:spLocks xmlns:a="http://schemas.openxmlformats.org/drawingml/2006/main" noGrp="1"/>
          </p:cNvSpPr>
          <p:nvPr/>
        </p:nvSpPr>
        <p:spPr>
          <a:xfrm xmlns:a="http://schemas.openxmlformats.org/drawingml/2006/main">
            <a:off x="4457700" y="2114550"/>
            <a:ext cx="3257550" cy="76200"/>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17" name="">
            <a:extLst xmlns:a="http://schemas.openxmlformats.org/drawingml/2006/main">
              <a:ext uri="{FF2B5EF4-FFF2-40B4-BE49-F238E27FC236}">
                <a16:creationId xmlns:a16="http://schemas.microsoft.com/office/drawing/2014/main" id="{3999CDAC-6308-4198-B35A-814F85DC5E06}"/>
              </a:ext>
            </a:extLst>
          </p:cNvPr>
          <p:cNvSpPr>
            <a:spLocks xmlns:a="http://schemas.openxmlformats.org/drawingml/2006/main" noGrp="1"/>
          </p:cNvSpPr>
          <p:nvPr/>
        </p:nvSpPr>
        <p:spPr>
          <a:xfrm xmlns:a="http://schemas.openxmlformats.org/drawingml/2006/main">
            <a:off x="4667250" y="2381250"/>
            <a:ext cx="323850" cy="323850"/>
          </a:xfrm>
          <a:prstGeom xmlns:a="http://schemas.openxmlformats.org/drawingml/2006/main" prst="ellipse">
            <a:avLst/>
          </a:prstGeom>
          <a:solidFill xmlns:a="http://schemas.openxmlformats.org/drawingml/2006/main">
            <a:srgbClr val="818A68"/>
          </a:solidFill>
          <a:ln xmlns:a="http://schemas.openxmlformats.org/drawingml/2006/main" w="9525">
            <a:solidFill>
              <a:srgbClr val="818A68"/>
            </a:solidFill>
            <a:prstDash val="solid"/>
          </a:ln>
        </p:spPr>
      </p:sp>
      <p:sp>
        <p:nvSpPr>
          <p:cNvPr id="18" name="">
            <a:extLst xmlns:a="http://schemas.openxmlformats.org/drawingml/2006/main">
              <a:ext uri="{FF2B5EF4-FFF2-40B4-BE49-F238E27FC236}">
                <a16:creationId xmlns:a16="http://schemas.microsoft.com/office/drawing/2014/main" id="{40FBE2DD-7B48-49C7-8922-F70213C8DFB1}"/>
              </a:ext>
            </a:extLst>
          </p:cNvPr>
          <p:cNvSpPr>
            <a:spLocks xmlns:a="http://schemas.openxmlformats.org/drawingml/2006/main" noGrp="1"/>
          </p:cNvSpPr>
          <p:nvPr/>
        </p:nvSpPr>
        <p:spPr>
          <a:xfrm xmlns:a="http://schemas.openxmlformats.org/drawingml/2006/main">
            <a:off x="4772025" y="2466975"/>
            <a:ext cx="114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ctr">
              <a:lnSpc>
                <a:spcPct val="105000"/>
              </a:lnSpc>
              <a:buNone/>
              <a:defRPr sz="1050" b="1" i="0">
                <a:solidFill>
                  <a:srgbClr val="F5F0E6"/>
                </a:solidFill>
                <a:latin typeface="Times New Roman"/>
                <a:ea typeface="Times New Roman"/>
                <a:cs typeface="Times New Roman"/>
              </a:defRPr>
            </a:pPr>
            <a:r>
              <a:rPr sz="1050" b="1" i="0">
                <a:solidFill>
                  <a:srgbClr val="F5F0E6"/>
                </a:solidFill>
                <a:latin typeface="Times New Roman"/>
                <a:ea typeface="Times New Roman"/>
                <a:cs typeface="Times New Roman"/>
              </a:rPr>
              <a:t>2</a:t>
            </a:r>
          </a:p>
        </p:txBody>
      </p:sp>
      <p:sp>
        <p:nvSpPr>
          <p:cNvPr id="19" name="">
            <a:extLst xmlns:a="http://schemas.openxmlformats.org/drawingml/2006/main">
              <a:ext uri="{FF2B5EF4-FFF2-40B4-BE49-F238E27FC236}">
                <a16:creationId xmlns:a16="http://schemas.microsoft.com/office/drawing/2014/main" id="{D31DE281-5C04-4548-9E95-2E92698C443F}"/>
              </a:ext>
            </a:extLst>
          </p:cNvPr>
          <p:cNvSpPr>
            <a:spLocks xmlns:a="http://schemas.openxmlformats.org/drawingml/2006/main" noGrp="1"/>
          </p:cNvSpPr>
          <p:nvPr/>
        </p:nvSpPr>
        <p:spPr>
          <a:xfrm xmlns:a="http://schemas.openxmlformats.org/drawingml/2006/main">
            <a:off x="5143500" y="23526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231D17"/>
                </a:solidFill>
                <a:latin typeface="Times New Roman"/>
                <a:ea typeface="Times New Roman"/>
                <a:cs typeface="Times New Roman"/>
              </a:defRPr>
            </a:pPr>
            <a:r>
              <a:rPr sz="1500" b="1" i="0">
                <a:solidFill>
                  <a:srgbClr val="231D17"/>
                </a:solidFill>
                <a:latin typeface="Times New Roman"/>
                <a:ea typeface="Times New Roman"/>
                <a:cs typeface="Times New Roman"/>
              </a:rPr>
              <a:t>Delegation can shift blame and moral cost</a:t>
            </a:r>
          </a:p>
        </p:txBody>
      </p:sp>
      <p:sp>
        <p:nvSpPr>
          <p:cNvPr id="20" name="">
            <a:extLst xmlns:a="http://schemas.openxmlformats.org/drawingml/2006/main">
              <a:ext uri="{FF2B5EF4-FFF2-40B4-BE49-F238E27FC236}">
                <a16:creationId xmlns:a16="http://schemas.microsoft.com/office/drawing/2014/main" id="{76651276-58CB-49BB-BFE3-C6D885F70EE6}"/>
              </a:ext>
            </a:extLst>
          </p:cNvPr>
          <p:cNvSpPr>
            <a:spLocks xmlns:a="http://schemas.openxmlformats.org/drawingml/2006/main" noGrp="1"/>
          </p:cNvSpPr>
          <p:nvPr/>
        </p:nvSpPr>
        <p:spPr>
          <a:xfrm xmlns:a="http://schemas.openxmlformats.org/drawingml/2006/main">
            <a:off x="4686300" y="29908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133" b="0" i="0">
                <a:solidFill>
                  <a:srgbClr val="231D17"/>
                </a:solidFill>
                <a:latin typeface="Times New Roman"/>
                <a:ea typeface="Times New Roman"/>
                <a:cs typeface="Times New Roman"/>
              </a:defRPr>
            </a:pPr>
            <a:r>
              <a:rPr sz="1133" b="0" i="0">
                <a:solidFill>
                  <a:srgbClr val="231D17"/>
                </a:solidFill>
                <a:latin typeface="Times New Roman"/>
                <a:ea typeface="Times New Roman"/>
                <a:cs typeface="Times New Roman"/>
              </a:rPr>
              <a:t>Delegating difficult choices can reduce personal responsibility and redistribute blame across users, systems, programmers, and machine intermediaries.</a:t>
            </a:r>
          </a:p>
        </p:txBody>
      </p:sp>
      <p:sp>
        <p:nvSpPr>
          <p:cNvPr id="21" name="">
            <a:extLst xmlns:a="http://schemas.openxmlformats.org/drawingml/2006/main">
              <a:ext uri="{FF2B5EF4-FFF2-40B4-BE49-F238E27FC236}">
                <a16:creationId xmlns:a16="http://schemas.microsoft.com/office/drawing/2014/main" id="{B73AA59C-E71C-4CF3-B0F2-A84380A9A8AE}"/>
              </a:ext>
            </a:extLst>
          </p:cNvPr>
          <p:cNvSpPr>
            <a:spLocks xmlns:a="http://schemas.openxmlformats.org/drawingml/2006/main" noGrp="1"/>
          </p:cNvSpPr>
          <p:nvPr/>
        </p:nvSpPr>
        <p:spPr>
          <a:xfrm xmlns:a="http://schemas.openxmlformats.org/drawingml/2006/main">
            <a:off x="4686300" y="382905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30" b="0" i="1">
                <a:solidFill>
                  <a:srgbClr val="6F665C"/>
                </a:solidFill>
                <a:latin typeface="Times New Roman"/>
                <a:ea typeface="Times New Roman"/>
                <a:cs typeface="Times New Roman"/>
              </a:defRPr>
            </a:pPr>
            <a:r>
              <a:rPr sz="930" b="0" i="1">
                <a:solidFill>
                  <a:srgbClr val="6F665C"/>
                </a:solidFill>
                <a:latin typeface="Times New Roman"/>
                <a:ea typeface="Times New Roman"/>
                <a:cs typeface="Times New Roman"/>
              </a:rPr>
              <a:t>(Steffel et al., 2016; Kirchkamp &amp; Strobel, 2019; Chevrier &amp; Teixeira, 2024; Kobis et al., 2025)</a:t>
            </a:r>
          </a:p>
        </p:txBody>
      </p:sp>
      <p:sp>
        <p:nvSpPr>
          <p:cNvPr id="22" name="">
            <a:extLst xmlns:a="http://schemas.openxmlformats.org/drawingml/2006/main">
              <a:ext uri="{FF2B5EF4-FFF2-40B4-BE49-F238E27FC236}">
                <a16:creationId xmlns:a16="http://schemas.microsoft.com/office/drawing/2014/main" id="{A43F57C7-2FDC-4B1E-8AC9-C2FD034E8FB4}"/>
              </a:ext>
            </a:extLst>
          </p:cNvPr>
          <p:cNvSpPr>
            <a:spLocks xmlns:a="http://schemas.openxmlformats.org/drawingml/2006/main" noGrp="1"/>
          </p:cNvSpPr>
          <p:nvPr/>
        </p:nvSpPr>
        <p:spPr>
          <a:xfrm xmlns:a="http://schemas.openxmlformats.org/drawingml/2006/main">
            <a:off x="4667250" y="4362450"/>
            <a:ext cx="2838450" cy="552450"/>
          </a:xfrm>
          <a:prstGeom xmlns:a="http://schemas.openxmlformats.org/drawingml/2006/main" prst="roundRect">
            <a:avLst>
              <a:gd name="adj" fmla="val 10345"/>
            </a:avLst>
          </a:prstGeom>
          <a:solidFill xmlns:a="http://schemas.openxmlformats.org/drawingml/2006/main">
            <a:srgbClr val="F3EBDD"/>
          </a:solidFill>
          <a:ln xmlns:a="http://schemas.openxmlformats.org/drawingml/2006/main" w="9525">
            <a:solidFill>
              <a:srgbClr val="E4D5C2"/>
            </a:solidFill>
            <a:prstDash val="solid"/>
          </a:ln>
        </p:spPr>
      </p:sp>
      <p:sp>
        <p:nvSpPr>
          <p:cNvPr id="23" name="">
            <a:extLst xmlns:a="http://schemas.openxmlformats.org/drawingml/2006/main">
              <a:ext uri="{FF2B5EF4-FFF2-40B4-BE49-F238E27FC236}">
                <a16:creationId xmlns:a16="http://schemas.microsoft.com/office/drawing/2014/main" id="{1049B7C4-345F-4185-A22E-4D7328DD8C32}"/>
              </a:ext>
            </a:extLst>
          </p:cNvPr>
          <p:cNvSpPr>
            <a:spLocks xmlns:a="http://schemas.openxmlformats.org/drawingml/2006/main" noGrp="1"/>
          </p:cNvSpPr>
          <p:nvPr/>
        </p:nvSpPr>
        <p:spPr>
          <a:xfrm xmlns:a="http://schemas.openxmlformats.org/drawingml/2006/main">
            <a:off x="4838700" y="44767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92"/>
          </a:bodyPr>
          <a:lstStyle xmlns:a="http://schemas.openxmlformats.org/drawingml/2006/main"/>
          <a:p xmlns:a="http://schemas.openxmlformats.org/drawingml/2006/main">
            <a:pPr algn="ctr">
              <a:lnSpc>
                <a:spcPct val="105000"/>
              </a:lnSpc>
              <a:buNone/>
              <a:defRPr sz="1013" b="1" i="0">
                <a:solidFill>
                  <a:srgbClr val="231D17"/>
                </a:solidFill>
                <a:latin typeface="Times New Roman"/>
                <a:ea typeface="Times New Roman"/>
                <a:cs typeface="Times New Roman"/>
              </a:defRPr>
            </a:pPr>
            <a:r>
              <a:rPr sz="1013" b="1" i="0">
                <a:solidFill>
                  <a:srgbClr val="231D17"/>
                </a:solidFill>
                <a:latin typeface="Times New Roman"/>
                <a:ea typeface="Times New Roman"/>
                <a:cs typeface="Times New Roman"/>
              </a:rPr>
              <a:t>The question is when AI support weakens decision ownership before action.</a:t>
            </a:r>
          </a:p>
        </p:txBody>
      </p:sp>
      <p:sp>
        <p:nvSpPr>
          <p:cNvPr id="24" name="">
            <a:extLst xmlns:a="http://schemas.openxmlformats.org/drawingml/2006/main">
              <a:ext uri="{FF2B5EF4-FFF2-40B4-BE49-F238E27FC236}">
                <a16:creationId xmlns:a16="http://schemas.microsoft.com/office/drawing/2014/main" id="{1DC4CDF8-27FC-4F0F-A537-BFA4A7E40766}"/>
              </a:ext>
            </a:extLst>
          </p:cNvPr>
          <p:cNvSpPr>
            <a:spLocks xmlns:a="http://schemas.openxmlformats.org/drawingml/2006/main" noGrp="1"/>
          </p:cNvSpPr>
          <p:nvPr/>
        </p:nvSpPr>
        <p:spPr>
          <a:xfrm xmlns:a="http://schemas.openxmlformats.org/drawingml/2006/main">
            <a:off x="8001000" y="2114550"/>
            <a:ext cx="3257550" cy="302895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D8CCBB"/>
            </a:solidFill>
            <a:prstDash val="solid"/>
          </a:ln>
        </p:spPr>
      </p:sp>
      <p:sp>
        <p:nvSpPr>
          <p:cNvPr id="25" name="">
            <a:extLst xmlns:a="http://schemas.openxmlformats.org/drawingml/2006/main">
              <a:ext uri="{FF2B5EF4-FFF2-40B4-BE49-F238E27FC236}">
                <a16:creationId xmlns:a16="http://schemas.microsoft.com/office/drawing/2014/main" id="{CB8D27DA-110D-401C-8EF4-2B00BDFE2AE2}"/>
              </a:ext>
            </a:extLst>
          </p:cNvPr>
          <p:cNvSpPr>
            <a:spLocks xmlns:a="http://schemas.openxmlformats.org/drawingml/2006/main" noGrp="1"/>
          </p:cNvSpPr>
          <p:nvPr/>
        </p:nvSpPr>
        <p:spPr>
          <a:xfrm xmlns:a="http://schemas.openxmlformats.org/drawingml/2006/main">
            <a:off x="8001000" y="2114550"/>
            <a:ext cx="3257550" cy="76200"/>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26" name="">
            <a:extLst xmlns:a="http://schemas.openxmlformats.org/drawingml/2006/main">
              <a:ext uri="{FF2B5EF4-FFF2-40B4-BE49-F238E27FC236}">
                <a16:creationId xmlns:a16="http://schemas.microsoft.com/office/drawing/2014/main" id="{B1836E55-DCF8-43A4-8FFF-8D798CC42EF9}"/>
              </a:ext>
            </a:extLst>
          </p:cNvPr>
          <p:cNvSpPr>
            <a:spLocks xmlns:a="http://schemas.openxmlformats.org/drawingml/2006/main" noGrp="1"/>
          </p:cNvSpPr>
          <p:nvPr/>
        </p:nvSpPr>
        <p:spPr>
          <a:xfrm xmlns:a="http://schemas.openxmlformats.org/drawingml/2006/main">
            <a:off x="8210550" y="2381250"/>
            <a:ext cx="323850" cy="3238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27" name="">
            <a:extLst xmlns:a="http://schemas.openxmlformats.org/drawingml/2006/main">
              <a:ext uri="{FF2B5EF4-FFF2-40B4-BE49-F238E27FC236}">
                <a16:creationId xmlns:a16="http://schemas.microsoft.com/office/drawing/2014/main" id="{38C0A4D4-6EA0-4C42-B360-376E4FA04B9D}"/>
              </a:ext>
            </a:extLst>
          </p:cNvPr>
          <p:cNvSpPr>
            <a:spLocks xmlns:a="http://schemas.openxmlformats.org/drawingml/2006/main" noGrp="1"/>
          </p:cNvSpPr>
          <p:nvPr/>
        </p:nvSpPr>
        <p:spPr>
          <a:xfrm xmlns:a="http://schemas.openxmlformats.org/drawingml/2006/main">
            <a:off x="8315325" y="2466975"/>
            <a:ext cx="114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ctr">
              <a:lnSpc>
                <a:spcPct val="105000"/>
              </a:lnSpc>
              <a:buNone/>
              <a:defRPr sz="1050" b="1" i="0">
                <a:solidFill>
                  <a:srgbClr val="F5F0E6"/>
                </a:solidFill>
                <a:latin typeface="Times New Roman"/>
                <a:ea typeface="Times New Roman"/>
                <a:cs typeface="Times New Roman"/>
              </a:defRPr>
            </a:pPr>
            <a:r>
              <a:rPr sz="1050" b="1" i="0">
                <a:solidFill>
                  <a:srgbClr val="F5F0E6"/>
                </a:solidFill>
                <a:latin typeface="Times New Roman"/>
                <a:ea typeface="Times New Roman"/>
                <a:cs typeface="Times New Roman"/>
              </a:rPr>
              <a:t>3</a:t>
            </a:r>
          </a:p>
        </p:txBody>
      </p:sp>
      <p:sp>
        <p:nvSpPr>
          <p:cNvPr id="28" name="">
            <a:extLst xmlns:a="http://schemas.openxmlformats.org/drawingml/2006/main">
              <a:ext uri="{FF2B5EF4-FFF2-40B4-BE49-F238E27FC236}">
                <a16:creationId xmlns:a16="http://schemas.microsoft.com/office/drawing/2014/main" id="{609C522C-E580-4501-96F0-9086D206886C}"/>
              </a:ext>
            </a:extLst>
          </p:cNvPr>
          <p:cNvSpPr>
            <a:spLocks xmlns:a="http://schemas.openxmlformats.org/drawingml/2006/main" noGrp="1"/>
          </p:cNvSpPr>
          <p:nvPr/>
        </p:nvSpPr>
        <p:spPr>
          <a:xfrm xmlns:a="http://schemas.openxmlformats.org/drawingml/2006/main">
            <a:off x="8686800" y="2352675"/>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231D17"/>
                </a:solidFill>
                <a:latin typeface="Times New Roman"/>
                <a:ea typeface="Times New Roman"/>
                <a:cs typeface="Times New Roman"/>
              </a:defRPr>
            </a:pPr>
            <a:r>
              <a:rPr sz="1500" b="1" i="0">
                <a:solidFill>
                  <a:srgbClr val="231D17"/>
                </a:solidFill>
                <a:latin typeface="Times New Roman"/>
                <a:ea typeface="Times New Roman"/>
                <a:cs typeface="Times New Roman"/>
              </a:rPr>
              <a:t>Accountability design is not felt accountability</a:t>
            </a:r>
          </a:p>
        </p:txBody>
      </p:sp>
      <p:sp>
        <p:nvSpPr>
          <p:cNvPr id="29" name="">
            <a:extLst xmlns:a="http://schemas.openxmlformats.org/drawingml/2006/main">
              <a:ext uri="{FF2B5EF4-FFF2-40B4-BE49-F238E27FC236}">
                <a16:creationId xmlns:a16="http://schemas.microsoft.com/office/drawing/2014/main" id="{0046FE36-CB2E-42D9-A59D-B7AEB248867E}"/>
              </a:ext>
            </a:extLst>
          </p:cNvPr>
          <p:cNvSpPr>
            <a:spLocks xmlns:a="http://schemas.openxmlformats.org/drawingml/2006/main" noGrp="1"/>
          </p:cNvSpPr>
          <p:nvPr/>
        </p:nvSpPr>
        <p:spPr>
          <a:xfrm xmlns:a="http://schemas.openxmlformats.org/drawingml/2006/main">
            <a:off x="8229600" y="2990850"/>
            <a:ext cx="2800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133" b="0" i="0">
                <a:solidFill>
                  <a:srgbClr val="231D17"/>
                </a:solidFill>
                <a:latin typeface="Times New Roman"/>
                <a:ea typeface="Times New Roman"/>
                <a:cs typeface="Times New Roman"/>
              </a:defRPr>
            </a:pPr>
            <a:r>
              <a:rPr sz="1133" b="0" i="0">
                <a:solidFill>
                  <a:srgbClr val="231D17"/>
                </a:solidFill>
                <a:latin typeface="Times New Roman"/>
                <a:ea typeface="Times New Roman"/>
                <a:cs typeface="Times New Roman"/>
              </a:rPr>
              <a:t>Disclosure, approval, audit trails, and justification requirements create external accountability, but they may not automatically make people feel responsible.</a:t>
            </a:r>
          </a:p>
        </p:txBody>
      </p:sp>
      <p:sp>
        <p:nvSpPr>
          <p:cNvPr id="30" name="">
            <a:extLst xmlns:a="http://schemas.openxmlformats.org/drawingml/2006/main">
              <a:ext uri="{FF2B5EF4-FFF2-40B4-BE49-F238E27FC236}">
                <a16:creationId xmlns:a16="http://schemas.microsoft.com/office/drawing/2014/main" id="{899F4D3A-ECE5-4DF4-BDA6-F7864E28670F}"/>
              </a:ext>
            </a:extLst>
          </p:cNvPr>
          <p:cNvSpPr>
            <a:spLocks xmlns:a="http://schemas.openxmlformats.org/drawingml/2006/main" noGrp="1"/>
          </p:cNvSpPr>
          <p:nvPr/>
        </p:nvSpPr>
        <p:spPr>
          <a:xfrm xmlns:a="http://schemas.openxmlformats.org/drawingml/2006/main">
            <a:off x="8229600" y="382905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30" b="0" i="1">
                <a:solidFill>
                  <a:srgbClr val="6F665C"/>
                </a:solidFill>
                <a:latin typeface="Times New Roman"/>
                <a:ea typeface="Times New Roman"/>
                <a:cs typeface="Times New Roman"/>
              </a:defRPr>
            </a:pPr>
            <a:r>
              <a:rPr sz="930" b="0" i="1">
                <a:solidFill>
                  <a:srgbClr val="6F665C"/>
                </a:solidFill>
                <a:latin typeface="Times New Roman"/>
                <a:ea typeface="Times New Roman"/>
                <a:cs typeface="Times New Roman"/>
              </a:rPr>
              <a:t>(Lerner &amp; Tetlock, 1999; Hall et al., 2017; Aleksovska et al., 2019)</a:t>
            </a:r>
          </a:p>
        </p:txBody>
      </p:sp>
      <p:sp>
        <p:nvSpPr>
          <p:cNvPr id="31" name="">
            <a:extLst xmlns:a="http://schemas.openxmlformats.org/drawingml/2006/main">
              <a:ext uri="{FF2B5EF4-FFF2-40B4-BE49-F238E27FC236}">
                <a16:creationId xmlns:a16="http://schemas.microsoft.com/office/drawing/2014/main" id="{86696C1E-52ED-4785-AF86-3C0BC81A82ED}"/>
              </a:ext>
            </a:extLst>
          </p:cNvPr>
          <p:cNvSpPr>
            <a:spLocks xmlns:a="http://schemas.openxmlformats.org/drawingml/2006/main" noGrp="1"/>
          </p:cNvSpPr>
          <p:nvPr/>
        </p:nvSpPr>
        <p:spPr>
          <a:xfrm xmlns:a="http://schemas.openxmlformats.org/drawingml/2006/main">
            <a:off x="8210550" y="4362450"/>
            <a:ext cx="2838450" cy="552450"/>
          </a:xfrm>
          <a:prstGeom xmlns:a="http://schemas.openxmlformats.org/drawingml/2006/main" prst="roundRect">
            <a:avLst>
              <a:gd name="adj" fmla="val 10345"/>
            </a:avLst>
          </a:prstGeom>
          <a:solidFill xmlns:a="http://schemas.openxmlformats.org/drawingml/2006/main">
            <a:srgbClr val="F3EBDD"/>
          </a:solidFill>
          <a:ln xmlns:a="http://schemas.openxmlformats.org/drawingml/2006/main" w="9525">
            <a:solidFill>
              <a:srgbClr val="E4D5C2"/>
            </a:solidFill>
            <a:prstDash val="solid"/>
          </a:ln>
        </p:spPr>
      </p:sp>
      <p:sp>
        <p:nvSpPr>
          <p:cNvPr id="32" name="">
            <a:extLst xmlns:a="http://schemas.openxmlformats.org/drawingml/2006/main">
              <a:ext uri="{FF2B5EF4-FFF2-40B4-BE49-F238E27FC236}">
                <a16:creationId xmlns:a16="http://schemas.microsoft.com/office/drawing/2014/main" id="{D70F3FFF-E1DD-424F-966F-81221DF5D53B}"/>
              </a:ext>
            </a:extLst>
          </p:cNvPr>
          <p:cNvSpPr>
            <a:spLocks xmlns:a="http://schemas.openxmlformats.org/drawingml/2006/main" noGrp="1"/>
          </p:cNvSpPr>
          <p:nvPr/>
        </p:nvSpPr>
        <p:spPr>
          <a:xfrm xmlns:a="http://schemas.openxmlformats.org/drawingml/2006/main">
            <a:off x="8382000" y="44767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92"/>
          </a:bodyPr>
          <a:lstStyle xmlns:a="http://schemas.openxmlformats.org/drawingml/2006/main"/>
          <a:p xmlns:a="http://schemas.openxmlformats.org/drawingml/2006/main">
            <a:pPr algn="ctr">
              <a:lnSpc>
                <a:spcPct val="105000"/>
              </a:lnSpc>
              <a:buNone/>
              <a:defRPr sz="1013" b="1" i="0">
                <a:solidFill>
                  <a:srgbClr val="231D17"/>
                </a:solidFill>
                <a:latin typeface="Times New Roman"/>
                <a:ea typeface="Times New Roman"/>
                <a:cs typeface="Times New Roman"/>
              </a:defRPr>
            </a:pPr>
            <a:r>
              <a:rPr sz="1013" b="1" i="0">
                <a:solidFill>
                  <a:srgbClr val="231D17"/>
                </a:solidFill>
                <a:latin typeface="Times New Roman"/>
                <a:ea typeface="Times New Roman"/>
                <a:cs typeface="Times New Roman"/>
              </a:rPr>
              <a:t>The experiment asks whether justification re-anchors responsibility to the human.</a:t>
            </a:r>
          </a:p>
        </p:txBody>
      </p:sp>
      <p:sp>
        <p:nvSpPr>
          <p:cNvPr id="33" name="">
            <a:extLst xmlns:a="http://schemas.openxmlformats.org/drawingml/2006/main">
              <a:ext uri="{FF2B5EF4-FFF2-40B4-BE49-F238E27FC236}">
                <a16:creationId xmlns:a16="http://schemas.microsoft.com/office/drawing/2014/main" id="{4C5B9E29-DB0E-4AA3-B249-7329360318A8}"/>
              </a:ext>
            </a:extLst>
          </p:cNvPr>
          <p:cNvSpPr>
            <a:spLocks xmlns:a="http://schemas.openxmlformats.org/drawingml/2006/main" noGrp="1"/>
          </p:cNvSpPr>
          <p:nvPr/>
        </p:nvSpPr>
        <p:spPr>
          <a:xfrm xmlns:a="http://schemas.openxmlformats.org/drawingml/2006/main">
            <a:off x="914400" y="5467350"/>
            <a:ext cx="10325100" cy="704850"/>
          </a:xfrm>
          <a:prstGeom xmlns:a="http://schemas.openxmlformats.org/drawingml/2006/main" prst="roundRect">
            <a:avLst>
              <a:gd name="adj" fmla="val 16216"/>
            </a:avLst>
          </a:prstGeom>
          <a:solidFill xmlns:a="http://schemas.openxmlformats.org/drawingml/2006/main">
            <a:srgbClr val="23384A"/>
          </a:solidFill>
          <a:ln xmlns:a="http://schemas.openxmlformats.org/drawingml/2006/main" w="9525">
            <a:solidFill>
              <a:srgbClr val="23384A"/>
            </a:solidFill>
            <a:prstDash val="solid"/>
          </a:ln>
        </p:spPr>
      </p:sp>
      <p:sp>
        <p:nvSpPr>
          <p:cNvPr id="34" name="">
            <a:extLst xmlns:a="http://schemas.openxmlformats.org/drawingml/2006/main">
              <a:ext uri="{FF2B5EF4-FFF2-40B4-BE49-F238E27FC236}">
                <a16:creationId xmlns:a16="http://schemas.microsoft.com/office/drawing/2014/main" id="{B44588CE-2E87-4729-95F4-C7C5F774F5BF}"/>
              </a:ext>
            </a:extLst>
          </p:cNvPr>
          <p:cNvSpPr>
            <a:spLocks xmlns:a="http://schemas.openxmlformats.org/drawingml/2006/main" noGrp="1"/>
          </p:cNvSpPr>
          <p:nvPr/>
        </p:nvSpPr>
        <p:spPr>
          <a:xfrm xmlns:a="http://schemas.openxmlformats.org/drawingml/2006/main">
            <a:off x="1219200" y="56388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896"/>
          </a:bodyPr>
          <a:lstStyle xmlns:a="http://schemas.openxmlformats.org/drawingml/2006/main"/>
          <a:p xmlns:a="http://schemas.openxmlformats.org/drawingml/2006/main">
            <a:pPr algn="l">
              <a:lnSpc>
                <a:spcPct val="105000"/>
              </a:lnSpc>
              <a:buNone/>
              <a:defRPr sz="1425" b="1" i="0">
                <a:solidFill>
                  <a:srgbClr val="E7D4C3"/>
                </a:solidFill>
                <a:latin typeface="Times New Roman"/>
                <a:ea typeface="Times New Roman"/>
                <a:cs typeface="Times New Roman"/>
              </a:defRPr>
            </a:pPr>
            <a:r>
              <a:rPr sz="1425" b="1" i="0">
                <a:solidFill>
                  <a:srgbClr val="E7D4C3"/>
                </a:solidFill>
                <a:latin typeface="Times New Roman"/>
                <a:ea typeface="Times New Roman"/>
                <a:cs typeface="Times New Roman"/>
              </a:rPr>
              <a:t>Paper 3's move</a:t>
            </a:r>
          </a:p>
        </p:txBody>
      </p:sp>
      <p:sp>
        <p:nvSpPr>
          <p:cNvPr id="35" name="">
            <a:extLst xmlns:a="http://schemas.openxmlformats.org/drawingml/2006/main">
              <a:ext uri="{FF2B5EF4-FFF2-40B4-BE49-F238E27FC236}">
                <a16:creationId xmlns:a16="http://schemas.microsoft.com/office/drawing/2014/main" id="{AA561377-9EB4-4F7E-BDA9-3FF7037ACCF8}"/>
              </a:ext>
            </a:extLst>
          </p:cNvPr>
          <p:cNvSpPr>
            <a:spLocks xmlns:a="http://schemas.openxmlformats.org/drawingml/2006/main" noGrp="1"/>
          </p:cNvSpPr>
          <p:nvPr/>
        </p:nvSpPr>
        <p:spPr>
          <a:xfrm xmlns:a="http://schemas.openxmlformats.org/drawingml/2006/main">
            <a:off x="3429000" y="5619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249"/>
          </a:bodyPr>
          <a:lstStyle xmlns:a="http://schemas.openxmlformats.org/drawingml/2006/main"/>
          <a:p xmlns:a="http://schemas.openxmlformats.org/drawingml/2006/main">
            <a:pPr algn="ctr">
              <a:lnSpc>
                <a:spcPct val="106000"/>
              </a:lnSpc>
              <a:buNone/>
              <a:defRPr sz="1350" b="1" i="0">
                <a:solidFill>
                  <a:srgbClr val="F5F0E6"/>
                </a:solidFill>
                <a:latin typeface="Times New Roman"/>
                <a:ea typeface="Times New Roman"/>
                <a:cs typeface="Times New Roman"/>
              </a:defRPr>
            </a:pPr>
            <a:r>
              <a:rPr sz="1350" b="1" i="0">
                <a:solidFill>
                  <a:srgbClr val="F5F0E6"/>
                </a:solidFill>
                <a:latin typeface="Times New Roman"/>
                <a:ea typeface="Times New Roman"/>
                <a:cs typeface="Times New Roman"/>
              </a:rPr>
              <a:t>AI role proximity + justification requirement -&gt; decisional ownership, felt accountability, responsibility sharing, and escalatory choice.</a:t>
            </a:r>
          </a:p>
        </p:txBody>
      </p:sp>
    </p:spTree>
    <p:extLst>
      <p:ext uri="{BB962C8B-B14F-4D97-AF65-F5344CB8AC3E}">
        <p14:creationId xmlns:p14="http://schemas.microsoft.com/office/powerpoint/2010/main" val="21288906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2026-07-06T11:09:34.6090000Z</dcterms:created>
  <dcterms:modified xsi:type="dcterms:W3CDTF">2026-07-06T11:09:34.6090000Z</dcterms:modified>
</coreProperties>
</file>