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d1e7e399004f65" /><Relationship Type="http://schemas.openxmlformats.org/officeDocument/2006/relationships/extended-properties" Target="/docProps/app.xml" Id="Re85664c779574e5e" /><Relationship Type="http://schemas.openxmlformats.org/officeDocument/2006/relationships/officeDocument" Target="/ppt/presentation.xml" Id="Ra0d2e7cfe4d14f26" /></Relationships>
</file>

<file path=ppt/presentation.xml><?xml version="1.0" encoding="utf-8"?>
<p:presentation xmlns:p="http://schemas.openxmlformats.org/presentationml/2006/main">
  <p:sldMasterIdLst>
    <p:sldMasterId xmlns:r="http://schemas.openxmlformats.org/officeDocument/2006/relationships" id="2147483648" r:id="R719c2b6dcf8e4462"/>
  </p:sldMasterIdLst>
  <p:notesMasterIdLst>
    <p:notesMasterId xmlns:r="http://schemas.openxmlformats.org/officeDocument/2006/relationships" r:id="Rcae276e9dd9442e9"/>
  </p:notesMasterIdLst>
  <p:sldIdLst>
    <p:sldId xmlns:r="http://schemas.openxmlformats.org/officeDocument/2006/relationships" id="256" r:id="R0f7cee0fd55f4de0"/>
    <p:sldId xmlns:r="http://schemas.openxmlformats.org/officeDocument/2006/relationships" id="257" r:id="Rbeb981ae367345ba"/>
    <p:sldId xmlns:r="http://schemas.openxmlformats.org/officeDocument/2006/relationships" id="258" r:id="R1e8b6662de3b42d4"/>
    <p:sldId xmlns:r="http://schemas.openxmlformats.org/officeDocument/2006/relationships" id="259" r:id="Raa2ad909e1574078"/>
    <p:sldId xmlns:r="http://schemas.openxmlformats.org/officeDocument/2006/relationships" id="260" r:id="Rd6b4d6d5b28e4479"/>
    <p:sldId xmlns:r="http://schemas.openxmlformats.org/officeDocument/2006/relationships" id="261" r:id="Rb1240db2a060493f"/>
    <p:sldId xmlns:r="http://schemas.openxmlformats.org/officeDocument/2006/relationships" id="262" r:id="R45264106b1c142b7"/>
    <p:sldId xmlns:r="http://schemas.openxmlformats.org/officeDocument/2006/relationships" id="263" r:id="Rf9d1c9dbd54e4fdc"/>
    <p:sldId xmlns:r="http://schemas.openxmlformats.org/officeDocument/2006/relationships" id="264" r:id="R59ef32b0a41d4ae2"/>
    <p:sldId xmlns:r="http://schemas.openxmlformats.org/officeDocument/2006/relationships" id="265" r:id="R5f5655c26b814d5c"/>
    <p:sldId xmlns:r="http://schemas.openxmlformats.org/officeDocument/2006/relationships" id="266" r:id="R7384928b4c0f48f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84e4251c4f4eeb" /><Relationship Type="http://schemas.openxmlformats.org/officeDocument/2006/relationships/slideMaster" Target="/ppt/slideMasters/slideMaster1.xml" Id="R719c2b6dcf8e4462" /><Relationship Type="http://schemas.openxmlformats.org/officeDocument/2006/relationships/notesMaster" Target="/ppt/notesMasters/notesMaster1.xml" Id="Rcae276e9dd9442e9" /><Relationship Type="http://schemas.openxmlformats.org/officeDocument/2006/relationships/presProps" Target="/ppt/presProps.xml" Id="R41e66a362aff4c3e" /><Relationship Type="http://schemas.openxmlformats.org/officeDocument/2006/relationships/tableStyles" Target="/ppt/tableStyles.xml" Id="R07beefc31b5741ec" /><Relationship Type="http://schemas.openxmlformats.org/officeDocument/2006/relationships/slide" Target="/ppt/slides/slide1.xml" Id="R0f7cee0fd55f4de0" /><Relationship Type="http://schemas.openxmlformats.org/officeDocument/2006/relationships/slide" Target="/ppt/slides/slide2.xml" Id="Rbeb981ae367345ba" /><Relationship Type="http://schemas.openxmlformats.org/officeDocument/2006/relationships/slide" Target="/ppt/slides/slide3.xml" Id="R1e8b6662de3b42d4" /><Relationship Type="http://schemas.openxmlformats.org/officeDocument/2006/relationships/slide" Target="/ppt/slides/slide4.xml" Id="Raa2ad909e1574078" /><Relationship Type="http://schemas.openxmlformats.org/officeDocument/2006/relationships/slide" Target="/ppt/slides/slide5.xml" Id="Rd6b4d6d5b28e4479" /><Relationship Type="http://schemas.openxmlformats.org/officeDocument/2006/relationships/slide" Target="/ppt/slides/slide6.xml" Id="Rb1240db2a060493f" /><Relationship Type="http://schemas.openxmlformats.org/officeDocument/2006/relationships/slide" Target="/ppt/slides/slide7.xml" Id="R45264106b1c142b7" /><Relationship Type="http://schemas.openxmlformats.org/officeDocument/2006/relationships/slide" Target="/ppt/slides/slide8.xml" Id="Rf9d1c9dbd54e4fdc" /><Relationship Type="http://schemas.openxmlformats.org/officeDocument/2006/relationships/slide" Target="/ppt/slides/slide9.xml" Id="R59ef32b0a41d4ae2" /><Relationship Type="http://schemas.openxmlformats.org/officeDocument/2006/relationships/slide" Target="/ppt/slides/slide10.xml" Id="R5f5655c26b814d5c" /><Relationship Type="http://schemas.openxmlformats.org/officeDocument/2006/relationships/slide" Target="/ppt/slides/slide11.xml" Id="R7384928b4c0f48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f995c6e9e441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72c5d18ac84395" /><Relationship Type="http://schemas.openxmlformats.org/officeDocument/2006/relationships/notesMaster" Target="/ppt/notesMasters/notesMaster1.xml" Id="R1a5044b81b0743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05061109d04574" /><Relationship Type="http://schemas.openxmlformats.org/officeDocument/2006/relationships/notesMaster" Target="/ppt/notesMasters/notesMaster1.xml" Id="R3fbf42e884684ac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987ec7f7a4411c" /><Relationship Type="http://schemas.openxmlformats.org/officeDocument/2006/relationships/notesMaster" Target="/ppt/notesMasters/notesMaster1.xml" Id="R4140e09d381c42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f4063cc8714020" /><Relationship Type="http://schemas.openxmlformats.org/officeDocument/2006/relationships/notesMaster" Target="/ppt/notesMasters/notesMaster1.xml" Id="R5c15e8a83fb94d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1da88a59024b2c" /><Relationship Type="http://schemas.openxmlformats.org/officeDocument/2006/relationships/notesMaster" Target="/ppt/notesMasters/notesMaster1.xml" Id="R342f0118a69048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5bda1ed7a04cfb" /><Relationship Type="http://schemas.openxmlformats.org/officeDocument/2006/relationships/notesMaster" Target="/ppt/notesMasters/notesMaster1.xml" Id="R84d9f02e6b824c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a3c403242545bf" /><Relationship Type="http://schemas.openxmlformats.org/officeDocument/2006/relationships/notesMaster" Target="/ppt/notesMasters/notesMaster1.xml" Id="R07f69681004744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572d83d5944eb8" /><Relationship Type="http://schemas.openxmlformats.org/officeDocument/2006/relationships/notesMaster" Target="/ppt/notesMasters/notesMaster1.xml" Id="Rfa8161e0104946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b18c354db74ba0" /><Relationship Type="http://schemas.openxmlformats.org/officeDocument/2006/relationships/notesMaster" Target="/ppt/notesMasters/notesMaster1.xml" Id="R947ad644e85942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4aee272837487f" /><Relationship Type="http://schemas.openxmlformats.org/officeDocument/2006/relationships/notesMaster" Target="/ppt/notesMasters/notesMaster1.xml" Id="R6c2063bc263746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46dd9dbbaa462e" /><Relationship Type="http://schemas.openxmlformats.org/officeDocument/2006/relationships/notesMaster" Target="/ppt/notesMasters/notesMaster1.xml" Id="R78eb6f576ac74f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6a0b212ca544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559e12fc6e4050" /><Relationship Type="http://schemas.openxmlformats.org/officeDocument/2006/relationships/slideLayout" Target="/ppt/slideLayouts/slideLayout1.xml" Id="Rf173de72466441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73de72466441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120978c4914914" /><Relationship Type="http://schemas.openxmlformats.org/officeDocument/2006/relationships/notesSlide" Target="/ppt/notesSlides/notesSlide1.xml" Id="R2b7bfc9b0d2048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1bc7e4e77c406f" /><Relationship Type="http://schemas.openxmlformats.org/officeDocument/2006/relationships/notesSlide" Target="/ppt/notesSlides/notesSlide2.xml" Id="Ree687b873fcf43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1a69ba68704857" /><Relationship Type="http://schemas.openxmlformats.org/officeDocument/2006/relationships/notesSlide" Target="/ppt/notesSlides/notesSlide3.xml" Id="R89493ec0508f45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0476acb1b249d6" /><Relationship Type="http://schemas.openxmlformats.org/officeDocument/2006/relationships/notesSlide" Target="/ppt/notesSlides/notesSlide4.xml" Id="R56ccdf8d150246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c96ccd3c634b88" /><Relationship Type="http://schemas.openxmlformats.org/officeDocument/2006/relationships/notesSlide" Target="/ppt/notesSlides/notesSlide5.xml" Id="R957c66a0436c4a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23e7016bcb4677" /><Relationship Type="http://schemas.openxmlformats.org/officeDocument/2006/relationships/notesSlide" Target="/ppt/notesSlides/notesSlide6.xml" Id="Rea12a6747d1848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05ef67b69348e5" /><Relationship Type="http://schemas.openxmlformats.org/officeDocument/2006/relationships/notesSlide" Target="/ppt/notesSlides/notesSlide7.xml" Id="R6dfcfc329db543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79fdb92ab940e5" /><Relationship Type="http://schemas.openxmlformats.org/officeDocument/2006/relationships/notesSlide" Target="/ppt/notesSlides/notesSlide8.xml" Id="Rc791a809383741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d1b12d28cc47d7" /><Relationship Type="http://schemas.openxmlformats.org/officeDocument/2006/relationships/notesSlide" Target="/ppt/notesSlides/notesSlide9.xml" Id="Rc965d5481a2f4a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a9d138e15d4c32" /><Relationship Type="http://schemas.openxmlformats.org/officeDocument/2006/relationships/notesSlide" Target="/ppt/notesSlides/notesSlide10.xml" Id="R30317169bb274f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32bbdd27ca4a5d" /><Relationship Type="http://schemas.openxmlformats.org/officeDocument/2006/relationships/notesSlide" Target="/ppt/notesSlides/notesSlide11.xml" Id="R2e5d65922aea4bbf" /></Relationships>
</file>

<file path=ppt/slides/slide1.xml><?xml version="1.0" encoding="utf-8"?>
<p:sld xmlns:p="http://schemas.openxmlformats.org/presentationml/2006/main">
  <p:cSld>
    <p:bg>
      <p:bgPr>
        <a:solidFill xmlns:a="http://schemas.openxmlformats.org/drawingml/2006/main">
          <a:srgbClr val="232937"/>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EBD30A-63A6-4B8D-8658-4EEA5B8E898B}"/>
              </a:ext>
            </a:extLst>
          </p:cNvPr>
          <p:cNvSpPr>
            <a:spLocks xmlns:a="http://schemas.openxmlformats.org/drawingml/2006/main" noGrp="1"/>
          </p:cNvSpPr>
          <p:nvPr/>
        </p:nvSpPr>
        <p:spPr>
          <a:xfrm xmlns:a="http://schemas.openxmlformats.org/drawingml/2006/main">
            <a:off x="8715375" y="-1524000"/>
            <a:ext cx="4191000" cy="4191000"/>
          </a:xfrm>
          <a:prstGeom xmlns:a="http://schemas.openxmlformats.org/drawingml/2006/main" prst="ellipse">
            <a:avLst/>
          </a:prstGeom>
          <a:solidFill xmlns:a="http://schemas.openxmlformats.org/drawingml/2006/main">
            <a:srgbClr val="30384A"/>
          </a:solidFill>
          <a:ln xmlns:a="http://schemas.openxmlformats.org/drawingml/2006/main" w="0">
            <a:solidFill>
              <a:srgbClr val="30384A"/>
            </a:solidFill>
            <a:prstDash val="solid"/>
          </a:ln>
        </p:spPr>
      </p:sp>
      <p:sp>
        <p:nvSpPr>
          <p:cNvPr id="2" name="">
            <a:extLst xmlns:a="http://schemas.openxmlformats.org/drawingml/2006/main">
              <a:ext uri="{FF2B5EF4-FFF2-40B4-BE49-F238E27FC236}">
                <a16:creationId xmlns:a16="http://schemas.microsoft.com/office/drawing/2014/main" id="{9BF57FCF-9018-4CCD-BC0A-1D4EDE969A3D}"/>
              </a:ext>
            </a:extLst>
          </p:cNvPr>
          <p:cNvSpPr>
            <a:spLocks xmlns:a="http://schemas.openxmlformats.org/drawingml/2006/main" noGrp="1"/>
          </p:cNvSpPr>
          <p:nvPr/>
        </p:nvSpPr>
        <p:spPr>
          <a:xfrm xmlns:a="http://schemas.openxmlformats.org/drawingml/2006/main">
            <a:off x="-1047750" y="4476750"/>
            <a:ext cx="2857500" cy="2857500"/>
          </a:xfrm>
          <a:prstGeom xmlns:a="http://schemas.openxmlformats.org/drawingml/2006/main" prst="ellipse">
            <a:avLst/>
          </a:prstGeom>
          <a:solidFill xmlns:a="http://schemas.openxmlformats.org/drawingml/2006/main">
            <a:srgbClr val="2B3241"/>
          </a:solidFill>
          <a:ln xmlns:a="http://schemas.openxmlformats.org/drawingml/2006/main" w="0">
            <a:solidFill>
              <a:srgbClr val="2B3241"/>
            </a:solidFill>
            <a:prstDash val="solid"/>
          </a:ln>
        </p:spPr>
      </p:sp>
      <p:sp>
        <p:nvSpPr>
          <p:cNvPr id="3" name="">
            <a:extLst xmlns:a="http://schemas.openxmlformats.org/drawingml/2006/main">
              <a:ext uri="{FF2B5EF4-FFF2-40B4-BE49-F238E27FC236}">
                <a16:creationId xmlns:a16="http://schemas.microsoft.com/office/drawing/2014/main" id="{E9FFF9BD-2530-4C9E-AFAF-27145FF16D06}"/>
              </a:ext>
            </a:extLst>
          </p:cNvPr>
          <p:cNvSpPr>
            <a:spLocks xmlns:a="http://schemas.openxmlformats.org/drawingml/2006/main" noGrp="1"/>
          </p:cNvSpPr>
          <p:nvPr/>
        </p:nvSpPr>
        <p:spPr>
          <a:xfrm xmlns:a="http://schemas.openxmlformats.org/drawingml/2006/main">
            <a:off x="819150" y="819150"/>
            <a:ext cx="228600" cy="2286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4" name="">
            <a:extLst xmlns:a="http://schemas.openxmlformats.org/drawingml/2006/main">
              <a:ext uri="{FF2B5EF4-FFF2-40B4-BE49-F238E27FC236}">
                <a16:creationId xmlns:a16="http://schemas.microsoft.com/office/drawing/2014/main" id="{F20075AF-57FD-455B-93BB-4E72BC9B4E20}"/>
              </a:ext>
            </a:extLst>
          </p:cNvPr>
          <p:cNvSpPr>
            <a:spLocks xmlns:a="http://schemas.openxmlformats.org/drawingml/2006/main" noGrp="1"/>
          </p:cNvSpPr>
          <p:nvPr/>
        </p:nvSpPr>
        <p:spPr>
          <a:xfrm xmlns:a="http://schemas.openxmlformats.org/drawingml/2006/main">
            <a:off x="800100" y="5962650"/>
            <a:ext cx="10591800" cy="9525"/>
          </a:xfrm>
          <a:prstGeom xmlns:a="http://schemas.openxmlformats.org/drawingml/2006/main" prst="rect">
            <a:avLst/>
          </a:prstGeom>
          <a:solidFill xmlns:a="http://schemas.openxmlformats.org/drawingml/2006/main">
            <a:srgbClr val="465067"/>
          </a:solidFill>
          <a:ln xmlns:a="http://schemas.openxmlformats.org/drawingml/2006/main" w="0">
            <a:solidFill>
              <a:srgbClr val="465067"/>
            </a:solidFill>
            <a:prstDash val="solid"/>
          </a:ln>
        </p:spPr>
      </p:sp>
      <p:sp>
        <p:nvSpPr>
          <p:cNvPr id="5" name="">
            <a:extLst xmlns:a="http://schemas.openxmlformats.org/drawingml/2006/main">
              <a:ext uri="{FF2B5EF4-FFF2-40B4-BE49-F238E27FC236}">
                <a16:creationId xmlns:a16="http://schemas.microsoft.com/office/drawing/2014/main" id="{5DDFE0E6-A051-4D20-ADFE-A37E076D456D}"/>
              </a:ext>
            </a:extLst>
          </p:cNvPr>
          <p:cNvSpPr>
            <a:spLocks xmlns:a="http://schemas.openxmlformats.org/drawingml/2006/main" noGrp="1"/>
          </p:cNvSpPr>
          <p:nvPr/>
        </p:nvSpPr>
        <p:spPr>
          <a:xfrm xmlns:a="http://schemas.openxmlformats.org/drawingml/2006/main">
            <a:off x="1219200" y="781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D7A792"/>
                </a:solidFill>
                <a:latin typeface="Times New Roman"/>
                <a:ea typeface="Times New Roman"/>
                <a:cs typeface="Times New Roman"/>
              </a:defRPr>
            </a:pPr>
            <a:r>
              <a:rPr sz="1125" b="1" i="0">
                <a:solidFill>
                  <a:srgbClr val="D7A792"/>
                </a:solidFill>
                <a:latin typeface="Times New Roman"/>
                <a:ea typeface="Times New Roman"/>
                <a:cs typeface="Times New Roman"/>
              </a:rPr>
              <a:t>PAPER 2</a:t>
            </a:r>
          </a:p>
        </p:txBody>
      </p:sp>
      <p:sp>
        <p:nvSpPr>
          <p:cNvPr id="6" name="">
            <a:extLst xmlns:a="http://schemas.openxmlformats.org/drawingml/2006/main">
              <a:ext uri="{FF2B5EF4-FFF2-40B4-BE49-F238E27FC236}">
                <a16:creationId xmlns:a16="http://schemas.microsoft.com/office/drawing/2014/main" id="{8FB868E8-FA5F-482D-91F8-9B0C39E29FA3}"/>
              </a:ext>
            </a:extLst>
          </p:cNvPr>
          <p:cNvSpPr>
            <a:spLocks xmlns:a="http://schemas.openxmlformats.org/drawingml/2006/main" noGrp="1"/>
          </p:cNvSpPr>
          <p:nvPr/>
        </p:nvSpPr>
        <p:spPr>
          <a:xfrm xmlns:a="http://schemas.openxmlformats.org/drawingml/2006/main">
            <a:off x="1219200" y="1428750"/>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F8F2E9"/>
                </a:solidFill>
                <a:latin typeface="Times New Roman"/>
                <a:ea typeface="Times New Roman"/>
                <a:cs typeface="Times New Roman"/>
              </a:defRPr>
            </a:pPr>
            <a:r>
              <a:rPr sz="3150" b="1" i="0">
                <a:solidFill>
                  <a:srgbClr val="F8F2E9"/>
                </a:solidFill>
                <a:latin typeface="Times New Roman"/>
                <a:ea typeface="Times New Roman"/>
                <a:cs typeface="Times New Roman"/>
              </a:rPr>
              <a:t>AI Error Shocks and Dynamic Reliance</a:t>
            </a:r>
          </a:p>
        </p:txBody>
      </p:sp>
      <p:sp>
        <p:nvSpPr>
          <p:cNvPr id="7" name="">
            <a:extLst xmlns:a="http://schemas.openxmlformats.org/drawingml/2006/main">
              <a:ext uri="{FF2B5EF4-FFF2-40B4-BE49-F238E27FC236}">
                <a16:creationId xmlns:a16="http://schemas.microsoft.com/office/drawing/2014/main" id="{189CA9B2-4619-4AC7-853F-7A816F607545}"/>
              </a:ext>
            </a:extLst>
          </p:cNvPr>
          <p:cNvSpPr>
            <a:spLocks xmlns:a="http://schemas.openxmlformats.org/drawingml/2006/main" noGrp="1"/>
          </p:cNvSpPr>
          <p:nvPr/>
        </p:nvSpPr>
        <p:spPr>
          <a:xfrm xmlns:a="http://schemas.openxmlformats.org/drawingml/2006/main">
            <a:off x="1219200" y="2247900"/>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D8DCE6"/>
                </a:solidFill>
                <a:latin typeface="Times New Roman"/>
                <a:ea typeface="Times New Roman"/>
                <a:cs typeface="Times New Roman"/>
              </a:defRPr>
            </a:pPr>
            <a:r>
              <a:rPr sz="1650" b="0" i="0">
                <a:solidFill>
                  <a:srgbClr val="D8DCE6"/>
                </a:solidFill>
                <a:latin typeface="Times New Roman"/>
                <a:ea typeface="Times New Roman"/>
                <a:cs typeface="Times New Roman"/>
              </a:rPr>
              <a:t>Repeated human-AI decision tasks with feedback</a:t>
            </a:r>
          </a:p>
        </p:txBody>
      </p:sp>
      <p:sp>
        <p:nvSpPr>
          <p:cNvPr id="8" name="">
            <a:extLst xmlns:a="http://schemas.openxmlformats.org/drawingml/2006/main">
              <a:ext uri="{FF2B5EF4-FFF2-40B4-BE49-F238E27FC236}">
                <a16:creationId xmlns:a16="http://schemas.microsoft.com/office/drawing/2014/main" id="{B1E07A5B-BDE7-4575-84F2-05E476946925}"/>
              </a:ext>
            </a:extLst>
          </p:cNvPr>
          <p:cNvSpPr>
            <a:spLocks xmlns:a="http://schemas.openxmlformats.org/drawingml/2006/main" noGrp="1"/>
          </p:cNvSpPr>
          <p:nvPr/>
        </p:nvSpPr>
        <p:spPr>
          <a:xfrm xmlns:a="http://schemas.openxmlformats.org/drawingml/2006/main">
            <a:off x="1200150" y="3429000"/>
            <a:ext cx="3848100" cy="1276350"/>
          </a:xfrm>
          <a:prstGeom xmlns:a="http://schemas.openxmlformats.org/drawingml/2006/main" prst="roundRect">
            <a:avLst>
              <a:gd name="adj" fmla="val 5970"/>
            </a:avLst>
          </a:prstGeom>
          <a:solidFill xmlns:a="http://schemas.openxmlformats.org/drawingml/2006/main">
            <a:srgbClr val="2E3648"/>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9CFCAE30-09D6-4E99-9B35-01261AD2827D}"/>
              </a:ext>
            </a:extLst>
          </p:cNvPr>
          <p:cNvSpPr>
            <a:spLocks xmlns:a="http://schemas.openxmlformats.org/drawingml/2006/main" noGrp="1"/>
          </p:cNvSpPr>
          <p:nvPr/>
        </p:nvSpPr>
        <p:spPr>
          <a:xfrm xmlns:a="http://schemas.openxmlformats.org/drawingml/2006/main">
            <a:off x="1200150" y="3429000"/>
            <a:ext cx="57150" cy="12763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3E9804AC-71C4-4236-A56C-696B26DDD415}"/>
              </a:ext>
            </a:extLst>
          </p:cNvPr>
          <p:cNvSpPr>
            <a:spLocks xmlns:a="http://schemas.openxmlformats.org/drawingml/2006/main" noGrp="1"/>
          </p:cNvSpPr>
          <p:nvPr/>
        </p:nvSpPr>
        <p:spPr>
          <a:xfrm xmlns:a="http://schemas.openxmlformats.org/drawingml/2006/main">
            <a:off x="1371600" y="3543300"/>
            <a:ext cx="3562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8F2E9"/>
                </a:solidFill>
                <a:latin typeface="Times New Roman"/>
                <a:ea typeface="Times New Roman"/>
                <a:cs typeface="Times New Roman"/>
              </a:defRPr>
            </a:pPr>
            <a:r>
              <a:rPr sz="1650" b="1" i="0">
                <a:solidFill>
                  <a:srgbClr val="F8F2E9"/>
                </a:solidFill>
                <a:latin typeface="Times New Roman"/>
                <a:ea typeface="Times New Roman"/>
                <a:cs typeface="Times New Roman"/>
              </a:rPr>
              <a:t>Dissertation position</a:t>
            </a:r>
          </a:p>
        </p:txBody>
      </p:sp>
      <p:sp>
        <p:nvSpPr>
          <p:cNvPr id="11" name="">
            <a:extLst xmlns:a="http://schemas.openxmlformats.org/drawingml/2006/main">
              <a:ext uri="{FF2B5EF4-FFF2-40B4-BE49-F238E27FC236}">
                <a16:creationId xmlns:a16="http://schemas.microsoft.com/office/drawing/2014/main" id="{DF792F8E-E034-4255-8E03-14DEE30A8A83}"/>
              </a:ext>
            </a:extLst>
          </p:cNvPr>
          <p:cNvSpPr>
            <a:spLocks xmlns:a="http://schemas.openxmlformats.org/drawingml/2006/main" noGrp="1"/>
          </p:cNvSpPr>
          <p:nvPr/>
        </p:nvSpPr>
        <p:spPr>
          <a:xfrm xmlns:a="http://schemas.openxmlformats.org/drawingml/2006/main">
            <a:off x="1371600" y="3867150"/>
            <a:ext cx="3562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D8DCE6"/>
                </a:solidFill>
                <a:latin typeface="Times New Roman"/>
                <a:ea typeface="Times New Roman"/>
                <a:cs typeface="Times New Roman"/>
              </a:defRPr>
            </a:pPr>
            <a:r>
              <a:rPr sz="1275" b="0" i="0">
                <a:solidFill>
                  <a:srgbClr val="D8DCE6"/>
                </a:solidFill>
                <a:latin typeface="Times New Roman"/>
                <a:ea typeface="Times New Roman"/>
                <a:cs typeface="Times New Roman"/>
              </a:rPr>
              <a:t>Paper 2 isolates the step from belief and feedback to reliance calibration and action threshold.</a:t>
            </a:r>
          </a:p>
        </p:txBody>
      </p:sp>
      <p:sp>
        <p:nvSpPr>
          <p:cNvPr id="12" name="">
            <a:extLst xmlns:a="http://schemas.openxmlformats.org/drawingml/2006/main">
              <a:ext uri="{FF2B5EF4-FFF2-40B4-BE49-F238E27FC236}">
                <a16:creationId xmlns:a16="http://schemas.microsoft.com/office/drawing/2014/main" id="{3A7CC962-0DD9-4063-A890-D81D27BC123D}"/>
              </a:ext>
            </a:extLst>
          </p:cNvPr>
          <p:cNvSpPr>
            <a:spLocks xmlns:a="http://schemas.openxmlformats.org/drawingml/2006/main" noGrp="1"/>
          </p:cNvSpPr>
          <p:nvPr/>
        </p:nvSpPr>
        <p:spPr>
          <a:xfrm xmlns:a="http://schemas.openxmlformats.org/drawingml/2006/main">
            <a:off x="5334000" y="3429000"/>
            <a:ext cx="5676900" cy="1276350"/>
          </a:xfrm>
          <a:prstGeom xmlns:a="http://schemas.openxmlformats.org/drawingml/2006/main" prst="roundRect">
            <a:avLst>
              <a:gd name="adj" fmla="val 5970"/>
            </a:avLst>
          </a:prstGeom>
          <a:solidFill xmlns:a="http://schemas.openxmlformats.org/drawingml/2006/main">
            <a:srgbClr val="2E3648"/>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84FDE753-7413-469F-8CAE-6E924CF4B1B6}"/>
              </a:ext>
            </a:extLst>
          </p:cNvPr>
          <p:cNvSpPr>
            <a:spLocks xmlns:a="http://schemas.openxmlformats.org/drawingml/2006/main" noGrp="1"/>
          </p:cNvSpPr>
          <p:nvPr/>
        </p:nvSpPr>
        <p:spPr>
          <a:xfrm xmlns:a="http://schemas.openxmlformats.org/drawingml/2006/main">
            <a:off x="5334000" y="3429000"/>
            <a:ext cx="57150" cy="12763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01E48121-689F-4A4B-B30A-F7CCAD18AFCB}"/>
              </a:ext>
            </a:extLst>
          </p:cNvPr>
          <p:cNvSpPr>
            <a:spLocks xmlns:a="http://schemas.openxmlformats.org/drawingml/2006/main" noGrp="1"/>
          </p:cNvSpPr>
          <p:nvPr/>
        </p:nvSpPr>
        <p:spPr>
          <a:xfrm xmlns:a="http://schemas.openxmlformats.org/drawingml/2006/main">
            <a:off x="5505450" y="3543300"/>
            <a:ext cx="5391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8F2E9"/>
                </a:solidFill>
                <a:latin typeface="Times New Roman"/>
                <a:ea typeface="Times New Roman"/>
                <a:cs typeface="Times New Roman"/>
              </a:defRPr>
            </a:pPr>
            <a:r>
              <a:rPr sz="1650" b="1" i="0">
                <a:solidFill>
                  <a:srgbClr val="F8F2E9"/>
                </a:solidFill>
                <a:latin typeface="Times New Roman"/>
                <a:ea typeface="Times New Roman"/>
                <a:cs typeface="Times New Roman"/>
              </a:rPr>
              <a:t>Core object</a:t>
            </a:r>
          </a:p>
        </p:txBody>
      </p:sp>
      <p:sp>
        <p:nvSpPr>
          <p:cNvPr id="15" name="">
            <a:extLst xmlns:a="http://schemas.openxmlformats.org/drawingml/2006/main">
              <a:ext uri="{FF2B5EF4-FFF2-40B4-BE49-F238E27FC236}">
                <a16:creationId xmlns:a16="http://schemas.microsoft.com/office/drawing/2014/main" id="{0077A541-64B5-4DAB-81D7-61A28DB1E533}"/>
              </a:ext>
            </a:extLst>
          </p:cNvPr>
          <p:cNvSpPr>
            <a:spLocks xmlns:a="http://schemas.openxmlformats.org/drawingml/2006/main" noGrp="1"/>
          </p:cNvSpPr>
          <p:nvPr/>
        </p:nvSpPr>
        <p:spPr>
          <a:xfrm xmlns:a="http://schemas.openxmlformats.org/drawingml/2006/main">
            <a:off x="5505450" y="3867150"/>
            <a:ext cx="5391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D8DCE6"/>
                </a:solidFill>
                <a:latin typeface="Times New Roman"/>
                <a:ea typeface="Times New Roman"/>
                <a:cs typeface="Times New Roman"/>
              </a:defRPr>
            </a:pPr>
            <a:r>
              <a:rPr sz="1275" b="0" i="0">
                <a:solidFill>
                  <a:srgbClr val="D8DCE6"/>
                </a:solidFill>
                <a:latin typeface="Times New Roman"/>
                <a:ea typeface="Times New Roman"/>
                <a:cs typeface="Times New Roman"/>
              </a:rPr>
              <a:t>The target is not one-shot trust. It is the path of AI adoption after local failure, feedback, and recovery.</a:t>
            </a:r>
          </a:p>
        </p:txBody>
      </p:sp>
      <p:sp>
        <p:nvSpPr>
          <p:cNvPr id="16" name="">
            <a:extLst xmlns:a="http://schemas.openxmlformats.org/drawingml/2006/main">
              <a:ext uri="{FF2B5EF4-FFF2-40B4-BE49-F238E27FC236}">
                <a16:creationId xmlns:a16="http://schemas.microsoft.com/office/drawing/2014/main" id="{C82BE0CD-F09D-466D-A060-7E1B277AC7DE}"/>
              </a:ext>
            </a:extLst>
          </p:cNvPr>
          <p:cNvSpPr>
            <a:spLocks xmlns:a="http://schemas.openxmlformats.org/drawingml/2006/main" noGrp="1"/>
          </p:cNvSpPr>
          <p:nvPr/>
        </p:nvSpPr>
        <p:spPr>
          <a:xfrm xmlns:a="http://schemas.openxmlformats.org/drawingml/2006/main">
            <a:off x="1200150" y="60769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1">
                <a:solidFill>
                  <a:srgbClr val="CDD3DF"/>
                </a:solidFill>
                <a:latin typeface="Times New Roman"/>
                <a:ea typeface="Times New Roman"/>
                <a:cs typeface="Times New Roman"/>
              </a:defRPr>
            </a:pPr>
            <a:r>
              <a:rPr sz="1125" b="0" i="1">
                <a:solidFill>
                  <a:srgbClr val="CDD3DF"/>
                </a:solidFill>
                <a:latin typeface="Times New Roman"/>
                <a:ea typeface="Times New Roman"/>
                <a:cs typeface="Times New Roman"/>
              </a:rPr>
              <a:t>Belief formation -&gt; reliance calibration / action threshold -&gt; responsibility</a:t>
            </a:r>
          </a:p>
        </p:txBody>
      </p:sp>
    </p:spTree>
    <p:extLst>
      <p:ext uri="{BB962C8B-B14F-4D97-AF65-F5344CB8AC3E}">
        <p14:creationId xmlns:p14="http://schemas.microsoft.com/office/powerpoint/2010/main" val="563326949"/>
      </p:ext>
    </p:extLst>
  </p:cSld>
</p:sld>
</file>

<file path=ppt/slides/slide2.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885A1C-E5BF-4B9F-8148-4ED2F7DCE3D6}"/>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20DA6905-D09E-4820-9BDF-6040A9715E60}"/>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2FBDDFB5-E307-47F1-B869-EC7D2AF84417}"/>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3B1BD3DB-B9C4-47FA-8D51-64B7C98885F0}"/>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EB19BE6C-5FA2-4D29-BCE3-17F3AFED1D04}"/>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CONCRETE ENTRY POINT</a:t>
            </a:r>
          </a:p>
        </p:txBody>
      </p:sp>
      <p:sp>
        <p:nvSpPr>
          <p:cNvPr id="6" name="">
            <a:extLst xmlns:a="http://schemas.openxmlformats.org/drawingml/2006/main">
              <a:ext uri="{FF2B5EF4-FFF2-40B4-BE49-F238E27FC236}">
                <a16:creationId xmlns:a16="http://schemas.microsoft.com/office/drawing/2014/main" id="{AD7A2309-0B40-4493-BB4F-BA7F29D3AAE8}"/>
              </a:ext>
            </a:extLst>
          </p:cNvPr>
          <p:cNvSpPr>
            <a:spLocks xmlns:a="http://schemas.openxmlformats.org/drawingml/2006/main" noGrp="1"/>
          </p:cNvSpPr>
          <p:nvPr/>
        </p:nvSpPr>
        <p:spPr>
          <a:xfrm xmlns:a="http://schemas.openxmlformats.org/drawingml/2006/main">
            <a:off x="914400" y="9144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E2433"/>
                </a:solidFill>
                <a:latin typeface="Times New Roman"/>
                <a:ea typeface="Times New Roman"/>
                <a:cs typeface="Times New Roman"/>
              </a:defRPr>
            </a:pPr>
            <a:r>
              <a:rPr sz="2700" b="1" i="0">
                <a:solidFill>
                  <a:srgbClr val="1E2433"/>
                </a:solidFill>
                <a:latin typeface="Times New Roman"/>
                <a:ea typeface="Times New Roman"/>
                <a:cs typeface="Times New Roman"/>
              </a:rPr>
              <a:t>A few early AI misses can change what people do next</a:t>
            </a:r>
          </a:p>
        </p:txBody>
      </p:sp>
      <p:sp>
        <p:nvSpPr>
          <p:cNvPr id="7" name="">
            <a:extLst xmlns:a="http://schemas.openxmlformats.org/drawingml/2006/main">
              <a:ext uri="{FF2B5EF4-FFF2-40B4-BE49-F238E27FC236}">
                <a16:creationId xmlns:a16="http://schemas.microsoft.com/office/drawing/2014/main" id="{69286604-EDF3-4EBB-A81C-6EA5998E6C4C}"/>
              </a:ext>
            </a:extLst>
          </p:cNvPr>
          <p:cNvSpPr>
            <a:spLocks xmlns:a="http://schemas.openxmlformats.org/drawingml/2006/main" noGrp="1"/>
          </p:cNvSpPr>
          <p:nvPr/>
        </p:nvSpPr>
        <p:spPr>
          <a:xfrm xmlns:a="http://schemas.openxmlformats.org/drawingml/2006/main">
            <a:off x="914400" y="14478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practical problem is not one wrong answer. It is the later reliance path after that answer.</a:t>
            </a:r>
          </a:p>
        </p:txBody>
      </p:sp>
      <p:sp>
        <p:nvSpPr>
          <p:cNvPr id="8" name="">
            <a:extLst xmlns:a="http://schemas.openxmlformats.org/drawingml/2006/main">
              <a:ext uri="{FF2B5EF4-FFF2-40B4-BE49-F238E27FC236}">
                <a16:creationId xmlns:a16="http://schemas.microsoft.com/office/drawing/2014/main" id="{F8A8F8CC-86BA-4803-99FB-BFD3D5EC27F1}"/>
              </a:ext>
            </a:extLst>
          </p:cNvPr>
          <p:cNvSpPr>
            <a:spLocks xmlns:a="http://schemas.openxmlformats.org/drawingml/2006/main" noGrp="1"/>
          </p:cNvSpPr>
          <p:nvPr/>
        </p:nvSpPr>
        <p:spPr>
          <a:xfrm xmlns:a="http://schemas.openxmlformats.org/drawingml/2006/main">
            <a:off x="914400" y="2133600"/>
            <a:ext cx="4876800" cy="2647950"/>
          </a:xfrm>
          <a:prstGeom xmlns:a="http://schemas.openxmlformats.org/drawingml/2006/main" prst="roundRect">
            <a:avLst>
              <a:gd name="adj" fmla="val 2878"/>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0C7E49FA-DAFF-4E63-BF24-43AAB2E77002}"/>
              </a:ext>
            </a:extLst>
          </p:cNvPr>
          <p:cNvSpPr>
            <a:spLocks xmlns:a="http://schemas.openxmlformats.org/drawingml/2006/main" noGrp="1"/>
          </p:cNvSpPr>
          <p:nvPr/>
        </p:nvSpPr>
        <p:spPr>
          <a:xfrm xmlns:a="http://schemas.openxmlformats.org/drawingml/2006/main">
            <a:off x="914400" y="2133600"/>
            <a:ext cx="57150" cy="26479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A1378C54-B4BC-452A-9A6C-E293D7D2E483}"/>
              </a:ext>
            </a:extLst>
          </p:cNvPr>
          <p:cNvSpPr>
            <a:spLocks xmlns:a="http://schemas.openxmlformats.org/drawingml/2006/main" noGrp="1"/>
          </p:cNvSpPr>
          <p:nvPr/>
        </p:nvSpPr>
        <p:spPr>
          <a:xfrm xmlns:a="http://schemas.openxmlformats.org/drawingml/2006/main">
            <a:off x="1085850" y="224790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Everyday intuition</a:t>
            </a:r>
          </a:p>
        </p:txBody>
      </p:sp>
      <p:sp>
        <p:nvSpPr>
          <p:cNvPr id="11" name="">
            <a:extLst xmlns:a="http://schemas.openxmlformats.org/drawingml/2006/main">
              <a:ext uri="{FF2B5EF4-FFF2-40B4-BE49-F238E27FC236}">
                <a16:creationId xmlns:a16="http://schemas.microsoft.com/office/drawing/2014/main" id="{096EFB29-3E24-48F4-BD18-5FF8FADF9811}"/>
              </a:ext>
            </a:extLst>
          </p:cNvPr>
          <p:cNvSpPr>
            <a:spLocks xmlns:a="http://schemas.openxmlformats.org/drawingml/2006/main" noGrp="1"/>
          </p:cNvSpPr>
          <p:nvPr/>
        </p:nvSpPr>
        <p:spPr>
          <a:xfrm xmlns:a="http://schemas.openxmlformats.org/drawingml/2006/main">
            <a:off x="1085850" y="25717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You try an AI tool for repeated weekly judgments. It gives two visibly bad suggestions early on. After that, you keep doing the task yourself, even when the system later starts performing well again.</a:t>
            </a:r>
          </a:p>
        </p:txBody>
      </p:sp>
      <p:sp>
        <p:nvSpPr>
          <p:cNvPr id="12" name="">
            <a:extLst xmlns:a="http://schemas.openxmlformats.org/drawingml/2006/main">
              <a:ext uri="{FF2B5EF4-FFF2-40B4-BE49-F238E27FC236}">
                <a16:creationId xmlns:a16="http://schemas.microsoft.com/office/drawing/2014/main" id="{C824C65A-E019-4DED-A5B5-5DA7BE4DC144}"/>
              </a:ext>
            </a:extLst>
          </p:cNvPr>
          <p:cNvSpPr>
            <a:spLocks xmlns:a="http://schemas.openxmlformats.org/drawingml/2006/main" noGrp="1"/>
          </p:cNvSpPr>
          <p:nvPr/>
        </p:nvSpPr>
        <p:spPr>
          <a:xfrm xmlns:a="http://schemas.openxmlformats.org/drawingml/2006/main">
            <a:off x="6362700" y="2133600"/>
            <a:ext cx="4876800" cy="2647950"/>
          </a:xfrm>
          <a:prstGeom xmlns:a="http://schemas.openxmlformats.org/drawingml/2006/main" prst="roundRect">
            <a:avLst>
              <a:gd name="adj" fmla="val 2878"/>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93809065-3F62-4FFA-97DA-14FDDD4C1A57}"/>
              </a:ext>
            </a:extLst>
          </p:cNvPr>
          <p:cNvSpPr>
            <a:spLocks xmlns:a="http://schemas.openxmlformats.org/drawingml/2006/main" noGrp="1"/>
          </p:cNvSpPr>
          <p:nvPr/>
        </p:nvSpPr>
        <p:spPr>
          <a:xfrm xmlns:a="http://schemas.openxmlformats.org/drawingml/2006/main">
            <a:off x="6362700" y="2133600"/>
            <a:ext cx="57150" cy="26479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4" name="">
            <a:extLst xmlns:a="http://schemas.openxmlformats.org/drawingml/2006/main">
              <a:ext uri="{FF2B5EF4-FFF2-40B4-BE49-F238E27FC236}">
                <a16:creationId xmlns:a16="http://schemas.microsoft.com/office/drawing/2014/main" id="{0E8B9BAE-A2BC-4D84-BC0A-84EB306DA562}"/>
              </a:ext>
            </a:extLst>
          </p:cNvPr>
          <p:cNvSpPr>
            <a:spLocks xmlns:a="http://schemas.openxmlformats.org/drawingml/2006/main" noGrp="1"/>
          </p:cNvSpPr>
          <p:nvPr/>
        </p:nvSpPr>
        <p:spPr>
          <a:xfrm xmlns:a="http://schemas.openxmlformats.org/drawingml/2006/main">
            <a:off x="6534150" y="224790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Why that matters</a:t>
            </a:r>
          </a:p>
        </p:txBody>
      </p:sp>
      <p:sp>
        <p:nvSpPr>
          <p:cNvPr id="15" name="">
            <a:extLst xmlns:a="http://schemas.openxmlformats.org/drawingml/2006/main">
              <a:ext uri="{FF2B5EF4-FFF2-40B4-BE49-F238E27FC236}">
                <a16:creationId xmlns:a16="http://schemas.microsoft.com/office/drawing/2014/main" id="{E68CD618-0269-45C8-BB01-AC03FBCCC943}"/>
              </a:ext>
            </a:extLst>
          </p:cNvPr>
          <p:cNvSpPr>
            <a:spLocks xmlns:a="http://schemas.openxmlformats.org/drawingml/2006/main" noGrp="1"/>
          </p:cNvSpPr>
          <p:nvPr/>
        </p:nvSpPr>
        <p:spPr>
          <a:xfrm xmlns:a="http://schemas.openxmlformats.org/drawingml/2006/main">
            <a:off x="6534150" y="25717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The interesting question is not whether AI was wrong once. It is whether an early local failure changes how later feedback is learned and whether AI gets another chance.</a:t>
            </a:r>
          </a:p>
        </p:txBody>
      </p:sp>
      <p:sp>
        <p:nvSpPr>
          <p:cNvPr id="16" name="">
            <a:extLst xmlns:a="http://schemas.openxmlformats.org/drawingml/2006/main">
              <a:ext uri="{FF2B5EF4-FFF2-40B4-BE49-F238E27FC236}">
                <a16:creationId xmlns:a16="http://schemas.microsoft.com/office/drawing/2014/main" id="{1EF15F54-6DBF-4518-9069-36C8405405BA}"/>
              </a:ext>
            </a:extLst>
          </p:cNvPr>
          <p:cNvSpPr>
            <a:spLocks xmlns:a="http://schemas.openxmlformats.org/drawingml/2006/main" noGrp="1"/>
          </p:cNvSpPr>
          <p:nvPr/>
        </p:nvSpPr>
        <p:spPr>
          <a:xfrm xmlns:a="http://schemas.openxmlformats.org/drawingml/2006/main">
            <a:off x="914400" y="5200650"/>
            <a:ext cx="10287000" cy="9525"/>
          </a:xfrm>
          <a:prstGeom xmlns:a="http://schemas.openxmlformats.org/drawingml/2006/main" prst="rect">
            <a:avLst/>
          </a:prstGeom>
          <a:solidFill xmlns:a="http://schemas.openxmlformats.org/drawingml/2006/main">
            <a:srgbClr val="E8DCCB"/>
          </a:solidFill>
          <a:ln xmlns:a="http://schemas.openxmlformats.org/drawingml/2006/main" w="0">
            <a:solidFill>
              <a:srgbClr val="E8DCCB"/>
            </a:solidFill>
            <a:prstDash val="solid"/>
          </a:ln>
        </p:spPr>
      </p:sp>
      <p:sp>
        <p:nvSpPr>
          <p:cNvPr id="17" name="">
            <a:extLst xmlns:a="http://schemas.openxmlformats.org/drawingml/2006/main">
              <a:ext uri="{FF2B5EF4-FFF2-40B4-BE49-F238E27FC236}">
                <a16:creationId xmlns:a16="http://schemas.microsoft.com/office/drawing/2014/main" id="{D529F7B9-5E82-49FD-B74E-608C522308FF}"/>
              </a:ext>
            </a:extLst>
          </p:cNvPr>
          <p:cNvSpPr>
            <a:spLocks xmlns:a="http://schemas.openxmlformats.org/drawingml/2006/main" noGrp="1"/>
          </p:cNvSpPr>
          <p:nvPr/>
        </p:nvSpPr>
        <p:spPr>
          <a:xfrm xmlns:a="http://schemas.openxmlformats.org/drawingml/2006/main">
            <a:off x="914400" y="54292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B45A3C"/>
                </a:solidFill>
                <a:latin typeface="Times New Roman"/>
                <a:ea typeface="Times New Roman"/>
                <a:cs typeface="Times New Roman"/>
              </a:defRPr>
            </a:pPr>
            <a:r>
              <a:rPr sz="1800" b="1" i="0">
                <a:solidFill>
                  <a:srgbClr val="B45A3C"/>
                </a:solidFill>
                <a:latin typeface="Times New Roman"/>
                <a:ea typeface="Times New Roman"/>
                <a:cs typeface="Times New Roman"/>
              </a:rPr>
              <a:t>Paper 2 turns that intuition into a repeated-feedback reliance problem rather than a one-shot trust problem.</a:t>
            </a:r>
          </a:p>
        </p:txBody>
      </p:sp>
    </p:spTree>
    <p:extLst>
      <p:ext uri="{BB962C8B-B14F-4D97-AF65-F5344CB8AC3E}">
        <p14:creationId xmlns:p14="http://schemas.microsoft.com/office/powerpoint/2010/main" val="2042573425"/>
      </p:ext>
    </p:extLst>
  </p:cSld>
</p:sld>
</file>

<file path=ppt/slides/slide3.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13C8694-597E-43B1-B7F0-7D859C30FB84}"/>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0F7C11CB-E45F-4258-B6F3-8F08E23079F7}"/>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6CE29335-6581-476D-892F-1ABBC2E05B45}"/>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2D9659F3-F784-44E5-8B18-C7140D41887B}"/>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9336482F-80BA-44BF-BE4A-9C2C2EA89452}"/>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EXISTING WORK</a:t>
            </a:r>
          </a:p>
        </p:txBody>
      </p:sp>
      <p:sp>
        <p:nvSpPr>
          <p:cNvPr id="6" name="">
            <a:extLst xmlns:a="http://schemas.openxmlformats.org/drawingml/2006/main">
              <a:ext uri="{FF2B5EF4-FFF2-40B4-BE49-F238E27FC236}">
                <a16:creationId xmlns:a16="http://schemas.microsoft.com/office/drawing/2014/main" id="{9A6846B9-75A3-45B1-AFBC-3ED3EAA12393}"/>
              </a:ext>
            </a:extLst>
          </p:cNvPr>
          <p:cNvSpPr>
            <a:spLocks xmlns:a="http://schemas.openxmlformats.org/drawingml/2006/main" noGrp="1"/>
          </p:cNvSpPr>
          <p:nvPr/>
        </p:nvSpPr>
        <p:spPr>
          <a:xfrm xmlns:a="http://schemas.openxmlformats.org/drawingml/2006/main">
            <a:off x="914400" y="914400"/>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1E2433"/>
                </a:solidFill>
                <a:latin typeface="Times New Roman"/>
                <a:ea typeface="Times New Roman"/>
                <a:cs typeface="Times New Roman"/>
              </a:defRPr>
            </a:pPr>
            <a:r>
              <a:rPr sz="2325" b="1" i="0">
                <a:solidFill>
                  <a:srgbClr val="1E2433"/>
                </a:solidFill>
                <a:latin typeface="Times New Roman"/>
                <a:ea typeface="Times New Roman"/>
                <a:cs typeface="Times New Roman"/>
              </a:rPr>
              <a:t>Existing work often stops at one-shot trust; the usual benchmark is rational recovery</a:t>
            </a:r>
          </a:p>
        </p:txBody>
      </p:sp>
      <p:sp>
        <p:nvSpPr>
          <p:cNvPr id="7" name="">
            <a:extLst xmlns:a="http://schemas.openxmlformats.org/drawingml/2006/main">
              <a:ext uri="{FF2B5EF4-FFF2-40B4-BE49-F238E27FC236}">
                <a16:creationId xmlns:a16="http://schemas.microsoft.com/office/drawing/2014/main" id="{3C33B564-687F-42B7-A528-36C8C9FFE950}"/>
              </a:ext>
            </a:extLst>
          </p:cNvPr>
          <p:cNvSpPr>
            <a:spLocks xmlns:a="http://schemas.openxmlformats.org/drawingml/2006/main" noGrp="1"/>
          </p:cNvSpPr>
          <p:nvPr/>
        </p:nvSpPr>
        <p:spPr>
          <a:xfrm xmlns:a="http://schemas.openxmlformats.org/drawingml/2006/main">
            <a:off x="914400" y="1676400"/>
            <a:ext cx="995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literature gives us useful pieces, but it rarely follows reliance after local failure and later recovery.</a:t>
            </a:r>
          </a:p>
        </p:txBody>
      </p:sp>
      <p:sp>
        <p:nvSpPr>
          <p:cNvPr id="8" name="">
            <a:extLst xmlns:a="http://schemas.openxmlformats.org/drawingml/2006/main">
              <a:ext uri="{FF2B5EF4-FFF2-40B4-BE49-F238E27FC236}">
                <a16:creationId xmlns:a16="http://schemas.microsoft.com/office/drawing/2014/main" id="{09D3C293-DFA2-4D59-937A-698042AEAE09}"/>
              </a:ext>
            </a:extLst>
          </p:cNvPr>
          <p:cNvSpPr>
            <a:spLocks xmlns:a="http://schemas.openxmlformats.org/drawingml/2006/main" noGrp="1"/>
          </p:cNvSpPr>
          <p:nvPr/>
        </p:nvSpPr>
        <p:spPr>
          <a:xfrm xmlns:a="http://schemas.openxmlformats.org/drawingml/2006/main">
            <a:off x="914400" y="2095500"/>
            <a:ext cx="3086100" cy="2724150"/>
          </a:xfrm>
          <a:prstGeom xmlns:a="http://schemas.openxmlformats.org/drawingml/2006/main" prst="roundRect">
            <a:avLst>
              <a:gd name="adj" fmla="val 2797"/>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31EF9E00-1070-4983-A0CB-E7D1F69BC52B}"/>
              </a:ext>
            </a:extLst>
          </p:cNvPr>
          <p:cNvSpPr>
            <a:spLocks xmlns:a="http://schemas.openxmlformats.org/drawingml/2006/main" noGrp="1"/>
          </p:cNvSpPr>
          <p:nvPr/>
        </p:nvSpPr>
        <p:spPr>
          <a:xfrm xmlns:a="http://schemas.openxmlformats.org/drawingml/2006/main">
            <a:off x="914400" y="2095500"/>
            <a:ext cx="57150" cy="27241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88AB996C-9577-4D15-AECE-7F29C3D08966}"/>
              </a:ext>
            </a:extLst>
          </p:cNvPr>
          <p:cNvSpPr>
            <a:spLocks xmlns:a="http://schemas.openxmlformats.org/drawingml/2006/main" noGrp="1"/>
          </p:cNvSpPr>
          <p:nvPr/>
        </p:nvSpPr>
        <p:spPr>
          <a:xfrm xmlns:a="http://schemas.openxmlformats.org/drawingml/2006/main">
            <a:off x="1085850" y="220980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Existing work often asks</a:t>
            </a:r>
          </a:p>
        </p:txBody>
      </p:sp>
      <p:sp>
        <p:nvSpPr>
          <p:cNvPr id="11" name="">
            <a:extLst xmlns:a="http://schemas.openxmlformats.org/drawingml/2006/main">
              <a:ext uri="{FF2B5EF4-FFF2-40B4-BE49-F238E27FC236}">
                <a16:creationId xmlns:a16="http://schemas.microsoft.com/office/drawing/2014/main" id="{223448BC-1386-441E-B7EB-0B49B5E39EFD}"/>
              </a:ext>
            </a:extLst>
          </p:cNvPr>
          <p:cNvSpPr>
            <a:spLocks xmlns:a="http://schemas.openxmlformats.org/drawingml/2006/main" noGrp="1"/>
          </p:cNvSpPr>
          <p:nvPr/>
        </p:nvSpPr>
        <p:spPr>
          <a:xfrm xmlns:a="http://schemas.openxmlformats.org/drawingml/2006/main">
            <a:off x="1085850" y="2533650"/>
            <a:ext cx="28003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Will people accept an AI suggestion?</a:t>
            </a:r>
          </a:p>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Will trust fall after a visible error?</a:t>
            </a:r>
          </a:p>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Will explanations or confidence cues change adoption?</a:t>
            </a:r>
          </a:p>
        </p:txBody>
      </p:sp>
      <p:sp>
        <p:nvSpPr>
          <p:cNvPr id="12" name="">
            <a:extLst xmlns:a="http://schemas.openxmlformats.org/drawingml/2006/main">
              <a:ext uri="{FF2B5EF4-FFF2-40B4-BE49-F238E27FC236}">
                <a16:creationId xmlns:a16="http://schemas.microsoft.com/office/drawing/2014/main" id="{BC018D20-B99D-41B1-B0B5-14A785D28BDC}"/>
              </a:ext>
            </a:extLst>
          </p:cNvPr>
          <p:cNvSpPr>
            <a:spLocks xmlns:a="http://schemas.openxmlformats.org/drawingml/2006/main" noGrp="1"/>
          </p:cNvSpPr>
          <p:nvPr/>
        </p:nvSpPr>
        <p:spPr>
          <a:xfrm xmlns:a="http://schemas.openxmlformats.org/drawingml/2006/main">
            <a:off x="4343400" y="2095500"/>
            <a:ext cx="3086100" cy="2724150"/>
          </a:xfrm>
          <a:prstGeom xmlns:a="http://schemas.openxmlformats.org/drawingml/2006/main" prst="roundRect">
            <a:avLst>
              <a:gd name="adj" fmla="val 2797"/>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82B70808-35E3-4AE8-8C1F-753315F59925}"/>
              </a:ext>
            </a:extLst>
          </p:cNvPr>
          <p:cNvSpPr>
            <a:spLocks xmlns:a="http://schemas.openxmlformats.org/drawingml/2006/main" noGrp="1"/>
          </p:cNvSpPr>
          <p:nvPr/>
        </p:nvSpPr>
        <p:spPr>
          <a:xfrm xmlns:a="http://schemas.openxmlformats.org/drawingml/2006/main">
            <a:off x="4343400" y="2095500"/>
            <a:ext cx="57150" cy="27241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3C939CBE-FFA0-4434-8A44-EAFD20219896}"/>
              </a:ext>
            </a:extLst>
          </p:cNvPr>
          <p:cNvSpPr>
            <a:spLocks xmlns:a="http://schemas.openxmlformats.org/drawingml/2006/main" noGrp="1"/>
          </p:cNvSpPr>
          <p:nvPr/>
        </p:nvSpPr>
        <p:spPr>
          <a:xfrm xmlns:a="http://schemas.openxmlformats.org/drawingml/2006/main">
            <a:off x="4514850" y="220980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Traditional benchmark</a:t>
            </a:r>
          </a:p>
        </p:txBody>
      </p:sp>
      <p:sp>
        <p:nvSpPr>
          <p:cNvPr id="15" name="">
            <a:extLst xmlns:a="http://schemas.openxmlformats.org/drawingml/2006/main">
              <a:ext uri="{FF2B5EF4-FFF2-40B4-BE49-F238E27FC236}">
                <a16:creationId xmlns:a16="http://schemas.microsoft.com/office/drawing/2014/main" id="{B8BB7920-9F44-4B02-8C06-791CC930816E}"/>
              </a:ext>
            </a:extLst>
          </p:cNvPr>
          <p:cNvSpPr>
            <a:spLocks xmlns:a="http://schemas.openxmlformats.org/drawingml/2006/main" noGrp="1"/>
          </p:cNvSpPr>
          <p:nvPr/>
        </p:nvSpPr>
        <p:spPr>
          <a:xfrm xmlns:a="http://schemas.openxmlformats.org/drawingml/2006/main">
            <a:off x="4514850" y="2533650"/>
            <a:ext cx="28003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If people observe relative performance, later reliance should recover when AI again outperforms self.</a:t>
            </a:r>
          </a:p>
        </p:txBody>
      </p:sp>
      <p:sp>
        <p:nvSpPr>
          <p:cNvPr id="16" name="">
            <a:extLst xmlns:a="http://schemas.openxmlformats.org/drawingml/2006/main">
              <a:ext uri="{FF2B5EF4-FFF2-40B4-BE49-F238E27FC236}">
                <a16:creationId xmlns:a16="http://schemas.microsoft.com/office/drawing/2014/main" id="{88F2E3F3-1C06-4D14-8C1A-4941EDE5BD5F}"/>
              </a:ext>
            </a:extLst>
          </p:cNvPr>
          <p:cNvSpPr>
            <a:spLocks xmlns:a="http://schemas.openxmlformats.org/drawingml/2006/main" noGrp="1"/>
          </p:cNvSpPr>
          <p:nvPr/>
        </p:nvSpPr>
        <p:spPr>
          <a:xfrm xmlns:a="http://schemas.openxmlformats.org/drawingml/2006/main">
            <a:off x="7772400" y="2095500"/>
            <a:ext cx="3467100" cy="2724150"/>
          </a:xfrm>
          <a:prstGeom xmlns:a="http://schemas.openxmlformats.org/drawingml/2006/main" prst="roundRect">
            <a:avLst>
              <a:gd name="adj" fmla="val 2797"/>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C2DF6425-6190-4810-8399-76BF36C9CE6A}"/>
              </a:ext>
            </a:extLst>
          </p:cNvPr>
          <p:cNvSpPr>
            <a:spLocks xmlns:a="http://schemas.openxmlformats.org/drawingml/2006/main" noGrp="1"/>
          </p:cNvSpPr>
          <p:nvPr/>
        </p:nvSpPr>
        <p:spPr>
          <a:xfrm xmlns:a="http://schemas.openxmlformats.org/drawingml/2006/main">
            <a:off x="7772400" y="2095500"/>
            <a:ext cx="57150" cy="27241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8" name="">
            <a:extLst xmlns:a="http://schemas.openxmlformats.org/drawingml/2006/main">
              <a:ext uri="{FF2B5EF4-FFF2-40B4-BE49-F238E27FC236}">
                <a16:creationId xmlns:a16="http://schemas.microsoft.com/office/drawing/2014/main" id="{8F9FB3BA-D68C-431B-9570-8B994A2D86EC}"/>
              </a:ext>
            </a:extLst>
          </p:cNvPr>
          <p:cNvSpPr>
            <a:spLocks xmlns:a="http://schemas.openxmlformats.org/drawingml/2006/main" noGrp="1"/>
          </p:cNvSpPr>
          <p:nvPr/>
        </p:nvSpPr>
        <p:spPr>
          <a:xfrm xmlns:a="http://schemas.openxmlformats.org/drawingml/2006/main">
            <a:off x="7943850" y="2209800"/>
            <a:ext cx="318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What this implies</a:t>
            </a:r>
          </a:p>
        </p:txBody>
      </p:sp>
      <p:sp>
        <p:nvSpPr>
          <p:cNvPr id="19" name="">
            <a:extLst xmlns:a="http://schemas.openxmlformats.org/drawingml/2006/main">
              <a:ext uri="{FF2B5EF4-FFF2-40B4-BE49-F238E27FC236}">
                <a16:creationId xmlns:a16="http://schemas.microsoft.com/office/drawing/2014/main" id="{75D5B0DC-CDD2-4BA4-9475-AA1E6F6D40CC}"/>
              </a:ext>
            </a:extLst>
          </p:cNvPr>
          <p:cNvSpPr>
            <a:spLocks xmlns:a="http://schemas.openxmlformats.org/drawingml/2006/main" noGrp="1"/>
          </p:cNvSpPr>
          <p:nvPr/>
        </p:nvSpPr>
        <p:spPr>
          <a:xfrm xmlns:a="http://schemas.openxmlformats.org/drawingml/2006/main">
            <a:off x="7943850" y="2533650"/>
            <a:ext cx="3181350"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Under a source-neutral learning view, local failure should matter only temporarily. Better later performance should pull adoption back up.</a:t>
            </a:r>
          </a:p>
        </p:txBody>
      </p:sp>
      <p:sp>
        <p:nvSpPr>
          <p:cNvPr id="20" name="">
            <a:extLst xmlns:a="http://schemas.openxmlformats.org/drawingml/2006/main">
              <a:ext uri="{FF2B5EF4-FFF2-40B4-BE49-F238E27FC236}">
                <a16:creationId xmlns:a16="http://schemas.microsoft.com/office/drawing/2014/main" id="{E78D64A0-7B03-4183-B957-A9B322FD80D7}"/>
              </a:ext>
            </a:extLst>
          </p:cNvPr>
          <p:cNvSpPr>
            <a:spLocks xmlns:a="http://schemas.openxmlformats.org/drawingml/2006/main" noGrp="1"/>
          </p:cNvSpPr>
          <p:nvPr/>
        </p:nvSpPr>
        <p:spPr>
          <a:xfrm xmlns:a="http://schemas.openxmlformats.org/drawingml/2006/main">
            <a:off x="914400" y="516255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B45A3C"/>
                </a:solidFill>
                <a:latin typeface="Times New Roman"/>
                <a:ea typeface="Times New Roman"/>
                <a:cs typeface="Times New Roman"/>
              </a:defRPr>
            </a:pPr>
            <a:r>
              <a:rPr sz="1725" b="1" i="0">
                <a:solidFill>
                  <a:srgbClr val="B45A3C"/>
                </a:solidFill>
                <a:latin typeface="Times New Roman"/>
                <a:ea typeface="Times New Roman"/>
                <a:cs typeface="Times New Roman"/>
              </a:rPr>
              <a:t>So the standard view predicts recovery. That is exactly why persistent under-reliance is an interesting empirical problem.</a:t>
            </a:r>
          </a:p>
        </p:txBody>
      </p:sp>
    </p:spTree>
    <p:extLst>
      <p:ext uri="{BB962C8B-B14F-4D97-AF65-F5344CB8AC3E}">
        <p14:creationId xmlns:p14="http://schemas.microsoft.com/office/powerpoint/2010/main" val="628113914"/>
      </p:ext>
    </p:extLst>
  </p:cSld>
</p:sld>
</file>

<file path=ppt/slides/slide4.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BC11A7-8824-43A1-A40E-0F6D357C2209}"/>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6D9B3AD9-FCD4-4133-A2E9-E63D2A395203}"/>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0A3FA1A5-6126-4A3C-B230-189DBBB06B74}"/>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6D37A620-74AC-4689-B309-247C937A6CB1}"/>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B6A34575-2735-44EF-94E4-D1B68E029898}"/>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GAP</a:t>
            </a:r>
          </a:p>
        </p:txBody>
      </p:sp>
      <p:sp>
        <p:nvSpPr>
          <p:cNvPr id="6" name="">
            <a:extLst xmlns:a="http://schemas.openxmlformats.org/drawingml/2006/main">
              <a:ext uri="{FF2B5EF4-FFF2-40B4-BE49-F238E27FC236}">
                <a16:creationId xmlns:a16="http://schemas.microsoft.com/office/drawing/2014/main" id="{D90C547D-CAE3-4F5D-9A52-4BDE5EF499A1}"/>
              </a:ext>
            </a:extLst>
          </p:cNvPr>
          <p:cNvSpPr>
            <a:spLocks xmlns:a="http://schemas.openxmlformats.org/drawingml/2006/main" noGrp="1"/>
          </p:cNvSpPr>
          <p:nvPr/>
        </p:nvSpPr>
        <p:spPr>
          <a:xfrm xmlns:a="http://schemas.openxmlformats.org/drawingml/2006/main">
            <a:off x="914400" y="914400"/>
            <a:ext cx="1009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E2433"/>
                </a:solidFill>
                <a:latin typeface="Times New Roman"/>
                <a:ea typeface="Times New Roman"/>
                <a:cs typeface="Times New Roman"/>
              </a:defRPr>
            </a:pPr>
            <a:r>
              <a:rPr sz="2700" b="1" i="0">
                <a:solidFill>
                  <a:srgbClr val="1E2433"/>
                </a:solidFill>
                <a:latin typeface="Times New Roman"/>
                <a:ea typeface="Times New Roman"/>
                <a:cs typeface="Times New Roman"/>
              </a:rPr>
              <a:t>What remains unresolved is the path after a local AI failure</a:t>
            </a:r>
          </a:p>
        </p:txBody>
      </p:sp>
      <p:sp>
        <p:nvSpPr>
          <p:cNvPr id="7" name="">
            <a:extLst xmlns:a="http://schemas.openxmlformats.org/drawingml/2006/main">
              <a:ext uri="{FF2B5EF4-FFF2-40B4-BE49-F238E27FC236}">
                <a16:creationId xmlns:a16="http://schemas.microsoft.com/office/drawing/2014/main" id="{BBBC45BE-95E0-4976-AC04-BC5F187BBB42}"/>
              </a:ext>
            </a:extLst>
          </p:cNvPr>
          <p:cNvSpPr>
            <a:spLocks xmlns:a="http://schemas.openxmlformats.org/drawingml/2006/main" noGrp="1"/>
          </p:cNvSpPr>
          <p:nvPr/>
        </p:nvSpPr>
        <p:spPr>
          <a:xfrm xmlns:a="http://schemas.openxmlformats.org/drawingml/2006/main">
            <a:off x="914400" y="14478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gap is not a missing detail. It is the missing dynamic link between local failure and later decision architecture.</a:t>
            </a:r>
          </a:p>
        </p:txBody>
      </p:sp>
      <p:sp>
        <p:nvSpPr>
          <p:cNvPr id="8" name="">
            <a:extLst xmlns:a="http://schemas.openxmlformats.org/drawingml/2006/main">
              <a:ext uri="{FF2B5EF4-FFF2-40B4-BE49-F238E27FC236}">
                <a16:creationId xmlns:a16="http://schemas.microsoft.com/office/drawing/2014/main" id="{E1BA1D0E-21FF-480E-94F8-A47DE9E2362E}"/>
              </a:ext>
            </a:extLst>
          </p:cNvPr>
          <p:cNvSpPr>
            <a:spLocks xmlns:a="http://schemas.openxmlformats.org/drawingml/2006/main" noGrp="1"/>
          </p:cNvSpPr>
          <p:nvPr/>
        </p:nvSpPr>
        <p:spPr>
          <a:xfrm xmlns:a="http://schemas.openxmlformats.org/drawingml/2006/main">
            <a:off x="914400" y="2152650"/>
            <a:ext cx="10287000" cy="1009650"/>
          </a:xfrm>
          <a:prstGeom xmlns:a="http://schemas.openxmlformats.org/drawingml/2006/main" prst="roundRect">
            <a:avLst>
              <a:gd name="adj" fmla="val 7547"/>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402FD604-8386-4ADD-B645-7AB475CB7602}"/>
              </a:ext>
            </a:extLst>
          </p:cNvPr>
          <p:cNvSpPr>
            <a:spLocks xmlns:a="http://schemas.openxmlformats.org/drawingml/2006/main" noGrp="1"/>
          </p:cNvSpPr>
          <p:nvPr/>
        </p:nvSpPr>
        <p:spPr>
          <a:xfrm xmlns:a="http://schemas.openxmlformats.org/drawingml/2006/main">
            <a:off x="914400" y="2152650"/>
            <a:ext cx="57150" cy="10096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0" name="">
            <a:extLst xmlns:a="http://schemas.openxmlformats.org/drawingml/2006/main">
              <a:ext uri="{FF2B5EF4-FFF2-40B4-BE49-F238E27FC236}">
                <a16:creationId xmlns:a16="http://schemas.microsoft.com/office/drawing/2014/main" id="{1487B607-D846-44FC-925B-BAED5C9D3F99}"/>
              </a:ext>
            </a:extLst>
          </p:cNvPr>
          <p:cNvSpPr>
            <a:spLocks xmlns:a="http://schemas.openxmlformats.org/drawingml/2006/main" noGrp="1"/>
          </p:cNvSpPr>
          <p:nvPr/>
        </p:nvSpPr>
        <p:spPr>
          <a:xfrm xmlns:a="http://schemas.openxmlformats.org/drawingml/2006/main">
            <a:off x="1085850" y="22669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What has been done</a:t>
            </a:r>
          </a:p>
        </p:txBody>
      </p:sp>
      <p:sp>
        <p:nvSpPr>
          <p:cNvPr id="11" name="">
            <a:extLst xmlns:a="http://schemas.openxmlformats.org/drawingml/2006/main">
              <a:ext uri="{FF2B5EF4-FFF2-40B4-BE49-F238E27FC236}">
                <a16:creationId xmlns:a16="http://schemas.microsoft.com/office/drawing/2014/main" id="{75A2E74D-CEB2-4C12-9E92-4798A8900C15}"/>
              </a:ext>
            </a:extLst>
          </p:cNvPr>
          <p:cNvSpPr>
            <a:spLocks xmlns:a="http://schemas.openxmlformats.org/drawingml/2006/main" noGrp="1"/>
          </p:cNvSpPr>
          <p:nvPr/>
        </p:nvSpPr>
        <p:spPr>
          <a:xfrm xmlns:a="http://schemas.openxmlformats.org/drawingml/2006/main">
            <a:off x="1085850" y="25908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Single-round aversion and short-run trust adjustment are well documented.</a:t>
            </a:r>
          </a:p>
        </p:txBody>
      </p:sp>
      <p:sp>
        <p:nvSpPr>
          <p:cNvPr id="12" name="">
            <a:extLst xmlns:a="http://schemas.openxmlformats.org/drawingml/2006/main">
              <a:ext uri="{FF2B5EF4-FFF2-40B4-BE49-F238E27FC236}">
                <a16:creationId xmlns:a16="http://schemas.microsoft.com/office/drawing/2014/main" id="{0C100D82-E0EA-4458-955B-4AB5616277AD}"/>
              </a:ext>
            </a:extLst>
          </p:cNvPr>
          <p:cNvSpPr>
            <a:spLocks xmlns:a="http://schemas.openxmlformats.org/drawingml/2006/main" noGrp="1"/>
          </p:cNvSpPr>
          <p:nvPr/>
        </p:nvSpPr>
        <p:spPr>
          <a:xfrm xmlns:a="http://schemas.openxmlformats.org/drawingml/2006/main">
            <a:off x="914400" y="3333750"/>
            <a:ext cx="10287000" cy="1009650"/>
          </a:xfrm>
          <a:prstGeom xmlns:a="http://schemas.openxmlformats.org/drawingml/2006/main" prst="roundRect">
            <a:avLst>
              <a:gd name="adj" fmla="val 7547"/>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23AE24AE-7459-4905-B9ED-6395FB0AAEA9}"/>
              </a:ext>
            </a:extLst>
          </p:cNvPr>
          <p:cNvSpPr>
            <a:spLocks xmlns:a="http://schemas.openxmlformats.org/drawingml/2006/main" noGrp="1"/>
          </p:cNvSpPr>
          <p:nvPr/>
        </p:nvSpPr>
        <p:spPr>
          <a:xfrm xmlns:a="http://schemas.openxmlformats.org/drawingml/2006/main">
            <a:off x="914400" y="3333750"/>
            <a:ext cx="57150" cy="10096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4" name="">
            <a:extLst xmlns:a="http://schemas.openxmlformats.org/drawingml/2006/main">
              <a:ext uri="{FF2B5EF4-FFF2-40B4-BE49-F238E27FC236}">
                <a16:creationId xmlns:a16="http://schemas.microsoft.com/office/drawing/2014/main" id="{0B02A8E6-E322-4385-81D9-7CD73FCD1B2D}"/>
              </a:ext>
            </a:extLst>
          </p:cNvPr>
          <p:cNvSpPr>
            <a:spLocks xmlns:a="http://schemas.openxmlformats.org/drawingml/2006/main" noGrp="1"/>
          </p:cNvSpPr>
          <p:nvPr/>
        </p:nvSpPr>
        <p:spPr>
          <a:xfrm xmlns:a="http://schemas.openxmlformats.org/drawingml/2006/main">
            <a:off x="1085850" y="34480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What remains unresolved</a:t>
            </a:r>
          </a:p>
        </p:txBody>
      </p:sp>
      <p:sp>
        <p:nvSpPr>
          <p:cNvPr id="15" name="">
            <a:extLst xmlns:a="http://schemas.openxmlformats.org/drawingml/2006/main">
              <a:ext uri="{FF2B5EF4-FFF2-40B4-BE49-F238E27FC236}">
                <a16:creationId xmlns:a16="http://schemas.microsoft.com/office/drawing/2014/main" id="{EE8CB1B3-C625-4D1B-926C-943118304491}"/>
              </a:ext>
            </a:extLst>
          </p:cNvPr>
          <p:cNvSpPr>
            <a:spLocks xmlns:a="http://schemas.openxmlformats.org/drawingml/2006/main" noGrp="1"/>
          </p:cNvSpPr>
          <p:nvPr/>
        </p:nvSpPr>
        <p:spPr>
          <a:xfrm xmlns:a="http://schemas.openxmlformats.org/drawingml/2006/main">
            <a:off x="1085850" y="37719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We still do not know whether local AI failure bends the later reliance path after full feedback and later recovery.</a:t>
            </a:r>
          </a:p>
        </p:txBody>
      </p:sp>
      <p:sp>
        <p:nvSpPr>
          <p:cNvPr id="16" name="">
            <a:extLst xmlns:a="http://schemas.openxmlformats.org/drawingml/2006/main">
              <a:ext uri="{FF2B5EF4-FFF2-40B4-BE49-F238E27FC236}">
                <a16:creationId xmlns:a16="http://schemas.microsoft.com/office/drawing/2014/main" id="{67D04743-CD8D-4F06-A701-2EB2E5CE16E7}"/>
              </a:ext>
            </a:extLst>
          </p:cNvPr>
          <p:cNvSpPr>
            <a:spLocks xmlns:a="http://schemas.openxmlformats.org/drawingml/2006/main" noGrp="1"/>
          </p:cNvSpPr>
          <p:nvPr/>
        </p:nvSpPr>
        <p:spPr>
          <a:xfrm xmlns:a="http://schemas.openxmlformats.org/drawingml/2006/main">
            <a:off x="914400" y="4514850"/>
            <a:ext cx="10287000" cy="1009650"/>
          </a:xfrm>
          <a:prstGeom xmlns:a="http://schemas.openxmlformats.org/drawingml/2006/main" prst="roundRect">
            <a:avLst>
              <a:gd name="adj" fmla="val 7547"/>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B166E0C7-F5E0-4887-B071-FE8F6464642F}"/>
              </a:ext>
            </a:extLst>
          </p:cNvPr>
          <p:cNvSpPr>
            <a:spLocks xmlns:a="http://schemas.openxmlformats.org/drawingml/2006/main" noGrp="1"/>
          </p:cNvSpPr>
          <p:nvPr/>
        </p:nvSpPr>
        <p:spPr>
          <a:xfrm xmlns:a="http://schemas.openxmlformats.org/drawingml/2006/main">
            <a:off x="914400" y="4514850"/>
            <a:ext cx="57150" cy="10096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8" name="">
            <a:extLst xmlns:a="http://schemas.openxmlformats.org/drawingml/2006/main">
              <a:ext uri="{FF2B5EF4-FFF2-40B4-BE49-F238E27FC236}">
                <a16:creationId xmlns:a16="http://schemas.microsoft.com/office/drawing/2014/main" id="{E0A4AE9F-219E-42BA-83B0-94ECB1A382F7}"/>
              </a:ext>
            </a:extLst>
          </p:cNvPr>
          <p:cNvSpPr>
            <a:spLocks xmlns:a="http://schemas.openxmlformats.org/drawingml/2006/main" noGrp="1"/>
          </p:cNvSpPr>
          <p:nvPr/>
        </p:nvSpPr>
        <p:spPr>
          <a:xfrm xmlns:a="http://schemas.openxmlformats.org/drawingml/2006/main">
            <a:off x="1085850" y="46291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Why that matters</a:t>
            </a:r>
          </a:p>
        </p:txBody>
      </p:sp>
      <p:sp>
        <p:nvSpPr>
          <p:cNvPr id="19" name="">
            <a:extLst xmlns:a="http://schemas.openxmlformats.org/drawingml/2006/main">
              <a:ext uri="{FF2B5EF4-FFF2-40B4-BE49-F238E27FC236}">
                <a16:creationId xmlns:a16="http://schemas.microsoft.com/office/drawing/2014/main" id="{9AF89C20-FD51-4107-8598-A2E6F72F5BA2}"/>
              </a:ext>
            </a:extLst>
          </p:cNvPr>
          <p:cNvSpPr>
            <a:spLocks xmlns:a="http://schemas.openxmlformats.org/drawingml/2006/main" noGrp="1"/>
          </p:cNvSpPr>
          <p:nvPr/>
        </p:nvSpPr>
        <p:spPr>
          <a:xfrm xmlns:a="http://schemas.openxmlformats.org/drawingml/2006/main">
            <a:off x="1085850" y="4953000"/>
            <a:ext cx="1000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If reliance does not recover, the cost of AI error is not only current performance loss. It is a path-dependent shift toward self-reliance.</a:t>
            </a:r>
          </a:p>
        </p:txBody>
      </p:sp>
      <p:sp>
        <p:nvSpPr>
          <p:cNvPr id="20" name="">
            <a:extLst xmlns:a="http://schemas.openxmlformats.org/drawingml/2006/main">
              <a:ext uri="{FF2B5EF4-FFF2-40B4-BE49-F238E27FC236}">
                <a16:creationId xmlns:a16="http://schemas.microsoft.com/office/drawing/2014/main" id="{F28E656B-DEE4-4491-A417-0B11443C01D7}"/>
              </a:ext>
            </a:extLst>
          </p:cNvPr>
          <p:cNvSpPr>
            <a:spLocks xmlns:a="http://schemas.openxmlformats.org/drawingml/2006/main" noGrp="1"/>
          </p:cNvSpPr>
          <p:nvPr/>
        </p:nvSpPr>
        <p:spPr>
          <a:xfrm xmlns:a="http://schemas.openxmlformats.org/drawingml/2006/main">
            <a:off x="914400" y="58102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0" i="1">
                <a:solidFill>
                  <a:srgbClr val="5E6675"/>
                </a:solidFill>
                <a:latin typeface="Times New Roman"/>
                <a:ea typeface="Times New Roman"/>
                <a:cs typeface="Times New Roman"/>
              </a:defRPr>
            </a:pPr>
            <a:r>
              <a:rPr sz="1500" b="0" i="1">
                <a:solidFill>
                  <a:srgbClr val="5E6675"/>
                </a:solidFill>
                <a:latin typeface="Times New Roman"/>
                <a:ea typeface="Times New Roman"/>
                <a:cs typeface="Times New Roman"/>
              </a:rPr>
              <a:t>The contribution of Paper 2 begins by isolating that unresolved path.</a:t>
            </a:r>
          </a:p>
        </p:txBody>
      </p:sp>
    </p:spTree>
    <p:extLst>
      <p:ext uri="{BB962C8B-B14F-4D97-AF65-F5344CB8AC3E}">
        <p14:creationId xmlns:p14="http://schemas.microsoft.com/office/powerpoint/2010/main" val="224683427"/>
      </p:ext>
    </p:extLst>
  </p:cSld>
</p:sld>
</file>

<file path=ppt/slides/slide5.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A4D0E5-DF1D-457D-A232-F9EAC932CA74}"/>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802A28D0-636F-4E4C-8B7E-675199C16993}"/>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6ACB86ED-E684-42C5-823B-C8CE8EE6304A}"/>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199263AF-04EB-4344-BFF3-4E55F4144E6D}"/>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311CC2A5-4ADB-45EB-AB33-1DAE5E130F39}"/>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RQ AND FRAMING</a:t>
            </a:r>
          </a:p>
        </p:txBody>
      </p:sp>
      <p:sp>
        <p:nvSpPr>
          <p:cNvPr id="6" name="">
            <a:extLst xmlns:a="http://schemas.openxmlformats.org/drawingml/2006/main">
              <a:ext uri="{FF2B5EF4-FFF2-40B4-BE49-F238E27FC236}">
                <a16:creationId xmlns:a16="http://schemas.microsoft.com/office/drawing/2014/main" id="{89D44543-DAAF-4AF7-AC2F-4B854404284B}"/>
              </a:ext>
            </a:extLst>
          </p:cNvPr>
          <p:cNvSpPr>
            <a:spLocks xmlns:a="http://schemas.openxmlformats.org/drawingml/2006/main" noGrp="1"/>
          </p:cNvSpPr>
          <p:nvPr/>
        </p:nvSpPr>
        <p:spPr>
          <a:xfrm xmlns:a="http://schemas.openxmlformats.org/drawingml/2006/main">
            <a:off x="914400" y="914400"/>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i="0">
                <a:solidFill>
                  <a:srgbClr val="1E2433"/>
                </a:solidFill>
                <a:latin typeface="Times New Roman"/>
                <a:ea typeface="Times New Roman"/>
                <a:cs typeface="Times New Roman"/>
              </a:defRPr>
            </a:pPr>
            <a:r>
              <a:rPr sz="2625" b="1" i="0">
                <a:solidFill>
                  <a:srgbClr val="1E2433"/>
                </a:solidFill>
                <a:latin typeface="Times New Roman"/>
                <a:ea typeface="Times New Roman"/>
                <a:cs typeface="Times New Roman"/>
              </a:rPr>
              <a:t>The gap leads to linked questions and one analytical framing</a:t>
            </a:r>
          </a:p>
        </p:txBody>
      </p:sp>
      <p:sp>
        <p:nvSpPr>
          <p:cNvPr id="7" name="">
            <a:extLst xmlns:a="http://schemas.openxmlformats.org/drawingml/2006/main">
              <a:ext uri="{FF2B5EF4-FFF2-40B4-BE49-F238E27FC236}">
                <a16:creationId xmlns:a16="http://schemas.microsoft.com/office/drawing/2014/main" id="{9E9B065E-03B6-46F0-A5C1-11DAA1265304}"/>
              </a:ext>
            </a:extLst>
          </p:cNvPr>
          <p:cNvSpPr>
            <a:spLocks xmlns:a="http://schemas.openxmlformats.org/drawingml/2006/main" noGrp="1"/>
          </p:cNvSpPr>
          <p:nvPr/>
        </p:nvSpPr>
        <p:spPr>
          <a:xfrm xmlns:a="http://schemas.openxmlformats.org/drawingml/2006/main">
            <a:off x="914400" y="14478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paper does not frame the problem as generic trust. It frames it as dynamic reliance under repeated feedback.</a:t>
            </a:r>
          </a:p>
        </p:txBody>
      </p:sp>
      <p:sp>
        <p:nvSpPr>
          <p:cNvPr id="8" name="">
            <a:extLst xmlns:a="http://schemas.openxmlformats.org/drawingml/2006/main">
              <a:ext uri="{FF2B5EF4-FFF2-40B4-BE49-F238E27FC236}">
                <a16:creationId xmlns:a16="http://schemas.microsoft.com/office/drawing/2014/main" id="{328EBB81-4A31-4305-B39F-E2019D0D90F2}"/>
              </a:ext>
            </a:extLst>
          </p:cNvPr>
          <p:cNvSpPr>
            <a:spLocks xmlns:a="http://schemas.openxmlformats.org/drawingml/2006/main" noGrp="1"/>
          </p:cNvSpPr>
          <p:nvPr/>
        </p:nvSpPr>
        <p:spPr>
          <a:xfrm xmlns:a="http://schemas.openxmlformats.org/drawingml/2006/main">
            <a:off x="914400" y="2095500"/>
            <a:ext cx="4953000" cy="3181350"/>
          </a:xfrm>
          <a:prstGeom xmlns:a="http://schemas.openxmlformats.org/drawingml/2006/main" prst="roundRect">
            <a:avLst>
              <a:gd name="adj" fmla="val 2395"/>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B69F6EE9-9C07-4528-ACCE-6CC5CE474E99}"/>
              </a:ext>
            </a:extLst>
          </p:cNvPr>
          <p:cNvSpPr>
            <a:spLocks xmlns:a="http://schemas.openxmlformats.org/drawingml/2006/main" noGrp="1"/>
          </p:cNvSpPr>
          <p:nvPr/>
        </p:nvSpPr>
        <p:spPr>
          <a:xfrm xmlns:a="http://schemas.openxmlformats.org/drawingml/2006/main">
            <a:off x="914400" y="2095500"/>
            <a:ext cx="57150" cy="31813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C49FD981-D913-4674-90D7-4BF32932A8CB}"/>
              </a:ext>
            </a:extLst>
          </p:cNvPr>
          <p:cNvSpPr>
            <a:spLocks xmlns:a="http://schemas.openxmlformats.org/drawingml/2006/main" noGrp="1"/>
          </p:cNvSpPr>
          <p:nvPr/>
        </p:nvSpPr>
        <p:spPr>
          <a:xfrm xmlns:a="http://schemas.openxmlformats.org/drawingml/2006/main">
            <a:off x="1085850" y="220980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Three linked questions</a:t>
            </a:r>
          </a:p>
        </p:txBody>
      </p:sp>
      <p:sp>
        <p:nvSpPr>
          <p:cNvPr id="11" name="">
            <a:extLst xmlns:a="http://schemas.openxmlformats.org/drawingml/2006/main">
              <a:ext uri="{FF2B5EF4-FFF2-40B4-BE49-F238E27FC236}">
                <a16:creationId xmlns:a16="http://schemas.microsoft.com/office/drawing/2014/main" id="{84848B71-F250-4239-BB75-61B82852AD63}"/>
              </a:ext>
            </a:extLst>
          </p:cNvPr>
          <p:cNvSpPr>
            <a:spLocks xmlns:a="http://schemas.openxmlformats.org/drawingml/2006/main" noGrp="1"/>
          </p:cNvSpPr>
          <p:nvPr/>
        </p:nvSpPr>
        <p:spPr>
          <a:xfrm xmlns:a="http://schemas.openxmlformats.org/drawingml/2006/main">
            <a:off x="1085850" y="2533650"/>
            <a:ext cx="466725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RQ1  Does reliance move with relative AI versus self performance?</a:t>
            </a:r>
          </a:p>
          <a:p xmlns:a="http://schemas.openxmlformats.org/drawingml/2006/main">
            <a:r>
              <a:t/>
            </a:r>
          </a:p>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RQ2  Does a concentrated AI error shock lower later adoption even after recovery?</a:t>
            </a:r>
          </a:p>
          <a:p xmlns:a="http://schemas.openxmlformats.org/drawingml/2006/main">
            <a:r>
              <a:t/>
            </a:r>
          </a:p>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RQ3  Do timing and source asymmetry change how that path evolves?</a:t>
            </a:r>
          </a:p>
        </p:txBody>
      </p:sp>
      <p:sp>
        <p:nvSpPr>
          <p:cNvPr id="12" name="">
            <a:extLst xmlns:a="http://schemas.openxmlformats.org/drawingml/2006/main">
              <a:ext uri="{FF2B5EF4-FFF2-40B4-BE49-F238E27FC236}">
                <a16:creationId xmlns:a16="http://schemas.microsoft.com/office/drawing/2014/main" id="{406E944F-4982-4772-A9AB-7E99064688DD}"/>
              </a:ext>
            </a:extLst>
          </p:cNvPr>
          <p:cNvSpPr>
            <a:spLocks xmlns:a="http://schemas.openxmlformats.org/drawingml/2006/main" noGrp="1"/>
          </p:cNvSpPr>
          <p:nvPr/>
        </p:nvSpPr>
        <p:spPr>
          <a:xfrm xmlns:a="http://schemas.openxmlformats.org/drawingml/2006/main">
            <a:off x="6362700" y="2095500"/>
            <a:ext cx="4876800" cy="3181350"/>
          </a:xfrm>
          <a:prstGeom xmlns:a="http://schemas.openxmlformats.org/drawingml/2006/main" prst="roundRect">
            <a:avLst>
              <a:gd name="adj" fmla="val 2395"/>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43A0B703-22FB-4EB7-B40E-7AF95EBAEA7D}"/>
              </a:ext>
            </a:extLst>
          </p:cNvPr>
          <p:cNvSpPr>
            <a:spLocks xmlns:a="http://schemas.openxmlformats.org/drawingml/2006/main" noGrp="1"/>
          </p:cNvSpPr>
          <p:nvPr/>
        </p:nvSpPr>
        <p:spPr>
          <a:xfrm xmlns:a="http://schemas.openxmlformats.org/drawingml/2006/main">
            <a:off x="6362700" y="2095500"/>
            <a:ext cx="57150" cy="31813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4" name="">
            <a:extLst xmlns:a="http://schemas.openxmlformats.org/drawingml/2006/main">
              <a:ext uri="{FF2B5EF4-FFF2-40B4-BE49-F238E27FC236}">
                <a16:creationId xmlns:a16="http://schemas.microsoft.com/office/drawing/2014/main" id="{57B627BE-2EF2-4741-A12D-29733845B50C}"/>
              </a:ext>
            </a:extLst>
          </p:cNvPr>
          <p:cNvSpPr>
            <a:spLocks xmlns:a="http://schemas.openxmlformats.org/drawingml/2006/main" noGrp="1"/>
          </p:cNvSpPr>
          <p:nvPr/>
        </p:nvSpPr>
        <p:spPr>
          <a:xfrm xmlns:a="http://schemas.openxmlformats.org/drawingml/2006/main">
            <a:off x="6534150" y="2209800"/>
            <a:ext cx="4591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Analytical framing</a:t>
            </a:r>
          </a:p>
        </p:txBody>
      </p:sp>
      <p:sp>
        <p:nvSpPr>
          <p:cNvPr id="15" name="">
            <a:extLst xmlns:a="http://schemas.openxmlformats.org/drawingml/2006/main">
              <a:ext uri="{FF2B5EF4-FFF2-40B4-BE49-F238E27FC236}">
                <a16:creationId xmlns:a16="http://schemas.microsoft.com/office/drawing/2014/main" id="{3B2B3DD3-745E-4AE7-A19B-851B3A1C6F88}"/>
              </a:ext>
            </a:extLst>
          </p:cNvPr>
          <p:cNvSpPr>
            <a:spLocks xmlns:a="http://schemas.openxmlformats.org/drawingml/2006/main" noGrp="1"/>
          </p:cNvSpPr>
          <p:nvPr/>
        </p:nvSpPr>
        <p:spPr>
          <a:xfrm xmlns:a="http://schemas.openxmlformats.org/drawingml/2006/main">
            <a:off x="6534150" y="2533650"/>
            <a:ext cx="4591050" cy="2628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Not one-shot trust</a:t>
            </a:r>
          </a:p>
          <a:p xmlns:a="http://schemas.openxmlformats.org/drawingml/2006/main">
            <a:pPr algn="l">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Not simple average accuracy</a:t>
            </a:r>
          </a:p>
          <a:p xmlns:a="http://schemas.openxmlformats.org/drawingml/2006/main">
            <a:r>
              <a:t/>
            </a:r>
          </a:p>
          <a:p xmlns:a="http://schemas.openxmlformats.org/drawingml/2006/main">
            <a:pPr algn="l">
              <a:defRPr sz="1425" b="0" i="0">
                <a:solidFill>
                  <a:srgbClr val="5E6675"/>
                </a:solidFill>
                <a:latin typeface="Times New Roman"/>
                <a:ea typeface="Times New Roman"/>
                <a:cs typeface="Times New Roman"/>
              </a:defRPr>
            </a:pPr>
            <a:r>
              <a:rPr sz="1425" b="0" i="0">
                <a:solidFill>
                  <a:srgbClr val="5E6675"/>
                </a:solidFill>
                <a:latin typeface="Times New Roman"/>
                <a:ea typeface="Times New Roman"/>
                <a:cs typeface="Times New Roman"/>
              </a:rPr>
              <a:t>The object is a repeated-feedback choice between self and AI, where later adoption is itself a learning outcome.</a:t>
            </a:r>
          </a:p>
        </p:txBody>
      </p:sp>
      <p:sp>
        <p:nvSpPr>
          <p:cNvPr id="16" name="">
            <a:extLst xmlns:a="http://schemas.openxmlformats.org/drawingml/2006/main">
              <a:ext uri="{FF2B5EF4-FFF2-40B4-BE49-F238E27FC236}">
                <a16:creationId xmlns:a16="http://schemas.microsoft.com/office/drawing/2014/main" id="{2BB47A2C-7E3A-4A30-9542-38C10E7FADE0}"/>
              </a:ext>
            </a:extLst>
          </p:cNvPr>
          <p:cNvSpPr>
            <a:spLocks xmlns:a="http://schemas.openxmlformats.org/drawingml/2006/main" noGrp="1"/>
          </p:cNvSpPr>
          <p:nvPr/>
        </p:nvSpPr>
        <p:spPr>
          <a:xfrm xmlns:a="http://schemas.openxmlformats.org/drawingml/2006/main">
            <a:off x="914400" y="56197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B45A3C"/>
                </a:solidFill>
                <a:latin typeface="Times New Roman"/>
                <a:ea typeface="Times New Roman"/>
                <a:cs typeface="Times New Roman"/>
              </a:defRPr>
            </a:pPr>
            <a:r>
              <a:rPr sz="1500" b="1" i="0">
                <a:solidFill>
                  <a:srgbClr val="B45A3C"/>
                </a:solidFill>
                <a:latin typeface="Times New Roman"/>
                <a:ea typeface="Times New Roman"/>
                <a:cs typeface="Times New Roman"/>
              </a:rPr>
              <a:t>Framing answers what the problem is. Mechanism answers why the path changes.</a:t>
            </a:r>
          </a:p>
        </p:txBody>
      </p:sp>
    </p:spTree>
    <p:extLst>
      <p:ext uri="{BB962C8B-B14F-4D97-AF65-F5344CB8AC3E}">
        <p14:creationId xmlns:p14="http://schemas.microsoft.com/office/powerpoint/2010/main" val="1607917806"/>
      </p:ext>
    </p:extLst>
  </p:cSld>
</p:sld>
</file>

<file path=ppt/slides/slide6.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0E34CC-FA47-4A13-83AB-ACC69981D272}"/>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1908BF7B-CD28-4790-8C33-DB705C69FD8D}"/>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66CD09BA-2063-4246-90B7-2E645896A2E0}"/>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364DA912-7711-4069-A79E-A4FFFCDEE06D}"/>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D00ED806-58E7-47BD-BD00-387983E691D2}"/>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MECHANISM</a:t>
            </a:r>
          </a:p>
        </p:txBody>
      </p:sp>
      <p:sp>
        <p:nvSpPr>
          <p:cNvPr id="6" name="">
            <a:extLst xmlns:a="http://schemas.openxmlformats.org/drawingml/2006/main">
              <a:ext uri="{FF2B5EF4-FFF2-40B4-BE49-F238E27FC236}">
                <a16:creationId xmlns:a16="http://schemas.microsoft.com/office/drawing/2014/main" id="{56CB3167-6534-42E9-9086-CD59D3F87292}"/>
              </a:ext>
            </a:extLst>
          </p:cNvPr>
          <p:cNvSpPr>
            <a:spLocks xmlns:a="http://schemas.openxmlformats.org/drawingml/2006/main" noGrp="1"/>
          </p:cNvSpPr>
          <p:nvPr/>
        </p:nvSpPr>
        <p:spPr>
          <a:xfrm xmlns:a="http://schemas.openxmlformats.org/drawingml/2006/main">
            <a:off x="914400" y="9144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E2433"/>
                </a:solidFill>
                <a:latin typeface="Times New Roman"/>
                <a:ea typeface="Times New Roman"/>
                <a:cs typeface="Times New Roman"/>
              </a:defRPr>
            </a:pPr>
            <a:r>
              <a:rPr sz="2700" b="1" i="0">
                <a:solidFill>
                  <a:srgbClr val="1E2433"/>
                </a:solidFill>
                <a:latin typeface="Times New Roman"/>
                <a:ea typeface="Times New Roman"/>
                <a:cs typeface="Times New Roman"/>
              </a:rPr>
              <a:t>A local failure can become a calibration shock</a:t>
            </a:r>
          </a:p>
        </p:txBody>
      </p:sp>
      <p:sp>
        <p:nvSpPr>
          <p:cNvPr id="7" name="">
            <a:extLst xmlns:a="http://schemas.openxmlformats.org/drawingml/2006/main">
              <a:ext uri="{FF2B5EF4-FFF2-40B4-BE49-F238E27FC236}">
                <a16:creationId xmlns:a16="http://schemas.microsoft.com/office/drawing/2014/main" id="{E049B7DC-4391-4637-B146-5D62D0264ED9}"/>
              </a:ext>
            </a:extLst>
          </p:cNvPr>
          <p:cNvSpPr>
            <a:spLocks xmlns:a="http://schemas.openxmlformats.org/drawingml/2006/main" noGrp="1"/>
          </p:cNvSpPr>
          <p:nvPr/>
        </p:nvSpPr>
        <p:spPr>
          <a:xfrm xmlns:a="http://schemas.openxmlformats.org/drawingml/2006/main">
            <a:off x="914400" y="144780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mechanism is path dependent: one local AI failure can change how later signals are weighted.</a:t>
            </a:r>
          </a:p>
        </p:txBody>
      </p:sp>
      <p:sp>
        <p:nvSpPr>
          <p:cNvPr id="8" name="">
            <a:extLst xmlns:a="http://schemas.openxmlformats.org/drawingml/2006/main">
              <a:ext uri="{FF2B5EF4-FFF2-40B4-BE49-F238E27FC236}">
                <a16:creationId xmlns:a16="http://schemas.microsoft.com/office/drawing/2014/main" id="{DF6AC22B-ADEE-41D9-A1DD-83FF0FDAE937}"/>
              </a:ext>
            </a:extLst>
          </p:cNvPr>
          <p:cNvSpPr>
            <a:spLocks xmlns:a="http://schemas.openxmlformats.org/drawingml/2006/main" noGrp="1"/>
          </p:cNvSpPr>
          <p:nvPr/>
        </p:nvSpPr>
        <p:spPr>
          <a:xfrm xmlns:a="http://schemas.openxmlformats.org/drawingml/2006/main">
            <a:off x="914400" y="2247900"/>
            <a:ext cx="2286000" cy="1123950"/>
          </a:xfrm>
          <a:prstGeom xmlns:a="http://schemas.openxmlformats.org/drawingml/2006/main" prst="roundRect">
            <a:avLst>
              <a:gd name="adj" fmla="val 6780"/>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EF211046-6937-488A-8E73-CD36A6F0E00A}"/>
              </a:ext>
            </a:extLst>
          </p:cNvPr>
          <p:cNvSpPr>
            <a:spLocks xmlns:a="http://schemas.openxmlformats.org/drawingml/2006/main" noGrp="1"/>
          </p:cNvSpPr>
          <p:nvPr/>
        </p:nvSpPr>
        <p:spPr>
          <a:xfrm xmlns:a="http://schemas.openxmlformats.org/drawingml/2006/main">
            <a:off x="914400" y="2247900"/>
            <a:ext cx="57150" cy="11239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EFE8CE92-DE3B-4ECA-AB05-AE285C792549}"/>
              </a:ext>
            </a:extLst>
          </p:cNvPr>
          <p:cNvSpPr>
            <a:spLocks xmlns:a="http://schemas.openxmlformats.org/drawingml/2006/main" noGrp="1"/>
          </p:cNvSpPr>
          <p:nvPr/>
        </p:nvSpPr>
        <p:spPr>
          <a:xfrm xmlns:a="http://schemas.openxmlformats.org/drawingml/2006/main">
            <a:off x="1085850" y="2362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E2433"/>
                </a:solidFill>
                <a:latin typeface="Times New Roman"/>
                <a:ea typeface="Times New Roman"/>
                <a:cs typeface="Times New Roman"/>
              </a:defRPr>
            </a:pPr>
            <a:r>
              <a:rPr sz="1575" b="1" i="0">
                <a:solidFill>
                  <a:srgbClr val="1E2433"/>
                </a:solidFill>
                <a:latin typeface="Times New Roman"/>
                <a:ea typeface="Times New Roman"/>
                <a:cs typeface="Times New Roman"/>
              </a:rPr>
              <a:t>Local AI miss</a:t>
            </a:r>
          </a:p>
        </p:txBody>
      </p:sp>
      <p:sp>
        <p:nvSpPr>
          <p:cNvPr id="11" name="">
            <a:extLst xmlns:a="http://schemas.openxmlformats.org/drawingml/2006/main">
              <a:ext uri="{FF2B5EF4-FFF2-40B4-BE49-F238E27FC236}">
                <a16:creationId xmlns:a16="http://schemas.microsoft.com/office/drawing/2014/main" id="{065234BB-2FB7-42FF-B0C8-600335B9E055}"/>
              </a:ext>
            </a:extLst>
          </p:cNvPr>
          <p:cNvSpPr>
            <a:spLocks xmlns:a="http://schemas.openxmlformats.org/drawingml/2006/main" noGrp="1"/>
          </p:cNvSpPr>
          <p:nvPr/>
        </p:nvSpPr>
        <p:spPr>
          <a:xfrm xmlns:a="http://schemas.openxmlformats.org/drawingml/2006/main">
            <a:off x="1085850" y="26860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A visible failure in a pre-registered block</a:t>
            </a:r>
          </a:p>
        </p:txBody>
      </p:sp>
      <p:sp>
        <p:nvSpPr>
          <p:cNvPr id="12" name="">
            <a:extLst xmlns:a="http://schemas.openxmlformats.org/drawingml/2006/main">
              <a:ext uri="{FF2B5EF4-FFF2-40B4-BE49-F238E27FC236}">
                <a16:creationId xmlns:a16="http://schemas.microsoft.com/office/drawing/2014/main" id="{0B33F953-3050-4AB7-970F-559DCC4DB5F3}"/>
              </a:ext>
            </a:extLst>
          </p:cNvPr>
          <p:cNvSpPr>
            <a:spLocks xmlns:a="http://schemas.openxmlformats.org/drawingml/2006/main" noGrp="1"/>
          </p:cNvSpPr>
          <p:nvPr/>
        </p:nvSpPr>
        <p:spPr>
          <a:xfrm xmlns:a="http://schemas.openxmlformats.org/drawingml/2006/main">
            <a:off x="3238500" y="25908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B45A3C"/>
                </a:solidFill>
                <a:latin typeface="Times New Roman"/>
                <a:ea typeface="Times New Roman"/>
                <a:cs typeface="Times New Roman"/>
              </a:defRPr>
            </a:pPr>
            <a:r>
              <a:rPr sz="1950" b="1" i="0">
                <a:solidFill>
                  <a:srgbClr val="B45A3C"/>
                </a:solidFill>
                <a:latin typeface="Times New Roman"/>
                <a:ea typeface="Times New Roman"/>
                <a:cs typeface="Times New Roman"/>
              </a:rPr>
              <a:t>-&gt;</a:t>
            </a:r>
          </a:p>
        </p:txBody>
      </p:sp>
      <p:sp>
        <p:nvSpPr>
          <p:cNvPr id="13" name="">
            <a:extLst xmlns:a="http://schemas.openxmlformats.org/drawingml/2006/main">
              <a:ext uri="{FF2B5EF4-FFF2-40B4-BE49-F238E27FC236}">
                <a16:creationId xmlns:a16="http://schemas.microsoft.com/office/drawing/2014/main" id="{47BE7817-674D-49D6-A21C-AB72ABFA86BB}"/>
              </a:ext>
            </a:extLst>
          </p:cNvPr>
          <p:cNvSpPr>
            <a:spLocks xmlns:a="http://schemas.openxmlformats.org/drawingml/2006/main" noGrp="1"/>
          </p:cNvSpPr>
          <p:nvPr/>
        </p:nvSpPr>
        <p:spPr>
          <a:xfrm xmlns:a="http://schemas.openxmlformats.org/drawingml/2006/main">
            <a:off x="3524250" y="2247900"/>
            <a:ext cx="2286000" cy="1123950"/>
          </a:xfrm>
          <a:prstGeom xmlns:a="http://schemas.openxmlformats.org/drawingml/2006/main" prst="roundRect">
            <a:avLst>
              <a:gd name="adj" fmla="val 6780"/>
            </a:avLst>
          </a:prstGeom>
          <a:solidFill xmlns:a="http://schemas.openxmlformats.org/drawingml/2006/main">
            <a:srgbClr val="FFF9F0"/>
          </a:solidFill>
          <a:ln xmlns:a="http://schemas.openxmlformats.org/drawingml/2006/main" w="9525">
            <a:solidFill>
              <a:srgbClr val="E8DCCB"/>
            </a:solidFill>
            <a:prstDash val="solid"/>
          </a:ln>
        </p:spPr>
      </p:sp>
      <p:sp>
        <p:nvSpPr>
          <p:cNvPr id="14" name="">
            <a:extLst xmlns:a="http://schemas.openxmlformats.org/drawingml/2006/main">
              <a:ext uri="{FF2B5EF4-FFF2-40B4-BE49-F238E27FC236}">
                <a16:creationId xmlns:a16="http://schemas.microsoft.com/office/drawing/2014/main" id="{CA228694-C8B1-44C2-ABAA-E0E9BEADD815}"/>
              </a:ext>
            </a:extLst>
          </p:cNvPr>
          <p:cNvSpPr>
            <a:spLocks xmlns:a="http://schemas.openxmlformats.org/drawingml/2006/main" noGrp="1"/>
          </p:cNvSpPr>
          <p:nvPr/>
        </p:nvSpPr>
        <p:spPr>
          <a:xfrm xmlns:a="http://schemas.openxmlformats.org/drawingml/2006/main">
            <a:off x="3524250" y="2247900"/>
            <a:ext cx="57150" cy="11239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5" name="">
            <a:extLst xmlns:a="http://schemas.openxmlformats.org/drawingml/2006/main">
              <a:ext uri="{FF2B5EF4-FFF2-40B4-BE49-F238E27FC236}">
                <a16:creationId xmlns:a16="http://schemas.microsoft.com/office/drawing/2014/main" id="{35CE9B22-6CC0-4130-AC2F-29507E26AAF5}"/>
              </a:ext>
            </a:extLst>
          </p:cNvPr>
          <p:cNvSpPr>
            <a:spLocks xmlns:a="http://schemas.openxmlformats.org/drawingml/2006/main" noGrp="1"/>
          </p:cNvSpPr>
          <p:nvPr/>
        </p:nvSpPr>
        <p:spPr>
          <a:xfrm xmlns:a="http://schemas.openxmlformats.org/drawingml/2006/main">
            <a:off x="3695700" y="2362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E2433"/>
                </a:solidFill>
                <a:latin typeface="Times New Roman"/>
                <a:ea typeface="Times New Roman"/>
                <a:cs typeface="Times New Roman"/>
              </a:defRPr>
            </a:pPr>
            <a:r>
              <a:rPr sz="1575" b="1" i="0">
                <a:solidFill>
                  <a:srgbClr val="1E2433"/>
                </a:solidFill>
                <a:latin typeface="Times New Roman"/>
                <a:ea typeface="Times New Roman"/>
                <a:cs typeface="Times New Roman"/>
              </a:rPr>
              <a:t>Negative updating</a:t>
            </a:r>
          </a:p>
        </p:txBody>
      </p:sp>
      <p:sp>
        <p:nvSpPr>
          <p:cNvPr id="16" name="">
            <a:extLst xmlns:a="http://schemas.openxmlformats.org/drawingml/2006/main">
              <a:ext uri="{FF2B5EF4-FFF2-40B4-BE49-F238E27FC236}">
                <a16:creationId xmlns:a16="http://schemas.microsoft.com/office/drawing/2014/main" id="{4B8B557C-7671-4C27-B0AA-BD9A9A7B63D6}"/>
              </a:ext>
            </a:extLst>
          </p:cNvPr>
          <p:cNvSpPr>
            <a:spLocks xmlns:a="http://schemas.openxmlformats.org/drawingml/2006/main" noGrp="1"/>
          </p:cNvSpPr>
          <p:nvPr/>
        </p:nvSpPr>
        <p:spPr>
          <a:xfrm xmlns:a="http://schemas.openxmlformats.org/drawingml/2006/main">
            <a:off x="3695700" y="26860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AI attraction falls faster than it recovers</a:t>
            </a:r>
          </a:p>
        </p:txBody>
      </p:sp>
      <p:sp>
        <p:nvSpPr>
          <p:cNvPr id="17" name="">
            <a:extLst xmlns:a="http://schemas.openxmlformats.org/drawingml/2006/main">
              <a:ext uri="{FF2B5EF4-FFF2-40B4-BE49-F238E27FC236}">
                <a16:creationId xmlns:a16="http://schemas.microsoft.com/office/drawing/2014/main" id="{4B58FFD2-3A98-4D45-853D-873DC41A5A15}"/>
              </a:ext>
            </a:extLst>
          </p:cNvPr>
          <p:cNvSpPr>
            <a:spLocks xmlns:a="http://schemas.openxmlformats.org/drawingml/2006/main" noGrp="1"/>
          </p:cNvSpPr>
          <p:nvPr/>
        </p:nvSpPr>
        <p:spPr>
          <a:xfrm xmlns:a="http://schemas.openxmlformats.org/drawingml/2006/main">
            <a:off x="5848350" y="25908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B45A3C"/>
                </a:solidFill>
                <a:latin typeface="Times New Roman"/>
                <a:ea typeface="Times New Roman"/>
                <a:cs typeface="Times New Roman"/>
              </a:defRPr>
            </a:pPr>
            <a:r>
              <a:rPr sz="1950" b="1" i="0">
                <a:solidFill>
                  <a:srgbClr val="B45A3C"/>
                </a:solidFill>
                <a:latin typeface="Times New Roman"/>
                <a:ea typeface="Times New Roman"/>
                <a:cs typeface="Times New Roman"/>
              </a:rPr>
              <a:t>-&gt;</a:t>
            </a:r>
          </a:p>
        </p:txBody>
      </p:sp>
      <p:sp>
        <p:nvSpPr>
          <p:cNvPr id="18" name="">
            <a:extLst xmlns:a="http://schemas.openxmlformats.org/drawingml/2006/main">
              <a:ext uri="{FF2B5EF4-FFF2-40B4-BE49-F238E27FC236}">
                <a16:creationId xmlns:a16="http://schemas.microsoft.com/office/drawing/2014/main" id="{22B53933-68AE-4320-B2FE-268877DC885B}"/>
              </a:ext>
            </a:extLst>
          </p:cNvPr>
          <p:cNvSpPr>
            <a:spLocks xmlns:a="http://schemas.openxmlformats.org/drawingml/2006/main" noGrp="1"/>
          </p:cNvSpPr>
          <p:nvPr/>
        </p:nvSpPr>
        <p:spPr>
          <a:xfrm xmlns:a="http://schemas.openxmlformats.org/drawingml/2006/main">
            <a:off x="6134100" y="2247900"/>
            <a:ext cx="2286000" cy="1123950"/>
          </a:xfrm>
          <a:prstGeom xmlns:a="http://schemas.openxmlformats.org/drawingml/2006/main" prst="roundRect">
            <a:avLst>
              <a:gd name="adj" fmla="val 6780"/>
            </a:avLst>
          </a:prstGeom>
          <a:solidFill xmlns:a="http://schemas.openxmlformats.org/drawingml/2006/main">
            <a:srgbClr val="FFF9F0"/>
          </a:solidFill>
          <a:ln xmlns:a="http://schemas.openxmlformats.org/drawingml/2006/main" w="9525">
            <a:solidFill>
              <a:srgbClr val="E8DCCB"/>
            </a:solidFill>
            <a:prstDash val="solid"/>
          </a:ln>
        </p:spPr>
      </p:sp>
      <p:sp>
        <p:nvSpPr>
          <p:cNvPr id="19" name="">
            <a:extLst xmlns:a="http://schemas.openxmlformats.org/drawingml/2006/main">
              <a:ext uri="{FF2B5EF4-FFF2-40B4-BE49-F238E27FC236}">
                <a16:creationId xmlns:a16="http://schemas.microsoft.com/office/drawing/2014/main" id="{4EC2D758-3393-4E03-8F35-412286343092}"/>
              </a:ext>
            </a:extLst>
          </p:cNvPr>
          <p:cNvSpPr>
            <a:spLocks xmlns:a="http://schemas.openxmlformats.org/drawingml/2006/main" noGrp="1"/>
          </p:cNvSpPr>
          <p:nvPr/>
        </p:nvSpPr>
        <p:spPr>
          <a:xfrm xmlns:a="http://schemas.openxmlformats.org/drawingml/2006/main">
            <a:off x="6134100" y="2247900"/>
            <a:ext cx="57150" cy="11239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20" name="">
            <a:extLst xmlns:a="http://schemas.openxmlformats.org/drawingml/2006/main">
              <a:ext uri="{FF2B5EF4-FFF2-40B4-BE49-F238E27FC236}">
                <a16:creationId xmlns:a16="http://schemas.microsoft.com/office/drawing/2014/main" id="{4E388C52-151C-471C-9A70-C2E66B0F7907}"/>
              </a:ext>
            </a:extLst>
          </p:cNvPr>
          <p:cNvSpPr>
            <a:spLocks xmlns:a="http://schemas.openxmlformats.org/drawingml/2006/main" noGrp="1"/>
          </p:cNvSpPr>
          <p:nvPr/>
        </p:nvSpPr>
        <p:spPr>
          <a:xfrm xmlns:a="http://schemas.openxmlformats.org/drawingml/2006/main">
            <a:off x="6305550" y="2362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E2433"/>
                </a:solidFill>
                <a:latin typeface="Times New Roman"/>
                <a:ea typeface="Times New Roman"/>
                <a:cs typeface="Times New Roman"/>
              </a:defRPr>
            </a:pPr>
            <a:r>
              <a:rPr sz="1575" b="1" i="0">
                <a:solidFill>
                  <a:srgbClr val="1E2433"/>
                </a:solidFill>
                <a:latin typeface="Times New Roman"/>
                <a:ea typeface="Times New Roman"/>
                <a:cs typeface="Times New Roman"/>
              </a:rPr>
              <a:t>Lower later adoption</a:t>
            </a:r>
          </a:p>
        </p:txBody>
      </p:sp>
      <p:sp>
        <p:nvSpPr>
          <p:cNvPr id="21" name="">
            <a:extLst xmlns:a="http://schemas.openxmlformats.org/drawingml/2006/main">
              <a:ext uri="{FF2B5EF4-FFF2-40B4-BE49-F238E27FC236}">
                <a16:creationId xmlns:a16="http://schemas.microsoft.com/office/drawing/2014/main" id="{9BEA1B34-31CA-41AF-82F0-8C2D54B1DD26}"/>
              </a:ext>
            </a:extLst>
          </p:cNvPr>
          <p:cNvSpPr>
            <a:spLocks xmlns:a="http://schemas.openxmlformats.org/drawingml/2006/main" noGrp="1"/>
          </p:cNvSpPr>
          <p:nvPr/>
        </p:nvSpPr>
        <p:spPr>
          <a:xfrm xmlns:a="http://schemas.openxmlformats.org/drawingml/2006/main">
            <a:off x="6305550" y="26860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Participants choose self more often</a:t>
            </a:r>
          </a:p>
        </p:txBody>
      </p:sp>
      <p:sp>
        <p:nvSpPr>
          <p:cNvPr id="22" name="">
            <a:extLst xmlns:a="http://schemas.openxmlformats.org/drawingml/2006/main">
              <a:ext uri="{FF2B5EF4-FFF2-40B4-BE49-F238E27FC236}">
                <a16:creationId xmlns:a16="http://schemas.microsoft.com/office/drawing/2014/main" id="{CAAEE459-DF21-4C50-85ED-48987BCDD4C4}"/>
              </a:ext>
            </a:extLst>
          </p:cNvPr>
          <p:cNvSpPr>
            <a:spLocks xmlns:a="http://schemas.openxmlformats.org/drawingml/2006/main" noGrp="1"/>
          </p:cNvSpPr>
          <p:nvPr/>
        </p:nvSpPr>
        <p:spPr>
          <a:xfrm xmlns:a="http://schemas.openxmlformats.org/drawingml/2006/main">
            <a:off x="8458200" y="2590800"/>
            <a:ext cx="247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B45A3C"/>
                </a:solidFill>
                <a:latin typeface="Times New Roman"/>
                <a:ea typeface="Times New Roman"/>
                <a:cs typeface="Times New Roman"/>
              </a:defRPr>
            </a:pPr>
            <a:r>
              <a:rPr sz="1950" b="1" i="0">
                <a:solidFill>
                  <a:srgbClr val="B45A3C"/>
                </a:solidFill>
                <a:latin typeface="Times New Roman"/>
                <a:ea typeface="Times New Roman"/>
                <a:cs typeface="Times New Roman"/>
              </a:rPr>
              <a:t>-&gt;</a:t>
            </a:r>
          </a:p>
        </p:txBody>
      </p:sp>
      <p:sp>
        <p:nvSpPr>
          <p:cNvPr id="23" name="">
            <a:extLst xmlns:a="http://schemas.openxmlformats.org/drawingml/2006/main">
              <a:ext uri="{FF2B5EF4-FFF2-40B4-BE49-F238E27FC236}">
                <a16:creationId xmlns:a16="http://schemas.microsoft.com/office/drawing/2014/main" id="{BCAECA9A-A605-40C7-82AF-A5923A39DE07}"/>
              </a:ext>
            </a:extLst>
          </p:cNvPr>
          <p:cNvSpPr>
            <a:spLocks xmlns:a="http://schemas.openxmlformats.org/drawingml/2006/main" noGrp="1"/>
          </p:cNvSpPr>
          <p:nvPr/>
        </p:nvSpPr>
        <p:spPr>
          <a:xfrm xmlns:a="http://schemas.openxmlformats.org/drawingml/2006/main">
            <a:off x="8743950" y="2247900"/>
            <a:ext cx="2286000" cy="1123950"/>
          </a:xfrm>
          <a:prstGeom xmlns:a="http://schemas.openxmlformats.org/drawingml/2006/main" prst="roundRect">
            <a:avLst>
              <a:gd name="adj" fmla="val 6780"/>
            </a:avLst>
          </a:prstGeom>
          <a:solidFill xmlns:a="http://schemas.openxmlformats.org/drawingml/2006/main">
            <a:srgbClr val="FFF9F0"/>
          </a:solidFill>
          <a:ln xmlns:a="http://schemas.openxmlformats.org/drawingml/2006/main" w="9525">
            <a:solidFill>
              <a:srgbClr val="E8DCCB"/>
            </a:solidFill>
            <a:prstDash val="solid"/>
          </a:ln>
        </p:spPr>
      </p:sp>
      <p:sp>
        <p:nvSpPr>
          <p:cNvPr id="24" name="">
            <a:extLst xmlns:a="http://schemas.openxmlformats.org/drawingml/2006/main">
              <a:ext uri="{FF2B5EF4-FFF2-40B4-BE49-F238E27FC236}">
                <a16:creationId xmlns:a16="http://schemas.microsoft.com/office/drawing/2014/main" id="{FC3FE1C0-3165-4831-97E4-EAADE74B8E3E}"/>
              </a:ext>
            </a:extLst>
          </p:cNvPr>
          <p:cNvSpPr>
            <a:spLocks xmlns:a="http://schemas.openxmlformats.org/drawingml/2006/main" noGrp="1"/>
          </p:cNvSpPr>
          <p:nvPr/>
        </p:nvSpPr>
        <p:spPr>
          <a:xfrm xmlns:a="http://schemas.openxmlformats.org/drawingml/2006/main">
            <a:off x="8743950" y="2247900"/>
            <a:ext cx="57150" cy="11239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25" name="">
            <a:extLst xmlns:a="http://schemas.openxmlformats.org/drawingml/2006/main">
              <a:ext uri="{FF2B5EF4-FFF2-40B4-BE49-F238E27FC236}">
                <a16:creationId xmlns:a16="http://schemas.microsoft.com/office/drawing/2014/main" id="{D0C4B1F6-2B49-4C17-8132-8939F64E062D}"/>
              </a:ext>
            </a:extLst>
          </p:cNvPr>
          <p:cNvSpPr>
            <a:spLocks xmlns:a="http://schemas.openxmlformats.org/drawingml/2006/main" noGrp="1"/>
          </p:cNvSpPr>
          <p:nvPr/>
        </p:nvSpPr>
        <p:spPr>
          <a:xfrm xmlns:a="http://schemas.openxmlformats.org/drawingml/2006/main">
            <a:off x="8915400" y="2362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E2433"/>
                </a:solidFill>
                <a:latin typeface="Times New Roman"/>
                <a:ea typeface="Times New Roman"/>
                <a:cs typeface="Times New Roman"/>
              </a:defRPr>
            </a:pPr>
            <a:r>
              <a:rPr sz="1575" b="1" i="0">
                <a:solidFill>
                  <a:srgbClr val="1E2433"/>
                </a:solidFill>
                <a:latin typeface="Times New Roman"/>
                <a:ea typeface="Times New Roman"/>
                <a:cs typeface="Times New Roman"/>
              </a:rPr>
              <a:t>Persistent under-reliance</a:t>
            </a:r>
          </a:p>
        </p:txBody>
      </p:sp>
      <p:sp>
        <p:nvSpPr>
          <p:cNvPr id="26" name="">
            <a:extLst xmlns:a="http://schemas.openxmlformats.org/drawingml/2006/main">
              <a:ext uri="{FF2B5EF4-FFF2-40B4-BE49-F238E27FC236}">
                <a16:creationId xmlns:a16="http://schemas.microsoft.com/office/drawing/2014/main" id="{C7A28C0D-5D9E-4025-9711-05E3EEAF28CE}"/>
              </a:ext>
            </a:extLst>
          </p:cNvPr>
          <p:cNvSpPr>
            <a:spLocks xmlns:a="http://schemas.openxmlformats.org/drawingml/2006/main" noGrp="1"/>
          </p:cNvSpPr>
          <p:nvPr/>
        </p:nvSpPr>
        <p:spPr>
          <a:xfrm xmlns:a="http://schemas.openxmlformats.org/drawingml/2006/main">
            <a:off x="8915400" y="26860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Recovery in ability does not fully repair reliance</a:t>
            </a:r>
          </a:p>
        </p:txBody>
      </p:sp>
      <p:sp>
        <p:nvSpPr>
          <p:cNvPr id="27" name="">
            <a:extLst xmlns:a="http://schemas.openxmlformats.org/drawingml/2006/main">
              <a:ext uri="{FF2B5EF4-FFF2-40B4-BE49-F238E27FC236}">
                <a16:creationId xmlns:a16="http://schemas.microsoft.com/office/drawing/2014/main" id="{9A4DEE15-758A-46FF-9E86-38D171C1EB04}"/>
              </a:ext>
            </a:extLst>
          </p:cNvPr>
          <p:cNvSpPr>
            <a:spLocks xmlns:a="http://schemas.openxmlformats.org/drawingml/2006/main" noGrp="1"/>
          </p:cNvSpPr>
          <p:nvPr/>
        </p:nvSpPr>
        <p:spPr>
          <a:xfrm xmlns:a="http://schemas.openxmlformats.org/drawingml/2006/main">
            <a:off x="914400" y="4191000"/>
            <a:ext cx="4686300" cy="1333500"/>
          </a:xfrm>
          <a:prstGeom xmlns:a="http://schemas.openxmlformats.org/drawingml/2006/main" prst="roundRect">
            <a:avLst>
              <a:gd name="adj" fmla="val 5714"/>
            </a:avLst>
          </a:prstGeom>
          <a:solidFill xmlns:a="http://schemas.openxmlformats.org/drawingml/2006/main">
            <a:srgbClr val="FFF9F0"/>
          </a:solidFill>
          <a:ln xmlns:a="http://schemas.openxmlformats.org/drawingml/2006/main" w="9525">
            <a:solidFill>
              <a:srgbClr val="E8DCCB"/>
            </a:solidFill>
            <a:prstDash val="solid"/>
          </a:ln>
        </p:spPr>
      </p:sp>
      <p:sp>
        <p:nvSpPr>
          <p:cNvPr id="28" name="">
            <a:extLst xmlns:a="http://schemas.openxmlformats.org/drawingml/2006/main">
              <a:ext uri="{FF2B5EF4-FFF2-40B4-BE49-F238E27FC236}">
                <a16:creationId xmlns:a16="http://schemas.microsoft.com/office/drawing/2014/main" id="{A250CC5C-3446-476E-8834-8B1857B6EF64}"/>
              </a:ext>
            </a:extLst>
          </p:cNvPr>
          <p:cNvSpPr>
            <a:spLocks xmlns:a="http://schemas.openxmlformats.org/drawingml/2006/main" noGrp="1"/>
          </p:cNvSpPr>
          <p:nvPr/>
        </p:nvSpPr>
        <p:spPr>
          <a:xfrm xmlns:a="http://schemas.openxmlformats.org/drawingml/2006/main">
            <a:off x="914400" y="4191000"/>
            <a:ext cx="57150" cy="13335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29" name="">
            <a:extLst xmlns:a="http://schemas.openxmlformats.org/drawingml/2006/main">
              <a:ext uri="{FF2B5EF4-FFF2-40B4-BE49-F238E27FC236}">
                <a16:creationId xmlns:a16="http://schemas.microsoft.com/office/drawing/2014/main" id="{8E0E4A67-C52F-4C84-9B95-FE8A8F4C64CD}"/>
              </a:ext>
            </a:extLst>
          </p:cNvPr>
          <p:cNvSpPr>
            <a:spLocks xmlns:a="http://schemas.openxmlformats.org/drawingml/2006/main" noGrp="1"/>
          </p:cNvSpPr>
          <p:nvPr/>
        </p:nvSpPr>
        <p:spPr>
          <a:xfrm xmlns:a="http://schemas.openxmlformats.org/drawingml/2006/main">
            <a:off x="1085850" y="4305300"/>
            <a:ext cx="440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E2433"/>
                </a:solidFill>
                <a:latin typeface="Times New Roman"/>
                <a:ea typeface="Times New Roman"/>
                <a:cs typeface="Times New Roman"/>
              </a:defRPr>
            </a:pPr>
            <a:r>
              <a:rPr sz="1650" b="1" i="0">
                <a:solidFill>
                  <a:srgbClr val="1E2433"/>
                </a:solidFill>
                <a:latin typeface="Times New Roman"/>
                <a:ea typeface="Times New Roman"/>
                <a:cs typeface="Times New Roman"/>
              </a:rPr>
              <a:t>Timing heterogeneity</a:t>
            </a:r>
          </a:p>
        </p:txBody>
      </p:sp>
      <p:sp>
        <p:nvSpPr>
          <p:cNvPr id="30" name="">
            <a:extLst xmlns:a="http://schemas.openxmlformats.org/drawingml/2006/main">
              <a:ext uri="{FF2B5EF4-FFF2-40B4-BE49-F238E27FC236}">
                <a16:creationId xmlns:a16="http://schemas.microsoft.com/office/drawing/2014/main" id="{A10AC754-B62D-4EC9-819E-F60A4933BB92}"/>
              </a:ext>
            </a:extLst>
          </p:cNvPr>
          <p:cNvSpPr>
            <a:spLocks xmlns:a="http://schemas.openxmlformats.org/drawingml/2006/main" noGrp="1"/>
          </p:cNvSpPr>
          <p:nvPr/>
        </p:nvSpPr>
        <p:spPr>
          <a:xfrm xmlns:a="http://schemas.openxmlformats.org/drawingml/2006/main">
            <a:off x="1085850" y="4629150"/>
            <a:ext cx="4400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Early shock can anchor the first reliability impression. Mid shock can break an already formed reliance pattern.</a:t>
            </a:r>
          </a:p>
        </p:txBody>
      </p:sp>
      <p:sp>
        <p:nvSpPr>
          <p:cNvPr id="31" name="">
            <a:extLst xmlns:a="http://schemas.openxmlformats.org/drawingml/2006/main">
              <a:ext uri="{FF2B5EF4-FFF2-40B4-BE49-F238E27FC236}">
                <a16:creationId xmlns:a16="http://schemas.microsoft.com/office/drawing/2014/main" id="{A7F66FC1-B94D-4C29-BD1C-DC90892AC62B}"/>
              </a:ext>
            </a:extLst>
          </p:cNvPr>
          <p:cNvSpPr>
            <a:spLocks xmlns:a="http://schemas.openxmlformats.org/drawingml/2006/main" noGrp="1"/>
          </p:cNvSpPr>
          <p:nvPr/>
        </p:nvSpPr>
        <p:spPr>
          <a:xfrm xmlns:a="http://schemas.openxmlformats.org/drawingml/2006/main">
            <a:off x="6515100" y="4191000"/>
            <a:ext cx="4686300" cy="1333500"/>
          </a:xfrm>
          <a:prstGeom xmlns:a="http://schemas.openxmlformats.org/drawingml/2006/main" prst="roundRect">
            <a:avLst>
              <a:gd name="adj" fmla="val 5714"/>
            </a:avLst>
          </a:prstGeom>
          <a:solidFill xmlns:a="http://schemas.openxmlformats.org/drawingml/2006/main">
            <a:srgbClr val="FFF9F0"/>
          </a:solidFill>
          <a:ln xmlns:a="http://schemas.openxmlformats.org/drawingml/2006/main" w="9525">
            <a:solidFill>
              <a:srgbClr val="E8DCCB"/>
            </a:solidFill>
            <a:prstDash val="solid"/>
          </a:ln>
        </p:spPr>
      </p:sp>
      <p:sp>
        <p:nvSpPr>
          <p:cNvPr id="32" name="">
            <a:extLst xmlns:a="http://schemas.openxmlformats.org/drawingml/2006/main">
              <a:ext uri="{FF2B5EF4-FFF2-40B4-BE49-F238E27FC236}">
                <a16:creationId xmlns:a16="http://schemas.microsoft.com/office/drawing/2014/main" id="{C989BDB2-BED4-45EC-A348-4B570EB88DBD}"/>
              </a:ext>
            </a:extLst>
          </p:cNvPr>
          <p:cNvSpPr>
            <a:spLocks xmlns:a="http://schemas.openxmlformats.org/drawingml/2006/main" noGrp="1"/>
          </p:cNvSpPr>
          <p:nvPr/>
        </p:nvSpPr>
        <p:spPr>
          <a:xfrm xmlns:a="http://schemas.openxmlformats.org/drawingml/2006/main">
            <a:off x="6515100" y="4191000"/>
            <a:ext cx="57150" cy="133350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33" name="">
            <a:extLst xmlns:a="http://schemas.openxmlformats.org/drawingml/2006/main">
              <a:ext uri="{FF2B5EF4-FFF2-40B4-BE49-F238E27FC236}">
                <a16:creationId xmlns:a16="http://schemas.microsoft.com/office/drawing/2014/main" id="{62A9A174-FA57-4E5E-9564-103AE4C7BF09}"/>
              </a:ext>
            </a:extLst>
          </p:cNvPr>
          <p:cNvSpPr>
            <a:spLocks xmlns:a="http://schemas.openxmlformats.org/drawingml/2006/main" noGrp="1"/>
          </p:cNvSpPr>
          <p:nvPr/>
        </p:nvSpPr>
        <p:spPr>
          <a:xfrm xmlns:a="http://schemas.openxmlformats.org/drawingml/2006/main">
            <a:off x="6686550" y="4305300"/>
            <a:ext cx="440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E2433"/>
                </a:solidFill>
                <a:latin typeface="Times New Roman"/>
                <a:ea typeface="Times New Roman"/>
                <a:cs typeface="Times New Roman"/>
              </a:defRPr>
            </a:pPr>
            <a:r>
              <a:rPr sz="1650" b="1" i="0">
                <a:solidFill>
                  <a:srgbClr val="1E2433"/>
                </a:solidFill>
                <a:latin typeface="Times New Roman"/>
                <a:ea typeface="Times New Roman"/>
                <a:cs typeface="Times New Roman"/>
              </a:rPr>
              <a:t>Source asymmetry</a:t>
            </a:r>
          </a:p>
        </p:txBody>
      </p:sp>
      <p:sp>
        <p:nvSpPr>
          <p:cNvPr id="34" name="">
            <a:extLst xmlns:a="http://schemas.openxmlformats.org/drawingml/2006/main">
              <a:ext uri="{FF2B5EF4-FFF2-40B4-BE49-F238E27FC236}">
                <a16:creationId xmlns:a16="http://schemas.microsoft.com/office/drawing/2014/main" id="{C0D1A682-C96C-44FE-B27E-632F2C05CD69}"/>
              </a:ext>
            </a:extLst>
          </p:cNvPr>
          <p:cNvSpPr>
            <a:spLocks xmlns:a="http://schemas.openxmlformats.org/drawingml/2006/main" noGrp="1"/>
          </p:cNvSpPr>
          <p:nvPr/>
        </p:nvSpPr>
        <p:spPr>
          <a:xfrm xmlns:a="http://schemas.openxmlformats.org/drawingml/2006/main">
            <a:off x="6686550" y="4629150"/>
            <a:ext cx="44005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key asymmetry is whether AI errors receive heavier negative learning weights than comparable self errors.</a:t>
            </a:r>
          </a:p>
        </p:txBody>
      </p:sp>
    </p:spTree>
    <p:extLst>
      <p:ext uri="{BB962C8B-B14F-4D97-AF65-F5344CB8AC3E}">
        <p14:creationId xmlns:p14="http://schemas.microsoft.com/office/powerpoint/2010/main" val="1848031352"/>
      </p:ext>
    </p:extLst>
  </p:cSld>
</p:sld>
</file>

<file path=ppt/slides/slide7.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89D116-7DB8-4F27-A0B5-FE6CD70517A9}"/>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C65F5E8D-BF1C-4675-8CDB-3DC8D7A4EB6E}"/>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CD558630-C2A2-4827-B719-344AEE610991}"/>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F72DDEE3-8AA1-44F3-B979-8880DC7020EC}"/>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B0917993-B0DA-4B40-A17A-3D6E3A56811A}"/>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EXPERIMENTAL PROTOTYPE</a:t>
            </a:r>
          </a:p>
        </p:txBody>
      </p:sp>
      <p:sp>
        <p:nvSpPr>
          <p:cNvPr id="6" name="">
            <a:extLst xmlns:a="http://schemas.openxmlformats.org/drawingml/2006/main">
              <a:ext uri="{FF2B5EF4-FFF2-40B4-BE49-F238E27FC236}">
                <a16:creationId xmlns:a16="http://schemas.microsoft.com/office/drawing/2014/main" id="{0FE27AF4-FBC4-4885-9BB1-5F3E8F177117}"/>
              </a:ext>
            </a:extLst>
          </p:cNvPr>
          <p:cNvSpPr>
            <a:spLocks xmlns:a="http://schemas.openxmlformats.org/drawingml/2006/main" noGrp="1"/>
          </p:cNvSpPr>
          <p:nvPr/>
        </p:nvSpPr>
        <p:spPr>
          <a:xfrm xmlns:a="http://schemas.openxmlformats.org/drawingml/2006/main">
            <a:off x="914400" y="914400"/>
            <a:ext cx="1009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1E2433"/>
                </a:solidFill>
                <a:latin typeface="Times New Roman"/>
                <a:ea typeface="Times New Roman"/>
                <a:cs typeface="Times New Roman"/>
              </a:defRPr>
            </a:pPr>
            <a:r>
              <a:rPr sz="2400" b="1" i="0">
                <a:solidFill>
                  <a:srgbClr val="1E2433"/>
                </a:solidFill>
                <a:latin typeface="Times New Roman"/>
                <a:ea typeface="Times New Roman"/>
                <a:cs typeface="Times New Roman"/>
              </a:rPr>
              <a:t>Before design details, the prototype has to satisfy five requirements</a:t>
            </a:r>
          </a:p>
        </p:txBody>
      </p:sp>
      <p:sp>
        <p:nvSpPr>
          <p:cNvPr id="7" name="">
            <a:extLst xmlns:a="http://schemas.openxmlformats.org/drawingml/2006/main">
              <a:ext uri="{FF2B5EF4-FFF2-40B4-BE49-F238E27FC236}">
                <a16:creationId xmlns:a16="http://schemas.microsoft.com/office/drawing/2014/main" id="{4395E670-99AB-49EF-AE97-ED04755F1D95}"/>
              </a:ext>
            </a:extLst>
          </p:cNvPr>
          <p:cNvSpPr>
            <a:spLocks xmlns:a="http://schemas.openxmlformats.org/drawingml/2006/main" noGrp="1"/>
          </p:cNvSpPr>
          <p:nvPr/>
        </p:nvSpPr>
        <p:spPr>
          <a:xfrm xmlns:a="http://schemas.openxmlformats.org/drawingml/2006/main">
            <a:off x="914400" y="13906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This is why the task is a repeated abstract allocation task with full feedback rather than a one-shot scenario.</a:t>
            </a:r>
          </a:p>
        </p:txBody>
      </p:sp>
      <p:sp>
        <p:nvSpPr>
          <p:cNvPr id="8" name="">
            <a:extLst xmlns:a="http://schemas.openxmlformats.org/drawingml/2006/main">
              <a:ext uri="{FF2B5EF4-FFF2-40B4-BE49-F238E27FC236}">
                <a16:creationId xmlns:a16="http://schemas.microsoft.com/office/drawing/2014/main" id="{235F4EC5-7DCF-47AE-B503-7899983965A6}"/>
              </a:ext>
            </a:extLst>
          </p:cNvPr>
          <p:cNvSpPr>
            <a:spLocks xmlns:a="http://schemas.openxmlformats.org/drawingml/2006/main" noGrp="1"/>
          </p:cNvSpPr>
          <p:nvPr/>
        </p:nvSpPr>
        <p:spPr>
          <a:xfrm xmlns:a="http://schemas.openxmlformats.org/drawingml/2006/main">
            <a:off x="914400" y="2076450"/>
            <a:ext cx="3162300" cy="1200150"/>
          </a:xfrm>
          <a:prstGeom xmlns:a="http://schemas.openxmlformats.org/drawingml/2006/main" prst="roundRect">
            <a:avLst>
              <a:gd name="adj" fmla="val 6349"/>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8640FE59-69B8-4730-9FEF-0479370324AC}"/>
              </a:ext>
            </a:extLst>
          </p:cNvPr>
          <p:cNvSpPr>
            <a:spLocks xmlns:a="http://schemas.openxmlformats.org/drawingml/2006/main" noGrp="1"/>
          </p:cNvSpPr>
          <p:nvPr/>
        </p:nvSpPr>
        <p:spPr>
          <a:xfrm xmlns:a="http://schemas.openxmlformats.org/drawingml/2006/main">
            <a:off x="914400" y="2076450"/>
            <a:ext cx="57150" cy="12001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E2BF3185-8D13-422C-B711-6A20739C8FA3}"/>
              </a:ext>
            </a:extLst>
          </p:cNvPr>
          <p:cNvSpPr>
            <a:spLocks xmlns:a="http://schemas.openxmlformats.org/drawingml/2006/main" noGrp="1"/>
          </p:cNvSpPr>
          <p:nvPr/>
        </p:nvSpPr>
        <p:spPr>
          <a:xfrm xmlns:a="http://schemas.openxmlformats.org/drawingml/2006/main">
            <a:off x="1085850" y="2190750"/>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E2433"/>
                </a:solidFill>
                <a:latin typeface="Times New Roman"/>
                <a:ea typeface="Times New Roman"/>
                <a:cs typeface="Times New Roman"/>
              </a:defRPr>
            </a:pPr>
            <a:r>
              <a:rPr sz="1500" b="1" i="0">
                <a:solidFill>
                  <a:srgbClr val="1E2433"/>
                </a:solidFill>
                <a:latin typeface="Times New Roman"/>
                <a:ea typeface="Times New Roman"/>
                <a:cs typeface="Times New Roman"/>
              </a:rPr>
              <a:t>Repeated rounds</a:t>
            </a:r>
          </a:p>
        </p:txBody>
      </p:sp>
      <p:sp>
        <p:nvSpPr>
          <p:cNvPr id="11" name="">
            <a:extLst xmlns:a="http://schemas.openxmlformats.org/drawingml/2006/main">
              <a:ext uri="{FF2B5EF4-FFF2-40B4-BE49-F238E27FC236}">
                <a16:creationId xmlns:a16="http://schemas.microsoft.com/office/drawing/2014/main" id="{EE75906F-F9F6-448A-BC2F-2AD087DC3BA2}"/>
              </a:ext>
            </a:extLst>
          </p:cNvPr>
          <p:cNvSpPr>
            <a:spLocks xmlns:a="http://schemas.openxmlformats.org/drawingml/2006/main" noGrp="1"/>
          </p:cNvSpPr>
          <p:nvPr/>
        </p:nvSpPr>
        <p:spPr>
          <a:xfrm xmlns:a="http://schemas.openxmlformats.org/drawingml/2006/main">
            <a:off x="1085850" y="2514600"/>
            <a:ext cx="2876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The task must reveal decline, recovery, and persistence over time.</a:t>
            </a:r>
          </a:p>
        </p:txBody>
      </p:sp>
      <p:sp>
        <p:nvSpPr>
          <p:cNvPr id="12" name="">
            <a:extLst xmlns:a="http://schemas.openxmlformats.org/drawingml/2006/main">
              <a:ext uri="{FF2B5EF4-FFF2-40B4-BE49-F238E27FC236}">
                <a16:creationId xmlns:a16="http://schemas.microsoft.com/office/drawing/2014/main" id="{A0E3B6FE-4DEA-42F7-8365-5657F866B44A}"/>
              </a:ext>
            </a:extLst>
          </p:cNvPr>
          <p:cNvSpPr>
            <a:spLocks xmlns:a="http://schemas.openxmlformats.org/drawingml/2006/main" noGrp="1"/>
          </p:cNvSpPr>
          <p:nvPr/>
        </p:nvSpPr>
        <p:spPr>
          <a:xfrm xmlns:a="http://schemas.openxmlformats.org/drawingml/2006/main">
            <a:off x="4476750" y="2076450"/>
            <a:ext cx="3162300" cy="1200150"/>
          </a:xfrm>
          <a:prstGeom xmlns:a="http://schemas.openxmlformats.org/drawingml/2006/main" prst="roundRect">
            <a:avLst>
              <a:gd name="adj" fmla="val 6349"/>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C96A0FE0-2EB1-4DC3-9D29-716720335A18}"/>
              </a:ext>
            </a:extLst>
          </p:cNvPr>
          <p:cNvSpPr>
            <a:spLocks xmlns:a="http://schemas.openxmlformats.org/drawingml/2006/main" noGrp="1"/>
          </p:cNvSpPr>
          <p:nvPr/>
        </p:nvSpPr>
        <p:spPr>
          <a:xfrm xmlns:a="http://schemas.openxmlformats.org/drawingml/2006/main">
            <a:off x="4476750" y="2076450"/>
            <a:ext cx="57150" cy="12001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4" name="">
            <a:extLst xmlns:a="http://schemas.openxmlformats.org/drawingml/2006/main">
              <a:ext uri="{FF2B5EF4-FFF2-40B4-BE49-F238E27FC236}">
                <a16:creationId xmlns:a16="http://schemas.microsoft.com/office/drawing/2014/main" id="{CC2A768F-D8E9-4570-8DD7-DD4C43CD224A}"/>
              </a:ext>
            </a:extLst>
          </p:cNvPr>
          <p:cNvSpPr>
            <a:spLocks xmlns:a="http://schemas.openxmlformats.org/drawingml/2006/main" noGrp="1"/>
          </p:cNvSpPr>
          <p:nvPr/>
        </p:nvSpPr>
        <p:spPr>
          <a:xfrm xmlns:a="http://schemas.openxmlformats.org/drawingml/2006/main">
            <a:off x="4648200" y="2190750"/>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E2433"/>
                </a:solidFill>
                <a:latin typeface="Times New Roman"/>
                <a:ea typeface="Times New Roman"/>
                <a:cs typeface="Times New Roman"/>
              </a:defRPr>
            </a:pPr>
            <a:r>
              <a:rPr sz="1500" b="1" i="0">
                <a:solidFill>
                  <a:srgbClr val="1E2433"/>
                </a:solidFill>
                <a:latin typeface="Times New Roman"/>
                <a:ea typeface="Times New Roman"/>
                <a:cs typeface="Times New Roman"/>
              </a:rPr>
              <a:t>Learning cost</a:t>
            </a:r>
          </a:p>
        </p:txBody>
      </p:sp>
      <p:sp>
        <p:nvSpPr>
          <p:cNvPr id="15" name="">
            <a:extLst xmlns:a="http://schemas.openxmlformats.org/drawingml/2006/main">
              <a:ext uri="{FF2B5EF4-FFF2-40B4-BE49-F238E27FC236}">
                <a16:creationId xmlns:a16="http://schemas.microsoft.com/office/drawing/2014/main" id="{D2DD5595-5140-44AC-8D46-567AE3841A37}"/>
              </a:ext>
            </a:extLst>
          </p:cNvPr>
          <p:cNvSpPr>
            <a:spLocks xmlns:a="http://schemas.openxmlformats.org/drawingml/2006/main" noGrp="1"/>
          </p:cNvSpPr>
          <p:nvPr/>
        </p:nvSpPr>
        <p:spPr>
          <a:xfrm xmlns:a="http://schemas.openxmlformats.org/drawingml/2006/main">
            <a:off x="4648200" y="2514600"/>
            <a:ext cx="2876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The environment must be learnable but not fully mastered in a few rounds.</a:t>
            </a:r>
          </a:p>
        </p:txBody>
      </p:sp>
      <p:sp>
        <p:nvSpPr>
          <p:cNvPr id="16" name="">
            <a:extLst xmlns:a="http://schemas.openxmlformats.org/drawingml/2006/main">
              <a:ext uri="{FF2B5EF4-FFF2-40B4-BE49-F238E27FC236}">
                <a16:creationId xmlns:a16="http://schemas.microsoft.com/office/drawing/2014/main" id="{C52CC83C-54CA-477F-A231-2B7F2EE2C41A}"/>
              </a:ext>
            </a:extLst>
          </p:cNvPr>
          <p:cNvSpPr>
            <a:spLocks xmlns:a="http://schemas.openxmlformats.org/drawingml/2006/main" noGrp="1"/>
          </p:cNvSpPr>
          <p:nvPr/>
        </p:nvSpPr>
        <p:spPr>
          <a:xfrm xmlns:a="http://schemas.openxmlformats.org/drawingml/2006/main">
            <a:off x="8039100" y="2076450"/>
            <a:ext cx="3162300" cy="1200150"/>
          </a:xfrm>
          <a:prstGeom xmlns:a="http://schemas.openxmlformats.org/drawingml/2006/main" prst="roundRect">
            <a:avLst>
              <a:gd name="adj" fmla="val 6349"/>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303A53AF-82C6-4DFB-BF60-30EA8FC78A15}"/>
              </a:ext>
            </a:extLst>
          </p:cNvPr>
          <p:cNvSpPr>
            <a:spLocks xmlns:a="http://schemas.openxmlformats.org/drawingml/2006/main" noGrp="1"/>
          </p:cNvSpPr>
          <p:nvPr/>
        </p:nvSpPr>
        <p:spPr>
          <a:xfrm xmlns:a="http://schemas.openxmlformats.org/drawingml/2006/main">
            <a:off x="8039100" y="2076450"/>
            <a:ext cx="57150" cy="12001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8" name="">
            <a:extLst xmlns:a="http://schemas.openxmlformats.org/drawingml/2006/main">
              <a:ext uri="{FF2B5EF4-FFF2-40B4-BE49-F238E27FC236}">
                <a16:creationId xmlns:a16="http://schemas.microsoft.com/office/drawing/2014/main" id="{E1B34AAC-4DAB-4DD5-9F0E-7E7287349F03}"/>
              </a:ext>
            </a:extLst>
          </p:cNvPr>
          <p:cNvSpPr>
            <a:spLocks xmlns:a="http://schemas.openxmlformats.org/drawingml/2006/main" noGrp="1"/>
          </p:cNvSpPr>
          <p:nvPr/>
        </p:nvSpPr>
        <p:spPr>
          <a:xfrm xmlns:a="http://schemas.openxmlformats.org/drawingml/2006/main">
            <a:off x="8210550" y="2190750"/>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E2433"/>
                </a:solidFill>
                <a:latin typeface="Times New Roman"/>
                <a:ea typeface="Times New Roman"/>
                <a:cs typeface="Times New Roman"/>
              </a:defRPr>
            </a:pPr>
            <a:r>
              <a:rPr sz="1500" b="1" i="0">
                <a:solidFill>
                  <a:srgbClr val="1E2433"/>
                </a:solidFill>
                <a:latin typeface="Times New Roman"/>
                <a:ea typeface="Times New Roman"/>
                <a:cs typeface="Times New Roman"/>
              </a:rPr>
              <a:t>Full counterfactual feedback</a:t>
            </a:r>
          </a:p>
        </p:txBody>
      </p:sp>
      <p:sp>
        <p:nvSpPr>
          <p:cNvPr id="19" name="">
            <a:extLst xmlns:a="http://schemas.openxmlformats.org/drawingml/2006/main">
              <a:ext uri="{FF2B5EF4-FFF2-40B4-BE49-F238E27FC236}">
                <a16:creationId xmlns:a16="http://schemas.microsoft.com/office/drawing/2014/main" id="{43F86A4F-C3FE-4A98-8AAE-922ACE628028}"/>
              </a:ext>
            </a:extLst>
          </p:cNvPr>
          <p:cNvSpPr>
            <a:spLocks xmlns:a="http://schemas.openxmlformats.org/drawingml/2006/main" noGrp="1"/>
          </p:cNvSpPr>
          <p:nvPr/>
        </p:nvSpPr>
        <p:spPr>
          <a:xfrm xmlns:a="http://schemas.openxmlformats.org/drawingml/2006/main">
            <a:off x="8210550" y="2514600"/>
            <a:ext cx="2876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Participants must always see how both sources would have performed.</a:t>
            </a:r>
          </a:p>
        </p:txBody>
      </p:sp>
      <p:sp>
        <p:nvSpPr>
          <p:cNvPr id="20" name="">
            <a:extLst xmlns:a="http://schemas.openxmlformats.org/drawingml/2006/main">
              <a:ext uri="{FF2B5EF4-FFF2-40B4-BE49-F238E27FC236}">
                <a16:creationId xmlns:a16="http://schemas.microsoft.com/office/drawing/2014/main" id="{31D32703-AD19-496A-B6CA-C37AEA64B2DA}"/>
              </a:ext>
            </a:extLst>
          </p:cNvPr>
          <p:cNvSpPr>
            <a:spLocks xmlns:a="http://schemas.openxmlformats.org/drawingml/2006/main" noGrp="1"/>
          </p:cNvSpPr>
          <p:nvPr/>
        </p:nvSpPr>
        <p:spPr>
          <a:xfrm xmlns:a="http://schemas.openxmlformats.org/drawingml/2006/main">
            <a:off x="914400" y="3486150"/>
            <a:ext cx="4914900" cy="1257300"/>
          </a:xfrm>
          <a:prstGeom xmlns:a="http://schemas.openxmlformats.org/drawingml/2006/main" prst="roundRect">
            <a:avLst>
              <a:gd name="adj" fmla="val 6061"/>
            </a:avLst>
          </a:prstGeom>
          <a:solidFill xmlns:a="http://schemas.openxmlformats.org/drawingml/2006/main">
            <a:srgbClr val="FFF9F0"/>
          </a:solidFill>
          <a:ln xmlns:a="http://schemas.openxmlformats.org/drawingml/2006/main" w="9525">
            <a:solidFill>
              <a:srgbClr val="E8DCCB"/>
            </a:solidFill>
            <a:prstDash val="solid"/>
          </a:ln>
        </p:spPr>
      </p:sp>
      <p:sp>
        <p:nvSpPr>
          <p:cNvPr id="21" name="">
            <a:extLst xmlns:a="http://schemas.openxmlformats.org/drawingml/2006/main">
              <a:ext uri="{FF2B5EF4-FFF2-40B4-BE49-F238E27FC236}">
                <a16:creationId xmlns:a16="http://schemas.microsoft.com/office/drawing/2014/main" id="{FCFDD266-4BC5-4390-BC69-ACE3C62C24A0}"/>
              </a:ext>
            </a:extLst>
          </p:cNvPr>
          <p:cNvSpPr>
            <a:spLocks xmlns:a="http://schemas.openxmlformats.org/drawingml/2006/main" noGrp="1"/>
          </p:cNvSpPr>
          <p:nvPr/>
        </p:nvSpPr>
        <p:spPr>
          <a:xfrm xmlns:a="http://schemas.openxmlformats.org/drawingml/2006/main">
            <a:off x="914400" y="3486150"/>
            <a:ext cx="57150" cy="12573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22" name="">
            <a:extLst xmlns:a="http://schemas.openxmlformats.org/drawingml/2006/main">
              <a:ext uri="{FF2B5EF4-FFF2-40B4-BE49-F238E27FC236}">
                <a16:creationId xmlns:a16="http://schemas.microsoft.com/office/drawing/2014/main" id="{BBADB2E2-85F4-446C-AFF3-FCB3177533D1}"/>
              </a:ext>
            </a:extLst>
          </p:cNvPr>
          <p:cNvSpPr>
            <a:spLocks xmlns:a="http://schemas.openxmlformats.org/drawingml/2006/main" noGrp="1"/>
          </p:cNvSpPr>
          <p:nvPr/>
        </p:nvSpPr>
        <p:spPr>
          <a:xfrm xmlns:a="http://schemas.openxmlformats.org/drawingml/2006/main">
            <a:off x="1085850" y="360045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E2433"/>
                </a:solidFill>
                <a:latin typeface="Times New Roman"/>
                <a:ea typeface="Times New Roman"/>
                <a:cs typeface="Times New Roman"/>
              </a:defRPr>
            </a:pPr>
            <a:r>
              <a:rPr sz="1575" b="1" i="0">
                <a:solidFill>
                  <a:srgbClr val="1E2433"/>
                </a:solidFill>
                <a:latin typeface="Times New Roman"/>
                <a:ea typeface="Times New Roman"/>
                <a:cs typeface="Times New Roman"/>
              </a:rPr>
              <a:t>Abstract standardized environment</a:t>
            </a:r>
          </a:p>
        </p:txBody>
      </p:sp>
      <p:sp>
        <p:nvSpPr>
          <p:cNvPr id="23" name="">
            <a:extLst xmlns:a="http://schemas.openxmlformats.org/drawingml/2006/main">
              <a:ext uri="{FF2B5EF4-FFF2-40B4-BE49-F238E27FC236}">
                <a16:creationId xmlns:a16="http://schemas.microsoft.com/office/drawing/2014/main" id="{7F20C4BB-CCA4-4F6D-82B9-930DEFB212C1}"/>
              </a:ext>
            </a:extLst>
          </p:cNvPr>
          <p:cNvSpPr>
            <a:spLocks xmlns:a="http://schemas.openxmlformats.org/drawingml/2006/main" noGrp="1"/>
          </p:cNvSpPr>
          <p:nvPr/>
        </p:nvSpPr>
        <p:spPr>
          <a:xfrm xmlns:a="http://schemas.openxmlformats.org/drawingml/2006/main">
            <a:off x="1085850" y="3924300"/>
            <a:ext cx="4629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The task must avoid domain labels that add outside attitudes.</a:t>
            </a:r>
          </a:p>
        </p:txBody>
      </p:sp>
      <p:sp>
        <p:nvSpPr>
          <p:cNvPr id="24" name="">
            <a:extLst xmlns:a="http://schemas.openxmlformats.org/drawingml/2006/main">
              <a:ext uri="{FF2B5EF4-FFF2-40B4-BE49-F238E27FC236}">
                <a16:creationId xmlns:a16="http://schemas.microsoft.com/office/drawing/2014/main" id="{A7DAAB59-7185-464B-9093-5625528E4560}"/>
              </a:ext>
            </a:extLst>
          </p:cNvPr>
          <p:cNvSpPr>
            <a:spLocks xmlns:a="http://schemas.openxmlformats.org/drawingml/2006/main" noGrp="1"/>
          </p:cNvSpPr>
          <p:nvPr/>
        </p:nvSpPr>
        <p:spPr>
          <a:xfrm xmlns:a="http://schemas.openxmlformats.org/drawingml/2006/main">
            <a:off x="6286500" y="3486150"/>
            <a:ext cx="4914900" cy="1257300"/>
          </a:xfrm>
          <a:prstGeom xmlns:a="http://schemas.openxmlformats.org/drawingml/2006/main" prst="roundRect">
            <a:avLst>
              <a:gd name="adj" fmla="val 6061"/>
            </a:avLst>
          </a:prstGeom>
          <a:solidFill xmlns:a="http://schemas.openxmlformats.org/drawingml/2006/main">
            <a:srgbClr val="FFF9F0"/>
          </a:solidFill>
          <a:ln xmlns:a="http://schemas.openxmlformats.org/drawingml/2006/main" w="9525">
            <a:solidFill>
              <a:srgbClr val="E8DCCB"/>
            </a:solidFill>
            <a:prstDash val="solid"/>
          </a:ln>
        </p:spPr>
      </p:sp>
      <p:sp>
        <p:nvSpPr>
          <p:cNvPr id="25" name="">
            <a:extLst xmlns:a="http://schemas.openxmlformats.org/drawingml/2006/main">
              <a:ext uri="{FF2B5EF4-FFF2-40B4-BE49-F238E27FC236}">
                <a16:creationId xmlns:a16="http://schemas.microsoft.com/office/drawing/2014/main" id="{507245BF-424D-4732-91DF-53C0219F8AB1}"/>
              </a:ext>
            </a:extLst>
          </p:cNvPr>
          <p:cNvSpPr>
            <a:spLocks xmlns:a="http://schemas.openxmlformats.org/drawingml/2006/main" noGrp="1"/>
          </p:cNvSpPr>
          <p:nvPr/>
        </p:nvSpPr>
        <p:spPr>
          <a:xfrm xmlns:a="http://schemas.openxmlformats.org/drawingml/2006/main">
            <a:off x="6286500" y="3486150"/>
            <a:ext cx="57150" cy="12573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26" name="">
            <a:extLst xmlns:a="http://schemas.openxmlformats.org/drawingml/2006/main">
              <a:ext uri="{FF2B5EF4-FFF2-40B4-BE49-F238E27FC236}">
                <a16:creationId xmlns:a16="http://schemas.microsoft.com/office/drawing/2014/main" id="{1E5DAF44-BC0C-46F5-93FE-2C86072A31E2}"/>
              </a:ext>
            </a:extLst>
          </p:cNvPr>
          <p:cNvSpPr>
            <a:spLocks xmlns:a="http://schemas.openxmlformats.org/drawingml/2006/main" noGrp="1"/>
          </p:cNvSpPr>
          <p:nvPr/>
        </p:nvSpPr>
        <p:spPr>
          <a:xfrm xmlns:a="http://schemas.openxmlformats.org/drawingml/2006/main">
            <a:off x="6457950" y="3600450"/>
            <a:ext cx="4629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1E2433"/>
                </a:solidFill>
                <a:latin typeface="Times New Roman"/>
                <a:ea typeface="Times New Roman"/>
                <a:cs typeface="Times New Roman"/>
              </a:defRPr>
            </a:pPr>
            <a:r>
              <a:rPr sz="1575" b="1" i="0">
                <a:solidFill>
                  <a:srgbClr val="1E2433"/>
                </a:solidFill>
                <a:latin typeface="Times New Roman"/>
                <a:ea typeface="Times New Roman"/>
                <a:cs typeface="Times New Roman"/>
              </a:rPr>
              <a:t>Parity-controlled AI usefulness</a:t>
            </a:r>
          </a:p>
        </p:txBody>
      </p:sp>
      <p:sp>
        <p:nvSpPr>
          <p:cNvPr id="27" name="">
            <a:extLst xmlns:a="http://schemas.openxmlformats.org/drawingml/2006/main">
              <a:ext uri="{FF2B5EF4-FFF2-40B4-BE49-F238E27FC236}">
                <a16:creationId xmlns:a16="http://schemas.microsoft.com/office/drawing/2014/main" id="{EE6405C3-ADEF-42FF-A3E7-4E8AE3B79FC7}"/>
              </a:ext>
            </a:extLst>
          </p:cNvPr>
          <p:cNvSpPr>
            <a:spLocks xmlns:a="http://schemas.openxmlformats.org/drawingml/2006/main" noGrp="1"/>
          </p:cNvSpPr>
          <p:nvPr/>
        </p:nvSpPr>
        <p:spPr>
          <a:xfrm xmlns:a="http://schemas.openxmlformats.org/drawingml/2006/main">
            <a:off x="6457950" y="3924300"/>
            <a:ext cx="46291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AI must remain useful overall so later under-reliance cannot be explained by lower ability.</a:t>
            </a:r>
          </a:p>
        </p:txBody>
      </p:sp>
      <p:sp>
        <p:nvSpPr>
          <p:cNvPr id="28" name="">
            <a:extLst xmlns:a="http://schemas.openxmlformats.org/drawingml/2006/main">
              <a:ext uri="{FF2B5EF4-FFF2-40B4-BE49-F238E27FC236}">
                <a16:creationId xmlns:a16="http://schemas.microsoft.com/office/drawing/2014/main" id="{53A7998D-9549-4B5F-A4FA-3DC977E9D33C}"/>
              </a:ext>
            </a:extLst>
          </p:cNvPr>
          <p:cNvSpPr>
            <a:spLocks xmlns:a="http://schemas.openxmlformats.org/drawingml/2006/main" noGrp="1"/>
          </p:cNvSpPr>
          <p:nvPr/>
        </p:nvSpPr>
        <p:spPr>
          <a:xfrm xmlns:a="http://schemas.openxmlformats.org/drawingml/2006/main">
            <a:off x="914400" y="520065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i="1">
                <a:solidFill>
                  <a:srgbClr val="5E6675"/>
                </a:solidFill>
                <a:latin typeface="Times New Roman"/>
                <a:ea typeface="Times New Roman"/>
                <a:cs typeface="Times New Roman"/>
              </a:defRPr>
            </a:pPr>
            <a:r>
              <a:rPr sz="1350" b="0" i="1">
                <a:solidFill>
                  <a:srgbClr val="5E6675"/>
                </a:solidFill>
                <a:latin typeface="Times New Roman"/>
                <a:ea typeface="Times New Roman"/>
                <a:cs typeface="Times New Roman"/>
              </a:rPr>
              <a:t>Only after these requirements are clear does the concrete treatment design become persuasive.</a:t>
            </a:r>
          </a:p>
        </p:txBody>
      </p:sp>
    </p:spTree>
    <p:extLst>
      <p:ext uri="{BB962C8B-B14F-4D97-AF65-F5344CB8AC3E}">
        <p14:creationId xmlns:p14="http://schemas.microsoft.com/office/powerpoint/2010/main" val="1314574078"/>
      </p:ext>
    </p:extLst>
  </p:cSld>
</p:sld>
</file>

<file path=ppt/slides/slide8.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D5B030-7952-4603-9527-907DDC01206D}"/>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F0B51E31-36DF-486C-B517-A6B80092C0BC}"/>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5ADE8EF3-5980-47CD-B72D-AAF76C546BAC}"/>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DD9A9186-BC40-4997-9615-5499A1AD0326}"/>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EF0FBE03-6B27-40C0-A0E2-881BED13CE8D}"/>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RQ TABLE</a:t>
            </a:r>
          </a:p>
        </p:txBody>
      </p:sp>
      <p:sp>
        <p:nvSpPr>
          <p:cNvPr id="6" name="">
            <a:extLst xmlns:a="http://schemas.openxmlformats.org/drawingml/2006/main">
              <a:ext uri="{FF2B5EF4-FFF2-40B4-BE49-F238E27FC236}">
                <a16:creationId xmlns:a16="http://schemas.microsoft.com/office/drawing/2014/main" id="{3890CB6E-34A2-4EDD-8998-76B0A559B060}"/>
              </a:ext>
            </a:extLst>
          </p:cNvPr>
          <p:cNvSpPr>
            <a:spLocks xmlns:a="http://schemas.openxmlformats.org/drawingml/2006/main" noGrp="1"/>
          </p:cNvSpPr>
          <p:nvPr/>
        </p:nvSpPr>
        <p:spPr>
          <a:xfrm xmlns:a="http://schemas.openxmlformats.org/drawingml/2006/main">
            <a:off x="914400" y="914400"/>
            <a:ext cx="1009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i="0">
                <a:solidFill>
                  <a:srgbClr val="1E2433"/>
                </a:solidFill>
                <a:latin typeface="Times New Roman"/>
                <a:ea typeface="Times New Roman"/>
                <a:cs typeface="Times New Roman"/>
              </a:defRPr>
            </a:pPr>
            <a:r>
              <a:rPr sz="2625" b="1" i="0">
                <a:solidFill>
                  <a:srgbClr val="1E2433"/>
                </a:solidFill>
                <a:latin typeface="Times New Roman"/>
                <a:ea typeface="Times New Roman"/>
                <a:cs typeface="Times New Roman"/>
              </a:rPr>
              <a:t>Hypotheses, manipulations, and comparisons align cleanly</a:t>
            </a:r>
          </a:p>
        </p:txBody>
      </p:sp>
      <p:sp>
        <p:nvSpPr>
          <p:cNvPr id="7" name="">
            <a:extLst xmlns:a="http://schemas.openxmlformats.org/drawingml/2006/main">
              <a:ext uri="{FF2B5EF4-FFF2-40B4-BE49-F238E27FC236}">
                <a16:creationId xmlns:a16="http://schemas.microsoft.com/office/drawing/2014/main" id="{23404A5D-0261-4027-932C-AF4B4A280BDA}"/>
              </a:ext>
            </a:extLst>
          </p:cNvPr>
          <p:cNvSpPr>
            <a:spLocks xmlns:a="http://schemas.openxmlformats.org/drawingml/2006/main" noGrp="1"/>
          </p:cNvSpPr>
          <p:nvPr/>
        </p:nvSpPr>
        <p:spPr>
          <a:xfrm xmlns:a="http://schemas.openxmlformats.org/drawingml/2006/main">
            <a:off x="914400" y="1428750"/>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This is the shortest way to show how the design answers the questions while keeping parity explicit.</a:t>
            </a:r>
          </a:p>
        </p:txBody>
      </p:sp>
      <p:sp>
        <p:nvSpPr>
          <p:cNvPr id="8" name="">
            <a:extLst xmlns:a="http://schemas.openxmlformats.org/drawingml/2006/main">
              <a:ext uri="{FF2B5EF4-FFF2-40B4-BE49-F238E27FC236}">
                <a16:creationId xmlns:a16="http://schemas.microsoft.com/office/drawing/2014/main" id="{B56A3908-91FA-40A9-9A0A-6A43998A1357}"/>
              </a:ext>
            </a:extLst>
          </p:cNvPr>
          <p:cNvSpPr>
            <a:spLocks xmlns:a="http://schemas.openxmlformats.org/drawingml/2006/main" noGrp="1"/>
          </p:cNvSpPr>
          <p:nvPr/>
        </p:nvSpPr>
        <p:spPr>
          <a:xfrm xmlns:a="http://schemas.openxmlformats.org/drawingml/2006/main">
            <a:off x="914400" y="1962150"/>
            <a:ext cx="1619250" cy="476250"/>
          </a:xfrm>
          <a:prstGeom xmlns:a="http://schemas.openxmlformats.org/drawingml/2006/main" prst="rect">
            <a:avLst/>
          </a:prstGeom>
          <a:solidFill xmlns:a="http://schemas.openxmlformats.org/drawingml/2006/main">
            <a:srgbClr val="B45A3C"/>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F465227A-8078-4BA4-934C-B436F40BAA18}"/>
              </a:ext>
            </a:extLst>
          </p:cNvPr>
          <p:cNvSpPr>
            <a:spLocks xmlns:a="http://schemas.openxmlformats.org/drawingml/2006/main" noGrp="1"/>
          </p:cNvSpPr>
          <p:nvPr/>
        </p:nvSpPr>
        <p:spPr>
          <a:xfrm xmlns:a="http://schemas.openxmlformats.org/drawingml/2006/main">
            <a:off x="1028700" y="205740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latin typeface="Times New Roman"/>
                <a:ea typeface="Times New Roman"/>
                <a:cs typeface="Times New Roman"/>
              </a:defRPr>
            </a:pPr>
            <a:r>
              <a:rPr sz="1125" b="1" i="0">
                <a:solidFill>
                  <a:srgbClr val="FFFFFF"/>
                </a:solidFill>
                <a:latin typeface="Times New Roman"/>
                <a:ea typeface="Times New Roman"/>
                <a:cs typeface="Times New Roman"/>
              </a:rPr>
              <a:t>RQ / H</a:t>
            </a:r>
          </a:p>
        </p:txBody>
      </p:sp>
      <p:sp>
        <p:nvSpPr>
          <p:cNvPr id="10" name="">
            <a:extLst xmlns:a="http://schemas.openxmlformats.org/drawingml/2006/main">
              <a:ext uri="{FF2B5EF4-FFF2-40B4-BE49-F238E27FC236}">
                <a16:creationId xmlns:a16="http://schemas.microsoft.com/office/drawing/2014/main" id="{E4F5A4BA-B8AC-4B5B-86CA-00A9BDFF446F}"/>
              </a:ext>
            </a:extLst>
          </p:cNvPr>
          <p:cNvSpPr>
            <a:spLocks xmlns:a="http://schemas.openxmlformats.org/drawingml/2006/main" noGrp="1"/>
          </p:cNvSpPr>
          <p:nvPr/>
        </p:nvSpPr>
        <p:spPr>
          <a:xfrm xmlns:a="http://schemas.openxmlformats.org/drawingml/2006/main">
            <a:off x="2533650" y="1962150"/>
            <a:ext cx="2286000" cy="476250"/>
          </a:xfrm>
          <a:prstGeom xmlns:a="http://schemas.openxmlformats.org/drawingml/2006/main" prst="rect">
            <a:avLst/>
          </a:prstGeom>
          <a:solidFill xmlns:a="http://schemas.openxmlformats.org/drawingml/2006/main">
            <a:srgbClr val="B45A3C"/>
          </a:solidFill>
          <a:ln xmlns:a="http://schemas.openxmlformats.org/drawingml/2006/main" w="9525">
            <a:solidFill>
              <a:srgbClr val="E8DCCB"/>
            </a:solidFill>
            <a:prstDash val="solid"/>
          </a:ln>
        </p:spPr>
      </p:sp>
      <p:sp>
        <p:nvSpPr>
          <p:cNvPr id="11" name="">
            <a:extLst xmlns:a="http://schemas.openxmlformats.org/drawingml/2006/main">
              <a:ext uri="{FF2B5EF4-FFF2-40B4-BE49-F238E27FC236}">
                <a16:creationId xmlns:a16="http://schemas.microsoft.com/office/drawing/2014/main" id="{976728D4-D616-4F46-9E5C-77D84FA1BEF1}"/>
              </a:ext>
            </a:extLst>
          </p:cNvPr>
          <p:cNvSpPr>
            <a:spLocks xmlns:a="http://schemas.openxmlformats.org/drawingml/2006/main" noGrp="1"/>
          </p:cNvSpPr>
          <p:nvPr/>
        </p:nvSpPr>
        <p:spPr>
          <a:xfrm xmlns:a="http://schemas.openxmlformats.org/drawingml/2006/main">
            <a:off x="2647950" y="205740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latin typeface="Times New Roman"/>
                <a:ea typeface="Times New Roman"/>
                <a:cs typeface="Times New Roman"/>
              </a:defRPr>
            </a:pPr>
            <a:r>
              <a:rPr sz="1125" b="1" i="0">
                <a:solidFill>
                  <a:srgbClr val="FFFFFF"/>
                </a:solidFill>
                <a:latin typeface="Times New Roman"/>
                <a:ea typeface="Times New Roman"/>
                <a:cs typeface="Times New Roman"/>
              </a:rPr>
              <a:t>Experimental manipulation</a:t>
            </a:r>
          </a:p>
        </p:txBody>
      </p:sp>
      <p:sp>
        <p:nvSpPr>
          <p:cNvPr id="12" name="">
            <a:extLst xmlns:a="http://schemas.openxmlformats.org/drawingml/2006/main">
              <a:ext uri="{FF2B5EF4-FFF2-40B4-BE49-F238E27FC236}">
                <a16:creationId xmlns:a16="http://schemas.microsoft.com/office/drawing/2014/main" id="{A04B85F1-2D4D-4502-A23C-E93282EC5D05}"/>
              </a:ext>
            </a:extLst>
          </p:cNvPr>
          <p:cNvSpPr>
            <a:spLocks xmlns:a="http://schemas.openxmlformats.org/drawingml/2006/main" noGrp="1"/>
          </p:cNvSpPr>
          <p:nvPr/>
        </p:nvSpPr>
        <p:spPr>
          <a:xfrm xmlns:a="http://schemas.openxmlformats.org/drawingml/2006/main">
            <a:off x="4819650" y="1962150"/>
            <a:ext cx="1981200" cy="476250"/>
          </a:xfrm>
          <a:prstGeom xmlns:a="http://schemas.openxmlformats.org/drawingml/2006/main" prst="rect">
            <a:avLst/>
          </a:prstGeom>
          <a:solidFill xmlns:a="http://schemas.openxmlformats.org/drawingml/2006/main">
            <a:srgbClr val="B45A3C"/>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96EACB8B-A8C8-400A-9845-A26623E79DDE}"/>
              </a:ext>
            </a:extLst>
          </p:cNvPr>
          <p:cNvSpPr>
            <a:spLocks xmlns:a="http://schemas.openxmlformats.org/drawingml/2006/main" noGrp="1"/>
          </p:cNvSpPr>
          <p:nvPr/>
        </p:nvSpPr>
        <p:spPr>
          <a:xfrm xmlns:a="http://schemas.openxmlformats.org/drawingml/2006/main">
            <a:off x="4933950" y="20574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latin typeface="Times New Roman"/>
                <a:ea typeface="Times New Roman"/>
                <a:cs typeface="Times New Roman"/>
              </a:defRPr>
            </a:pPr>
            <a:r>
              <a:rPr sz="1125" b="1" i="0">
                <a:solidFill>
                  <a:srgbClr val="FFFFFF"/>
                </a:solidFill>
                <a:latin typeface="Times New Roman"/>
                <a:ea typeface="Times New Roman"/>
                <a:cs typeface="Times New Roman"/>
              </a:rPr>
              <a:t>Key comparison</a:t>
            </a:r>
          </a:p>
        </p:txBody>
      </p:sp>
      <p:sp>
        <p:nvSpPr>
          <p:cNvPr id="14" name="">
            <a:extLst xmlns:a="http://schemas.openxmlformats.org/drawingml/2006/main">
              <a:ext uri="{FF2B5EF4-FFF2-40B4-BE49-F238E27FC236}">
                <a16:creationId xmlns:a16="http://schemas.microsoft.com/office/drawing/2014/main" id="{9F8C78A0-7D2D-46FF-84E0-709CBF8473A7}"/>
              </a:ext>
            </a:extLst>
          </p:cNvPr>
          <p:cNvSpPr>
            <a:spLocks xmlns:a="http://schemas.openxmlformats.org/drawingml/2006/main" noGrp="1"/>
          </p:cNvSpPr>
          <p:nvPr/>
        </p:nvSpPr>
        <p:spPr>
          <a:xfrm xmlns:a="http://schemas.openxmlformats.org/drawingml/2006/main">
            <a:off x="6800850" y="1962150"/>
            <a:ext cx="2000250" cy="476250"/>
          </a:xfrm>
          <a:prstGeom xmlns:a="http://schemas.openxmlformats.org/drawingml/2006/main" prst="rect">
            <a:avLst/>
          </a:prstGeom>
          <a:solidFill xmlns:a="http://schemas.openxmlformats.org/drawingml/2006/main">
            <a:srgbClr val="B45A3C"/>
          </a:solidFill>
          <a:ln xmlns:a="http://schemas.openxmlformats.org/drawingml/2006/main" w="9525">
            <a:solidFill>
              <a:srgbClr val="E8DCCB"/>
            </a:solidFill>
            <a:prstDash val="solid"/>
          </a:ln>
        </p:spPr>
      </p:sp>
      <p:sp>
        <p:nvSpPr>
          <p:cNvPr id="15" name="">
            <a:extLst xmlns:a="http://schemas.openxmlformats.org/drawingml/2006/main">
              <a:ext uri="{FF2B5EF4-FFF2-40B4-BE49-F238E27FC236}">
                <a16:creationId xmlns:a16="http://schemas.microsoft.com/office/drawing/2014/main" id="{8AA184E1-BC29-4C84-AEFB-0D2D7BA1A3FD}"/>
              </a:ext>
            </a:extLst>
          </p:cNvPr>
          <p:cNvSpPr>
            <a:spLocks xmlns:a="http://schemas.openxmlformats.org/drawingml/2006/main" noGrp="1"/>
          </p:cNvSpPr>
          <p:nvPr/>
        </p:nvSpPr>
        <p:spPr>
          <a:xfrm xmlns:a="http://schemas.openxmlformats.org/drawingml/2006/main">
            <a:off x="6915150" y="2057400"/>
            <a:ext cx="1771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latin typeface="Times New Roman"/>
                <a:ea typeface="Times New Roman"/>
                <a:cs typeface="Times New Roman"/>
              </a:defRPr>
            </a:pPr>
            <a:r>
              <a:rPr sz="1125" b="1" i="0">
                <a:solidFill>
                  <a:srgbClr val="FFFFFF"/>
                </a:solidFill>
                <a:latin typeface="Times New Roman"/>
                <a:ea typeface="Times New Roman"/>
                <a:cs typeface="Times New Roman"/>
              </a:rPr>
              <a:t>Parity standard</a:t>
            </a:r>
          </a:p>
        </p:txBody>
      </p:sp>
      <p:sp>
        <p:nvSpPr>
          <p:cNvPr id="16" name="">
            <a:extLst xmlns:a="http://schemas.openxmlformats.org/drawingml/2006/main">
              <a:ext uri="{FF2B5EF4-FFF2-40B4-BE49-F238E27FC236}">
                <a16:creationId xmlns:a16="http://schemas.microsoft.com/office/drawing/2014/main" id="{FC81824A-B921-47FE-8455-826F710331BA}"/>
              </a:ext>
            </a:extLst>
          </p:cNvPr>
          <p:cNvSpPr>
            <a:spLocks xmlns:a="http://schemas.openxmlformats.org/drawingml/2006/main" noGrp="1"/>
          </p:cNvSpPr>
          <p:nvPr/>
        </p:nvSpPr>
        <p:spPr>
          <a:xfrm xmlns:a="http://schemas.openxmlformats.org/drawingml/2006/main">
            <a:off x="8801100" y="1962150"/>
            <a:ext cx="2476500" cy="476250"/>
          </a:xfrm>
          <a:prstGeom xmlns:a="http://schemas.openxmlformats.org/drawingml/2006/main" prst="rect">
            <a:avLst/>
          </a:prstGeom>
          <a:solidFill xmlns:a="http://schemas.openxmlformats.org/drawingml/2006/main">
            <a:srgbClr val="B45A3C"/>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EFB61A88-534F-4246-A2F8-4E78D22AEBC8}"/>
              </a:ext>
            </a:extLst>
          </p:cNvPr>
          <p:cNvSpPr>
            <a:spLocks xmlns:a="http://schemas.openxmlformats.org/drawingml/2006/main" noGrp="1"/>
          </p:cNvSpPr>
          <p:nvPr/>
        </p:nvSpPr>
        <p:spPr>
          <a:xfrm xmlns:a="http://schemas.openxmlformats.org/drawingml/2006/main">
            <a:off x="8915400" y="2057400"/>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latin typeface="Times New Roman"/>
                <a:ea typeface="Times New Roman"/>
                <a:cs typeface="Times New Roman"/>
              </a:defRPr>
            </a:pPr>
            <a:r>
              <a:rPr sz="1125" b="1" i="0">
                <a:solidFill>
                  <a:srgbClr val="FFFFFF"/>
                </a:solidFill>
                <a:latin typeface="Times New Roman"/>
                <a:ea typeface="Times New Roman"/>
                <a:cs typeface="Times New Roman"/>
              </a:rPr>
              <a:t>What the comparison identifies</a:t>
            </a:r>
          </a:p>
        </p:txBody>
      </p:sp>
      <p:sp>
        <p:nvSpPr>
          <p:cNvPr id="18" name="">
            <a:extLst xmlns:a="http://schemas.openxmlformats.org/drawingml/2006/main">
              <a:ext uri="{FF2B5EF4-FFF2-40B4-BE49-F238E27FC236}">
                <a16:creationId xmlns:a16="http://schemas.microsoft.com/office/drawing/2014/main" id="{2EE07634-451F-4FE9-B610-0DDE8573952A}"/>
              </a:ext>
            </a:extLst>
          </p:cNvPr>
          <p:cNvSpPr>
            <a:spLocks xmlns:a="http://schemas.openxmlformats.org/drawingml/2006/main" noGrp="1"/>
          </p:cNvSpPr>
          <p:nvPr/>
        </p:nvSpPr>
        <p:spPr>
          <a:xfrm xmlns:a="http://schemas.openxmlformats.org/drawingml/2006/main">
            <a:off x="914400" y="2438400"/>
            <a:ext cx="161925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19" name="">
            <a:extLst xmlns:a="http://schemas.openxmlformats.org/drawingml/2006/main">
              <a:ext uri="{FF2B5EF4-FFF2-40B4-BE49-F238E27FC236}">
                <a16:creationId xmlns:a16="http://schemas.microsoft.com/office/drawing/2014/main" id="{7530AB05-77B7-40B1-8E50-6E7E3863B481}"/>
              </a:ext>
            </a:extLst>
          </p:cNvPr>
          <p:cNvSpPr>
            <a:spLocks xmlns:a="http://schemas.openxmlformats.org/drawingml/2006/main" noGrp="1"/>
          </p:cNvSpPr>
          <p:nvPr/>
        </p:nvSpPr>
        <p:spPr>
          <a:xfrm xmlns:a="http://schemas.openxmlformats.org/drawingml/2006/main">
            <a:off x="1028700" y="2533650"/>
            <a:ext cx="1390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H1</a:t>
            </a:r>
          </a:p>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Dynamic updating</a:t>
            </a:r>
          </a:p>
        </p:txBody>
      </p:sp>
      <p:sp>
        <p:nvSpPr>
          <p:cNvPr id="20" name="">
            <a:extLst xmlns:a="http://schemas.openxmlformats.org/drawingml/2006/main">
              <a:ext uri="{FF2B5EF4-FFF2-40B4-BE49-F238E27FC236}">
                <a16:creationId xmlns:a16="http://schemas.microsoft.com/office/drawing/2014/main" id="{30AF4E97-1811-4D87-B30C-6C480F2839BF}"/>
              </a:ext>
            </a:extLst>
          </p:cNvPr>
          <p:cNvSpPr>
            <a:spLocks xmlns:a="http://schemas.openxmlformats.org/drawingml/2006/main" noGrp="1"/>
          </p:cNvSpPr>
          <p:nvPr/>
        </p:nvSpPr>
        <p:spPr>
          <a:xfrm xmlns:a="http://schemas.openxmlformats.org/drawingml/2006/main">
            <a:off x="2533650" y="2438400"/>
            <a:ext cx="228600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21" name="">
            <a:extLst xmlns:a="http://schemas.openxmlformats.org/drawingml/2006/main">
              <a:ext uri="{FF2B5EF4-FFF2-40B4-BE49-F238E27FC236}">
                <a16:creationId xmlns:a16="http://schemas.microsoft.com/office/drawing/2014/main" id="{2AB4F44D-0C19-418F-93CB-2E3CC8210259}"/>
              </a:ext>
            </a:extLst>
          </p:cNvPr>
          <p:cNvSpPr>
            <a:spLocks xmlns:a="http://schemas.openxmlformats.org/drawingml/2006/main" noGrp="1"/>
          </p:cNvSpPr>
          <p:nvPr/>
        </p:nvSpPr>
        <p:spPr>
          <a:xfrm xmlns:a="http://schemas.openxmlformats.org/drawingml/2006/main">
            <a:off x="2647950" y="2533650"/>
            <a:ext cx="2057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Repeated self-versus-AI choice with full feedback every round</a:t>
            </a:r>
          </a:p>
        </p:txBody>
      </p:sp>
      <p:sp>
        <p:nvSpPr>
          <p:cNvPr id="22" name="">
            <a:extLst xmlns:a="http://schemas.openxmlformats.org/drawingml/2006/main">
              <a:ext uri="{FF2B5EF4-FFF2-40B4-BE49-F238E27FC236}">
                <a16:creationId xmlns:a16="http://schemas.microsoft.com/office/drawing/2014/main" id="{9BB64821-B4BF-4D7A-9439-582367746485}"/>
              </a:ext>
            </a:extLst>
          </p:cNvPr>
          <p:cNvSpPr>
            <a:spLocks xmlns:a="http://schemas.openxmlformats.org/drawingml/2006/main" noGrp="1"/>
          </p:cNvSpPr>
          <p:nvPr/>
        </p:nvSpPr>
        <p:spPr>
          <a:xfrm xmlns:a="http://schemas.openxmlformats.org/drawingml/2006/main">
            <a:off x="4819650" y="2438400"/>
            <a:ext cx="198120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23" name="">
            <a:extLst xmlns:a="http://schemas.openxmlformats.org/drawingml/2006/main">
              <a:ext uri="{FF2B5EF4-FFF2-40B4-BE49-F238E27FC236}">
                <a16:creationId xmlns:a16="http://schemas.microsoft.com/office/drawing/2014/main" id="{E673A585-B306-4CDB-A1A7-B616366D2F2C}"/>
              </a:ext>
            </a:extLst>
          </p:cNvPr>
          <p:cNvSpPr>
            <a:spLocks xmlns:a="http://schemas.openxmlformats.org/drawingml/2006/main" noGrp="1"/>
          </p:cNvSpPr>
          <p:nvPr/>
        </p:nvSpPr>
        <p:spPr>
          <a:xfrm xmlns:a="http://schemas.openxmlformats.org/drawingml/2006/main">
            <a:off x="4933950" y="253365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Rounds after AI outperforms self versus rounds after AI underperforms self</a:t>
            </a:r>
          </a:p>
        </p:txBody>
      </p:sp>
      <p:sp>
        <p:nvSpPr>
          <p:cNvPr id="24" name="">
            <a:extLst xmlns:a="http://schemas.openxmlformats.org/drawingml/2006/main">
              <a:ext uri="{FF2B5EF4-FFF2-40B4-BE49-F238E27FC236}">
                <a16:creationId xmlns:a16="http://schemas.microsoft.com/office/drawing/2014/main" id="{9D8C9B30-733B-4F77-97A7-D07207CF26CF}"/>
              </a:ext>
            </a:extLst>
          </p:cNvPr>
          <p:cNvSpPr>
            <a:spLocks xmlns:a="http://schemas.openxmlformats.org/drawingml/2006/main" noGrp="1"/>
          </p:cNvSpPr>
          <p:nvPr/>
        </p:nvSpPr>
        <p:spPr>
          <a:xfrm xmlns:a="http://schemas.openxmlformats.org/drawingml/2006/main">
            <a:off x="6800850" y="2438400"/>
            <a:ext cx="200025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25" name="">
            <a:extLst xmlns:a="http://schemas.openxmlformats.org/drawingml/2006/main">
              <a:ext uri="{FF2B5EF4-FFF2-40B4-BE49-F238E27FC236}">
                <a16:creationId xmlns:a16="http://schemas.microsoft.com/office/drawing/2014/main" id="{207BF3A3-C487-409B-B735-0793E2046A0E}"/>
              </a:ext>
            </a:extLst>
          </p:cNvPr>
          <p:cNvSpPr>
            <a:spLocks xmlns:a="http://schemas.openxmlformats.org/drawingml/2006/main" noGrp="1"/>
          </p:cNvSpPr>
          <p:nvPr/>
        </p:nvSpPr>
        <p:spPr>
          <a:xfrm xmlns:a="http://schemas.openxmlformats.org/drawingml/2006/main">
            <a:off x="6915150" y="25336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Same task, same interface, same feedback rule for all participants</a:t>
            </a:r>
          </a:p>
        </p:txBody>
      </p:sp>
      <p:sp>
        <p:nvSpPr>
          <p:cNvPr id="26" name="">
            <a:extLst xmlns:a="http://schemas.openxmlformats.org/drawingml/2006/main">
              <a:ext uri="{FF2B5EF4-FFF2-40B4-BE49-F238E27FC236}">
                <a16:creationId xmlns:a16="http://schemas.microsoft.com/office/drawing/2014/main" id="{996171DD-045C-4708-AC71-FC6AB62C5235}"/>
              </a:ext>
            </a:extLst>
          </p:cNvPr>
          <p:cNvSpPr>
            <a:spLocks xmlns:a="http://schemas.openxmlformats.org/drawingml/2006/main" noGrp="1"/>
          </p:cNvSpPr>
          <p:nvPr/>
        </p:nvSpPr>
        <p:spPr>
          <a:xfrm xmlns:a="http://schemas.openxmlformats.org/drawingml/2006/main">
            <a:off x="8801100" y="2438400"/>
            <a:ext cx="247650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27" name="">
            <a:extLst xmlns:a="http://schemas.openxmlformats.org/drawingml/2006/main">
              <a:ext uri="{FF2B5EF4-FFF2-40B4-BE49-F238E27FC236}">
                <a16:creationId xmlns:a16="http://schemas.microsoft.com/office/drawing/2014/main" id="{A7F03E4F-FCA4-4739-B67F-4CE52FDFE9B8}"/>
              </a:ext>
            </a:extLst>
          </p:cNvPr>
          <p:cNvSpPr>
            <a:spLocks xmlns:a="http://schemas.openxmlformats.org/drawingml/2006/main" noGrp="1"/>
          </p:cNvSpPr>
          <p:nvPr/>
        </p:nvSpPr>
        <p:spPr>
          <a:xfrm xmlns:a="http://schemas.openxmlformats.org/drawingml/2006/main">
            <a:off x="8915400" y="2533650"/>
            <a:ext cx="2247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Whether reliance tracks relative performance at all</a:t>
            </a:r>
          </a:p>
        </p:txBody>
      </p:sp>
      <p:sp>
        <p:nvSpPr>
          <p:cNvPr id="28" name="">
            <a:extLst xmlns:a="http://schemas.openxmlformats.org/drawingml/2006/main">
              <a:ext uri="{FF2B5EF4-FFF2-40B4-BE49-F238E27FC236}">
                <a16:creationId xmlns:a16="http://schemas.microsoft.com/office/drawing/2014/main" id="{1D018474-4445-4A04-9A81-0981802D1651}"/>
              </a:ext>
            </a:extLst>
          </p:cNvPr>
          <p:cNvSpPr>
            <a:spLocks xmlns:a="http://schemas.openxmlformats.org/drawingml/2006/main" noGrp="1"/>
          </p:cNvSpPr>
          <p:nvPr/>
        </p:nvSpPr>
        <p:spPr>
          <a:xfrm xmlns:a="http://schemas.openxmlformats.org/drawingml/2006/main">
            <a:off x="914400" y="3333750"/>
            <a:ext cx="161925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29" name="">
            <a:extLst xmlns:a="http://schemas.openxmlformats.org/drawingml/2006/main">
              <a:ext uri="{FF2B5EF4-FFF2-40B4-BE49-F238E27FC236}">
                <a16:creationId xmlns:a16="http://schemas.microsoft.com/office/drawing/2014/main" id="{1B92035E-CA3F-4ABD-81EE-4806CD0FB78C}"/>
              </a:ext>
            </a:extLst>
          </p:cNvPr>
          <p:cNvSpPr>
            <a:spLocks xmlns:a="http://schemas.openxmlformats.org/drawingml/2006/main" noGrp="1"/>
          </p:cNvSpPr>
          <p:nvPr/>
        </p:nvSpPr>
        <p:spPr>
          <a:xfrm xmlns:a="http://schemas.openxmlformats.org/drawingml/2006/main">
            <a:off x="1028700" y="3429000"/>
            <a:ext cx="1390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H2-H3</a:t>
            </a:r>
          </a:p>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Shock and recovery</a:t>
            </a:r>
          </a:p>
        </p:txBody>
      </p:sp>
      <p:sp>
        <p:nvSpPr>
          <p:cNvPr id="30" name="">
            <a:extLst xmlns:a="http://schemas.openxmlformats.org/drawingml/2006/main">
              <a:ext uri="{FF2B5EF4-FFF2-40B4-BE49-F238E27FC236}">
                <a16:creationId xmlns:a16="http://schemas.microsoft.com/office/drawing/2014/main" id="{8CFB8644-3A38-4290-A7F6-F89233E218AD}"/>
              </a:ext>
            </a:extLst>
          </p:cNvPr>
          <p:cNvSpPr>
            <a:spLocks xmlns:a="http://schemas.openxmlformats.org/drawingml/2006/main" noGrp="1"/>
          </p:cNvSpPr>
          <p:nvPr/>
        </p:nvSpPr>
        <p:spPr>
          <a:xfrm xmlns:a="http://schemas.openxmlformats.org/drawingml/2006/main">
            <a:off x="2533650" y="3333750"/>
            <a:ext cx="228600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31" name="">
            <a:extLst xmlns:a="http://schemas.openxmlformats.org/drawingml/2006/main">
              <a:ext uri="{FF2B5EF4-FFF2-40B4-BE49-F238E27FC236}">
                <a16:creationId xmlns:a16="http://schemas.microsoft.com/office/drawing/2014/main" id="{FB9B561D-E14B-49B8-8127-E8850E6B16BD}"/>
              </a:ext>
            </a:extLst>
          </p:cNvPr>
          <p:cNvSpPr>
            <a:spLocks xmlns:a="http://schemas.openxmlformats.org/drawingml/2006/main" noGrp="1"/>
          </p:cNvSpPr>
          <p:nvPr/>
        </p:nvSpPr>
        <p:spPr>
          <a:xfrm xmlns:a="http://schemas.openxmlformats.org/drawingml/2006/main">
            <a:off x="2647950" y="3429000"/>
            <a:ext cx="2057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Concentrated AI errors followed by recovery versus balanced AI errors</a:t>
            </a:r>
          </a:p>
        </p:txBody>
      </p:sp>
      <p:sp>
        <p:nvSpPr>
          <p:cNvPr id="32" name="">
            <a:extLst xmlns:a="http://schemas.openxmlformats.org/drawingml/2006/main">
              <a:ext uri="{FF2B5EF4-FFF2-40B4-BE49-F238E27FC236}">
                <a16:creationId xmlns:a16="http://schemas.microsoft.com/office/drawing/2014/main" id="{6C2212DF-DF85-48E1-97F9-24B80C44D8A7}"/>
              </a:ext>
            </a:extLst>
          </p:cNvPr>
          <p:cNvSpPr>
            <a:spLocks xmlns:a="http://schemas.openxmlformats.org/drawingml/2006/main" noGrp="1"/>
          </p:cNvSpPr>
          <p:nvPr/>
        </p:nvSpPr>
        <p:spPr>
          <a:xfrm xmlns:a="http://schemas.openxmlformats.org/drawingml/2006/main">
            <a:off x="4819650" y="3333750"/>
            <a:ext cx="198120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33" name="">
            <a:extLst xmlns:a="http://schemas.openxmlformats.org/drawingml/2006/main">
              <a:ext uri="{FF2B5EF4-FFF2-40B4-BE49-F238E27FC236}">
                <a16:creationId xmlns:a16="http://schemas.microsoft.com/office/drawing/2014/main" id="{CBE8FCCC-8F39-46E8-9F5B-03585061AA68}"/>
              </a:ext>
            </a:extLst>
          </p:cNvPr>
          <p:cNvSpPr>
            <a:spLocks xmlns:a="http://schemas.openxmlformats.org/drawingml/2006/main" noGrp="1"/>
          </p:cNvSpPr>
          <p:nvPr/>
        </p:nvSpPr>
        <p:spPr>
          <a:xfrm xmlns:a="http://schemas.openxmlformats.org/drawingml/2006/main">
            <a:off x="4933950" y="3429000"/>
            <a:ext cx="1752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Shock versus Balanced in post-shock rounds and in recovery rounds</a:t>
            </a:r>
          </a:p>
        </p:txBody>
      </p:sp>
      <p:sp>
        <p:nvSpPr>
          <p:cNvPr id="34" name="">
            <a:extLst xmlns:a="http://schemas.openxmlformats.org/drawingml/2006/main">
              <a:ext uri="{FF2B5EF4-FFF2-40B4-BE49-F238E27FC236}">
                <a16:creationId xmlns:a16="http://schemas.microsoft.com/office/drawing/2014/main" id="{52E54FCA-6F9A-4E67-95B8-EE7AA13E52CC}"/>
              </a:ext>
            </a:extLst>
          </p:cNvPr>
          <p:cNvSpPr>
            <a:spLocks xmlns:a="http://schemas.openxmlformats.org/drawingml/2006/main" noGrp="1"/>
          </p:cNvSpPr>
          <p:nvPr/>
        </p:nvSpPr>
        <p:spPr>
          <a:xfrm xmlns:a="http://schemas.openxmlformats.org/drawingml/2006/main">
            <a:off x="6800850" y="3333750"/>
            <a:ext cx="200025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35" name="">
            <a:extLst xmlns:a="http://schemas.openxmlformats.org/drawingml/2006/main">
              <a:ext uri="{FF2B5EF4-FFF2-40B4-BE49-F238E27FC236}">
                <a16:creationId xmlns:a16="http://schemas.microsoft.com/office/drawing/2014/main" id="{3E66BF45-18F7-4328-85C4-F6FDA17F0803}"/>
              </a:ext>
            </a:extLst>
          </p:cNvPr>
          <p:cNvSpPr>
            <a:spLocks xmlns:a="http://schemas.openxmlformats.org/drawingml/2006/main" noGrp="1"/>
          </p:cNvSpPr>
          <p:nvPr/>
        </p:nvSpPr>
        <p:spPr>
          <a:xfrm xmlns:a="http://schemas.openxmlformats.org/drawingml/2006/main">
            <a:off x="6915150" y="3429000"/>
            <a:ext cx="1771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Matched total payoff, mean payoff, error count, severity, and later recovery performance</a:t>
            </a:r>
          </a:p>
        </p:txBody>
      </p:sp>
      <p:sp>
        <p:nvSpPr>
          <p:cNvPr id="36" name="">
            <a:extLst xmlns:a="http://schemas.openxmlformats.org/drawingml/2006/main">
              <a:ext uri="{FF2B5EF4-FFF2-40B4-BE49-F238E27FC236}">
                <a16:creationId xmlns:a16="http://schemas.microsoft.com/office/drawing/2014/main" id="{5D2F1F51-6DE9-44E2-8A1E-8B96A935C499}"/>
              </a:ext>
            </a:extLst>
          </p:cNvPr>
          <p:cNvSpPr>
            <a:spLocks xmlns:a="http://schemas.openxmlformats.org/drawingml/2006/main" noGrp="1"/>
          </p:cNvSpPr>
          <p:nvPr/>
        </p:nvSpPr>
        <p:spPr>
          <a:xfrm xmlns:a="http://schemas.openxmlformats.org/drawingml/2006/main">
            <a:off x="8801100" y="3333750"/>
            <a:ext cx="247650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37" name="">
            <a:extLst xmlns:a="http://schemas.openxmlformats.org/drawingml/2006/main">
              <a:ext uri="{FF2B5EF4-FFF2-40B4-BE49-F238E27FC236}">
                <a16:creationId xmlns:a16="http://schemas.microsoft.com/office/drawing/2014/main" id="{A47C259C-E10E-43BF-8CD2-B9392557EC8C}"/>
              </a:ext>
            </a:extLst>
          </p:cNvPr>
          <p:cNvSpPr>
            <a:spLocks xmlns:a="http://schemas.openxmlformats.org/drawingml/2006/main" noGrp="1"/>
          </p:cNvSpPr>
          <p:nvPr/>
        </p:nvSpPr>
        <p:spPr>
          <a:xfrm xmlns:a="http://schemas.openxmlformats.org/drawingml/2006/main">
            <a:off x="8915400" y="3429000"/>
            <a:ext cx="2247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Whether a local failure lowers later adoption even after AI ability recovers</a:t>
            </a:r>
          </a:p>
        </p:txBody>
      </p:sp>
      <p:sp>
        <p:nvSpPr>
          <p:cNvPr id="38" name="">
            <a:extLst xmlns:a="http://schemas.openxmlformats.org/drawingml/2006/main">
              <a:ext uri="{FF2B5EF4-FFF2-40B4-BE49-F238E27FC236}">
                <a16:creationId xmlns:a16="http://schemas.microsoft.com/office/drawing/2014/main" id="{3B569A7E-BB41-445C-B923-CA03FB05DFBD}"/>
              </a:ext>
            </a:extLst>
          </p:cNvPr>
          <p:cNvSpPr>
            <a:spLocks xmlns:a="http://schemas.openxmlformats.org/drawingml/2006/main" noGrp="1"/>
          </p:cNvSpPr>
          <p:nvPr/>
        </p:nvSpPr>
        <p:spPr>
          <a:xfrm xmlns:a="http://schemas.openxmlformats.org/drawingml/2006/main">
            <a:off x="914400" y="4343400"/>
            <a:ext cx="161925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39" name="">
            <a:extLst xmlns:a="http://schemas.openxmlformats.org/drawingml/2006/main">
              <a:ext uri="{FF2B5EF4-FFF2-40B4-BE49-F238E27FC236}">
                <a16:creationId xmlns:a16="http://schemas.microsoft.com/office/drawing/2014/main" id="{F9D0F39C-3372-41ED-AE09-9ED514AA431A}"/>
              </a:ext>
            </a:extLst>
          </p:cNvPr>
          <p:cNvSpPr>
            <a:spLocks xmlns:a="http://schemas.openxmlformats.org/drawingml/2006/main" noGrp="1"/>
          </p:cNvSpPr>
          <p:nvPr/>
        </p:nvSpPr>
        <p:spPr>
          <a:xfrm xmlns:a="http://schemas.openxmlformats.org/drawingml/2006/main">
            <a:off x="1028700" y="4438650"/>
            <a:ext cx="1390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H4</a:t>
            </a:r>
          </a:p>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Timing heterogeneity</a:t>
            </a:r>
          </a:p>
        </p:txBody>
      </p:sp>
      <p:sp>
        <p:nvSpPr>
          <p:cNvPr id="40" name="">
            <a:extLst xmlns:a="http://schemas.openxmlformats.org/drawingml/2006/main">
              <a:ext uri="{FF2B5EF4-FFF2-40B4-BE49-F238E27FC236}">
                <a16:creationId xmlns:a16="http://schemas.microsoft.com/office/drawing/2014/main" id="{7C79FCA4-B061-49FC-901C-3BFF63C5BBE7}"/>
              </a:ext>
            </a:extLst>
          </p:cNvPr>
          <p:cNvSpPr>
            <a:spLocks xmlns:a="http://schemas.openxmlformats.org/drawingml/2006/main" noGrp="1"/>
          </p:cNvSpPr>
          <p:nvPr/>
        </p:nvSpPr>
        <p:spPr>
          <a:xfrm xmlns:a="http://schemas.openxmlformats.org/drawingml/2006/main">
            <a:off x="2533650" y="4343400"/>
            <a:ext cx="228600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41" name="">
            <a:extLst xmlns:a="http://schemas.openxmlformats.org/drawingml/2006/main">
              <a:ext uri="{FF2B5EF4-FFF2-40B4-BE49-F238E27FC236}">
                <a16:creationId xmlns:a16="http://schemas.microsoft.com/office/drawing/2014/main" id="{06110E41-6886-4725-8A2E-83F743359636}"/>
              </a:ext>
            </a:extLst>
          </p:cNvPr>
          <p:cNvSpPr>
            <a:spLocks xmlns:a="http://schemas.openxmlformats.org/drawingml/2006/main" noGrp="1"/>
          </p:cNvSpPr>
          <p:nvPr/>
        </p:nvSpPr>
        <p:spPr>
          <a:xfrm xmlns:a="http://schemas.openxmlformats.org/drawingml/2006/main">
            <a:off x="2647950" y="4438650"/>
            <a:ext cx="2057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Move the concentrated shock to an early block or a mid block</a:t>
            </a:r>
          </a:p>
        </p:txBody>
      </p:sp>
      <p:sp>
        <p:nvSpPr>
          <p:cNvPr id="42" name="">
            <a:extLst xmlns:a="http://schemas.openxmlformats.org/drawingml/2006/main">
              <a:ext uri="{FF2B5EF4-FFF2-40B4-BE49-F238E27FC236}">
                <a16:creationId xmlns:a16="http://schemas.microsoft.com/office/drawing/2014/main" id="{F06A42DD-EFEA-42EE-9422-AC83CFF65284}"/>
              </a:ext>
            </a:extLst>
          </p:cNvPr>
          <p:cNvSpPr>
            <a:spLocks xmlns:a="http://schemas.openxmlformats.org/drawingml/2006/main" noGrp="1"/>
          </p:cNvSpPr>
          <p:nvPr/>
        </p:nvSpPr>
        <p:spPr>
          <a:xfrm xmlns:a="http://schemas.openxmlformats.org/drawingml/2006/main">
            <a:off x="4819650" y="4343400"/>
            <a:ext cx="198120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43" name="">
            <a:extLst xmlns:a="http://schemas.openxmlformats.org/drawingml/2006/main">
              <a:ext uri="{FF2B5EF4-FFF2-40B4-BE49-F238E27FC236}">
                <a16:creationId xmlns:a16="http://schemas.microsoft.com/office/drawing/2014/main" id="{7767DAA4-1112-418F-8EC2-D0279BB038AE}"/>
              </a:ext>
            </a:extLst>
          </p:cNvPr>
          <p:cNvSpPr>
            <a:spLocks xmlns:a="http://schemas.openxmlformats.org/drawingml/2006/main" noGrp="1"/>
          </p:cNvSpPr>
          <p:nvPr/>
        </p:nvSpPr>
        <p:spPr>
          <a:xfrm xmlns:a="http://schemas.openxmlformats.org/drawingml/2006/main">
            <a:off x="4933950" y="4438650"/>
            <a:ext cx="1752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Early Shock versus Mid Shock versus Balanced</a:t>
            </a:r>
          </a:p>
        </p:txBody>
      </p:sp>
      <p:sp>
        <p:nvSpPr>
          <p:cNvPr id="44" name="">
            <a:extLst xmlns:a="http://schemas.openxmlformats.org/drawingml/2006/main">
              <a:ext uri="{FF2B5EF4-FFF2-40B4-BE49-F238E27FC236}">
                <a16:creationId xmlns:a16="http://schemas.microsoft.com/office/drawing/2014/main" id="{57C3860C-77A7-4CC2-A9B1-16FA81D722CD}"/>
              </a:ext>
            </a:extLst>
          </p:cNvPr>
          <p:cNvSpPr>
            <a:spLocks xmlns:a="http://schemas.openxmlformats.org/drawingml/2006/main" noGrp="1"/>
          </p:cNvSpPr>
          <p:nvPr/>
        </p:nvSpPr>
        <p:spPr>
          <a:xfrm xmlns:a="http://schemas.openxmlformats.org/drawingml/2006/main">
            <a:off x="6800850" y="4343400"/>
            <a:ext cx="200025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45" name="">
            <a:extLst xmlns:a="http://schemas.openxmlformats.org/drawingml/2006/main">
              <a:ext uri="{FF2B5EF4-FFF2-40B4-BE49-F238E27FC236}">
                <a16:creationId xmlns:a16="http://schemas.microsoft.com/office/drawing/2014/main" id="{5174054D-D307-4115-8F6E-0FF003D70DEF}"/>
              </a:ext>
            </a:extLst>
          </p:cNvPr>
          <p:cNvSpPr>
            <a:spLocks xmlns:a="http://schemas.openxmlformats.org/drawingml/2006/main" noGrp="1"/>
          </p:cNvSpPr>
          <p:nvPr/>
        </p:nvSpPr>
        <p:spPr>
          <a:xfrm xmlns:a="http://schemas.openxmlformats.org/drawingml/2006/main">
            <a:off x="6915150" y="4438650"/>
            <a:ext cx="1771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Matched AI performance and matched shock intensity</a:t>
            </a:r>
          </a:p>
        </p:txBody>
      </p:sp>
      <p:sp>
        <p:nvSpPr>
          <p:cNvPr id="46" name="">
            <a:extLst xmlns:a="http://schemas.openxmlformats.org/drawingml/2006/main">
              <a:ext uri="{FF2B5EF4-FFF2-40B4-BE49-F238E27FC236}">
                <a16:creationId xmlns:a16="http://schemas.microsoft.com/office/drawing/2014/main" id="{98022A2F-980D-44C4-899F-6DDDD69EF7BD}"/>
              </a:ext>
            </a:extLst>
          </p:cNvPr>
          <p:cNvSpPr>
            <a:spLocks xmlns:a="http://schemas.openxmlformats.org/drawingml/2006/main" noGrp="1"/>
          </p:cNvSpPr>
          <p:nvPr/>
        </p:nvSpPr>
        <p:spPr>
          <a:xfrm xmlns:a="http://schemas.openxmlformats.org/drawingml/2006/main">
            <a:off x="8801100" y="4343400"/>
            <a:ext cx="2476500" cy="895350"/>
          </a:xfrm>
          <a:prstGeom xmlns:a="http://schemas.openxmlformats.org/drawingml/2006/main" prst="rect">
            <a:avLst/>
          </a:prstGeom>
          <a:solidFill xmlns:a="http://schemas.openxmlformats.org/drawingml/2006/main">
            <a:srgbClr val="FFF9F0"/>
          </a:solidFill>
          <a:ln xmlns:a="http://schemas.openxmlformats.org/drawingml/2006/main" w="9525">
            <a:solidFill>
              <a:srgbClr val="E8DCCB"/>
            </a:solidFill>
            <a:prstDash val="solid"/>
          </a:ln>
        </p:spPr>
      </p:sp>
      <p:sp>
        <p:nvSpPr>
          <p:cNvPr id="47" name="">
            <a:extLst xmlns:a="http://schemas.openxmlformats.org/drawingml/2006/main">
              <a:ext uri="{FF2B5EF4-FFF2-40B4-BE49-F238E27FC236}">
                <a16:creationId xmlns:a16="http://schemas.microsoft.com/office/drawing/2014/main" id="{91BDB14A-DCDA-42CC-B2D4-5BFAB597E227}"/>
              </a:ext>
            </a:extLst>
          </p:cNvPr>
          <p:cNvSpPr>
            <a:spLocks xmlns:a="http://schemas.openxmlformats.org/drawingml/2006/main" noGrp="1"/>
          </p:cNvSpPr>
          <p:nvPr/>
        </p:nvSpPr>
        <p:spPr>
          <a:xfrm xmlns:a="http://schemas.openxmlformats.org/drawingml/2006/main">
            <a:off x="8915400" y="4438650"/>
            <a:ext cx="2247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Whether first impressions differ from the breakdown of an established reliance pattern</a:t>
            </a:r>
          </a:p>
        </p:txBody>
      </p:sp>
      <p:sp>
        <p:nvSpPr>
          <p:cNvPr id="48" name="">
            <a:extLst xmlns:a="http://schemas.openxmlformats.org/drawingml/2006/main">
              <a:ext uri="{FF2B5EF4-FFF2-40B4-BE49-F238E27FC236}">
                <a16:creationId xmlns:a16="http://schemas.microsoft.com/office/drawing/2014/main" id="{41EB423F-2142-40CB-BDAF-C63EE213F4ED}"/>
              </a:ext>
            </a:extLst>
          </p:cNvPr>
          <p:cNvSpPr>
            <a:spLocks xmlns:a="http://schemas.openxmlformats.org/drawingml/2006/main" noGrp="1"/>
          </p:cNvSpPr>
          <p:nvPr/>
        </p:nvSpPr>
        <p:spPr>
          <a:xfrm xmlns:a="http://schemas.openxmlformats.org/drawingml/2006/main">
            <a:off x="914400" y="5238750"/>
            <a:ext cx="161925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49" name="">
            <a:extLst xmlns:a="http://schemas.openxmlformats.org/drawingml/2006/main">
              <a:ext uri="{FF2B5EF4-FFF2-40B4-BE49-F238E27FC236}">
                <a16:creationId xmlns:a16="http://schemas.microsoft.com/office/drawing/2014/main" id="{6E67A6FF-A74E-4BB6-B358-D8F2998C114A}"/>
              </a:ext>
            </a:extLst>
          </p:cNvPr>
          <p:cNvSpPr>
            <a:spLocks xmlns:a="http://schemas.openxmlformats.org/drawingml/2006/main" noGrp="1"/>
          </p:cNvSpPr>
          <p:nvPr/>
        </p:nvSpPr>
        <p:spPr>
          <a:xfrm xmlns:a="http://schemas.openxmlformats.org/drawingml/2006/main">
            <a:off x="1028700" y="5334000"/>
            <a:ext cx="1390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H5-H6</a:t>
            </a:r>
          </a:p>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Asymmetry and architecture shift</a:t>
            </a:r>
          </a:p>
        </p:txBody>
      </p:sp>
      <p:sp>
        <p:nvSpPr>
          <p:cNvPr id="50" name="">
            <a:extLst xmlns:a="http://schemas.openxmlformats.org/drawingml/2006/main">
              <a:ext uri="{FF2B5EF4-FFF2-40B4-BE49-F238E27FC236}">
                <a16:creationId xmlns:a16="http://schemas.microsoft.com/office/drawing/2014/main" id="{865480D5-54C5-41A0-94DE-0DEDC164D1F7}"/>
              </a:ext>
            </a:extLst>
          </p:cNvPr>
          <p:cNvSpPr>
            <a:spLocks xmlns:a="http://schemas.openxmlformats.org/drawingml/2006/main" noGrp="1"/>
          </p:cNvSpPr>
          <p:nvPr/>
        </p:nvSpPr>
        <p:spPr>
          <a:xfrm xmlns:a="http://schemas.openxmlformats.org/drawingml/2006/main">
            <a:off x="2533650" y="5238750"/>
            <a:ext cx="228600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51" name="">
            <a:extLst xmlns:a="http://schemas.openxmlformats.org/drawingml/2006/main">
              <a:ext uri="{FF2B5EF4-FFF2-40B4-BE49-F238E27FC236}">
                <a16:creationId xmlns:a16="http://schemas.microsoft.com/office/drawing/2014/main" id="{925F4CE9-B53F-4E5F-9DC5-EB6F65FBF4FF}"/>
              </a:ext>
            </a:extLst>
          </p:cNvPr>
          <p:cNvSpPr>
            <a:spLocks xmlns:a="http://schemas.openxmlformats.org/drawingml/2006/main" noGrp="1"/>
          </p:cNvSpPr>
          <p:nvPr/>
        </p:nvSpPr>
        <p:spPr>
          <a:xfrm xmlns:a="http://schemas.openxmlformats.org/drawingml/2006/main">
            <a:off x="2647950" y="5334000"/>
            <a:ext cx="2057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Record reactions to AI versus self failures and measure block-level architecture preference</a:t>
            </a:r>
          </a:p>
        </p:txBody>
      </p:sp>
      <p:sp>
        <p:nvSpPr>
          <p:cNvPr id="52" name="">
            <a:extLst xmlns:a="http://schemas.openxmlformats.org/drawingml/2006/main">
              <a:ext uri="{FF2B5EF4-FFF2-40B4-BE49-F238E27FC236}">
                <a16:creationId xmlns:a16="http://schemas.microsoft.com/office/drawing/2014/main" id="{4C52C201-6B69-4FA1-A3FC-022DBB8C59BC}"/>
              </a:ext>
            </a:extLst>
          </p:cNvPr>
          <p:cNvSpPr>
            <a:spLocks xmlns:a="http://schemas.openxmlformats.org/drawingml/2006/main" noGrp="1"/>
          </p:cNvSpPr>
          <p:nvPr/>
        </p:nvSpPr>
        <p:spPr>
          <a:xfrm xmlns:a="http://schemas.openxmlformats.org/drawingml/2006/main">
            <a:off x="4819650" y="5238750"/>
            <a:ext cx="198120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53" name="">
            <a:extLst xmlns:a="http://schemas.openxmlformats.org/drawingml/2006/main">
              <a:ext uri="{FF2B5EF4-FFF2-40B4-BE49-F238E27FC236}">
                <a16:creationId xmlns:a16="http://schemas.microsoft.com/office/drawing/2014/main" id="{B7908CB7-271D-4B1B-BD7A-B26A46CDAE8D}"/>
              </a:ext>
            </a:extLst>
          </p:cNvPr>
          <p:cNvSpPr>
            <a:spLocks xmlns:a="http://schemas.openxmlformats.org/drawingml/2006/main" noGrp="1"/>
          </p:cNvSpPr>
          <p:nvPr/>
        </p:nvSpPr>
        <p:spPr>
          <a:xfrm xmlns:a="http://schemas.openxmlformats.org/drawingml/2006/main">
            <a:off x="4933950" y="5334000"/>
            <a:ext cx="17526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AI loss versus self loss; post-shock architecture preferences across conditions</a:t>
            </a:r>
          </a:p>
        </p:txBody>
      </p:sp>
      <p:sp>
        <p:nvSpPr>
          <p:cNvPr id="54" name="">
            <a:extLst xmlns:a="http://schemas.openxmlformats.org/drawingml/2006/main">
              <a:ext uri="{FF2B5EF4-FFF2-40B4-BE49-F238E27FC236}">
                <a16:creationId xmlns:a16="http://schemas.microsoft.com/office/drawing/2014/main" id="{216C02DF-E740-41A7-8B7E-886D64CBB93A}"/>
              </a:ext>
            </a:extLst>
          </p:cNvPr>
          <p:cNvSpPr>
            <a:spLocks xmlns:a="http://schemas.openxmlformats.org/drawingml/2006/main" noGrp="1"/>
          </p:cNvSpPr>
          <p:nvPr/>
        </p:nvSpPr>
        <p:spPr>
          <a:xfrm xmlns:a="http://schemas.openxmlformats.org/drawingml/2006/main">
            <a:off x="6800850" y="5238750"/>
            <a:ext cx="200025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55" name="">
            <a:extLst xmlns:a="http://schemas.openxmlformats.org/drawingml/2006/main">
              <a:ext uri="{FF2B5EF4-FFF2-40B4-BE49-F238E27FC236}">
                <a16:creationId xmlns:a16="http://schemas.microsoft.com/office/drawing/2014/main" id="{A2BBB1FB-1341-4F94-9ECE-546B782A7D96}"/>
              </a:ext>
            </a:extLst>
          </p:cNvPr>
          <p:cNvSpPr>
            <a:spLocks xmlns:a="http://schemas.openxmlformats.org/drawingml/2006/main" noGrp="1"/>
          </p:cNvSpPr>
          <p:nvPr/>
        </p:nvSpPr>
        <p:spPr>
          <a:xfrm xmlns:a="http://schemas.openxmlformats.org/drawingml/2006/main">
            <a:off x="6915150" y="5334000"/>
            <a:ext cx="1771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Same counterfactual feedback and same preference schedule</a:t>
            </a:r>
          </a:p>
        </p:txBody>
      </p:sp>
      <p:sp>
        <p:nvSpPr>
          <p:cNvPr id="56" name="">
            <a:extLst xmlns:a="http://schemas.openxmlformats.org/drawingml/2006/main">
              <a:ext uri="{FF2B5EF4-FFF2-40B4-BE49-F238E27FC236}">
                <a16:creationId xmlns:a16="http://schemas.microsoft.com/office/drawing/2014/main" id="{58688B95-C711-4039-8E61-AD6AEFC87C04}"/>
              </a:ext>
            </a:extLst>
          </p:cNvPr>
          <p:cNvSpPr>
            <a:spLocks xmlns:a="http://schemas.openxmlformats.org/drawingml/2006/main" noGrp="1"/>
          </p:cNvSpPr>
          <p:nvPr/>
        </p:nvSpPr>
        <p:spPr>
          <a:xfrm xmlns:a="http://schemas.openxmlformats.org/drawingml/2006/main">
            <a:off x="8801100" y="5238750"/>
            <a:ext cx="2476500" cy="1009650"/>
          </a:xfrm>
          <a:prstGeom xmlns:a="http://schemas.openxmlformats.org/drawingml/2006/main" prst="rect">
            <a:avLst/>
          </a:prstGeom>
          <a:solidFill xmlns:a="http://schemas.openxmlformats.org/drawingml/2006/main">
            <a:srgbClr val="FBF4E8"/>
          </a:solidFill>
          <a:ln xmlns:a="http://schemas.openxmlformats.org/drawingml/2006/main" w="9525">
            <a:solidFill>
              <a:srgbClr val="E8DCCB"/>
            </a:solidFill>
            <a:prstDash val="solid"/>
          </a:ln>
        </p:spPr>
      </p:sp>
      <p:sp>
        <p:nvSpPr>
          <p:cNvPr id="57" name="">
            <a:extLst xmlns:a="http://schemas.openxmlformats.org/drawingml/2006/main">
              <a:ext uri="{FF2B5EF4-FFF2-40B4-BE49-F238E27FC236}">
                <a16:creationId xmlns:a16="http://schemas.microsoft.com/office/drawing/2014/main" id="{39BD7A38-D539-4330-8D95-8F9ED83CF67B}"/>
              </a:ext>
            </a:extLst>
          </p:cNvPr>
          <p:cNvSpPr>
            <a:spLocks xmlns:a="http://schemas.openxmlformats.org/drawingml/2006/main" noGrp="1"/>
          </p:cNvSpPr>
          <p:nvPr/>
        </p:nvSpPr>
        <p:spPr>
          <a:xfrm xmlns:a="http://schemas.openxmlformats.org/drawingml/2006/main">
            <a:off x="8915400" y="5334000"/>
            <a:ext cx="2247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E2433"/>
                </a:solidFill>
                <a:latin typeface="Times New Roman"/>
                <a:ea typeface="Times New Roman"/>
                <a:cs typeface="Times New Roman"/>
              </a:defRPr>
            </a:pPr>
            <a:r>
              <a:rPr sz="1050" b="0" i="0">
                <a:solidFill>
                  <a:srgbClr val="1E2433"/>
                </a:solidFill>
                <a:latin typeface="Times New Roman"/>
                <a:ea typeface="Times New Roman"/>
                <a:cs typeface="Times New Roman"/>
              </a:rPr>
              <a:t>Whether AI errors receive heavier learning weights and shift the preferred decision architecture</a:t>
            </a:r>
          </a:p>
        </p:txBody>
      </p:sp>
      <p:sp>
        <p:nvSpPr>
          <p:cNvPr id="58" name="">
            <a:extLst xmlns:a="http://schemas.openxmlformats.org/drawingml/2006/main">
              <a:ext uri="{FF2B5EF4-FFF2-40B4-BE49-F238E27FC236}">
                <a16:creationId xmlns:a16="http://schemas.microsoft.com/office/drawing/2014/main" id="{2D374096-9C04-4502-96AB-FDC8DC4EC3F6}"/>
              </a:ext>
            </a:extLst>
          </p:cNvPr>
          <p:cNvSpPr>
            <a:spLocks xmlns:a="http://schemas.openxmlformats.org/drawingml/2006/main" noGrp="1"/>
          </p:cNvSpPr>
          <p:nvPr/>
        </p:nvSpPr>
        <p:spPr>
          <a:xfrm xmlns:a="http://schemas.openxmlformats.org/drawingml/2006/main">
            <a:off x="914400" y="6191250"/>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i="1">
                <a:solidFill>
                  <a:srgbClr val="5E6675"/>
                </a:solidFill>
                <a:latin typeface="Times New Roman"/>
                <a:ea typeface="Times New Roman"/>
                <a:cs typeface="Times New Roman"/>
              </a:defRPr>
            </a:pPr>
            <a:r>
              <a:rPr sz="975" b="0" i="1">
                <a:solidFill>
                  <a:srgbClr val="5E6675"/>
                </a:solidFill>
                <a:latin typeface="Times New Roman"/>
                <a:ea typeface="Times New Roman"/>
                <a:cs typeface="Times New Roman"/>
              </a:rPr>
              <a:t>Parity is shown here as a design requirement because it has to block the simpler explanation that AI was just worse.</a:t>
            </a:r>
          </a:p>
        </p:txBody>
      </p:sp>
    </p:spTree>
    <p:extLst>
      <p:ext uri="{BB962C8B-B14F-4D97-AF65-F5344CB8AC3E}">
        <p14:creationId xmlns:p14="http://schemas.microsoft.com/office/powerpoint/2010/main" val="435916658"/>
      </p:ext>
    </p:extLst>
  </p:cSld>
</p:sld>
</file>

<file path=ppt/slides/slide9.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2A03E6-1040-4CE8-A960-5D47456CE608}"/>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8238E45D-F96F-4230-B29C-A11949CFE06D}"/>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4FF7D984-EB4A-4C3C-9351-6A064CFEC147}"/>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90ED7B30-3790-4F80-8F84-461723D90695}"/>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17336262-5968-46A6-862A-858C68149862}"/>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DESIGN AND FLOW</a:t>
            </a:r>
          </a:p>
        </p:txBody>
      </p:sp>
      <p:sp>
        <p:nvSpPr>
          <p:cNvPr id="6" name="">
            <a:extLst xmlns:a="http://schemas.openxmlformats.org/drawingml/2006/main">
              <a:ext uri="{FF2B5EF4-FFF2-40B4-BE49-F238E27FC236}">
                <a16:creationId xmlns:a16="http://schemas.microsoft.com/office/drawing/2014/main" id="{6EF2F953-3AD5-4E97-A3C5-DE871F3E8BC0}"/>
              </a:ext>
            </a:extLst>
          </p:cNvPr>
          <p:cNvSpPr>
            <a:spLocks xmlns:a="http://schemas.openxmlformats.org/drawingml/2006/main" noGrp="1"/>
          </p:cNvSpPr>
          <p:nvPr/>
        </p:nvSpPr>
        <p:spPr>
          <a:xfrm xmlns:a="http://schemas.openxmlformats.org/drawingml/2006/main">
            <a:off x="914400" y="914400"/>
            <a:ext cx="1009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1E2433"/>
                </a:solidFill>
                <a:latin typeface="Times New Roman"/>
                <a:ea typeface="Times New Roman"/>
                <a:cs typeface="Times New Roman"/>
              </a:defRPr>
            </a:pPr>
            <a:r>
              <a:rPr sz="2325" b="1" i="0">
                <a:solidFill>
                  <a:srgbClr val="1E2433"/>
                </a:solidFill>
                <a:latin typeface="Times New Roman"/>
                <a:ea typeface="Times New Roman"/>
                <a:cs typeface="Times New Roman"/>
              </a:rPr>
              <a:t>The design is simple: vary timing, match AI performance, observe later reliance</a:t>
            </a:r>
          </a:p>
        </p:txBody>
      </p:sp>
      <p:sp>
        <p:nvSpPr>
          <p:cNvPr id="7" name="">
            <a:extLst xmlns:a="http://schemas.openxmlformats.org/drawingml/2006/main">
              <a:ext uri="{FF2B5EF4-FFF2-40B4-BE49-F238E27FC236}">
                <a16:creationId xmlns:a16="http://schemas.microsoft.com/office/drawing/2014/main" id="{E1199EE6-A156-4C77-AFE8-93BEEB1AECEF}"/>
              </a:ext>
            </a:extLst>
          </p:cNvPr>
          <p:cNvSpPr>
            <a:spLocks xmlns:a="http://schemas.openxmlformats.org/drawingml/2006/main" noGrp="1"/>
          </p:cNvSpPr>
          <p:nvPr/>
        </p:nvSpPr>
        <p:spPr>
          <a:xfrm xmlns:a="http://schemas.openxmlformats.org/drawingml/2006/main">
            <a:off x="914400" y="1676400"/>
            <a:ext cx="998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top layer shows condition logic. The bottom layer shows one participant's repeated experience.</a:t>
            </a:r>
          </a:p>
        </p:txBody>
      </p:sp>
      <p:sp>
        <p:nvSpPr>
          <p:cNvPr id="8" name="">
            <a:extLst xmlns:a="http://schemas.openxmlformats.org/drawingml/2006/main">
              <a:ext uri="{FF2B5EF4-FFF2-40B4-BE49-F238E27FC236}">
                <a16:creationId xmlns:a16="http://schemas.microsoft.com/office/drawing/2014/main" id="{11EF498D-2532-4507-A75B-225F8EF3700D}"/>
              </a:ext>
            </a:extLst>
          </p:cNvPr>
          <p:cNvSpPr>
            <a:spLocks xmlns:a="http://schemas.openxmlformats.org/drawingml/2006/main" noGrp="1"/>
          </p:cNvSpPr>
          <p:nvPr/>
        </p:nvSpPr>
        <p:spPr>
          <a:xfrm xmlns:a="http://schemas.openxmlformats.org/drawingml/2006/main">
            <a:off x="914400" y="1885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B45A3C"/>
                </a:solidFill>
                <a:latin typeface="Times New Roman"/>
                <a:ea typeface="Times New Roman"/>
                <a:cs typeface="Times New Roman"/>
              </a:defRPr>
            </a:pPr>
            <a:r>
              <a:rPr sz="1575" b="1" i="0">
                <a:solidFill>
                  <a:srgbClr val="B45A3C"/>
                </a:solidFill>
                <a:latin typeface="Times New Roman"/>
                <a:ea typeface="Times New Roman"/>
                <a:cs typeface="Times New Roman"/>
              </a:rPr>
              <a:t>1. Condition logic</a:t>
            </a:r>
          </a:p>
        </p:txBody>
      </p:sp>
      <p:sp>
        <p:nvSpPr>
          <p:cNvPr id="9" name="">
            <a:extLst xmlns:a="http://schemas.openxmlformats.org/drawingml/2006/main">
              <a:ext uri="{FF2B5EF4-FFF2-40B4-BE49-F238E27FC236}">
                <a16:creationId xmlns:a16="http://schemas.microsoft.com/office/drawing/2014/main" id="{03468F33-ACEE-4F41-8B64-2249FCB01B5F}"/>
              </a:ext>
            </a:extLst>
          </p:cNvPr>
          <p:cNvSpPr>
            <a:spLocks xmlns:a="http://schemas.openxmlformats.org/drawingml/2006/main" noGrp="1"/>
          </p:cNvSpPr>
          <p:nvPr/>
        </p:nvSpPr>
        <p:spPr>
          <a:xfrm xmlns:a="http://schemas.openxmlformats.org/drawingml/2006/main">
            <a:off x="914400" y="2190750"/>
            <a:ext cx="3276600" cy="1123950"/>
          </a:xfrm>
          <a:prstGeom xmlns:a="http://schemas.openxmlformats.org/drawingml/2006/main" prst="roundRect">
            <a:avLst>
              <a:gd name="adj" fmla="val 6780"/>
            </a:avLst>
          </a:prstGeom>
          <a:solidFill xmlns:a="http://schemas.openxmlformats.org/drawingml/2006/main">
            <a:srgbClr val="FFF9F0"/>
          </a:solidFill>
          <a:ln xmlns:a="http://schemas.openxmlformats.org/drawingml/2006/main" w="9525">
            <a:solidFill>
              <a:srgbClr val="E8DCCB"/>
            </a:solidFill>
            <a:prstDash val="solid"/>
          </a:ln>
        </p:spPr>
      </p:sp>
      <p:sp>
        <p:nvSpPr>
          <p:cNvPr id="10" name="">
            <a:extLst xmlns:a="http://schemas.openxmlformats.org/drawingml/2006/main">
              <a:ext uri="{FF2B5EF4-FFF2-40B4-BE49-F238E27FC236}">
                <a16:creationId xmlns:a16="http://schemas.microsoft.com/office/drawing/2014/main" id="{C694448F-0BB4-46C4-A74C-6A794ED60DED}"/>
              </a:ext>
            </a:extLst>
          </p:cNvPr>
          <p:cNvSpPr>
            <a:spLocks xmlns:a="http://schemas.openxmlformats.org/drawingml/2006/main" noGrp="1"/>
          </p:cNvSpPr>
          <p:nvPr/>
        </p:nvSpPr>
        <p:spPr>
          <a:xfrm xmlns:a="http://schemas.openxmlformats.org/drawingml/2006/main">
            <a:off x="914400" y="2190750"/>
            <a:ext cx="57150" cy="11239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1" name="">
            <a:extLst xmlns:a="http://schemas.openxmlformats.org/drawingml/2006/main">
              <a:ext uri="{FF2B5EF4-FFF2-40B4-BE49-F238E27FC236}">
                <a16:creationId xmlns:a16="http://schemas.microsoft.com/office/drawing/2014/main" id="{AC6BDF61-584C-44E8-B889-3E45262A047D}"/>
              </a:ext>
            </a:extLst>
          </p:cNvPr>
          <p:cNvSpPr>
            <a:spLocks xmlns:a="http://schemas.openxmlformats.org/drawingml/2006/main" noGrp="1"/>
          </p:cNvSpPr>
          <p:nvPr/>
        </p:nvSpPr>
        <p:spPr>
          <a:xfrm xmlns:a="http://schemas.openxmlformats.org/drawingml/2006/main">
            <a:off x="1085850" y="23050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E2433"/>
                </a:solidFill>
                <a:latin typeface="Times New Roman"/>
                <a:ea typeface="Times New Roman"/>
                <a:cs typeface="Times New Roman"/>
              </a:defRPr>
            </a:pPr>
            <a:r>
              <a:rPr sz="1725" b="1" i="0">
                <a:solidFill>
                  <a:srgbClr val="1E2433"/>
                </a:solidFill>
                <a:latin typeface="Times New Roman"/>
                <a:ea typeface="Times New Roman"/>
                <a:cs typeface="Times New Roman"/>
              </a:rPr>
              <a:t>Balanced Error</a:t>
            </a:r>
          </a:p>
        </p:txBody>
      </p:sp>
      <p:sp>
        <p:nvSpPr>
          <p:cNvPr id="12" name="">
            <a:extLst xmlns:a="http://schemas.openxmlformats.org/drawingml/2006/main">
              <a:ext uri="{FF2B5EF4-FFF2-40B4-BE49-F238E27FC236}">
                <a16:creationId xmlns:a16="http://schemas.microsoft.com/office/drawing/2014/main" id="{26200C6C-01F7-4696-8FB0-73A796ADB781}"/>
              </a:ext>
            </a:extLst>
          </p:cNvPr>
          <p:cNvSpPr>
            <a:spLocks xmlns:a="http://schemas.openxmlformats.org/drawingml/2006/main" noGrp="1"/>
          </p:cNvSpPr>
          <p:nvPr/>
        </p:nvSpPr>
        <p:spPr>
          <a:xfrm xmlns:a="http://schemas.openxmlformats.org/drawingml/2006/main">
            <a:off x="1085850" y="2628900"/>
            <a:ext cx="299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Errors are distributed.</a:t>
            </a:r>
          </a:p>
        </p:txBody>
      </p:sp>
      <p:sp>
        <p:nvSpPr>
          <p:cNvPr id="13" name="">
            <a:extLst xmlns:a="http://schemas.openxmlformats.org/drawingml/2006/main">
              <a:ext uri="{FF2B5EF4-FFF2-40B4-BE49-F238E27FC236}">
                <a16:creationId xmlns:a16="http://schemas.microsoft.com/office/drawing/2014/main" id="{4D489A62-A9CD-4F2D-B842-42E79740E325}"/>
              </a:ext>
            </a:extLst>
          </p:cNvPr>
          <p:cNvSpPr>
            <a:spLocks xmlns:a="http://schemas.openxmlformats.org/drawingml/2006/main" noGrp="1"/>
          </p:cNvSpPr>
          <p:nvPr/>
        </p:nvSpPr>
        <p:spPr>
          <a:xfrm xmlns:a="http://schemas.openxmlformats.org/drawingml/2006/main">
            <a:off x="1085850" y="2933700"/>
            <a:ext cx="323850" cy="209550"/>
          </a:xfrm>
          <a:prstGeom xmlns:a="http://schemas.openxmlformats.org/drawingml/2006/main" prst="roundRect">
            <a:avLst>
              <a:gd name="adj" fmla="val 27273"/>
            </a:avLst>
          </a:prstGeom>
          <a:solidFill xmlns:a="http://schemas.openxmlformats.org/drawingml/2006/main">
            <a:srgbClr val="78836A"/>
          </a:solidFill>
          <a:ln xmlns:a="http://schemas.openxmlformats.org/drawingml/2006/main" w="0">
            <a:solidFill>
              <a:srgbClr val="78836A"/>
            </a:solidFill>
            <a:prstDash val="solid"/>
          </a:ln>
        </p:spPr>
      </p:sp>
      <p:sp>
        <p:nvSpPr>
          <p:cNvPr id="14" name="">
            <a:extLst xmlns:a="http://schemas.openxmlformats.org/drawingml/2006/main">
              <a:ext uri="{FF2B5EF4-FFF2-40B4-BE49-F238E27FC236}">
                <a16:creationId xmlns:a16="http://schemas.microsoft.com/office/drawing/2014/main" id="{00AC5A4B-8436-4AE3-BD4A-FA8E38BED47C}"/>
              </a:ext>
            </a:extLst>
          </p:cNvPr>
          <p:cNvSpPr>
            <a:spLocks xmlns:a="http://schemas.openxmlformats.org/drawingml/2006/main" noGrp="1"/>
          </p:cNvSpPr>
          <p:nvPr/>
        </p:nvSpPr>
        <p:spPr>
          <a:xfrm xmlns:a="http://schemas.openxmlformats.org/drawingml/2006/main">
            <a:off x="11715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1</a:t>
            </a:r>
          </a:p>
        </p:txBody>
      </p:sp>
      <p:sp>
        <p:nvSpPr>
          <p:cNvPr id="15" name="">
            <a:extLst xmlns:a="http://schemas.openxmlformats.org/drawingml/2006/main">
              <a:ext uri="{FF2B5EF4-FFF2-40B4-BE49-F238E27FC236}">
                <a16:creationId xmlns:a16="http://schemas.microsoft.com/office/drawing/2014/main" id="{0480077D-4899-4E81-A073-B1CA31766407}"/>
              </a:ext>
            </a:extLst>
          </p:cNvPr>
          <p:cNvSpPr>
            <a:spLocks xmlns:a="http://schemas.openxmlformats.org/drawingml/2006/main" noGrp="1"/>
          </p:cNvSpPr>
          <p:nvPr/>
        </p:nvSpPr>
        <p:spPr>
          <a:xfrm xmlns:a="http://schemas.openxmlformats.org/drawingml/2006/main">
            <a:off x="1524000" y="2933700"/>
            <a:ext cx="323850" cy="209550"/>
          </a:xfrm>
          <a:prstGeom xmlns:a="http://schemas.openxmlformats.org/drawingml/2006/main" prst="roundRect">
            <a:avLst>
              <a:gd name="adj" fmla="val 27273"/>
            </a:avLst>
          </a:prstGeom>
          <a:solidFill xmlns:a="http://schemas.openxmlformats.org/drawingml/2006/main">
            <a:srgbClr val="DAD2C4"/>
          </a:solidFill>
          <a:ln xmlns:a="http://schemas.openxmlformats.org/drawingml/2006/main" w="0">
            <a:solidFill>
              <a:srgbClr val="DAD2C4"/>
            </a:solidFill>
            <a:prstDash val="solid"/>
          </a:ln>
        </p:spPr>
      </p:sp>
      <p:sp>
        <p:nvSpPr>
          <p:cNvPr id="16" name="">
            <a:extLst xmlns:a="http://schemas.openxmlformats.org/drawingml/2006/main">
              <a:ext uri="{FF2B5EF4-FFF2-40B4-BE49-F238E27FC236}">
                <a16:creationId xmlns:a16="http://schemas.microsoft.com/office/drawing/2014/main" id="{A7436CC4-D874-4FE4-BB24-5ABEC1819017}"/>
              </a:ext>
            </a:extLst>
          </p:cNvPr>
          <p:cNvSpPr>
            <a:spLocks xmlns:a="http://schemas.openxmlformats.org/drawingml/2006/main" noGrp="1"/>
          </p:cNvSpPr>
          <p:nvPr/>
        </p:nvSpPr>
        <p:spPr>
          <a:xfrm xmlns:a="http://schemas.openxmlformats.org/drawingml/2006/main">
            <a:off x="16097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2</a:t>
            </a:r>
          </a:p>
        </p:txBody>
      </p:sp>
      <p:sp>
        <p:nvSpPr>
          <p:cNvPr id="17" name="">
            <a:extLst xmlns:a="http://schemas.openxmlformats.org/drawingml/2006/main">
              <a:ext uri="{FF2B5EF4-FFF2-40B4-BE49-F238E27FC236}">
                <a16:creationId xmlns:a16="http://schemas.microsoft.com/office/drawing/2014/main" id="{C917C58B-AC2F-4ACE-877B-4F7FB8C5A21C}"/>
              </a:ext>
            </a:extLst>
          </p:cNvPr>
          <p:cNvSpPr>
            <a:spLocks xmlns:a="http://schemas.openxmlformats.org/drawingml/2006/main" noGrp="1"/>
          </p:cNvSpPr>
          <p:nvPr/>
        </p:nvSpPr>
        <p:spPr>
          <a:xfrm xmlns:a="http://schemas.openxmlformats.org/drawingml/2006/main">
            <a:off x="1962150" y="2933700"/>
            <a:ext cx="323850" cy="209550"/>
          </a:xfrm>
          <a:prstGeom xmlns:a="http://schemas.openxmlformats.org/drawingml/2006/main" prst="roundRect">
            <a:avLst>
              <a:gd name="adj" fmla="val 27273"/>
            </a:avLst>
          </a:prstGeom>
          <a:solidFill xmlns:a="http://schemas.openxmlformats.org/drawingml/2006/main">
            <a:srgbClr val="78836A"/>
          </a:solidFill>
          <a:ln xmlns:a="http://schemas.openxmlformats.org/drawingml/2006/main" w="0">
            <a:solidFill>
              <a:srgbClr val="78836A"/>
            </a:solidFill>
            <a:prstDash val="solid"/>
          </a:ln>
        </p:spPr>
      </p:sp>
      <p:sp>
        <p:nvSpPr>
          <p:cNvPr id="18" name="">
            <a:extLst xmlns:a="http://schemas.openxmlformats.org/drawingml/2006/main">
              <a:ext uri="{FF2B5EF4-FFF2-40B4-BE49-F238E27FC236}">
                <a16:creationId xmlns:a16="http://schemas.microsoft.com/office/drawing/2014/main" id="{6D985249-8834-4711-BCC5-2E81833FB908}"/>
              </a:ext>
            </a:extLst>
          </p:cNvPr>
          <p:cNvSpPr>
            <a:spLocks xmlns:a="http://schemas.openxmlformats.org/drawingml/2006/main" noGrp="1"/>
          </p:cNvSpPr>
          <p:nvPr/>
        </p:nvSpPr>
        <p:spPr>
          <a:xfrm xmlns:a="http://schemas.openxmlformats.org/drawingml/2006/main">
            <a:off x="20478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3</a:t>
            </a:r>
          </a:p>
        </p:txBody>
      </p:sp>
      <p:sp>
        <p:nvSpPr>
          <p:cNvPr id="19" name="">
            <a:extLst xmlns:a="http://schemas.openxmlformats.org/drawingml/2006/main">
              <a:ext uri="{FF2B5EF4-FFF2-40B4-BE49-F238E27FC236}">
                <a16:creationId xmlns:a16="http://schemas.microsoft.com/office/drawing/2014/main" id="{1A5F573E-C278-4A47-ACBD-8FF9D2441119}"/>
              </a:ext>
            </a:extLst>
          </p:cNvPr>
          <p:cNvSpPr>
            <a:spLocks xmlns:a="http://schemas.openxmlformats.org/drawingml/2006/main" noGrp="1"/>
          </p:cNvSpPr>
          <p:nvPr/>
        </p:nvSpPr>
        <p:spPr>
          <a:xfrm xmlns:a="http://schemas.openxmlformats.org/drawingml/2006/main">
            <a:off x="2400300" y="2933700"/>
            <a:ext cx="323850" cy="209550"/>
          </a:xfrm>
          <a:prstGeom xmlns:a="http://schemas.openxmlformats.org/drawingml/2006/main" prst="roundRect">
            <a:avLst>
              <a:gd name="adj" fmla="val 27273"/>
            </a:avLst>
          </a:prstGeom>
          <a:solidFill xmlns:a="http://schemas.openxmlformats.org/drawingml/2006/main">
            <a:srgbClr val="DAD2C4"/>
          </a:solidFill>
          <a:ln xmlns:a="http://schemas.openxmlformats.org/drawingml/2006/main" w="0">
            <a:solidFill>
              <a:srgbClr val="DAD2C4"/>
            </a:solidFill>
            <a:prstDash val="solid"/>
          </a:ln>
        </p:spPr>
      </p:sp>
      <p:sp>
        <p:nvSpPr>
          <p:cNvPr id="20" name="">
            <a:extLst xmlns:a="http://schemas.openxmlformats.org/drawingml/2006/main">
              <a:ext uri="{FF2B5EF4-FFF2-40B4-BE49-F238E27FC236}">
                <a16:creationId xmlns:a16="http://schemas.microsoft.com/office/drawing/2014/main" id="{BF7679FB-E515-4D73-82A5-0DB37134A291}"/>
              </a:ext>
            </a:extLst>
          </p:cNvPr>
          <p:cNvSpPr>
            <a:spLocks xmlns:a="http://schemas.openxmlformats.org/drawingml/2006/main" noGrp="1"/>
          </p:cNvSpPr>
          <p:nvPr/>
        </p:nvSpPr>
        <p:spPr>
          <a:xfrm xmlns:a="http://schemas.openxmlformats.org/drawingml/2006/main">
            <a:off x="24860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4</a:t>
            </a:r>
          </a:p>
        </p:txBody>
      </p:sp>
      <p:sp>
        <p:nvSpPr>
          <p:cNvPr id="21" name="">
            <a:extLst xmlns:a="http://schemas.openxmlformats.org/drawingml/2006/main">
              <a:ext uri="{FF2B5EF4-FFF2-40B4-BE49-F238E27FC236}">
                <a16:creationId xmlns:a16="http://schemas.microsoft.com/office/drawing/2014/main" id="{7C46FF26-4BA8-4D21-8BD3-F6826CAA07BF}"/>
              </a:ext>
            </a:extLst>
          </p:cNvPr>
          <p:cNvSpPr>
            <a:spLocks xmlns:a="http://schemas.openxmlformats.org/drawingml/2006/main" noGrp="1"/>
          </p:cNvSpPr>
          <p:nvPr/>
        </p:nvSpPr>
        <p:spPr>
          <a:xfrm xmlns:a="http://schemas.openxmlformats.org/drawingml/2006/main">
            <a:off x="2838450" y="2933700"/>
            <a:ext cx="323850" cy="209550"/>
          </a:xfrm>
          <a:prstGeom xmlns:a="http://schemas.openxmlformats.org/drawingml/2006/main" prst="roundRect">
            <a:avLst>
              <a:gd name="adj" fmla="val 27273"/>
            </a:avLst>
          </a:prstGeom>
          <a:solidFill xmlns:a="http://schemas.openxmlformats.org/drawingml/2006/main">
            <a:srgbClr val="78836A"/>
          </a:solidFill>
          <a:ln xmlns:a="http://schemas.openxmlformats.org/drawingml/2006/main" w="0">
            <a:solidFill>
              <a:srgbClr val="78836A"/>
            </a:solidFill>
            <a:prstDash val="solid"/>
          </a:ln>
        </p:spPr>
      </p:sp>
      <p:sp>
        <p:nvSpPr>
          <p:cNvPr id="22" name="">
            <a:extLst xmlns:a="http://schemas.openxmlformats.org/drawingml/2006/main">
              <a:ext uri="{FF2B5EF4-FFF2-40B4-BE49-F238E27FC236}">
                <a16:creationId xmlns:a16="http://schemas.microsoft.com/office/drawing/2014/main" id="{F159FDA3-FD17-4D4E-B1E7-EE358366A5C5}"/>
              </a:ext>
            </a:extLst>
          </p:cNvPr>
          <p:cNvSpPr>
            <a:spLocks xmlns:a="http://schemas.openxmlformats.org/drawingml/2006/main" noGrp="1"/>
          </p:cNvSpPr>
          <p:nvPr/>
        </p:nvSpPr>
        <p:spPr>
          <a:xfrm xmlns:a="http://schemas.openxmlformats.org/drawingml/2006/main">
            <a:off x="29241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5</a:t>
            </a:r>
          </a:p>
        </p:txBody>
      </p:sp>
      <p:sp>
        <p:nvSpPr>
          <p:cNvPr id="23" name="">
            <a:extLst xmlns:a="http://schemas.openxmlformats.org/drawingml/2006/main">
              <a:ext uri="{FF2B5EF4-FFF2-40B4-BE49-F238E27FC236}">
                <a16:creationId xmlns:a16="http://schemas.microsoft.com/office/drawing/2014/main" id="{B8380C0C-E100-4E34-BA7C-294D0C06FA13}"/>
              </a:ext>
            </a:extLst>
          </p:cNvPr>
          <p:cNvSpPr>
            <a:spLocks xmlns:a="http://schemas.openxmlformats.org/drawingml/2006/main" noGrp="1"/>
          </p:cNvSpPr>
          <p:nvPr/>
        </p:nvSpPr>
        <p:spPr>
          <a:xfrm xmlns:a="http://schemas.openxmlformats.org/drawingml/2006/main">
            <a:off x="3276600" y="2933700"/>
            <a:ext cx="323850" cy="209550"/>
          </a:xfrm>
          <a:prstGeom xmlns:a="http://schemas.openxmlformats.org/drawingml/2006/main" prst="roundRect">
            <a:avLst>
              <a:gd name="adj" fmla="val 27273"/>
            </a:avLst>
          </a:prstGeom>
          <a:solidFill xmlns:a="http://schemas.openxmlformats.org/drawingml/2006/main">
            <a:srgbClr val="DAD2C4"/>
          </a:solidFill>
          <a:ln xmlns:a="http://schemas.openxmlformats.org/drawingml/2006/main" w="0">
            <a:solidFill>
              <a:srgbClr val="DAD2C4"/>
            </a:solidFill>
            <a:prstDash val="solid"/>
          </a:ln>
        </p:spPr>
      </p:sp>
      <p:sp>
        <p:nvSpPr>
          <p:cNvPr id="24" name="">
            <a:extLst xmlns:a="http://schemas.openxmlformats.org/drawingml/2006/main">
              <a:ext uri="{FF2B5EF4-FFF2-40B4-BE49-F238E27FC236}">
                <a16:creationId xmlns:a16="http://schemas.microsoft.com/office/drawing/2014/main" id="{CFCFADC6-9331-4FAA-AC51-E982FB30ED97}"/>
              </a:ext>
            </a:extLst>
          </p:cNvPr>
          <p:cNvSpPr>
            <a:spLocks xmlns:a="http://schemas.openxmlformats.org/drawingml/2006/main" noGrp="1"/>
          </p:cNvSpPr>
          <p:nvPr/>
        </p:nvSpPr>
        <p:spPr>
          <a:xfrm xmlns:a="http://schemas.openxmlformats.org/drawingml/2006/main">
            <a:off x="33623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6</a:t>
            </a:r>
          </a:p>
        </p:txBody>
      </p:sp>
      <p:sp>
        <p:nvSpPr>
          <p:cNvPr id="25" name="">
            <a:extLst xmlns:a="http://schemas.openxmlformats.org/drawingml/2006/main">
              <a:ext uri="{FF2B5EF4-FFF2-40B4-BE49-F238E27FC236}">
                <a16:creationId xmlns:a16="http://schemas.microsoft.com/office/drawing/2014/main" id="{86069BF8-417F-4E40-B84D-6FF995C574E0}"/>
              </a:ext>
            </a:extLst>
          </p:cNvPr>
          <p:cNvSpPr>
            <a:spLocks xmlns:a="http://schemas.openxmlformats.org/drawingml/2006/main" noGrp="1"/>
          </p:cNvSpPr>
          <p:nvPr/>
        </p:nvSpPr>
        <p:spPr>
          <a:xfrm xmlns:a="http://schemas.openxmlformats.org/drawingml/2006/main">
            <a:off x="4457700" y="2190750"/>
            <a:ext cx="3276600" cy="1123950"/>
          </a:xfrm>
          <a:prstGeom xmlns:a="http://schemas.openxmlformats.org/drawingml/2006/main" prst="roundRect">
            <a:avLst>
              <a:gd name="adj" fmla="val 6780"/>
            </a:avLst>
          </a:prstGeom>
          <a:solidFill xmlns:a="http://schemas.openxmlformats.org/drawingml/2006/main">
            <a:srgbClr val="FFF9F0"/>
          </a:solidFill>
          <a:ln xmlns:a="http://schemas.openxmlformats.org/drawingml/2006/main" w="9525">
            <a:solidFill>
              <a:srgbClr val="E8DCCB"/>
            </a:solidFill>
            <a:prstDash val="solid"/>
          </a:ln>
        </p:spPr>
      </p:sp>
      <p:sp>
        <p:nvSpPr>
          <p:cNvPr id="26" name="">
            <a:extLst xmlns:a="http://schemas.openxmlformats.org/drawingml/2006/main">
              <a:ext uri="{FF2B5EF4-FFF2-40B4-BE49-F238E27FC236}">
                <a16:creationId xmlns:a16="http://schemas.microsoft.com/office/drawing/2014/main" id="{AE1525F0-5B1E-40AB-8077-4161983D6EDA}"/>
              </a:ext>
            </a:extLst>
          </p:cNvPr>
          <p:cNvSpPr>
            <a:spLocks xmlns:a="http://schemas.openxmlformats.org/drawingml/2006/main" noGrp="1"/>
          </p:cNvSpPr>
          <p:nvPr/>
        </p:nvSpPr>
        <p:spPr>
          <a:xfrm xmlns:a="http://schemas.openxmlformats.org/drawingml/2006/main">
            <a:off x="4457700" y="2190750"/>
            <a:ext cx="57150" cy="11239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27" name="">
            <a:extLst xmlns:a="http://schemas.openxmlformats.org/drawingml/2006/main">
              <a:ext uri="{FF2B5EF4-FFF2-40B4-BE49-F238E27FC236}">
                <a16:creationId xmlns:a16="http://schemas.microsoft.com/office/drawing/2014/main" id="{10EB14F6-AB12-4B74-92E2-3FD761E29D58}"/>
              </a:ext>
            </a:extLst>
          </p:cNvPr>
          <p:cNvSpPr>
            <a:spLocks xmlns:a="http://schemas.openxmlformats.org/drawingml/2006/main" noGrp="1"/>
          </p:cNvSpPr>
          <p:nvPr/>
        </p:nvSpPr>
        <p:spPr>
          <a:xfrm xmlns:a="http://schemas.openxmlformats.org/drawingml/2006/main">
            <a:off x="4629150" y="23050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E2433"/>
                </a:solidFill>
                <a:latin typeface="Times New Roman"/>
                <a:ea typeface="Times New Roman"/>
                <a:cs typeface="Times New Roman"/>
              </a:defRPr>
            </a:pPr>
            <a:r>
              <a:rPr sz="1725" b="1" i="0">
                <a:solidFill>
                  <a:srgbClr val="1E2433"/>
                </a:solidFill>
                <a:latin typeface="Times New Roman"/>
                <a:ea typeface="Times New Roman"/>
                <a:cs typeface="Times New Roman"/>
              </a:rPr>
              <a:t>Early Shock</a:t>
            </a:r>
          </a:p>
        </p:txBody>
      </p:sp>
      <p:sp>
        <p:nvSpPr>
          <p:cNvPr id="28" name="">
            <a:extLst xmlns:a="http://schemas.openxmlformats.org/drawingml/2006/main">
              <a:ext uri="{FF2B5EF4-FFF2-40B4-BE49-F238E27FC236}">
                <a16:creationId xmlns:a16="http://schemas.microsoft.com/office/drawing/2014/main" id="{DD37ACE4-BA00-43CE-B5CA-3149C57A3A08}"/>
              </a:ext>
            </a:extLst>
          </p:cNvPr>
          <p:cNvSpPr>
            <a:spLocks xmlns:a="http://schemas.openxmlformats.org/drawingml/2006/main" noGrp="1"/>
          </p:cNvSpPr>
          <p:nvPr/>
        </p:nvSpPr>
        <p:spPr>
          <a:xfrm xmlns:a="http://schemas.openxmlformats.org/drawingml/2006/main">
            <a:off x="4629150" y="2628900"/>
            <a:ext cx="299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Errors concentrate early.</a:t>
            </a:r>
          </a:p>
        </p:txBody>
      </p:sp>
      <p:sp>
        <p:nvSpPr>
          <p:cNvPr id="29" name="">
            <a:extLst xmlns:a="http://schemas.openxmlformats.org/drawingml/2006/main">
              <a:ext uri="{FF2B5EF4-FFF2-40B4-BE49-F238E27FC236}">
                <a16:creationId xmlns:a16="http://schemas.microsoft.com/office/drawing/2014/main" id="{54882968-3D0B-4F71-9580-6A44CFFA1360}"/>
              </a:ext>
            </a:extLst>
          </p:cNvPr>
          <p:cNvSpPr>
            <a:spLocks xmlns:a="http://schemas.openxmlformats.org/drawingml/2006/main" noGrp="1"/>
          </p:cNvSpPr>
          <p:nvPr/>
        </p:nvSpPr>
        <p:spPr>
          <a:xfrm xmlns:a="http://schemas.openxmlformats.org/drawingml/2006/main">
            <a:off x="4629150" y="2933700"/>
            <a:ext cx="323850" cy="209550"/>
          </a:xfrm>
          <a:prstGeom xmlns:a="http://schemas.openxmlformats.org/drawingml/2006/main" prst="roundRect">
            <a:avLst>
              <a:gd name="adj" fmla="val 27273"/>
            </a:avLst>
          </a:prstGeom>
          <a:solidFill xmlns:a="http://schemas.openxmlformats.org/drawingml/2006/main">
            <a:srgbClr val="B45A3C"/>
          </a:solidFill>
          <a:ln xmlns:a="http://schemas.openxmlformats.org/drawingml/2006/main" w="0">
            <a:solidFill>
              <a:srgbClr val="B45A3C"/>
            </a:solidFill>
            <a:prstDash val="solid"/>
          </a:ln>
        </p:spPr>
      </p:sp>
      <p:sp>
        <p:nvSpPr>
          <p:cNvPr id="30" name="">
            <a:extLst xmlns:a="http://schemas.openxmlformats.org/drawingml/2006/main">
              <a:ext uri="{FF2B5EF4-FFF2-40B4-BE49-F238E27FC236}">
                <a16:creationId xmlns:a16="http://schemas.microsoft.com/office/drawing/2014/main" id="{658CD641-EC52-4103-A332-C84DBB40D42A}"/>
              </a:ext>
            </a:extLst>
          </p:cNvPr>
          <p:cNvSpPr>
            <a:spLocks xmlns:a="http://schemas.openxmlformats.org/drawingml/2006/main" noGrp="1"/>
          </p:cNvSpPr>
          <p:nvPr/>
        </p:nvSpPr>
        <p:spPr>
          <a:xfrm xmlns:a="http://schemas.openxmlformats.org/drawingml/2006/main">
            <a:off x="47148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1</a:t>
            </a:r>
          </a:p>
        </p:txBody>
      </p:sp>
      <p:sp>
        <p:nvSpPr>
          <p:cNvPr id="31" name="">
            <a:extLst xmlns:a="http://schemas.openxmlformats.org/drawingml/2006/main">
              <a:ext uri="{FF2B5EF4-FFF2-40B4-BE49-F238E27FC236}">
                <a16:creationId xmlns:a16="http://schemas.microsoft.com/office/drawing/2014/main" id="{F15C11A3-35F0-4699-AE7A-81588BC33206}"/>
              </a:ext>
            </a:extLst>
          </p:cNvPr>
          <p:cNvSpPr>
            <a:spLocks xmlns:a="http://schemas.openxmlformats.org/drawingml/2006/main" noGrp="1"/>
          </p:cNvSpPr>
          <p:nvPr/>
        </p:nvSpPr>
        <p:spPr>
          <a:xfrm xmlns:a="http://schemas.openxmlformats.org/drawingml/2006/main">
            <a:off x="5067300" y="2933700"/>
            <a:ext cx="323850" cy="209550"/>
          </a:xfrm>
          <a:prstGeom xmlns:a="http://schemas.openxmlformats.org/drawingml/2006/main" prst="roundRect">
            <a:avLst>
              <a:gd name="adj" fmla="val 27273"/>
            </a:avLst>
          </a:prstGeom>
          <a:solidFill xmlns:a="http://schemas.openxmlformats.org/drawingml/2006/main">
            <a:srgbClr val="B45A3C"/>
          </a:solidFill>
          <a:ln xmlns:a="http://schemas.openxmlformats.org/drawingml/2006/main" w="0">
            <a:solidFill>
              <a:srgbClr val="B45A3C"/>
            </a:solidFill>
            <a:prstDash val="solid"/>
          </a:ln>
        </p:spPr>
      </p:sp>
      <p:sp>
        <p:nvSpPr>
          <p:cNvPr id="32" name="">
            <a:extLst xmlns:a="http://schemas.openxmlformats.org/drawingml/2006/main">
              <a:ext uri="{FF2B5EF4-FFF2-40B4-BE49-F238E27FC236}">
                <a16:creationId xmlns:a16="http://schemas.microsoft.com/office/drawing/2014/main" id="{DEE18711-BEBA-40C7-A98F-462B47BC6CA8}"/>
              </a:ext>
            </a:extLst>
          </p:cNvPr>
          <p:cNvSpPr>
            <a:spLocks xmlns:a="http://schemas.openxmlformats.org/drawingml/2006/main" noGrp="1"/>
          </p:cNvSpPr>
          <p:nvPr/>
        </p:nvSpPr>
        <p:spPr>
          <a:xfrm xmlns:a="http://schemas.openxmlformats.org/drawingml/2006/main">
            <a:off x="51530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2</a:t>
            </a:r>
          </a:p>
        </p:txBody>
      </p:sp>
      <p:sp>
        <p:nvSpPr>
          <p:cNvPr id="33" name="">
            <a:extLst xmlns:a="http://schemas.openxmlformats.org/drawingml/2006/main">
              <a:ext uri="{FF2B5EF4-FFF2-40B4-BE49-F238E27FC236}">
                <a16:creationId xmlns:a16="http://schemas.microsoft.com/office/drawing/2014/main" id="{1785315E-2EEA-4823-9DEA-1AC57DA06FDA}"/>
              </a:ext>
            </a:extLst>
          </p:cNvPr>
          <p:cNvSpPr>
            <a:spLocks xmlns:a="http://schemas.openxmlformats.org/drawingml/2006/main" noGrp="1"/>
          </p:cNvSpPr>
          <p:nvPr/>
        </p:nvSpPr>
        <p:spPr>
          <a:xfrm xmlns:a="http://schemas.openxmlformats.org/drawingml/2006/main">
            <a:off x="5505450" y="2933700"/>
            <a:ext cx="323850" cy="209550"/>
          </a:xfrm>
          <a:prstGeom xmlns:a="http://schemas.openxmlformats.org/drawingml/2006/main" prst="roundRect">
            <a:avLst>
              <a:gd name="adj" fmla="val 27273"/>
            </a:avLst>
          </a:prstGeom>
          <a:solidFill xmlns:a="http://schemas.openxmlformats.org/drawingml/2006/main">
            <a:srgbClr val="DAD2C4"/>
          </a:solidFill>
          <a:ln xmlns:a="http://schemas.openxmlformats.org/drawingml/2006/main" w="0">
            <a:solidFill>
              <a:srgbClr val="DAD2C4"/>
            </a:solidFill>
            <a:prstDash val="solid"/>
          </a:ln>
        </p:spPr>
      </p:sp>
      <p:sp>
        <p:nvSpPr>
          <p:cNvPr id="34" name="">
            <a:extLst xmlns:a="http://schemas.openxmlformats.org/drawingml/2006/main">
              <a:ext uri="{FF2B5EF4-FFF2-40B4-BE49-F238E27FC236}">
                <a16:creationId xmlns:a16="http://schemas.microsoft.com/office/drawing/2014/main" id="{78C4A84B-FCEC-4ED6-BC24-E488D4773D84}"/>
              </a:ext>
            </a:extLst>
          </p:cNvPr>
          <p:cNvSpPr>
            <a:spLocks xmlns:a="http://schemas.openxmlformats.org/drawingml/2006/main" noGrp="1"/>
          </p:cNvSpPr>
          <p:nvPr/>
        </p:nvSpPr>
        <p:spPr>
          <a:xfrm xmlns:a="http://schemas.openxmlformats.org/drawingml/2006/main">
            <a:off x="55911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3</a:t>
            </a:r>
          </a:p>
        </p:txBody>
      </p:sp>
      <p:sp>
        <p:nvSpPr>
          <p:cNvPr id="35" name="">
            <a:extLst xmlns:a="http://schemas.openxmlformats.org/drawingml/2006/main">
              <a:ext uri="{FF2B5EF4-FFF2-40B4-BE49-F238E27FC236}">
                <a16:creationId xmlns:a16="http://schemas.microsoft.com/office/drawing/2014/main" id="{425D9164-6DBF-41A4-848D-778A72FBB0E8}"/>
              </a:ext>
            </a:extLst>
          </p:cNvPr>
          <p:cNvSpPr>
            <a:spLocks xmlns:a="http://schemas.openxmlformats.org/drawingml/2006/main" noGrp="1"/>
          </p:cNvSpPr>
          <p:nvPr/>
        </p:nvSpPr>
        <p:spPr>
          <a:xfrm xmlns:a="http://schemas.openxmlformats.org/drawingml/2006/main">
            <a:off x="5943600" y="2933700"/>
            <a:ext cx="323850" cy="209550"/>
          </a:xfrm>
          <a:prstGeom xmlns:a="http://schemas.openxmlformats.org/drawingml/2006/main" prst="roundRect">
            <a:avLst>
              <a:gd name="adj" fmla="val 27273"/>
            </a:avLst>
          </a:prstGeom>
          <a:solidFill xmlns:a="http://schemas.openxmlformats.org/drawingml/2006/main">
            <a:srgbClr val="DAD2C4"/>
          </a:solidFill>
          <a:ln xmlns:a="http://schemas.openxmlformats.org/drawingml/2006/main" w="0">
            <a:solidFill>
              <a:srgbClr val="DAD2C4"/>
            </a:solidFill>
            <a:prstDash val="solid"/>
          </a:ln>
        </p:spPr>
      </p:sp>
      <p:sp>
        <p:nvSpPr>
          <p:cNvPr id="36" name="">
            <a:extLst xmlns:a="http://schemas.openxmlformats.org/drawingml/2006/main">
              <a:ext uri="{FF2B5EF4-FFF2-40B4-BE49-F238E27FC236}">
                <a16:creationId xmlns:a16="http://schemas.microsoft.com/office/drawing/2014/main" id="{16379AD6-5D5F-46E0-886A-5E0FB6E3B183}"/>
              </a:ext>
            </a:extLst>
          </p:cNvPr>
          <p:cNvSpPr>
            <a:spLocks xmlns:a="http://schemas.openxmlformats.org/drawingml/2006/main" noGrp="1"/>
          </p:cNvSpPr>
          <p:nvPr/>
        </p:nvSpPr>
        <p:spPr>
          <a:xfrm xmlns:a="http://schemas.openxmlformats.org/drawingml/2006/main">
            <a:off x="60293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4</a:t>
            </a:r>
          </a:p>
        </p:txBody>
      </p:sp>
      <p:sp>
        <p:nvSpPr>
          <p:cNvPr id="37" name="">
            <a:extLst xmlns:a="http://schemas.openxmlformats.org/drawingml/2006/main">
              <a:ext uri="{FF2B5EF4-FFF2-40B4-BE49-F238E27FC236}">
                <a16:creationId xmlns:a16="http://schemas.microsoft.com/office/drawing/2014/main" id="{58EA8363-A9B1-4F15-AB2C-43CCBD462AB3}"/>
              </a:ext>
            </a:extLst>
          </p:cNvPr>
          <p:cNvSpPr>
            <a:spLocks xmlns:a="http://schemas.openxmlformats.org/drawingml/2006/main" noGrp="1"/>
          </p:cNvSpPr>
          <p:nvPr/>
        </p:nvSpPr>
        <p:spPr>
          <a:xfrm xmlns:a="http://schemas.openxmlformats.org/drawingml/2006/main">
            <a:off x="6381750" y="2933700"/>
            <a:ext cx="323850" cy="209550"/>
          </a:xfrm>
          <a:prstGeom xmlns:a="http://schemas.openxmlformats.org/drawingml/2006/main" prst="roundRect">
            <a:avLst>
              <a:gd name="adj" fmla="val 27273"/>
            </a:avLst>
          </a:prstGeom>
          <a:solidFill xmlns:a="http://schemas.openxmlformats.org/drawingml/2006/main">
            <a:srgbClr val="78836A"/>
          </a:solidFill>
          <a:ln xmlns:a="http://schemas.openxmlformats.org/drawingml/2006/main" w="0">
            <a:solidFill>
              <a:srgbClr val="78836A"/>
            </a:solidFill>
            <a:prstDash val="solid"/>
          </a:ln>
        </p:spPr>
      </p:sp>
      <p:sp>
        <p:nvSpPr>
          <p:cNvPr id="38" name="">
            <a:extLst xmlns:a="http://schemas.openxmlformats.org/drawingml/2006/main">
              <a:ext uri="{FF2B5EF4-FFF2-40B4-BE49-F238E27FC236}">
                <a16:creationId xmlns:a16="http://schemas.microsoft.com/office/drawing/2014/main" id="{DF774871-6EEC-4BAD-B0A8-AA5CE675E801}"/>
              </a:ext>
            </a:extLst>
          </p:cNvPr>
          <p:cNvSpPr>
            <a:spLocks xmlns:a="http://schemas.openxmlformats.org/drawingml/2006/main" noGrp="1"/>
          </p:cNvSpPr>
          <p:nvPr/>
        </p:nvSpPr>
        <p:spPr>
          <a:xfrm xmlns:a="http://schemas.openxmlformats.org/drawingml/2006/main">
            <a:off x="64674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5</a:t>
            </a:r>
          </a:p>
        </p:txBody>
      </p:sp>
      <p:sp>
        <p:nvSpPr>
          <p:cNvPr id="39" name="">
            <a:extLst xmlns:a="http://schemas.openxmlformats.org/drawingml/2006/main">
              <a:ext uri="{FF2B5EF4-FFF2-40B4-BE49-F238E27FC236}">
                <a16:creationId xmlns:a16="http://schemas.microsoft.com/office/drawing/2014/main" id="{B6E29B33-AF19-4CE1-9004-4E3850054FAF}"/>
              </a:ext>
            </a:extLst>
          </p:cNvPr>
          <p:cNvSpPr>
            <a:spLocks xmlns:a="http://schemas.openxmlformats.org/drawingml/2006/main" noGrp="1"/>
          </p:cNvSpPr>
          <p:nvPr/>
        </p:nvSpPr>
        <p:spPr>
          <a:xfrm xmlns:a="http://schemas.openxmlformats.org/drawingml/2006/main">
            <a:off x="6819900" y="2933700"/>
            <a:ext cx="323850" cy="209550"/>
          </a:xfrm>
          <a:prstGeom xmlns:a="http://schemas.openxmlformats.org/drawingml/2006/main" prst="roundRect">
            <a:avLst>
              <a:gd name="adj" fmla="val 27273"/>
            </a:avLst>
          </a:prstGeom>
          <a:solidFill xmlns:a="http://schemas.openxmlformats.org/drawingml/2006/main">
            <a:srgbClr val="78836A"/>
          </a:solidFill>
          <a:ln xmlns:a="http://schemas.openxmlformats.org/drawingml/2006/main" w="0">
            <a:solidFill>
              <a:srgbClr val="78836A"/>
            </a:solidFill>
            <a:prstDash val="solid"/>
          </a:ln>
        </p:spPr>
      </p:sp>
      <p:sp>
        <p:nvSpPr>
          <p:cNvPr id="40" name="">
            <a:extLst xmlns:a="http://schemas.openxmlformats.org/drawingml/2006/main">
              <a:ext uri="{FF2B5EF4-FFF2-40B4-BE49-F238E27FC236}">
                <a16:creationId xmlns:a16="http://schemas.microsoft.com/office/drawing/2014/main" id="{45C4DA36-6B93-4CA8-9CD4-C846415487C7}"/>
              </a:ext>
            </a:extLst>
          </p:cNvPr>
          <p:cNvSpPr>
            <a:spLocks xmlns:a="http://schemas.openxmlformats.org/drawingml/2006/main" noGrp="1"/>
          </p:cNvSpPr>
          <p:nvPr/>
        </p:nvSpPr>
        <p:spPr>
          <a:xfrm xmlns:a="http://schemas.openxmlformats.org/drawingml/2006/main">
            <a:off x="69056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6</a:t>
            </a:r>
          </a:p>
        </p:txBody>
      </p:sp>
      <p:sp>
        <p:nvSpPr>
          <p:cNvPr id="41" name="">
            <a:extLst xmlns:a="http://schemas.openxmlformats.org/drawingml/2006/main">
              <a:ext uri="{FF2B5EF4-FFF2-40B4-BE49-F238E27FC236}">
                <a16:creationId xmlns:a16="http://schemas.microsoft.com/office/drawing/2014/main" id="{9A109058-1108-4A3A-98DB-EBF8AC2AF661}"/>
              </a:ext>
            </a:extLst>
          </p:cNvPr>
          <p:cNvSpPr>
            <a:spLocks xmlns:a="http://schemas.openxmlformats.org/drawingml/2006/main" noGrp="1"/>
          </p:cNvSpPr>
          <p:nvPr/>
        </p:nvSpPr>
        <p:spPr>
          <a:xfrm xmlns:a="http://schemas.openxmlformats.org/drawingml/2006/main">
            <a:off x="8001000" y="2190750"/>
            <a:ext cx="3276600" cy="1123950"/>
          </a:xfrm>
          <a:prstGeom xmlns:a="http://schemas.openxmlformats.org/drawingml/2006/main" prst="roundRect">
            <a:avLst>
              <a:gd name="adj" fmla="val 6780"/>
            </a:avLst>
          </a:prstGeom>
          <a:solidFill xmlns:a="http://schemas.openxmlformats.org/drawingml/2006/main">
            <a:srgbClr val="FFF9F0"/>
          </a:solidFill>
          <a:ln xmlns:a="http://schemas.openxmlformats.org/drawingml/2006/main" w="9525">
            <a:solidFill>
              <a:srgbClr val="E8DCCB"/>
            </a:solidFill>
            <a:prstDash val="solid"/>
          </a:ln>
        </p:spPr>
      </p:sp>
      <p:sp>
        <p:nvSpPr>
          <p:cNvPr id="42" name="">
            <a:extLst xmlns:a="http://schemas.openxmlformats.org/drawingml/2006/main">
              <a:ext uri="{FF2B5EF4-FFF2-40B4-BE49-F238E27FC236}">
                <a16:creationId xmlns:a16="http://schemas.microsoft.com/office/drawing/2014/main" id="{D532284A-0182-4E19-A7D6-9014ED903FE0}"/>
              </a:ext>
            </a:extLst>
          </p:cNvPr>
          <p:cNvSpPr>
            <a:spLocks xmlns:a="http://schemas.openxmlformats.org/drawingml/2006/main" noGrp="1"/>
          </p:cNvSpPr>
          <p:nvPr/>
        </p:nvSpPr>
        <p:spPr>
          <a:xfrm xmlns:a="http://schemas.openxmlformats.org/drawingml/2006/main">
            <a:off x="8001000" y="2190750"/>
            <a:ext cx="57150" cy="11239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43" name="">
            <a:extLst xmlns:a="http://schemas.openxmlformats.org/drawingml/2006/main">
              <a:ext uri="{FF2B5EF4-FFF2-40B4-BE49-F238E27FC236}">
                <a16:creationId xmlns:a16="http://schemas.microsoft.com/office/drawing/2014/main" id="{17476465-9BA1-49B4-99A0-9F3DDD0E1A5E}"/>
              </a:ext>
            </a:extLst>
          </p:cNvPr>
          <p:cNvSpPr>
            <a:spLocks xmlns:a="http://schemas.openxmlformats.org/drawingml/2006/main" noGrp="1"/>
          </p:cNvSpPr>
          <p:nvPr/>
        </p:nvSpPr>
        <p:spPr>
          <a:xfrm xmlns:a="http://schemas.openxmlformats.org/drawingml/2006/main">
            <a:off x="8172450" y="23050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E2433"/>
                </a:solidFill>
                <a:latin typeface="Times New Roman"/>
                <a:ea typeface="Times New Roman"/>
                <a:cs typeface="Times New Roman"/>
              </a:defRPr>
            </a:pPr>
            <a:r>
              <a:rPr sz="1725" b="1" i="0">
                <a:solidFill>
                  <a:srgbClr val="1E2433"/>
                </a:solidFill>
                <a:latin typeface="Times New Roman"/>
                <a:ea typeface="Times New Roman"/>
                <a:cs typeface="Times New Roman"/>
              </a:rPr>
              <a:t>Mid Shock</a:t>
            </a:r>
          </a:p>
        </p:txBody>
      </p:sp>
      <p:sp>
        <p:nvSpPr>
          <p:cNvPr id="44" name="">
            <a:extLst xmlns:a="http://schemas.openxmlformats.org/drawingml/2006/main">
              <a:ext uri="{FF2B5EF4-FFF2-40B4-BE49-F238E27FC236}">
                <a16:creationId xmlns:a16="http://schemas.microsoft.com/office/drawing/2014/main" id="{5185C222-304B-40E6-AA2F-F6F07036C27F}"/>
              </a:ext>
            </a:extLst>
          </p:cNvPr>
          <p:cNvSpPr>
            <a:spLocks xmlns:a="http://schemas.openxmlformats.org/drawingml/2006/main" noGrp="1"/>
          </p:cNvSpPr>
          <p:nvPr/>
        </p:nvSpPr>
        <p:spPr>
          <a:xfrm xmlns:a="http://schemas.openxmlformats.org/drawingml/2006/main">
            <a:off x="8172450" y="2628900"/>
            <a:ext cx="2990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Errors concentrate mid-way.</a:t>
            </a:r>
          </a:p>
        </p:txBody>
      </p:sp>
      <p:sp>
        <p:nvSpPr>
          <p:cNvPr id="45" name="">
            <a:extLst xmlns:a="http://schemas.openxmlformats.org/drawingml/2006/main">
              <a:ext uri="{FF2B5EF4-FFF2-40B4-BE49-F238E27FC236}">
                <a16:creationId xmlns:a16="http://schemas.microsoft.com/office/drawing/2014/main" id="{07894A7B-B2F0-492A-88A5-4852939515EC}"/>
              </a:ext>
            </a:extLst>
          </p:cNvPr>
          <p:cNvSpPr>
            <a:spLocks xmlns:a="http://schemas.openxmlformats.org/drawingml/2006/main" noGrp="1"/>
          </p:cNvSpPr>
          <p:nvPr/>
        </p:nvSpPr>
        <p:spPr>
          <a:xfrm xmlns:a="http://schemas.openxmlformats.org/drawingml/2006/main">
            <a:off x="8172450" y="2933700"/>
            <a:ext cx="323850" cy="209550"/>
          </a:xfrm>
          <a:prstGeom xmlns:a="http://schemas.openxmlformats.org/drawingml/2006/main" prst="roundRect">
            <a:avLst>
              <a:gd name="adj" fmla="val 27273"/>
            </a:avLst>
          </a:prstGeom>
          <a:solidFill xmlns:a="http://schemas.openxmlformats.org/drawingml/2006/main">
            <a:srgbClr val="DAD2C4"/>
          </a:solidFill>
          <a:ln xmlns:a="http://schemas.openxmlformats.org/drawingml/2006/main" w="0">
            <a:solidFill>
              <a:srgbClr val="DAD2C4"/>
            </a:solidFill>
            <a:prstDash val="solid"/>
          </a:ln>
        </p:spPr>
      </p:sp>
      <p:sp>
        <p:nvSpPr>
          <p:cNvPr id="46" name="">
            <a:extLst xmlns:a="http://schemas.openxmlformats.org/drawingml/2006/main">
              <a:ext uri="{FF2B5EF4-FFF2-40B4-BE49-F238E27FC236}">
                <a16:creationId xmlns:a16="http://schemas.microsoft.com/office/drawing/2014/main" id="{2E087EB1-6A26-4947-9E8F-373A5605E7C6}"/>
              </a:ext>
            </a:extLst>
          </p:cNvPr>
          <p:cNvSpPr>
            <a:spLocks xmlns:a="http://schemas.openxmlformats.org/drawingml/2006/main" noGrp="1"/>
          </p:cNvSpPr>
          <p:nvPr/>
        </p:nvSpPr>
        <p:spPr>
          <a:xfrm xmlns:a="http://schemas.openxmlformats.org/drawingml/2006/main">
            <a:off x="82581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1</a:t>
            </a:r>
          </a:p>
        </p:txBody>
      </p:sp>
      <p:sp>
        <p:nvSpPr>
          <p:cNvPr id="47" name="">
            <a:extLst xmlns:a="http://schemas.openxmlformats.org/drawingml/2006/main">
              <a:ext uri="{FF2B5EF4-FFF2-40B4-BE49-F238E27FC236}">
                <a16:creationId xmlns:a16="http://schemas.microsoft.com/office/drawing/2014/main" id="{1A232E01-BFCD-40B0-AA17-E8DE7FE40CFD}"/>
              </a:ext>
            </a:extLst>
          </p:cNvPr>
          <p:cNvSpPr>
            <a:spLocks xmlns:a="http://schemas.openxmlformats.org/drawingml/2006/main" noGrp="1"/>
          </p:cNvSpPr>
          <p:nvPr/>
        </p:nvSpPr>
        <p:spPr>
          <a:xfrm xmlns:a="http://schemas.openxmlformats.org/drawingml/2006/main">
            <a:off x="8610600" y="2933700"/>
            <a:ext cx="323850" cy="209550"/>
          </a:xfrm>
          <a:prstGeom xmlns:a="http://schemas.openxmlformats.org/drawingml/2006/main" prst="roundRect">
            <a:avLst>
              <a:gd name="adj" fmla="val 27273"/>
            </a:avLst>
          </a:prstGeom>
          <a:solidFill xmlns:a="http://schemas.openxmlformats.org/drawingml/2006/main">
            <a:srgbClr val="DAD2C4"/>
          </a:solidFill>
          <a:ln xmlns:a="http://schemas.openxmlformats.org/drawingml/2006/main" w="0">
            <a:solidFill>
              <a:srgbClr val="DAD2C4"/>
            </a:solidFill>
            <a:prstDash val="solid"/>
          </a:ln>
        </p:spPr>
      </p:sp>
      <p:sp>
        <p:nvSpPr>
          <p:cNvPr id="48" name="">
            <a:extLst xmlns:a="http://schemas.openxmlformats.org/drawingml/2006/main">
              <a:ext uri="{FF2B5EF4-FFF2-40B4-BE49-F238E27FC236}">
                <a16:creationId xmlns:a16="http://schemas.microsoft.com/office/drawing/2014/main" id="{7CCA3D94-9E3C-4F61-BA82-F70A281F4509}"/>
              </a:ext>
            </a:extLst>
          </p:cNvPr>
          <p:cNvSpPr>
            <a:spLocks xmlns:a="http://schemas.openxmlformats.org/drawingml/2006/main" noGrp="1"/>
          </p:cNvSpPr>
          <p:nvPr/>
        </p:nvSpPr>
        <p:spPr>
          <a:xfrm xmlns:a="http://schemas.openxmlformats.org/drawingml/2006/main">
            <a:off x="86963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2</a:t>
            </a:r>
          </a:p>
        </p:txBody>
      </p:sp>
      <p:sp>
        <p:nvSpPr>
          <p:cNvPr id="49" name="">
            <a:extLst xmlns:a="http://schemas.openxmlformats.org/drawingml/2006/main">
              <a:ext uri="{FF2B5EF4-FFF2-40B4-BE49-F238E27FC236}">
                <a16:creationId xmlns:a16="http://schemas.microsoft.com/office/drawing/2014/main" id="{6BE170A0-2C37-4E24-8C1A-AA2F9C13C2BA}"/>
              </a:ext>
            </a:extLst>
          </p:cNvPr>
          <p:cNvSpPr>
            <a:spLocks xmlns:a="http://schemas.openxmlformats.org/drawingml/2006/main" noGrp="1"/>
          </p:cNvSpPr>
          <p:nvPr/>
        </p:nvSpPr>
        <p:spPr>
          <a:xfrm xmlns:a="http://schemas.openxmlformats.org/drawingml/2006/main">
            <a:off x="9048750" y="2933700"/>
            <a:ext cx="323850" cy="209550"/>
          </a:xfrm>
          <a:prstGeom xmlns:a="http://schemas.openxmlformats.org/drawingml/2006/main" prst="roundRect">
            <a:avLst>
              <a:gd name="adj" fmla="val 27273"/>
            </a:avLst>
          </a:prstGeom>
          <a:solidFill xmlns:a="http://schemas.openxmlformats.org/drawingml/2006/main">
            <a:srgbClr val="B45A3C"/>
          </a:solidFill>
          <a:ln xmlns:a="http://schemas.openxmlformats.org/drawingml/2006/main" w="0">
            <a:solidFill>
              <a:srgbClr val="B45A3C"/>
            </a:solidFill>
            <a:prstDash val="solid"/>
          </a:ln>
        </p:spPr>
      </p:sp>
      <p:sp>
        <p:nvSpPr>
          <p:cNvPr id="50" name="">
            <a:extLst xmlns:a="http://schemas.openxmlformats.org/drawingml/2006/main">
              <a:ext uri="{FF2B5EF4-FFF2-40B4-BE49-F238E27FC236}">
                <a16:creationId xmlns:a16="http://schemas.microsoft.com/office/drawing/2014/main" id="{2849E9C2-63FB-415F-B7A9-ED089608D78A}"/>
              </a:ext>
            </a:extLst>
          </p:cNvPr>
          <p:cNvSpPr>
            <a:spLocks xmlns:a="http://schemas.openxmlformats.org/drawingml/2006/main" noGrp="1"/>
          </p:cNvSpPr>
          <p:nvPr/>
        </p:nvSpPr>
        <p:spPr>
          <a:xfrm xmlns:a="http://schemas.openxmlformats.org/drawingml/2006/main">
            <a:off x="91344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3</a:t>
            </a:r>
          </a:p>
        </p:txBody>
      </p:sp>
      <p:sp>
        <p:nvSpPr>
          <p:cNvPr id="51" name="">
            <a:extLst xmlns:a="http://schemas.openxmlformats.org/drawingml/2006/main">
              <a:ext uri="{FF2B5EF4-FFF2-40B4-BE49-F238E27FC236}">
                <a16:creationId xmlns:a16="http://schemas.microsoft.com/office/drawing/2014/main" id="{54BD0856-CE5F-4E9D-A8D4-CF4288054E4F}"/>
              </a:ext>
            </a:extLst>
          </p:cNvPr>
          <p:cNvSpPr>
            <a:spLocks xmlns:a="http://schemas.openxmlformats.org/drawingml/2006/main" noGrp="1"/>
          </p:cNvSpPr>
          <p:nvPr/>
        </p:nvSpPr>
        <p:spPr>
          <a:xfrm xmlns:a="http://schemas.openxmlformats.org/drawingml/2006/main">
            <a:off x="9486900" y="2933700"/>
            <a:ext cx="323850" cy="209550"/>
          </a:xfrm>
          <a:prstGeom xmlns:a="http://schemas.openxmlformats.org/drawingml/2006/main" prst="roundRect">
            <a:avLst>
              <a:gd name="adj" fmla="val 27273"/>
            </a:avLst>
          </a:prstGeom>
          <a:solidFill xmlns:a="http://schemas.openxmlformats.org/drawingml/2006/main">
            <a:srgbClr val="B45A3C"/>
          </a:solidFill>
          <a:ln xmlns:a="http://schemas.openxmlformats.org/drawingml/2006/main" w="0">
            <a:solidFill>
              <a:srgbClr val="B45A3C"/>
            </a:solidFill>
            <a:prstDash val="solid"/>
          </a:ln>
        </p:spPr>
      </p:sp>
      <p:sp>
        <p:nvSpPr>
          <p:cNvPr id="52" name="">
            <a:extLst xmlns:a="http://schemas.openxmlformats.org/drawingml/2006/main">
              <a:ext uri="{FF2B5EF4-FFF2-40B4-BE49-F238E27FC236}">
                <a16:creationId xmlns:a16="http://schemas.microsoft.com/office/drawing/2014/main" id="{DB3ECBDE-EE73-40DE-8DF0-3A0ABDE67BEA}"/>
              </a:ext>
            </a:extLst>
          </p:cNvPr>
          <p:cNvSpPr>
            <a:spLocks xmlns:a="http://schemas.openxmlformats.org/drawingml/2006/main" noGrp="1"/>
          </p:cNvSpPr>
          <p:nvPr/>
        </p:nvSpPr>
        <p:spPr>
          <a:xfrm xmlns:a="http://schemas.openxmlformats.org/drawingml/2006/main">
            <a:off x="95726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4</a:t>
            </a:r>
          </a:p>
        </p:txBody>
      </p:sp>
      <p:sp>
        <p:nvSpPr>
          <p:cNvPr id="53" name="">
            <a:extLst xmlns:a="http://schemas.openxmlformats.org/drawingml/2006/main">
              <a:ext uri="{FF2B5EF4-FFF2-40B4-BE49-F238E27FC236}">
                <a16:creationId xmlns:a16="http://schemas.microsoft.com/office/drawing/2014/main" id="{A5733AE6-D92D-4940-96E9-E50468C1929A}"/>
              </a:ext>
            </a:extLst>
          </p:cNvPr>
          <p:cNvSpPr>
            <a:spLocks xmlns:a="http://schemas.openxmlformats.org/drawingml/2006/main" noGrp="1"/>
          </p:cNvSpPr>
          <p:nvPr/>
        </p:nvSpPr>
        <p:spPr>
          <a:xfrm xmlns:a="http://schemas.openxmlformats.org/drawingml/2006/main">
            <a:off x="9925050" y="2933700"/>
            <a:ext cx="323850" cy="209550"/>
          </a:xfrm>
          <a:prstGeom xmlns:a="http://schemas.openxmlformats.org/drawingml/2006/main" prst="roundRect">
            <a:avLst>
              <a:gd name="adj" fmla="val 27273"/>
            </a:avLst>
          </a:prstGeom>
          <a:solidFill xmlns:a="http://schemas.openxmlformats.org/drawingml/2006/main">
            <a:srgbClr val="78836A"/>
          </a:solidFill>
          <a:ln xmlns:a="http://schemas.openxmlformats.org/drawingml/2006/main" w="0">
            <a:solidFill>
              <a:srgbClr val="78836A"/>
            </a:solidFill>
            <a:prstDash val="solid"/>
          </a:ln>
        </p:spPr>
      </p:sp>
      <p:sp>
        <p:nvSpPr>
          <p:cNvPr id="54" name="">
            <a:extLst xmlns:a="http://schemas.openxmlformats.org/drawingml/2006/main">
              <a:ext uri="{FF2B5EF4-FFF2-40B4-BE49-F238E27FC236}">
                <a16:creationId xmlns:a16="http://schemas.microsoft.com/office/drawing/2014/main" id="{B9C3A482-0059-444F-BBA6-F555779236BE}"/>
              </a:ext>
            </a:extLst>
          </p:cNvPr>
          <p:cNvSpPr>
            <a:spLocks xmlns:a="http://schemas.openxmlformats.org/drawingml/2006/main" noGrp="1"/>
          </p:cNvSpPr>
          <p:nvPr/>
        </p:nvSpPr>
        <p:spPr>
          <a:xfrm xmlns:a="http://schemas.openxmlformats.org/drawingml/2006/main">
            <a:off x="1001077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5</a:t>
            </a:r>
          </a:p>
        </p:txBody>
      </p:sp>
      <p:sp>
        <p:nvSpPr>
          <p:cNvPr id="55" name="">
            <a:extLst xmlns:a="http://schemas.openxmlformats.org/drawingml/2006/main">
              <a:ext uri="{FF2B5EF4-FFF2-40B4-BE49-F238E27FC236}">
                <a16:creationId xmlns:a16="http://schemas.microsoft.com/office/drawing/2014/main" id="{2C245919-2CD0-453C-B0FA-C68DDDE734F5}"/>
              </a:ext>
            </a:extLst>
          </p:cNvPr>
          <p:cNvSpPr>
            <a:spLocks xmlns:a="http://schemas.openxmlformats.org/drawingml/2006/main" noGrp="1"/>
          </p:cNvSpPr>
          <p:nvPr/>
        </p:nvSpPr>
        <p:spPr>
          <a:xfrm xmlns:a="http://schemas.openxmlformats.org/drawingml/2006/main">
            <a:off x="10363200" y="2933700"/>
            <a:ext cx="323850" cy="209550"/>
          </a:xfrm>
          <a:prstGeom xmlns:a="http://schemas.openxmlformats.org/drawingml/2006/main" prst="roundRect">
            <a:avLst>
              <a:gd name="adj" fmla="val 27273"/>
            </a:avLst>
          </a:prstGeom>
          <a:solidFill xmlns:a="http://schemas.openxmlformats.org/drawingml/2006/main">
            <a:srgbClr val="78836A"/>
          </a:solidFill>
          <a:ln xmlns:a="http://schemas.openxmlformats.org/drawingml/2006/main" w="0">
            <a:solidFill>
              <a:srgbClr val="78836A"/>
            </a:solidFill>
            <a:prstDash val="solid"/>
          </a:ln>
        </p:spPr>
      </p:sp>
      <p:sp>
        <p:nvSpPr>
          <p:cNvPr id="56" name="">
            <a:extLst xmlns:a="http://schemas.openxmlformats.org/drawingml/2006/main">
              <a:ext uri="{FF2B5EF4-FFF2-40B4-BE49-F238E27FC236}">
                <a16:creationId xmlns:a16="http://schemas.microsoft.com/office/drawing/2014/main" id="{5D6B18EA-391C-4F5C-99B4-F53DC38EC360}"/>
              </a:ext>
            </a:extLst>
          </p:cNvPr>
          <p:cNvSpPr>
            <a:spLocks xmlns:a="http://schemas.openxmlformats.org/drawingml/2006/main" noGrp="1"/>
          </p:cNvSpPr>
          <p:nvPr/>
        </p:nvSpPr>
        <p:spPr>
          <a:xfrm xmlns:a="http://schemas.openxmlformats.org/drawingml/2006/main">
            <a:off x="10448925" y="2952750"/>
            <a:ext cx="152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i="0">
                <a:solidFill>
                  <a:srgbClr val="FFFFFF"/>
                </a:solidFill>
                <a:latin typeface="Times New Roman"/>
                <a:ea typeface="Times New Roman"/>
                <a:cs typeface="Times New Roman"/>
              </a:defRPr>
            </a:pPr>
            <a:r>
              <a:rPr sz="750" b="1" i="0">
                <a:solidFill>
                  <a:srgbClr val="FFFFFF"/>
                </a:solidFill>
                <a:latin typeface="Times New Roman"/>
                <a:ea typeface="Times New Roman"/>
                <a:cs typeface="Times New Roman"/>
              </a:rPr>
              <a:t>6</a:t>
            </a:r>
          </a:p>
        </p:txBody>
      </p:sp>
      <p:sp>
        <p:nvSpPr>
          <p:cNvPr id="57" name="">
            <a:extLst xmlns:a="http://schemas.openxmlformats.org/drawingml/2006/main">
              <a:ext uri="{FF2B5EF4-FFF2-40B4-BE49-F238E27FC236}">
                <a16:creationId xmlns:a16="http://schemas.microsoft.com/office/drawing/2014/main" id="{E3D743BF-48DD-444C-ADB9-07D32C18BADA}"/>
              </a:ext>
            </a:extLst>
          </p:cNvPr>
          <p:cNvSpPr>
            <a:spLocks xmlns:a="http://schemas.openxmlformats.org/drawingml/2006/main" noGrp="1"/>
          </p:cNvSpPr>
          <p:nvPr/>
        </p:nvSpPr>
        <p:spPr>
          <a:xfrm xmlns:a="http://schemas.openxmlformats.org/drawingml/2006/main">
            <a:off x="914400" y="34671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89B4A"/>
                </a:solidFill>
                <a:latin typeface="Times New Roman"/>
                <a:ea typeface="Times New Roman"/>
                <a:cs typeface="Times New Roman"/>
              </a:defRPr>
            </a:pPr>
            <a:r>
              <a:rPr sz="1350" b="1" i="0">
                <a:solidFill>
                  <a:srgbClr val="C89B4A"/>
                </a:solidFill>
                <a:latin typeface="Times New Roman"/>
                <a:ea typeface="Times New Roman"/>
                <a:cs typeface="Times New Roman"/>
              </a:rPr>
              <a:t>Parity-matched across conditions</a:t>
            </a:r>
          </a:p>
        </p:txBody>
      </p:sp>
      <p:sp>
        <p:nvSpPr>
          <p:cNvPr id="58" name="">
            <a:extLst xmlns:a="http://schemas.openxmlformats.org/drawingml/2006/main">
              <a:ext uri="{FF2B5EF4-FFF2-40B4-BE49-F238E27FC236}">
                <a16:creationId xmlns:a16="http://schemas.microsoft.com/office/drawing/2014/main" id="{204F4C12-AC91-4B8D-85DF-181310503913}"/>
              </a:ext>
            </a:extLst>
          </p:cNvPr>
          <p:cNvSpPr>
            <a:spLocks xmlns:a="http://schemas.openxmlformats.org/drawingml/2006/main" noGrp="1"/>
          </p:cNvSpPr>
          <p:nvPr/>
        </p:nvSpPr>
        <p:spPr>
          <a:xfrm xmlns:a="http://schemas.openxmlformats.org/drawingml/2006/main">
            <a:off x="914400" y="3733800"/>
            <a:ext cx="2381250" cy="609600"/>
          </a:xfrm>
          <a:prstGeom xmlns:a="http://schemas.openxmlformats.org/drawingml/2006/main" prst="roundRect">
            <a:avLst>
              <a:gd name="adj" fmla="val 12500"/>
            </a:avLst>
          </a:prstGeom>
          <a:solidFill xmlns:a="http://schemas.openxmlformats.org/drawingml/2006/main">
            <a:srgbClr val="FFF9F0"/>
          </a:solidFill>
          <a:ln xmlns:a="http://schemas.openxmlformats.org/drawingml/2006/main" w="9525">
            <a:solidFill>
              <a:srgbClr val="E8DCCB"/>
            </a:solidFill>
            <a:prstDash val="solid"/>
          </a:ln>
        </p:spPr>
      </p:sp>
      <p:sp>
        <p:nvSpPr>
          <p:cNvPr id="59" name="">
            <a:extLst xmlns:a="http://schemas.openxmlformats.org/drawingml/2006/main">
              <a:ext uri="{FF2B5EF4-FFF2-40B4-BE49-F238E27FC236}">
                <a16:creationId xmlns:a16="http://schemas.microsoft.com/office/drawing/2014/main" id="{B9A2E2BD-00B0-48B9-AA35-67E715646B5A}"/>
              </a:ext>
            </a:extLst>
          </p:cNvPr>
          <p:cNvSpPr>
            <a:spLocks xmlns:a="http://schemas.openxmlformats.org/drawingml/2006/main" noGrp="1"/>
          </p:cNvSpPr>
          <p:nvPr/>
        </p:nvSpPr>
        <p:spPr>
          <a:xfrm xmlns:a="http://schemas.openxmlformats.org/drawingml/2006/main">
            <a:off x="914400" y="3733800"/>
            <a:ext cx="57150" cy="6096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60" name="">
            <a:extLst xmlns:a="http://schemas.openxmlformats.org/drawingml/2006/main">
              <a:ext uri="{FF2B5EF4-FFF2-40B4-BE49-F238E27FC236}">
                <a16:creationId xmlns:a16="http://schemas.microsoft.com/office/drawing/2014/main" id="{88436D99-ABAF-41A9-BA5A-A093DB8E5B7A}"/>
              </a:ext>
            </a:extLst>
          </p:cNvPr>
          <p:cNvSpPr>
            <a:spLocks xmlns:a="http://schemas.openxmlformats.org/drawingml/2006/main" noGrp="1"/>
          </p:cNvSpPr>
          <p:nvPr/>
        </p:nvSpPr>
        <p:spPr>
          <a:xfrm xmlns:a="http://schemas.openxmlformats.org/drawingml/2006/main">
            <a:off x="1085850" y="3848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E2433"/>
                </a:solidFill>
                <a:latin typeface="Times New Roman"/>
                <a:ea typeface="Times New Roman"/>
                <a:cs typeface="Times New Roman"/>
              </a:defRPr>
            </a:pPr>
            <a:r>
              <a:rPr sz="1275" b="1" i="0">
                <a:solidFill>
                  <a:srgbClr val="1E2433"/>
                </a:solidFill>
                <a:latin typeface="Times New Roman"/>
                <a:ea typeface="Times New Roman"/>
                <a:cs typeface="Times New Roman"/>
              </a:rPr>
              <a:t>same total payoff</a:t>
            </a:r>
          </a:p>
        </p:txBody>
      </p:sp>
      <p:sp>
        <p:nvSpPr>
          <p:cNvPr id="61" name="">
            <a:extLst xmlns:a="http://schemas.openxmlformats.org/drawingml/2006/main">
              <a:ext uri="{FF2B5EF4-FFF2-40B4-BE49-F238E27FC236}">
                <a16:creationId xmlns:a16="http://schemas.microsoft.com/office/drawing/2014/main" id="{02C8D93C-C379-4382-A3C7-B5D18287BEB7}"/>
              </a:ext>
            </a:extLst>
          </p:cNvPr>
          <p:cNvSpPr>
            <a:spLocks xmlns:a="http://schemas.openxmlformats.org/drawingml/2006/main" noGrp="1"/>
          </p:cNvSpPr>
          <p:nvPr/>
        </p:nvSpPr>
        <p:spPr>
          <a:xfrm xmlns:a="http://schemas.openxmlformats.org/drawingml/2006/main">
            <a:off x="3486150" y="3733800"/>
            <a:ext cx="2381250" cy="609600"/>
          </a:xfrm>
          <a:prstGeom xmlns:a="http://schemas.openxmlformats.org/drawingml/2006/main" prst="roundRect">
            <a:avLst>
              <a:gd name="adj" fmla="val 12500"/>
            </a:avLst>
          </a:prstGeom>
          <a:solidFill xmlns:a="http://schemas.openxmlformats.org/drawingml/2006/main">
            <a:srgbClr val="FFF9F0"/>
          </a:solidFill>
          <a:ln xmlns:a="http://schemas.openxmlformats.org/drawingml/2006/main" w="9525">
            <a:solidFill>
              <a:srgbClr val="E8DCCB"/>
            </a:solidFill>
            <a:prstDash val="solid"/>
          </a:ln>
        </p:spPr>
      </p:sp>
      <p:sp>
        <p:nvSpPr>
          <p:cNvPr id="62" name="">
            <a:extLst xmlns:a="http://schemas.openxmlformats.org/drawingml/2006/main">
              <a:ext uri="{FF2B5EF4-FFF2-40B4-BE49-F238E27FC236}">
                <a16:creationId xmlns:a16="http://schemas.microsoft.com/office/drawing/2014/main" id="{53AAB54B-A3BC-41C2-A184-B8B7760FB6CA}"/>
              </a:ext>
            </a:extLst>
          </p:cNvPr>
          <p:cNvSpPr>
            <a:spLocks xmlns:a="http://schemas.openxmlformats.org/drawingml/2006/main" noGrp="1"/>
          </p:cNvSpPr>
          <p:nvPr/>
        </p:nvSpPr>
        <p:spPr>
          <a:xfrm xmlns:a="http://schemas.openxmlformats.org/drawingml/2006/main">
            <a:off x="3486150" y="3733800"/>
            <a:ext cx="57150" cy="6096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63" name="">
            <a:extLst xmlns:a="http://schemas.openxmlformats.org/drawingml/2006/main">
              <a:ext uri="{FF2B5EF4-FFF2-40B4-BE49-F238E27FC236}">
                <a16:creationId xmlns:a16="http://schemas.microsoft.com/office/drawing/2014/main" id="{BADAC2BE-52B1-49E9-BCF2-976482333AC5}"/>
              </a:ext>
            </a:extLst>
          </p:cNvPr>
          <p:cNvSpPr>
            <a:spLocks xmlns:a="http://schemas.openxmlformats.org/drawingml/2006/main" noGrp="1"/>
          </p:cNvSpPr>
          <p:nvPr/>
        </p:nvSpPr>
        <p:spPr>
          <a:xfrm xmlns:a="http://schemas.openxmlformats.org/drawingml/2006/main">
            <a:off x="3657600" y="3848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E2433"/>
                </a:solidFill>
                <a:latin typeface="Times New Roman"/>
                <a:ea typeface="Times New Roman"/>
                <a:cs typeface="Times New Roman"/>
              </a:defRPr>
            </a:pPr>
            <a:r>
              <a:rPr sz="1275" b="1" i="0">
                <a:solidFill>
                  <a:srgbClr val="1E2433"/>
                </a:solidFill>
                <a:latin typeface="Times New Roman"/>
                <a:ea typeface="Times New Roman"/>
                <a:cs typeface="Times New Roman"/>
              </a:rPr>
              <a:t>same mean payoff</a:t>
            </a:r>
          </a:p>
        </p:txBody>
      </p:sp>
      <p:sp>
        <p:nvSpPr>
          <p:cNvPr id="64" name="">
            <a:extLst xmlns:a="http://schemas.openxmlformats.org/drawingml/2006/main">
              <a:ext uri="{FF2B5EF4-FFF2-40B4-BE49-F238E27FC236}">
                <a16:creationId xmlns:a16="http://schemas.microsoft.com/office/drawing/2014/main" id="{915D4763-6A70-4EE7-B9BC-036F3A1C6283}"/>
              </a:ext>
            </a:extLst>
          </p:cNvPr>
          <p:cNvSpPr>
            <a:spLocks xmlns:a="http://schemas.openxmlformats.org/drawingml/2006/main" noGrp="1"/>
          </p:cNvSpPr>
          <p:nvPr/>
        </p:nvSpPr>
        <p:spPr>
          <a:xfrm xmlns:a="http://schemas.openxmlformats.org/drawingml/2006/main">
            <a:off x="6057900" y="3733800"/>
            <a:ext cx="2381250" cy="609600"/>
          </a:xfrm>
          <a:prstGeom xmlns:a="http://schemas.openxmlformats.org/drawingml/2006/main" prst="roundRect">
            <a:avLst>
              <a:gd name="adj" fmla="val 12500"/>
            </a:avLst>
          </a:prstGeom>
          <a:solidFill xmlns:a="http://schemas.openxmlformats.org/drawingml/2006/main">
            <a:srgbClr val="FFF9F0"/>
          </a:solidFill>
          <a:ln xmlns:a="http://schemas.openxmlformats.org/drawingml/2006/main" w="9525">
            <a:solidFill>
              <a:srgbClr val="E8DCCB"/>
            </a:solidFill>
            <a:prstDash val="solid"/>
          </a:ln>
        </p:spPr>
      </p:sp>
      <p:sp>
        <p:nvSpPr>
          <p:cNvPr id="65" name="">
            <a:extLst xmlns:a="http://schemas.openxmlformats.org/drawingml/2006/main">
              <a:ext uri="{FF2B5EF4-FFF2-40B4-BE49-F238E27FC236}">
                <a16:creationId xmlns:a16="http://schemas.microsoft.com/office/drawing/2014/main" id="{7053E97E-2977-47ED-9C5B-49BF5B13AC20}"/>
              </a:ext>
            </a:extLst>
          </p:cNvPr>
          <p:cNvSpPr>
            <a:spLocks xmlns:a="http://schemas.openxmlformats.org/drawingml/2006/main" noGrp="1"/>
          </p:cNvSpPr>
          <p:nvPr/>
        </p:nvSpPr>
        <p:spPr>
          <a:xfrm xmlns:a="http://schemas.openxmlformats.org/drawingml/2006/main">
            <a:off x="6057900" y="3733800"/>
            <a:ext cx="57150" cy="6096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66" name="">
            <a:extLst xmlns:a="http://schemas.openxmlformats.org/drawingml/2006/main">
              <a:ext uri="{FF2B5EF4-FFF2-40B4-BE49-F238E27FC236}">
                <a16:creationId xmlns:a16="http://schemas.microsoft.com/office/drawing/2014/main" id="{08A46155-1DD1-4E3E-B0C0-EBA947DE334F}"/>
              </a:ext>
            </a:extLst>
          </p:cNvPr>
          <p:cNvSpPr>
            <a:spLocks xmlns:a="http://schemas.openxmlformats.org/drawingml/2006/main" noGrp="1"/>
          </p:cNvSpPr>
          <p:nvPr/>
        </p:nvSpPr>
        <p:spPr>
          <a:xfrm xmlns:a="http://schemas.openxmlformats.org/drawingml/2006/main">
            <a:off x="6229350" y="3848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E2433"/>
                </a:solidFill>
                <a:latin typeface="Times New Roman"/>
                <a:ea typeface="Times New Roman"/>
                <a:cs typeface="Times New Roman"/>
              </a:defRPr>
            </a:pPr>
            <a:r>
              <a:rPr sz="1275" b="1" i="0">
                <a:solidFill>
                  <a:srgbClr val="1E2433"/>
                </a:solidFill>
                <a:latin typeface="Times New Roman"/>
                <a:ea typeface="Times New Roman"/>
                <a:cs typeface="Times New Roman"/>
              </a:rPr>
              <a:t>same error count</a:t>
            </a:r>
          </a:p>
        </p:txBody>
      </p:sp>
      <p:sp>
        <p:nvSpPr>
          <p:cNvPr id="67" name="">
            <a:extLst xmlns:a="http://schemas.openxmlformats.org/drawingml/2006/main">
              <a:ext uri="{FF2B5EF4-FFF2-40B4-BE49-F238E27FC236}">
                <a16:creationId xmlns:a16="http://schemas.microsoft.com/office/drawing/2014/main" id="{EE38EE6A-690A-47B7-B828-B556FD209678}"/>
              </a:ext>
            </a:extLst>
          </p:cNvPr>
          <p:cNvSpPr>
            <a:spLocks xmlns:a="http://schemas.openxmlformats.org/drawingml/2006/main" noGrp="1"/>
          </p:cNvSpPr>
          <p:nvPr/>
        </p:nvSpPr>
        <p:spPr>
          <a:xfrm xmlns:a="http://schemas.openxmlformats.org/drawingml/2006/main">
            <a:off x="8629650" y="3733800"/>
            <a:ext cx="2381250" cy="609600"/>
          </a:xfrm>
          <a:prstGeom xmlns:a="http://schemas.openxmlformats.org/drawingml/2006/main" prst="roundRect">
            <a:avLst>
              <a:gd name="adj" fmla="val 12500"/>
            </a:avLst>
          </a:prstGeom>
          <a:solidFill xmlns:a="http://schemas.openxmlformats.org/drawingml/2006/main">
            <a:srgbClr val="FFF9F0"/>
          </a:solidFill>
          <a:ln xmlns:a="http://schemas.openxmlformats.org/drawingml/2006/main" w="9525">
            <a:solidFill>
              <a:srgbClr val="E8DCCB"/>
            </a:solidFill>
            <a:prstDash val="solid"/>
          </a:ln>
        </p:spPr>
      </p:sp>
      <p:sp>
        <p:nvSpPr>
          <p:cNvPr id="68" name="">
            <a:extLst xmlns:a="http://schemas.openxmlformats.org/drawingml/2006/main">
              <a:ext uri="{FF2B5EF4-FFF2-40B4-BE49-F238E27FC236}">
                <a16:creationId xmlns:a16="http://schemas.microsoft.com/office/drawing/2014/main" id="{8110D0CE-BDD7-44B4-8B50-5ECACF6FA329}"/>
              </a:ext>
            </a:extLst>
          </p:cNvPr>
          <p:cNvSpPr>
            <a:spLocks xmlns:a="http://schemas.openxmlformats.org/drawingml/2006/main" noGrp="1"/>
          </p:cNvSpPr>
          <p:nvPr/>
        </p:nvSpPr>
        <p:spPr>
          <a:xfrm xmlns:a="http://schemas.openxmlformats.org/drawingml/2006/main">
            <a:off x="8629650" y="3733800"/>
            <a:ext cx="57150" cy="6096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69" name="">
            <a:extLst xmlns:a="http://schemas.openxmlformats.org/drawingml/2006/main">
              <a:ext uri="{FF2B5EF4-FFF2-40B4-BE49-F238E27FC236}">
                <a16:creationId xmlns:a16="http://schemas.microsoft.com/office/drawing/2014/main" id="{F376FF09-BA91-4631-89B6-81914298EF09}"/>
              </a:ext>
            </a:extLst>
          </p:cNvPr>
          <p:cNvSpPr>
            <a:spLocks xmlns:a="http://schemas.openxmlformats.org/drawingml/2006/main" noGrp="1"/>
          </p:cNvSpPr>
          <p:nvPr/>
        </p:nvSpPr>
        <p:spPr>
          <a:xfrm xmlns:a="http://schemas.openxmlformats.org/drawingml/2006/main">
            <a:off x="8801100" y="3848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E2433"/>
                </a:solidFill>
                <a:latin typeface="Times New Roman"/>
                <a:ea typeface="Times New Roman"/>
                <a:cs typeface="Times New Roman"/>
              </a:defRPr>
            </a:pPr>
            <a:r>
              <a:rPr sz="1275" b="1" i="0">
                <a:solidFill>
                  <a:srgbClr val="1E2433"/>
                </a:solidFill>
                <a:latin typeface="Times New Roman"/>
                <a:ea typeface="Times New Roman"/>
                <a:cs typeface="Times New Roman"/>
              </a:rPr>
              <a:t>same recovery level</a:t>
            </a:r>
          </a:p>
        </p:txBody>
      </p:sp>
      <p:sp>
        <p:nvSpPr>
          <p:cNvPr id="70" name="">
            <a:extLst xmlns:a="http://schemas.openxmlformats.org/drawingml/2006/main">
              <a:ext uri="{FF2B5EF4-FFF2-40B4-BE49-F238E27FC236}">
                <a16:creationId xmlns:a16="http://schemas.microsoft.com/office/drawing/2014/main" id="{2092FC1D-3632-46B3-A1B4-50086CFCC5CC}"/>
              </a:ext>
            </a:extLst>
          </p:cNvPr>
          <p:cNvSpPr>
            <a:spLocks xmlns:a="http://schemas.openxmlformats.org/drawingml/2006/main" noGrp="1"/>
          </p:cNvSpPr>
          <p:nvPr/>
        </p:nvSpPr>
        <p:spPr>
          <a:xfrm xmlns:a="http://schemas.openxmlformats.org/drawingml/2006/main">
            <a:off x="914400" y="45910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B45A3C"/>
                </a:solidFill>
                <a:latin typeface="Times New Roman"/>
                <a:ea typeface="Times New Roman"/>
                <a:cs typeface="Times New Roman"/>
              </a:defRPr>
            </a:pPr>
            <a:r>
              <a:rPr sz="1575" b="1" i="0">
                <a:solidFill>
                  <a:srgbClr val="B45A3C"/>
                </a:solidFill>
                <a:latin typeface="Times New Roman"/>
                <a:ea typeface="Times New Roman"/>
                <a:cs typeface="Times New Roman"/>
              </a:rPr>
              <a:t>2. One round experience</a:t>
            </a:r>
          </a:p>
        </p:txBody>
      </p:sp>
      <p:sp>
        <p:nvSpPr>
          <p:cNvPr id="71" name="">
            <a:extLst xmlns:a="http://schemas.openxmlformats.org/drawingml/2006/main">
              <a:ext uri="{FF2B5EF4-FFF2-40B4-BE49-F238E27FC236}">
                <a16:creationId xmlns:a16="http://schemas.microsoft.com/office/drawing/2014/main" id="{2D2DB91C-A00D-4453-96E4-FAB47D05C490}"/>
              </a:ext>
            </a:extLst>
          </p:cNvPr>
          <p:cNvSpPr>
            <a:spLocks xmlns:a="http://schemas.openxmlformats.org/drawingml/2006/main" noGrp="1"/>
          </p:cNvSpPr>
          <p:nvPr/>
        </p:nvSpPr>
        <p:spPr>
          <a:xfrm xmlns:a="http://schemas.openxmlformats.org/drawingml/2006/main">
            <a:off x="914400" y="4972050"/>
            <a:ext cx="16002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72" name="">
            <a:extLst xmlns:a="http://schemas.openxmlformats.org/drawingml/2006/main">
              <a:ext uri="{FF2B5EF4-FFF2-40B4-BE49-F238E27FC236}">
                <a16:creationId xmlns:a16="http://schemas.microsoft.com/office/drawing/2014/main" id="{C47F8A78-CA56-4899-90A5-BFB8258F4A7E}"/>
              </a:ext>
            </a:extLst>
          </p:cNvPr>
          <p:cNvSpPr>
            <a:spLocks xmlns:a="http://schemas.openxmlformats.org/drawingml/2006/main" noGrp="1"/>
          </p:cNvSpPr>
          <p:nvPr/>
        </p:nvSpPr>
        <p:spPr>
          <a:xfrm xmlns:a="http://schemas.openxmlformats.org/drawingml/2006/main">
            <a:off x="914400" y="497205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73" name="">
            <a:extLst xmlns:a="http://schemas.openxmlformats.org/drawingml/2006/main">
              <a:ext uri="{FF2B5EF4-FFF2-40B4-BE49-F238E27FC236}">
                <a16:creationId xmlns:a16="http://schemas.microsoft.com/office/drawing/2014/main" id="{A8BF368E-6C9C-49BD-BDF3-E183158E5558}"/>
              </a:ext>
            </a:extLst>
          </p:cNvPr>
          <p:cNvSpPr>
            <a:spLocks xmlns:a="http://schemas.openxmlformats.org/drawingml/2006/main" noGrp="1"/>
          </p:cNvSpPr>
          <p:nvPr/>
        </p:nvSpPr>
        <p:spPr>
          <a:xfrm xmlns:a="http://schemas.openxmlformats.org/drawingml/2006/main">
            <a:off x="1085850" y="5086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See history</a:t>
            </a:r>
          </a:p>
        </p:txBody>
      </p:sp>
      <p:sp>
        <p:nvSpPr>
          <p:cNvPr id="74" name="">
            <a:extLst xmlns:a="http://schemas.openxmlformats.org/drawingml/2006/main">
              <a:ext uri="{FF2B5EF4-FFF2-40B4-BE49-F238E27FC236}">
                <a16:creationId xmlns:a16="http://schemas.microsoft.com/office/drawing/2014/main" id="{D6185AF3-A06A-44C3-9B2A-A4EB1917A080}"/>
              </a:ext>
            </a:extLst>
          </p:cNvPr>
          <p:cNvSpPr>
            <a:spLocks xmlns:a="http://schemas.openxmlformats.org/drawingml/2006/main" noGrp="1"/>
          </p:cNvSpPr>
          <p:nvPr/>
        </p:nvSpPr>
        <p:spPr>
          <a:xfrm xmlns:a="http://schemas.openxmlformats.org/drawingml/2006/main">
            <a:off x="1085850" y="5410200"/>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View recent channel values</a:t>
            </a:r>
          </a:p>
        </p:txBody>
      </p:sp>
      <p:sp>
        <p:nvSpPr>
          <p:cNvPr id="75" name="">
            <a:extLst xmlns:a="http://schemas.openxmlformats.org/drawingml/2006/main">
              <a:ext uri="{FF2B5EF4-FFF2-40B4-BE49-F238E27FC236}">
                <a16:creationId xmlns:a16="http://schemas.microsoft.com/office/drawing/2014/main" id="{3B588A17-198B-4A0B-ADAB-16AE5F79B548}"/>
              </a:ext>
            </a:extLst>
          </p:cNvPr>
          <p:cNvSpPr>
            <a:spLocks xmlns:a="http://schemas.openxmlformats.org/drawingml/2006/main" noGrp="1"/>
          </p:cNvSpPr>
          <p:nvPr/>
        </p:nvSpPr>
        <p:spPr>
          <a:xfrm xmlns:a="http://schemas.openxmlformats.org/drawingml/2006/main">
            <a:off x="2533650" y="533400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B45A3C"/>
                </a:solidFill>
                <a:latin typeface="Times New Roman"/>
                <a:ea typeface="Times New Roman"/>
                <a:cs typeface="Times New Roman"/>
              </a:defRPr>
            </a:pPr>
            <a:r>
              <a:rPr sz="1650" b="1" i="0">
                <a:solidFill>
                  <a:srgbClr val="B45A3C"/>
                </a:solidFill>
                <a:latin typeface="Times New Roman"/>
                <a:ea typeface="Times New Roman"/>
                <a:cs typeface="Times New Roman"/>
              </a:rPr>
              <a:t>-&gt;</a:t>
            </a:r>
          </a:p>
        </p:txBody>
      </p:sp>
      <p:sp>
        <p:nvSpPr>
          <p:cNvPr id="76" name="">
            <a:extLst xmlns:a="http://schemas.openxmlformats.org/drawingml/2006/main">
              <a:ext uri="{FF2B5EF4-FFF2-40B4-BE49-F238E27FC236}">
                <a16:creationId xmlns:a16="http://schemas.microsoft.com/office/drawing/2014/main" id="{585F5184-5779-4665-94A0-918F011C163A}"/>
              </a:ext>
            </a:extLst>
          </p:cNvPr>
          <p:cNvSpPr>
            <a:spLocks xmlns:a="http://schemas.openxmlformats.org/drawingml/2006/main" noGrp="1"/>
          </p:cNvSpPr>
          <p:nvPr/>
        </p:nvSpPr>
        <p:spPr>
          <a:xfrm xmlns:a="http://schemas.openxmlformats.org/drawingml/2006/main">
            <a:off x="2647950" y="4972050"/>
            <a:ext cx="16002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77" name="">
            <a:extLst xmlns:a="http://schemas.openxmlformats.org/drawingml/2006/main">
              <a:ext uri="{FF2B5EF4-FFF2-40B4-BE49-F238E27FC236}">
                <a16:creationId xmlns:a16="http://schemas.microsoft.com/office/drawing/2014/main" id="{478F6B48-E3C8-4D69-93EC-005F66D2B1D2}"/>
              </a:ext>
            </a:extLst>
          </p:cNvPr>
          <p:cNvSpPr>
            <a:spLocks xmlns:a="http://schemas.openxmlformats.org/drawingml/2006/main" noGrp="1"/>
          </p:cNvSpPr>
          <p:nvPr/>
        </p:nvSpPr>
        <p:spPr>
          <a:xfrm xmlns:a="http://schemas.openxmlformats.org/drawingml/2006/main">
            <a:off x="2647950" y="497205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78" name="">
            <a:extLst xmlns:a="http://schemas.openxmlformats.org/drawingml/2006/main">
              <a:ext uri="{FF2B5EF4-FFF2-40B4-BE49-F238E27FC236}">
                <a16:creationId xmlns:a16="http://schemas.microsoft.com/office/drawing/2014/main" id="{A46C9284-85A7-4DCC-9842-35770D01A1DE}"/>
              </a:ext>
            </a:extLst>
          </p:cNvPr>
          <p:cNvSpPr>
            <a:spLocks xmlns:a="http://schemas.openxmlformats.org/drawingml/2006/main" noGrp="1"/>
          </p:cNvSpPr>
          <p:nvPr/>
        </p:nvSpPr>
        <p:spPr>
          <a:xfrm xmlns:a="http://schemas.openxmlformats.org/drawingml/2006/main">
            <a:off x="2819400" y="5086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Self allocation</a:t>
            </a:r>
          </a:p>
        </p:txBody>
      </p:sp>
      <p:sp>
        <p:nvSpPr>
          <p:cNvPr id="79" name="">
            <a:extLst xmlns:a="http://schemas.openxmlformats.org/drawingml/2006/main">
              <a:ext uri="{FF2B5EF4-FFF2-40B4-BE49-F238E27FC236}">
                <a16:creationId xmlns:a16="http://schemas.microsoft.com/office/drawing/2014/main" id="{7CBF9896-CF8B-4A10-94C3-432FE9E56264}"/>
              </a:ext>
            </a:extLst>
          </p:cNvPr>
          <p:cNvSpPr>
            <a:spLocks xmlns:a="http://schemas.openxmlformats.org/drawingml/2006/main" noGrp="1"/>
          </p:cNvSpPr>
          <p:nvPr/>
        </p:nvSpPr>
        <p:spPr>
          <a:xfrm xmlns:a="http://schemas.openxmlformats.org/drawingml/2006/main">
            <a:off x="2819400" y="5410200"/>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Submit a 100-point self allocation</a:t>
            </a:r>
          </a:p>
        </p:txBody>
      </p:sp>
      <p:sp>
        <p:nvSpPr>
          <p:cNvPr id="80" name="">
            <a:extLst xmlns:a="http://schemas.openxmlformats.org/drawingml/2006/main">
              <a:ext uri="{FF2B5EF4-FFF2-40B4-BE49-F238E27FC236}">
                <a16:creationId xmlns:a16="http://schemas.microsoft.com/office/drawing/2014/main" id="{12D003B7-09B0-4310-A0D7-0DCC2604F32F}"/>
              </a:ext>
            </a:extLst>
          </p:cNvPr>
          <p:cNvSpPr>
            <a:spLocks xmlns:a="http://schemas.openxmlformats.org/drawingml/2006/main" noGrp="1"/>
          </p:cNvSpPr>
          <p:nvPr/>
        </p:nvSpPr>
        <p:spPr>
          <a:xfrm xmlns:a="http://schemas.openxmlformats.org/drawingml/2006/main">
            <a:off x="4267200" y="533400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B45A3C"/>
                </a:solidFill>
                <a:latin typeface="Times New Roman"/>
                <a:ea typeface="Times New Roman"/>
                <a:cs typeface="Times New Roman"/>
              </a:defRPr>
            </a:pPr>
            <a:r>
              <a:rPr sz="1650" b="1" i="0">
                <a:solidFill>
                  <a:srgbClr val="B45A3C"/>
                </a:solidFill>
                <a:latin typeface="Times New Roman"/>
                <a:ea typeface="Times New Roman"/>
                <a:cs typeface="Times New Roman"/>
              </a:rPr>
              <a:t>-&gt;</a:t>
            </a:r>
          </a:p>
        </p:txBody>
      </p:sp>
      <p:sp>
        <p:nvSpPr>
          <p:cNvPr id="81" name="">
            <a:extLst xmlns:a="http://schemas.openxmlformats.org/drawingml/2006/main">
              <a:ext uri="{FF2B5EF4-FFF2-40B4-BE49-F238E27FC236}">
                <a16:creationId xmlns:a16="http://schemas.microsoft.com/office/drawing/2014/main" id="{5805C7D7-0BB5-4C68-B321-8C80E7A7D76F}"/>
              </a:ext>
            </a:extLst>
          </p:cNvPr>
          <p:cNvSpPr>
            <a:spLocks xmlns:a="http://schemas.openxmlformats.org/drawingml/2006/main" noGrp="1"/>
          </p:cNvSpPr>
          <p:nvPr/>
        </p:nvSpPr>
        <p:spPr>
          <a:xfrm xmlns:a="http://schemas.openxmlformats.org/drawingml/2006/main">
            <a:off x="4381500" y="4972050"/>
            <a:ext cx="16002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82" name="">
            <a:extLst xmlns:a="http://schemas.openxmlformats.org/drawingml/2006/main">
              <a:ext uri="{FF2B5EF4-FFF2-40B4-BE49-F238E27FC236}">
                <a16:creationId xmlns:a16="http://schemas.microsoft.com/office/drawing/2014/main" id="{22F45DA7-D1CC-4E78-8D51-5792C98E0AFA}"/>
              </a:ext>
            </a:extLst>
          </p:cNvPr>
          <p:cNvSpPr>
            <a:spLocks xmlns:a="http://schemas.openxmlformats.org/drawingml/2006/main" noGrp="1"/>
          </p:cNvSpPr>
          <p:nvPr/>
        </p:nvSpPr>
        <p:spPr>
          <a:xfrm xmlns:a="http://schemas.openxmlformats.org/drawingml/2006/main">
            <a:off x="4381500" y="497205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83" name="">
            <a:extLst xmlns:a="http://schemas.openxmlformats.org/drawingml/2006/main">
              <a:ext uri="{FF2B5EF4-FFF2-40B4-BE49-F238E27FC236}">
                <a16:creationId xmlns:a16="http://schemas.microsoft.com/office/drawing/2014/main" id="{8A65AB2C-22DD-428A-B2BC-F014E883742C}"/>
              </a:ext>
            </a:extLst>
          </p:cNvPr>
          <p:cNvSpPr>
            <a:spLocks xmlns:a="http://schemas.openxmlformats.org/drawingml/2006/main" noGrp="1"/>
          </p:cNvSpPr>
          <p:nvPr/>
        </p:nvSpPr>
        <p:spPr>
          <a:xfrm xmlns:a="http://schemas.openxmlformats.org/drawingml/2006/main">
            <a:off x="4552950" y="5086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AI allocation</a:t>
            </a:r>
          </a:p>
        </p:txBody>
      </p:sp>
      <p:sp>
        <p:nvSpPr>
          <p:cNvPr id="84" name="">
            <a:extLst xmlns:a="http://schemas.openxmlformats.org/drawingml/2006/main">
              <a:ext uri="{FF2B5EF4-FFF2-40B4-BE49-F238E27FC236}">
                <a16:creationId xmlns:a16="http://schemas.microsoft.com/office/drawing/2014/main" id="{68DE6612-7E12-45E9-AB56-19ACE192B190}"/>
              </a:ext>
            </a:extLst>
          </p:cNvPr>
          <p:cNvSpPr>
            <a:spLocks xmlns:a="http://schemas.openxmlformats.org/drawingml/2006/main" noGrp="1"/>
          </p:cNvSpPr>
          <p:nvPr/>
        </p:nvSpPr>
        <p:spPr>
          <a:xfrm xmlns:a="http://schemas.openxmlformats.org/drawingml/2006/main">
            <a:off x="4552950" y="5410200"/>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See the Agent-AI recommendation</a:t>
            </a:r>
          </a:p>
        </p:txBody>
      </p:sp>
      <p:sp>
        <p:nvSpPr>
          <p:cNvPr id="85" name="">
            <a:extLst xmlns:a="http://schemas.openxmlformats.org/drawingml/2006/main">
              <a:ext uri="{FF2B5EF4-FFF2-40B4-BE49-F238E27FC236}">
                <a16:creationId xmlns:a16="http://schemas.microsoft.com/office/drawing/2014/main" id="{0303CBB8-EE7F-44C6-86EB-E981556D4895}"/>
              </a:ext>
            </a:extLst>
          </p:cNvPr>
          <p:cNvSpPr>
            <a:spLocks xmlns:a="http://schemas.openxmlformats.org/drawingml/2006/main" noGrp="1"/>
          </p:cNvSpPr>
          <p:nvPr/>
        </p:nvSpPr>
        <p:spPr>
          <a:xfrm xmlns:a="http://schemas.openxmlformats.org/drawingml/2006/main">
            <a:off x="6000750" y="533400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B45A3C"/>
                </a:solidFill>
                <a:latin typeface="Times New Roman"/>
                <a:ea typeface="Times New Roman"/>
                <a:cs typeface="Times New Roman"/>
              </a:defRPr>
            </a:pPr>
            <a:r>
              <a:rPr sz="1650" b="1" i="0">
                <a:solidFill>
                  <a:srgbClr val="B45A3C"/>
                </a:solidFill>
                <a:latin typeface="Times New Roman"/>
                <a:ea typeface="Times New Roman"/>
                <a:cs typeface="Times New Roman"/>
              </a:rPr>
              <a:t>-&gt;</a:t>
            </a:r>
          </a:p>
        </p:txBody>
      </p:sp>
      <p:sp>
        <p:nvSpPr>
          <p:cNvPr id="86" name="">
            <a:extLst xmlns:a="http://schemas.openxmlformats.org/drawingml/2006/main">
              <a:ext uri="{FF2B5EF4-FFF2-40B4-BE49-F238E27FC236}">
                <a16:creationId xmlns:a16="http://schemas.microsoft.com/office/drawing/2014/main" id="{DF4D6AF4-60B0-46C0-B7E1-414989283078}"/>
              </a:ext>
            </a:extLst>
          </p:cNvPr>
          <p:cNvSpPr>
            <a:spLocks xmlns:a="http://schemas.openxmlformats.org/drawingml/2006/main" noGrp="1"/>
          </p:cNvSpPr>
          <p:nvPr/>
        </p:nvSpPr>
        <p:spPr>
          <a:xfrm xmlns:a="http://schemas.openxmlformats.org/drawingml/2006/main">
            <a:off x="6115050" y="4972050"/>
            <a:ext cx="16002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87" name="">
            <a:extLst xmlns:a="http://schemas.openxmlformats.org/drawingml/2006/main">
              <a:ext uri="{FF2B5EF4-FFF2-40B4-BE49-F238E27FC236}">
                <a16:creationId xmlns:a16="http://schemas.microsoft.com/office/drawing/2014/main" id="{6B713B63-D0FA-4897-AB05-A3398FBBC1F1}"/>
              </a:ext>
            </a:extLst>
          </p:cNvPr>
          <p:cNvSpPr>
            <a:spLocks xmlns:a="http://schemas.openxmlformats.org/drawingml/2006/main" noGrp="1"/>
          </p:cNvSpPr>
          <p:nvPr/>
        </p:nvSpPr>
        <p:spPr>
          <a:xfrm xmlns:a="http://schemas.openxmlformats.org/drawingml/2006/main">
            <a:off x="6115050" y="497205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88" name="">
            <a:extLst xmlns:a="http://schemas.openxmlformats.org/drawingml/2006/main">
              <a:ext uri="{FF2B5EF4-FFF2-40B4-BE49-F238E27FC236}">
                <a16:creationId xmlns:a16="http://schemas.microsoft.com/office/drawing/2014/main" id="{69D7B0E8-5E1A-488B-BFF0-BE3997FCEB0A}"/>
              </a:ext>
            </a:extLst>
          </p:cNvPr>
          <p:cNvSpPr>
            <a:spLocks xmlns:a="http://schemas.openxmlformats.org/drawingml/2006/main" noGrp="1"/>
          </p:cNvSpPr>
          <p:nvPr/>
        </p:nvSpPr>
        <p:spPr>
          <a:xfrm xmlns:a="http://schemas.openxmlformats.org/drawingml/2006/main">
            <a:off x="6286500" y="5086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Choose source</a:t>
            </a:r>
          </a:p>
        </p:txBody>
      </p:sp>
      <p:sp>
        <p:nvSpPr>
          <p:cNvPr id="89" name="">
            <a:extLst xmlns:a="http://schemas.openxmlformats.org/drawingml/2006/main">
              <a:ext uri="{FF2B5EF4-FFF2-40B4-BE49-F238E27FC236}">
                <a16:creationId xmlns:a16="http://schemas.microsoft.com/office/drawing/2014/main" id="{589B3D78-E38F-4E18-9665-045DBE62383E}"/>
              </a:ext>
            </a:extLst>
          </p:cNvPr>
          <p:cNvSpPr>
            <a:spLocks xmlns:a="http://schemas.openxmlformats.org/drawingml/2006/main" noGrp="1"/>
          </p:cNvSpPr>
          <p:nvPr/>
        </p:nvSpPr>
        <p:spPr>
          <a:xfrm xmlns:a="http://schemas.openxmlformats.org/drawingml/2006/main">
            <a:off x="6286500" y="5410200"/>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Adopt self or adopt AI</a:t>
            </a:r>
          </a:p>
        </p:txBody>
      </p:sp>
      <p:sp>
        <p:nvSpPr>
          <p:cNvPr id="90" name="">
            <a:extLst xmlns:a="http://schemas.openxmlformats.org/drawingml/2006/main">
              <a:ext uri="{FF2B5EF4-FFF2-40B4-BE49-F238E27FC236}">
                <a16:creationId xmlns:a16="http://schemas.microsoft.com/office/drawing/2014/main" id="{71E8E7FF-0F39-4A7E-9613-9FD45D1DE476}"/>
              </a:ext>
            </a:extLst>
          </p:cNvPr>
          <p:cNvSpPr>
            <a:spLocks xmlns:a="http://schemas.openxmlformats.org/drawingml/2006/main" noGrp="1"/>
          </p:cNvSpPr>
          <p:nvPr/>
        </p:nvSpPr>
        <p:spPr>
          <a:xfrm xmlns:a="http://schemas.openxmlformats.org/drawingml/2006/main">
            <a:off x="7734300" y="533400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B45A3C"/>
                </a:solidFill>
                <a:latin typeface="Times New Roman"/>
                <a:ea typeface="Times New Roman"/>
                <a:cs typeface="Times New Roman"/>
              </a:defRPr>
            </a:pPr>
            <a:r>
              <a:rPr sz="1650" b="1" i="0">
                <a:solidFill>
                  <a:srgbClr val="B45A3C"/>
                </a:solidFill>
                <a:latin typeface="Times New Roman"/>
                <a:ea typeface="Times New Roman"/>
                <a:cs typeface="Times New Roman"/>
              </a:rPr>
              <a:t>-&gt;</a:t>
            </a:r>
          </a:p>
        </p:txBody>
      </p:sp>
      <p:sp>
        <p:nvSpPr>
          <p:cNvPr id="91" name="">
            <a:extLst xmlns:a="http://schemas.openxmlformats.org/drawingml/2006/main">
              <a:ext uri="{FF2B5EF4-FFF2-40B4-BE49-F238E27FC236}">
                <a16:creationId xmlns:a16="http://schemas.microsoft.com/office/drawing/2014/main" id="{BD4E9D1B-12F3-4742-9815-1C260D80D665}"/>
              </a:ext>
            </a:extLst>
          </p:cNvPr>
          <p:cNvSpPr>
            <a:spLocks xmlns:a="http://schemas.openxmlformats.org/drawingml/2006/main" noGrp="1"/>
          </p:cNvSpPr>
          <p:nvPr/>
        </p:nvSpPr>
        <p:spPr>
          <a:xfrm xmlns:a="http://schemas.openxmlformats.org/drawingml/2006/main">
            <a:off x="7848600" y="4972050"/>
            <a:ext cx="16002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92" name="">
            <a:extLst xmlns:a="http://schemas.openxmlformats.org/drawingml/2006/main">
              <a:ext uri="{FF2B5EF4-FFF2-40B4-BE49-F238E27FC236}">
                <a16:creationId xmlns:a16="http://schemas.microsoft.com/office/drawing/2014/main" id="{F6F863BA-C51D-4611-9970-BECBC4C0E79B}"/>
              </a:ext>
            </a:extLst>
          </p:cNvPr>
          <p:cNvSpPr>
            <a:spLocks xmlns:a="http://schemas.openxmlformats.org/drawingml/2006/main" noGrp="1"/>
          </p:cNvSpPr>
          <p:nvPr/>
        </p:nvSpPr>
        <p:spPr>
          <a:xfrm xmlns:a="http://schemas.openxmlformats.org/drawingml/2006/main">
            <a:off x="7848600" y="4972050"/>
            <a:ext cx="57150" cy="102870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93" name="">
            <a:extLst xmlns:a="http://schemas.openxmlformats.org/drawingml/2006/main">
              <a:ext uri="{FF2B5EF4-FFF2-40B4-BE49-F238E27FC236}">
                <a16:creationId xmlns:a16="http://schemas.microsoft.com/office/drawing/2014/main" id="{74B2E5CA-247C-4AF2-8D5B-13E7D0353E40}"/>
              </a:ext>
            </a:extLst>
          </p:cNvPr>
          <p:cNvSpPr>
            <a:spLocks xmlns:a="http://schemas.openxmlformats.org/drawingml/2006/main" noGrp="1"/>
          </p:cNvSpPr>
          <p:nvPr/>
        </p:nvSpPr>
        <p:spPr>
          <a:xfrm xmlns:a="http://schemas.openxmlformats.org/drawingml/2006/main">
            <a:off x="8020050" y="5086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Full feedback</a:t>
            </a:r>
          </a:p>
        </p:txBody>
      </p:sp>
      <p:sp>
        <p:nvSpPr>
          <p:cNvPr id="94" name="">
            <a:extLst xmlns:a="http://schemas.openxmlformats.org/drawingml/2006/main">
              <a:ext uri="{FF2B5EF4-FFF2-40B4-BE49-F238E27FC236}">
                <a16:creationId xmlns:a16="http://schemas.microsoft.com/office/drawing/2014/main" id="{D926CCAF-873F-4D44-85D1-6498F262ACC3}"/>
              </a:ext>
            </a:extLst>
          </p:cNvPr>
          <p:cNvSpPr>
            <a:spLocks xmlns:a="http://schemas.openxmlformats.org/drawingml/2006/main" noGrp="1"/>
          </p:cNvSpPr>
          <p:nvPr/>
        </p:nvSpPr>
        <p:spPr>
          <a:xfrm xmlns:a="http://schemas.openxmlformats.org/drawingml/2006/main">
            <a:off x="8020050" y="5410200"/>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See actual and counterfactual payoffs</a:t>
            </a:r>
          </a:p>
        </p:txBody>
      </p:sp>
      <p:sp>
        <p:nvSpPr>
          <p:cNvPr id="95" name="">
            <a:extLst xmlns:a="http://schemas.openxmlformats.org/drawingml/2006/main">
              <a:ext uri="{FF2B5EF4-FFF2-40B4-BE49-F238E27FC236}">
                <a16:creationId xmlns:a16="http://schemas.microsoft.com/office/drawing/2014/main" id="{F6803D52-6502-4275-85EF-D55E4EAB1801}"/>
              </a:ext>
            </a:extLst>
          </p:cNvPr>
          <p:cNvSpPr>
            <a:spLocks xmlns:a="http://schemas.openxmlformats.org/drawingml/2006/main" noGrp="1"/>
          </p:cNvSpPr>
          <p:nvPr/>
        </p:nvSpPr>
        <p:spPr>
          <a:xfrm xmlns:a="http://schemas.openxmlformats.org/drawingml/2006/main">
            <a:off x="9467850" y="5334000"/>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B45A3C"/>
                </a:solidFill>
                <a:latin typeface="Times New Roman"/>
                <a:ea typeface="Times New Roman"/>
                <a:cs typeface="Times New Roman"/>
              </a:defRPr>
            </a:pPr>
            <a:r>
              <a:rPr sz="1650" b="1" i="0">
                <a:solidFill>
                  <a:srgbClr val="B45A3C"/>
                </a:solidFill>
                <a:latin typeface="Times New Roman"/>
                <a:ea typeface="Times New Roman"/>
                <a:cs typeface="Times New Roman"/>
              </a:rPr>
              <a:t>-&gt;</a:t>
            </a:r>
          </a:p>
        </p:txBody>
      </p:sp>
      <p:sp>
        <p:nvSpPr>
          <p:cNvPr id="96" name="">
            <a:extLst xmlns:a="http://schemas.openxmlformats.org/drawingml/2006/main">
              <a:ext uri="{FF2B5EF4-FFF2-40B4-BE49-F238E27FC236}">
                <a16:creationId xmlns:a16="http://schemas.microsoft.com/office/drawing/2014/main" id="{4FC9F059-7925-4AB0-82EF-2BAF53C64C4B}"/>
              </a:ext>
            </a:extLst>
          </p:cNvPr>
          <p:cNvSpPr>
            <a:spLocks xmlns:a="http://schemas.openxmlformats.org/drawingml/2006/main" noGrp="1"/>
          </p:cNvSpPr>
          <p:nvPr/>
        </p:nvSpPr>
        <p:spPr>
          <a:xfrm xmlns:a="http://schemas.openxmlformats.org/drawingml/2006/main">
            <a:off x="9582150" y="4972050"/>
            <a:ext cx="1600200" cy="1028700"/>
          </a:xfrm>
          <a:prstGeom xmlns:a="http://schemas.openxmlformats.org/drawingml/2006/main" prst="roundRect">
            <a:avLst>
              <a:gd name="adj" fmla="val 7407"/>
            </a:avLst>
          </a:prstGeom>
          <a:solidFill xmlns:a="http://schemas.openxmlformats.org/drawingml/2006/main">
            <a:srgbClr val="FFF9F0"/>
          </a:solidFill>
          <a:ln xmlns:a="http://schemas.openxmlformats.org/drawingml/2006/main" w="9525">
            <a:solidFill>
              <a:srgbClr val="E8DCCB"/>
            </a:solidFill>
            <a:prstDash val="solid"/>
          </a:ln>
        </p:spPr>
      </p:sp>
      <p:sp>
        <p:nvSpPr>
          <p:cNvPr id="97" name="">
            <a:extLst xmlns:a="http://schemas.openxmlformats.org/drawingml/2006/main">
              <a:ext uri="{FF2B5EF4-FFF2-40B4-BE49-F238E27FC236}">
                <a16:creationId xmlns:a16="http://schemas.microsoft.com/office/drawing/2014/main" id="{5070A0C0-3A0E-4EDB-9D31-750B7FA4D580}"/>
              </a:ext>
            </a:extLst>
          </p:cNvPr>
          <p:cNvSpPr>
            <a:spLocks xmlns:a="http://schemas.openxmlformats.org/drawingml/2006/main" noGrp="1"/>
          </p:cNvSpPr>
          <p:nvPr/>
        </p:nvSpPr>
        <p:spPr>
          <a:xfrm xmlns:a="http://schemas.openxmlformats.org/drawingml/2006/main">
            <a:off x="9582150" y="4972050"/>
            <a:ext cx="57150" cy="10287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98" name="">
            <a:extLst xmlns:a="http://schemas.openxmlformats.org/drawingml/2006/main">
              <a:ext uri="{FF2B5EF4-FFF2-40B4-BE49-F238E27FC236}">
                <a16:creationId xmlns:a16="http://schemas.microsoft.com/office/drawing/2014/main" id="{71020963-840C-45FB-B583-D91C4445DE3A}"/>
              </a:ext>
            </a:extLst>
          </p:cNvPr>
          <p:cNvSpPr>
            <a:spLocks xmlns:a="http://schemas.openxmlformats.org/drawingml/2006/main" noGrp="1"/>
          </p:cNvSpPr>
          <p:nvPr/>
        </p:nvSpPr>
        <p:spPr>
          <a:xfrm xmlns:a="http://schemas.openxmlformats.org/drawingml/2006/main">
            <a:off x="9753600" y="5086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E2433"/>
                </a:solidFill>
                <a:latin typeface="Times New Roman"/>
                <a:ea typeface="Times New Roman"/>
                <a:cs typeface="Times New Roman"/>
              </a:defRPr>
            </a:pPr>
            <a:r>
              <a:rPr sz="1350" b="1" i="0">
                <a:solidFill>
                  <a:srgbClr val="1E2433"/>
                </a:solidFill>
                <a:latin typeface="Times New Roman"/>
                <a:ea typeface="Times New Roman"/>
                <a:cs typeface="Times New Roman"/>
              </a:rPr>
              <a:t>Update</a:t>
            </a:r>
          </a:p>
        </p:txBody>
      </p:sp>
      <p:sp>
        <p:nvSpPr>
          <p:cNvPr id="99" name="">
            <a:extLst xmlns:a="http://schemas.openxmlformats.org/drawingml/2006/main">
              <a:ext uri="{FF2B5EF4-FFF2-40B4-BE49-F238E27FC236}">
                <a16:creationId xmlns:a16="http://schemas.microsoft.com/office/drawing/2014/main" id="{22627EB2-C289-4E84-8BC0-5550A0B23D31}"/>
              </a:ext>
            </a:extLst>
          </p:cNvPr>
          <p:cNvSpPr>
            <a:spLocks xmlns:a="http://schemas.openxmlformats.org/drawingml/2006/main" noGrp="1"/>
          </p:cNvSpPr>
          <p:nvPr/>
        </p:nvSpPr>
        <p:spPr>
          <a:xfrm xmlns:a="http://schemas.openxmlformats.org/drawingml/2006/main">
            <a:off x="9753600" y="5410200"/>
            <a:ext cx="1314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5E6675"/>
                </a:solidFill>
                <a:latin typeface="Times New Roman"/>
                <a:ea typeface="Times New Roman"/>
                <a:cs typeface="Times New Roman"/>
              </a:defRPr>
            </a:pPr>
            <a:r>
              <a:rPr sz="1200" b="0" i="0">
                <a:solidFill>
                  <a:srgbClr val="5E6675"/>
                </a:solidFill>
                <a:latin typeface="Times New Roman"/>
                <a:ea typeface="Times New Roman"/>
                <a:cs typeface="Times New Roman"/>
              </a:rPr>
              <a:t>Carry the reliance state into the next round</a:t>
            </a:r>
          </a:p>
        </p:txBody>
      </p:sp>
    </p:spTree>
    <p:extLst>
      <p:ext uri="{BB962C8B-B14F-4D97-AF65-F5344CB8AC3E}">
        <p14:creationId xmlns:p14="http://schemas.microsoft.com/office/powerpoint/2010/main" val="1991903809"/>
      </p:ext>
    </p:extLst>
  </p:cSld>
</p:sld>
</file>

<file path=ppt/slides/slide10.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4835D6-EB0A-4CA2-BE31-FFC5D83AD82A}"/>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644BD1AB-8D90-41F3-853A-83611EDFA7E5}"/>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21FE8B93-11B0-4D7B-89B0-7AF43234E20E}"/>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0129B56D-E145-4F26-B078-EB77CC0C7CC7}"/>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20073B52-32CE-4B44-8275-6AB6CD913B8B}"/>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EXPECTED RESULTS</a:t>
            </a:r>
          </a:p>
        </p:txBody>
      </p:sp>
      <p:sp>
        <p:nvSpPr>
          <p:cNvPr id="6" name="">
            <a:extLst xmlns:a="http://schemas.openxmlformats.org/drawingml/2006/main">
              <a:ext uri="{FF2B5EF4-FFF2-40B4-BE49-F238E27FC236}">
                <a16:creationId xmlns:a16="http://schemas.microsoft.com/office/drawing/2014/main" id="{555A87F5-B017-49E6-BBF4-2C9889D48A96}"/>
              </a:ext>
            </a:extLst>
          </p:cNvPr>
          <p:cNvSpPr>
            <a:spLocks xmlns:a="http://schemas.openxmlformats.org/drawingml/2006/main" noGrp="1"/>
          </p:cNvSpPr>
          <p:nvPr/>
        </p:nvSpPr>
        <p:spPr>
          <a:xfrm xmlns:a="http://schemas.openxmlformats.org/drawingml/2006/main">
            <a:off x="914400" y="9144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i="0">
                <a:solidFill>
                  <a:srgbClr val="1E2433"/>
                </a:solidFill>
                <a:latin typeface="Times New Roman"/>
                <a:ea typeface="Times New Roman"/>
                <a:cs typeface="Times New Roman"/>
              </a:defRPr>
            </a:pPr>
            <a:r>
              <a:rPr sz="2625" b="1" i="0">
                <a:solidFill>
                  <a:srgbClr val="1E2433"/>
                </a:solidFill>
                <a:latin typeface="Times New Roman"/>
                <a:ea typeface="Times New Roman"/>
                <a:cs typeface="Times New Roman"/>
              </a:rPr>
              <a:t>We first expect a visible adoption path and then explain it</a:t>
            </a:r>
          </a:p>
        </p:txBody>
      </p:sp>
      <p:sp>
        <p:nvSpPr>
          <p:cNvPr id="7" name="">
            <a:extLst xmlns:a="http://schemas.openxmlformats.org/drawingml/2006/main">
              <a:ext uri="{FF2B5EF4-FFF2-40B4-BE49-F238E27FC236}">
                <a16:creationId xmlns:a16="http://schemas.microsoft.com/office/drawing/2014/main" id="{A7E80266-E8E7-40B6-A20C-A8366992DA68}"/>
              </a:ext>
            </a:extLst>
          </p:cNvPr>
          <p:cNvSpPr>
            <a:spLocks xmlns:a="http://schemas.openxmlformats.org/drawingml/2006/main" noGrp="1"/>
          </p:cNvSpPr>
          <p:nvPr/>
        </p:nvSpPr>
        <p:spPr>
          <a:xfrm xmlns:a="http://schemas.openxmlformats.org/drawingml/2006/main">
            <a:off x="914400" y="1428750"/>
            <a:ext cx="998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logic is visible path -&gt; reduced-form effect -&gt; EWA-inspired mechanism.</a:t>
            </a:r>
          </a:p>
        </p:txBody>
      </p:sp>
      <p:sp>
        <p:nvSpPr>
          <p:cNvPr id="8" name="">
            <a:extLst xmlns:a="http://schemas.openxmlformats.org/drawingml/2006/main">
              <a:ext uri="{FF2B5EF4-FFF2-40B4-BE49-F238E27FC236}">
                <a16:creationId xmlns:a16="http://schemas.microsoft.com/office/drawing/2014/main" id="{033AEA6E-BD03-43E1-99D8-DE250A213945}"/>
              </a:ext>
            </a:extLst>
          </p:cNvPr>
          <p:cNvSpPr>
            <a:spLocks xmlns:a="http://schemas.openxmlformats.org/drawingml/2006/main" noGrp="1"/>
          </p:cNvSpPr>
          <p:nvPr/>
        </p:nvSpPr>
        <p:spPr>
          <a:xfrm xmlns:a="http://schemas.openxmlformats.org/drawingml/2006/main">
            <a:off x="914400" y="2038350"/>
            <a:ext cx="5905500" cy="3028950"/>
          </a:xfrm>
          <a:prstGeom xmlns:a="http://schemas.openxmlformats.org/drawingml/2006/main" prst="roundRect">
            <a:avLst>
              <a:gd name="adj" fmla="val 2516"/>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BF133B6F-E7BB-427D-9FE2-A92342A21434}"/>
              </a:ext>
            </a:extLst>
          </p:cNvPr>
          <p:cNvSpPr>
            <a:spLocks xmlns:a="http://schemas.openxmlformats.org/drawingml/2006/main" noGrp="1"/>
          </p:cNvSpPr>
          <p:nvPr/>
        </p:nvSpPr>
        <p:spPr>
          <a:xfrm xmlns:a="http://schemas.openxmlformats.org/drawingml/2006/main">
            <a:off x="1162050" y="21717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B45A3C"/>
                </a:solidFill>
                <a:latin typeface="Times New Roman"/>
                <a:ea typeface="Times New Roman"/>
                <a:cs typeface="Times New Roman"/>
              </a:defRPr>
            </a:pPr>
            <a:r>
              <a:rPr sz="1500" b="1" i="0">
                <a:solidFill>
                  <a:srgbClr val="B45A3C"/>
                </a:solidFill>
                <a:latin typeface="Times New Roman"/>
                <a:ea typeface="Times New Roman"/>
                <a:cs typeface="Times New Roman"/>
              </a:rPr>
              <a:t>Expected adoption path</a:t>
            </a:r>
          </a:p>
        </p:txBody>
      </p:sp>
      <p:sp>
        <p:nvSpPr>
          <p:cNvPr id="10" name="">
            <a:extLst xmlns:a="http://schemas.openxmlformats.org/drawingml/2006/main">
              <a:ext uri="{FF2B5EF4-FFF2-40B4-BE49-F238E27FC236}">
                <a16:creationId xmlns:a16="http://schemas.microsoft.com/office/drawing/2014/main" id="{7959C13E-4636-49D8-B567-FB9684C02C10}"/>
              </a:ext>
            </a:extLst>
          </p:cNvPr>
          <p:cNvSpPr>
            <a:spLocks xmlns:a="http://schemas.openxmlformats.org/drawingml/2006/main" noGrp="1"/>
          </p:cNvSpPr>
          <p:nvPr/>
        </p:nvSpPr>
        <p:spPr>
          <a:xfrm xmlns:a="http://schemas.openxmlformats.org/drawingml/2006/main">
            <a:off x="1428750" y="4552950"/>
            <a:ext cx="4762500" cy="19050"/>
          </a:xfrm>
          <a:prstGeom xmlns:a="http://schemas.openxmlformats.org/drawingml/2006/main" prst="rect">
            <a:avLst/>
          </a:prstGeom>
          <a:solidFill xmlns:a="http://schemas.openxmlformats.org/drawingml/2006/main">
            <a:srgbClr val="DAD2C4"/>
          </a:solidFill>
          <a:ln xmlns:a="http://schemas.openxmlformats.org/drawingml/2006/main" w="0">
            <a:solidFill>
              <a:srgbClr val="DAD2C4"/>
            </a:solidFill>
            <a:prstDash val="solid"/>
          </a:ln>
        </p:spPr>
      </p:sp>
      <p:sp>
        <p:nvSpPr>
          <p:cNvPr id="11" name="">
            <a:extLst xmlns:a="http://schemas.openxmlformats.org/drawingml/2006/main">
              <a:ext uri="{FF2B5EF4-FFF2-40B4-BE49-F238E27FC236}">
                <a16:creationId xmlns:a16="http://schemas.microsoft.com/office/drawing/2014/main" id="{06DD82B8-EC4B-4D48-A30E-1A0B96E279A4}"/>
              </a:ext>
            </a:extLst>
          </p:cNvPr>
          <p:cNvSpPr>
            <a:spLocks xmlns:a="http://schemas.openxmlformats.org/drawingml/2006/main" noGrp="1"/>
          </p:cNvSpPr>
          <p:nvPr/>
        </p:nvSpPr>
        <p:spPr>
          <a:xfrm xmlns:a="http://schemas.openxmlformats.org/drawingml/2006/main">
            <a:off x="1428750" y="2533650"/>
            <a:ext cx="19050" cy="2038350"/>
          </a:xfrm>
          <a:prstGeom xmlns:a="http://schemas.openxmlformats.org/drawingml/2006/main" prst="rect">
            <a:avLst/>
          </a:prstGeom>
          <a:solidFill xmlns:a="http://schemas.openxmlformats.org/drawingml/2006/main">
            <a:srgbClr val="DAD2C4"/>
          </a:solidFill>
          <a:ln xmlns:a="http://schemas.openxmlformats.org/drawingml/2006/main" w="0">
            <a:solidFill>
              <a:srgbClr val="DAD2C4"/>
            </a:solidFill>
            <a:prstDash val="solid"/>
          </a:ln>
        </p:spPr>
      </p:sp>
      <p:sp>
        <p:nvSpPr>
          <p:cNvPr id="12" name="">
            <a:extLst xmlns:a="http://schemas.openxmlformats.org/drawingml/2006/main">
              <a:ext uri="{FF2B5EF4-FFF2-40B4-BE49-F238E27FC236}">
                <a16:creationId xmlns:a16="http://schemas.microsoft.com/office/drawing/2014/main" id="{2CA7DFFB-6AF5-46F2-AC47-4AB12AF00383}"/>
              </a:ext>
            </a:extLst>
          </p:cNvPr>
          <p:cNvSpPr>
            <a:spLocks xmlns:a="http://schemas.openxmlformats.org/drawingml/2006/main" noGrp="1"/>
          </p:cNvSpPr>
          <p:nvPr/>
        </p:nvSpPr>
        <p:spPr>
          <a:xfrm xmlns:a="http://schemas.openxmlformats.org/drawingml/2006/main">
            <a:off x="3048000" y="2266950"/>
            <a:ext cx="19050" cy="2362200"/>
          </a:xfrm>
          <a:prstGeom xmlns:a="http://schemas.openxmlformats.org/drawingml/2006/main" prst="rect">
            <a:avLst/>
          </a:prstGeom>
          <a:solidFill xmlns:a="http://schemas.openxmlformats.org/drawingml/2006/main">
            <a:srgbClr val="E8DCCB"/>
          </a:solidFill>
          <a:ln xmlns:a="http://schemas.openxmlformats.org/drawingml/2006/main" w="0">
            <a:solidFill>
              <a:srgbClr val="E8DCCB"/>
            </a:solidFill>
            <a:prstDash val="solid"/>
          </a:ln>
        </p:spPr>
      </p:sp>
      <p:sp>
        <p:nvSpPr>
          <p:cNvPr id="13" name="">
            <a:extLst xmlns:a="http://schemas.openxmlformats.org/drawingml/2006/main">
              <a:ext uri="{FF2B5EF4-FFF2-40B4-BE49-F238E27FC236}">
                <a16:creationId xmlns:a16="http://schemas.microsoft.com/office/drawing/2014/main" id="{9962D539-9990-4934-8C0F-D9D621441AC5}"/>
              </a:ext>
            </a:extLst>
          </p:cNvPr>
          <p:cNvSpPr>
            <a:spLocks xmlns:a="http://schemas.openxmlformats.org/drawingml/2006/main" noGrp="1"/>
          </p:cNvSpPr>
          <p:nvPr/>
        </p:nvSpPr>
        <p:spPr>
          <a:xfrm xmlns:a="http://schemas.openxmlformats.org/drawingml/2006/main">
            <a:off x="4667250" y="2266950"/>
            <a:ext cx="19050" cy="2362200"/>
          </a:xfrm>
          <a:prstGeom xmlns:a="http://schemas.openxmlformats.org/drawingml/2006/main" prst="rect">
            <a:avLst/>
          </a:prstGeom>
          <a:solidFill xmlns:a="http://schemas.openxmlformats.org/drawingml/2006/main">
            <a:srgbClr val="E8DCCB"/>
          </a:solidFill>
          <a:ln xmlns:a="http://schemas.openxmlformats.org/drawingml/2006/main" w="0">
            <a:solidFill>
              <a:srgbClr val="E8DCCB"/>
            </a:solidFill>
            <a:prstDash val="solid"/>
          </a:ln>
        </p:spPr>
      </p:sp>
      <p:sp>
        <p:nvSpPr>
          <p:cNvPr id="14" name="">
            <a:extLst xmlns:a="http://schemas.openxmlformats.org/drawingml/2006/main">
              <a:ext uri="{FF2B5EF4-FFF2-40B4-BE49-F238E27FC236}">
                <a16:creationId xmlns:a16="http://schemas.microsoft.com/office/drawing/2014/main" id="{70FAB4B5-AC0D-4D96-B717-E4A8BA073067}"/>
              </a:ext>
            </a:extLst>
          </p:cNvPr>
          <p:cNvSpPr>
            <a:spLocks xmlns:a="http://schemas.openxmlformats.org/drawingml/2006/main" noGrp="1"/>
          </p:cNvSpPr>
          <p:nvPr/>
        </p:nvSpPr>
        <p:spPr>
          <a:xfrm xmlns:a="http://schemas.openxmlformats.org/drawingml/2006/main">
            <a:off x="1543050" y="46863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E6675"/>
                </a:solidFill>
                <a:latin typeface="Times New Roman"/>
                <a:ea typeface="Times New Roman"/>
                <a:cs typeface="Times New Roman"/>
              </a:defRPr>
            </a:pPr>
            <a:r>
              <a:rPr sz="975" b="0" i="0">
                <a:solidFill>
                  <a:srgbClr val="5E6675"/>
                </a:solidFill>
                <a:latin typeface="Times New Roman"/>
                <a:ea typeface="Times New Roman"/>
                <a:cs typeface="Times New Roman"/>
              </a:rPr>
              <a:t>Pre-shock</a:t>
            </a:r>
          </a:p>
        </p:txBody>
      </p:sp>
      <p:sp>
        <p:nvSpPr>
          <p:cNvPr id="15" name="">
            <a:extLst xmlns:a="http://schemas.openxmlformats.org/drawingml/2006/main">
              <a:ext uri="{FF2B5EF4-FFF2-40B4-BE49-F238E27FC236}">
                <a16:creationId xmlns:a16="http://schemas.microsoft.com/office/drawing/2014/main" id="{FC8E6DCD-BCD1-4308-AB5B-5ED74804F5A5}"/>
              </a:ext>
            </a:extLst>
          </p:cNvPr>
          <p:cNvSpPr>
            <a:spLocks xmlns:a="http://schemas.openxmlformats.org/drawingml/2006/main" noGrp="1"/>
          </p:cNvSpPr>
          <p:nvPr/>
        </p:nvSpPr>
        <p:spPr>
          <a:xfrm xmlns:a="http://schemas.openxmlformats.org/drawingml/2006/main">
            <a:off x="3333750" y="46863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E6675"/>
                </a:solidFill>
                <a:latin typeface="Times New Roman"/>
                <a:ea typeface="Times New Roman"/>
                <a:cs typeface="Times New Roman"/>
              </a:defRPr>
            </a:pPr>
            <a:r>
              <a:rPr sz="975" b="0" i="0">
                <a:solidFill>
                  <a:srgbClr val="5E6675"/>
                </a:solidFill>
                <a:latin typeface="Times New Roman"/>
                <a:ea typeface="Times New Roman"/>
                <a:cs typeface="Times New Roman"/>
              </a:rPr>
              <a:t>Shock</a:t>
            </a:r>
          </a:p>
        </p:txBody>
      </p:sp>
      <p:sp>
        <p:nvSpPr>
          <p:cNvPr id="16" name="">
            <a:extLst xmlns:a="http://schemas.openxmlformats.org/drawingml/2006/main">
              <a:ext uri="{FF2B5EF4-FFF2-40B4-BE49-F238E27FC236}">
                <a16:creationId xmlns:a16="http://schemas.microsoft.com/office/drawing/2014/main" id="{E9C2E484-FCE5-4D2A-96AD-3FD063E17CB8}"/>
              </a:ext>
            </a:extLst>
          </p:cNvPr>
          <p:cNvSpPr>
            <a:spLocks xmlns:a="http://schemas.openxmlformats.org/drawingml/2006/main" noGrp="1"/>
          </p:cNvSpPr>
          <p:nvPr/>
        </p:nvSpPr>
        <p:spPr>
          <a:xfrm xmlns:a="http://schemas.openxmlformats.org/drawingml/2006/main">
            <a:off x="5086350" y="46863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E6675"/>
                </a:solidFill>
                <a:latin typeface="Times New Roman"/>
                <a:ea typeface="Times New Roman"/>
                <a:cs typeface="Times New Roman"/>
              </a:defRPr>
            </a:pPr>
            <a:r>
              <a:rPr sz="975" b="0" i="0">
                <a:solidFill>
                  <a:srgbClr val="5E6675"/>
                </a:solidFill>
                <a:latin typeface="Times New Roman"/>
                <a:ea typeface="Times New Roman"/>
                <a:cs typeface="Times New Roman"/>
              </a:rPr>
              <a:t>Recovery</a:t>
            </a:r>
          </a:p>
        </p:txBody>
      </p:sp>
      <p:sp>
        <p:nvSpPr>
          <p:cNvPr id="17" name="">
            <a:extLst xmlns:a="http://schemas.openxmlformats.org/drawingml/2006/main">
              <a:ext uri="{FF2B5EF4-FFF2-40B4-BE49-F238E27FC236}">
                <a16:creationId xmlns:a16="http://schemas.microsoft.com/office/drawing/2014/main" id="{0EEAB3D1-31E7-4714-BB4A-706F8A778265}"/>
              </a:ext>
            </a:extLst>
          </p:cNvPr>
          <p:cNvSpPr>
            <a:spLocks xmlns:a="http://schemas.openxmlformats.org/drawingml/2006/main" noGrp="1"/>
          </p:cNvSpPr>
          <p:nvPr/>
        </p:nvSpPr>
        <p:spPr>
          <a:xfrm xmlns:a="http://schemas.openxmlformats.org/drawingml/2006/main">
            <a:off x="1600200" y="3086100"/>
            <a:ext cx="1295400" cy="-19050"/>
          </a:xfrm>
          <a:prstGeom xmlns:a="http://schemas.openxmlformats.org/drawingml/2006/main" prst="line">
            <a:avLst/>
          </a:prstGeom>
          <a:ln xmlns:a="http://schemas.openxmlformats.org/drawingml/2006/main" w="38100">
            <a:solidFill>
              <a:srgbClr val="78836A"/>
            </a:solidFill>
            <a:prstDash val="solid"/>
          </a:ln>
        </p:spPr>
      </p:sp>
      <p:sp>
        <p:nvSpPr>
          <p:cNvPr id="18" name="">
            <a:extLst xmlns:a="http://schemas.openxmlformats.org/drawingml/2006/main">
              <a:ext uri="{FF2B5EF4-FFF2-40B4-BE49-F238E27FC236}">
                <a16:creationId xmlns:a16="http://schemas.microsoft.com/office/drawing/2014/main" id="{50B7E49E-D24B-4349-8C07-C8E0437E7A26}"/>
              </a:ext>
            </a:extLst>
          </p:cNvPr>
          <p:cNvSpPr>
            <a:spLocks xmlns:a="http://schemas.openxmlformats.org/drawingml/2006/main" noGrp="1"/>
          </p:cNvSpPr>
          <p:nvPr/>
        </p:nvSpPr>
        <p:spPr>
          <a:xfrm xmlns:a="http://schemas.openxmlformats.org/drawingml/2006/main">
            <a:off x="2895600" y="3067050"/>
            <a:ext cx="1619250" cy="76200"/>
          </a:xfrm>
          <a:prstGeom xmlns:a="http://schemas.openxmlformats.org/drawingml/2006/main" prst="line">
            <a:avLst/>
          </a:prstGeom>
          <a:ln xmlns:a="http://schemas.openxmlformats.org/drawingml/2006/main" w="38100">
            <a:solidFill>
              <a:srgbClr val="78836A"/>
            </a:solidFill>
            <a:prstDash val="solid"/>
          </a:ln>
        </p:spPr>
      </p:sp>
      <p:sp>
        <p:nvSpPr>
          <p:cNvPr id="19" name="">
            <a:extLst xmlns:a="http://schemas.openxmlformats.org/drawingml/2006/main">
              <a:ext uri="{FF2B5EF4-FFF2-40B4-BE49-F238E27FC236}">
                <a16:creationId xmlns:a16="http://schemas.microsoft.com/office/drawing/2014/main" id="{B454C6CF-4595-4783-AE27-B41692939F22}"/>
              </a:ext>
            </a:extLst>
          </p:cNvPr>
          <p:cNvSpPr>
            <a:spLocks xmlns:a="http://schemas.openxmlformats.org/drawingml/2006/main" noGrp="1"/>
          </p:cNvSpPr>
          <p:nvPr/>
        </p:nvSpPr>
        <p:spPr>
          <a:xfrm xmlns:a="http://schemas.openxmlformats.org/drawingml/2006/main">
            <a:off x="4514850" y="3143250"/>
            <a:ext cx="1504950" cy="-19050"/>
          </a:xfrm>
          <a:prstGeom xmlns:a="http://schemas.openxmlformats.org/drawingml/2006/main" prst="line">
            <a:avLst/>
          </a:prstGeom>
          <a:ln xmlns:a="http://schemas.openxmlformats.org/drawingml/2006/main" w="38100">
            <a:solidFill>
              <a:srgbClr val="78836A"/>
            </a:solidFill>
            <a:prstDash val="solid"/>
          </a:ln>
        </p:spPr>
      </p:sp>
      <p:sp>
        <p:nvSpPr>
          <p:cNvPr id="20" name="">
            <a:extLst xmlns:a="http://schemas.openxmlformats.org/drawingml/2006/main">
              <a:ext uri="{FF2B5EF4-FFF2-40B4-BE49-F238E27FC236}">
                <a16:creationId xmlns:a16="http://schemas.microsoft.com/office/drawing/2014/main" id="{185E389C-53C3-42A0-926E-6EE11ED5B3E5}"/>
              </a:ext>
            </a:extLst>
          </p:cNvPr>
          <p:cNvSpPr>
            <a:spLocks xmlns:a="http://schemas.openxmlformats.org/drawingml/2006/main" noGrp="1"/>
          </p:cNvSpPr>
          <p:nvPr/>
        </p:nvSpPr>
        <p:spPr>
          <a:xfrm xmlns:a="http://schemas.openxmlformats.org/drawingml/2006/main">
            <a:off x="1600200" y="3143250"/>
            <a:ext cx="1295400" cy="-19050"/>
          </a:xfrm>
          <a:prstGeom xmlns:a="http://schemas.openxmlformats.org/drawingml/2006/main" prst="line">
            <a:avLst/>
          </a:prstGeom>
          <a:ln xmlns:a="http://schemas.openxmlformats.org/drawingml/2006/main" w="38100">
            <a:solidFill>
              <a:srgbClr val="C89B4A"/>
            </a:solidFill>
            <a:prstDash val="solid"/>
          </a:ln>
        </p:spPr>
      </p:sp>
      <p:sp>
        <p:nvSpPr>
          <p:cNvPr id="21" name="">
            <a:extLst xmlns:a="http://schemas.openxmlformats.org/drawingml/2006/main">
              <a:ext uri="{FF2B5EF4-FFF2-40B4-BE49-F238E27FC236}">
                <a16:creationId xmlns:a16="http://schemas.microsoft.com/office/drawing/2014/main" id="{CF982D81-11EC-4F40-9115-24876676B424}"/>
              </a:ext>
            </a:extLst>
          </p:cNvPr>
          <p:cNvSpPr>
            <a:spLocks xmlns:a="http://schemas.openxmlformats.org/drawingml/2006/main" noGrp="1"/>
          </p:cNvSpPr>
          <p:nvPr/>
        </p:nvSpPr>
        <p:spPr>
          <a:xfrm xmlns:a="http://schemas.openxmlformats.org/drawingml/2006/main">
            <a:off x="2895600" y="3124200"/>
            <a:ext cx="1619250" cy="838200"/>
          </a:xfrm>
          <a:prstGeom xmlns:a="http://schemas.openxmlformats.org/drawingml/2006/main" prst="line">
            <a:avLst/>
          </a:prstGeom>
          <a:ln xmlns:a="http://schemas.openxmlformats.org/drawingml/2006/main" w="38100">
            <a:solidFill>
              <a:srgbClr val="C89B4A"/>
            </a:solidFill>
            <a:prstDash val="solid"/>
          </a:ln>
        </p:spPr>
      </p:sp>
      <p:sp>
        <p:nvSpPr>
          <p:cNvPr id="22" name="">
            <a:extLst xmlns:a="http://schemas.openxmlformats.org/drawingml/2006/main">
              <a:ext uri="{FF2B5EF4-FFF2-40B4-BE49-F238E27FC236}">
                <a16:creationId xmlns:a16="http://schemas.microsoft.com/office/drawing/2014/main" id="{0F4E5E85-08A0-41E3-A69B-438DFBAF3D42}"/>
              </a:ext>
            </a:extLst>
          </p:cNvPr>
          <p:cNvSpPr>
            <a:spLocks xmlns:a="http://schemas.openxmlformats.org/drawingml/2006/main" noGrp="1"/>
          </p:cNvSpPr>
          <p:nvPr/>
        </p:nvSpPr>
        <p:spPr>
          <a:xfrm xmlns:a="http://schemas.openxmlformats.org/drawingml/2006/main">
            <a:off x="4514850" y="3962400"/>
            <a:ext cx="1504950" cy="-228600"/>
          </a:xfrm>
          <a:prstGeom xmlns:a="http://schemas.openxmlformats.org/drawingml/2006/main" prst="line">
            <a:avLst/>
          </a:prstGeom>
          <a:ln xmlns:a="http://schemas.openxmlformats.org/drawingml/2006/main" w="38100">
            <a:solidFill>
              <a:srgbClr val="C89B4A"/>
            </a:solidFill>
            <a:prstDash val="solid"/>
          </a:ln>
        </p:spPr>
      </p:sp>
      <p:sp>
        <p:nvSpPr>
          <p:cNvPr id="23" name="">
            <a:extLst xmlns:a="http://schemas.openxmlformats.org/drawingml/2006/main">
              <a:ext uri="{FF2B5EF4-FFF2-40B4-BE49-F238E27FC236}">
                <a16:creationId xmlns:a16="http://schemas.microsoft.com/office/drawing/2014/main" id="{AF713297-FF0C-4C5E-B9ED-EBF646F6D236}"/>
              </a:ext>
            </a:extLst>
          </p:cNvPr>
          <p:cNvSpPr>
            <a:spLocks xmlns:a="http://schemas.openxmlformats.org/drawingml/2006/main" noGrp="1"/>
          </p:cNvSpPr>
          <p:nvPr/>
        </p:nvSpPr>
        <p:spPr>
          <a:xfrm xmlns:a="http://schemas.openxmlformats.org/drawingml/2006/main">
            <a:off x="1600200" y="3200400"/>
            <a:ext cx="1295400" cy="-19050"/>
          </a:xfrm>
          <a:prstGeom xmlns:a="http://schemas.openxmlformats.org/drawingml/2006/main" prst="line">
            <a:avLst/>
          </a:prstGeom>
          <a:ln xmlns:a="http://schemas.openxmlformats.org/drawingml/2006/main" w="38100">
            <a:solidFill>
              <a:srgbClr val="B45A3C"/>
            </a:solidFill>
            <a:prstDash val="solid"/>
          </a:ln>
        </p:spPr>
      </p:sp>
      <p:sp>
        <p:nvSpPr>
          <p:cNvPr id="24" name="">
            <a:extLst xmlns:a="http://schemas.openxmlformats.org/drawingml/2006/main">
              <a:ext uri="{FF2B5EF4-FFF2-40B4-BE49-F238E27FC236}">
                <a16:creationId xmlns:a16="http://schemas.microsoft.com/office/drawing/2014/main" id="{EC5AD9A6-2657-4D3B-8870-7BCFBADBE14E}"/>
              </a:ext>
            </a:extLst>
          </p:cNvPr>
          <p:cNvSpPr>
            <a:spLocks xmlns:a="http://schemas.openxmlformats.org/drawingml/2006/main" noGrp="1"/>
          </p:cNvSpPr>
          <p:nvPr/>
        </p:nvSpPr>
        <p:spPr>
          <a:xfrm xmlns:a="http://schemas.openxmlformats.org/drawingml/2006/main">
            <a:off x="2895600" y="3181350"/>
            <a:ext cx="1619250" cy="1066800"/>
          </a:xfrm>
          <a:prstGeom xmlns:a="http://schemas.openxmlformats.org/drawingml/2006/main" prst="line">
            <a:avLst/>
          </a:prstGeom>
          <a:ln xmlns:a="http://schemas.openxmlformats.org/drawingml/2006/main" w="38100">
            <a:solidFill>
              <a:srgbClr val="B45A3C"/>
            </a:solidFill>
            <a:prstDash val="solid"/>
          </a:ln>
        </p:spPr>
      </p:sp>
      <p:sp>
        <p:nvSpPr>
          <p:cNvPr id="25" name="">
            <a:extLst xmlns:a="http://schemas.openxmlformats.org/drawingml/2006/main">
              <a:ext uri="{FF2B5EF4-FFF2-40B4-BE49-F238E27FC236}">
                <a16:creationId xmlns:a16="http://schemas.microsoft.com/office/drawing/2014/main" id="{E6A9B22B-5226-4FC7-8050-83CDD66C85F5}"/>
              </a:ext>
            </a:extLst>
          </p:cNvPr>
          <p:cNvSpPr>
            <a:spLocks xmlns:a="http://schemas.openxmlformats.org/drawingml/2006/main" noGrp="1"/>
          </p:cNvSpPr>
          <p:nvPr/>
        </p:nvSpPr>
        <p:spPr>
          <a:xfrm xmlns:a="http://schemas.openxmlformats.org/drawingml/2006/main">
            <a:off x="4514850" y="4248150"/>
            <a:ext cx="1504950" cy="-342900"/>
          </a:xfrm>
          <a:prstGeom xmlns:a="http://schemas.openxmlformats.org/drawingml/2006/main" prst="line">
            <a:avLst/>
          </a:prstGeom>
          <a:ln xmlns:a="http://schemas.openxmlformats.org/drawingml/2006/main" w="38100">
            <a:solidFill>
              <a:srgbClr val="B45A3C"/>
            </a:solidFill>
            <a:prstDash val="solid"/>
          </a:ln>
        </p:spPr>
      </p:sp>
      <p:sp>
        <p:nvSpPr>
          <p:cNvPr id="26" name="">
            <a:extLst xmlns:a="http://schemas.openxmlformats.org/drawingml/2006/main">
              <a:ext uri="{FF2B5EF4-FFF2-40B4-BE49-F238E27FC236}">
                <a16:creationId xmlns:a16="http://schemas.microsoft.com/office/drawing/2014/main" id="{104DED49-276B-454B-9476-ECFFF36F723B}"/>
              </a:ext>
            </a:extLst>
          </p:cNvPr>
          <p:cNvSpPr>
            <a:spLocks xmlns:a="http://schemas.openxmlformats.org/drawingml/2006/main" noGrp="1"/>
          </p:cNvSpPr>
          <p:nvPr/>
        </p:nvSpPr>
        <p:spPr>
          <a:xfrm xmlns:a="http://schemas.openxmlformats.org/drawingml/2006/main">
            <a:off x="5334000" y="24384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78836A"/>
                </a:solidFill>
                <a:latin typeface="Times New Roman"/>
                <a:ea typeface="Times New Roman"/>
                <a:cs typeface="Times New Roman"/>
              </a:defRPr>
            </a:pPr>
            <a:r>
              <a:rPr sz="1050" b="1" i="0">
                <a:solidFill>
                  <a:srgbClr val="78836A"/>
                </a:solidFill>
                <a:latin typeface="Times New Roman"/>
                <a:ea typeface="Times New Roman"/>
                <a:cs typeface="Times New Roman"/>
              </a:rPr>
              <a:t>Balanced</a:t>
            </a:r>
          </a:p>
        </p:txBody>
      </p:sp>
      <p:sp>
        <p:nvSpPr>
          <p:cNvPr id="27" name="">
            <a:extLst xmlns:a="http://schemas.openxmlformats.org/drawingml/2006/main">
              <a:ext uri="{FF2B5EF4-FFF2-40B4-BE49-F238E27FC236}">
                <a16:creationId xmlns:a16="http://schemas.microsoft.com/office/drawing/2014/main" id="{332423FE-A8A1-4CAE-B2BF-116BA5EE1F3C}"/>
              </a:ext>
            </a:extLst>
          </p:cNvPr>
          <p:cNvSpPr>
            <a:spLocks xmlns:a="http://schemas.openxmlformats.org/drawingml/2006/main" noGrp="1"/>
          </p:cNvSpPr>
          <p:nvPr/>
        </p:nvSpPr>
        <p:spPr>
          <a:xfrm xmlns:a="http://schemas.openxmlformats.org/drawingml/2006/main">
            <a:off x="5334000" y="26479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Early</a:t>
            </a:r>
          </a:p>
        </p:txBody>
      </p:sp>
      <p:sp>
        <p:nvSpPr>
          <p:cNvPr id="28" name="">
            <a:extLst xmlns:a="http://schemas.openxmlformats.org/drawingml/2006/main">
              <a:ext uri="{FF2B5EF4-FFF2-40B4-BE49-F238E27FC236}">
                <a16:creationId xmlns:a16="http://schemas.microsoft.com/office/drawing/2014/main" id="{8EA8F234-1B3C-4E1B-B2DE-7A49184DBF2A}"/>
              </a:ext>
            </a:extLst>
          </p:cNvPr>
          <p:cNvSpPr>
            <a:spLocks xmlns:a="http://schemas.openxmlformats.org/drawingml/2006/main" noGrp="1"/>
          </p:cNvSpPr>
          <p:nvPr/>
        </p:nvSpPr>
        <p:spPr>
          <a:xfrm xmlns:a="http://schemas.openxmlformats.org/drawingml/2006/main">
            <a:off x="5334000" y="28575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C89B4A"/>
                </a:solidFill>
                <a:latin typeface="Times New Roman"/>
                <a:ea typeface="Times New Roman"/>
                <a:cs typeface="Times New Roman"/>
              </a:defRPr>
            </a:pPr>
            <a:r>
              <a:rPr sz="1050" b="1" i="0">
                <a:solidFill>
                  <a:srgbClr val="C89B4A"/>
                </a:solidFill>
                <a:latin typeface="Times New Roman"/>
                <a:ea typeface="Times New Roman"/>
                <a:cs typeface="Times New Roman"/>
              </a:rPr>
              <a:t>Mid</a:t>
            </a:r>
          </a:p>
        </p:txBody>
      </p:sp>
      <p:sp>
        <p:nvSpPr>
          <p:cNvPr id="29" name="">
            <a:extLst xmlns:a="http://schemas.openxmlformats.org/drawingml/2006/main">
              <a:ext uri="{FF2B5EF4-FFF2-40B4-BE49-F238E27FC236}">
                <a16:creationId xmlns:a16="http://schemas.microsoft.com/office/drawing/2014/main" id="{A834E080-AD5B-46AF-BD2E-F54D8E17D562}"/>
              </a:ext>
            </a:extLst>
          </p:cNvPr>
          <p:cNvSpPr>
            <a:spLocks xmlns:a="http://schemas.openxmlformats.org/drawingml/2006/main" noGrp="1"/>
          </p:cNvSpPr>
          <p:nvPr/>
        </p:nvSpPr>
        <p:spPr>
          <a:xfrm xmlns:a="http://schemas.openxmlformats.org/drawingml/2006/main">
            <a:off x="7239000" y="2038350"/>
            <a:ext cx="3962400" cy="3028950"/>
          </a:xfrm>
          <a:prstGeom xmlns:a="http://schemas.openxmlformats.org/drawingml/2006/main" prst="roundRect">
            <a:avLst>
              <a:gd name="adj" fmla="val 2516"/>
            </a:avLst>
          </a:prstGeom>
          <a:solidFill xmlns:a="http://schemas.openxmlformats.org/drawingml/2006/main">
            <a:srgbClr val="FFF9F0"/>
          </a:solidFill>
          <a:ln xmlns:a="http://schemas.openxmlformats.org/drawingml/2006/main" w="9525">
            <a:solidFill>
              <a:srgbClr val="E8DCCB"/>
            </a:solidFill>
            <a:prstDash val="solid"/>
          </a:ln>
        </p:spPr>
      </p:sp>
      <p:sp>
        <p:nvSpPr>
          <p:cNvPr id="30" name="">
            <a:extLst xmlns:a="http://schemas.openxmlformats.org/drawingml/2006/main">
              <a:ext uri="{FF2B5EF4-FFF2-40B4-BE49-F238E27FC236}">
                <a16:creationId xmlns:a16="http://schemas.microsoft.com/office/drawing/2014/main" id="{3CC5B640-0571-4FD0-98A1-62F056D6B74D}"/>
              </a:ext>
            </a:extLst>
          </p:cNvPr>
          <p:cNvSpPr>
            <a:spLocks xmlns:a="http://schemas.openxmlformats.org/drawingml/2006/main" noGrp="1"/>
          </p:cNvSpPr>
          <p:nvPr/>
        </p:nvSpPr>
        <p:spPr>
          <a:xfrm xmlns:a="http://schemas.openxmlformats.org/drawingml/2006/main">
            <a:off x="7239000" y="2038350"/>
            <a:ext cx="57150" cy="30289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31" name="">
            <a:extLst xmlns:a="http://schemas.openxmlformats.org/drawingml/2006/main">
              <a:ext uri="{FF2B5EF4-FFF2-40B4-BE49-F238E27FC236}">
                <a16:creationId xmlns:a16="http://schemas.microsoft.com/office/drawing/2014/main" id="{48E776AD-3D08-4C7F-A5D2-BE825DD175F2}"/>
              </a:ext>
            </a:extLst>
          </p:cNvPr>
          <p:cNvSpPr>
            <a:spLocks xmlns:a="http://schemas.openxmlformats.org/drawingml/2006/main" noGrp="1"/>
          </p:cNvSpPr>
          <p:nvPr/>
        </p:nvSpPr>
        <p:spPr>
          <a:xfrm xmlns:a="http://schemas.openxmlformats.org/drawingml/2006/main">
            <a:off x="7410450" y="21526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E2433"/>
                </a:solidFill>
                <a:latin typeface="Times New Roman"/>
                <a:ea typeface="Times New Roman"/>
                <a:cs typeface="Times New Roman"/>
              </a:defRPr>
            </a:pPr>
            <a:r>
              <a:rPr sz="1800" b="1" i="0">
                <a:solidFill>
                  <a:srgbClr val="1E2433"/>
                </a:solidFill>
                <a:latin typeface="Times New Roman"/>
                <a:ea typeface="Times New Roman"/>
                <a:cs typeface="Times New Roman"/>
              </a:rPr>
              <a:t>How to read that path</a:t>
            </a:r>
          </a:p>
        </p:txBody>
      </p:sp>
      <p:sp>
        <p:nvSpPr>
          <p:cNvPr id="32" name="">
            <a:extLst xmlns:a="http://schemas.openxmlformats.org/drawingml/2006/main">
              <a:ext uri="{FF2B5EF4-FFF2-40B4-BE49-F238E27FC236}">
                <a16:creationId xmlns:a16="http://schemas.microsoft.com/office/drawing/2014/main" id="{01DBB04B-3F84-4A3C-9505-40E75F450A98}"/>
              </a:ext>
            </a:extLst>
          </p:cNvPr>
          <p:cNvSpPr>
            <a:spLocks xmlns:a="http://schemas.openxmlformats.org/drawingml/2006/main" noGrp="1"/>
          </p:cNvSpPr>
          <p:nvPr/>
        </p:nvSpPr>
        <p:spPr>
          <a:xfrm xmlns:a="http://schemas.openxmlformats.org/drawingml/2006/main">
            <a:off x="7410450" y="2476500"/>
            <a:ext cx="36766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Visible path</a:t>
            </a:r>
          </a:p>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A post-shock gap should appear after concentrated error.</a:t>
            </a:r>
          </a:p>
          <a:p xmlns:a="http://schemas.openxmlformats.org/drawingml/2006/main">
            <a:r>
              <a:t/>
            </a:r>
          </a:p>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Reduced-form effect</a:t>
            </a:r>
          </a:p>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Shock x PostShock and Shock x Recovery tell us whether the gap is causal and whether it persists.</a:t>
            </a:r>
          </a:p>
          <a:p xmlns:a="http://schemas.openxmlformats.org/drawingml/2006/main">
            <a:r>
              <a:t/>
            </a:r>
          </a:p>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EWA-inspired mechanism</a:t>
            </a:r>
          </a:p>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Only then do we ask whether AI errors receive heavier negative weights.</a:t>
            </a:r>
          </a:p>
        </p:txBody>
      </p:sp>
      <p:sp>
        <p:nvSpPr>
          <p:cNvPr id="33" name="">
            <a:extLst xmlns:a="http://schemas.openxmlformats.org/drawingml/2006/main">
              <a:ext uri="{FF2B5EF4-FFF2-40B4-BE49-F238E27FC236}">
                <a16:creationId xmlns:a16="http://schemas.microsoft.com/office/drawing/2014/main" id="{1A4C8D18-016D-43E3-BA3D-776ADAEA70ED}"/>
              </a:ext>
            </a:extLst>
          </p:cNvPr>
          <p:cNvSpPr>
            <a:spLocks xmlns:a="http://schemas.openxmlformats.org/drawingml/2006/main" noGrp="1"/>
          </p:cNvSpPr>
          <p:nvPr/>
        </p:nvSpPr>
        <p:spPr>
          <a:xfrm xmlns:a="http://schemas.openxmlformats.org/drawingml/2006/main">
            <a:off x="914400" y="5410200"/>
            <a:ext cx="10287000" cy="685800"/>
          </a:xfrm>
          <a:prstGeom xmlns:a="http://schemas.openxmlformats.org/drawingml/2006/main" prst="roundRect">
            <a:avLst>
              <a:gd name="adj" fmla="val 11111"/>
            </a:avLst>
          </a:prstGeom>
          <a:solidFill xmlns:a="http://schemas.openxmlformats.org/drawingml/2006/main">
            <a:srgbClr val="FFF9F0"/>
          </a:solidFill>
          <a:ln xmlns:a="http://schemas.openxmlformats.org/drawingml/2006/main" w="9525">
            <a:solidFill>
              <a:srgbClr val="E8DCCB"/>
            </a:solidFill>
            <a:prstDash val="solid"/>
          </a:ln>
        </p:spPr>
      </p:sp>
      <p:sp>
        <p:nvSpPr>
          <p:cNvPr id="34" name="">
            <a:extLst xmlns:a="http://schemas.openxmlformats.org/drawingml/2006/main">
              <a:ext uri="{FF2B5EF4-FFF2-40B4-BE49-F238E27FC236}">
                <a16:creationId xmlns:a16="http://schemas.microsoft.com/office/drawing/2014/main" id="{1C46475B-0420-4A17-B20F-2DBF850B720E}"/>
              </a:ext>
            </a:extLst>
          </p:cNvPr>
          <p:cNvSpPr>
            <a:spLocks xmlns:a="http://schemas.openxmlformats.org/drawingml/2006/main" noGrp="1"/>
          </p:cNvSpPr>
          <p:nvPr/>
        </p:nvSpPr>
        <p:spPr>
          <a:xfrm xmlns:a="http://schemas.openxmlformats.org/drawingml/2006/main">
            <a:off x="914400" y="5410200"/>
            <a:ext cx="57150" cy="6858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35" name="">
            <a:extLst xmlns:a="http://schemas.openxmlformats.org/drawingml/2006/main">
              <a:ext uri="{FF2B5EF4-FFF2-40B4-BE49-F238E27FC236}">
                <a16:creationId xmlns:a16="http://schemas.microsoft.com/office/drawing/2014/main" id="{F0EB2383-A040-4EA6-B745-750FEC665A0F}"/>
              </a:ext>
            </a:extLst>
          </p:cNvPr>
          <p:cNvSpPr>
            <a:spLocks xmlns:a="http://schemas.openxmlformats.org/drawingml/2006/main" noGrp="1"/>
          </p:cNvSpPr>
          <p:nvPr/>
        </p:nvSpPr>
        <p:spPr>
          <a:xfrm xmlns:a="http://schemas.openxmlformats.org/drawingml/2006/main">
            <a:off x="1085850" y="55245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E2433"/>
                </a:solidFill>
                <a:latin typeface="Times New Roman"/>
                <a:ea typeface="Times New Roman"/>
                <a:cs typeface="Times New Roman"/>
              </a:defRPr>
            </a:pPr>
            <a:r>
              <a:rPr sz="1500" b="1" i="0">
                <a:solidFill>
                  <a:srgbClr val="1E2433"/>
                </a:solidFill>
                <a:latin typeface="Times New Roman"/>
                <a:ea typeface="Times New Roman"/>
                <a:cs typeface="Times New Roman"/>
              </a:rPr>
              <a:t>Expected contribution</a:t>
            </a:r>
          </a:p>
        </p:txBody>
      </p:sp>
      <p:sp>
        <p:nvSpPr>
          <p:cNvPr id="36" name="">
            <a:extLst xmlns:a="http://schemas.openxmlformats.org/drawingml/2006/main">
              <a:ext uri="{FF2B5EF4-FFF2-40B4-BE49-F238E27FC236}">
                <a16:creationId xmlns:a16="http://schemas.microsoft.com/office/drawing/2014/main" id="{C8B2F143-C3BE-4651-ABB2-D9286EF0A41D}"/>
              </a:ext>
            </a:extLst>
          </p:cNvPr>
          <p:cNvSpPr>
            <a:spLocks xmlns:a="http://schemas.openxmlformats.org/drawingml/2006/main" noGrp="1"/>
          </p:cNvSpPr>
          <p:nvPr/>
        </p:nvSpPr>
        <p:spPr>
          <a:xfrm xmlns:a="http://schemas.openxmlformats.org/drawingml/2006/main">
            <a:off x="1085850" y="5848350"/>
            <a:ext cx="100012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E6675"/>
                </a:solidFill>
                <a:latin typeface="Times New Roman"/>
                <a:ea typeface="Times New Roman"/>
                <a:cs typeface="Times New Roman"/>
              </a:defRPr>
            </a:pPr>
            <a:r>
              <a:rPr sz="1275" b="0" i="0">
                <a:solidFill>
                  <a:srgbClr val="5E6675"/>
                </a:solidFill>
                <a:latin typeface="Times New Roman"/>
                <a:ea typeface="Times New Roman"/>
                <a:cs typeface="Times New Roman"/>
              </a:rPr>
              <a:t>Paper 2 identifies when a local AI failure becomes a path-dependent reliance shock rather than a temporary performance reaction.</a:t>
            </a:r>
          </a:p>
        </p:txBody>
      </p:sp>
    </p:spTree>
    <p:extLst>
      <p:ext uri="{BB962C8B-B14F-4D97-AF65-F5344CB8AC3E}">
        <p14:creationId xmlns:p14="http://schemas.microsoft.com/office/powerpoint/2010/main" val="1688680727"/>
      </p:ext>
    </p:extLst>
  </p:cSld>
</p:sld>
</file>

<file path=ppt/slides/slide11.xml><?xml version="1.0" encoding="utf-8"?>
<p:sld xmlns:p="http://schemas.openxmlformats.org/presentationml/2006/main">
  <p:cSld>
    <p:bg>
      <p:bgPr>
        <a:solidFill xmlns:a="http://schemas.openxmlformats.org/drawingml/2006/main">
          <a:srgbClr val="F6F1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A456EF-4613-4A65-BA05-215E6C70BD88}"/>
              </a:ext>
            </a:extLst>
          </p:cNvPr>
          <p:cNvSpPr>
            <a:spLocks xmlns:a="http://schemas.openxmlformats.org/drawingml/2006/main" noGrp="1"/>
          </p:cNvSpPr>
          <p:nvPr/>
        </p:nvSpPr>
        <p:spPr>
          <a:xfrm xmlns:a="http://schemas.openxmlformats.org/drawingml/2006/main">
            <a:off x="9715500" y="-1123950"/>
            <a:ext cx="3048000" cy="3048000"/>
          </a:xfrm>
          <a:prstGeom xmlns:a="http://schemas.openxmlformats.org/drawingml/2006/main" prst="ellipse">
            <a:avLst/>
          </a:prstGeom>
          <a:solidFill xmlns:a="http://schemas.openxmlformats.org/drawingml/2006/main">
            <a:srgbClr val="ECE0D0"/>
          </a:solidFill>
          <a:ln xmlns:a="http://schemas.openxmlformats.org/drawingml/2006/main" w="0">
            <a:solidFill>
              <a:srgbClr val="ECE0D0"/>
            </a:solidFill>
            <a:prstDash val="solid"/>
          </a:ln>
        </p:spPr>
      </p:sp>
      <p:sp>
        <p:nvSpPr>
          <p:cNvPr id="2" name="">
            <a:extLst xmlns:a="http://schemas.openxmlformats.org/drawingml/2006/main">
              <a:ext uri="{FF2B5EF4-FFF2-40B4-BE49-F238E27FC236}">
                <a16:creationId xmlns:a16="http://schemas.microsoft.com/office/drawing/2014/main" id="{BD21BB16-DDFA-4014-9777-8AC452A3597E}"/>
              </a:ext>
            </a:extLst>
          </p:cNvPr>
          <p:cNvSpPr>
            <a:spLocks xmlns:a="http://schemas.openxmlformats.org/drawingml/2006/main" noGrp="1"/>
          </p:cNvSpPr>
          <p:nvPr/>
        </p:nvSpPr>
        <p:spPr>
          <a:xfrm xmlns:a="http://schemas.openxmlformats.org/drawingml/2006/main">
            <a:off x="-1123950" y="5143500"/>
            <a:ext cx="2286000" cy="2286000"/>
          </a:xfrm>
          <a:prstGeom xmlns:a="http://schemas.openxmlformats.org/drawingml/2006/main" prst="ellipse">
            <a:avLst/>
          </a:prstGeom>
          <a:solidFill xmlns:a="http://schemas.openxmlformats.org/drawingml/2006/main">
            <a:srgbClr val="F1E7D9"/>
          </a:solidFill>
          <a:ln xmlns:a="http://schemas.openxmlformats.org/drawingml/2006/main" w="0">
            <a:solidFill>
              <a:srgbClr val="F1E7D9"/>
            </a:solidFill>
            <a:prstDash val="solid"/>
          </a:ln>
        </p:spPr>
      </p:sp>
      <p:sp>
        <p:nvSpPr>
          <p:cNvPr id="3" name="">
            <a:extLst xmlns:a="http://schemas.openxmlformats.org/drawingml/2006/main">
              <a:ext uri="{FF2B5EF4-FFF2-40B4-BE49-F238E27FC236}">
                <a16:creationId xmlns:a16="http://schemas.microsoft.com/office/drawing/2014/main" id="{036DEBB8-7121-447D-9324-D2D7B00E0997}"/>
              </a:ext>
            </a:extLst>
          </p:cNvPr>
          <p:cNvSpPr>
            <a:spLocks xmlns:a="http://schemas.openxmlformats.org/drawingml/2006/main" noGrp="1"/>
          </p:cNvSpPr>
          <p:nvPr/>
        </p:nvSpPr>
        <p:spPr>
          <a:xfrm xmlns:a="http://schemas.openxmlformats.org/drawingml/2006/main">
            <a:off x="552450" y="457200"/>
            <a:ext cx="19050" cy="5943600"/>
          </a:xfrm>
          <a:prstGeom xmlns:a="http://schemas.openxmlformats.org/drawingml/2006/main" prst="rect">
            <a:avLst/>
          </a:prstGeom>
          <a:solidFill xmlns:a="http://schemas.openxmlformats.org/drawingml/2006/main">
            <a:srgbClr val="E8C6B8"/>
          </a:solidFill>
          <a:ln xmlns:a="http://schemas.openxmlformats.org/drawingml/2006/main" w="0">
            <a:solidFill>
              <a:srgbClr val="E8C6B8"/>
            </a:solidFill>
            <a:prstDash val="solid"/>
          </a:ln>
        </p:spPr>
      </p:sp>
      <p:sp>
        <p:nvSpPr>
          <p:cNvPr id="4" name="">
            <a:extLst xmlns:a="http://schemas.openxmlformats.org/drawingml/2006/main">
              <a:ext uri="{FF2B5EF4-FFF2-40B4-BE49-F238E27FC236}">
                <a16:creationId xmlns:a16="http://schemas.microsoft.com/office/drawing/2014/main" id="{295CEEB4-78CD-463D-8C99-3290DE3DBF7F}"/>
              </a:ext>
            </a:extLst>
          </p:cNvPr>
          <p:cNvSpPr>
            <a:spLocks xmlns:a="http://schemas.openxmlformats.org/drawingml/2006/main" noGrp="1"/>
          </p:cNvSpPr>
          <p:nvPr/>
        </p:nvSpPr>
        <p:spPr>
          <a:xfrm xmlns:a="http://schemas.openxmlformats.org/drawingml/2006/main">
            <a:off x="914400" y="657225"/>
            <a:ext cx="171450" cy="1714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5" name="">
            <a:extLst xmlns:a="http://schemas.openxmlformats.org/drawingml/2006/main">
              <a:ext uri="{FF2B5EF4-FFF2-40B4-BE49-F238E27FC236}">
                <a16:creationId xmlns:a16="http://schemas.microsoft.com/office/drawing/2014/main" id="{48FDCC53-2FB8-4F0D-8E5B-C07D7D8F2F66}"/>
              </a:ext>
            </a:extLst>
          </p:cNvPr>
          <p:cNvSpPr>
            <a:spLocks xmlns:a="http://schemas.openxmlformats.org/drawingml/2006/main" noGrp="1"/>
          </p:cNvSpPr>
          <p:nvPr/>
        </p:nvSpPr>
        <p:spPr>
          <a:xfrm xmlns:a="http://schemas.openxmlformats.org/drawingml/2006/main">
            <a:off x="1181100" y="571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B45A3C"/>
                </a:solidFill>
                <a:latin typeface="Times New Roman"/>
                <a:ea typeface="Times New Roman"/>
                <a:cs typeface="Times New Roman"/>
              </a:defRPr>
            </a:pPr>
            <a:r>
              <a:rPr sz="1050" b="1" i="0">
                <a:solidFill>
                  <a:srgbClr val="B45A3C"/>
                </a:solidFill>
                <a:latin typeface="Times New Roman"/>
                <a:ea typeface="Times New Roman"/>
                <a:cs typeface="Times New Roman"/>
              </a:rPr>
              <a:t>TAKEAWAY</a:t>
            </a:r>
          </a:p>
        </p:txBody>
      </p:sp>
      <p:sp>
        <p:nvSpPr>
          <p:cNvPr id="6" name="">
            <a:extLst xmlns:a="http://schemas.openxmlformats.org/drawingml/2006/main">
              <a:ext uri="{FF2B5EF4-FFF2-40B4-BE49-F238E27FC236}">
                <a16:creationId xmlns:a16="http://schemas.microsoft.com/office/drawing/2014/main" id="{80934D1D-85FF-4224-8B2C-0068272E2338}"/>
              </a:ext>
            </a:extLst>
          </p:cNvPr>
          <p:cNvSpPr>
            <a:spLocks xmlns:a="http://schemas.openxmlformats.org/drawingml/2006/main" noGrp="1"/>
          </p:cNvSpPr>
          <p:nvPr/>
        </p:nvSpPr>
        <p:spPr>
          <a:xfrm xmlns:a="http://schemas.openxmlformats.org/drawingml/2006/main">
            <a:off x="914400" y="914400"/>
            <a:ext cx="1009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i="0">
                <a:solidFill>
                  <a:srgbClr val="1E2433"/>
                </a:solidFill>
                <a:latin typeface="Times New Roman"/>
                <a:ea typeface="Times New Roman"/>
                <a:cs typeface="Times New Roman"/>
              </a:defRPr>
            </a:pPr>
            <a:r>
              <a:rPr sz="2625" b="1" i="0">
                <a:solidFill>
                  <a:srgbClr val="1E2433"/>
                </a:solidFill>
                <a:latin typeface="Times New Roman"/>
                <a:ea typeface="Times New Roman"/>
                <a:cs typeface="Times New Roman"/>
              </a:rPr>
              <a:t>The contribution is to identify path-dependent under-reliance</a:t>
            </a:r>
          </a:p>
        </p:txBody>
      </p:sp>
      <p:sp>
        <p:nvSpPr>
          <p:cNvPr id="7" name="">
            <a:extLst xmlns:a="http://schemas.openxmlformats.org/drawingml/2006/main">
              <a:ext uri="{FF2B5EF4-FFF2-40B4-BE49-F238E27FC236}">
                <a16:creationId xmlns:a16="http://schemas.microsoft.com/office/drawing/2014/main" id="{B308CD5E-302D-4296-B004-324864CCC747}"/>
              </a:ext>
            </a:extLst>
          </p:cNvPr>
          <p:cNvSpPr>
            <a:spLocks xmlns:a="http://schemas.openxmlformats.org/drawingml/2006/main" noGrp="1"/>
          </p:cNvSpPr>
          <p:nvPr/>
        </p:nvSpPr>
        <p:spPr>
          <a:xfrm xmlns:a="http://schemas.openxmlformats.org/drawingml/2006/main">
            <a:off x="914400" y="1428750"/>
            <a:ext cx="9982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The paper shows how local AI failure can alter later decision architecture even when AI performance returns.</a:t>
            </a:r>
          </a:p>
        </p:txBody>
      </p:sp>
      <p:sp>
        <p:nvSpPr>
          <p:cNvPr id="8" name="">
            <a:extLst xmlns:a="http://schemas.openxmlformats.org/drawingml/2006/main">
              <a:ext uri="{FF2B5EF4-FFF2-40B4-BE49-F238E27FC236}">
                <a16:creationId xmlns:a16="http://schemas.microsoft.com/office/drawing/2014/main" id="{31197C7B-4CE4-4701-BC51-2CE00AB534E9}"/>
              </a:ext>
            </a:extLst>
          </p:cNvPr>
          <p:cNvSpPr>
            <a:spLocks xmlns:a="http://schemas.openxmlformats.org/drawingml/2006/main" noGrp="1"/>
          </p:cNvSpPr>
          <p:nvPr/>
        </p:nvSpPr>
        <p:spPr>
          <a:xfrm xmlns:a="http://schemas.openxmlformats.org/drawingml/2006/main">
            <a:off x="914400" y="2171700"/>
            <a:ext cx="3086100" cy="2381250"/>
          </a:xfrm>
          <a:prstGeom xmlns:a="http://schemas.openxmlformats.org/drawingml/2006/main" prst="roundRect">
            <a:avLst>
              <a:gd name="adj" fmla="val 3200"/>
            </a:avLst>
          </a:prstGeom>
          <a:solidFill xmlns:a="http://schemas.openxmlformats.org/drawingml/2006/main">
            <a:srgbClr val="FFF9F0"/>
          </a:solidFill>
          <a:ln xmlns:a="http://schemas.openxmlformats.org/drawingml/2006/main" w="9525">
            <a:solidFill>
              <a:srgbClr val="E8DCCB"/>
            </a:solidFill>
            <a:prstDash val="solid"/>
          </a:ln>
        </p:spPr>
      </p:sp>
      <p:sp>
        <p:nvSpPr>
          <p:cNvPr id="9" name="">
            <a:extLst xmlns:a="http://schemas.openxmlformats.org/drawingml/2006/main">
              <a:ext uri="{FF2B5EF4-FFF2-40B4-BE49-F238E27FC236}">
                <a16:creationId xmlns:a16="http://schemas.microsoft.com/office/drawing/2014/main" id="{CC8BB180-CBB5-445B-84D4-51780F8340FA}"/>
              </a:ext>
            </a:extLst>
          </p:cNvPr>
          <p:cNvSpPr>
            <a:spLocks xmlns:a="http://schemas.openxmlformats.org/drawingml/2006/main" noGrp="1"/>
          </p:cNvSpPr>
          <p:nvPr/>
        </p:nvSpPr>
        <p:spPr>
          <a:xfrm xmlns:a="http://schemas.openxmlformats.org/drawingml/2006/main">
            <a:off x="914400" y="2171700"/>
            <a:ext cx="57150" cy="238125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10" name="">
            <a:extLst xmlns:a="http://schemas.openxmlformats.org/drawingml/2006/main">
              <a:ext uri="{FF2B5EF4-FFF2-40B4-BE49-F238E27FC236}">
                <a16:creationId xmlns:a16="http://schemas.microsoft.com/office/drawing/2014/main" id="{0F9C97FF-5C66-428D-8AEA-3095E762EF26}"/>
              </a:ext>
            </a:extLst>
          </p:cNvPr>
          <p:cNvSpPr>
            <a:spLocks xmlns:a="http://schemas.openxmlformats.org/drawingml/2006/main" noGrp="1"/>
          </p:cNvSpPr>
          <p:nvPr/>
        </p:nvSpPr>
        <p:spPr>
          <a:xfrm xmlns:a="http://schemas.openxmlformats.org/drawingml/2006/main">
            <a:off x="1085850" y="228600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1E2433"/>
                </a:solidFill>
                <a:latin typeface="Times New Roman"/>
                <a:ea typeface="Times New Roman"/>
                <a:cs typeface="Times New Roman"/>
              </a:defRPr>
            </a:pPr>
            <a:r>
              <a:rPr sz="1950" b="1" i="0">
                <a:solidFill>
                  <a:srgbClr val="1E2433"/>
                </a:solidFill>
                <a:latin typeface="Times New Roman"/>
                <a:ea typeface="Times New Roman"/>
                <a:cs typeface="Times New Roman"/>
              </a:rPr>
              <a:t>Theory</a:t>
            </a:r>
          </a:p>
        </p:txBody>
      </p:sp>
      <p:sp>
        <p:nvSpPr>
          <p:cNvPr id="11" name="">
            <a:extLst xmlns:a="http://schemas.openxmlformats.org/drawingml/2006/main">
              <a:ext uri="{FF2B5EF4-FFF2-40B4-BE49-F238E27FC236}">
                <a16:creationId xmlns:a16="http://schemas.microsoft.com/office/drawing/2014/main" id="{A9788EF3-9A63-4B24-B0B2-0ACA10B57A37}"/>
              </a:ext>
            </a:extLst>
          </p:cNvPr>
          <p:cNvSpPr>
            <a:spLocks xmlns:a="http://schemas.openxmlformats.org/drawingml/2006/main" noGrp="1"/>
          </p:cNvSpPr>
          <p:nvPr/>
        </p:nvSpPr>
        <p:spPr>
          <a:xfrm xmlns:a="http://schemas.openxmlformats.org/drawingml/2006/main">
            <a:off x="1085850" y="2609850"/>
            <a:ext cx="28003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E6675"/>
                </a:solidFill>
                <a:latin typeface="Times New Roman"/>
                <a:ea typeface="Times New Roman"/>
                <a:cs typeface="Times New Roman"/>
              </a:defRPr>
            </a:pPr>
            <a:r>
              <a:rPr sz="1500" b="0" i="0">
                <a:solidFill>
                  <a:srgbClr val="5E6675"/>
                </a:solidFill>
                <a:latin typeface="Times New Roman"/>
                <a:ea typeface="Times New Roman"/>
                <a:cs typeface="Times New Roman"/>
              </a:rPr>
              <a:t>Move from one-shot algorithm aversion to dynamic reliance updating under repeated feedback.</a:t>
            </a:r>
          </a:p>
        </p:txBody>
      </p:sp>
      <p:sp>
        <p:nvSpPr>
          <p:cNvPr id="12" name="">
            <a:extLst xmlns:a="http://schemas.openxmlformats.org/drawingml/2006/main">
              <a:ext uri="{FF2B5EF4-FFF2-40B4-BE49-F238E27FC236}">
                <a16:creationId xmlns:a16="http://schemas.microsoft.com/office/drawing/2014/main" id="{0F168AD9-7576-4B84-8517-32CEEACD07D9}"/>
              </a:ext>
            </a:extLst>
          </p:cNvPr>
          <p:cNvSpPr>
            <a:spLocks xmlns:a="http://schemas.openxmlformats.org/drawingml/2006/main" noGrp="1"/>
          </p:cNvSpPr>
          <p:nvPr/>
        </p:nvSpPr>
        <p:spPr>
          <a:xfrm xmlns:a="http://schemas.openxmlformats.org/drawingml/2006/main">
            <a:off x="4305300" y="2171700"/>
            <a:ext cx="3086100" cy="2381250"/>
          </a:xfrm>
          <a:prstGeom xmlns:a="http://schemas.openxmlformats.org/drawingml/2006/main" prst="roundRect">
            <a:avLst>
              <a:gd name="adj" fmla="val 3200"/>
            </a:avLst>
          </a:prstGeom>
          <a:solidFill xmlns:a="http://schemas.openxmlformats.org/drawingml/2006/main">
            <a:srgbClr val="FFF9F0"/>
          </a:solidFill>
          <a:ln xmlns:a="http://schemas.openxmlformats.org/drawingml/2006/main" w="9525">
            <a:solidFill>
              <a:srgbClr val="E8DCCB"/>
            </a:solidFill>
            <a:prstDash val="solid"/>
          </a:ln>
        </p:spPr>
      </p:sp>
      <p:sp>
        <p:nvSpPr>
          <p:cNvPr id="13" name="">
            <a:extLst xmlns:a="http://schemas.openxmlformats.org/drawingml/2006/main">
              <a:ext uri="{FF2B5EF4-FFF2-40B4-BE49-F238E27FC236}">
                <a16:creationId xmlns:a16="http://schemas.microsoft.com/office/drawing/2014/main" id="{A7F1EF40-1458-462E-BBBC-899BAE9900B2}"/>
              </a:ext>
            </a:extLst>
          </p:cNvPr>
          <p:cNvSpPr>
            <a:spLocks xmlns:a="http://schemas.openxmlformats.org/drawingml/2006/main" noGrp="1"/>
          </p:cNvSpPr>
          <p:nvPr/>
        </p:nvSpPr>
        <p:spPr>
          <a:xfrm xmlns:a="http://schemas.openxmlformats.org/drawingml/2006/main">
            <a:off x="4305300" y="2171700"/>
            <a:ext cx="57150" cy="2381250"/>
          </a:xfrm>
          <a:prstGeom xmlns:a="http://schemas.openxmlformats.org/drawingml/2006/main" prst="rect">
            <a:avLst/>
          </a:prstGeom>
          <a:solidFill xmlns:a="http://schemas.openxmlformats.org/drawingml/2006/main">
            <a:srgbClr val="C89B4A"/>
          </a:solidFill>
          <a:ln xmlns:a="http://schemas.openxmlformats.org/drawingml/2006/main" w="0">
            <a:solidFill>
              <a:srgbClr val="C89B4A"/>
            </a:solidFill>
            <a:prstDash val="solid"/>
          </a:ln>
        </p:spPr>
      </p:sp>
      <p:sp>
        <p:nvSpPr>
          <p:cNvPr id="14" name="">
            <a:extLst xmlns:a="http://schemas.openxmlformats.org/drawingml/2006/main">
              <a:ext uri="{FF2B5EF4-FFF2-40B4-BE49-F238E27FC236}">
                <a16:creationId xmlns:a16="http://schemas.microsoft.com/office/drawing/2014/main" id="{5671ECDD-6947-4FD4-86A5-FE98CE8C2344}"/>
              </a:ext>
            </a:extLst>
          </p:cNvPr>
          <p:cNvSpPr>
            <a:spLocks xmlns:a="http://schemas.openxmlformats.org/drawingml/2006/main" noGrp="1"/>
          </p:cNvSpPr>
          <p:nvPr/>
        </p:nvSpPr>
        <p:spPr>
          <a:xfrm xmlns:a="http://schemas.openxmlformats.org/drawingml/2006/main">
            <a:off x="4476750" y="228600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1E2433"/>
                </a:solidFill>
                <a:latin typeface="Times New Roman"/>
                <a:ea typeface="Times New Roman"/>
                <a:cs typeface="Times New Roman"/>
              </a:defRPr>
            </a:pPr>
            <a:r>
              <a:rPr sz="1950" b="1" i="0">
                <a:solidFill>
                  <a:srgbClr val="1E2433"/>
                </a:solidFill>
                <a:latin typeface="Times New Roman"/>
                <a:ea typeface="Times New Roman"/>
                <a:cs typeface="Times New Roman"/>
              </a:rPr>
              <a:t>Design</a:t>
            </a:r>
          </a:p>
        </p:txBody>
      </p:sp>
      <p:sp>
        <p:nvSpPr>
          <p:cNvPr id="15" name="">
            <a:extLst xmlns:a="http://schemas.openxmlformats.org/drawingml/2006/main">
              <a:ext uri="{FF2B5EF4-FFF2-40B4-BE49-F238E27FC236}">
                <a16:creationId xmlns:a16="http://schemas.microsoft.com/office/drawing/2014/main" id="{BCCD1963-020A-4B1C-87B2-89ED47A43A85}"/>
              </a:ext>
            </a:extLst>
          </p:cNvPr>
          <p:cNvSpPr>
            <a:spLocks xmlns:a="http://schemas.openxmlformats.org/drawingml/2006/main" noGrp="1"/>
          </p:cNvSpPr>
          <p:nvPr/>
        </p:nvSpPr>
        <p:spPr>
          <a:xfrm xmlns:a="http://schemas.openxmlformats.org/drawingml/2006/main">
            <a:off x="4476750" y="2609850"/>
            <a:ext cx="28003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E6675"/>
                </a:solidFill>
                <a:latin typeface="Times New Roman"/>
                <a:ea typeface="Times New Roman"/>
                <a:cs typeface="Times New Roman"/>
              </a:defRPr>
            </a:pPr>
            <a:r>
              <a:rPr sz="1500" b="0" i="0">
                <a:solidFill>
                  <a:srgbClr val="5E6675"/>
                </a:solidFill>
                <a:latin typeface="Times New Roman"/>
                <a:ea typeface="Times New Roman"/>
                <a:cs typeface="Times New Roman"/>
              </a:rPr>
              <a:t>Use parity-controlled shock timing to isolate path effects instead of average performance gaps.</a:t>
            </a:r>
          </a:p>
        </p:txBody>
      </p:sp>
      <p:sp>
        <p:nvSpPr>
          <p:cNvPr id="16" name="">
            <a:extLst xmlns:a="http://schemas.openxmlformats.org/drawingml/2006/main">
              <a:ext uri="{FF2B5EF4-FFF2-40B4-BE49-F238E27FC236}">
                <a16:creationId xmlns:a16="http://schemas.microsoft.com/office/drawing/2014/main" id="{4E6D8F0C-8769-4F3F-BBC0-90F5DF3A7469}"/>
              </a:ext>
            </a:extLst>
          </p:cNvPr>
          <p:cNvSpPr>
            <a:spLocks xmlns:a="http://schemas.openxmlformats.org/drawingml/2006/main" noGrp="1"/>
          </p:cNvSpPr>
          <p:nvPr/>
        </p:nvSpPr>
        <p:spPr>
          <a:xfrm xmlns:a="http://schemas.openxmlformats.org/drawingml/2006/main">
            <a:off x="7696200" y="2171700"/>
            <a:ext cx="3086100" cy="2381250"/>
          </a:xfrm>
          <a:prstGeom xmlns:a="http://schemas.openxmlformats.org/drawingml/2006/main" prst="roundRect">
            <a:avLst>
              <a:gd name="adj" fmla="val 3200"/>
            </a:avLst>
          </a:prstGeom>
          <a:solidFill xmlns:a="http://schemas.openxmlformats.org/drawingml/2006/main">
            <a:srgbClr val="FFF9F0"/>
          </a:solidFill>
          <a:ln xmlns:a="http://schemas.openxmlformats.org/drawingml/2006/main" w="9525">
            <a:solidFill>
              <a:srgbClr val="E8DCCB"/>
            </a:solidFill>
            <a:prstDash val="solid"/>
          </a:ln>
        </p:spPr>
      </p:sp>
      <p:sp>
        <p:nvSpPr>
          <p:cNvPr id="17" name="">
            <a:extLst xmlns:a="http://schemas.openxmlformats.org/drawingml/2006/main">
              <a:ext uri="{FF2B5EF4-FFF2-40B4-BE49-F238E27FC236}">
                <a16:creationId xmlns:a16="http://schemas.microsoft.com/office/drawing/2014/main" id="{C6919100-AC63-484A-873F-7E38870FAF63}"/>
              </a:ext>
            </a:extLst>
          </p:cNvPr>
          <p:cNvSpPr>
            <a:spLocks xmlns:a="http://schemas.openxmlformats.org/drawingml/2006/main" noGrp="1"/>
          </p:cNvSpPr>
          <p:nvPr/>
        </p:nvSpPr>
        <p:spPr>
          <a:xfrm xmlns:a="http://schemas.openxmlformats.org/drawingml/2006/main">
            <a:off x="7696200" y="2171700"/>
            <a:ext cx="57150" cy="2381250"/>
          </a:xfrm>
          <a:prstGeom xmlns:a="http://schemas.openxmlformats.org/drawingml/2006/main" prst="rect">
            <a:avLst/>
          </a:prstGeom>
          <a:solidFill xmlns:a="http://schemas.openxmlformats.org/drawingml/2006/main">
            <a:srgbClr val="78836A"/>
          </a:solidFill>
          <a:ln xmlns:a="http://schemas.openxmlformats.org/drawingml/2006/main" w="0">
            <a:solidFill>
              <a:srgbClr val="78836A"/>
            </a:solidFill>
            <a:prstDash val="solid"/>
          </a:ln>
        </p:spPr>
      </p:sp>
      <p:sp>
        <p:nvSpPr>
          <p:cNvPr id="18" name="">
            <a:extLst xmlns:a="http://schemas.openxmlformats.org/drawingml/2006/main">
              <a:ext uri="{FF2B5EF4-FFF2-40B4-BE49-F238E27FC236}">
                <a16:creationId xmlns:a16="http://schemas.microsoft.com/office/drawing/2014/main" id="{8F3E7A7A-794B-4B3F-9149-6134401865D5}"/>
              </a:ext>
            </a:extLst>
          </p:cNvPr>
          <p:cNvSpPr>
            <a:spLocks xmlns:a="http://schemas.openxmlformats.org/drawingml/2006/main" noGrp="1"/>
          </p:cNvSpPr>
          <p:nvPr/>
        </p:nvSpPr>
        <p:spPr>
          <a:xfrm xmlns:a="http://schemas.openxmlformats.org/drawingml/2006/main">
            <a:off x="7867650" y="228600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1E2433"/>
                </a:solidFill>
                <a:latin typeface="Times New Roman"/>
                <a:ea typeface="Times New Roman"/>
                <a:cs typeface="Times New Roman"/>
              </a:defRPr>
            </a:pPr>
            <a:r>
              <a:rPr sz="1950" b="1" i="0">
                <a:solidFill>
                  <a:srgbClr val="1E2433"/>
                </a:solidFill>
                <a:latin typeface="Times New Roman"/>
                <a:ea typeface="Times New Roman"/>
                <a:cs typeface="Times New Roman"/>
              </a:rPr>
              <a:t>Mechanism</a:t>
            </a:r>
          </a:p>
        </p:txBody>
      </p:sp>
      <p:sp>
        <p:nvSpPr>
          <p:cNvPr id="19" name="">
            <a:extLst xmlns:a="http://schemas.openxmlformats.org/drawingml/2006/main">
              <a:ext uri="{FF2B5EF4-FFF2-40B4-BE49-F238E27FC236}">
                <a16:creationId xmlns:a16="http://schemas.microsoft.com/office/drawing/2014/main" id="{4610753B-1E65-48F3-A1A4-FA221273C367}"/>
              </a:ext>
            </a:extLst>
          </p:cNvPr>
          <p:cNvSpPr>
            <a:spLocks xmlns:a="http://schemas.openxmlformats.org/drawingml/2006/main" noGrp="1"/>
          </p:cNvSpPr>
          <p:nvPr/>
        </p:nvSpPr>
        <p:spPr>
          <a:xfrm xmlns:a="http://schemas.openxmlformats.org/drawingml/2006/main">
            <a:off x="7867650" y="2609850"/>
            <a:ext cx="28003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E6675"/>
                </a:solidFill>
                <a:latin typeface="Times New Roman"/>
                <a:ea typeface="Times New Roman"/>
                <a:cs typeface="Times New Roman"/>
              </a:defRPr>
            </a:pPr>
            <a:r>
              <a:rPr sz="1500" b="0" i="0">
                <a:solidFill>
                  <a:srgbClr val="5E6675"/>
                </a:solidFill>
                <a:latin typeface="Times New Roman"/>
                <a:ea typeface="Times New Roman"/>
                <a:cs typeface="Times New Roman"/>
              </a:rPr>
              <a:t>Connect reduced-form adoption paths to source-specific and asymmetric learning weights.</a:t>
            </a:r>
          </a:p>
        </p:txBody>
      </p:sp>
      <p:sp>
        <p:nvSpPr>
          <p:cNvPr id="20" name="">
            <a:extLst xmlns:a="http://schemas.openxmlformats.org/drawingml/2006/main">
              <a:ext uri="{FF2B5EF4-FFF2-40B4-BE49-F238E27FC236}">
                <a16:creationId xmlns:a16="http://schemas.microsoft.com/office/drawing/2014/main" id="{060E6B0F-775C-4CFA-8FC5-8F4B15ADE551}"/>
              </a:ext>
            </a:extLst>
          </p:cNvPr>
          <p:cNvSpPr>
            <a:spLocks xmlns:a="http://schemas.openxmlformats.org/drawingml/2006/main" noGrp="1"/>
          </p:cNvSpPr>
          <p:nvPr/>
        </p:nvSpPr>
        <p:spPr>
          <a:xfrm xmlns:a="http://schemas.openxmlformats.org/drawingml/2006/main">
            <a:off x="914400" y="5010150"/>
            <a:ext cx="10287000" cy="876300"/>
          </a:xfrm>
          <a:prstGeom xmlns:a="http://schemas.openxmlformats.org/drawingml/2006/main" prst="roundRect">
            <a:avLst>
              <a:gd name="adj" fmla="val 8696"/>
            </a:avLst>
          </a:prstGeom>
          <a:solidFill xmlns:a="http://schemas.openxmlformats.org/drawingml/2006/main">
            <a:srgbClr val="FFF9F0"/>
          </a:solidFill>
          <a:ln xmlns:a="http://schemas.openxmlformats.org/drawingml/2006/main" w="9525">
            <a:solidFill>
              <a:srgbClr val="E8DCCB"/>
            </a:solidFill>
            <a:prstDash val="solid"/>
          </a:ln>
        </p:spPr>
      </p:sp>
      <p:sp>
        <p:nvSpPr>
          <p:cNvPr id="21" name="">
            <a:extLst xmlns:a="http://schemas.openxmlformats.org/drawingml/2006/main">
              <a:ext uri="{FF2B5EF4-FFF2-40B4-BE49-F238E27FC236}">
                <a16:creationId xmlns:a16="http://schemas.microsoft.com/office/drawing/2014/main" id="{0BEDE285-E14E-48F2-8284-C7A934FB82BD}"/>
              </a:ext>
            </a:extLst>
          </p:cNvPr>
          <p:cNvSpPr>
            <a:spLocks xmlns:a="http://schemas.openxmlformats.org/drawingml/2006/main" noGrp="1"/>
          </p:cNvSpPr>
          <p:nvPr/>
        </p:nvSpPr>
        <p:spPr>
          <a:xfrm xmlns:a="http://schemas.openxmlformats.org/drawingml/2006/main">
            <a:off x="914400" y="5010150"/>
            <a:ext cx="57150" cy="876300"/>
          </a:xfrm>
          <a:prstGeom xmlns:a="http://schemas.openxmlformats.org/drawingml/2006/main" prst="rect">
            <a:avLst/>
          </a:prstGeom>
          <a:solidFill xmlns:a="http://schemas.openxmlformats.org/drawingml/2006/main">
            <a:srgbClr val="B45A3C"/>
          </a:solidFill>
          <a:ln xmlns:a="http://schemas.openxmlformats.org/drawingml/2006/main" w="0">
            <a:solidFill>
              <a:srgbClr val="B45A3C"/>
            </a:solidFill>
            <a:prstDash val="solid"/>
          </a:ln>
        </p:spPr>
      </p:sp>
      <p:sp>
        <p:nvSpPr>
          <p:cNvPr id="22" name="">
            <a:extLst xmlns:a="http://schemas.openxmlformats.org/drawingml/2006/main">
              <a:ext uri="{FF2B5EF4-FFF2-40B4-BE49-F238E27FC236}">
                <a16:creationId xmlns:a16="http://schemas.microsoft.com/office/drawing/2014/main" id="{CE52A5E7-62FB-4665-A2AF-1EDCF4A80F58}"/>
              </a:ext>
            </a:extLst>
          </p:cNvPr>
          <p:cNvSpPr>
            <a:spLocks xmlns:a="http://schemas.openxmlformats.org/drawingml/2006/main" noGrp="1"/>
          </p:cNvSpPr>
          <p:nvPr/>
        </p:nvSpPr>
        <p:spPr>
          <a:xfrm xmlns:a="http://schemas.openxmlformats.org/drawingml/2006/main">
            <a:off x="1085850" y="51244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E2433"/>
                </a:solidFill>
                <a:latin typeface="Times New Roman"/>
                <a:ea typeface="Times New Roman"/>
                <a:cs typeface="Times New Roman"/>
              </a:defRPr>
            </a:pPr>
            <a:r>
              <a:rPr sz="1650" b="1" i="0">
                <a:solidFill>
                  <a:srgbClr val="1E2433"/>
                </a:solidFill>
                <a:latin typeface="Times New Roman"/>
                <a:ea typeface="Times New Roman"/>
                <a:cs typeface="Times New Roman"/>
              </a:rPr>
              <a:t>Why this matters for the dissertation</a:t>
            </a:r>
          </a:p>
        </p:txBody>
      </p:sp>
      <p:sp>
        <p:nvSpPr>
          <p:cNvPr id="23" name="">
            <a:extLst xmlns:a="http://schemas.openxmlformats.org/drawingml/2006/main">
              <a:ext uri="{FF2B5EF4-FFF2-40B4-BE49-F238E27FC236}">
                <a16:creationId xmlns:a16="http://schemas.microsoft.com/office/drawing/2014/main" id="{6829E0D4-4C37-414C-A461-785FBF648448}"/>
              </a:ext>
            </a:extLst>
          </p:cNvPr>
          <p:cNvSpPr>
            <a:spLocks xmlns:a="http://schemas.openxmlformats.org/drawingml/2006/main" noGrp="1"/>
          </p:cNvSpPr>
          <p:nvPr/>
        </p:nvSpPr>
        <p:spPr>
          <a:xfrm xmlns:a="http://schemas.openxmlformats.org/drawingml/2006/main">
            <a:off x="1085850" y="5448300"/>
            <a:ext cx="1000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E6675"/>
                </a:solidFill>
                <a:latin typeface="Times New Roman"/>
                <a:ea typeface="Times New Roman"/>
                <a:cs typeface="Times New Roman"/>
              </a:defRPr>
            </a:pPr>
            <a:r>
              <a:rPr sz="1350" b="0" i="0">
                <a:solidFill>
                  <a:srgbClr val="5E6675"/>
                </a:solidFill>
                <a:latin typeface="Times New Roman"/>
                <a:ea typeface="Times New Roman"/>
                <a:cs typeface="Times New Roman"/>
              </a:rPr>
              <a:t>Paper 1 showed how AI changes belief formation. Paper 2 shows how later feedback reshapes reliance calibration and action threshold.</a:t>
            </a:r>
          </a:p>
        </p:txBody>
      </p:sp>
    </p:spTree>
    <p:extLst>
      <p:ext uri="{BB962C8B-B14F-4D97-AF65-F5344CB8AC3E}">
        <p14:creationId xmlns:p14="http://schemas.microsoft.com/office/powerpoint/2010/main" val="7080116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2026-07-05T05:22:35.5580000Z</dcterms:created>
  <dcterms:modified xsi:type="dcterms:W3CDTF">2026-07-05T05:22:35.5580000Z</dcterms:modified>
</coreProperties>
</file>