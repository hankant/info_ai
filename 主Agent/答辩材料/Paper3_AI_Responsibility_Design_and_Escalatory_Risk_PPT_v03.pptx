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8" r:id="rId5"/>
    <p:sldId id="266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Now I move to the third paper in the dissertation.</a:t>
            </a:r>
          </a:p>
          <a:p>
            <a:r>
              <a:t>If the first paper studies belief formation and the second studies reliance calibration, this paper asks what happens once a consequential action has to be owned.</a:t>
            </a:r>
          </a:p>
          <a:p>
            <a:r>
              <a:t>The core question is not simply whether AI is used.</a:t>
            </a:r>
          </a:p>
          <a:p>
            <a:r>
              <a:t>It is whether AI system design changes who feels accountable for the final move before the outcome is even 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Let me start with a concrete case.</a:t>
            </a:r>
            <a:endParaRPr lang="en-US" altLang="zh-CN"/>
          </a:p>
          <a:p>
            <a:r>
              <a:rPr lang="en-US" altLang="zh-CN"/>
              <a:t>Claude has reportedly been used in U.S. military operations related to Iran.</a:t>
            </a:r>
            <a:endParaRPr lang="en-US" altLang="zh-CN"/>
          </a:p>
          <a:p>
            <a:r>
              <a:rPr lang="en-US" altLang="zh-CN"/>
              <a:t>For me, the key question is not only who should be blamed after something goes wrong.</a:t>
            </a:r>
            <a:endParaRPr lang="en-US" altLang="zh-CN"/>
          </a:p>
          <a:p>
            <a:r>
              <a:rPr lang="en-US" altLang="zh-CN"/>
              <a:t>I care more about what happens before the action.</a:t>
            </a:r>
            <a:endParaRPr lang="en-US" altLang="zh-CN"/>
          </a:p>
          <a:p>
            <a:r>
              <a:rPr lang="en-US" altLang="zh-CN"/>
              <a:t>When humans work with AI in these settings, does their sense of responsibility change?</a:t>
            </a:r>
            <a:endParaRPr lang="en-US" altLang="zh-CN"/>
          </a:p>
          <a:p>
            <a:r>
              <a:rPr lang="en-US" altLang="zh-CN"/>
              <a:t>If AI helps analyze intelligence or simulate options, the human may still approve the final action.</a:t>
            </a:r>
            <a:endParaRPr lang="en-US" altLang="zh-CN"/>
          </a:p>
          <a:p>
            <a:r>
              <a:rPr lang="en-US" altLang="zh-CN"/>
              <a:t>But the decision may feel less personal.</a:t>
            </a:r>
            <a:endParaRPr lang="en-US" altLang="zh-CN"/>
          </a:p>
          <a:p>
            <a:r>
              <a:rPr lang="en-US" altLang="zh-CN"/>
              <a:t>The moral burden may become lighter.</a:t>
            </a:r>
            <a:endParaRPr lang="en-US" altLang="zh-CN"/>
          </a:p>
          <a:p>
            <a:r>
              <a:rPr lang="en-US" altLang="zh-CN"/>
              <a:t>Responsibility may start to feel shared between the human and the AI system.</a:t>
            </a:r>
            <a:endParaRPr lang="en-US" altLang="zh-CN"/>
          </a:p>
          <a:p>
            <a:r>
              <a:rPr lang="en-US" altLang="zh-CN"/>
              <a:t>This is why we need controlled experiments.</a:t>
            </a:r>
            <a:endParaRPr lang="en-US" altLang="zh-CN"/>
          </a:p>
          <a:p>
            <a:r>
              <a:rPr lang="en-US" altLang="zh-CN"/>
              <a:t>These high-risk human-AI interactions will become more common.</a:t>
            </a:r>
            <a:endParaRPr lang="en-US" altLang="zh-CN"/>
          </a:p>
          <a:p>
            <a:r>
              <a:rPr lang="en-US" altLang="zh-CN"/>
              <a:t>So we need to understand how people think, feel, and act with AI before we design future rules and governance.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paper builds on three lines of literature.</a:t>
            </a:r>
            <a:endParaRPr lang="en-US" altLang="zh-CN"/>
          </a:p>
          <a:p>
            <a:r>
              <a:rPr lang="en-US" altLang="zh-CN"/>
              <a:t>The first is about AI workflow design.</a:t>
            </a:r>
            <a:endParaRPr lang="en-US" altLang="zh-CN"/>
          </a:p>
          <a:p>
            <a:r>
              <a:rPr lang="en-US" altLang="zh-CN"/>
              <a:t>AI can enter the decision process in different places.</a:t>
            </a:r>
            <a:endParaRPr lang="en-US" altLang="zh-CN"/>
          </a:p>
          <a:p>
            <a:r>
              <a:rPr lang="en-US" altLang="zh-CN"/>
              <a:t>It can analyze, advise, recommend, or support approval.</a:t>
            </a:r>
            <a:endParaRPr lang="en-US" altLang="zh-CN"/>
          </a:p>
          <a:p>
            <a:r>
              <a:rPr lang="en-US" altLang="zh-CN"/>
              <a:t>So AI’s position in the process matters.</a:t>
            </a:r>
            <a:endParaRPr lang="en-US" altLang="zh-CN"/>
          </a:p>
          <a:p>
            <a:r>
              <a:rPr lang="en-US" altLang="zh-CN"/>
              <a:t>The second line is about delegation.</a:t>
            </a:r>
            <a:endParaRPr lang="en-US" altLang="zh-CN"/>
          </a:p>
          <a:p>
            <a:r>
              <a:rPr lang="en-US" altLang="zh-CN"/>
              <a:t>When a decision may create negative consequences, people may involve another agent to manage responsibility.</a:t>
            </a:r>
            <a:endParaRPr lang="en-US" altLang="zh-CN"/>
          </a:p>
          <a:p>
            <a:r>
              <a:rPr lang="en-US" altLang="zh-CN"/>
              <a:t>With AI support, the human may start to feel less like the full decision owner, and more like a supervisor.</a:t>
            </a:r>
            <a:endParaRPr lang="en-US" altLang="zh-CN"/>
          </a:p>
          <a:p>
            <a:r>
              <a:rPr lang="en-US" altLang="zh-CN"/>
              <a:t>The third line is accountability.</a:t>
            </a:r>
            <a:endParaRPr lang="en-US" altLang="zh-CN"/>
          </a:p>
          <a:p>
            <a:r>
              <a:rPr lang="en-US" altLang="zh-CN"/>
              <a:t>A system can require disclosure, approval, or justification.</a:t>
            </a:r>
            <a:endParaRPr lang="en-US" altLang="zh-CN"/>
          </a:p>
          <a:p>
            <a:r>
              <a:rPr lang="en-US" altLang="zh-CN"/>
              <a:t>But formal accountability does not always mean people actually feel responsible.</a:t>
            </a:r>
            <a:endParaRPr lang="en-US" altLang="zh-CN"/>
          </a:p>
          <a:p>
            <a:r>
              <a:rPr lang="en-US" altLang="zh-CN"/>
              <a:t>So the gap is clear:</a:t>
            </a:r>
            <a:endParaRPr lang="en-US" altLang="zh-CN"/>
          </a:p>
          <a:p>
            <a:r>
              <a:rPr lang="en-US" altLang="zh-CN"/>
              <a:t>We still need to know whether these designs change felt accountability before high-risk action is taken.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paper also connects to theories of strategic risk.</a:t>
            </a:r>
            <a:endParaRPr lang="en-US" altLang="zh-CN"/>
          </a:p>
          <a:p>
            <a:r>
              <a:rPr lang="en-US" altLang="zh-CN"/>
              <a:t>Rationalist theories explain escalation through bargaining failure, information problems, or commitment problems.</a:t>
            </a:r>
            <a:endParaRPr lang="en-US" altLang="zh-CN"/>
          </a:p>
          <a:p>
            <a:r>
              <a:rPr lang="en-US" altLang="zh-CN"/>
              <a:t>Behavioral theories explain risk-taking through framing, loss aversion, and emotion.</a:t>
            </a:r>
            <a:endParaRPr lang="en-US" altLang="zh-CN"/>
          </a:p>
          <a:p>
            <a:r>
              <a:rPr lang="en-US" altLang="zh-CN"/>
              <a:t>These theories are useful.</a:t>
            </a:r>
            <a:endParaRPr lang="en-US" altLang="zh-CN"/>
          </a:p>
          <a:p>
            <a:r>
              <a:rPr lang="en-US" altLang="zh-CN"/>
              <a:t>But they usually treat responsibility as already given.</a:t>
            </a:r>
            <a:endParaRPr lang="en-US" altLang="zh-CN"/>
          </a:p>
          <a:p>
            <a:r>
              <a:rPr lang="en-US" altLang="zh-CN"/>
              <a:t>The decision maker is assumed to carry the cost of the final choice.</a:t>
            </a:r>
            <a:endParaRPr lang="en-US" altLang="zh-CN"/>
          </a:p>
          <a:p>
            <a:r>
              <a:rPr lang="en-US" altLang="zh-CN"/>
              <a:t>AI may change exactly this condition.</a:t>
            </a:r>
            <a:endParaRPr lang="en-US" altLang="zh-CN"/>
          </a:p>
          <a:p>
            <a:r>
              <a:rPr lang="en-US" altLang="zh-CN"/>
              <a:t>When AI becomes part of the process, accountability may no longer feel fixed.</a:t>
            </a:r>
            <a:endParaRPr lang="en-US" altLang="zh-CN"/>
          </a:p>
          <a:p>
            <a:r>
              <a:rPr lang="en-US" altLang="zh-CN"/>
              <a:t>It may become part of the decision architecture itself.</a:t>
            </a:r>
            <a:endParaRPr lang="en-US" altLang="zh-CN"/>
          </a:p>
          <a:p>
            <a:r>
              <a:rPr lang="en-US" altLang="zh-CN"/>
              <a:t>So the missing variable here is not only belief or payoff.</a:t>
            </a:r>
            <a:endParaRPr lang="en-US" altLang="zh-CN"/>
          </a:p>
          <a:p>
            <a:r>
              <a:rPr lang="en-US" altLang="zh-CN"/>
              <a:t>It is the structure of accountability.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slide states the gap more directly.</a:t>
            </a:r>
            <a:endParaRPr lang="en-US" altLang="zh-CN"/>
          </a:p>
          <a:p>
            <a:r>
              <a:rPr lang="en-US" altLang="zh-CN"/>
              <a:t>a lot of that work focuses on what happens after the outcome.</a:t>
            </a:r>
            <a:endParaRPr lang="en-US" altLang="zh-CN"/>
          </a:p>
          <a:p>
            <a:r>
              <a:rPr lang="en-US" altLang="zh-CN"/>
              <a:t>Who gets blamed?</a:t>
            </a:r>
            <a:endParaRPr lang="en-US" altLang="zh-CN"/>
          </a:p>
          <a:p>
            <a:r>
              <a:rPr lang="en-US" altLang="zh-CN"/>
              <a:t>Who is accountable?</a:t>
            </a:r>
            <a:endParaRPr lang="en-US" altLang="zh-CN"/>
          </a:p>
          <a:p>
            <a:r>
              <a:rPr lang="en-US" altLang="zh-CN"/>
              <a:t>How is responsibility assigned?</a:t>
            </a:r>
            <a:endParaRPr lang="en-US" altLang="zh-CN"/>
          </a:p>
          <a:p>
            <a:r>
              <a:rPr lang="en-US" altLang="zh-CN"/>
              <a:t>My paper moves the question earlier.</a:t>
            </a:r>
            <a:endParaRPr lang="en-US" altLang="zh-CN"/>
          </a:p>
          <a:p>
            <a:r>
              <a:rPr lang="en-US" altLang="zh-CN"/>
              <a:t>Before the outcome happens, how does the AI-supported process change the person’s sense of ownership?</a:t>
            </a:r>
            <a:endParaRPr lang="en-US" altLang="zh-CN"/>
          </a:p>
          <a:p>
            <a:r>
              <a:rPr lang="en-US" altLang="zh-CN"/>
              <a:t>And does that change affect risky action?</a:t>
            </a:r>
            <a:endParaRPr lang="en-US" altLang="zh-CN"/>
          </a:p>
          <a:p>
            <a:r>
              <a:rPr lang="en-US" altLang="zh-CN"/>
              <a:t>So the gap is about responsibility design.</a:t>
            </a:r>
            <a:endParaRPr lang="en-US" altLang="zh-CN"/>
          </a:p>
          <a:p>
            <a:r>
              <a:rPr lang="en-US" altLang="zh-CN"/>
              <a:t>I want to know how visibility, traceability, attribution, and evaluability shape felt accountability before action.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 paper has four research questions.</a:t>
            </a:r>
            <a:endParaRPr lang="en-US" altLang="zh-CN"/>
          </a:p>
          <a:p>
            <a:r>
              <a:rPr lang="en-US" altLang="zh-CN"/>
              <a:t>First, does AI decision support itself change high-risk strategic choice?</a:t>
            </a:r>
            <a:endParaRPr lang="en-US" altLang="zh-CN"/>
          </a:p>
          <a:p>
            <a:r>
              <a:rPr lang="en-US" altLang="zh-CN"/>
              <a:t>Second, when AI moves closer to the final action, does it change ownership, felt accountability, and responsibility attribution?</a:t>
            </a:r>
            <a:endParaRPr lang="en-US" altLang="zh-CN"/>
          </a:p>
          <a:p>
            <a:r>
              <a:rPr lang="en-US" altLang="zh-CN"/>
              <a:t>Third, can accountability requirements increase felt accountability?</a:t>
            </a:r>
            <a:endParaRPr lang="en-US" altLang="zh-CN"/>
          </a:p>
          <a:p>
            <a:r>
              <a:rPr lang="en-US" altLang="zh-CN"/>
              <a:t>For example, does confirmation or justification make the human feel more responsible?</a:t>
            </a:r>
            <a:endParaRPr lang="en-US" altLang="zh-CN"/>
          </a:p>
          <a:p>
            <a:r>
              <a:rPr lang="en-US" altLang="zh-CN"/>
              <a:t>Fourth, do these accountability requirements change escalation behavior?</a:t>
            </a:r>
            <a:endParaRPr lang="en-US" altLang="zh-CN"/>
          </a:p>
          <a:p>
            <a:r>
              <a:rPr lang="en-US" altLang="zh-CN"/>
              <a:t>So the paper moves from AI presence to responsibility design.</a:t>
            </a:r>
            <a:endParaRPr lang="en-US" altLang="zh-CN"/>
          </a:p>
          <a:p>
            <a:r>
              <a:rPr lang="en-US" altLang="zh-CN"/>
              <a:t>The key point is:</a:t>
            </a:r>
            <a:endParaRPr lang="en-US" altLang="zh-CN"/>
          </a:p>
          <a:p>
            <a:r>
              <a:rPr lang="en-US" altLang="zh-CN"/>
              <a:t>I am not asking who gets blamed after failure.</a:t>
            </a:r>
            <a:endParaRPr lang="en-US" altLang="zh-CN"/>
          </a:p>
          <a:p>
            <a:r>
              <a:rPr lang="en-US" altLang="zh-CN"/>
              <a:t>I am asking how responsibility design changes choices before the outcome is known.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is meant to prevent a specific misunderstanding.</a:t>
            </a:r>
          </a:p>
          <a:p>
            <a:r>
              <a:t>The broader theory is about AI role proximity: AI can be an analyst, a recommender, or something closer to a delegated actor. As AI moves closer to the final act, ownership may become diluted.</a:t>
            </a:r>
          </a:p>
          <a:p>
            <a:r>
              <a:t>The current experiment does not claim to test every role position. It tests two concrete accountability interventions inside AI-supported choice: confirmation and disclosure.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To test this, I use a repeated Hawk-Dove environment.</a:t>
            </a:r>
            <a:endParaRPr lang="en-US" altLang="zh-CN"/>
          </a:p>
          <a:p>
            <a:r>
              <a:rPr lang="en-US" altLang="zh-CN"/>
              <a:t>This task is useful because escalation is meaningful.</a:t>
            </a:r>
            <a:endParaRPr lang="en-US" altLang="zh-CN"/>
          </a:p>
          <a:p>
            <a:r>
              <a:rPr lang="en-US" altLang="zh-CN"/>
              <a:t>If one side escalates and the other restrains, escalation can bring a gain.</a:t>
            </a:r>
            <a:endParaRPr lang="en-US" altLang="zh-CN"/>
          </a:p>
          <a:p>
            <a:r>
              <a:rPr lang="en-US" altLang="zh-CN"/>
              <a:t>But if both sides escalate, both suffer a loss.</a:t>
            </a:r>
            <a:endParaRPr lang="en-US" altLang="zh-CN"/>
          </a:p>
          <a:p>
            <a:r>
              <a:rPr lang="en-US" altLang="zh-CN"/>
              <a:t>So the choice is not just risky for the participant.</a:t>
            </a:r>
            <a:endParaRPr lang="en-US" altLang="zh-CN"/>
          </a:p>
          <a:p>
            <a:r>
              <a:rPr lang="en-US" altLang="zh-CN"/>
              <a:t>It can also create harm for another party.</a:t>
            </a:r>
            <a:endParaRPr lang="en-US" altLang="zh-CN"/>
          </a:p>
          <a:p>
            <a:r>
              <a:rPr lang="en-US" altLang="zh-CN"/>
              <a:t>That makes responsibility visible.</a:t>
            </a:r>
            <a:endParaRPr lang="en-US" altLang="zh-CN"/>
          </a:p>
          <a:p>
            <a:r>
              <a:rPr lang="en-US" altLang="zh-CN"/>
              <a:t>Participants see the same strategic environment.</a:t>
            </a:r>
            <a:endParaRPr lang="en-US" altLang="zh-CN"/>
          </a:p>
          <a:p>
            <a:r>
              <a:rPr lang="en-US" altLang="zh-CN"/>
              <a:t>Some decide alone.What changes is the responsibility structure around the decision.</a:t>
            </a:r>
            <a:endParaRPr lang="en-US" altLang="zh-CN"/>
          </a:p>
          <a:p>
            <a:r>
              <a:rPr lang="en-US" altLang="zh-CN"/>
              <a:t>The experiment is intentionally minimal: the strategic game and AI analysis are held constant, while the responsibility architecture is varied.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is the key method slide.</a:t>
            </a:r>
            <a:endParaRPr lang="en-US" altLang="zh-CN"/>
          </a:p>
          <a:p>
            <a:r>
              <a:rPr lang="en-US" altLang="zh-CN"/>
              <a:t>The experiment is not just AI versus no AI.</a:t>
            </a:r>
            <a:endParaRPr lang="en-US" altLang="zh-CN"/>
          </a:p>
          <a:p>
            <a:r>
              <a:rPr lang="en-US" altLang="zh-CN"/>
              <a:t>That comparison would be too broad.</a:t>
            </a:r>
            <a:endParaRPr lang="en-US" altLang="zh-CN"/>
          </a:p>
          <a:p>
            <a:r>
              <a:rPr lang="en-US" altLang="zh-CN"/>
              <a:t>Each condition has a specific role.</a:t>
            </a:r>
            <a:endParaRPr lang="en-US" altLang="zh-CN"/>
          </a:p>
          <a:p>
            <a:r>
              <a:rPr lang="en-US" altLang="zh-CN"/>
              <a:t>The human-only condition gives the baseline.</a:t>
            </a:r>
            <a:endParaRPr lang="en-US" altLang="zh-CN"/>
          </a:p>
          <a:p>
            <a:r>
              <a:rPr lang="en-US" altLang="zh-CN"/>
              <a:t>The AI-baseline condition shows what AI support itself changes.</a:t>
            </a:r>
            <a:endParaRPr lang="en-US" altLang="zh-CN"/>
          </a:p>
          <a:p>
            <a:r>
              <a:rPr lang="en-US" altLang="zh-CN"/>
              <a:t>The AI-confirm condition tests whether explicit human confirmation increases ownership.</a:t>
            </a:r>
            <a:endParaRPr lang="en-US" altLang="zh-CN"/>
          </a:p>
          <a:p>
            <a:r>
              <a:rPr lang="en-US" altLang="zh-CN"/>
              <a:t>The AI-disclosure condition tests whether visibility and traceability increase answerability.</a:t>
            </a:r>
            <a:endParaRPr lang="en-US" altLang="zh-CN"/>
          </a:p>
          <a:p>
            <a:r>
              <a:rPr lang="en-US" altLang="zh-CN"/>
              <a:t>So each comparison identifies a different part of responsibility design.</a:t>
            </a:r>
            <a:endParaRPr lang="en-US" altLang="zh-CN"/>
          </a:p>
          <a:p>
            <a:r>
              <a:rPr lang="en-US" altLang="zh-CN"/>
              <a:t>This is what keeps the design focused.</a:t>
            </a:r>
            <a:endParaRPr lang="en-US" altLang="zh-CN"/>
          </a:p>
          <a:p>
            <a:r>
              <a:rPr lang="en-US" altLang="zh-CN"/>
              <a:t>It is not a generic AI treatment.</a:t>
            </a:r>
            <a:endParaRPr lang="en-US" altLang="zh-CN"/>
          </a:p>
          <a:p>
            <a:r>
              <a:rPr lang="en-US" altLang="zh-CN"/>
              <a:t>It is a test of how different accountability structures shape ownership and risky behavior.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 contribution of Paper 3 is to study responsibility before outcomes occur.</a:t>
            </a:r>
            <a:endParaRPr lang="en-US" altLang="zh-CN"/>
          </a:p>
          <a:p>
            <a:r>
              <a:rPr lang="en-US" altLang="zh-CN"/>
              <a:t>AI support may change escalation by itself.</a:t>
            </a:r>
            <a:endParaRPr lang="en-US" altLang="zh-CN"/>
          </a:p>
          <a:p>
            <a:r>
              <a:rPr lang="en-US" altLang="zh-CN"/>
              <a:t>Confirmation may raise ownership because the human has to actively pass through the final decision point.</a:t>
            </a:r>
            <a:endParaRPr lang="en-US" altLang="zh-CN"/>
          </a:p>
          <a:p>
            <a:r>
              <a:rPr lang="en-US" altLang="zh-CN"/>
              <a:t>Disclosure may increase answerability.</a:t>
            </a:r>
            <a:endParaRPr lang="en-US" altLang="zh-CN"/>
          </a:p>
          <a:p>
            <a:r>
              <a:rPr lang="en-US" altLang="zh-CN"/>
              <a:t>But it may also make responsibility feel shared between the human and the AI system.</a:t>
            </a:r>
            <a:endParaRPr lang="en-US" altLang="zh-CN"/>
          </a:p>
          <a:p>
            <a:r>
              <a:rPr lang="en-US" altLang="zh-CN"/>
              <a:t>So structural accountability and felt accountability may not move together.</a:t>
            </a:r>
            <a:endParaRPr lang="en-US" altLang="zh-CN"/>
          </a:p>
          <a:p>
            <a:r>
              <a:rPr lang="en-US" altLang="zh-CN"/>
              <a:t>That is why the experiment measures both perception and behavior.</a:t>
            </a:r>
            <a:endParaRPr lang="en-US" altLang="zh-CN"/>
          </a:p>
          <a:p>
            <a:r>
              <a:rPr lang="en-US" altLang="zh-CN"/>
              <a:t>This paper completes the dissertation chain.</a:t>
            </a:r>
            <a:endParaRPr lang="en-US" altLang="zh-CN"/>
          </a:p>
          <a:p>
            <a:r>
              <a:rPr lang="en-US" altLang="zh-CN"/>
              <a:t>Paper 1 studies belief formation.</a:t>
            </a:r>
            <a:endParaRPr lang="en-US" altLang="zh-CN"/>
          </a:p>
          <a:p>
            <a:r>
              <a:rPr lang="en-US" altLang="zh-CN"/>
              <a:t>Paper 2 studies reliance calibration.</a:t>
            </a:r>
            <a:endParaRPr lang="en-US" altLang="zh-CN"/>
          </a:p>
          <a:p>
            <a:r>
              <a:rPr lang="en-US" altLang="zh-CN"/>
              <a:t>Paper 3 studies responsibility design.</a:t>
            </a:r>
            <a:endParaRPr lang="en-US" altLang="zh-CN"/>
          </a:p>
          <a:p>
            <a:r>
              <a:rPr lang="en-US" altLang="zh-CN"/>
              <a:t>The central point is simple:</a:t>
            </a:r>
            <a:endParaRPr lang="en-US" altLang="zh-CN"/>
          </a:p>
          <a:p>
            <a:r>
              <a:rPr lang="en-US" altLang="zh-CN"/>
              <a:t>What matters is not only whether people u</a:t>
            </a:r>
            <a:r>
              <a:rPr lang="en-US" altLang="zh-CN"/>
              <a:t>se AI.</a:t>
            </a:r>
            <a:endParaRPr lang="en-US" altLang="zh-CN"/>
          </a:p>
          <a:p>
            <a:r>
              <a:rPr lang="en-US" altLang="zh-CN"/>
              <a:t>What matters is how AI system design reorganizes responsibility before action is taken.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6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81050" y="80010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E7D4C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 i="0">
                <a:solidFill>
                  <a:srgbClr val="E7D4C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PAPER 3</a:t>
            </a:r>
            <a:endParaRPr sz="900" b="1" i="0">
              <a:solidFill>
                <a:srgbClr val="E7D4C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390650"/>
            <a:ext cx="9525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450" b="1" i="0">
                <a:solidFill>
                  <a:srgbClr val="F5F0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3450" b="1" i="0">
                <a:solidFill>
                  <a:srgbClr val="F5F0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Paper 3: AI Responsibility Design and Escalatory Risk</a:t>
            </a:r>
            <a:endParaRPr sz="3450" b="1" i="0">
              <a:solidFill>
                <a:srgbClr val="F5F0E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2724150"/>
            <a:ext cx="8858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 i="0">
                <a:solidFill>
                  <a:srgbClr val="D8CD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0" i="0">
                <a:solidFill>
                  <a:srgbClr val="D8CD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AI-supported decisions can change not only what people know, but whether they still feel accountable for the final move.</a:t>
            </a:r>
            <a:endParaRPr sz="1650" b="0" i="0">
              <a:solidFill>
                <a:srgbClr val="D8CD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3771900"/>
            <a:ext cx="9144000" cy="11430"/>
          </a:xfrm>
          <a:prstGeom prst="rect">
            <a:avLst/>
          </a:prstGeom>
          <a:solidFill>
            <a:srgbClr val="A99384"/>
          </a:solidFill>
          <a:ln w="0">
            <a:solidFill>
              <a:srgbClr val="A9938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41719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E8E2D8"/>
                </a:solidFill>
              </a:defRPr>
            </a:pPr>
            <a:r>
              <a:rPr sz="1350">
                <a:solidFill>
                  <a:srgbClr val="E8E2D8"/>
                </a:solidFill>
              </a:rPr>
              <a:t>Belief formation</a:t>
            </a:r>
            <a:endParaRPr sz="1350">
              <a:solidFill>
                <a:srgbClr val="E8E2D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44958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C8A98D"/>
                </a:solidFill>
              </a:defRPr>
            </a:pPr>
            <a:r>
              <a:rPr sz="1200" b="1">
                <a:solidFill>
                  <a:srgbClr val="C8A98D"/>
                </a:solidFill>
              </a:rPr>
              <a:t>Paper 1</a:t>
            </a:r>
            <a:endParaRPr sz="1200" b="1">
              <a:solidFill>
                <a:srgbClr val="C8A98D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943350" y="41719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E8E2D8"/>
                </a:solidFill>
              </a:defRPr>
            </a:pPr>
            <a:r>
              <a:rPr sz="1350">
                <a:solidFill>
                  <a:srgbClr val="E8E2D8"/>
                </a:solidFill>
              </a:rPr>
              <a:t>Reliance calibration</a:t>
            </a:r>
            <a:endParaRPr sz="1350">
              <a:solidFill>
                <a:srgbClr val="E8E2D8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943350" y="44958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C8A98D"/>
                </a:solidFill>
              </a:defRPr>
            </a:pPr>
            <a:r>
              <a:rPr sz="1200" b="1">
                <a:solidFill>
                  <a:srgbClr val="C8A98D"/>
                </a:solidFill>
              </a:rPr>
              <a:t>Paper 2</a:t>
            </a:r>
            <a:endParaRPr sz="1200" b="1">
              <a:solidFill>
                <a:srgbClr val="C8A98D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105650" y="41719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E8E2D8"/>
                </a:solidFill>
              </a:defRPr>
            </a:pPr>
            <a:r>
              <a:rPr sz="1350">
                <a:solidFill>
                  <a:srgbClr val="E8E2D8"/>
                </a:solidFill>
              </a:rPr>
              <a:t>Responsibility design</a:t>
            </a:r>
            <a:endParaRPr sz="1350">
              <a:solidFill>
                <a:srgbClr val="E8E2D8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105650" y="449580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C8A98D"/>
                </a:solidFill>
              </a:defRPr>
            </a:pPr>
            <a:r>
              <a:rPr sz="1200" b="1">
                <a:solidFill>
                  <a:srgbClr val="C8A98D"/>
                </a:solidFill>
              </a:rPr>
              <a:t>Paper 3</a:t>
            </a:r>
            <a:endParaRPr sz="1200" b="1">
              <a:solidFill>
                <a:srgbClr val="C8A98D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59817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i="1">
                <a:solidFill>
                  <a:srgbClr val="D7D4CE"/>
                </a:solidFill>
              </a:defRPr>
            </a:pPr>
            <a:r>
              <a:rPr sz="1050" i="1">
                <a:solidFill>
                  <a:srgbClr val="D7D4CE"/>
                </a:solidFill>
              </a:rPr>
              <a:t>Action → responsibility</a:t>
            </a:r>
            <a:endParaRPr sz="1050" i="1">
              <a:solidFill>
                <a:srgbClr val="D7D4C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  <a:endParaRPr sz="900" b="1">
              <a:solidFill>
                <a:srgbClr val="5F687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1</a:t>
            </a:r>
            <a:endParaRPr sz="900">
              <a:solidFill>
                <a:srgbClr val="5F687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7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eft-accent-rule"/>
          <p:cNvSpPr>
            <a:spLocks noGrp="1"/>
          </p:cNvSpPr>
          <p:nvPr/>
        </p:nvSpPr>
        <p:spPr>
          <a:xfrm>
            <a:off x="685800" y="628650"/>
            <a:ext cx="19050" cy="5619750"/>
          </a:xfrm>
          <a:prstGeom prst="rect">
            <a:avLst/>
          </a:prstGeom>
          <a:solidFill>
            <a:srgbClr val="BE7A46"/>
          </a:solidFill>
          <a:ln w="0">
            <a:noFill/>
            <a:prstDash val="solid"/>
          </a:ln>
        </p:spPr>
      </p:sp>
      <p:sp>
        <p:nvSpPr>
          <p:cNvPr id="3" name="bottom-rule"/>
          <p:cNvSpPr>
            <a:spLocks noGrp="1"/>
          </p:cNvSpPr>
          <p:nvPr/>
        </p:nvSpPr>
        <p:spPr>
          <a:xfrm>
            <a:off x="685800" y="6172200"/>
            <a:ext cx="10820400" cy="11430"/>
          </a:xfrm>
          <a:prstGeom prst="rect">
            <a:avLst/>
          </a:prstGeom>
          <a:solidFill>
            <a:srgbClr val="D9C7AA"/>
          </a:solidFill>
          <a:ln w="0">
            <a:noFill/>
            <a:prstDash val="solid"/>
          </a:ln>
        </p:spPr>
      </p:sp>
      <p:sp>
        <p:nvSpPr>
          <p:cNvPr id="4" name="eyebrow"/>
          <p:cNvSpPr>
            <a:spLocks noGrp="1"/>
          </p:cNvSpPr>
          <p:nvPr/>
        </p:nvSpPr>
        <p:spPr>
          <a:xfrm>
            <a:off x="895350" y="7429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/>
          <a:lstStyle/>
          <a:p>
            <a:pPr>
              <a:defRPr sz="1125" b="1">
                <a:solidFill>
                  <a:srgbClr val="D6A06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1">
                <a:solidFill>
                  <a:srgbClr val="D6A06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PAPER 3  ·  CONCRETE ENTRY POINT</a:t>
            </a:r>
            <a:endParaRPr sz="1125" b="1">
              <a:solidFill>
                <a:srgbClr val="D6A06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895350" y="1200150"/>
            <a:ext cx="51435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90000"/>
              </a:lnSpc>
              <a:buNone/>
              <a:defRPr sz="3525" b="1">
                <a:solidFill>
                  <a:srgbClr val="F3EBD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3525" b="1">
                <a:solidFill>
                  <a:srgbClr val="F3EBD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Claude has reportedly been used in U.S. military operations related to Iran.</a:t>
            </a:r>
            <a:endParaRPr lang="en-US" altLang="zh-CN" sz="3525" b="1">
              <a:solidFill>
                <a:srgbClr val="F3EBD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lnSpc>
                <a:spcPct val="90000"/>
              </a:lnSpc>
              <a:buNone/>
              <a:defRPr sz="3525" b="1">
                <a:solidFill>
                  <a:srgbClr val="F3EBD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endParaRPr lang="en-US" altLang="zh-CN" sz="3525" b="1">
              <a:solidFill>
                <a:srgbClr val="F3EBD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subtitle"/>
          <p:cNvSpPr>
            <a:spLocks noGrp="1"/>
          </p:cNvSpPr>
          <p:nvPr/>
        </p:nvSpPr>
        <p:spPr>
          <a:xfrm>
            <a:off x="895350" y="3105150"/>
            <a:ext cx="51911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4000"/>
              </a:lnSpc>
              <a:buNone/>
              <a:defRPr sz="1725">
                <a:solidFill>
                  <a:srgbClr val="E7DDC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>
                <a:solidFill>
                  <a:srgbClr val="E7DDC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may not choose the final action. It can still analyze intelligence, simulate options, and structure what a human sees as actionable.</a:t>
            </a:r>
            <a:endParaRPr sz="1725">
              <a:solidFill>
                <a:srgbClr val="E7DDC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workflow-step-1"/>
          <p:cNvSpPr>
            <a:spLocks noGrp="1"/>
          </p:cNvSpPr>
          <p:nvPr/>
        </p:nvSpPr>
        <p:spPr>
          <a:xfrm>
            <a:off x="895350" y="4343400"/>
            <a:ext cx="1543050" cy="876300"/>
          </a:xfrm>
          <a:prstGeom prst="roundRect">
            <a:avLst>
              <a:gd name="adj" fmla="val 8696"/>
            </a:avLst>
          </a:prstGeom>
          <a:solidFill>
            <a:srgbClr val="182A38"/>
          </a:solidFill>
          <a:ln w="9525">
            <a:solidFill>
              <a:srgbClr val="7F8B77"/>
            </a:solidFill>
            <a:prstDash val="solid"/>
          </a:ln>
        </p:spPr>
      </p:sp>
      <p:sp>
        <p:nvSpPr>
          <p:cNvPr id="8" name="workflow-step-1-head"/>
          <p:cNvSpPr>
            <a:spLocks noGrp="1"/>
          </p:cNvSpPr>
          <p:nvPr/>
        </p:nvSpPr>
        <p:spPr>
          <a:xfrm>
            <a:off x="1047750" y="44767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/>
          <a:lstStyle/>
          <a:p>
            <a:pPr>
              <a:defRPr sz="1350" b="1">
                <a:solidFill>
                  <a:srgbClr val="F3EBD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F3EBD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analyzes</a:t>
            </a:r>
            <a:endParaRPr sz="1350" b="1">
              <a:solidFill>
                <a:srgbClr val="F3EBD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workflow-step-1-body"/>
          <p:cNvSpPr>
            <a:spLocks noGrp="1"/>
          </p:cNvSpPr>
          <p:nvPr/>
        </p:nvSpPr>
        <p:spPr>
          <a:xfrm>
            <a:off x="1047750" y="4743450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4000"/>
              </a:lnSpc>
              <a:buNone/>
              <a:defRPr sz="1110">
                <a:solidFill>
                  <a:srgbClr val="CFC5B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10">
                <a:solidFill>
                  <a:srgbClr val="CFC5B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intelligence</a:t>
            </a:r>
            <a:endParaRPr sz="1110">
              <a:solidFill>
                <a:srgbClr val="CFC5B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lnSpc>
                <a:spcPct val="104000"/>
              </a:lnSpc>
              <a:buNone/>
              <a:defRPr sz="1110">
                <a:solidFill>
                  <a:srgbClr val="CFC5B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10">
                <a:solidFill>
                  <a:srgbClr val="CFC5B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simulation</a:t>
            </a:r>
            <a:endParaRPr sz="1110">
              <a:solidFill>
                <a:srgbClr val="CFC5B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workflow-arrow-1"/>
          <p:cNvSpPr>
            <a:spLocks noGrp="1"/>
          </p:cNvSpPr>
          <p:nvPr/>
        </p:nvSpPr>
        <p:spPr>
          <a:xfrm>
            <a:off x="2486025" y="4629150"/>
            <a:ext cx="24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/>
          <a:lstStyle/>
          <a:p>
            <a:pPr algn="ctr">
              <a:defRPr sz="1800">
                <a:solidFill>
                  <a:srgbClr val="D6A06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>
                <a:solidFill>
                  <a:srgbClr val="D6A06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1800">
              <a:solidFill>
                <a:srgbClr val="D6A06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workflow-step-2"/>
          <p:cNvSpPr>
            <a:spLocks noGrp="1"/>
          </p:cNvSpPr>
          <p:nvPr/>
        </p:nvSpPr>
        <p:spPr>
          <a:xfrm>
            <a:off x="2647950" y="4343400"/>
            <a:ext cx="1543050" cy="876300"/>
          </a:xfrm>
          <a:prstGeom prst="roundRect">
            <a:avLst>
              <a:gd name="adj" fmla="val 8696"/>
            </a:avLst>
          </a:prstGeom>
          <a:noFill/>
          <a:ln w="9525">
            <a:solidFill>
              <a:srgbClr val="7F8B77"/>
            </a:solidFill>
            <a:prstDash val="solid"/>
          </a:ln>
        </p:spPr>
      </p:sp>
      <p:sp>
        <p:nvSpPr>
          <p:cNvPr id="12" name="workflow-step-2-head"/>
          <p:cNvSpPr>
            <a:spLocks noGrp="1"/>
          </p:cNvSpPr>
          <p:nvPr/>
        </p:nvSpPr>
        <p:spPr>
          <a:xfrm>
            <a:off x="2800350" y="44767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/>
          <a:lstStyle/>
          <a:p>
            <a:pPr>
              <a:defRPr sz="1350" b="1">
                <a:solidFill>
                  <a:srgbClr val="F3EBD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F3EBD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Human approves</a:t>
            </a:r>
            <a:endParaRPr sz="1350" b="1">
              <a:solidFill>
                <a:srgbClr val="F3EBD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workflow-step-2-body"/>
          <p:cNvSpPr>
            <a:spLocks noGrp="1"/>
          </p:cNvSpPr>
          <p:nvPr/>
        </p:nvSpPr>
        <p:spPr>
          <a:xfrm>
            <a:off x="2800350" y="4743450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4000"/>
              </a:lnSpc>
              <a:buNone/>
              <a:defRPr sz="1110">
                <a:solidFill>
                  <a:srgbClr val="CFC5B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10">
                <a:solidFill>
                  <a:srgbClr val="CFC5B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verify</a:t>
            </a:r>
            <a:endParaRPr sz="1110">
              <a:solidFill>
                <a:srgbClr val="CFC5B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lnSpc>
                <a:spcPct val="104000"/>
              </a:lnSpc>
              <a:buNone/>
              <a:defRPr sz="1110">
                <a:solidFill>
                  <a:srgbClr val="CFC5B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10">
                <a:solidFill>
                  <a:srgbClr val="CFC5B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reject</a:t>
            </a:r>
            <a:endParaRPr sz="1110">
              <a:solidFill>
                <a:srgbClr val="CFC5B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workflow-arrow-2"/>
          <p:cNvSpPr>
            <a:spLocks noGrp="1"/>
          </p:cNvSpPr>
          <p:nvPr/>
        </p:nvSpPr>
        <p:spPr>
          <a:xfrm>
            <a:off x="4238625" y="4629150"/>
            <a:ext cx="24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/>
          <a:lstStyle/>
          <a:p>
            <a:pPr algn="ctr">
              <a:defRPr sz="1800">
                <a:solidFill>
                  <a:srgbClr val="D6A06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>
                <a:solidFill>
                  <a:srgbClr val="D6A06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1800">
              <a:solidFill>
                <a:srgbClr val="D6A06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workflow-step-3"/>
          <p:cNvSpPr>
            <a:spLocks noGrp="1"/>
          </p:cNvSpPr>
          <p:nvPr/>
        </p:nvSpPr>
        <p:spPr>
          <a:xfrm>
            <a:off x="4400550" y="4343400"/>
            <a:ext cx="1543050" cy="876300"/>
          </a:xfrm>
          <a:prstGeom prst="roundRect">
            <a:avLst>
              <a:gd name="adj" fmla="val 8696"/>
            </a:avLst>
          </a:prstGeom>
          <a:noFill/>
          <a:ln w="9525">
            <a:solidFill>
              <a:srgbClr val="BE7A46"/>
            </a:solidFill>
            <a:prstDash val="solid"/>
          </a:ln>
        </p:spPr>
      </p:sp>
      <p:sp>
        <p:nvSpPr>
          <p:cNvPr id="16" name="workflow-step-3-head"/>
          <p:cNvSpPr>
            <a:spLocks noGrp="1"/>
          </p:cNvSpPr>
          <p:nvPr/>
        </p:nvSpPr>
        <p:spPr>
          <a:xfrm>
            <a:off x="4552950" y="44767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/>
          <a:lstStyle/>
          <a:p>
            <a:pPr>
              <a:defRPr sz="1350" b="1">
                <a:solidFill>
                  <a:srgbClr val="F3EBD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F3EBD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Ownership shifts</a:t>
            </a:r>
            <a:endParaRPr sz="1350" b="1">
              <a:solidFill>
                <a:srgbClr val="F3EBD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workflow-step-3-body"/>
          <p:cNvSpPr>
            <a:spLocks noGrp="1"/>
          </p:cNvSpPr>
          <p:nvPr/>
        </p:nvSpPr>
        <p:spPr>
          <a:xfrm>
            <a:off x="4552950" y="4743450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4000"/>
              </a:lnSpc>
              <a:buNone/>
              <a:defRPr sz="1110">
                <a:solidFill>
                  <a:srgbClr val="CFC5B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10">
                <a:solidFill>
                  <a:srgbClr val="CFC5B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feels</a:t>
            </a:r>
            <a:endParaRPr sz="1110">
              <a:solidFill>
                <a:srgbClr val="CFC5B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lnSpc>
                <a:spcPct val="104000"/>
              </a:lnSpc>
              <a:buNone/>
              <a:defRPr sz="1110">
                <a:solidFill>
                  <a:srgbClr val="CFC5B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10">
                <a:solidFill>
                  <a:srgbClr val="CFC5B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shared</a:t>
            </a:r>
            <a:endParaRPr sz="1110">
              <a:solidFill>
                <a:srgbClr val="CFC5B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image-frame"/>
          <p:cNvSpPr>
            <a:spLocks noGrp="1"/>
          </p:cNvSpPr>
          <p:nvPr/>
        </p:nvSpPr>
        <p:spPr>
          <a:xfrm>
            <a:off x="6524625" y="876300"/>
            <a:ext cx="5010150" cy="2838450"/>
          </a:xfrm>
          <a:prstGeom prst="roundRect">
            <a:avLst>
              <a:gd name="adj" fmla="val 2685"/>
            </a:avLst>
          </a:prstGeom>
          <a:solidFill>
            <a:srgbClr val="0E1114"/>
          </a:solidFill>
          <a:ln w="9525">
            <a:solidFill>
              <a:srgbClr val="D9C7AA"/>
            </a:solidFill>
            <a:prstDash val="solid"/>
          </a:ln>
        </p:spPr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0449" y="933450"/>
            <a:ext cx="4798503" cy="2724150"/>
          </a:xfrm>
          <a:prstGeom prst="roundRect">
            <a:avLst>
              <a:gd name="adj" fmla="val 2797"/>
            </a:avLst>
          </a:prstGeom>
        </p:spPr>
      </p:pic>
      <p:sp>
        <p:nvSpPr>
          <p:cNvPr id="19" name="case-card"/>
          <p:cNvSpPr>
            <a:spLocks noGrp="1"/>
          </p:cNvSpPr>
          <p:nvPr/>
        </p:nvSpPr>
        <p:spPr>
          <a:xfrm>
            <a:off x="6524625" y="3943350"/>
            <a:ext cx="5010150" cy="1352550"/>
          </a:xfrm>
          <a:prstGeom prst="roundRect">
            <a:avLst>
              <a:gd name="adj" fmla="val 5634"/>
            </a:avLst>
          </a:prstGeom>
          <a:solidFill>
            <a:srgbClr val="F3EBDD"/>
          </a:solidFill>
          <a:ln w="9525">
            <a:solidFill>
              <a:srgbClr val="D9C7AA"/>
            </a:solidFill>
            <a:prstDash val="solid"/>
          </a:ln>
        </p:spPr>
      </p:sp>
      <p:sp>
        <p:nvSpPr>
          <p:cNvPr id="20" name="case-label"/>
          <p:cNvSpPr>
            <a:spLocks noGrp="1"/>
          </p:cNvSpPr>
          <p:nvPr/>
        </p:nvSpPr>
        <p:spPr>
          <a:xfrm>
            <a:off x="6791325" y="41338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/>
          <a:lstStyle/>
          <a:p>
            <a:pPr>
              <a:defRPr sz="1050" b="1">
                <a:solidFill>
                  <a:srgbClr val="BE7A4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>
                <a:solidFill>
                  <a:srgbClr val="BE7A4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REPORTED CASE</a:t>
            </a:r>
            <a:endParaRPr sz="1050" b="1">
              <a:solidFill>
                <a:srgbClr val="BE7A4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case-copy"/>
          <p:cNvSpPr>
            <a:spLocks noGrp="1"/>
          </p:cNvSpPr>
          <p:nvPr/>
        </p:nvSpPr>
        <p:spPr>
          <a:xfrm>
            <a:off x="6791325" y="4400550"/>
            <a:ext cx="4400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2000"/>
              </a:lnSpc>
              <a:buNone/>
              <a:defRPr sz="1260">
                <a:solidFill>
                  <a:srgbClr val="1F2F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60">
                <a:solidFill>
                  <a:srgbClr val="1F2F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CBS: Claude was reportedly used during the Iran operation; the exact role was not publicly disclosed.</a:t>
            </a:r>
            <a:endParaRPr sz="1260">
              <a:solidFill>
                <a:srgbClr val="1F2F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lnSpc>
                <a:spcPct val="102000"/>
              </a:lnSpc>
              <a:buNone/>
              <a:defRPr sz="1260">
                <a:solidFill>
                  <a:srgbClr val="1F2F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60">
                <a:solidFill>
                  <a:srgbClr val="1F2F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Anthropic: Claude is described in intelligence analysis, simulation, operational planning, and cyber operations.</a:t>
            </a:r>
            <a:endParaRPr sz="1260">
              <a:solidFill>
                <a:srgbClr val="1F2F3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paper3-question"/>
          <p:cNvSpPr>
            <a:spLocks noGrp="1"/>
          </p:cNvSpPr>
          <p:nvPr/>
        </p:nvSpPr>
        <p:spPr>
          <a:xfrm>
            <a:off x="895350" y="5772150"/>
            <a:ext cx="10429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/>
          <a:lstStyle/>
          <a:p>
            <a:pPr>
              <a:defRPr sz="1725" i="1">
                <a:solidFill>
                  <a:srgbClr val="F3EBD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i="1">
                <a:solidFill>
                  <a:srgbClr val="F3EBD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Paper 3 asks whether AI role proximity changes decisional ownership and felt accountability before a high-risk action is taken.</a:t>
            </a:r>
            <a:endParaRPr sz="1725" i="1">
              <a:solidFill>
                <a:srgbClr val="F3EBD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source-note"/>
          <p:cNvSpPr>
            <a:spLocks noGrp="1"/>
          </p:cNvSpPr>
          <p:nvPr/>
        </p:nvSpPr>
        <p:spPr>
          <a:xfrm>
            <a:off x="895350" y="6381750"/>
            <a:ext cx="10191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/>
          <a:lstStyle/>
          <a:p>
            <a:pPr>
              <a:defRPr sz="865">
                <a:solidFill>
                  <a:srgbClr val="AAB2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865">
                <a:solidFill>
                  <a:srgbClr val="AAB2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Sources: CBS News; Anthropic public statements and DoD agreement. Image: user-provided Maven Smart System illustration; visual entry point only.</a:t>
            </a:r>
            <a:endParaRPr sz="865">
              <a:solidFill>
                <a:srgbClr val="AAB2B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footer-left"/>
          <p:cNvSpPr>
            <a:spLocks noGrp="1"/>
          </p:cNvSpPr>
          <p:nvPr/>
        </p:nvSpPr>
        <p:spPr>
          <a:xfrm>
            <a:off x="895350" y="6610350"/>
            <a:ext cx="1143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/>
          <a:lstStyle/>
          <a:p>
            <a:pPr>
              <a:defRPr sz="825" b="1">
                <a:solidFill>
                  <a:srgbClr val="91A0A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825" b="1">
                <a:solidFill>
                  <a:srgbClr val="91A0A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PAPER 3</a:t>
            </a:r>
            <a:endParaRPr sz="825" b="1">
              <a:solidFill>
                <a:srgbClr val="91A0A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footer-right"/>
          <p:cNvSpPr>
            <a:spLocks noGrp="1"/>
          </p:cNvSpPr>
          <p:nvPr/>
        </p:nvSpPr>
        <p:spPr>
          <a:xfrm>
            <a:off x="11258550" y="6610350"/>
            <a:ext cx="266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/>
          <a:lstStyle/>
          <a:p>
            <a:pPr algn="r">
              <a:defRPr sz="825">
                <a:solidFill>
                  <a:srgbClr val="91A0A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825">
                <a:solidFill>
                  <a:srgbClr val="91A0A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825">
              <a:solidFill>
                <a:srgbClr val="91A0A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直接连接符 1"/>
          <p:cNvSpPr>
            <a:spLocks noGrp="1"/>
          </p:cNvSpPr>
          <p:nvPr/>
        </p:nvSpPr>
        <p:spPr>
          <a:xfrm>
            <a:off x="552450" y="457200"/>
            <a:ext cx="0" cy="5943600"/>
          </a:xfrm>
          <a:prstGeom prst="line">
            <a:avLst/>
          </a:prstGeom>
          <a:ln w="9525">
            <a:solidFill>
              <a:srgbClr val="D8CCBB"/>
            </a:solidFill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914400" y="657225"/>
            <a:ext cx="171450" cy="171450"/>
          </a:xfrm>
          <a:prstGeom prst="ellipse">
            <a:avLst/>
          </a:prstGeom>
          <a:solidFill>
            <a:srgbClr val="B77845"/>
          </a:solidFill>
          <a:ln w="9525">
            <a:solidFill>
              <a:srgbClr val="B77845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219200" y="590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B778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 i="0">
                <a:solidFill>
                  <a:srgbClr val="B778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EXISTING WORK</a:t>
            </a:r>
            <a:endParaRPr sz="900" b="1" i="0">
              <a:solidFill>
                <a:srgbClr val="B7784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952500"/>
            <a:ext cx="971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255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Responsibility Depends on How AI Enters the Decision Process</a:t>
            </a:r>
            <a:endParaRPr sz="2550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14400" y="1466850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899"/>
          </a:bodyPr>
          <a:lstStyle/>
          <a:p>
            <a:pPr algn="l">
              <a:lnSpc>
                <a:spcPct val="105000"/>
              </a:lnSpc>
              <a:buNone/>
              <a:defRPr sz="1290" b="0" i="0">
                <a:solidFill>
                  <a:srgbClr val="6F665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90" b="0" i="0">
                <a:solidFill>
                  <a:srgbClr val="6F665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Three literatures motivate Paper 3: AI workflow design, delegation as responsibility management, and the gap between external accountability and felt accountability.</a:t>
            </a:r>
            <a:endParaRPr sz="1290" b="0" i="0">
              <a:solidFill>
                <a:srgbClr val="6F665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914400" y="2114550"/>
            <a:ext cx="3257550" cy="30289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D8CCB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2114550"/>
            <a:ext cx="3257550" cy="76200"/>
          </a:xfrm>
          <a:prstGeom prst="rect">
            <a:avLst/>
          </a:prstGeom>
          <a:solidFill>
            <a:srgbClr val="B77845"/>
          </a:solidFill>
          <a:ln w="0">
            <a:solidFill>
              <a:srgbClr val="B77845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123950" y="2381250"/>
            <a:ext cx="323850" cy="323850"/>
          </a:xfrm>
          <a:prstGeom prst="ellipse">
            <a:avLst/>
          </a:prstGeom>
          <a:solidFill>
            <a:srgbClr val="B77845"/>
          </a:solidFill>
          <a:ln w="9525">
            <a:solidFill>
              <a:srgbClr val="B77845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28725" y="2466975"/>
            <a:ext cx="114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365"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F5F0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 i="0">
                <a:solidFill>
                  <a:srgbClr val="F5F0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050" b="1" i="0">
              <a:solidFill>
                <a:srgbClr val="F5F0E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600200" y="2352675"/>
            <a:ext cx="2343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workflow position is a design variable</a:t>
            </a:r>
            <a:endParaRPr sz="1500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2990850"/>
            <a:ext cx="28003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3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3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does not merely improve or replace prediction. It can enter before, during, or after human judgment, changing roles, authority, and process control.</a:t>
            </a:r>
            <a:endParaRPr sz="1135" b="0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43000" y="3829050"/>
            <a:ext cx="2800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30" b="0" i="1">
                <a:solidFill>
                  <a:srgbClr val="6F665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30" b="0" i="1">
                <a:solidFill>
                  <a:srgbClr val="6F665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(Shrestha et al., 2019; Raisch &amp; Krakowski, 2021; Yin et al., 2025; Krakowski et al., 2026)</a:t>
            </a:r>
            <a:endParaRPr sz="930" b="0" i="1">
              <a:solidFill>
                <a:srgbClr val="6F665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123950" y="4362450"/>
            <a:ext cx="2838450" cy="552450"/>
          </a:xfrm>
          <a:prstGeom prst="roundRect">
            <a:avLst>
              <a:gd name="adj" fmla="val 10345"/>
            </a:avLst>
          </a:prstGeom>
          <a:solidFill>
            <a:srgbClr val="F3EBDD"/>
          </a:solidFill>
          <a:ln w="9525">
            <a:solidFill>
              <a:srgbClr val="E4D5C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295400" y="4476750"/>
            <a:ext cx="2495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892"/>
          </a:bodyPr>
          <a:lstStyle/>
          <a:p>
            <a:pPr algn="ctr">
              <a:lnSpc>
                <a:spcPct val="105000"/>
              </a:lnSpc>
              <a:buNone/>
              <a:defRPr sz="101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1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Paper 3 treats AI role position as responsibility architecture.</a:t>
            </a:r>
            <a:endParaRPr sz="1015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457700" y="2114550"/>
            <a:ext cx="3257550" cy="30289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D8CCB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457700" y="2114550"/>
            <a:ext cx="3257550" cy="76200"/>
          </a:xfrm>
          <a:prstGeom prst="rect">
            <a:avLst/>
          </a:prstGeom>
          <a:solidFill>
            <a:srgbClr val="818A68"/>
          </a:solidFill>
          <a:ln w="0">
            <a:solidFill>
              <a:srgbClr val="818A68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4667250" y="2381250"/>
            <a:ext cx="323850" cy="323850"/>
          </a:xfrm>
          <a:prstGeom prst="ellipse">
            <a:avLst/>
          </a:prstGeom>
          <a:solidFill>
            <a:srgbClr val="818A68"/>
          </a:solidFill>
          <a:ln w="9525">
            <a:solidFill>
              <a:srgbClr val="818A6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772025" y="2466975"/>
            <a:ext cx="114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365"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F5F0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 i="0">
                <a:solidFill>
                  <a:srgbClr val="F5F0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1050" b="1" i="0">
              <a:solidFill>
                <a:srgbClr val="F5F0E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143500" y="2352675"/>
            <a:ext cx="2343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Delegation can shift blame and moral cost</a:t>
            </a:r>
            <a:endParaRPr sz="1500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686300" y="2990850"/>
            <a:ext cx="28003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3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3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Delegating difficult choices can reduce personal responsibility and redistribute blame across users, systems, programmers, and machine intermediaries.</a:t>
            </a:r>
            <a:endParaRPr sz="1135" b="0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686300" y="3829050"/>
            <a:ext cx="2800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30" b="0" i="1">
                <a:solidFill>
                  <a:srgbClr val="6F665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30" b="0" i="1">
                <a:solidFill>
                  <a:srgbClr val="6F665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(Steffel et al., 2016; Kirchkamp &amp; Strobel, 2019; Chevrier &amp; Teixeira, 2024; Kobis et al., 2025)</a:t>
            </a:r>
            <a:endParaRPr sz="930" b="0" i="1">
              <a:solidFill>
                <a:srgbClr val="6F665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667250" y="4362450"/>
            <a:ext cx="2838450" cy="552450"/>
          </a:xfrm>
          <a:prstGeom prst="roundRect">
            <a:avLst>
              <a:gd name="adj" fmla="val 10345"/>
            </a:avLst>
          </a:prstGeom>
          <a:solidFill>
            <a:srgbClr val="F3EBDD"/>
          </a:solidFill>
          <a:ln w="9525">
            <a:solidFill>
              <a:srgbClr val="E4D5C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838700" y="4476750"/>
            <a:ext cx="2495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892"/>
          </a:bodyPr>
          <a:lstStyle/>
          <a:p>
            <a:pPr algn="ctr">
              <a:lnSpc>
                <a:spcPct val="105000"/>
              </a:lnSpc>
              <a:buNone/>
              <a:defRPr sz="101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1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question is when AI support weakens decision ownership before action.</a:t>
            </a:r>
            <a:endParaRPr sz="1015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001000" y="2114550"/>
            <a:ext cx="3257550" cy="30289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D8CCBB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001000" y="2114550"/>
            <a:ext cx="3257550" cy="76200"/>
          </a:xfrm>
          <a:prstGeom prst="rect">
            <a:avLst/>
          </a:prstGeom>
          <a:solidFill>
            <a:srgbClr val="23384A"/>
          </a:solidFill>
          <a:ln w="0">
            <a:solidFill>
              <a:srgbClr val="23384A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8210550" y="2381250"/>
            <a:ext cx="323850" cy="323850"/>
          </a:xfrm>
          <a:prstGeom prst="ellipse">
            <a:avLst/>
          </a:prstGeom>
          <a:solidFill>
            <a:srgbClr val="23384A"/>
          </a:solidFill>
          <a:ln w="9525">
            <a:solidFill>
              <a:srgbClr val="23384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315325" y="2466975"/>
            <a:ext cx="114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365"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F5F0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1" i="0">
                <a:solidFill>
                  <a:srgbClr val="F5F0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1050" b="1" i="0">
              <a:solidFill>
                <a:srgbClr val="F5F0E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686800" y="2352675"/>
            <a:ext cx="2343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50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Accountability design is not felt accountability</a:t>
            </a:r>
            <a:endParaRPr sz="1500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229600" y="2990850"/>
            <a:ext cx="28003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7000"/>
              </a:lnSpc>
              <a:buNone/>
              <a:defRPr sz="113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3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Disclosure, approval, audit trails, and justification requirements create external accountability, but they may not automatically make people feel responsible.</a:t>
            </a:r>
            <a:endParaRPr sz="1135" b="0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229600" y="3829050"/>
            <a:ext cx="2800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30" b="0" i="1">
                <a:solidFill>
                  <a:srgbClr val="6F665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30" b="0" i="1">
                <a:solidFill>
                  <a:srgbClr val="6F665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(Lerner &amp; Tetlock, 1999; Hall et al., 2017; Aleksovska et al., 2019)</a:t>
            </a:r>
            <a:endParaRPr sz="930" b="0" i="1">
              <a:solidFill>
                <a:srgbClr val="6F665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8210550" y="4362450"/>
            <a:ext cx="2838450" cy="552450"/>
          </a:xfrm>
          <a:prstGeom prst="roundRect">
            <a:avLst>
              <a:gd name="adj" fmla="val 10345"/>
            </a:avLst>
          </a:prstGeom>
          <a:solidFill>
            <a:srgbClr val="F3EBDD"/>
          </a:solidFill>
          <a:ln w="9525">
            <a:solidFill>
              <a:srgbClr val="E4D5C2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382000" y="4476750"/>
            <a:ext cx="2495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892"/>
          </a:bodyPr>
          <a:lstStyle/>
          <a:p>
            <a:pPr algn="ctr">
              <a:lnSpc>
                <a:spcPct val="105000"/>
              </a:lnSpc>
              <a:buNone/>
              <a:defRPr sz="101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1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experiment asks whether justification re-anchors responsibility to the human.</a:t>
            </a:r>
            <a:endParaRPr sz="1015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914400" y="5467350"/>
            <a:ext cx="10325100" cy="704850"/>
          </a:xfrm>
          <a:prstGeom prst="roundRect">
            <a:avLst>
              <a:gd name="adj" fmla="val 16216"/>
            </a:avLst>
          </a:prstGeom>
          <a:solidFill>
            <a:srgbClr val="23384A"/>
          </a:solidFill>
          <a:ln w="9525">
            <a:solidFill>
              <a:srgbClr val="23384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219200" y="56388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896"/>
          </a:bodyPr>
          <a:lstStyle/>
          <a:p>
            <a:pPr algn="l">
              <a:lnSpc>
                <a:spcPct val="105000"/>
              </a:lnSpc>
              <a:buNone/>
              <a:defRPr sz="1425" b="1" i="0">
                <a:solidFill>
                  <a:srgbClr val="E7D4C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1" i="0">
                <a:solidFill>
                  <a:srgbClr val="E7D4C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Paper 3's move</a:t>
            </a:r>
            <a:endParaRPr sz="1425" b="1" i="0">
              <a:solidFill>
                <a:srgbClr val="E7D4C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429000" y="561975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4249"/>
          </a:bodyPr>
          <a:lstStyle/>
          <a:p>
            <a:pPr algn="ctr">
              <a:lnSpc>
                <a:spcPct val="106000"/>
              </a:lnSpc>
              <a:buNone/>
              <a:defRPr sz="1350" b="1" i="0">
                <a:solidFill>
                  <a:srgbClr val="F5F0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 i="0">
                <a:solidFill>
                  <a:srgbClr val="F5F0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role proximity + justification requirement -&gt; decisional ownership, felt accountability, responsibility sharing, and escalatory choice.</a:t>
            </a:r>
            <a:endParaRPr sz="1350" b="1" i="0">
              <a:solidFill>
                <a:srgbClr val="F5F0E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967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B778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 i="0">
                <a:solidFill>
                  <a:srgbClr val="B77845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TRADITIONAL THEORIES</a:t>
            </a:r>
            <a:endParaRPr sz="900" b="1" i="0">
              <a:solidFill>
                <a:srgbClr val="B77845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677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55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 i="0">
                <a:solidFill>
                  <a:srgbClr val="231D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Traditional theories usually treat responsibility cost as given</a:t>
            </a:r>
            <a:endParaRPr sz="2550" b="1" i="0">
              <a:solidFill>
                <a:srgbClr val="231D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970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400" y="1752600"/>
            <a:ext cx="4857750" cy="2171700"/>
          </a:xfrm>
          <a:prstGeom prst="roundRect">
            <a:avLst>
              <a:gd name="adj" fmla="val 5263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99515" y="184531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75" b="1">
                <a:solidFill>
                  <a:srgbClr val="23364A"/>
                </a:solidFill>
              </a:defRPr>
            </a:pPr>
            <a:r>
              <a:rPr sz="1875" b="1">
                <a:solidFill>
                  <a:srgbClr val="23364A"/>
                </a:solidFill>
                <a:latin typeface="Times New Roman" panose="02020603050405020304" charset="0"/>
                <a:cs typeface="Times New Roman" panose="02020603050405020304" charset="0"/>
              </a:rPr>
              <a:t>Rationalist conflict theories</a:t>
            </a:r>
            <a:endParaRPr sz="1875" b="1">
              <a:solidFill>
                <a:srgbClr val="23364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162050" y="2400300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  <a:latin typeface="Times New Roman" panose="02020603050405020304" charset="0"/>
                <a:cs typeface="Times New Roman" panose="02020603050405020304" charset="0"/>
              </a:rPr>
              <a:t>• Conflict escalates because of bargaining failure, information asymmetry, or commitment problems.</a:t>
            </a:r>
            <a:endParaRPr sz="1425">
              <a:solidFill>
                <a:srgbClr val="1C243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None/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  <a:latin typeface="Times New Roman" panose="02020603050405020304" charset="0"/>
                <a:cs typeface="Times New Roman" panose="02020603050405020304" charset="0"/>
              </a:rPr>
              <a:t>• The decision maker is still assumed to bear the consequences of the choice.</a:t>
            </a:r>
            <a:endParaRPr sz="1425">
              <a:solidFill>
                <a:srgbClr val="1C243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162050" y="34290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  <a:latin typeface="Times New Roman" panose="02020603050405020304" charset="0"/>
                <a:cs typeface="Times New Roman" panose="02020603050405020304" charset="0"/>
              </a:rPr>
              <a:t>Fearon (1995); Powell (2006)</a:t>
            </a:r>
            <a:endParaRPr sz="1125" i="1">
              <a:solidFill>
                <a:srgbClr val="5F687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400800" y="1752600"/>
            <a:ext cx="4857750" cy="2171700"/>
          </a:xfrm>
          <a:prstGeom prst="roundRect">
            <a:avLst>
              <a:gd name="adj" fmla="val 5263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648450" y="20002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75" b="1">
                <a:solidFill>
                  <a:srgbClr val="23364A"/>
                </a:solidFill>
              </a:defRPr>
            </a:pPr>
            <a:r>
              <a:rPr sz="1875" b="1">
                <a:solidFill>
                  <a:srgbClr val="23364A"/>
                </a:solidFill>
                <a:latin typeface="Times New Roman" panose="02020603050405020304" charset="0"/>
                <a:cs typeface="Times New Roman" panose="02020603050405020304" charset="0"/>
              </a:rPr>
              <a:t>Behavioral risk theories</a:t>
            </a:r>
            <a:endParaRPr sz="1875" b="1">
              <a:solidFill>
                <a:srgbClr val="23364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648450" y="2400300"/>
            <a:ext cx="409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  <a:latin typeface="Times New Roman" panose="02020603050405020304" charset="0"/>
                <a:cs typeface="Times New Roman" panose="02020603050405020304" charset="0"/>
              </a:rPr>
              <a:t>• Loss aversion, framing, and affect can change whether people escalate or restrain.</a:t>
            </a:r>
            <a:endParaRPr sz="1425">
              <a:solidFill>
                <a:srgbClr val="1C243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None/>
              <a:defRPr sz="1425">
                <a:solidFill>
                  <a:srgbClr val="1C2430"/>
                </a:solidFill>
              </a:defRPr>
            </a:pPr>
            <a:r>
              <a:rPr sz="1425">
                <a:solidFill>
                  <a:srgbClr val="1C2430"/>
                </a:solidFill>
                <a:latin typeface="Times New Roman" panose="02020603050405020304" charset="0"/>
                <a:cs typeface="Times New Roman" panose="02020603050405020304" charset="0"/>
              </a:rPr>
              <a:t>• But responsibility structure itself is rarely modeled as the variable that shifts choice.</a:t>
            </a:r>
            <a:endParaRPr sz="1425">
              <a:solidFill>
                <a:srgbClr val="1C243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648450" y="34290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i="1">
                <a:solidFill>
                  <a:srgbClr val="5F6875"/>
                </a:solidFill>
              </a:defRPr>
            </a:pPr>
            <a:r>
              <a:rPr sz="1125" i="1">
                <a:solidFill>
                  <a:srgbClr val="5F6875"/>
                </a:solidFill>
                <a:latin typeface="Times New Roman" panose="02020603050405020304" charset="0"/>
                <a:cs typeface="Times New Roman" panose="02020603050405020304" charset="0"/>
              </a:rPr>
              <a:t>Kahneman &amp; Tversky (1979); Loewenstein et al. (2001)</a:t>
            </a:r>
            <a:endParaRPr sz="1125" i="1">
              <a:solidFill>
                <a:srgbClr val="5F687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733550" y="4476750"/>
            <a:ext cx="8724900" cy="1181100"/>
          </a:xfrm>
          <a:prstGeom prst="roundRect">
            <a:avLst>
              <a:gd name="adj" fmla="val 12903"/>
            </a:avLst>
          </a:prstGeom>
          <a:solidFill>
            <a:srgbClr val="23364A"/>
          </a:solidFill>
          <a:ln w="0">
            <a:solidFill>
              <a:srgbClr val="23364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171700" y="4781550"/>
            <a:ext cx="7810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i="0">
                <a:solidFill>
                  <a:schemeClr val="bg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The missing variable is not only belief or payoff perception, but the structure of accountability itself.</a:t>
            </a:r>
            <a:endParaRPr sz="1425" i="0">
              <a:solidFill>
                <a:schemeClr val="bg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38150" y="6885305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  <a:latin typeface="Times New Roman" panose="02020603050405020304" charset="0"/>
                <a:cs typeface="Times New Roman" panose="02020603050405020304" charset="0"/>
              </a:rPr>
              <a:t>PAPER 3</a:t>
            </a:r>
            <a:endParaRPr sz="900" b="1">
              <a:solidFill>
                <a:srgbClr val="5F687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  <a:endParaRPr sz="900">
              <a:solidFill>
                <a:srgbClr val="5F687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967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B778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 i="0">
                <a:solidFill>
                  <a:srgbClr val="B778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RESEARCH GAP</a:t>
            </a:r>
            <a:endParaRPr sz="900" b="1" i="0">
              <a:solidFill>
                <a:srgbClr val="B7784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677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119"/>
          </a:bodyPr>
          <a:lstStyle/>
          <a:p>
            <a:pPr algn="l">
              <a:lnSpc>
                <a:spcPct val="98000"/>
              </a:lnSpc>
              <a:buNone/>
              <a:defRPr sz="255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What is still missing: responsibility design inside AI-supported decisions</a:t>
            </a:r>
            <a:endParaRPr sz="2550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970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pic>
        <p:nvPicPr>
          <p:cNvPr id="13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787" y="1257300"/>
            <a:ext cx="10535376" cy="476250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819150" y="6076950"/>
            <a:ext cx="895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0"/>
          </a:bodyPr>
          <a:lstStyle/>
          <a:p>
            <a:pPr algn="l">
              <a:lnSpc>
                <a:spcPct val="105000"/>
              </a:lnSpc>
              <a:buNone/>
              <a:defRPr sz="112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gap is not simply whether AI affects responsibility. It is how visibility, traceability, attribution, and evaluability shape felt accountability before action.</a:t>
            </a:r>
            <a:endParaRPr sz="1125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  <a:endParaRPr sz="900" b="1">
              <a:solidFill>
                <a:srgbClr val="5F687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5</a:t>
            </a:r>
            <a:endParaRPr sz="900">
              <a:solidFill>
                <a:srgbClr val="5F687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967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B778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 i="0">
                <a:solidFill>
                  <a:srgbClr val="B778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RESEARCH QUESTIONS</a:t>
            </a:r>
            <a:endParaRPr sz="900" b="1" i="0">
              <a:solidFill>
                <a:srgbClr val="B7784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677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533"/>
          </a:bodyPr>
          <a:lstStyle/>
          <a:p>
            <a:pPr algn="l">
              <a:lnSpc>
                <a:spcPct val="98000"/>
              </a:lnSpc>
              <a:buNone/>
              <a:defRPr sz="255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paper asks how AI intervention and accountability design reshape high-risk choice</a:t>
            </a:r>
            <a:endParaRPr sz="2550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970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38200" y="1638300"/>
            <a:ext cx="3009900" cy="3219450"/>
          </a:xfrm>
          <a:prstGeom prst="roundRect">
            <a:avLst>
              <a:gd name="adj" fmla="val 3797"/>
            </a:avLst>
          </a:prstGeom>
          <a:solidFill>
            <a:srgbClr val="23364A"/>
          </a:solidFill>
          <a:ln w="0">
            <a:solidFill>
              <a:srgbClr val="23364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04900" y="2000250"/>
            <a:ext cx="24384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F5F0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1800" b="1" i="0">
                <a:solidFill>
                  <a:srgbClr val="F5F0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Overall Research Question</a:t>
            </a:r>
            <a:endParaRPr lang="en-US" altLang="zh-CN" sz="1800" b="1" i="0">
              <a:solidFill>
                <a:srgbClr val="F5F0E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" y="2929255"/>
            <a:ext cx="2286000" cy="13760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000"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E7D4C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altLang="zh-CN" sz="1350" b="0" i="0">
                <a:solidFill>
                  <a:srgbClr val="E7D4C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How do accountability interventions in AI-supported high-risk strategic decision systems reshape felt accountability, decisional ownership, responsibility attribution, and escalatory choice?</a:t>
            </a:r>
            <a:endParaRPr lang="en-US" altLang="zh-CN" sz="1350" b="0" i="0">
              <a:solidFill>
                <a:srgbClr val="E7D4C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229100" y="1619250"/>
            <a:ext cx="7010400" cy="742950"/>
          </a:xfrm>
          <a:prstGeom prst="roundRect">
            <a:avLst>
              <a:gd name="adj" fmla="val 15385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495800" y="1790700"/>
            <a:ext cx="647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RQ1. Does AI decision support itself change high-risk strategic choice?</a:t>
            </a:r>
            <a:endParaRPr sz="1275" b="0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229100" y="2552700"/>
            <a:ext cx="7010400" cy="742950"/>
          </a:xfrm>
          <a:prstGeom prst="roundRect">
            <a:avLst>
              <a:gd name="adj" fmla="val 15385"/>
            </a:avLst>
          </a:prstGeom>
          <a:solidFill>
            <a:srgbClr val="EFE7DD"/>
          </a:solidFill>
          <a:ln w="9525">
            <a:solidFill>
              <a:srgbClr val="B7ADA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95800" y="2724150"/>
            <a:ext cx="647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RQ2.</a:t>
            </a:r>
            <a:r>
              <a:rPr lang="en-US" altLang="zh-CN"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Does process confirmation increase ownership and felt accountability?</a:t>
            </a:r>
            <a:endParaRPr lang="en-US" altLang="zh-CN" sz="1275" b="0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229100" y="3486150"/>
            <a:ext cx="7010400" cy="742950"/>
          </a:xfrm>
          <a:prstGeom prst="roundRect">
            <a:avLst>
              <a:gd name="adj" fmla="val 15385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495800" y="3657600"/>
            <a:ext cx="647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RQ3. Can external accountability requirements increase felt accountability and decisional ownership?</a:t>
            </a:r>
            <a:endParaRPr sz="1275" b="0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229100" y="4419600"/>
            <a:ext cx="7010400" cy="742950"/>
          </a:xfrm>
          <a:prstGeom prst="roundRect">
            <a:avLst>
              <a:gd name="adj" fmla="val 15385"/>
            </a:avLst>
          </a:prstGeom>
          <a:solidFill>
            <a:srgbClr val="EFE7DD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495800" y="4591050"/>
            <a:ext cx="647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RQ4. </a:t>
            </a:r>
            <a:r>
              <a:rPr lang="en-US" altLang="zh-CN"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 different accountability designs lead to different patterns of escalation behavior?</a:t>
            </a:r>
            <a:endParaRPr lang="en-US" altLang="zh-CN" sz="1275" b="0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248150" y="5543550"/>
            <a:ext cx="666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542"/>
          </a:bodyPr>
          <a:lstStyle/>
          <a:p>
            <a:pPr algn="l">
              <a:lnSpc>
                <a:spcPct val="105000"/>
              </a:lnSpc>
              <a:buNone/>
              <a:defRPr sz="142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question is not who gets blamed after failure. It is how responsibility design changes choices before the outcome is known.</a:t>
            </a:r>
            <a:endParaRPr sz="1425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  <a:endParaRPr sz="900" b="1">
              <a:solidFill>
                <a:srgbClr val="5F687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6</a:t>
            </a:r>
            <a:endParaRPr sz="900">
              <a:solidFill>
                <a:srgbClr val="5F687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967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B778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 i="0">
                <a:solidFill>
                  <a:srgbClr val="B778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FRAMING</a:t>
            </a:r>
            <a:endParaRPr sz="900" b="1" i="0">
              <a:solidFill>
                <a:srgbClr val="B7784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677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55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From AI presence to accountability architecture</a:t>
            </a:r>
            <a:endParaRPr sz="2550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970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76300" y="1733550"/>
            <a:ext cx="4572000" cy="3448050"/>
          </a:xfrm>
          <a:prstGeom prst="roundRect">
            <a:avLst>
              <a:gd name="adj" fmla="val 3315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23950" y="19812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365"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B778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B778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Broader theory: AI role proximity</a:t>
            </a:r>
            <a:endParaRPr sz="1800" b="1" i="0">
              <a:solidFill>
                <a:srgbClr val="B7784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2400300"/>
            <a:ext cx="3790950" cy="145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AI as analyst: informs the situation.</a:t>
            </a:r>
            <a:endParaRPr sz="1275" b="0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AI as recommender: points toward an action.</a:t>
            </a:r>
            <a:endParaRPr sz="1275" b="0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AI as delegated actor: stands closer to the final choice.</a:t>
            </a:r>
            <a:endParaRPr sz="1275" b="0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Greater proximity may dilute ownership and invite responsibility sharing.</a:t>
            </a:r>
            <a:endParaRPr sz="1275" b="0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430530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4697"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theory explains why AI's position in the decision process can change felt ownership.</a:t>
            </a:r>
            <a:endParaRPr sz="1275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438900" y="1733550"/>
            <a:ext cx="4857750" cy="3448050"/>
          </a:xfrm>
          <a:prstGeom prst="roundRect">
            <a:avLst>
              <a:gd name="adj" fmla="val 3315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686550" y="19812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3373"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818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 i="0">
                <a:solidFill>
                  <a:srgbClr val="818A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Current experiment: accountability design</a:t>
            </a:r>
            <a:endParaRPr sz="1800" b="1" i="0">
              <a:solidFill>
                <a:srgbClr val="818A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86550" y="2400300"/>
            <a:ext cx="4000500" cy="14852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Human-only: no AI support.</a:t>
            </a:r>
            <a:endParaRPr sz="1275" b="0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AI-baseline: AI analysis enters the process.</a:t>
            </a:r>
            <a:endParaRPr sz="1275" b="0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AI-confirm: the human must explicitly confirm before acting.</a:t>
            </a:r>
            <a:endParaRPr sz="1275" b="0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05000"/>
              </a:lnSpc>
              <a:buNone/>
              <a:def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0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AI-disclosure: AI use becomes visible and traceable.</a:t>
            </a:r>
            <a:endParaRPr sz="1275" b="0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86550" y="4305300"/>
            <a:ext cx="3867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experiment tests confirmation and disclosure as accountability interventions inside AI-supported choice.</a:t>
            </a:r>
            <a:endParaRPr sz="1275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038350" y="5505450"/>
            <a:ext cx="8039100" cy="647700"/>
          </a:xfrm>
          <a:prstGeom prst="roundRect">
            <a:avLst>
              <a:gd name="adj" fmla="val 23529"/>
            </a:avLst>
          </a:prstGeom>
          <a:solidFill>
            <a:srgbClr val="23364A"/>
          </a:solidFill>
          <a:ln w="0">
            <a:solidFill>
              <a:srgbClr val="23364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362200" y="5657850"/>
            <a:ext cx="7391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365"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F5F0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 i="0">
                <a:solidFill>
                  <a:srgbClr val="F5F0E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current test does not exhaust every possible AI role. It operationalizes responsibility design through confirmation and disclosure.</a:t>
            </a:r>
            <a:endParaRPr sz="1500" b="1" i="0">
              <a:solidFill>
                <a:srgbClr val="F5F0E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  <a:endParaRPr sz="900" b="1">
              <a:solidFill>
                <a:srgbClr val="5F687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7</a:t>
            </a:r>
            <a:endParaRPr sz="900">
              <a:solidFill>
                <a:srgbClr val="5F687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967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B778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 i="0">
                <a:solidFill>
                  <a:srgbClr val="B778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EXPERIMENTAL PROTOTYPE</a:t>
            </a:r>
            <a:endParaRPr sz="900" b="1" i="0">
              <a:solidFill>
                <a:srgbClr val="B7784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677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55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Why a repeated Hawk-Dove </a:t>
            </a:r>
            <a:r>
              <a:rPr lang="en-US" sz="255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game </a:t>
            </a:r>
            <a:r>
              <a:rPr sz="255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is the right prototype</a:t>
            </a:r>
            <a:endParaRPr sz="2550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970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38200" y="1581150"/>
            <a:ext cx="3543300" cy="3924300"/>
          </a:xfrm>
          <a:prstGeom prst="roundRect">
            <a:avLst>
              <a:gd name="adj" fmla="val 3226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85850" y="18288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</a:rPr>
              <a:t>Why this prototype</a:t>
            </a:r>
            <a:endParaRPr sz="1800" b="1">
              <a:solidFill>
                <a:srgbClr val="2336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5850" y="2247900"/>
            <a:ext cx="29337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Escalation can deliver a unilateral gain.</a:t>
            </a:r>
            <a:endParaRPr sz="1350">
              <a:solidFill>
                <a:srgbClr val="1C2430"/>
              </a:solidFill>
            </a:endParaRPr>
          </a:p>
          <a:p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Mutual escalation generates shared loss.</a:t>
            </a:r>
            <a:endParaRPr sz="1350">
              <a:solidFill>
                <a:srgbClr val="1C2430"/>
              </a:solidFill>
            </a:endParaRPr>
          </a:p>
          <a:p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The choice is both risky and consequential for another party.</a:t>
            </a:r>
            <a:endParaRPr sz="1350">
              <a:solidFill>
                <a:srgbClr val="1C2430"/>
              </a:solidFill>
            </a:endParaRPr>
          </a:p>
          <a:p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</a:rPr>
              <a:t>• That makes responsibility structure behaviorally meaningful.</a:t>
            </a:r>
            <a:endParaRPr sz="1350">
              <a:solidFill>
                <a:srgbClr val="1C243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85850" y="40957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i="1">
                <a:solidFill>
                  <a:srgbClr val="5F6875"/>
                </a:solidFill>
              </a:defRPr>
            </a:pPr>
            <a:r>
              <a:rPr sz="1200" i="1">
                <a:solidFill>
                  <a:srgbClr val="5F6875"/>
                </a:solidFill>
              </a:rPr>
              <a:t>Illustrative payoff logic</a:t>
            </a:r>
            <a:endParaRPr sz="1200" i="1">
              <a:solidFill>
                <a:srgbClr val="5F6875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000250" y="4381500"/>
            <a:ext cx="838200" cy="400050"/>
          </a:xfrm>
          <a:prstGeom prst="roundRect">
            <a:avLst>
              <a:gd name="adj" fmla="val 4762"/>
            </a:avLst>
          </a:prstGeom>
          <a:solidFill>
            <a:srgbClr val="23364A"/>
          </a:solidFill>
          <a:ln w="0">
            <a:solidFill>
              <a:srgbClr val="23364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2838450" y="4381500"/>
            <a:ext cx="838200" cy="400050"/>
          </a:xfrm>
          <a:prstGeom prst="roundRect">
            <a:avLst>
              <a:gd name="adj" fmla="val 4762"/>
            </a:avLst>
          </a:prstGeom>
          <a:solidFill>
            <a:srgbClr val="23364A"/>
          </a:solidFill>
          <a:ln w="0">
            <a:solidFill>
              <a:srgbClr val="23364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152650" y="4476750"/>
            <a:ext cx="53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990850" y="4476750"/>
            <a:ext cx="53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87170" y="48387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3364A"/>
                </a:solidFill>
              </a:defRPr>
            </a:pPr>
            <a:r>
              <a:rPr sz="1350" b="1">
                <a:solidFill>
                  <a:srgbClr val="23364A"/>
                </a:solidFill>
              </a:rPr>
              <a:t>R</a:t>
            </a:r>
            <a:endParaRPr sz="1350" b="1">
              <a:solidFill>
                <a:srgbClr val="23364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487170" y="5334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3364A"/>
                </a:solidFill>
              </a:defRPr>
            </a:pPr>
            <a:r>
              <a:rPr sz="1350" b="1">
                <a:solidFill>
                  <a:srgbClr val="23364A"/>
                </a:solidFill>
              </a:rPr>
              <a:t>E</a:t>
            </a:r>
            <a:endParaRPr sz="1350" b="1">
              <a:solidFill>
                <a:srgbClr val="23364A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2000250" y="4838700"/>
            <a:ext cx="838200" cy="400050"/>
          </a:xfrm>
          <a:prstGeom prst="roundRect">
            <a:avLst>
              <a:gd name="adj" fmla="val 4762"/>
            </a:avLst>
          </a:prstGeom>
          <a:solidFill>
            <a:srgbClr val="F4EFE6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095500" y="4933950"/>
            <a:ext cx="647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>
                <a:solidFill>
                  <a:srgbClr val="1C2430"/>
                </a:solidFill>
              </a:defRPr>
            </a:pPr>
            <a:r>
              <a:rPr sz="1200">
                <a:solidFill>
                  <a:srgbClr val="1C2430"/>
                </a:solidFill>
              </a:rPr>
              <a:t>50, 50</a:t>
            </a:r>
            <a:endParaRPr sz="1200">
              <a:solidFill>
                <a:srgbClr val="1C2430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838450" y="4838700"/>
            <a:ext cx="838200" cy="400050"/>
          </a:xfrm>
          <a:prstGeom prst="roundRect">
            <a:avLst>
              <a:gd name="adj" fmla="val 4762"/>
            </a:avLst>
          </a:prstGeom>
          <a:solidFill>
            <a:srgbClr val="F4EFE6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933700" y="4933950"/>
            <a:ext cx="647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>
                <a:solidFill>
                  <a:srgbClr val="1C2430"/>
                </a:solidFill>
              </a:defRPr>
            </a:pPr>
            <a:r>
              <a:rPr sz="1200">
                <a:solidFill>
                  <a:srgbClr val="1C2430"/>
                </a:solidFill>
              </a:rPr>
              <a:t>20, 80</a:t>
            </a:r>
            <a:endParaRPr sz="1200">
              <a:solidFill>
                <a:srgbClr val="1C2430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2000250" y="5295900"/>
            <a:ext cx="838200" cy="400050"/>
          </a:xfrm>
          <a:prstGeom prst="roundRect">
            <a:avLst>
              <a:gd name="adj" fmla="val 4762"/>
            </a:avLst>
          </a:prstGeom>
          <a:solidFill>
            <a:srgbClr val="F4EFE6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095500" y="5391150"/>
            <a:ext cx="647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>
                <a:solidFill>
                  <a:srgbClr val="1C2430"/>
                </a:solidFill>
              </a:defRPr>
            </a:pPr>
            <a:r>
              <a:rPr sz="1200">
                <a:solidFill>
                  <a:srgbClr val="1C2430"/>
                </a:solidFill>
              </a:rPr>
              <a:t>80, 20</a:t>
            </a:r>
            <a:endParaRPr sz="1200">
              <a:solidFill>
                <a:srgbClr val="1C2430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2838450" y="5295900"/>
            <a:ext cx="838200" cy="400050"/>
          </a:xfrm>
          <a:prstGeom prst="roundRect">
            <a:avLst>
              <a:gd name="adj" fmla="val 4762"/>
            </a:avLst>
          </a:prstGeom>
          <a:solidFill>
            <a:srgbClr val="F4EFE6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933700" y="5391150"/>
            <a:ext cx="647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>
                <a:solidFill>
                  <a:srgbClr val="1C2430"/>
                </a:solidFill>
              </a:defRPr>
            </a:pPr>
            <a:r>
              <a:rPr sz="1200">
                <a:solidFill>
                  <a:srgbClr val="1C2430"/>
                </a:solidFill>
              </a:rPr>
              <a:t>10, 10</a:t>
            </a:r>
            <a:endParaRPr sz="1200">
              <a:solidFill>
                <a:srgbClr val="1C2430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819650" y="165735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23364A"/>
                </a:solidFill>
              </a:defRPr>
            </a:pPr>
            <a:r>
              <a:rPr sz="1650" b="1">
                <a:solidFill>
                  <a:srgbClr val="23364A"/>
                </a:solidFill>
              </a:rPr>
              <a:t>Condition logic</a:t>
            </a:r>
            <a:endParaRPr sz="1650" b="1">
              <a:solidFill>
                <a:srgbClr val="23364A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800600" y="2038350"/>
            <a:ext cx="1485900" cy="514350"/>
          </a:xfrm>
          <a:prstGeom prst="roundRect">
            <a:avLst>
              <a:gd name="adj" fmla="val 14815"/>
            </a:avLst>
          </a:prstGeom>
          <a:solidFill>
            <a:srgbClr val="23364A"/>
          </a:solidFill>
          <a:ln w="0">
            <a:solidFill>
              <a:srgbClr val="23364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800600" y="22098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Human-only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419850" y="2038350"/>
            <a:ext cx="1485900" cy="514350"/>
          </a:xfrm>
          <a:prstGeom prst="roundRect">
            <a:avLst>
              <a:gd name="adj" fmla="val 14815"/>
            </a:avLst>
          </a:prstGeom>
          <a:solidFill>
            <a:srgbClr val="A66A4D"/>
          </a:solidFill>
          <a:ln w="0">
            <a:solidFill>
              <a:srgbClr val="A66A4D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419850" y="22098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AI-baseline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8039100" y="2038350"/>
            <a:ext cx="1485900" cy="514350"/>
          </a:xfrm>
          <a:prstGeom prst="roundRect">
            <a:avLst>
              <a:gd name="adj" fmla="val 14815"/>
            </a:avLst>
          </a:prstGeom>
          <a:solidFill>
            <a:srgbClr val="6F7C60"/>
          </a:solidFill>
          <a:ln w="0">
            <a:solidFill>
              <a:srgbClr val="6F7C6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039100" y="22098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AI-confirm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9658350" y="2038350"/>
            <a:ext cx="1485900" cy="514350"/>
          </a:xfrm>
          <a:prstGeom prst="roundRect">
            <a:avLst>
              <a:gd name="adj" fmla="val 14815"/>
            </a:avLst>
          </a:prstGeom>
          <a:solidFill>
            <a:srgbClr val="9B5D58"/>
          </a:solidFill>
          <a:ln w="0">
            <a:solidFill>
              <a:srgbClr val="9B5D5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658350" y="22098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AI-disclosure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819650" y="3048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23364A"/>
                </a:solidFill>
              </a:defRPr>
            </a:pPr>
            <a:r>
              <a:rPr sz="1650" b="1">
                <a:solidFill>
                  <a:srgbClr val="23364A"/>
                </a:solidFill>
              </a:rPr>
              <a:t>One participant, one round</a:t>
            </a:r>
            <a:endParaRPr sz="1650" b="1">
              <a:solidFill>
                <a:srgbClr val="23364A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4800600" y="3429000"/>
            <a:ext cx="1162050" cy="1123950"/>
          </a:xfrm>
          <a:prstGeom prst="roundRect">
            <a:avLst>
              <a:gd name="adj" fmla="val 6780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914900" y="3714750"/>
            <a:ext cx="933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>
                <a:solidFill>
                  <a:srgbClr val="1C2430"/>
                </a:solidFill>
              </a:defRPr>
            </a:pPr>
            <a:r>
              <a:rPr sz="1275">
                <a:solidFill>
                  <a:srgbClr val="1C2430"/>
                </a:solidFill>
              </a:rPr>
              <a:t>See payoff matrix</a:t>
            </a:r>
            <a:endParaRPr sz="1275">
              <a:solidFill>
                <a:srgbClr val="1C2430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943600" y="3867150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5F6875"/>
                </a:solidFill>
              </a:defRPr>
            </a:pPr>
            <a:r>
              <a:rPr sz="1650" b="1">
                <a:solidFill>
                  <a:srgbClr val="5F6875"/>
                </a:solidFill>
              </a:rPr>
              <a:t>→</a:t>
            </a:r>
            <a:endParaRPr sz="1650" b="1">
              <a:solidFill>
                <a:srgbClr val="5F6875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096000" y="3429000"/>
            <a:ext cx="1162050" cy="1123950"/>
          </a:xfrm>
          <a:prstGeom prst="roundRect">
            <a:avLst>
              <a:gd name="adj" fmla="val 6780"/>
            </a:avLst>
          </a:prstGeom>
          <a:solidFill>
            <a:srgbClr val="EFE7DD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210300" y="3714750"/>
            <a:ext cx="933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>
                <a:solidFill>
                  <a:srgbClr val="1C2430"/>
                </a:solidFill>
              </a:defRPr>
            </a:pPr>
            <a:r>
              <a:rPr sz="1275">
                <a:solidFill>
                  <a:srgbClr val="1C2430"/>
                </a:solidFill>
              </a:rPr>
              <a:t>See AI analysis if assigned</a:t>
            </a:r>
            <a:endParaRPr sz="1275">
              <a:solidFill>
                <a:srgbClr val="1C2430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239000" y="3867150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5F6875"/>
                </a:solidFill>
              </a:defRPr>
            </a:pPr>
            <a:r>
              <a:rPr sz="1650" b="1">
                <a:solidFill>
                  <a:srgbClr val="5F6875"/>
                </a:solidFill>
              </a:rPr>
              <a:t>→</a:t>
            </a:r>
            <a:endParaRPr sz="1650" b="1">
              <a:solidFill>
                <a:srgbClr val="5F6875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7391400" y="3429000"/>
            <a:ext cx="1162050" cy="1123950"/>
          </a:xfrm>
          <a:prstGeom prst="roundRect">
            <a:avLst>
              <a:gd name="adj" fmla="val 6780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505700" y="3714750"/>
            <a:ext cx="933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>
                <a:solidFill>
                  <a:srgbClr val="1C2430"/>
                </a:solidFill>
              </a:defRPr>
            </a:pPr>
            <a:r>
              <a:rPr sz="1275">
                <a:solidFill>
                  <a:srgbClr val="1C2430"/>
                </a:solidFill>
              </a:rPr>
              <a:t>Confirm or disclose if assigned</a:t>
            </a:r>
            <a:endParaRPr sz="1275">
              <a:solidFill>
                <a:srgbClr val="1C2430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534400" y="3867150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5F6875"/>
                </a:solidFill>
              </a:defRPr>
            </a:pPr>
            <a:r>
              <a:rPr sz="1650" b="1">
                <a:solidFill>
                  <a:srgbClr val="5F6875"/>
                </a:solidFill>
              </a:rPr>
              <a:t>→</a:t>
            </a:r>
            <a:endParaRPr sz="1650" b="1">
              <a:solidFill>
                <a:srgbClr val="5F6875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8686800" y="3429000"/>
            <a:ext cx="1162050" cy="1123950"/>
          </a:xfrm>
          <a:prstGeom prst="roundRect">
            <a:avLst>
              <a:gd name="adj" fmla="val 6780"/>
            </a:avLst>
          </a:prstGeom>
          <a:solidFill>
            <a:srgbClr val="EFE7DD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801100" y="3714750"/>
            <a:ext cx="933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>
                <a:solidFill>
                  <a:srgbClr val="1C2430"/>
                </a:solidFill>
              </a:defRPr>
            </a:pPr>
            <a:r>
              <a:rPr sz="1275">
                <a:solidFill>
                  <a:srgbClr val="1C2430"/>
                </a:solidFill>
              </a:rPr>
              <a:t>Choose escalate or restrain</a:t>
            </a:r>
            <a:endParaRPr sz="1275">
              <a:solidFill>
                <a:srgbClr val="1C2430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829800" y="3867150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5F6875"/>
                </a:solidFill>
              </a:defRPr>
            </a:pPr>
            <a:r>
              <a:rPr sz="1650" b="1">
                <a:solidFill>
                  <a:srgbClr val="5F6875"/>
                </a:solidFill>
              </a:rPr>
              <a:t>→</a:t>
            </a:r>
            <a:endParaRPr sz="1650" b="1">
              <a:solidFill>
                <a:srgbClr val="5F6875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9982200" y="3429000"/>
            <a:ext cx="1162050" cy="1123950"/>
          </a:xfrm>
          <a:prstGeom prst="roundRect">
            <a:avLst>
              <a:gd name="adj" fmla="val 6780"/>
            </a:avLst>
          </a:prstGeom>
          <a:solidFill>
            <a:srgbClr val="F9F6F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0096500" y="3714750"/>
            <a:ext cx="933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>
                <a:solidFill>
                  <a:srgbClr val="1C2430"/>
                </a:solidFill>
              </a:defRPr>
            </a:pPr>
            <a:r>
              <a:rPr sz="1275">
                <a:solidFill>
                  <a:srgbClr val="1C2430"/>
                </a:solidFill>
              </a:rPr>
              <a:t>Observe round outcome</a:t>
            </a:r>
            <a:endParaRPr sz="1275">
              <a:solidFill>
                <a:srgbClr val="1C2430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4819650" y="4953000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i="1">
                <a:solidFill>
                  <a:srgbClr val="9B5D58"/>
                </a:solidFill>
              </a:defRPr>
            </a:pPr>
            <a:r>
              <a:rPr sz="1425" i="1">
                <a:solidFill>
                  <a:srgbClr val="9B5D58"/>
                </a:solidFill>
              </a:rPr>
              <a:t>The prototype holds the strategic environment fixed and varies the responsibility architecture inside the same risky choice structure.</a:t>
            </a:r>
            <a:endParaRPr sz="1425" i="1">
              <a:solidFill>
                <a:srgbClr val="9B5D58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  <a:endParaRPr sz="900" b="1">
              <a:solidFill>
                <a:srgbClr val="5F6875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8</a:t>
            </a:r>
            <a:endParaRPr sz="900">
              <a:solidFill>
                <a:srgbClr val="5F687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967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B778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 i="0">
                <a:solidFill>
                  <a:srgbClr val="B778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METHOD MAP</a:t>
            </a:r>
            <a:endParaRPr sz="900" b="1" i="0">
              <a:solidFill>
                <a:srgbClr val="B7784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677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55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RQ -&gt; manipulation -&gt; comparison -&gt; what each contrast identifies</a:t>
            </a:r>
            <a:endParaRPr sz="2550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970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pic>
        <p:nvPicPr>
          <p:cNvPr id="13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718265"/>
            <a:ext cx="10591800" cy="3764369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819150" y="6019800"/>
            <a:ext cx="923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8"/>
          </a:bodyPr>
          <a:lstStyle/>
          <a:p>
            <a:pPr algn="l">
              <a:lnSpc>
                <a:spcPct val="105000"/>
              </a:lnSpc>
              <a:buNone/>
              <a:defRPr sz="112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method page should make the four conditions readable: Human-only, AI-baseline, AI-confirm, and AI-disclosure.</a:t>
            </a:r>
            <a:endParaRPr sz="1125" b="1" i="0">
              <a:solidFill>
                <a:srgbClr val="231D1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</a:rPr>
              <a:t>PAPER 3</a:t>
            </a:r>
            <a:endParaRPr sz="900" b="1">
              <a:solidFill>
                <a:srgbClr val="5F687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</a:rPr>
              <a:t>9</a:t>
            </a:r>
            <a:endParaRPr sz="900">
              <a:solidFill>
                <a:srgbClr val="5F687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9677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1" i="0">
                <a:solidFill>
                  <a:srgbClr val="B7784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00" b="1" i="0">
                <a:solidFill>
                  <a:srgbClr val="B77845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CONTRIBUTION</a:t>
            </a:r>
            <a:endParaRPr sz="900" b="1" i="0">
              <a:solidFill>
                <a:srgbClr val="B77845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42950"/>
            <a:ext cx="9677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533"/>
          </a:bodyPr>
          <a:lstStyle/>
          <a:p>
            <a:pPr algn="l">
              <a:lnSpc>
                <a:spcPct val="98000"/>
              </a:lnSpc>
              <a:buNone/>
              <a:defRPr sz="2550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 i="0">
                <a:solidFill>
                  <a:srgbClr val="231D17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The contribution is to identify where AI changes responsibility before outcomes occur</a:t>
            </a:r>
            <a:endParaRPr sz="2550" b="1" i="0">
              <a:solidFill>
                <a:srgbClr val="231D17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40970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38200" y="1714500"/>
            <a:ext cx="3048000" cy="3219450"/>
          </a:xfrm>
          <a:prstGeom prst="roundRect">
            <a:avLst>
              <a:gd name="adj" fmla="val 3750"/>
            </a:avLst>
          </a:prstGeom>
          <a:solidFill>
            <a:srgbClr val="E9EDF1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66800" y="19812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  <a:latin typeface="Times New Roman" panose="02020603050405020304" charset="0"/>
                <a:cs typeface="Times New Roman" panose="02020603050405020304" charset="0"/>
              </a:rPr>
              <a:t>Expected pattern</a:t>
            </a:r>
            <a:endParaRPr sz="1800" b="1">
              <a:solidFill>
                <a:srgbClr val="23364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66800" y="2476500"/>
            <a:ext cx="2438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  <a:latin typeface="Times New Roman" panose="02020603050405020304" charset="0"/>
                <a:cs typeface="Times New Roman" panose="02020603050405020304" charset="0"/>
              </a:rPr>
              <a:t>• AI support may already shift escalation and responsibility perception.</a:t>
            </a:r>
            <a:endParaRPr sz="1350">
              <a:solidFill>
                <a:srgbClr val="1C243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  <a:latin typeface="Times New Roman" panose="02020603050405020304" charset="0"/>
                <a:cs typeface="Times New Roman" panose="02020603050405020304" charset="0"/>
              </a:rPr>
              <a:t>• Confirm may raise ownership by making human passage explicit.</a:t>
            </a:r>
            <a:endParaRPr sz="1350">
              <a:solidFill>
                <a:srgbClr val="1C243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  <a:latin typeface="Times New Roman" panose="02020603050405020304" charset="0"/>
                <a:cs typeface="Times New Roman" panose="02020603050405020304" charset="0"/>
              </a:rPr>
              <a:t>• Disclosure may strengthen answerability or normalize responsibility sharing.</a:t>
            </a:r>
            <a:endParaRPr sz="1350">
              <a:solidFill>
                <a:srgbClr val="1C243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圆角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67200" y="1714500"/>
            <a:ext cx="3048000" cy="3219450"/>
          </a:xfrm>
          <a:prstGeom prst="roundRect">
            <a:avLst>
              <a:gd name="adj" fmla="val 3750"/>
            </a:avLst>
          </a:prstGeom>
          <a:solidFill>
            <a:srgbClr val="E9DED5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495800" y="19812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  <a:latin typeface="Times New Roman" panose="02020603050405020304" charset="0"/>
                <a:cs typeface="Times New Roman" panose="02020603050405020304" charset="0"/>
              </a:rPr>
              <a:t>Mechanism interpretation</a:t>
            </a:r>
            <a:endParaRPr sz="1800" b="1">
              <a:solidFill>
                <a:srgbClr val="23364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495800" y="2476500"/>
            <a:ext cx="2438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  <a:latin typeface="Times New Roman" panose="02020603050405020304" charset="0"/>
                <a:cs typeface="Times New Roman" panose="02020603050405020304" charset="0"/>
              </a:rPr>
              <a:t>• Structural accountability and felt accountability do not have to move together.</a:t>
            </a:r>
            <a:endParaRPr sz="1350">
              <a:solidFill>
                <a:srgbClr val="1C243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  <a:latin typeface="Times New Roman" panose="02020603050405020304" charset="0"/>
                <a:cs typeface="Times New Roman" panose="02020603050405020304" charset="0"/>
              </a:rPr>
              <a:t>• If behavior changes move with ownership and answerability, the responsibility mechanism is more credible.</a:t>
            </a:r>
            <a:endParaRPr sz="1350">
              <a:solidFill>
                <a:srgbClr val="1C243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  <a:latin typeface="Times New Roman" panose="02020603050405020304" charset="0"/>
                <a:cs typeface="Times New Roman" panose="02020603050405020304" charset="0"/>
              </a:rPr>
              <a:t>• If not, competing mechanisms remain on the table.</a:t>
            </a:r>
            <a:endParaRPr sz="1350">
              <a:solidFill>
                <a:srgbClr val="1C243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圆角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696200" y="1714500"/>
            <a:ext cx="3048000" cy="3219450"/>
          </a:xfrm>
          <a:prstGeom prst="roundRect">
            <a:avLst>
              <a:gd name="adj" fmla="val 3750"/>
            </a:avLst>
          </a:prstGeom>
          <a:solidFill>
            <a:srgbClr val="E7E9E0"/>
          </a:solidFill>
          <a:ln w="9525">
            <a:solidFill>
              <a:srgbClr val="B7ADA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924800" y="19812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1">
                <a:solidFill>
                  <a:srgbClr val="23364A"/>
                </a:solidFill>
              </a:defRPr>
            </a:pPr>
            <a:r>
              <a:rPr sz="1800" b="1">
                <a:solidFill>
                  <a:srgbClr val="23364A"/>
                </a:solidFill>
                <a:latin typeface="Times New Roman" panose="02020603050405020304" charset="0"/>
                <a:cs typeface="Times New Roman" panose="02020603050405020304" charset="0"/>
              </a:rPr>
              <a:t>Dissertation role</a:t>
            </a:r>
            <a:endParaRPr sz="1800" b="1">
              <a:solidFill>
                <a:srgbClr val="23364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924800" y="2476500"/>
            <a:ext cx="2438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  <a:latin typeface="Times New Roman" panose="02020603050405020304" charset="0"/>
                <a:cs typeface="Times New Roman" panose="02020603050405020304" charset="0"/>
              </a:rPr>
              <a:t>• Paper 1 studies how AI changes evidence and belief formation.</a:t>
            </a:r>
            <a:endParaRPr sz="1350">
              <a:solidFill>
                <a:srgbClr val="1C243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  <a:latin typeface="Times New Roman" panose="02020603050405020304" charset="0"/>
                <a:cs typeface="Times New Roman" panose="02020603050405020304" charset="0"/>
              </a:rPr>
              <a:t>• Paper 2 studies how repeated feedback reshapes reliance calibration.</a:t>
            </a:r>
            <a:endParaRPr sz="1350">
              <a:solidFill>
                <a:srgbClr val="1C243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None/>
              <a:defRPr sz="1350">
                <a:solidFill>
                  <a:srgbClr val="1C2430"/>
                </a:solidFill>
              </a:defRPr>
            </a:pPr>
            <a:r>
              <a:rPr sz="1350">
                <a:solidFill>
                  <a:srgbClr val="1C2430"/>
                </a:solidFill>
                <a:latin typeface="Times New Roman" panose="02020603050405020304" charset="0"/>
                <a:cs typeface="Times New Roman" panose="02020603050405020304" charset="0"/>
              </a:rPr>
              <a:t>• Paper 3 studies how AI-supported action reorganizes responsibility.</a:t>
            </a:r>
            <a:endParaRPr sz="1350">
              <a:solidFill>
                <a:srgbClr val="1C243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619250" y="5257800"/>
            <a:ext cx="8934450" cy="781050"/>
          </a:xfrm>
          <a:prstGeom prst="roundRect">
            <a:avLst>
              <a:gd name="adj" fmla="val 19512"/>
            </a:avLst>
          </a:prstGeom>
          <a:solidFill>
            <a:srgbClr val="23364A"/>
          </a:solidFill>
          <a:ln w="0">
            <a:solidFill>
              <a:srgbClr val="23364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019300" y="5448300"/>
            <a:ext cx="809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82"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31D1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1" i="0">
                <a:solidFill>
                  <a:schemeClr val="bg1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</a:rPr>
              <a:t>The key question is not only whether people use AI, but how AI system design reorganizes responsibility before action is taken.</a:t>
            </a:r>
            <a:endParaRPr sz="1575" b="1" i="0">
              <a:solidFill>
                <a:schemeClr val="bg1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 charset="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6457950"/>
            <a:ext cx="10820400" cy="11430"/>
          </a:xfrm>
          <a:prstGeom prst="rect">
            <a:avLst/>
          </a:prstGeom>
          <a:solidFill>
            <a:srgbClr val="B7ADA0"/>
          </a:solidFill>
          <a:ln w="0">
            <a:solidFill>
              <a:srgbClr val="B7ADA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6534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F6875"/>
                </a:solidFill>
              </a:defRPr>
            </a:pPr>
            <a:r>
              <a:rPr sz="900" b="1">
                <a:solidFill>
                  <a:srgbClr val="5F6875"/>
                </a:solidFill>
                <a:latin typeface="Times New Roman" panose="02020603050405020304" charset="0"/>
                <a:cs typeface="Times New Roman" panose="02020603050405020304" charset="0"/>
              </a:rPr>
              <a:t>PAPER 3</a:t>
            </a:r>
            <a:endParaRPr sz="900" b="1">
              <a:solidFill>
                <a:srgbClr val="5F687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12520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>
                <a:solidFill>
                  <a:srgbClr val="5F6875"/>
                </a:solidFill>
              </a:defRPr>
            </a:pPr>
            <a:r>
              <a:rPr sz="900">
                <a:solidFill>
                  <a:srgbClr val="5F6875"/>
                </a:solidFill>
                <a:latin typeface="Times New Roman" panose="02020603050405020304" charset="0"/>
                <a:cs typeface="Times New Roman" panose="02020603050405020304" charset="0"/>
              </a:rPr>
              <a:t>10</a:t>
            </a:r>
            <a:endParaRPr sz="900">
              <a:solidFill>
                <a:srgbClr val="5F6875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1,&quot;left&quot;:72,&quot;top&quot;:138,&quot;width&quot;:814.5}"/>
</p:tagLst>
</file>

<file path=ppt/tags/tag2.xml><?xml version="1.0" encoding="utf-8"?>
<p:tagLst xmlns:p="http://schemas.openxmlformats.org/presentationml/2006/main">
  <p:tag name="KSO_WM_DIAGRAM_VIRTUALLY_FRAME" val="{&quot;height&quot;:171,&quot;left&quot;:72,&quot;top&quot;:138,&quot;width&quot;:814.5}"/>
</p:tagLst>
</file>

<file path=ppt/tags/tag3.xml><?xml version="1.0" encoding="utf-8"?>
<p:tagLst xmlns:p="http://schemas.openxmlformats.org/presentationml/2006/main">
  <p:tag name="KSO_WM_DIAGRAM_VIRTUALLY_FRAME" val="{&quot;height&quot;:171,&quot;left&quot;:72,&quot;top&quot;:138,&quot;width&quot;:814.5}"/>
</p:tagLst>
</file>

<file path=ppt/tags/tag4.xml><?xml version="1.0" encoding="utf-8"?>
<p:tagLst xmlns:p="http://schemas.openxmlformats.org/presentationml/2006/main">
  <p:tag name="KSO_WM_DIAGRAM_VIRTUALLY_FRAME" val="{&quot;height&quot;:171,&quot;left&quot;:72,&quot;top&quot;:138,&quot;width&quot;:814.5}"/>
</p:tagLst>
</file>

<file path=ppt/tags/tag5.xml><?xml version="1.0" encoding="utf-8"?>
<p:tagLst xmlns:p="http://schemas.openxmlformats.org/presentationml/2006/main">
  <p:tag name="KSO_WM_DIAGRAM_VIRTUALLY_FRAME" val="{&quot;height&quot;:171,&quot;left&quot;:72,&quot;top&quot;:138,&quot;width&quot;:814.5}"/>
</p:tagLst>
</file>

<file path=ppt/tags/tag6.xml><?xml version="1.0" encoding="utf-8"?>
<p:tagLst xmlns:p="http://schemas.openxmlformats.org/presentationml/2006/main">
  <p:tag name="KSO_WM_DIAGRAM_VIRTUALLY_FRAME" val="{&quot;height&quot;:171,&quot;left&quot;:72,&quot;top&quot;:138,&quot;width&quot;:814.5}"/>
</p:tagLst>
</file>

<file path=ppt/tags/tag7.xml><?xml version="1.0" encoding="utf-8"?>
<p:tagLst xmlns:p="http://schemas.openxmlformats.org/presentationml/2006/main">
  <p:tag name="KSO_WM_DIAGRAM_VIRTUALLY_FRAME" val="{&quot;height&quot;:171,&quot;left&quot;:72,&quot;top&quot;:138,&quot;width&quot;:814.5}"/>
</p:tagLst>
</file>

<file path=ppt/tags/tag8.xml><?xml version="1.0" encoding="utf-8"?>
<p:tagLst xmlns:p="http://schemas.openxmlformats.org/presentationml/2006/main">
  <p:tag name="KSO_WM_DIAGRAM_VIRTUALLY_FRAME" val="{&quot;height&quot;:171,&quot;left&quot;:72,&quot;top&quot;:138,&quot;width&quot;:814.5}"/>
</p:tagLst>
</file>

<file path=ppt/tags/tag9.xml><?xml version="1.0" encoding="utf-8"?>
<p:tagLst xmlns:p="http://schemas.openxmlformats.org/presentationml/2006/main">
  <p:tag name="KSO_WM_DIAGRAM_VIRTUALLY_FRAME" val="{&quot;height&quot;:253.5,&quot;left&quot;:66,&quot;top&quot;:135,&quot;width&quot;:780}"/>
</p:tagLst>
</file>

<file path=ppt/tags/tag10.xml><?xml version="1.0" encoding="utf-8"?>
<p:tagLst xmlns:p="http://schemas.openxmlformats.org/presentationml/2006/main">
  <p:tag name="KSO_WM_DIAGRAM_VIRTUALLY_FRAME" val="{&quot;height&quot;:253.5,&quot;left&quot;:66,&quot;top&quot;:135,&quot;width&quot;:780}"/>
</p:tagLst>
</file>

<file path=ppt/tags/tag11.xml><?xml version="1.0" encoding="utf-8"?>
<p:tagLst xmlns:p="http://schemas.openxmlformats.org/presentationml/2006/main">
  <p:tag name="KSO_WM_DIAGRAM_VIRTUALLY_FRAME" val="{&quot;height&quot;:253.5,&quot;left&quot;:66,&quot;top&quot;:135,&quot;width&quot;:780}"/>
</p:tagLst>
</file>

<file path=ppt/tags/tag12.xml><?xml version="1.0" encoding="utf-8"?>
<p:tagLst xmlns:p="http://schemas.openxmlformats.org/presentationml/2006/main">
  <p:tag name="KSO_WM_DIAGRAM_VIRTUALLY_FRAME" val="{&quot;height&quot;:253.5,&quot;left&quot;:66,&quot;top&quot;:135,&quot;width&quot;:780}"/>
</p:tagLst>
</file>

<file path=ppt/tags/tag13.xml><?xml version="1.0" encoding="utf-8"?>
<p:tagLst xmlns:p="http://schemas.openxmlformats.org/presentationml/2006/main">
  <p:tag name="KSO_WM_DIAGRAM_VIRTUALLY_FRAME" val="{&quot;height&quot;:253.5,&quot;left&quot;:66,&quot;top&quot;:135,&quot;width&quot;:780}"/>
</p:tagLst>
</file>

<file path=ppt/tags/tag14.xml><?xml version="1.0" encoding="utf-8"?>
<p:tagLst xmlns:p="http://schemas.openxmlformats.org/presentationml/2006/main">
  <p:tag name="KSO_WM_DIAGRAM_VIRTUALLY_FRAME" val="{&quot;height&quot;:253.5,&quot;left&quot;:66,&quot;top&quot;:135,&quot;width&quot;:780}"/>
</p:tagLst>
</file>

<file path=ppt/tags/tag15.xml><?xml version="1.0" encoding="utf-8"?>
<p:tagLst xmlns:p="http://schemas.openxmlformats.org/presentationml/2006/main">
  <p:tag name="KSO_WM_DIAGRAM_VIRTUALLY_FRAME" val="{&quot;height&quot;:253.5,&quot;left&quot;:66,&quot;top&quot;:135,&quot;width&quot;:780}"/>
</p:tagLst>
</file>

<file path=ppt/tags/tag16.xml><?xml version="1.0" encoding="utf-8"?>
<p:tagLst xmlns:p="http://schemas.openxmlformats.org/presentationml/2006/main">
  <p:tag name="KSO_WM_DIAGRAM_VIRTUALLY_FRAME" val="{&quot;height&quot;:253.5,&quot;left&quot;:66,&quot;top&quot;:135,&quot;width&quot;:780}"/>
</p:tagLst>
</file>

<file path=ppt/tags/tag17.xml><?xml version="1.0" encoding="utf-8"?>
<p:tagLst xmlns:p="http://schemas.openxmlformats.org/presentationml/2006/main">
  <p:tag name="KSO_WM_DIAGRAM_VIRTUALLY_FRAME" val="{&quot;height&quot;:253.5,&quot;left&quot;:66,&quot;top&quot;:135,&quot;width&quot;:780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7028</Words>
  <Application>WPS 演示</Application>
  <PresentationFormat>Converted Presentation</PresentationFormat>
  <Paragraphs>290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汉克克克克克克克</cp:lastModifiedBy>
  <cp:revision>5</cp:revision>
  <dcterms:created xsi:type="dcterms:W3CDTF">2026-07-06T13:15:00Z</dcterms:created>
  <dcterms:modified xsi:type="dcterms:W3CDTF">2026-07-06T16:01:26Z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53F76E501AD049E29B8549BAA7F5ADBD_12</vt:lpwstr>
  </property>
</Properties>
</file>