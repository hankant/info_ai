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Now I will move to the third paper of my dissertation.</a:t>
            </a:r>
            <a:endParaRPr lang="en-US" altLang="zh-CN"/>
          </a:p>
          <a:p>
            <a:r>
              <a:rPr lang="en-US" altLang="zh-CN"/>
              <a:t>Once a consequential action has to be taken, who feels responsible for that action?</a:t>
            </a:r>
            <a:endParaRPr lang="en-US" altLang="zh-CN"/>
          </a:p>
          <a:p>
            <a:r>
              <a:rPr lang="en-US" altLang="zh-CN"/>
              <a:t>So the question here is not simply whether AI is used.</a:t>
            </a:r>
            <a:endParaRPr lang="en-US" altLang="zh-CN"/>
          </a:p>
          <a:p>
            <a:r>
              <a:rPr lang="en-US" altLang="zh-CN"/>
              <a:t>The question is whether the design of an AI-supported system changes who feels accountable for the final decision.</a:t>
            </a:r>
            <a:endParaRPr lang="en-US" altLang="zh-CN"/>
          </a:p>
          <a:p>
            <a:r>
              <a:rPr lang="en-US" altLang="zh-CN"/>
              <a:t>That is why this paper focuses on responsibility design.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want to begin with a familiar transition rather than with theory.</a:t>
            </a:r>
          </a:p>
          <a:p>
            <a:r>
              <a:t>In more and more high-risk settings, people no longer decide alone. They see an AI analysis panel, and sometimes they also have to confirm or disclose how they used it.</a:t>
            </a:r>
          </a:p>
          <a:p>
            <a:r>
              <a:t>That means the key shift is not only what information enters the room, but whether the final choice is still felt as fully one’s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literature is not empty. In fact, it is already quite rich.</a:t>
            </a:r>
          </a:p>
          <a:p>
            <a:r>
              <a:t>But most studies focus on one piece at a time: trust in AI, delegation to another decision agent, or blame once the outcome is already known.</a:t>
            </a:r>
          </a:p>
          <a:p>
            <a:r>
              <a:t>What is still relatively underdeveloped is the full process question: how responsibility design inside an AI-supported decision system changes risky choice before the outcome arrives.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point here is not to reject traditional theory.</a:t>
            </a:r>
          </a:p>
          <a:p>
            <a:r>
              <a:t>Those theories are extremely useful for understanding strategic risk and escalation, but they generally treat responsibility cost as already given in the environment.</a:t>
            </a:r>
          </a:p>
          <a:p>
            <a:r>
              <a:t>What AI support potentially changes is exactly that background condition: the accountability structure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This slide summarizes the gap.</a:t>
            </a:r>
            <a:endParaRPr lang="en-US" altLang="zh-CN"/>
          </a:p>
          <a:p>
            <a:r>
              <a:rPr lang="en-US" altLang="zh-CN"/>
              <a:t>The problem is not that AI responsibility has never been studied.</a:t>
            </a:r>
            <a:endParaRPr lang="en-US" altLang="zh-CN"/>
          </a:p>
          <a:p>
            <a:r>
              <a:rPr lang="en-US" altLang="zh-CN"/>
              <a:t>But much of the work focuses on what happens after the outcome.</a:t>
            </a:r>
            <a:endParaRPr lang="en-US" altLang="zh-CN"/>
          </a:p>
          <a:p>
            <a:r>
              <a:rPr lang="en-US" altLang="zh-CN"/>
              <a:t>Who gets blamed?</a:t>
            </a:r>
            <a:endParaRPr lang="en-US" altLang="zh-CN"/>
          </a:p>
          <a:p>
            <a:r>
              <a:rPr lang="en-US" altLang="zh-CN"/>
              <a:t>Who should be accountable?</a:t>
            </a:r>
            <a:endParaRPr lang="en-US" altLang="zh-CN"/>
          </a:p>
          <a:p>
            <a:r>
              <a:rPr lang="en-US" altLang="zh-CN"/>
              <a:t>How should responsibility be distributed?</a:t>
            </a:r>
            <a:endParaRPr lang="en-US" altLang="zh-CN"/>
          </a:p>
          <a:p>
            <a:r>
              <a:rPr lang="en-US" altLang="zh-CN"/>
              <a:t>Before the outcome occurs, how does the design of the AI-supported decision process change the person’s sense of ownership and accountability?</a:t>
            </a:r>
            <a:endParaRPr lang="en-US" altLang="zh-CN"/>
          </a:p>
          <a:p>
            <a:r>
              <a:rPr lang="en-US" altLang="zh-CN"/>
              <a:t>And does that change affect risky behavior?</a:t>
            </a:r>
            <a:endParaRPr lang="en-US" altLang="zh-CN"/>
          </a:p>
          <a:p>
            <a:r>
              <a:rPr lang="en-US" altLang="zh-CN"/>
              <a:t>So the gap is a mechanism-level question: what kinds of interventions actually change how people perceive responsibility?</a:t>
            </a:r>
            <a:endParaRPr lang="en-US" altLang="zh-CN"/>
          </a:p>
          <a:p>
            <a:r>
              <a:rPr lang="en-US" altLang="zh-CN"/>
              <a:t>How does responsibility design shape high-risk action before we even know the outcome?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research questions all push in the same direction.</a:t>
            </a:r>
          </a:p>
          <a:p>
            <a:r>
              <a:t>Instead of treating AI support as a single treatment, I want to know whether responsibility design changes behavior by changing how the human actor experiences final agency.</a:t>
            </a:r>
          </a:p>
          <a:p>
            <a:r>
              <a:t>That is why the questions move from AI support itself to ownership, felt accountability, and then back to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alignment slide that prevents a predictable misunderstanding.</a:t>
            </a:r>
          </a:p>
          <a:p>
            <a:r>
              <a:t>The broader theory does speak in terms of AI moving closer to action, but the current experiment does not claim to fully operationalize every role position at once.</a:t>
            </a:r>
          </a:p>
          <a:p>
            <a:r>
              <a:t>Instead, it focuses on two concrete responsibility-design interventions: confirm and disclosure.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explains why the experimental environment is appropriate before getting lost in design detail.</a:t>
            </a:r>
          </a:p>
          <a:p>
            <a:r>
              <a:t>Hawk-Dove is useful because escalation is not just a risk preference. It is a consequential move with external loss if both sides escalate.</a:t>
            </a:r>
          </a:p>
          <a:p>
            <a:r>
              <a:t>The flow on the right then makes the design transparent: hold the strategic environment constant, vary the responsibility architecture inside the decision process, and observe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most valuable method slide in the deck.</a:t>
            </a:r>
          </a:p>
          <a:p>
            <a:r>
              <a:t>The point is to let the committee see, in one field, how each research question maps onto a manipulation, what comparison identifies it, and what mechanism that contrast is supposed to isolate.</a:t>
            </a:r>
          </a:p>
          <a:p>
            <a:r>
              <a:t>That is what keeps the design from collapsing into a vague 'AI versus no AI'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end by emphasizing that the contribution is not another generic claim about trust in AI.</a:t>
            </a:r>
          </a:p>
          <a:p>
            <a:r>
              <a:t>The contribution is to identify where responsibility changes inside an AI-supported decision process, and to test whether those changes can be seen in behavior before outcomes arrive.</a:t>
            </a:r>
          </a:p>
          <a:p>
            <a:r>
              <a:t>That is what makes Paper 3 the responsibility link in the larger dissertation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6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81050" y="80010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7D4CE"/>
                </a:solidFill>
              </a:defRPr>
            </a:pPr>
            <a:r>
              <a:rPr sz="1350" b="1">
                <a:solidFill>
                  <a:srgbClr val="D7D4CE"/>
                </a:solidFill>
              </a:rPr>
              <a:t>DISSERTATION SECTION III</a:t>
            </a:r>
            <a:endParaRPr sz="1350" b="1">
              <a:solidFill>
                <a:srgbClr val="D7D4C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1390650"/>
            <a:ext cx="9525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Paper 3: AI Responsibility Design and Escalatory Risk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2724150"/>
            <a:ext cx="8858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E3DDD3"/>
                </a:solidFill>
              </a:defRPr>
            </a:pPr>
            <a:r>
              <a:rPr sz="1650">
                <a:solidFill>
                  <a:srgbClr val="E3DDD3"/>
                </a:solidFill>
              </a:rPr>
              <a:t>The paper studies how AI-supported decision systems reshape accountability, ownership, and risky strategic choice before outcomes occur.</a:t>
            </a:r>
            <a:endParaRPr sz="1650">
              <a:solidFill>
                <a:srgbClr val="E3DDD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3771900"/>
            <a:ext cx="9144000" cy="11430"/>
          </a:xfrm>
          <a:prstGeom prst="rect">
            <a:avLst/>
          </a:prstGeom>
          <a:solidFill>
            <a:srgbClr val="A99384"/>
          </a:solidFill>
          <a:ln w="0">
            <a:solidFill>
              <a:srgbClr val="A9938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41719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E8E2D8"/>
                </a:solidFill>
              </a:defRPr>
            </a:pPr>
            <a:r>
              <a:rPr sz="1350">
                <a:solidFill>
                  <a:srgbClr val="E8E2D8"/>
                </a:solidFill>
              </a:rPr>
              <a:t>Belief formation</a:t>
            </a:r>
            <a:endParaRPr sz="1350">
              <a:solidFill>
                <a:srgbClr val="E8E2D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44958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C8A98D"/>
                </a:solidFill>
              </a:defRPr>
            </a:pPr>
            <a:r>
              <a:rPr sz="1200" b="1">
                <a:solidFill>
                  <a:srgbClr val="C8A98D"/>
                </a:solidFill>
              </a:rPr>
              <a:t>Paper 1</a:t>
            </a:r>
            <a:endParaRPr sz="1200" b="1">
              <a:solidFill>
                <a:srgbClr val="C8A98D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943350" y="41719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E8E2D8"/>
                </a:solidFill>
              </a:defRPr>
            </a:pPr>
            <a:r>
              <a:rPr sz="1350">
                <a:solidFill>
                  <a:srgbClr val="E8E2D8"/>
                </a:solidFill>
              </a:rPr>
              <a:t>Reliance calibration</a:t>
            </a:r>
            <a:endParaRPr sz="1350">
              <a:solidFill>
                <a:srgbClr val="E8E2D8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943350" y="44958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C8A98D"/>
                </a:solidFill>
              </a:defRPr>
            </a:pPr>
            <a:r>
              <a:rPr sz="1200" b="1">
                <a:solidFill>
                  <a:srgbClr val="C8A98D"/>
                </a:solidFill>
              </a:rPr>
              <a:t>Paper 2</a:t>
            </a:r>
            <a:endParaRPr sz="1200" b="1">
              <a:solidFill>
                <a:srgbClr val="C8A98D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105650" y="41719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E8E2D8"/>
                </a:solidFill>
              </a:defRPr>
            </a:pPr>
            <a:r>
              <a:rPr sz="1350">
                <a:solidFill>
                  <a:srgbClr val="E8E2D8"/>
                </a:solidFill>
              </a:rPr>
              <a:t>Responsibility design</a:t>
            </a:r>
            <a:endParaRPr sz="1350">
              <a:solidFill>
                <a:srgbClr val="E8E2D8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105650" y="44958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C8A98D"/>
                </a:solidFill>
              </a:defRPr>
            </a:pPr>
            <a:r>
              <a:rPr sz="1200" b="1">
                <a:solidFill>
                  <a:srgbClr val="C8A98D"/>
                </a:solidFill>
              </a:rPr>
              <a:t>Paper 3</a:t>
            </a:r>
            <a:endParaRPr sz="1200" b="1">
              <a:solidFill>
                <a:srgbClr val="C8A98D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59817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i="1">
                <a:solidFill>
                  <a:srgbClr val="D7D4CE"/>
                </a:solidFill>
              </a:defRPr>
            </a:pPr>
            <a:r>
              <a:rPr sz="1050" i="1">
                <a:solidFill>
                  <a:srgbClr val="D7D4CE"/>
                </a:solidFill>
              </a:rPr>
              <a:t>Action → responsibility</a:t>
            </a:r>
            <a:endParaRPr sz="1050" i="1">
              <a:solidFill>
                <a:srgbClr val="D7D4C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645795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65341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  <a:endParaRPr sz="900" b="1">
              <a:solidFill>
                <a:srgbClr val="5F6875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12520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1</a:t>
            </a:r>
            <a:endParaRPr sz="900">
              <a:solidFill>
                <a:srgbClr val="5F687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590550"/>
            <a:ext cx="967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A concrete opening example</a:t>
            </a:r>
            <a:endParaRPr sz="1125" i="1">
              <a:solidFill>
                <a:srgbClr val="5F687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677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C2430"/>
                </a:solidFill>
              </a:defRPr>
            </a:pPr>
            <a:r>
              <a:rPr sz="2250" b="1">
                <a:solidFill>
                  <a:srgbClr val="1C2430"/>
                </a:solidFill>
              </a:rPr>
              <a:t>AI can change not only the information people see, but who owns the final risk</a:t>
            </a:r>
            <a:endParaRPr sz="2250" b="1">
              <a:solidFill>
                <a:srgbClr val="1C243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0970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447800"/>
            <a:ext cx="982980" cy="247650"/>
          </a:xfrm>
          <a:prstGeom prst="roundRect">
            <a:avLst>
              <a:gd name="adj" fmla="val 30769"/>
            </a:avLst>
          </a:prstGeom>
          <a:solidFill>
            <a:srgbClr val="23364A"/>
          </a:solidFill>
          <a:ln w="0">
            <a:solidFill>
              <a:srgbClr val="23364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1495425"/>
            <a:ext cx="75438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Crisis room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809750" y="1447800"/>
            <a:ext cx="1257300" cy="247650"/>
          </a:xfrm>
          <a:prstGeom prst="roundRect">
            <a:avLst>
              <a:gd name="adj" fmla="val 30769"/>
            </a:avLst>
          </a:prstGeom>
          <a:solidFill>
            <a:srgbClr val="6F7C60"/>
          </a:solidFill>
          <a:ln w="0">
            <a:solidFill>
              <a:srgbClr val="6F7C6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924050" y="1495425"/>
            <a:ext cx="1028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Hospital triage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143250" y="1447800"/>
            <a:ext cx="1120140" cy="247650"/>
          </a:xfrm>
          <a:prstGeom prst="roundRect">
            <a:avLst>
              <a:gd name="adj" fmla="val 30769"/>
            </a:avLst>
          </a:prstGeom>
          <a:solidFill>
            <a:srgbClr val="A66A4D"/>
          </a:solidFill>
          <a:ln w="0">
            <a:solidFill>
              <a:srgbClr val="A66A4D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257550" y="1495425"/>
            <a:ext cx="89154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Public agency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19150" y="1905000"/>
            <a:ext cx="4953000" cy="3619500"/>
          </a:xfrm>
          <a:prstGeom prst="roundRect">
            <a:avLst>
              <a:gd name="adj" fmla="val 3158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1336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Human-only decision room</a:t>
            </a:r>
            <a:endParaRPr sz="1800" b="1">
              <a:solidFill>
                <a:srgbClr val="23364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66800" y="2552700"/>
            <a:ext cx="4286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C2430"/>
                </a:solidFill>
              </a:defRPr>
            </a:pPr>
            <a:r>
              <a:rPr sz="1500">
                <a:solidFill>
                  <a:srgbClr val="1C2430"/>
                </a:solidFill>
              </a:rPr>
              <a:t>• A decision maker reviews evidence, trade-offs, and possible consequences.</a:t>
            </a:r>
            <a:endParaRPr sz="1500">
              <a:solidFill>
                <a:srgbClr val="1C2430"/>
              </a:solidFill>
            </a:endParaRPr>
          </a:p>
          <a:p>
            <a:pPr>
              <a:defRPr sz="1500">
                <a:solidFill>
                  <a:srgbClr val="1C2430"/>
                </a:solidFill>
              </a:defRPr>
            </a:pPr>
            <a:r>
              <a:rPr sz="1500">
                <a:solidFill>
                  <a:srgbClr val="1C2430"/>
                </a:solidFill>
              </a:rPr>
              <a:t>• The final choice is still experienced as clearly personal.</a:t>
            </a:r>
            <a:endParaRPr sz="1500">
              <a:solidFill>
                <a:srgbClr val="1C2430"/>
              </a:solidFill>
            </a:endParaRPr>
          </a:p>
          <a:p>
            <a:pPr>
              <a:defRPr sz="1500">
                <a:solidFill>
                  <a:srgbClr val="1C2430"/>
                </a:solidFill>
              </a:defRPr>
            </a:pPr>
            <a:r>
              <a:rPr sz="1500">
                <a:solidFill>
                  <a:srgbClr val="1C2430"/>
                </a:solidFill>
              </a:rPr>
              <a:t>• Risk and responsibility remain bundled inside one human decision point.</a:t>
            </a:r>
            <a:endParaRPr sz="1500">
              <a:solidFill>
                <a:srgbClr val="1C243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74345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i="1">
                <a:solidFill>
                  <a:srgbClr val="9B5D58"/>
                </a:solidFill>
              </a:defRPr>
            </a:pPr>
            <a:r>
              <a:rPr sz="1500" i="1">
                <a:solidFill>
                  <a:srgbClr val="9B5D58"/>
                </a:solidFill>
              </a:rPr>
              <a:t>Information, ownership, and accountability stay tightly coupled.</a:t>
            </a:r>
            <a:endParaRPr sz="1500" i="1">
              <a:solidFill>
                <a:srgbClr val="9B5D58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419850" y="1905000"/>
            <a:ext cx="4953000" cy="3619500"/>
          </a:xfrm>
          <a:prstGeom prst="roundRect">
            <a:avLst>
              <a:gd name="adj" fmla="val 3158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667500" y="21336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AI-embedded decision room</a:t>
            </a:r>
            <a:endParaRPr sz="1800" b="1">
              <a:solidFill>
                <a:srgbClr val="23364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0" y="2552700"/>
            <a:ext cx="4286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C2430"/>
                </a:solidFill>
              </a:defRPr>
            </a:pPr>
            <a:r>
              <a:rPr sz="1500">
                <a:solidFill>
                  <a:srgbClr val="1C2430"/>
                </a:solidFill>
              </a:rPr>
              <a:t>• The decision maker now sees an AI analysis panel before acting.</a:t>
            </a:r>
            <a:endParaRPr sz="1500">
              <a:solidFill>
                <a:srgbClr val="1C2430"/>
              </a:solidFill>
            </a:endParaRPr>
          </a:p>
          <a:p>
            <a:pPr>
              <a:defRPr sz="1500">
                <a:solidFill>
                  <a:srgbClr val="1C2430"/>
                </a:solidFill>
              </a:defRPr>
            </a:pPr>
            <a:r>
              <a:rPr sz="1500">
                <a:solidFill>
                  <a:srgbClr val="1C2430"/>
                </a:solidFill>
              </a:rPr>
              <a:t>• The system may also require confirmation, disclosure, or explanation.</a:t>
            </a:r>
            <a:endParaRPr sz="1500">
              <a:solidFill>
                <a:srgbClr val="1C2430"/>
              </a:solidFill>
            </a:endParaRPr>
          </a:p>
          <a:p>
            <a:pPr>
              <a:defRPr sz="1500">
                <a:solidFill>
                  <a:srgbClr val="1C2430"/>
                </a:solidFill>
              </a:defRPr>
            </a:pPr>
            <a:r>
              <a:rPr sz="1500">
                <a:solidFill>
                  <a:srgbClr val="1C2430"/>
                </a:solidFill>
              </a:rPr>
              <a:t>• The final move can start to feel shared, staged, or partially offloaded.</a:t>
            </a:r>
            <a:endParaRPr sz="1500">
              <a:solidFill>
                <a:srgbClr val="1C243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667500" y="47434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i="1">
                <a:solidFill>
                  <a:srgbClr val="9B5D58"/>
                </a:solidFill>
              </a:defRPr>
            </a:pPr>
            <a:r>
              <a:rPr sz="1500" i="1">
                <a:solidFill>
                  <a:srgbClr val="9B5D58"/>
                </a:solidFill>
              </a:rPr>
              <a:t>The key shift is not only informational. It is also about who feels accountable for the final act.</a:t>
            </a:r>
            <a:endParaRPr sz="1500" i="1">
              <a:solidFill>
                <a:srgbClr val="9B5D58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645795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85800" y="65341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  <a:endParaRPr sz="900" b="1">
              <a:solidFill>
                <a:srgbClr val="5F6875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12520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2</a:t>
            </a:r>
            <a:endParaRPr sz="900">
              <a:solidFill>
                <a:srgbClr val="5F687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590550"/>
            <a:ext cx="967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What current research already explains</a:t>
            </a:r>
            <a:endParaRPr sz="1125" i="1">
              <a:solidFill>
                <a:srgbClr val="5F687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677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C2430"/>
                </a:solidFill>
              </a:defRPr>
            </a:pPr>
            <a:r>
              <a:rPr sz="2250" b="1">
                <a:solidFill>
                  <a:srgbClr val="1C2430"/>
                </a:solidFill>
              </a:rPr>
              <a:t>Existing work studies trust, delegation, and blame mostly in separate literatures</a:t>
            </a:r>
            <a:endParaRPr sz="2250" b="1">
              <a:solidFill>
                <a:srgbClr val="1C243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0970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19150" y="1619250"/>
            <a:ext cx="2857500" cy="3429000"/>
          </a:xfrm>
          <a:prstGeom prst="roundRect">
            <a:avLst>
              <a:gd name="adj" fmla="val 4000"/>
            </a:avLst>
          </a:prstGeom>
          <a:solidFill>
            <a:srgbClr val="E9EDF1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1885950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Trust in AI</a:t>
            </a:r>
            <a:endParaRPr sz="1800" b="1">
              <a:solidFill>
                <a:srgbClr val="2336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2571750"/>
            <a:ext cx="2428875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C2430"/>
                </a:solidFill>
              </a:defRPr>
            </a:pPr>
            <a:r>
              <a:rPr sz="1500">
                <a:solidFill>
                  <a:srgbClr val="1C2430"/>
                </a:solidFill>
              </a:rPr>
              <a:t>When do people rely on algorithmic advice, and when do they resist it?</a:t>
            </a:r>
            <a:endParaRPr sz="1500">
              <a:solidFill>
                <a:srgbClr val="1C243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4324350"/>
            <a:ext cx="2428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i="1">
                <a:solidFill>
                  <a:srgbClr val="5F6875"/>
                </a:solidFill>
              </a:defRPr>
            </a:pPr>
            <a:r>
              <a:rPr sz="1050" i="1">
                <a:solidFill>
                  <a:srgbClr val="5F6875"/>
                </a:solidFill>
              </a:rPr>
              <a:t>Dietvorst et al. (2015); Logg et al. (2019)</a:t>
            </a:r>
            <a:endParaRPr sz="1050" i="1">
              <a:solidFill>
                <a:srgbClr val="5F6875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248150" y="1619250"/>
            <a:ext cx="2857500" cy="3429000"/>
          </a:xfrm>
          <a:prstGeom prst="roundRect">
            <a:avLst>
              <a:gd name="adj" fmla="val 4000"/>
            </a:avLst>
          </a:prstGeom>
          <a:solidFill>
            <a:srgbClr val="E9DED5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457700" y="1885950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Delegation</a:t>
            </a:r>
            <a:endParaRPr sz="1800" b="1">
              <a:solidFill>
                <a:srgbClr val="23364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57700" y="2571750"/>
            <a:ext cx="2428875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C2430"/>
                </a:solidFill>
              </a:defRPr>
            </a:pPr>
            <a:r>
              <a:rPr sz="1500">
                <a:solidFill>
                  <a:srgbClr val="1C2430"/>
                </a:solidFill>
              </a:rPr>
              <a:t>Will people pass difficult choices to another agent to avoid responsibility?</a:t>
            </a:r>
            <a:endParaRPr sz="1500">
              <a:solidFill>
                <a:srgbClr val="1C243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457700" y="4324350"/>
            <a:ext cx="2428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i="1">
                <a:solidFill>
                  <a:srgbClr val="5F6875"/>
                </a:solidFill>
              </a:defRPr>
            </a:pPr>
            <a:r>
              <a:rPr sz="1050" i="1">
                <a:solidFill>
                  <a:srgbClr val="5F6875"/>
                </a:solidFill>
              </a:rPr>
              <a:t>Steffel et al. (2016); Chevrier &amp; Teixeira (2024)</a:t>
            </a:r>
            <a:endParaRPr sz="1050" i="1">
              <a:solidFill>
                <a:srgbClr val="5F6875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677150" y="1619250"/>
            <a:ext cx="2857500" cy="3429000"/>
          </a:xfrm>
          <a:prstGeom prst="roundRect">
            <a:avLst>
              <a:gd name="adj" fmla="val 4000"/>
            </a:avLst>
          </a:prstGeom>
          <a:solidFill>
            <a:srgbClr val="E7E9E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886700" y="1885950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Blame after outcomes</a:t>
            </a:r>
            <a:endParaRPr sz="1800" b="1">
              <a:solidFill>
                <a:srgbClr val="23364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86700" y="2571750"/>
            <a:ext cx="2428875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C2430"/>
                </a:solidFill>
              </a:defRPr>
            </a:pPr>
            <a:r>
              <a:rPr sz="1500">
                <a:solidFill>
                  <a:srgbClr val="1C2430"/>
                </a:solidFill>
              </a:rPr>
              <a:t>Once harm occurs, how is blame redistributed across the user, the system, and the developer?</a:t>
            </a:r>
            <a:endParaRPr sz="1500">
              <a:solidFill>
                <a:srgbClr val="1C243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86700" y="4324350"/>
            <a:ext cx="2428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i="1">
                <a:solidFill>
                  <a:srgbClr val="5F6875"/>
                </a:solidFill>
              </a:defRPr>
            </a:pPr>
            <a:r>
              <a:rPr sz="1050" i="1">
                <a:solidFill>
                  <a:srgbClr val="5F6875"/>
                </a:solidFill>
              </a:rPr>
              <a:t>Kirchkamp &amp; Strobel (2019); Coeckelbergh (2020)</a:t>
            </a:r>
            <a:endParaRPr sz="1050" i="1">
              <a:solidFill>
                <a:srgbClr val="5F6875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9150" y="5543550"/>
            <a:ext cx="971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i="1">
                <a:solidFill>
                  <a:srgbClr val="9B5D58"/>
                </a:solidFill>
              </a:defRPr>
            </a:pPr>
            <a:r>
              <a:rPr sz="1650" i="1">
                <a:solidFill>
                  <a:srgbClr val="9B5D58"/>
                </a:solidFill>
              </a:rPr>
              <a:t>These literatures are valuable, but they rarely track how AI system design shapes the whole path from decision structure to risky behavior.</a:t>
            </a:r>
            <a:endParaRPr sz="1650" i="1">
              <a:solidFill>
                <a:srgbClr val="9B5D58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85800" y="645795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65341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  <a:endParaRPr sz="900" b="1">
              <a:solidFill>
                <a:srgbClr val="5F6875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12520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3</a:t>
            </a:r>
            <a:endParaRPr sz="900">
              <a:solidFill>
                <a:srgbClr val="5F687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590550"/>
            <a:ext cx="967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The benchmark that Paper 3 tries to move beyond</a:t>
            </a:r>
            <a:endParaRPr sz="1125" i="1">
              <a:solidFill>
                <a:srgbClr val="5F687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677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C2430"/>
                </a:solidFill>
              </a:defRPr>
            </a:pPr>
            <a:r>
              <a:rPr sz="2250" b="1">
                <a:solidFill>
                  <a:srgbClr val="1C2430"/>
                </a:solidFill>
              </a:rPr>
              <a:t>Traditional theories explain risk choice well, but they usually treat responsibility cost as fixed</a:t>
            </a:r>
            <a:endParaRPr sz="2250" b="1">
              <a:solidFill>
                <a:srgbClr val="1C243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0970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914400" y="1752600"/>
            <a:ext cx="4857750" cy="2171700"/>
          </a:xfrm>
          <a:prstGeom prst="roundRect">
            <a:avLst>
              <a:gd name="adj" fmla="val 5263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0002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23364A"/>
                </a:solidFill>
              </a:defRPr>
            </a:pPr>
            <a:r>
              <a:rPr sz="1875" b="1">
                <a:solidFill>
                  <a:srgbClr val="23364A"/>
                </a:solidFill>
              </a:rPr>
              <a:t>Rationalist conflict theories</a:t>
            </a:r>
            <a:endParaRPr sz="1875" b="1">
              <a:solidFill>
                <a:srgbClr val="2336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62050" y="2400300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</a:rPr>
              <a:t>• Conflict escalates because of bargaining failure, information asymmetry, or commitment problems.</a:t>
            </a:r>
            <a:endParaRPr sz="1425">
              <a:solidFill>
                <a:srgbClr val="1C2430"/>
              </a:solidFill>
            </a:endParaRPr>
          </a:p>
          <a:p>
            <a:pPr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</a:rPr>
              <a:t>• The decision maker is still assumed to bear the consequences of the choice.</a:t>
            </a:r>
            <a:endParaRPr sz="1425">
              <a:solidFill>
                <a:srgbClr val="1C243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62050" y="34290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Fearon (1995); Powell (2006)</a:t>
            </a:r>
            <a:endParaRPr sz="1125" i="1">
              <a:solidFill>
                <a:srgbClr val="5F6875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400800" y="1752600"/>
            <a:ext cx="4857750" cy="2171700"/>
          </a:xfrm>
          <a:prstGeom prst="roundRect">
            <a:avLst>
              <a:gd name="adj" fmla="val 5263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648450" y="20002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23364A"/>
                </a:solidFill>
              </a:defRPr>
            </a:pPr>
            <a:r>
              <a:rPr sz="1875" b="1">
                <a:solidFill>
                  <a:srgbClr val="23364A"/>
                </a:solidFill>
              </a:rPr>
              <a:t>Behavioral risk theories</a:t>
            </a:r>
            <a:endParaRPr sz="1875" b="1">
              <a:solidFill>
                <a:srgbClr val="23364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48450" y="2400300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</a:rPr>
              <a:t>• Loss aversion, framing, and affect can change whether people escalate or restrain.</a:t>
            </a:r>
            <a:endParaRPr sz="1425">
              <a:solidFill>
                <a:srgbClr val="1C2430"/>
              </a:solidFill>
            </a:endParaRPr>
          </a:p>
          <a:p>
            <a:pPr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</a:rPr>
              <a:t>• But responsibility structure itself is rarely modeled as the variable that shifts choice.</a:t>
            </a:r>
            <a:endParaRPr sz="1425">
              <a:solidFill>
                <a:srgbClr val="1C243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48450" y="34290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Kahneman &amp; Tversky (1979); Loewenstein et al. (2001)</a:t>
            </a:r>
            <a:endParaRPr sz="1125" i="1">
              <a:solidFill>
                <a:srgbClr val="5F6875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733550" y="4476750"/>
            <a:ext cx="8724900" cy="1181100"/>
          </a:xfrm>
          <a:prstGeom prst="roundRect">
            <a:avLst>
              <a:gd name="adj" fmla="val 12903"/>
            </a:avLst>
          </a:prstGeom>
          <a:solidFill>
            <a:srgbClr val="23364A"/>
          </a:solidFill>
          <a:ln w="0">
            <a:solidFill>
              <a:srgbClr val="23364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171700" y="4781550"/>
            <a:ext cx="781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Paper 3 adds the missing variable: accountability is not just a consequence of risky choice. In AI-supported systems, it can become part of the choice architecture itself.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5800" y="645795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65341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  <a:endParaRPr sz="900" b="1">
              <a:solidFill>
                <a:srgbClr val="5F6875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12520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4</a:t>
            </a:r>
            <a:endParaRPr sz="900">
              <a:solidFill>
                <a:srgbClr val="5F687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590550"/>
            <a:ext cx="967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Gap slide built from targeted literature critiques</a:t>
            </a:r>
            <a:endParaRPr sz="1125" i="1">
              <a:solidFill>
                <a:srgbClr val="5F687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677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C2430"/>
                </a:solidFill>
              </a:defRPr>
            </a:pPr>
            <a:r>
              <a:rPr sz="2250" b="1">
                <a:solidFill>
                  <a:srgbClr val="1C2430"/>
                </a:solidFill>
              </a:rPr>
              <a:t>The literature points to a missing design-level question inside AI-supported decisions</a:t>
            </a:r>
            <a:endParaRPr sz="2250" b="1">
              <a:solidFill>
                <a:srgbClr val="1C243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0970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787" y="1257300"/>
            <a:ext cx="10535376" cy="476250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819150" y="6076950"/>
            <a:ext cx="895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i="1">
                <a:solidFill>
                  <a:srgbClr val="9B5D58"/>
                </a:solidFill>
              </a:defRPr>
            </a:pPr>
            <a:r>
              <a:rPr sz="1125" i="1">
                <a:solidFill>
                  <a:srgbClr val="9B5D58"/>
                </a:solidFill>
              </a:rPr>
              <a:t>The gap is not that AI responsibility has never been studied. The gap is that responsibility design is rarely linked to live high-risk behavior before outcomes occur.</a:t>
            </a:r>
            <a:endParaRPr sz="1125" i="1">
              <a:solidFill>
                <a:srgbClr val="9B5D5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65341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  <a:endParaRPr sz="900" b="1">
              <a:solidFill>
                <a:srgbClr val="5F687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12520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5</a:t>
            </a:r>
            <a:endParaRPr sz="900">
              <a:solidFill>
                <a:srgbClr val="5F687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590550"/>
            <a:ext cx="967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Research questions</a:t>
            </a:r>
            <a:endParaRPr sz="1125" i="1">
              <a:solidFill>
                <a:srgbClr val="5F687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677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C2430"/>
                </a:solidFill>
              </a:defRPr>
            </a:pPr>
            <a:r>
              <a:rPr sz="2250" b="1">
                <a:solidFill>
                  <a:srgbClr val="1C2430"/>
                </a:solidFill>
              </a:rPr>
              <a:t>The paper asks how responsibility design changes high-risk choice</a:t>
            </a:r>
            <a:endParaRPr sz="2250" b="1">
              <a:solidFill>
                <a:srgbClr val="1C243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0970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38200" y="1638300"/>
            <a:ext cx="3009900" cy="3219450"/>
          </a:xfrm>
          <a:prstGeom prst="roundRect">
            <a:avLst>
              <a:gd name="adj" fmla="val 3797"/>
            </a:avLst>
          </a:prstGeom>
          <a:solidFill>
            <a:srgbClr val="23364A"/>
          </a:solidFill>
          <a:ln w="0">
            <a:solidFill>
              <a:srgbClr val="23364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04900" y="2000250"/>
            <a:ext cx="24384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The move is from AI presence to responsibility design.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" y="3429000"/>
            <a:ext cx="228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E5DED3"/>
                </a:solidFill>
              </a:defRPr>
            </a:pPr>
            <a:r>
              <a:rPr sz="1425">
                <a:solidFill>
                  <a:srgbClr val="E5DED3"/>
                </a:solidFill>
              </a:rPr>
              <a:t>The paper asks whether different AI-system interventions change ownership, felt accountability, and escalation.</a:t>
            </a:r>
            <a:endParaRPr sz="1425">
              <a:solidFill>
                <a:srgbClr val="E5DED3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229100" y="1619250"/>
            <a:ext cx="7010400" cy="742950"/>
          </a:xfrm>
          <a:prstGeom prst="roundRect">
            <a:avLst>
              <a:gd name="adj" fmla="val 15385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495800" y="1790700"/>
            <a:ext cx="647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1C2430"/>
                </a:solidFill>
              </a:defRPr>
            </a:pPr>
            <a:r>
              <a:rPr sz="1575">
                <a:solidFill>
                  <a:srgbClr val="1C2430"/>
                </a:solidFill>
              </a:rPr>
              <a:t>RQ1. Does AI support itself change strategic escalation?</a:t>
            </a:r>
            <a:endParaRPr sz="1575">
              <a:solidFill>
                <a:srgbClr val="1C2430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229100" y="2552700"/>
            <a:ext cx="7010400" cy="742950"/>
          </a:xfrm>
          <a:prstGeom prst="roundRect">
            <a:avLst>
              <a:gd name="adj" fmla="val 15385"/>
            </a:avLst>
          </a:prstGeom>
          <a:solidFill>
            <a:srgbClr val="EFE7DD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495800" y="2724150"/>
            <a:ext cx="647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1C2430"/>
                </a:solidFill>
              </a:defRPr>
            </a:pPr>
            <a:r>
              <a:rPr sz="1575">
                <a:solidFill>
                  <a:srgbClr val="1C2430"/>
                </a:solidFill>
              </a:rPr>
              <a:t>RQ2. Does stronger human final agency raise decisional ownership and felt accountability?</a:t>
            </a:r>
            <a:endParaRPr sz="1575">
              <a:solidFill>
                <a:srgbClr val="1C2430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229100" y="3486150"/>
            <a:ext cx="7010400" cy="742950"/>
          </a:xfrm>
          <a:prstGeom prst="roundRect">
            <a:avLst>
              <a:gd name="adj" fmla="val 15385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495800" y="3657600"/>
            <a:ext cx="647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1C2430"/>
                </a:solidFill>
              </a:defRPr>
            </a:pPr>
            <a:r>
              <a:rPr sz="1575">
                <a:solidFill>
                  <a:srgbClr val="1C2430"/>
                </a:solidFill>
              </a:rPr>
              <a:t>RQ3. Does AI-use traceability strengthen answerability, or does it normalize shared responsibility?</a:t>
            </a:r>
            <a:endParaRPr sz="1575">
              <a:solidFill>
                <a:srgbClr val="1C2430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229100" y="4419600"/>
            <a:ext cx="7010400" cy="742950"/>
          </a:xfrm>
          <a:prstGeom prst="roundRect">
            <a:avLst>
              <a:gd name="adj" fmla="val 15385"/>
            </a:avLst>
          </a:prstGeom>
          <a:solidFill>
            <a:srgbClr val="EFE7DD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495800" y="4591050"/>
            <a:ext cx="647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1C2430"/>
                </a:solidFill>
              </a:defRPr>
            </a:pPr>
            <a:r>
              <a:rPr sz="1575">
                <a:solidFill>
                  <a:srgbClr val="1C2430"/>
                </a:solidFill>
              </a:rPr>
              <a:t>RQ4. Do these responsibility changes line up with observable behavior?</a:t>
            </a:r>
            <a:endParaRPr sz="1575">
              <a:solidFill>
                <a:srgbClr val="1C243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248150" y="5543550"/>
            <a:ext cx="666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i="1">
                <a:solidFill>
                  <a:srgbClr val="9B5D58"/>
                </a:solidFill>
              </a:defRPr>
            </a:pPr>
            <a:r>
              <a:rPr sz="1575" i="1">
                <a:solidFill>
                  <a:srgbClr val="9B5D58"/>
                </a:solidFill>
              </a:rPr>
              <a:t>The paper is not asking who gets blamed after failure. It asks how AI-supported systems shape responsibility before action is taken.</a:t>
            </a:r>
            <a:endParaRPr sz="1575" i="1">
              <a:solidFill>
                <a:srgbClr val="9B5D58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645795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85800" y="65341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  <a:endParaRPr sz="900" b="1">
              <a:solidFill>
                <a:srgbClr val="5F687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12520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6</a:t>
            </a:r>
            <a:endParaRPr sz="900">
              <a:solidFill>
                <a:srgbClr val="5F687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590550"/>
            <a:ext cx="967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Framing and alignment</a:t>
            </a:r>
            <a:endParaRPr sz="1125" i="1">
              <a:solidFill>
                <a:srgbClr val="5F687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677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C2430"/>
                </a:solidFill>
              </a:defRPr>
            </a:pPr>
            <a:r>
              <a:rPr sz="2250" b="1">
                <a:solidFill>
                  <a:srgbClr val="1C2430"/>
                </a:solidFill>
              </a:rPr>
              <a:t>The broader theory is about AI proximity, but the current test focuses on confirm and disclosure</a:t>
            </a:r>
            <a:endParaRPr sz="2250" b="1">
              <a:solidFill>
                <a:srgbClr val="1C243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0970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76300" y="1733550"/>
            <a:ext cx="4572000" cy="3448050"/>
          </a:xfrm>
          <a:prstGeom prst="roundRect">
            <a:avLst>
              <a:gd name="adj" fmla="val 3315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23950" y="19812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Broader analytical motivation</a:t>
            </a:r>
            <a:endParaRPr sz="1800" b="1">
              <a:solidFill>
                <a:srgbClr val="2336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400300"/>
            <a:ext cx="379095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</a:rPr>
              <a:t>• As AI moves closer to the final action, ownership may weaken.</a:t>
            </a:r>
            <a:endParaRPr sz="1425">
              <a:solidFill>
                <a:srgbClr val="1C2430"/>
              </a:solidFill>
            </a:endParaRPr>
          </a:p>
          <a:p>
            <a:pPr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</a:rPr>
              <a:t>• Analysis, advice, and delegation may create different responsibility architectures.</a:t>
            </a:r>
            <a:endParaRPr sz="1425">
              <a:solidFill>
                <a:srgbClr val="1C2430"/>
              </a:solidFill>
            </a:endParaRPr>
          </a:p>
          <a:p>
            <a:pPr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</a:rPr>
              <a:t>• This is the broader map behind the paper.</a:t>
            </a:r>
            <a:endParaRPr sz="1425">
              <a:solidFill>
                <a:srgbClr val="1C243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23950" y="430530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i="1">
                <a:solidFill>
                  <a:srgbClr val="A66A4D"/>
                </a:solidFill>
              </a:defRPr>
            </a:pPr>
            <a:r>
              <a:rPr sz="1350" i="1">
                <a:solidFill>
                  <a:srgbClr val="A66A4D"/>
                </a:solidFill>
              </a:rPr>
              <a:t>Role proximity remains the conceptual backdrop.</a:t>
            </a:r>
            <a:endParaRPr sz="1350" i="1">
              <a:solidFill>
                <a:srgbClr val="A66A4D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438900" y="1733550"/>
            <a:ext cx="4857750" cy="3448050"/>
          </a:xfrm>
          <a:prstGeom prst="roundRect">
            <a:avLst>
              <a:gd name="adj" fmla="val 3315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686550" y="19812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Current operational test</a:t>
            </a:r>
            <a:endParaRPr sz="1800" b="1">
              <a:solidFill>
                <a:srgbClr val="23364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86550" y="2400300"/>
            <a:ext cx="40005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</a:rPr>
              <a:t>• Human-only vs AI-baseline identifies AI support per se.</a:t>
            </a:r>
            <a:endParaRPr sz="1425">
              <a:solidFill>
                <a:srgbClr val="1C2430"/>
              </a:solidFill>
            </a:endParaRPr>
          </a:p>
          <a:p>
            <a:pPr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</a:rPr>
              <a:t>• AI-confirm tests whether active human passage re-anchors final agency.</a:t>
            </a:r>
            <a:endParaRPr sz="1425">
              <a:solidFill>
                <a:srgbClr val="1C2430"/>
              </a:solidFill>
            </a:endParaRPr>
          </a:p>
          <a:p>
            <a:pPr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</a:rPr>
              <a:t>• AI-disclosure tests whether explicit visibility and traceability change answerability.</a:t>
            </a:r>
            <a:endParaRPr sz="1425">
              <a:solidFill>
                <a:srgbClr val="1C243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86550" y="4305300"/>
            <a:ext cx="3867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i="1">
                <a:solidFill>
                  <a:srgbClr val="6F7C60"/>
                </a:solidFill>
              </a:defRPr>
            </a:pPr>
            <a:r>
              <a:rPr sz="1350" i="1">
                <a:solidFill>
                  <a:srgbClr val="6F7C60"/>
                </a:solidFill>
              </a:rPr>
              <a:t>So the present experiment operationalizes responsibility design through confirm and disclosure.</a:t>
            </a:r>
            <a:endParaRPr sz="1350" i="1">
              <a:solidFill>
                <a:srgbClr val="6F7C60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038350" y="5505450"/>
            <a:ext cx="8039100" cy="647700"/>
          </a:xfrm>
          <a:prstGeom prst="roundRect">
            <a:avLst>
              <a:gd name="adj" fmla="val 23529"/>
            </a:avLst>
          </a:prstGeom>
          <a:solidFill>
            <a:srgbClr val="23364A"/>
          </a:solidFill>
          <a:ln w="0">
            <a:solidFill>
              <a:srgbClr val="23364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362200" y="5657850"/>
            <a:ext cx="7391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The deck should therefore present role proximity as the motivation, and confirm / disclosure as the current identifiable design test.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5800" y="645795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65341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  <a:endParaRPr sz="900" b="1">
              <a:solidFill>
                <a:srgbClr val="5F6875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12520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7</a:t>
            </a:r>
            <a:endParaRPr sz="900">
              <a:solidFill>
                <a:srgbClr val="5F687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590550"/>
            <a:ext cx="967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Experimental prototype and participant flow</a:t>
            </a:r>
            <a:endParaRPr sz="1125" i="1">
              <a:solidFill>
                <a:srgbClr val="5F687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677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C2430"/>
                </a:solidFill>
              </a:defRPr>
            </a:pPr>
            <a:r>
              <a:rPr sz="2250" b="1">
                <a:solidFill>
                  <a:srgbClr val="1C2430"/>
                </a:solidFill>
              </a:rPr>
              <a:t>A repeated Hawk-Dove task makes responsibility design behaviorally visible</a:t>
            </a:r>
            <a:endParaRPr sz="2250" b="1">
              <a:solidFill>
                <a:srgbClr val="1C243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0970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38200" y="1581150"/>
            <a:ext cx="3543300" cy="3924300"/>
          </a:xfrm>
          <a:prstGeom prst="roundRect">
            <a:avLst>
              <a:gd name="adj" fmla="val 3226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85850" y="18288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Why this prototype</a:t>
            </a:r>
            <a:endParaRPr sz="1800" b="1">
              <a:solidFill>
                <a:srgbClr val="2336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5850" y="2247900"/>
            <a:ext cx="29337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Escalation can deliver a unilateral gain.</a:t>
            </a:r>
            <a:endParaRPr sz="1350">
              <a:solidFill>
                <a:srgbClr val="1C2430"/>
              </a:solidFill>
            </a:endParaRPr>
          </a:p>
          <a:p>
            <a:pPr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Mutual escalation generates shared loss.</a:t>
            </a:r>
            <a:endParaRPr sz="1350">
              <a:solidFill>
                <a:srgbClr val="1C2430"/>
              </a:solidFill>
            </a:endParaRPr>
          </a:p>
          <a:p>
            <a:pPr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The choice is both risky and consequential for another party.</a:t>
            </a:r>
            <a:endParaRPr sz="1350">
              <a:solidFill>
                <a:srgbClr val="1C2430"/>
              </a:solidFill>
            </a:endParaRPr>
          </a:p>
          <a:p>
            <a:pPr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That makes responsibility structure behaviorally meaningful.</a:t>
            </a:r>
            <a:endParaRPr sz="1350">
              <a:solidFill>
                <a:srgbClr val="1C243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85850" y="40957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i="1">
                <a:solidFill>
                  <a:srgbClr val="5F6875"/>
                </a:solidFill>
              </a:defRPr>
            </a:pPr>
            <a:r>
              <a:rPr sz="1200" i="1">
                <a:solidFill>
                  <a:srgbClr val="5F6875"/>
                </a:solidFill>
              </a:rPr>
              <a:t>Illustrative payoff logic</a:t>
            </a:r>
            <a:endParaRPr sz="1200" i="1">
              <a:solidFill>
                <a:srgbClr val="5F6875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000250" y="4381500"/>
            <a:ext cx="838200" cy="400050"/>
          </a:xfrm>
          <a:prstGeom prst="roundRect">
            <a:avLst>
              <a:gd name="adj" fmla="val 4762"/>
            </a:avLst>
          </a:prstGeom>
          <a:solidFill>
            <a:srgbClr val="23364A"/>
          </a:solidFill>
          <a:ln w="0">
            <a:solidFill>
              <a:srgbClr val="23364A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2838450" y="4381500"/>
            <a:ext cx="838200" cy="400050"/>
          </a:xfrm>
          <a:prstGeom prst="roundRect">
            <a:avLst>
              <a:gd name="adj" fmla="val 4762"/>
            </a:avLst>
          </a:prstGeom>
          <a:solidFill>
            <a:srgbClr val="23364A"/>
          </a:solidFill>
          <a:ln w="0">
            <a:solidFill>
              <a:srgbClr val="23364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152650" y="4476750"/>
            <a:ext cx="533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990850" y="4476750"/>
            <a:ext cx="533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85850" y="49339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3364A"/>
                </a:solidFill>
              </a:defRPr>
            </a:pPr>
            <a:r>
              <a:rPr sz="1350" b="1">
                <a:solidFill>
                  <a:srgbClr val="23364A"/>
                </a:solidFill>
              </a:rPr>
              <a:t>R</a:t>
            </a:r>
            <a:endParaRPr sz="1350" b="1">
              <a:solidFill>
                <a:srgbClr val="23364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85850" y="53911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3364A"/>
                </a:solidFill>
              </a:defRPr>
            </a:pPr>
            <a:r>
              <a:rPr sz="1350" b="1">
                <a:solidFill>
                  <a:srgbClr val="23364A"/>
                </a:solidFill>
              </a:rPr>
              <a:t>E</a:t>
            </a:r>
            <a:endParaRPr sz="1350" b="1">
              <a:solidFill>
                <a:srgbClr val="23364A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2000250" y="4838700"/>
            <a:ext cx="838200" cy="400050"/>
          </a:xfrm>
          <a:prstGeom prst="roundRect">
            <a:avLst>
              <a:gd name="adj" fmla="val 4762"/>
            </a:avLst>
          </a:prstGeom>
          <a:solidFill>
            <a:srgbClr val="F4EFE6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095500" y="4933950"/>
            <a:ext cx="647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1C2430"/>
                </a:solidFill>
              </a:defRPr>
            </a:pPr>
            <a:r>
              <a:rPr sz="1200">
                <a:solidFill>
                  <a:srgbClr val="1C2430"/>
                </a:solidFill>
              </a:rPr>
              <a:t>50, 50</a:t>
            </a:r>
            <a:endParaRPr sz="1200">
              <a:solidFill>
                <a:srgbClr val="1C2430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838450" y="4838700"/>
            <a:ext cx="838200" cy="400050"/>
          </a:xfrm>
          <a:prstGeom prst="roundRect">
            <a:avLst>
              <a:gd name="adj" fmla="val 4762"/>
            </a:avLst>
          </a:prstGeom>
          <a:solidFill>
            <a:srgbClr val="F4EFE6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933700" y="4933950"/>
            <a:ext cx="647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1C2430"/>
                </a:solidFill>
              </a:defRPr>
            </a:pPr>
            <a:r>
              <a:rPr sz="1200">
                <a:solidFill>
                  <a:srgbClr val="1C2430"/>
                </a:solidFill>
              </a:rPr>
              <a:t>20, 80</a:t>
            </a:r>
            <a:endParaRPr sz="1200">
              <a:solidFill>
                <a:srgbClr val="1C2430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2000250" y="5295900"/>
            <a:ext cx="838200" cy="400050"/>
          </a:xfrm>
          <a:prstGeom prst="roundRect">
            <a:avLst>
              <a:gd name="adj" fmla="val 4762"/>
            </a:avLst>
          </a:prstGeom>
          <a:solidFill>
            <a:srgbClr val="F4EFE6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095500" y="5391150"/>
            <a:ext cx="647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1C2430"/>
                </a:solidFill>
              </a:defRPr>
            </a:pPr>
            <a:r>
              <a:rPr sz="1200">
                <a:solidFill>
                  <a:srgbClr val="1C2430"/>
                </a:solidFill>
              </a:rPr>
              <a:t>80, 20</a:t>
            </a:r>
            <a:endParaRPr sz="1200">
              <a:solidFill>
                <a:srgbClr val="1C2430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2838450" y="5295900"/>
            <a:ext cx="838200" cy="400050"/>
          </a:xfrm>
          <a:prstGeom prst="roundRect">
            <a:avLst>
              <a:gd name="adj" fmla="val 4762"/>
            </a:avLst>
          </a:prstGeom>
          <a:solidFill>
            <a:srgbClr val="F4EFE6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933700" y="5391150"/>
            <a:ext cx="647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1C2430"/>
                </a:solidFill>
              </a:defRPr>
            </a:pPr>
            <a:r>
              <a:rPr sz="1200">
                <a:solidFill>
                  <a:srgbClr val="1C2430"/>
                </a:solidFill>
              </a:rPr>
              <a:t>10, 10</a:t>
            </a:r>
            <a:endParaRPr sz="1200">
              <a:solidFill>
                <a:srgbClr val="1C2430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819650" y="165735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23364A"/>
                </a:solidFill>
              </a:defRPr>
            </a:pPr>
            <a:r>
              <a:rPr sz="1650" b="1">
                <a:solidFill>
                  <a:srgbClr val="23364A"/>
                </a:solidFill>
              </a:rPr>
              <a:t>Condition logic</a:t>
            </a:r>
            <a:endParaRPr sz="1650" b="1">
              <a:solidFill>
                <a:srgbClr val="2336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4800600" y="2038350"/>
            <a:ext cx="1485900" cy="514350"/>
          </a:xfrm>
          <a:prstGeom prst="roundRect">
            <a:avLst>
              <a:gd name="adj" fmla="val 14815"/>
            </a:avLst>
          </a:prstGeom>
          <a:solidFill>
            <a:srgbClr val="23364A"/>
          </a:solidFill>
          <a:ln w="0">
            <a:solidFill>
              <a:srgbClr val="23364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800600" y="2209800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Human-only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419850" y="2038350"/>
            <a:ext cx="1485900" cy="514350"/>
          </a:xfrm>
          <a:prstGeom prst="roundRect">
            <a:avLst>
              <a:gd name="adj" fmla="val 14815"/>
            </a:avLst>
          </a:prstGeom>
          <a:solidFill>
            <a:srgbClr val="A66A4D"/>
          </a:solidFill>
          <a:ln w="0">
            <a:solidFill>
              <a:srgbClr val="A66A4D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419850" y="2209800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AI-baseline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8039100" y="2038350"/>
            <a:ext cx="1485900" cy="514350"/>
          </a:xfrm>
          <a:prstGeom prst="roundRect">
            <a:avLst>
              <a:gd name="adj" fmla="val 14815"/>
            </a:avLst>
          </a:prstGeom>
          <a:solidFill>
            <a:srgbClr val="6F7C60"/>
          </a:solidFill>
          <a:ln w="0">
            <a:solidFill>
              <a:srgbClr val="6F7C60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039100" y="2209800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AI-confirm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9658350" y="2038350"/>
            <a:ext cx="1485900" cy="514350"/>
          </a:xfrm>
          <a:prstGeom prst="roundRect">
            <a:avLst>
              <a:gd name="adj" fmla="val 14815"/>
            </a:avLst>
          </a:prstGeom>
          <a:solidFill>
            <a:srgbClr val="9B5D58"/>
          </a:solidFill>
          <a:ln w="0">
            <a:solidFill>
              <a:srgbClr val="9B5D5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658350" y="2209800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AI-disclosure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819650" y="3048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23364A"/>
                </a:solidFill>
              </a:defRPr>
            </a:pPr>
            <a:r>
              <a:rPr sz="1650" b="1">
                <a:solidFill>
                  <a:srgbClr val="23364A"/>
                </a:solidFill>
              </a:rPr>
              <a:t>One participant, one round</a:t>
            </a:r>
            <a:endParaRPr sz="1650" b="1">
              <a:solidFill>
                <a:srgbClr val="23364A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4800600" y="3429000"/>
            <a:ext cx="1162050" cy="1123950"/>
          </a:xfrm>
          <a:prstGeom prst="roundRect">
            <a:avLst>
              <a:gd name="adj" fmla="val 6780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914900" y="3714750"/>
            <a:ext cx="933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1C2430"/>
                </a:solidFill>
              </a:defRPr>
            </a:pPr>
            <a:r>
              <a:rPr sz="1275">
                <a:solidFill>
                  <a:srgbClr val="1C2430"/>
                </a:solidFill>
              </a:rPr>
              <a:t>See payoff matrix</a:t>
            </a:r>
            <a:endParaRPr sz="1275">
              <a:solidFill>
                <a:srgbClr val="1C2430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943600" y="3867150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5F6875"/>
                </a:solidFill>
              </a:defRPr>
            </a:pPr>
            <a:r>
              <a:rPr sz="1650" b="1">
                <a:solidFill>
                  <a:srgbClr val="5F6875"/>
                </a:solidFill>
              </a:rPr>
              <a:t>→</a:t>
            </a:r>
            <a:endParaRPr sz="1650" b="1">
              <a:solidFill>
                <a:srgbClr val="5F6875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6096000" y="3429000"/>
            <a:ext cx="1162050" cy="1123950"/>
          </a:xfrm>
          <a:prstGeom prst="roundRect">
            <a:avLst>
              <a:gd name="adj" fmla="val 6780"/>
            </a:avLst>
          </a:prstGeom>
          <a:solidFill>
            <a:srgbClr val="EFE7DD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210300" y="3714750"/>
            <a:ext cx="933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1C2430"/>
                </a:solidFill>
              </a:defRPr>
            </a:pPr>
            <a:r>
              <a:rPr sz="1275">
                <a:solidFill>
                  <a:srgbClr val="1C2430"/>
                </a:solidFill>
              </a:rPr>
              <a:t>See AI analysis if assigned</a:t>
            </a:r>
            <a:endParaRPr sz="1275">
              <a:solidFill>
                <a:srgbClr val="1C2430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239000" y="3867150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5F6875"/>
                </a:solidFill>
              </a:defRPr>
            </a:pPr>
            <a:r>
              <a:rPr sz="1650" b="1">
                <a:solidFill>
                  <a:srgbClr val="5F6875"/>
                </a:solidFill>
              </a:rPr>
              <a:t>→</a:t>
            </a:r>
            <a:endParaRPr sz="1650" b="1">
              <a:solidFill>
                <a:srgbClr val="5F6875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7391400" y="3429000"/>
            <a:ext cx="1162050" cy="1123950"/>
          </a:xfrm>
          <a:prstGeom prst="roundRect">
            <a:avLst>
              <a:gd name="adj" fmla="val 6780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505700" y="3714750"/>
            <a:ext cx="933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1C2430"/>
                </a:solidFill>
              </a:defRPr>
            </a:pPr>
            <a:r>
              <a:rPr sz="1275">
                <a:solidFill>
                  <a:srgbClr val="1C2430"/>
                </a:solidFill>
              </a:rPr>
              <a:t>Confirm or disclose if required</a:t>
            </a:r>
            <a:endParaRPr sz="1275">
              <a:solidFill>
                <a:srgbClr val="1C2430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534400" y="3867150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5F6875"/>
                </a:solidFill>
              </a:defRPr>
            </a:pPr>
            <a:r>
              <a:rPr sz="1650" b="1">
                <a:solidFill>
                  <a:srgbClr val="5F6875"/>
                </a:solidFill>
              </a:rPr>
              <a:t>→</a:t>
            </a:r>
            <a:endParaRPr sz="1650" b="1">
              <a:solidFill>
                <a:srgbClr val="5F6875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8686800" y="3429000"/>
            <a:ext cx="1162050" cy="1123950"/>
          </a:xfrm>
          <a:prstGeom prst="roundRect">
            <a:avLst>
              <a:gd name="adj" fmla="val 6780"/>
            </a:avLst>
          </a:prstGeom>
          <a:solidFill>
            <a:srgbClr val="EFE7DD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801100" y="3714750"/>
            <a:ext cx="933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1C2430"/>
                </a:solidFill>
              </a:defRPr>
            </a:pPr>
            <a:r>
              <a:rPr sz="1275">
                <a:solidFill>
                  <a:srgbClr val="1C2430"/>
                </a:solidFill>
              </a:rPr>
              <a:t>Choose escalate or restrain</a:t>
            </a:r>
            <a:endParaRPr sz="1275">
              <a:solidFill>
                <a:srgbClr val="1C2430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829800" y="3867150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5F6875"/>
                </a:solidFill>
              </a:defRPr>
            </a:pPr>
            <a:r>
              <a:rPr sz="1650" b="1">
                <a:solidFill>
                  <a:srgbClr val="5F6875"/>
                </a:solidFill>
              </a:rPr>
              <a:t>→</a:t>
            </a:r>
            <a:endParaRPr sz="1650" b="1">
              <a:solidFill>
                <a:srgbClr val="5F6875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9982200" y="3429000"/>
            <a:ext cx="1162050" cy="1123950"/>
          </a:xfrm>
          <a:prstGeom prst="roundRect">
            <a:avLst>
              <a:gd name="adj" fmla="val 6780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0096500" y="3714750"/>
            <a:ext cx="933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1C2430"/>
                </a:solidFill>
              </a:defRPr>
            </a:pPr>
            <a:r>
              <a:rPr sz="1275">
                <a:solidFill>
                  <a:srgbClr val="1C2430"/>
                </a:solidFill>
              </a:rPr>
              <a:t>Observe outcome and continue</a:t>
            </a:r>
            <a:endParaRPr sz="1275">
              <a:solidFill>
                <a:srgbClr val="1C2430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4819650" y="4953000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i="1">
                <a:solidFill>
                  <a:srgbClr val="9B5D58"/>
                </a:solidFill>
              </a:defRPr>
            </a:pPr>
            <a:r>
              <a:rPr sz="1425" i="1">
                <a:solidFill>
                  <a:srgbClr val="9B5D58"/>
                </a:solidFill>
              </a:rPr>
              <a:t>The prototype is deliberately simple: it holds the strategic environment fixed and lets responsibility design vary inside the same risky choice structure.</a:t>
            </a:r>
            <a:endParaRPr sz="1425" i="1">
              <a:solidFill>
                <a:srgbClr val="9B5D58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85800" y="645795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685800" y="65341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  <a:endParaRPr sz="900" b="1">
              <a:solidFill>
                <a:srgbClr val="5F6875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112520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8</a:t>
            </a:r>
            <a:endParaRPr sz="900">
              <a:solidFill>
                <a:srgbClr val="5F687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590550"/>
            <a:ext cx="967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Core method table</a:t>
            </a:r>
            <a:endParaRPr sz="1125" i="1">
              <a:solidFill>
                <a:srgbClr val="5F687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677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C2430"/>
                </a:solidFill>
              </a:defRPr>
            </a:pPr>
            <a:r>
              <a:rPr sz="2250" b="1">
                <a:solidFill>
                  <a:srgbClr val="1C2430"/>
                </a:solidFill>
              </a:rPr>
              <a:t>The experimental logic cleanly aligns each manipulation with a comparison and an identification claim</a:t>
            </a:r>
            <a:endParaRPr sz="2250" b="1">
              <a:solidFill>
                <a:srgbClr val="1C243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0970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718265"/>
            <a:ext cx="10591800" cy="3764369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819150" y="6019800"/>
            <a:ext cx="923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i="1">
                <a:solidFill>
                  <a:srgbClr val="9B5D58"/>
                </a:solidFill>
              </a:defRPr>
            </a:pPr>
            <a:r>
              <a:rPr sz="1125" i="1">
                <a:solidFill>
                  <a:srgbClr val="9B5D58"/>
                </a:solidFill>
              </a:rPr>
              <a:t>This is the key method page: each contrast is tied to a distinct responsibility-design question rather than to a generic AI treatment.</a:t>
            </a:r>
            <a:endParaRPr sz="1125" i="1">
              <a:solidFill>
                <a:srgbClr val="9B5D5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65341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  <a:endParaRPr sz="900" b="1">
              <a:solidFill>
                <a:srgbClr val="5F687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12520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9</a:t>
            </a:r>
            <a:endParaRPr sz="900">
              <a:solidFill>
                <a:srgbClr val="5F687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590550"/>
            <a:ext cx="967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Expected patterns and dissertation contribution</a:t>
            </a:r>
            <a:endParaRPr sz="1125" i="1">
              <a:solidFill>
                <a:srgbClr val="5F687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677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C2430"/>
                </a:solidFill>
              </a:defRPr>
            </a:pPr>
            <a:r>
              <a:rPr sz="2250" b="1">
                <a:solidFill>
                  <a:srgbClr val="1C2430"/>
                </a:solidFill>
              </a:rPr>
              <a:t>The contribution is to identify where AI changes responsibility before outcomes occur</a:t>
            </a:r>
            <a:endParaRPr sz="2250" b="1">
              <a:solidFill>
                <a:srgbClr val="1C243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0970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38200" y="1714500"/>
            <a:ext cx="3048000" cy="3219450"/>
          </a:xfrm>
          <a:prstGeom prst="roundRect">
            <a:avLst>
              <a:gd name="adj" fmla="val 3750"/>
            </a:avLst>
          </a:prstGeom>
          <a:solidFill>
            <a:srgbClr val="E9EDF1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19812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Expected pattern</a:t>
            </a:r>
            <a:endParaRPr sz="1800" b="1">
              <a:solidFill>
                <a:srgbClr val="2336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2476500"/>
            <a:ext cx="2438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AI support may already shift escalation and responsibility perception.</a:t>
            </a:r>
            <a:endParaRPr sz="1350">
              <a:solidFill>
                <a:srgbClr val="1C2430"/>
              </a:solidFill>
            </a:endParaRPr>
          </a:p>
          <a:p>
            <a:pPr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Confirm may strengthen ownership by making human passage explicit.</a:t>
            </a:r>
            <a:endParaRPr sz="1350">
              <a:solidFill>
                <a:srgbClr val="1C2430"/>
              </a:solidFill>
            </a:endParaRPr>
          </a:p>
          <a:p>
            <a:pPr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Disclosure may either raise answerability or normalize responsibility sharing.</a:t>
            </a:r>
            <a:endParaRPr sz="1350">
              <a:solidFill>
                <a:srgbClr val="1C2430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267200" y="1714500"/>
            <a:ext cx="3048000" cy="3219450"/>
          </a:xfrm>
          <a:prstGeom prst="roundRect">
            <a:avLst>
              <a:gd name="adj" fmla="val 3750"/>
            </a:avLst>
          </a:prstGeom>
          <a:solidFill>
            <a:srgbClr val="E9DED5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495800" y="19812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Mechanism claim</a:t>
            </a:r>
            <a:endParaRPr sz="1800" b="1">
              <a:solidFill>
                <a:srgbClr val="23364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95800" y="2476500"/>
            <a:ext cx="2438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Structural accountability and felt accountability do not have to move together.</a:t>
            </a:r>
            <a:endParaRPr sz="1350">
              <a:solidFill>
                <a:srgbClr val="1C2430"/>
              </a:solidFill>
            </a:endParaRPr>
          </a:p>
          <a:p>
            <a:pPr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Behavioral change matters most when it lines up with ownership and answerability measures.</a:t>
            </a:r>
            <a:endParaRPr sz="1350">
              <a:solidFill>
                <a:srgbClr val="1C2430"/>
              </a:solidFill>
            </a:endParaRPr>
          </a:p>
          <a:p>
            <a:pPr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If not, competing mechanisms must be taken seriously.</a:t>
            </a:r>
            <a:endParaRPr sz="1350">
              <a:solidFill>
                <a:srgbClr val="1C2430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696200" y="1714500"/>
            <a:ext cx="3048000" cy="3219450"/>
          </a:xfrm>
          <a:prstGeom prst="roundRect">
            <a:avLst>
              <a:gd name="adj" fmla="val 3750"/>
            </a:avLst>
          </a:prstGeom>
          <a:solidFill>
            <a:srgbClr val="E7E9E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924800" y="19812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Dissertation role</a:t>
            </a:r>
            <a:endParaRPr sz="1800" b="1">
              <a:solidFill>
                <a:srgbClr val="23364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924800" y="2476500"/>
            <a:ext cx="2438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Paper 1: how AI changes evidence and belief formation.</a:t>
            </a:r>
            <a:endParaRPr sz="1350">
              <a:solidFill>
                <a:srgbClr val="1C2430"/>
              </a:solidFill>
            </a:endParaRPr>
          </a:p>
          <a:p>
            <a:pPr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Paper 2: how feedback reshapes reliance calibration over time.</a:t>
            </a:r>
            <a:endParaRPr sz="1350">
              <a:solidFill>
                <a:srgbClr val="1C2430"/>
              </a:solidFill>
            </a:endParaRPr>
          </a:p>
          <a:p>
            <a:pPr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Paper 3: how AI-supported action reorganizes responsibility.</a:t>
            </a:r>
            <a:endParaRPr sz="1350">
              <a:solidFill>
                <a:srgbClr val="1C2430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619250" y="5257800"/>
            <a:ext cx="8934450" cy="781050"/>
          </a:xfrm>
          <a:prstGeom prst="roundRect">
            <a:avLst>
              <a:gd name="adj" fmla="val 19512"/>
            </a:avLst>
          </a:prstGeom>
          <a:solidFill>
            <a:srgbClr val="23364A"/>
          </a:solidFill>
          <a:ln w="0">
            <a:solidFill>
              <a:srgbClr val="23364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019300" y="5448300"/>
            <a:ext cx="809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The central claim is simple: what matters is not only whether people use AI, but how AI system design reorganizes responsibility before action is taken.</a:t>
            </a:r>
            <a:endParaRPr sz="1725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645795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65341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  <a:endParaRPr sz="900" b="1">
              <a:solidFill>
                <a:srgbClr val="5F6875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12520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10</a:t>
            </a:r>
            <a:endParaRPr sz="900">
              <a:solidFill>
                <a:srgbClr val="5F687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6476</Words>
  <Application>WPS 演示</Application>
  <PresentationFormat>Converted Presentation</PresentationFormat>
  <Paragraphs>267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汉克克克克克克克</cp:lastModifiedBy>
  <cp:revision>1</cp:revision>
  <dcterms:created xsi:type="dcterms:W3CDTF">2026-07-06T07:46:10Z</dcterms:created>
  <dcterms:modified xsi:type="dcterms:W3CDTF">2026-07-06T07:46:10Z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BF5C110C47184402A209D19E7AA3FE6C_12</vt:lpwstr>
  </property>
</Properties>
</file>