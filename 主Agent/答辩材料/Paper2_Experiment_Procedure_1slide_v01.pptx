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07fe50bd154222" /><Relationship Type="http://schemas.openxmlformats.org/officeDocument/2006/relationships/extended-properties" Target="/docProps/app.xml" Id="R20f867e3c8f84455" /><Relationship Type="http://schemas.openxmlformats.org/officeDocument/2006/relationships/officeDocument" Target="/ppt/presentation.xml" Id="Rf0ba9a56f5be45c7" /></Relationships>
</file>

<file path=ppt/presentation.xml><?xml version="1.0" encoding="utf-8"?>
<p:presentation xmlns:p="http://schemas.openxmlformats.org/presentationml/2006/main">
  <p:sldMasterIdLst>
    <p:sldMasterId xmlns:r="http://schemas.openxmlformats.org/officeDocument/2006/relationships" id="2147483648" r:id="R5474e81967454c80"/>
  </p:sldMasterIdLst>
  <p:notesMasterIdLst>
    <p:notesMasterId xmlns:r="http://schemas.openxmlformats.org/officeDocument/2006/relationships" r:id="R363854063a704b93"/>
  </p:notesMasterIdLst>
  <p:sldIdLst>
    <p:sldId xmlns:r="http://schemas.openxmlformats.org/officeDocument/2006/relationships" id="256" r:id="R921afc4e5c79421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4cbb5331ba41ba" /><Relationship Type="http://schemas.openxmlformats.org/officeDocument/2006/relationships/slideMaster" Target="/ppt/slideMasters/slideMaster1.xml" Id="R5474e81967454c80" /><Relationship Type="http://schemas.openxmlformats.org/officeDocument/2006/relationships/notesMaster" Target="/ppt/notesMasters/notesMaster1.xml" Id="R363854063a704b93" /><Relationship Type="http://schemas.openxmlformats.org/officeDocument/2006/relationships/presProps" Target="/ppt/presProps.xml" Id="R39f4252e62614895" /><Relationship Type="http://schemas.openxmlformats.org/officeDocument/2006/relationships/tableStyles" Target="/ppt/tableStyles.xml" Id="R10d8488196fa4f30" /><Relationship Type="http://schemas.openxmlformats.org/officeDocument/2006/relationships/slide" Target="/ppt/slides/slide1.xml" Id="R921afc4e5c7942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44bb74b5c14f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87111ff4a9473a" /><Relationship Type="http://schemas.openxmlformats.org/officeDocument/2006/relationships/notesMaster" Target="/ppt/notesMasters/notesMaster1.xml" Id="R03cef17a37dd4e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gives the concrete experimental procedure before moving into the identification table.</a:t>
            </a:r>
          </a:p>
          <a:p xmlns:a="http://schemas.openxmlformats.org/drawingml/2006/main">
            <a:r>
              <a:t>Participants complete a repeated abstract allocation task. In each round, they first see recent history for three abstract channels, make their own allocation, then see the AI allocation for the same round. They choose whether to submit their own plan or the AI plan.</a:t>
            </a:r>
          </a:p>
          <a:p xmlns:a="http://schemas.openxmlformats.org/drawingml/2006/main">
            <a:r>
              <a:t>The critical design feature is full feedback. After each round, participants can observe both the payoff of the chosen option and the counterfactual payoff of the unchosen option. This means they can continuously compare self judgment and AI judgment.</a:t>
            </a:r>
          </a:p>
          <a:p xmlns:a="http://schemas.openxmlformats.org/drawingml/2006/main">
            <a:r>
              <a:t>Across participants, the experiment manipulates the timing structure of AI errors. Some paths distribute errors across the window, while shock paths concentrate errors in a pre-registered block and then allow AI performance to recover. Overall AI performance, error count, and error severity are kept as comparable as possible, so later under-reliance cannot simply be explained by the AI being worse on average.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249131423c40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63b1cb6f544dc5" /><Relationship Type="http://schemas.openxmlformats.org/officeDocument/2006/relationships/slideLayout" Target="/ppt/slideLayouts/slideLayout1.xml" Id="R238c7a2d0b5b4c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8c7a2d0b5b4c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5d208ffa8e4d72" /><Relationship Type="http://schemas.openxmlformats.org/officeDocument/2006/relationships/notesSlide" Target="/ppt/notesSlides/notesSlide1.xml" Id="R8618a8079ec1452e" /></Relationships>
</file>

<file path=ppt/slides/slide1.xml><?xml version="1.0" encoding="utf-8"?>
<p:sld xmlns:p="http://schemas.openxmlformats.org/presentationml/2006/main">
  <p:cSld>
    <p:bg>
      <p:bgPr>
        <a:solidFill xmlns:a="http://schemas.openxmlformats.org/drawingml/2006/main">
          <a:srgbClr val="F5F0E6"/>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648869-7B92-46F1-8B32-8BCE6003F3B4}"/>
              </a:ext>
            </a:extLst>
          </p:cNvPr>
          <p:cNvSpPr>
            <a:spLocks xmlns:a="http://schemas.openxmlformats.org/drawingml/2006/main" noGrp="1"/>
          </p:cNvSpPr>
          <p:nvPr/>
        </p:nvSpPr>
        <p:spPr>
          <a:xfrm xmlns:a="http://schemas.openxmlformats.org/drawingml/2006/main">
            <a:off x="552450" y="457200"/>
            <a:ext cx="0" cy="5943600"/>
          </a:xfrm>
          <a:prstGeom xmlns:a="http://schemas.openxmlformats.org/drawingml/2006/main" prst="line">
            <a:avLst/>
          </a:prstGeom>
          <a:ln xmlns:a="http://schemas.openxmlformats.org/drawingml/2006/main" w="9525">
            <a:solidFill>
              <a:srgbClr val="D8CCBB"/>
            </a:solidFill>
            <a:prstDash val="solid"/>
          </a:ln>
        </p:spPr>
      </p:sp>
      <p:sp>
        <p:nvSpPr>
          <p:cNvPr id="2" name="">
            <a:extLst xmlns:a="http://schemas.openxmlformats.org/drawingml/2006/main">
              <a:ext uri="{FF2B5EF4-FFF2-40B4-BE49-F238E27FC236}">
                <a16:creationId xmlns:a16="http://schemas.microsoft.com/office/drawing/2014/main" id="{E319279F-92AC-44FE-BD7C-D6947A6298FF}"/>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ellipse">
            <a:avLst/>
          </a:prstGeom>
          <a:solidFill xmlns:a="http://schemas.openxmlformats.org/drawingml/2006/main">
            <a:srgbClr val="B77845"/>
          </a:solidFill>
          <a:ln xmlns:a="http://schemas.openxmlformats.org/drawingml/2006/main" w="9525">
            <a:solidFill>
              <a:srgbClr val="B77845"/>
            </a:solidFill>
            <a:prstDash val="solid"/>
          </a:ln>
        </p:spPr>
      </p:sp>
      <p:sp>
        <p:nvSpPr>
          <p:cNvPr id="3" name="">
            <a:extLst xmlns:a="http://schemas.openxmlformats.org/drawingml/2006/main">
              <a:ext uri="{FF2B5EF4-FFF2-40B4-BE49-F238E27FC236}">
                <a16:creationId xmlns:a16="http://schemas.microsoft.com/office/drawing/2014/main" id="{CEE14238-21D4-4F86-B891-CB2E1FCEA08D}"/>
              </a:ext>
            </a:extLst>
          </p:cNvPr>
          <p:cNvSpPr>
            <a:spLocks xmlns:a="http://schemas.openxmlformats.org/drawingml/2006/main" noGrp="1"/>
          </p:cNvSpPr>
          <p:nvPr/>
        </p:nvSpPr>
        <p:spPr>
          <a:xfrm xmlns:a="http://schemas.openxmlformats.org/drawingml/2006/main">
            <a:off x="1219200" y="5905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B77845"/>
                </a:solidFill>
                <a:latin typeface="Times New Roman"/>
                <a:ea typeface="Times New Roman"/>
                <a:cs typeface="Times New Roman"/>
              </a:defRPr>
            </a:pPr>
            <a:r>
              <a:rPr sz="900" b="1" i="0">
                <a:solidFill>
                  <a:srgbClr val="B77845"/>
                </a:solidFill>
                <a:latin typeface="Times New Roman"/>
                <a:ea typeface="Times New Roman"/>
                <a:cs typeface="Times New Roman"/>
              </a:rPr>
              <a:t>EXPERIMENTAL PROCEDURE</a:t>
            </a:r>
          </a:p>
        </p:txBody>
      </p:sp>
      <p:sp>
        <p:nvSpPr>
          <p:cNvPr id="4" name="">
            <a:extLst xmlns:a="http://schemas.openxmlformats.org/drawingml/2006/main">
              <a:ext uri="{FF2B5EF4-FFF2-40B4-BE49-F238E27FC236}">
                <a16:creationId xmlns:a16="http://schemas.microsoft.com/office/drawing/2014/main" id="{4D866DD7-8090-416A-A9CC-1F4086CDC3F7}"/>
              </a:ext>
            </a:extLst>
          </p:cNvPr>
          <p:cNvSpPr>
            <a:spLocks xmlns:a="http://schemas.openxmlformats.org/drawingml/2006/main" noGrp="1"/>
          </p:cNvSpPr>
          <p:nvPr/>
        </p:nvSpPr>
        <p:spPr>
          <a:xfrm xmlns:a="http://schemas.openxmlformats.org/drawingml/2006/main">
            <a:off x="914400" y="952500"/>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850" b="1" i="0">
                <a:solidFill>
                  <a:srgbClr val="231D17"/>
                </a:solidFill>
                <a:latin typeface="Times New Roman"/>
                <a:ea typeface="Times New Roman"/>
                <a:cs typeface="Times New Roman"/>
              </a:defRPr>
            </a:pPr>
            <a:r>
              <a:rPr sz="2850" b="1" i="0">
                <a:solidFill>
                  <a:srgbClr val="231D17"/>
                </a:solidFill>
                <a:latin typeface="Times New Roman"/>
                <a:ea typeface="Times New Roman"/>
                <a:cs typeface="Times New Roman"/>
              </a:rPr>
              <a:t>How the Experiment Works</a:t>
            </a:r>
          </a:p>
        </p:txBody>
      </p:sp>
      <p:sp>
        <p:nvSpPr>
          <p:cNvPr id="5" name="">
            <a:extLst xmlns:a="http://schemas.openxmlformats.org/drawingml/2006/main">
              <a:ext uri="{FF2B5EF4-FFF2-40B4-BE49-F238E27FC236}">
                <a16:creationId xmlns:a16="http://schemas.microsoft.com/office/drawing/2014/main" id="{D2BCF50E-1A9C-49B2-A2CB-9629FEAFA30C}"/>
              </a:ext>
            </a:extLst>
          </p:cNvPr>
          <p:cNvSpPr>
            <a:spLocks xmlns:a="http://schemas.openxmlformats.org/drawingml/2006/main" noGrp="1"/>
          </p:cNvSpPr>
          <p:nvPr/>
        </p:nvSpPr>
        <p:spPr>
          <a:xfrm xmlns:a="http://schemas.openxmlformats.org/drawingml/2006/main">
            <a:off x="914400" y="1466850"/>
            <a:ext cx="981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6F665C"/>
                </a:solidFill>
                <a:latin typeface="Times New Roman"/>
                <a:ea typeface="Times New Roman"/>
                <a:cs typeface="Times New Roman"/>
              </a:defRPr>
            </a:pPr>
            <a:r>
              <a:rPr sz="1350" b="0" i="0">
                <a:solidFill>
                  <a:srgbClr val="6F665C"/>
                </a:solidFill>
                <a:latin typeface="Times New Roman"/>
                <a:ea typeface="Times New Roman"/>
                <a:cs typeface="Times New Roman"/>
              </a:rPr>
              <a:t>A repeated abstract allocation task lets each participant compare self judgment and AI judgment under full feedback.</a:t>
            </a:r>
          </a:p>
        </p:txBody>
      </p:sp>
      <p:sp>
        <p:nvSpPr>
          <p:cNvPr id="6" name="">
            <a:extLst xmlns:a="http://schemas.openxmlformats.org/drawingml/2006/main">
              <a:ext uri="{FF2B5EF4-FFF2-40B4-BE49-F238E27FC236}">
                <a16:creationId xmlns:a16="http://schemas.microsoft.com/office/drawing/2014/main" id="{51934E08-9C8C-4207-903C-613B8C0C268D}"/>
              </a:ext>
            </a:extLst>
          </p:cNvPr>
          <p:cNvSpPr>
            <a:spLocks xmlns:a="http://schemas.openxmlformats.org/drawingml/2006/main" noGrp="1"/>
          </p:cNvSpPr>
          <p:nvPr/>
        </p:nvSpPr>
        <p:spPr>
          <a:xfrm xmlns:a="http://schemas.openxmlformats.org/drawingml/2006/main">
            <a:off x="914400" y="2038350"/>
            <a:ext cx="10325100" cy="1562100"/>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9525">
            <a:solidFill>
              <a:srgbClr val="D8CCBB"/>
            </a:solidFill>
            <a:prstDash val="solid"/>
          </a:ln>
        </p:spPr>
      </p:sp>
      <p:sp>
        <p:nvSpPr>
          <p:cNvPr id="7" name="">
            <a:extLst xmlns:a="http://schemas.openxmlformats.org/drawingml/2006/main">
              <a:ext uri="{FF2B5EF4-FFF2-40B4-BE49-F238E27FC236}">
                <a16:creationId xmlns:a16="http://schemas.microsoft.com/office/drawing/2014/main" id="{42EF75D1-4C40-44C5-A6D9-F8C1FD938763}"/>
              </a:ext>
            </a:extLst>
          </p:cNvPr>
          <p:cNvSpPr>
            <a:spLocks xmlns:a="http://schemas.openxmlformats.org/drawingml/2006/main" noGrp="1"/>
          </p:cNvSpPr>
          <p:nvPr/>
        </p:nvSpPr>
        <p:spPr>
          <a:xfrm xmlns:a="http://schemas.openxmlformats.org/drawingml/2006/main">
            <a:off x="914400" y="2038350"/>
            <a:ext cx="57150" cy="1562100"/>
          </a:xfrm>
          <a:prstGeom xmlns:a="http://schemas.openxmlformats.org/drawingml/2006/main" prst="roundRect">
            <a:avLst>
              <a:gd name="adj" fmla="val 33333"/>
            </a:avLst>
          </a:prstGeom>
          <a:solidFill xmlns:a="http://schemas.openxmlformats.org/drawingml/2006/main">
            <a:srgbClr val="B77845"/>
          </a:solidFill>
          <a:ln xmlns:a="http://schemas.openxmlformats.org/drawingml/2006/main" w="9525">
            <a:solidFill>
              <a:srgbClr val="B77845"/>
            </a:solidFill>
            <a:prstDash val="solid"/>
          </a:ln>
        </p:spPr>
      </p:sp>
      <p:sp>
        <p:nvSpPr>
          <p:cNvPr id="8" name="">
            <a:extLst xmlns:a="http://schemas.openxmlformats.org/drawingml/2006/main">
              <a:ext uri="{FF2B5EF4-FFF2-40B4-BE49-F238E27FC236}">
                <a16:creationId xmlns:a16="http://schemas.microsoft.com/office/drawing/2014/main" id="{69D736A5-B565-4D27-92E1-486EAD64CF50}"/>
              </a:ext>
            </a:extLst>
          </p:cNvPr>
          <p:cNvSpPr>
            <a:spLocks xmlns:a="http://schemas.openxmlformats.org/drawingml/2006/main" noGrp="1"/>
          </p:cNvSpPr>
          <p:nvPr/>
        </p:nvSpPr>
        <p:spPr>
          <a:xfrm xmlns:a="http://schemas.openxmlformats.org/drawingml/2006/main">
            <a:off x="1162050" y="22098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717"/>
          </a:bodyPr>
          <a:lstStyle xmlns:a="http://schemas.openxmlformats.org/drawingml/2006/main"/>
          <a:p xmlns:a="http://schemas.openxmlformats.org/drawingml/2006/main">
            <a:pPr algn="l">
              <a:lnSpc>
                <a:spcPct val="105000"/>
              </a:lnSpc>
              <a:buNone/>
              <a:defRPr sz="1725" b="1" i="0">
                <a:solidFill>
                  <a:srgbClr val="B77845"/>
                </a:solidFill>
                <a:latin typeface="Times New Roman"/>
                <a:ea typeface="Times New Roman"/>
                <a:cs typeface="Times New Roman"/>
              </a:defRPr>
            </a:pPr>
            <a:r>
              <a:rPr sz="1725" b="1" i="0">
                <a:solidFill>
                  <a:srgbClr val="B77845"/>
                </a:solidFill>
                <a:latin typeface="Times New Roman"/>
                <a:ea typeface="Times New Roman"/>
                <a:cs typeface="Times New Roman"/>
              </a:rPr>
              <a:t>Between-subject path manipulation</a:t>
            </a:r>
          </a:p>
        </p:txBody>
      </p:sp>
      <p:sp>
        <p:nvSpPr>
          <p:cNvPr id="9" name="">
            <a:extLst xmlns:a="http://schemas.openxmlformats.org/drawingml/2006/main">
              <a:ext uri="{FF2B5EF4-FFF2-40B4-BE49-F238E27FC236}">
                <a16:creationId xmlns:a16="http://schemas.microsoft.com/office/drawing/2014/main" id="{559C6075-57F5-48CC-83F4-B4E26C7E09B0}"/>
              </a:ext>
            </a:extLst>
          </p:cNvPr>
          <p:cNvSpPr>
            <a:spLocks xmlns:a="http://schemas.openxmlformats.org/drawingml/2006/main" noGrp="1"/>
          </p:cNvSpPr>
          <p:nvPr/>
        </p:nvSpPr>
        <p:spPr>
          <a:xfrm xmlns:a="http://schemas.openxmlformats.org/drawingml/2006/main">
            <a:off x="7105650" y="22288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10"/>
          </a:bodyPr>
          <a:lstStyle xmlns:a="http://schemas.openxmlformats.org/drawingml/2006/main"/>
          <a:p xmlns:a="http://schemas.openxmlformats.org/drawingml/2006/main">
            <a:pPr algn="r">
              <a:lnSpc>
                <a:spcPct val="105000"/>
              </a:lnSpc>
              <a:buNone/>
              <a:defRPr sz="1125" b="1" i="0">
                <a:solidFill>
                  <a:srgbClr val="23384A"/>
                </a:solidFill>
                <a:latin typeface="Times New Roman"/>
                <a:ea typeface="Times New Roman"/>
                <a:cs typeface="Times New Roman"/>
              </a:defRPr>
            </a:pPr>
            <a:r>
              <a:rPr sz="1125" b="1" i="0">
                <a:solidFill>
                  <a:srgbClr val="23384A"/>
                </a:solidFill>
                <a:latin typeface="Times New Roman"/>
                <a:ea typeface="Times New Roman"/>
                <a:cs typeface="Times New Roman"/>
              </a:rPr>
              <a:t>Same task, same feedback, parity-controlled AI performance</a:t>
            </a:r>
          </a:p>
        </p:txBody>
      </p:sp>
      <p:sp>
        <p:nvSpPr>
          <p:cNvPr id="10" name="">
            <a:extLst xmlns:a="http://schemas.openxmlformats.org/drawingml/2006/main">
              <a:ext uri="{FF2B5EF4-FFF2-40B4-BE49-F238E27FC236}">
                <a16:creationId xmlns:a16="http://schemas.microsoft.com/office/drawing/2014/main" id="{5F25DC48-A539-4A95-81D4-A05F7BF39BC3}"/>
              </a:ext>
            </a:extLst>
          </p:cNvPr>
          <p:cNvSpPr>
            <a:spLocks xmlns:a="http://schemas.openxmlformats.org/drawingml/2006/main" noGrp="1"/>
          </p:cNvSpPr>
          <p:nvPr/>
        </p:nvSpPr>
        <p:spPr>
          <a:xfrm xmlns:a="http://schemas.openxmlformats.org/drawingml/2006/main">
            <a:off x="1162050" y="26098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31D17"/>
                </a:solidFill>
                <a:latin typeface="Times New Roman"/>
                <a:ea typeface="Times New Roman"/>
                <a:cs typeface="Times New Roman"/>
              </a:defRPr>
            </a:pPr>
            <a:r>
              <a:rPr sz="1200" b="1" i="0">
                <a:solidFill>
                  <a:srgbClr val="231D17"/>
                </a:solidFill>
                <a:latin typeface="Times New Roman"/>
                <a:ea typeface="Times New Roman"/>
                <a:cs typeface="Times New Roman"/>
              </a:rPr>
              <a:t>Balanced error</a:t>
            </a:r>
          </a:p>
        </p:txBody>
      </p:sp>
      <p:sp>
        <p:nvSpPr>
          <p:cNvPr id="11" name="">
            <a:extLst xmlns:a="http://schemas.openxmlformats.org/drawingml/2006/main">
              <a:ext uri="{FF2B5EF4-FFF2-40B4-BE49-F238E27FC236}">
                <a16:creationId xmlns:a16="http://schemas.microsoft.com/office/drawing/2014/main" id="{AA3DEAB9-11B6-490D-8346-5A9DD39EE901}"/>
              </a:ext>
            </a:extLst>
          </p:cNvPr>
          <p:cNvSpPr>
            <a:spLocks xmlns:a="http://schemas.openxmlformats.org/drawingml/2006/main" noGrp="1"/>
          </p:cNvSpPr>
          <p:nvPr/>
        </p:nvSpPr>
        <p:spPr>
          <a:xfrm xmlns:a="http://schemas.openxmlformats.org/drawingml/2006/main">
            <a:off x="274320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12" name="">
            <a:extLst xmlns:a="http://schemas.openxmlformats.org/drawingml/2006/main">
              <a:ext uri="{FF2B5EF4-FFF2-40B4-BE49-F238E27FC236}">
                <a16:creationId xmlns:a16="http://schemas.microsoft.com/office/drawing/2014/main" id="{AFE3B9E6-8D24-4B29-8399-4F99BE3BE23B}"/>
              </a:ext>
            </a:extLst>
          </p:cNvPr>
          <p:cNvSpPr>
            <a:spLocks xmlns:a="http://schemas.openxmlformats.org/drawingml/2006/main" noGrp="1"/>
          </p:cNvSpPr>
          <p:nvPr/>
        </p:nvSpPr>
        <p:spPr>
          <a:xfrm xmlns:a="http://schemas.openxmlformats.org/drawingml/2006/main">
            <a:off x="291465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13" name="">
            <a:extLst xmlns:a="http://schemas.openxmlformats.org/drawingml/2006/main">
              <a:ext uri="{FF2B5EF4-FFF2-40B4-BE49-F238E27FC236}">
                <a16:creationId xmlns:a16="http://schemas.microsoft.com/office/drawing/2014/main" id="{06CC848F-70FF-4D73-9097-CB7BF969B39D}"/>
              </a:ext>
            </a:extLst>
          </p:cNvPr>
          <p:cNvSpPr>
            <a:spLocks xmlns:a="http://schemas.openxmlformats.org/drawingml/2006/main" noGrp="1"/>
          </p:cNvSpPr>
          <p:nvPr/>
        </p:nvSpPr>
        <p:spPr>
          <a:xfrm xmlns:a="http://schemas.openxmlformats.org/drawingml/2006/main">
            <a:off x="3086100" y="2647950"/>
            <a:ext cx="152400" cy="209550"/>
          </a:xfrm>
          <a:prstGeom xmlns:a="http://schemas.openxmlformats.org/drawingml/2006/main" prst="rect">
            <a:avLst/>
          </a:prstGeom>
          <a:solidFill xmlns:a="http://schemas.openxmlformats.org/drawingml/2006/main">
            <a:srgbClr val="B65A4D"/>
          </a:solidFill>
          <a:ln xmlns:a="http://schemas.openxmlformats.org/drawingml/2006/main" w="9525">
            <a:solidFill>
              <a:srgbClr val="F5F0E6"/>
            </a:solidFill>
            <a:prstDash val="solid"/>
          </a:ln>
        </p:spPr>
      </p:sp>
      <p:sp>
        <p:nvSpPr>
          <p:cNvPr id="14" name="">
            <a:extLst xmlns:a="http://schemas.openxmlformats.org/drawingml/2006/main">
              <a:ext uri="{FF2B5EF4-FFF2-40B4-BE49-F238E27FC236}">
                <a16:creationId xmlns:a16="http://schemas.microsoft.com/office/drawing/2014/main" id="{F3AEB4C3-2F85-4A56-AEA8-8CC3DDDB0601}"/>
              </a:ext>
            </a:extLst>
          </p:cNvPr>
          <p:cNvSpPr>
            <a:spLocks xmlns:a="http://schemas.openxmlformats.org/drawingml/2006/main" noGrp="1"/>
          </p:cNvSpPr>
          <p:nvPr/>
        </p:nvSpPr>
        <p:spPr>
          <a:xfrm xmlns:a="http://schemas.openxmlformats.org/drawingml/2006/main">
            <a:off x="325755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15" name="">
            <a:extLst xmlns:a="http://schemas.openxmlformats.org/drawingml/2006/main">
              <a:ext uri="{FF2B5EF4-FFF2-40B4-BE49-F238E27FC236}">
                <a16:creationId xmlns:a16="http://schemas.microsoft.com/office/drawing/2014/main" id="{3ECE850E-D728-45AC-959D-4DF778E713F1}"/>
              </a:ext>
            </a:extLst>
          </p:cNvPr>
          <p:cNvSpPr>
            <a:spLocks xmlns:a="http://schemas.openxmlformats.org/drawingml/2006/main" noGrp="1"/>
          </p:cNvSpPr>
          <p:nvPr/>
        </p:nvSpPr>
        <p:spPr>
          <a:xfrm xmlns:a="http://schemas.openxmlformats.org/drawingml/2006/main">
            <a:off x="342900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16" name="">
            <a:extLst xmlns:a="http://schemas.openxmlformats.org/drawingml/2006/main">
              <a:ext uri="{FF2B5EF4-FFF2-40B4-BE49-F238E27FC236}">
                <a16:creationId xmlns:a16="http://schemas.microsoft.com/office/drawing/2014/main" id="{2AB34C93-770C-4A32-9CAB-EFB5705DA1B8}"/>
              </a:ext>
            </a:extLst>
          </p:cNvPr>
          <p:cNvSpPr>
            <a:spLocks xmlns:a="http://schemas.openxmlformats.org/drawingml/2006/main" noGrp="1"/>
          </p:cNvSpPr>
          <p:nvPr/>
        </p:nvSpPr>
        <p:spPr>
          <a:xfrm xmlns:a="http://schemas.openxmlformats.org/drawingml/2006/main">
            <a:off x="360045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17" name="">
            <a:extLst xmlns:a="http://schemas.openxmlformats.org/drawingml/2006/main">
              <a:ext uri="{FF2B5EF4-FFF2-40B4-BE49-F238E27FC236}">
                <a16:creationId xmlns:a16="http://schemas.microsoft.com/office/drawing/2014/main" id="{255FA2C6-D91E-484E-AA74-8C9EACAB10C7}"/>
              </a:ext>
            </a:extLst>
          </p:cNvPr>
          <p:cNvSpPr>
            <a:spLocks xmlns:a="http://schemas.openxmlformats.org/drawingml/2006/main" noGrp="1"/>
          </p:cNvSpPr>
          <p:nvPr/>
        </p:nvSpPr>
        <p:spPr>
          <a:xfrm xmlns:a="http://schemas.openxmlformats.org/drawingml/2006/main">
            <a:off x="377190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18" name="">
            <a:extLst xmlns:a="http://schemas.openxmlformats.org/drawingml/2006/main">
              <a:ext uri="{FF2B5EF4-FFF2-40B4-BE49-F238E27FC236}">
                <a16:creationId xmlns:a16="http://schemas.microsoft.com/office/drawing/2014/main" id="{3E66539B-01F5-4B9D-B830-84177136AC83}"/>
              </a:ext>
            </a:extLst>
          </p:cNvPr>
          <p:cNvSpPr>
            <a:spLocks xmlns:a="http://schemas.openxmlformats.org/drawingml/2006/main" noGrp="1"/>
          </p:cNvSpPr>
          <p:nvPr/>
        </p:nvSpPr>
        <p:spPr>
          <a:xfrm xmlns:a="http://schemas.openxmlformats.org/drawingml/2006/main">
            <a:off x="3943350" y="2647950"/>
            <a:ext cx="152400" cy="209550"/>
          </a:xfrm>
          <a:prstGeom xmlns:a="http://schemas.openxmlformats.org/drawingml/2006/main" prst="rect">
            <a:avLst/>
          </a:prstGeom>
          <a:solidFill xmlns:a="http://schemas.openxmlformats.org/drawingml/2006/main">
            <a:srgbClr val="B65A4D"/>
          </a:solidFill>
          <a:ln xmlns:a="http://schemas.openxmlformats.org/drawingml/2006/main" w="9525">
            <a:solidFill>
              <a:srgbClr val="F5F0E6"/>
            </a:solidFill>
            <a:prstDash val="solid"/>
          </a:ln>
        </p:spPr>
      </p:sp>
      <p:sp>
        <p:nvSpPr>
          <p:cNvPr id="19" name="">
            <a:extLst xmlns:a="http://schemas.openxmlformats.org/drawingml/2006/main">
              <a:ext uri="{FF2B5EF4-FFF2-40B4-BE49-F238E27FC236}">
                <a16:creationId xmlns:a16="http://schemas.microsoft.com/office/drawing/2014/main" id="{A56492D2-42EF-4247-8A95-2612D68E4A3A}"/>
              </a:ext>
            </a:extLst>
          </p:cNvPr>
          <p:cNvSpPr>
            <a:spLocks xmlns:a="http://schemas.openxmlformats.org/drawingml/2006/main" noGrp="1"/>
          </p:cNvSpPr>
          <p:nvPr/>
        </p:nvSpPr>
        <p:spPr>
          <a:xfrm xmlns:a="http://schemas.openxmlformats.org/drawingml/2006/main">
            <a:off x="411480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20" name="">
            <a:extLst xmlns:a="http://schemas.openxmlformats.org/drawingml/2006/main">
              <a:ext uri="{FF2B5EF4-FFF2-40B4-BE49-F238E27FC236}">
                <a16:creationId xmlns:a16="http://schemas.microsoft.com/office/drawing/2014/main" id="{0CC9E53B-A1EF-4482-A714-007D3075FE86}"/>
              </a:ext>
            </a:extLst>
          </p:cNvPr>
          <p:cNvSpPr>
            <a:spLocks xmlns:a="http://schemas.openxmlformats.org/drawingml/2006/main" noGrp="1"/>
          </p:cNvSpPr>
          <p:nvPr/>
        </p:nvSpPr>
        <p:spPr>
          <a:xfrm xmlns:a="http://schemas.openxmlformats.org/drawingml/2006/main">
            <a:off x="428625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21" name="">
            <a:extLst xmlns:a="http://schemas.openxmlformats.org/drawingml/2006/main">
              <a:ext uri="{FF2B5EF4-FFF2-40B4-BE49-F238E27FC236}">
                <a16:creationId xmlns:a16="http://schemas.microsoft.com/office/drawing/2014/main" id="{E251DD58-F200-4780-AFAD-261286E9395A}"/>
              </a:ext>
            </a:extLst>
          </p:cNvPr>
          <p:cNvSpPr>
            <a:spLocks xmlns:a="http://schemas.openxmlformats.org/drawingml/2006/main" noGrp="1"/>
          </p:cNvSpPr>
          <p:nvPr/>
        </p:nvSpPr>
        <p:spPr>
          <a:xfrm xmlns:a="http://schemas.openxmlformats.org/drawingml/2006/main">
            <a:off x="445770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22" name="">
            <a:extLst xmlns:a="http://schemas.openxmlformats.org/drawingml/2006/main">
              <a:ext uri="{FF2B5EF4-FFF2-40B4-BE49-F238E27FC236}">
                <a16:creationId xmlns:a16="http://schemas.microsoft.com/office/drawing/2014/main" id="{94023367-735D-4942-89A4-7C706366E304}"/>
              </a:ext>
            </a:extLst>
          </p:cNvPr>
          <p:cNvSpPr>
            <a:spLocks xmlns:a="http://schemas.openxmlformats.org/drawingml/2006/main" noGrp="1"/>
          </p:cNvSpPr>
          <p:nvPr/>
        </p:nvSpPr>
        <p:spPr>
          <a:xfrm xmlns:a="http://schemas.openxmlformats.org/drawingml/2006/main">
            <a:off x="462915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23" name="">
            <a:extLst xmlns:a="http://schemas.openxmlformats.org/drawingml/2006/main">
              <a:ext uri="{FF2B5EF4-FFF2-40B4-BE49-F238E27FC236}">
                <a16:creationId xmlns:a16="http://schemas.microsoft.com/office/drawing/2014/main" id="{8A477D47-C99D-4E09-BD0D-1423D822C5BC}"/>
              </a:ext>
            </a:extLst>
          </p:cNvPr>
          <p:cNvSpPr>
            <a:spLocks xmlns:a="http://schemas.openxmlformats.org/drawingml/2006/main" noGrp="1"/>
          </p:cNvSpPr>
          <p:nvPr/>
        </p:nvSpPr>
        <p:spPr>
          <a:xfrm xmlns:a="http://schemas.openxmlformats.org/drawingml/2006/main">
            <a:off x="4800600" y="2647950"/>
            <a:ext cx="152400" cy="209550"/>
          </a:xfrm>
          <a:prstGeom xmlns:a="http://schemas.openxmlformats.org/drawingml/2006/main" prst="rect">
            <a:avLst/>
          </a:prstGeom>
          <a:solidFill xmlns:a="http://schemas.openxmlformats.org/drawingml/2006/main">
            <a:srgbClr val="B65A4D"/>
          </a:solidFill>
          <a:ln xmlns:a="http://schemas.openxmlformats.org/drawingml/2006/main" w="9525">
            <a:solidFill>
              <a:srgbClr val="F5F0E6"/>
            </a:solidFill>
            <a:prstDash val="solid"/>
          </a:ln>
        </p:spPr>
      </p:sp>
      <p:sp>
        <p:nvSpPr>
          <p:cNvPr id="24" name="">
            <a:extLst xmlns:a="http://schemas.openxmlformats.org/drawingml/2006/main">
              <a:ext uri="{FF2B5EF4-FFF2-40B4-BE49-F238E27FC236}">
                <a16:creationId xmlns:a16="http://schemas.microsoft.com/office/drawing/2014/main" id="{2CA143B5-2AD4-40DC-9513-BD02DE5C78DF}"/>
              </a:ext>
            </a:extLst>
          </p:cNvPr>
          <p:cNvSpPr>
            <a:spLocks xmlns:a="http://schemas.openxmlformats.org/drawingml/2006/main" noGrp="1"/>
          </p:cNvSpPr>
          <p:nvPr/>
        </p:nvSpPr>
        <p:spPr>
          <a:xfrm xmlns:a="http://schemas.openxmlformats.org/drawingml/2006/main">
            <a:off x="497205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25" name="">
            <a:extLst xmlns:a="http://schemas.openxmlformats.org/drawingml/2006/main">
              <a:ext uri="{FF2B5EF4-FFF2-40B4-BE49-F238E27FC236}">
                <a16:creationId xmlns:a16="http://schemas.microsoft.com/office/drawing/2014/main" id="{D38CBCCE-17E9-4EA4-BCC0-D91DEEABD888}"/>
              </a:ext>
            </a:extLst>
          </p:cNvPr>
          <p:cNvSpPr>
            <a:spLocks xmlns:a="http://schemas.openxmlformats.org/drawingml/2006/main" noGrp="1"/>
          </p:cNvSpPr>
          <p:nvPr/>
        </p:nvSpPr>
        <p:spPr>
          <a:xfrm xmlns:a="http://schemas.openxmlformats.org/drawingml/2006/main">
            <a:off x="514350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26" name="">
            <a:extLst xmlns:a="http://schemas.openxmlformats.org/drawingml/2006/main">
              <a:ext uri="{FF2B5EF4-FFF2-40B4-BE49-F238E27FC236}">
                <a16:creationId xmlns:a16="http://schemas.microsoft.com/office/drawing/2014/main" id="{0F238336-D128-453C-9F82-E0FD9970F879}"/>
              </a:ext>
            </a:extLst>
          </p:cNvPr>
          <p:cNvSpPr>
            <a:spLocks xmlns:a="http://schemas.openxmlformats.org/drawingml/2006/main" noGrp="1"/>
          </p:cNvSpPr>
          <p:nvPr/>
        </p:nvSpPr>
        <p:spPr>
          <a:xfrm xmlns:a="http://schemas.openxmlformats.org/drawingml/2006/main">
            <a:off x="531495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27" name="">
            <a:extLst xmlns:a="http://schemas.openxmlformats.org/drawingml/2006/main">
              <a:ext uri="{FF2B5EF4-FFF2-40B4-BE49-F238E27FC236}">
                <a16:creationId xmlns:a16="http://schemas.microsoft.com/office/drawing/2014/main" id="{525C5BCD-248D-4554-8B20-5B4F2F08394D}"/>
              </a:ext>
            </a:extLst>
          </p:cNvPr>
          <p:cNvSpPr>
            <a:spLocks xmlns:a="http://schemas.openxmlformats.org/drawingml/2006/main" noGrp="1"/>
          </p:cNvSpPr>
          <p:nvPr/>
        </p:nvSpPr>
        <p:spPr>
          <a:xfrm xmlns:a="http://schemas.openxmlformats.org/drawingml/2006/main">
            <a:off x="548640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28" name="">
            <a:extLst xmlns:a="http://schemas.openxmlformats.org/drawingml/2006/main">
              <a:ext uri="{FF2B5EF4-FFF2-40B4-BE49-F238E27FC236}">
                <a16:creationId xmlns:a16="http://schemas.microsoft.com/office/drawing/2014/main" id="{4479AE33-52A2-4A37-99EB-F6C93F719DB4}"/>
              </a:ext>
            </a:extLst>
          </p:cNvPr>
          <p:cNvSpPr>
            <a:spLocks xmlns:a="http://schemas.openxmlformats.org/drawingml/2006/main" noGrp="1"/>
          </p:cNvSpPr>
          <p:nvPr/>
        </p:nvSpPr>
        <p:spPr>
          <a:xfrm xmlns:a="http://schemas.openxmlformats.org/drawingml/2006/main">
            <a:off x="5657850" y="2647950"/>
            <a:ext cx="152400" cy="209550"/>
          </a:xfrm>
          <a:prstGeom xmlns:a="http://schemas.openxmlformats.org/drawingml/2006/main" prst="rect">
            <a:avLst/>
          </a:prstGeom>
          <a:solidFill xmlns:a="http://schemas.openxmlformats.org/drawingml/2006/main">
            <a:srgbClr val="B65A4D"/>
          </a:solidFill>
          <a:ln xmlns:a="http://schemas.openxmlformats.org/drawingml/2006/main" w="9525">
            <a:solidFill>
              <a:srgbClr val="F5F0E6"/>
            </a:solidFill>
            <a:prstDash val="solid"/>
          </a:ln>
        </p:spPr>
      </p:sp>
      <p:sp>
        <p:nvSpPr>
          <p:cNvPr id="29" name="">
            <a:extLst xmlns:a="http://schemas.openxmlformats.org/drawingml/2006/main">
              <a:ext uri="{FF2B5EF4-FFF2-40B4-BE49-F238E27FC236}">
                <a16:creationId xmlns:a16="http://schemas.microsoft.com/office/drawing/2014/main" id="{C0F02928-3079-428E-A6BD-A7F2BF9091F4}"/>
              </a:ext>
            </a:extLst>
          </p:cNvPr>
          <p:cNvSpPr>
            <a:spLocks xmlns:a="http://schemas.openxmlformats.org/drawingml/2006/main" noGrp="1"/>
          </p:cNvSpPr>
          <p:nvPr/>
        </p:nvSpPr>
        <p:spPr>
          <a:xfrm xmlns:a="http://schemas.openxmlformats.org/drawingml/2006/main">
            <a:off x="582930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30" name="">
            <a:extLst xmlns:a="http://schemas.openxmlformats.org/drawingml/2006/main">
              <a:ext uri="{FF2B5EF4-FFF2-40B4-BE49-F238E27FC236}">
                <a16:creationId xmlns:a16="http://schemas.microsoft.com/office/drawing/2014/main" id="{8AE49B56-0323-4AFA-9AC0-D74E5815C887}"/>
              </a:ext>
            </a:extLst>
          </p:cNvPr>
          <p:cNvSpPr>
            <a:spLocks xmlns:a="http://schemas.openxmlformats.org/drawingml/2006/main" noGrp="1"/>
          </p:cNvSpPr>
          <p:nvPr/>
        </p:nvSpPr>
        <p:spPr>
          <a:xfrm xmlns:a="http://schemas.openxmlformats.org/drawingml/2006/main">
            <a:off x="6000750" y="26479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31" name="">
            <a:extLst xmlns:a="http://schemas.openxmlformats.org/drawingml/2006/main">
              <a:ext uri="{FF2B5EF4-FFF2-40B4-BE49-F238E27FC236}">
                <a16:creationId xmlns:a16="http://schemas.microsoft.com/office/drawing/2014/main" id="{5DA70103-CD63-473F-B226-D98104C95229}"/>
              </a:ext>
            </a:extLst>
          </p:cNvPr>
          <p:cNvSpPr>
            <a:spLocks xmlns:a="http://schemas.openxmlformats.org/drawingml/2006/main" noGrp="1"/>
          </p:cNvSpPr>
          <p:nvPr/>
        </p:nvSpPr>
        <p:spPr>
          <a:xfrm xmlns:a="http://schemas.openxmlformats.org/drawingml/2006/main">
            <a:off x="2743200" y="29337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F665C"/>
                </a:solidFill>
                <a:latin typeface="Times New Roman"/>
                <a:ea typeface="Times New Roman"/>
                <a:cs typeface="Times New Roman"/>
              </a:defRPr>
            </a:pPr>
            <a:r>
              <a:rPr sz="900" b="0" i="0">
                <a:solidFill>
                  <a:srgbClr val="6F665C"/>
                </a:solidFill>
                <a:latin typeface="Times New Roman"/>
                <a:ea typeface="Times New Roman"/>
                <a:cs typeface="Times New Roman"/>
              </a:rPr>
              <a:t>Rounds 1-20</a:t>
            </a:r>
          </a:p>
        </p:txBody>
      </p:sp>
      <p:sp>
        <p:nvSpPr>
          <p:cNvPr id="32" name="">
            <a:extLst xmlns:a="http://schemas.openxmlformats.org/drawingml/2006/main">
              <a:ext uri="{FF2B5EF4-FFF2-40B4-BE49-F238E27FC236}">
                <a16:creationId xmlns:a16="http://schemas.microsoft.com/office/drawing/2014/main" id="{D8F2CCF6-F5DE-4FF6-94CD-29D018AC6DDC}"/>
              </a:ext>
            </a:extLst>
          </p:cNvPr>
          <p:cNvSpPr>
            <a:spLocks xmlns:a="http://schemas.openxmlformats.org/drawingml/2006/main" noGrp="1"/>
          </p:cNvSpPr>
          <p:nvPr/>
        </p:nvSpPr>
        <p:spPr>
          <a:xfrm xmlns:a="http://schemas.openxmlformats.org/drawingml/2006/main">
            <a:off x="6457950" y="263842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296"/>
          </a:bodyPr>
          <a:lstStyle xmlns:a="http://schemas.openxmlformats.org/drawingml/2006/main"/>
          <a:p xmlns:a="http://schemas.openxmlformats.org/drawingml/2006/main">
            <a:pPr algn="l">
              <a:lnSpc>
                <a:spcPct val="105000"/>
              </a:lnSpc>
              <a:buNone/>
              <a:defRPr sz="975" b="0" i="0">
                <a:solidFill>
                  <a:srgbClr val="6F665C"/>
                </a:solidFill>
                <a:latin typeface="Times New Roman"/>
                <a:ea typeface="Times New Roman"/>
                <a:cs typeface="Times New Roman"/>
              </a:defRPr>
            </a:pPr>
            <a:r>
              <a:rPr sz="975" b="0" i="0">
                <a:solidFill>
                  <a:srgbClr val="6F665C"/>
                </a:solidFill>
                <a:latin typeface="Times New Roman"/>
                <a:ea typeface="Times New Roman"/>
                <a:cs typeface="Times New Roman"/>
              </a:rPr>
              <a:t>Errors are spread across the repeated window.</a:t>
            </a:r>
          </a:p>
        </p:txBody>
      </p:sp>
      <p:sp>
        <p:nvSpPr>
          <p:cNvPr id="33" name="">
            <a:extLst xmlns:a="http://schemas.openxmlformats.org/drawingml/2006/main">
              <a:ext uri="{FF2B5EF4-FFF2-40B4-BE49-F238E27FC236}">
                <a16:creationId xmlns:a16="http://schemas.microsoft.com/office/drawing/2014/main" id="{64F7AF91-2569-4C96-97B3-044E8538A92D}"/>
              </a:ext>
            </a:extLst>
          </p:cNvPr>
          <p:cNvSpPr>
            <a:spLocks xmlns:a="http://schemas.openxmlformats.org/drawingml/2006/main" noGrp="1"/>
          </p:cNvSpPr>
          <p:nvPr/>
        </p:nvSpPr>
        <p:spPr>
          <a:xfrm xmlns:a="http://schemas.openxmlformats.org/drawingml/2006/main">
            <a:off x="1162050" y="31051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31D17"/>
                </a:solidFill>
                <a:latin typeface="Times New Roman"/>
                <a:ea typeface="Times New Roman"/>
                <a:cs typeface="Times New Roman"/>
              </a:defRPr>
            </a:pPr>
            <a:r>
              <a:rPr sz="1200" b="1" i="0">
                <a:solidFill>
                  <a:srgbClr val="231D17"/>
                </a:solidFill>
                <a:latin typeface="Times New Roman"/>
                <a:ea typeface="Times New Roman"/>
                <a:cs typeface="Times New Roman"/>
              </a:rPr>
              <a:t>AI shock path</a:t>
            </a:r>
          </a:p>
        </p:txBody>
      </p:sp>
      <p:sp>
        <p:nvSpPr>
          <p:cNvPr id="34" name="">
            <a:extLst xmlns:a="http://schemas.openxmlformats.org/drawingml/2006/main">
              <a:ext uri="{FF2B5EF4-FFF2-40B4-BE49-F238E27FC236}">
                <a16:creationId xmlns:a16="http://schemas.microsoft.com/office/drawing/2014/main" id="{8EEC5574-EA4F-4DF5-ADE7-35972DAD0664}"/>
              </a:ext>
            </a:extLst>
          </p:cNvPr>
          <p:cNvSpPr>
            <a:spLocks xmlns:a="http://schemas.openxmlformats.org/drawingml/2006/main" noGrp="1"/>
          </p:cNvSpPr>
          <p:nvPr/>
        </p:nvSpPr>
        <p:spPr>
          <a:xfrm xmlns:a="http://schemas.openxmlformats.org/drawingml/2006/main">
            <a:off x="274320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35" name="">
            <a:extLst xmlns:a="http://schemas.openxmlformats.org/drawingml/2006/main">
              <a:ext uri="{FF2B5EF4-FFF2-40B4-BE49-F238E27FC236}">
                <a16:creationId xmlns:a16="http://schemas.microsoft.com/office/drawing/2014/main" id="{4C626FBB-7B8E-47AA-89D0-709291FA0AD7}"/>
              </a:ext>
            </a:extLst>
          </p:cNvPr>
          <p:cNvSpPr>
            <a:spLocks xmlns:a="http://schemas.openxmlformats.org/drawingml/2006/main" noGrp="1"/>
          </p:cNvSpPr>
          <p:nvPr/>
        </p:nvSpPr>
        <p:spPr>
          <a:xfrm xmlns:a="http://schemas.openxmlformats.org/drawingml/2006/main">
            <a:off x="291465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36" name="">
            <a:extLst xmlns:a="http://schemas.openxmlformats.org/drawingml/2006/main">
              <a:ext uri="{FF2B5EF4-FFF2-40B4-BE49-F238E27FC236}">
                <a16:creationId xmlns:a16="http://schemas.microsoft.com/office/drawing/2014/main" id="{82CBF62B-A534-4B82-AC9F-1318A38E8979}"/>
              </a:ext>
            </a:extLst>
          </p:cNvPr>
          <p:cNvSpPr>
            <a:spLocks xmlns:a="http://schemas.openxmlformats.org/drawingml/2006/main" noGrp="1"/>
          </p:cNvSpPr>
          <p:nvPr/>
        </p:nvSpPr>
        <p:spPr>
          <a:xfrm xmlns:a="http://schemas.openxmlformats.org/drawingml/2006/main">
            <a:off x="308610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37" name="">
            <a:extLst xmlns:a="http://schemas.openxmlformats.org/drawingml/2006/main">
              <a:ext uri="{FF2B5EF4-FFF2-40B4-BE49-F238E27FC236}">
                <a16:creationId xmlns:a16="http://schemas.microsoft.com/office/drawing/2014/main" id="{DFE66B38-2A38-4753-85EC-169F4F431ED0}"/>
              </a:ext>
            </a:extLst>
          </p:cNvPr>
          <p:cNvSpPr>
            <a:spLocks xmlns:a="http://schemas.openxmlformats.org/drawingml/2006/main" noGrp="1"/>
          </p:cNvSpPr>
          <p:nvPr/>
        </p:nvSpPr>
        <p:spPr>
          <a:xfrm xmlns:a="http://schemas.openxmlformats.org/drawingml/2006/main">
            <a:off x="3257550" y="3143250"/>
            <a:ext cx="152400" cy="209550"/>
          </a:xfrm>
          <a:prstGeom xmlns:a="http://schemas.openxmlformats.org/drawingml/2006/main" prst="rect">
            <a:avLst/>
          </a:prstGeom>
          <a:solidFill xmlns:a="http://schemas.openxmlformats.org/drawingml/2006/main">
            <a:srgbClr val="B65A4D"/>
          </a:solidFill>
          <a:ln xmlns:a="http://schemas.openxmlformats.org/drawingml/2006/main" w="9525">
            <a:solidFill>
              <a:srgbClr val="F5F0E6"/>
            </a:solidFill>
            <a:prstDash val="solid"/>
          </a:ln>
        </p:spPr>
      </p:sp>
      <p:sp>
        <p:nvSpPr>
          <p:cNvPr id="38" name="">
            <a:extLst xmlns:a="http://schemas.openxmlformats.org/drawingml/2006/main">
              <a:ext uri="{FF2B5EF4-FFF2-40B4-BE49-F238E27FC236}">
                <a16:creationId xmlns:a16="http://schemas.microsoft.com/office/drawing/2014/main" id="{89606080-72E2-4C54-BB61-B7B1552EB436}"/>
              </a:ext>
            </a:extLst>
          </p:cNvPr>
          <p:cNvSpPr>
            <a:spLocks xmlns:a="http://schemas.openxmlformats.org/drawingml/2006/main" noGrp="1"/>
          </p:cNvSpPr>
          <p:nvPr/>
        </p:nvSpPr>
        <p:spPr>
          <a:xfrm xmlns:a="http://schemas.openxmlformats.org/drawingml/2006/main">
            <a:off x="3429000" y="3143250"/>
            <a:ext cx="152400" cy="209550"/>
          </a:xfrm>
          <a:prstGeom xmlns:a="http://schemas.openxmlformats.org/drawingml/2006/main" prst="rect">
            <a:avLst/>
          </a:prstGeom>
          <a:solidFill xmlns:a="http://schemas.openxmlformats.org/drawingml/2006/main">
            <a:srgbClr val="B65A4D"/>
          </a:solidFill>
          <a:ln xmlns:a="http://schemas.openxmlformats.org/drawingml/2006/main" w="9525">
            <a:solidFill>
              <a:srgbClr val="F5F0E6"/>
            </a:solidFill>
            <a:prstDash val="solid"/>
          </a:ln>
        </p:spPr>
      </p:sp>
      <p:sp>
        <p:nvSpPr>
          <p:cNvPr id="39" name="">
            <a:extLst xmlns:a="http://schemas.openxmlformats.org/drawingml/2006/main">
              <a:ext uri="{FF2B5EF4-FFF2-40B4-BE49-F238E27FC236}">
                <a16:creationId xmlns:a16="http://schemas.microsoft.com/office/drawing/2014/main" id="{1DFFDBD6-8323-4F4B-A98B-8148BCCF4220}"/>
              </a:ext>
            </a:extLst>
          </p:cNvPr>
          <p:cNvSpPr>
            <a:spLocks xmlns:a="http://schemas.openxmlformats.org/drawingml/2006/main" noGrp="1"/>
          </p:cNvSpPr>
          <p:nvPr/>
        </p:nvSpPr>
        <p:spPr>
          <a:xfrm xmlns:a="http://schemas.openxmlformats.org/drawingml/2006/main">
            <a:off x="3600450" y="3143250"/>
            <a:ext cx="152400" cy="209550"/>
          </a:xfrm>
          <a:prstGeom xmlns:a="http://schemas.openxmlformats.org/drawingml/2006/main" prst="rect">
            <a:avLst/>
          </a:prstGeom>
          <a:solidFill xmlns:a="http://schemas.openxmlformats.org/drawingml/2006/main">
            <a:srgbClr val="B65A4D"/>
          </a:solidFill>
          <a:ln xmlns:a="http://schemas.openxmlformats.org/drawingml/2006/main" w="9525">
            <a:solidFill>
              <a:srgbClr val="F5F0E6"/>
            </a:solidFill>
            <a:prstDash val="solid"/>
          </a:ln>
        </p:spPr>
      </p:sp>
      <p:sp>
        <p:nvSpPr>
          <p:cNvPr id="40" name="">
            <a:extLst xmlns:a="http://schemas.openxmlformats.org/drawingml/2006/main">
              <a:ext uri="{FF2B5EF4-FFF2-40B4-BE49-F238E27FC236}">
                <a16:creationId xmlns:a16="http://schemas.microsoft.com/office/drawing/2014/main" id="{E984BC86-9E3C-4F6A-9A62-7A700724C605}"/>
              </a:ext>
            </a:extLst>
          </p:cNvPr>
          <p:cNvSpPr>
            <a:spLocks xmlns:a="http://schemas.openxmlformats.org/drawingml/2006/main" noGrp="1"/>
          </p:cNvSpPr>
          <p:nvPr/>
        </p:nvSpPr>
        <p:spPr>
          <a:xfrm xmlns:a="http://schemas.openxmlformats.org/drawingml/2006/main">
            <a:off x="3771900" y="3143250"/>
            <a:ext cx="152400" cy="209550"/>
          </a:xfrm>
          <a:prstGeom xmlns:a="http://schemas.openxmlformats.org/drawingml/2006/main" prst="rect">
            <a:avLst/>
          </a:prstGeom>
          <a:solidFill xmlns:a="http://schemas.openxmlformats.org/drawingml/2006/main">
            <a:srgbClr val="B65A4D"/>
          </a:solidFill>
          <a:ln xmlns:a="http://schemas.openxmlformats.org/drawingml/2006/main" w="9525">
            <a:solidFill>
              <a:srgbClr val="F5F0E6"/>
            </a:solidFill>
            <a:prstDash val="solid"/>
          </a:ln>
        </p:spPr>
      </p:sp>
      <p:sp>
        <p:nvSpPr>
          <p:cNvPr id="41" name="">
            <a:extLst xmlns:a="http://schemas.openxmlformats.org/drawingml/2006/main">
              <a:ext uri="{FF2B5EF4-FFF2-40B4-BE49-F238E27FC236}">
                <a16:creationId xmlns:a16="http://schemas.microsoft.com/office/drawing/2014/main" id="{A60E519C-A643-46E3-83A2-12E6F32EC107}"/>
              </a:ext>
            </a:extLst>
          </p:cNvPr>
          <p:cNvSpPr>
            <a:spLocks xmlns:a="http://schemas.openxmlformats.org/drawingml/2006/main" noGrp="1"/>
          </p:cNvSpPr>
          <p:nvPr/>
        </p:nvSpPr>
        <p:spPr>
          <a:xfrm xmlns:a="http://schemas.openxmlformats.org/drawingml/2006/main">
            <a:off x="394335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42" name="">
            <a:extLst xmlns:a="http://schemas.openxmlformats.org/drawingml/2006/main">
              <a:ext uri="{FF2B5EF4-FFF2-40B4-BE49-F238E27FC236}">
                <a16:creationId xmlns:a16="http://schemas.microsoft.com/office/drawing/2014/main" id="{F7168B5E-7F32-425E-B040-D89C604101D2}"/>
              </a:ext>
            </a:extLst>
          </p:cNvPr>
          <p:cNvSpPr>
            <a:spLocks xmlns:a="http://schemas.openxmlformats.org/drawingml/2006/main" noGrp="1"/>
          </p:cNvSpPr>
          <p:nvPr/>
        </p:nvSpPr>
        <p:spPr>
          <a:xfrm xmlns:a="http://schemas.openxmlformats.org/drawingml/2006/main">
            <a:off x="411480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43" name="">
            <a:extLst xmlns:a="http://schemas.openxmlformats.org/drawingml/2006/main">
              <a:ext uri="{FF2B5EF4-FFF2-40B4-BE49-F238E27FC236}">
                <a16:creationId xmlns:a16="http://schemas.microsoft.com/office/drawing/2014/main" id="{6FE2E54E-2078-45D0-B5C3-43DF4E8261A5}"/>
              </a:ext>
            </a:extLst>
          </p:cNvPr>
          <p:cNvSpPr>
            <a:spLocks xmlns:a="http://schemas.openxmlformats.org/drawingml/2006/main" noGrp="1"/>
          </p:cNvSpPr>
          <p:nvPr/>
        </p:nvSpPr>
        <p:spPr>
          <a:xfrm xmlns:a="http://schemas.openxmlformats.org/drawingml/2006/main">
            <a:off x="428625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44" name="">
            <a:extLst xmlns:a="http://schemas.openxmlformats.org/drawingml/2006/main">
              <a:ext uri="{FF2B5EF4-FFF2-40B4-BE49-F238E27FC236}">
                <a16:creationId xmlns:a16="http://schemas.microsoft.com/office/drawing/2014/main" id="{6AAB95E4-BB8B-4B27-9D3E-91EDC998AC5D}"/>
              </a:ext>
            </a:extLst>
          </p:cNvPr>
          <p:cNvSpPr>
            <a:spLocks xmlns:a="http://schemas.openxmlformats.org/drawingml/2006/main" noGrp="1"/>
          </p:cNvSpPr>
          <p:nvPr/>
        </p:nvSpPr>
        <p:spPr>
          <a:xfrm xmlns:a="http://schemas.openxmlformats.org/drawingml/2006/main">
            <a:off x="445770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45" name="">
            <a:extLst xmlns:a="http://schemas.openxmlformats.org/drawingml/2006/main">
              <a:ext uri="{FF2B5EF4-FFF2-40B4-BE49-F238E27FC236}">
                <a16:creationId xmlns:a16="http://schemas.microsoft.com/office/drawing/2014/main" id="{820753DE-C595-4D19-AD76-2ECE1B8992B1}"/>
              </a:ext>
            </a:extLst>
          </p:cNvPr>
          <p:cNvSpPr>
            <a:spLocks xmlns:a="http://schemas.openxmlformats.org/drawingml/2006/main" noGrp="1"/>
          </p:cNvSpPr>
          <p:nvPr/>
        </p:nvSpPr>
        <p:spPr>
          <a:xfrm xmlns:a="http://schemas.openxmlformats.org/drawingml/2006/main">
            <a:off x="462915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46" name="">
            <a:extLst xmlns:a="http://schemas.openxmlformats.org/drawingml/2006/main">
              <a:ext uri="{FF2B5EF4-FFF2-40B4-BE49-F238E27FC236}">
                <a16:creationId xmlns:a16="http://schemas.microsoft.com/office/drawing/2014/main" id="{650DA621-A6AA-4F8B-B359-CEC58559F631}"/>
              </a:ext>
            </a:extLst>
          </p:cNvPr>
          <p:cNvSpPr>
            <a:spLocks xmlns:a="http://schemas.openxmlformats.org/drawingml/2006/main" noGrp="1"/>
          </p:cNvSpPr>
          <p:nvPr/>
        </p:nvSpPr>
        <p:spPr>
          <a:xfrm xmlns:a="http://schemas.openxmlformats.org/drawingml/2006/main">
            <a:off x="480060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47" name="">
            <a:extLst xmlns:a="http://schemas.openxmlformats.org/drawingml/2006/main">
              <a:ext uri="{FF2B5EF4-FFF2-40B4-BE49-F238E27FC236}">
                <a16:creationId xmlns:a16="http://schemas.microsoft.com/office/drawing/2014/main" id="{1B6E26B9-0290-432A-8EE4-5112202BD1F1}"/>
              </a:ext>
            </a:extLst>
          </p:cNvPr>
          <p:cNvSpPr>
            <a:spLocks xmlns:a="http://schemas.openxmlformats.org/drawingml/2006/main" noGrp="1"/>
          </p:cNvSpPr>
          <p:nvPr/>
        </p:nvSpPr>
        <p:spPr>
          <a:xfrm xmlns:a="http://schemas.openxmlformats.org/drawingml/2006/main">
            <a:off x="497205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48" name="">
            <a:extLst xmlns:a="http://schemas.openxmlformats.org/drawingml/2006/main">
              <a:ext uri="{FF2B5EF4-FFF2-40B4-BE49-F238E27FC236}">
                <a16:creationId xmlns:a16="http://schemas.microsoft.com/office/drawing/2014/main" id="{A1492848-1DE7-400A-8048-3B4EC4663FF8}"/>
              </a:ext>
            </a:extLst>
          </p:cNvPr>
          <p:cNvSpPr>
            <a:spLocks xmlns:a="http://schemas.openxmlformats.org/drawingml/2006/main" noGrp="1"/>
          </p:cNvSpPr>
          <p:nvPr/>
        </p:nvSpPr>
        <p:spPr>
          <a:xfrm xmlns:a="http://schemas.openxmlformats.org/drawingml/2006/main">
            <a:off x="514350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49" name="">
            <a:extLst xmlns:a="http://schemas.openxmlformats.org/drawingml/2006/main">
              <a:ext uri="{FF2B5EF4-FFF2-40B4-BE49-F238E27FC236}">
                <a16:creationId xmlns:a16="http://schemas.microsoft.com/office/drawing/2014/main" id="{9F3FC341-B97B-418E-A17B-1AFBD5C70A00}"/>
              </a:ext>
            </a:extLst>
          </p:cNvPr>
          <p:cNvSpPr>
            <a:spLocks xmlns:a="http://schemas.openxmlformats.org/drawingml/2006/main" noGrp="1"/>
          </p:cNvSpPr>
          <p:nvPr/>
        </p:nvSpPr>
        <p:spPr>
          <a:xfrm xmlns:a="http://schemas.openxmlformats.org/drawingml/2006/main">
            <a:off x="531495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50" name="">
            <a:extLst xmlns:a="http://schemas.openxmlformats.org/drawingml/2006/main">
              <a:ext uri="{FF2B5EF4-FFF2-40B4-BE49-F238E27FC236}">
                <a16:creationId xmlns:a16="http://schemas.microsoft.com/office/drawing/2014/main" id="{11273803-B126-4374-9EE9-F367143604C7}"/>
              </a:ext>
            </a:extLst>
          </p:cNvPr>
          <p:cNvSpPr>
            <a:spLocks xmlns:a="http://schemas.openxmlformats.org/drawingml/2006/main" noGrp="1"/>
          </p:cNvSpPr>
          <p:nvPr/>
        </p:nvSpPr>
        <p:spPr>
          <a:xfrm xmlns:a="http://schemas.openxmlformats.org/drawingml/2006/main">
            <a:off x="548640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51" name="">
            <a:extLst xmlns:a="http://schemas.openxmlformats.org/drawingml/2006/main">
              <a:ext uri="{FF2B5EF4-FFF2-40B4-BE49-F238E27FC236}">
                <a16:creationId xmlns:a16="http://schemas.microsoft.com/office/drawing/2014/main" id="{2A55840C-C066-4EF5-84D8-414368A90821}"/>
              </a:ext>
            </a:extLst>
          </p:cNvPr>
          <p:cNvSpPr>
            <a:spLocks xmlns:a="http://schemas.openxmlformats.org/drawingml/2006/main" noGrp="1"/>
          </p:cNvSpPr>
          <p:nvPr/>
        </p:nvSpPr>
        <p:spPr>
          <a:xfrm xmlns:a="http://schemas.openxmlformats.org/drawingml/2006/main">
            <a:off x="565785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52" name="">
            <a:extLst xmlns:a="http://schemas.openxmlformats.org/drawingml/2006/main">
              <a:ext uri="{FF2B5EF4-FFF2-40B4-BE49-F238E27FC236}">
                <a16:creationId xmlns:a16="http://schemas.microsoft.com/office/drawing/2014/main" id="{5F1D5771-2CEC-4243-881F-19B206B32B1B}"/>
              </a:ext>
            </a:extLst>
          </p:cNvPr>
          <p:cNvSpPr>
            <a:spLocks xmlns:a="http://schemas.openxmlformats.org/drawingml/2006/main" noGrp="1"/>
          </p:cNvSpPr>
          <p:nvPr/>
        </p:nvSpPr>
        <p:spPr>
          <a:xfrm xmlns:a="http://schemas.openxmlformats.org/drawingml/2006/main">
            <a:off x="582930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53" name="">
            <a:extLst xmlns:a="http://schemas.openxmlformats.org/drawingml/2006/main">
              <a:ext uri="{FF2B5EF4-FFF2-40B4-BE49-F238E27FC236}">
                <a16:creationId xmlns:a16="http://schemas.microsoft.com/office/drawing/2014/main" id="{1FB0F2F7-74A8-4C40-A693-04796CF26508}"/>
              </a:ext>
            </a:extLst>
          </p:cNvPr>
          <p:cNvSpPr>
            <a:spLocks xmlns:a="http://schemas.openxmlformats.org/drawingml/2006/main" noGrp="1"/>
          </p:cNvSpPr>
          <p:nvPr/>
        </p:nvSpPr>
        <p:spPr>
          <a:xfrm xmlns:a="http://schemas.openxmlformats.org/drawingml/2006/main">
            <a:off x="6000750" y="3143250"/>
            <a:ext cx="152400" cy="209550"/>
          </a:xfrm>
          <a:prstGeom xmlns:a="http://schemas.openxmlformats.org/drawingml/2006/main" prst="rect">
            <a:avLst/>
          </a:prstGeom>
          <a:solidFill xmlns:a="http://schemas.openxmlformats.org/drawingml/2006/main">
            <a:srgbClr val="EFE6D8"/>
          </a:solidFill>
          <a:ln xmlns:a="http://schemas.openxmlformats.org/drawingml/2006/main" w="9525">
            <a:solidFill>
              <a:srgbClr val="F5F0E6"/>
            </a:solidFill>
            <a:prstDash val="solid"/>
          </a:ln>
        </p:spPr>
      </p:sp>
      <p:sp>
        <p:nvSpPr>
          <p:cNvPr id="54" name="">
            <a:extLst xmlns:a="http://schemas.openxmlformats.org/drawingml/2006/main">
              <a:ext uri="{FF2B5EF4-FFF2-40B4-BE49-F238E27FC236}">
                <a16:creationId xmlns:a16="http://schemas.microsoft.com/office/drawing/2014/main" id="{ED62272E-676B-41F4-A287-20ABA876DEF0}"/>
              </a:ext>
            </a:extLst>
          </p:cNvPr>
          <p:cNvSpPr>
            <a:spLocks xmlns:a="http://schemas.openxmlformats.org/drawingml/2006/main" noGrp="1"/>
          </p:cNvSpPr>
          <p:nvPr/>
        </p:nvSpPr>
        <p:spPr>
          <a:xfrm xmlns:a="http://schemas.openxmlformats.org/drawingml/2006/main">
            <a:off x="2743200" y="34290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F665C"/>
                </a:solidFill>
                <a:latin typeface="Times New Roman"/>
                <a:ea typeface="Times New Roman"/>
                <a:cs typeface="Times New Roman"/>
              </a:defRPr>
            </a:pPr>
            <a:r>
              <a:rPr sz="900" b="0" i="0">
                <a:solidFill>
                  <a:srgbClr val="6F665C"/>
                </a:solidFill>
                <a:latin typeface="Times New Roman"/>
                <a:ea typeface="Times New Roman"/>
                <a:cs typeface="Times New Roman"/>
              </a:rPr>
              <a:t>Rounds 1-20</a:t>
            </a:r>
          </a:p>
        </p:txBody>
      </p:sp>
      <p:sp>
        <p:nvSpPr>
          <p:cNvPr id="55" name="">
            <a:extLst xmlns:a="http://schemas.openxmlformats.org/drawingml/2006/main">
              <a:ext uri="{FF2B5EF4-FFF2-40B4-BE49-F238E27FC236}">
                <a16:creationId xmlns:a16="http://schemas.microsoft.com/office/drawing/2014/main" id="{80B0E522-A016-4D89-98C5-0DD20E41B206}"/>
              </a:ext>
            </a:extLst>
          </p:cNvPr>
          <p:cNvSpPr>
            <a:spLocks xmlns:a="http://schemas.openxmlformats.org/drawingml/2006/main" noGrp="1"/>
          </p:cNvSpPr>
          <p:nvPr/>
        </p:nvSpPr>
        <p:spPr>
          <a:xfrm xmlns:a="http://schemas.openxmlformats.org/drawingml/2006/main">
            <a:off x="6457950" y="313372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l">
              <a:lnSpc>
                <a:spcPct val="105000"/>
              </a:lnSpc>
              <a:buNone/>
              <a:defRPr sz="975" b="0" i="0">
                <a:solidFill>
                  <a:srgbClr val="6F665C"/>
                </a:solidFill>
                <a:latin typeface="Times New Roman"/>
                <a:ea typeface="Times New Roman"/>
                <a:cs typeface="Times New Roman"/>
              </a:defRPr>
            </a:pPr>
            <a:r>
              <a:rPr sz="975" b="0" i="0">
                <a:solidFill>
                  <a:srgbClr val="6F665C"/>
                </a:solidFill>
                <a:latin typeface="Times New Roman"/>
                <a:ea typeface="Times New Roman"/>
                <a:cs typeface="Times New Roman"/>
              </a:rPr>
              <a:t>Errors are concentrated in a pre-registered block, followed by recovery.</a:t>
            </a:r>
          </a:p>
        </p:txBody>
      </p:sp>
      <p:sp>
        <p:nvSpPr>
          <p:cNvPr id="56" name="">
            <a:extLst xmlns:a="http://schemas.openxmlformats.org/drawingml/2006/main">
              <a:ext uri="{FF2B5EF4-FFF2-40B4-BE49-F238E27FC236}">
                <a16:creationId xmlns:a16="http://schemas.microsoft.com/office/drawing/2014/main" id="{FF81A6AD-4E18-467C-B1EE-DA4930C8BCA9}"/>
              </a:ext>
            </a:extLst>
          </p:cNvPr>
          <p:cNvSpPr>
            <a:spLocks xmlns:a="http://schemas.openxmlformats.org/drawingml/2006/main" noGrp="1"/>
          </p:cNvSpPr>
          <p:nvPr/>
        </p:nvSpPr>
        <p:spPr>
          <a:xfrm xmlns:a="http://schemas.openxmlformats.org/drawingml/2006/main">
            <a:off x="8591550" y="2981325"/>
            <a:ext cx="1790700" cy="266700"/>
          </a:xfrm>
          <a:prstGeom xmlns:a="http://schemas.openxmlformats.org/drawingml/2006/main" prst="roundRect">
            <a:avLst>
              <a:gd name="adj" fmla="val 28571"/>
            </a:avLst>
          </a:prstGeom>
          <a:solidFill xmlns:a="http://schemas.openxmlformats.org/drawingml/2006/main">
            <a:srgbClr val="DCE1D0"/>
          </a:solidFill>
          <a:ln xmlns:a="http://schemas.openxmlformats.org/drawingml/2006/main" w="9525">
            <a:solidFill>
              <a:srgbClr val="DCE1D0"/>
            </a:solidFill>
            <a:prstDash val="solid"/>
          </a:ln>
        </p:spPr>
      </p:sp>
      <p:sp>
        <p:nvSpPr>
          <p:cNvPr id="57" name="">
            <a:extLst xmlns:a="http://schemas.openxmlformats.org/drawingml/2006/main">
              <a:ext uri="{FF2B5EF4-FFF2-40B4-BE49-F238E27FC236}">
                <a16:creationId xmlns:a16="http://schemas.microsoft.com/office/drawing/2014/main" id="{5B86B99C-2586-4ABA-85B0-12026A7C5629}"/>
              </a:ext>
            </a:extLst>
          </p:cNvPr>
          <p:cNvSpPr>
            <a:spLocks xmlns:a="http://schemas.openxmlformats.org/drawingml/2006/main" noGrp="1"/>
          </p:cNvSpPr>
          <p:nvPr/>
        </p:nvSpPr>
        <p:spPr>
          <a:xfrm xmlns:a="http://schemas.openxmlformats.org/drawingml/2006/main">
            <a:off x="8667750" y="3038475"/>
            <a:ext cx="1638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680"/>
          </a:bodyPr>
          <a:lstStyle xmlns:a="http://schemas.openxmlformats.org/drawingml/2006/main"/>
          <a:p xmlns:a="http://schemas.openxmlformats.org/drawingml/2006/main">
            <a:pPr algn="ctr">
              <a:lnSpc>
                <a:spcPct val="105000"/>
              </a:lnSpc>
              <a:buNone/>
              <a:defRPr sz="975" b="1" i="0">
                <a:solidFill>
                  <a:srgbClr val="231D17"/>
                </a:solidFill>
                <a:latin typeface="Times New Roman"/>
                <a:ea typeface="Times New Roman"/>
                <a:cs typeface="Times New Roman"/>
              </a:defRPr>
            </a:pPr>
            <a:r>
              <a:rPr sz="975" b="1" i="0">
                <a:solidFill>
                  <a:srgbClr val="231D17"/>
                </a:solidFill>
                <a:latin typeface="Times New Roman"/>
                <a:ea typeface="Times New Roman"/>
                <a:cs typeface="Times New Roman"/>
              </a:rPr>
              <a:t>Early / mid timing variants</a:t>
            </a:r>
          </a:p>
        </p:txBody>
      </p:sp>
      <p:sp>
        <p:nvSpPr>
          <p:cNvPr id="58" name="">
            <a:extLst xmlns:a="http://schemas.openxmlformats.org/drawingml/2006/main">
              <a:ext uri="{FF2B5EF4-FFF2-40B4-BE49-F238E27FC236}">
                <a16:creationId xmlns:a16="http://schemas.microsoft.com/office/drawing/2014/main" id="{E1EBA2BC-EB5F-427A-BFFC-8C97067A5052}"/>
              </a:ext>
            </a:extLst>
          </p:cNvPr>
          <p:cNvSpPr>
            <a:spLocks xmlns:a="http://schemas.openxmlformats.org/drawingml/2006/main" noGrp="1"/>
          </p:cNvSpPr>
          <p:nvPr/>
        </p:nvSpPr>
        <p:spPr>
          <a:xfrm xmlns:a="http://schemas.openxmlformats.org/drawingml/2006/main">
            <a:off x="8591550" y="3314700"/>
            <a:ext cx="1790700" cy="266700"/>
          </a:xfrm>
          <a:prstGeom xmlns:a="http://schemas.openxmlformats.org/drawingml/2006/main" prst="roundRect">
            <a:avLst>
              <a:gd name="adj" fmla="val 28571"/>
            </a:avLst>
          </a:prstGeom>
          <a:solidFill xmlns:a="http://schemas.openxmlformats.org/drawingml/2006/main">
            <a:srgbClr val="E7D4C3"/>
          </a:solidFill>
          <a:ln xmlns:a="http://schemas.openxmlformats.org/drawingml/2006/main" w="9525">
            <a:solidFill>
              <a:srgbClr val="E7D4C3"/>
            </a:solidFill>
            <a:prstDash val="solid"/>
          </a:ln>
        </p:spPr>
      </p:sp>
      <p:sp>
        <p:nvSpPr>
          <p:cNvPr id="59" name="">
            <a:extLst xmlns:a="http://schemas.openxmlformats.org/drawingml/2006/main">
              <a:ext uri="{FF2B5EF4-FFF2-40B4-BE49-F238E27FC236}">
                <a16:creationId xmlns:a16="http://schemas.microsoft.com/office/drawing/2014/main" id="{FFE495BE-AE78-45F1-8497-4A3FA3DFB257}"/>
              </a:ext>
            </a:extLst>
          </p:cNvPr>
          <p:cNvSpPr>
            <a:spLocks xmlns:a="http://schemas.openxmlformats.org/drawingml/2006/main" noGrp="1"/>
          </p:cNvSpPr>
          <p:nvPr/>
        </p:nvSpPr>
        <p:spPr>
          <a:xfrm xmlns:a="http://schemas.openxmlformats.org/drawingml/2006/main">
            <a:off x="8667750" y="3371850"/>
            <a:ext cx="1638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680"/>
          </a:bodyPr>
          <a:lstStyle xmlns:a="http://schemas.openxmlformats.org/drawingml/2006/main"/>
          <a:p xmlns:a="http://schemas.openxmlformats.org/drawingml/2006/main">
            <a:pPr algn="ctr">
              <a:lnSpc>
                <a:spcPct val="105000"/>
              </a:lnSpc>
              <a:buNone/>
              <a:defRPr sz="975" b="1" i="0">
                <a:solidFill>
                  <a:srgbClr val="231D17"/>
                </a:solidFill>
                <a:latin typeface="Times New Roman"/>
                <a:ea typeface="Times New Roman"/>
                <a:cs typeface="Times New Roman"/>
              </a:defRPr>
            </a:pPr>
            <a:r>
              <a:rPr sz="975" b="1" i="0">
                <a:solidFill>
                  <a:srgbClr val="231D17"/>
                </a:solidFill>
                <a:latin typeface="Times New Roman"/>
                <a:ea typeface="Times New Roman"/>
                <a:cs typeface="Times New Roman"/>
              </a:rPr>
              <a:t>Total errors and payoff aligned</a:t>
            </a:r>
          </a:p>
        </p:txBody>
      </p:sp>
      <p:sp>
        <p:nvSpPr>
          <p:cNvPr id="60" name="">
            <a:extLst xmlns:a="http://schemas.openxmlformats.org/drawingml/2006/main">
              <a:ext uri="{FF2B5EF4-FFF2-40B4-BE49-F238E27FC236}">
                <a16:creationId xmlns:a16="http://schemas.microsoft.com/office/drawing/2014/main" id="{02C05E19-F015-4162-8DBF-491627AE8509}"/>
              </a:ext>
            </a:extLst>
          </p:cNvPr>
          <p:cNvSpPr>
            <a:spLocks xmlns:a="http://schemas.openxmlformats.org/drawingml/2006/main" noGrp="1"/>
          </p:cNvSpPr>
          <p:nvPr/>
        </p:nvSpPr>
        <p:spPr>
          <a:xfrm xmlns:a="http://schemas.openxmlformats.org/drawingml/2006/main">
            <a:off x="914400" y="3905250"/>
            <a:ext cx="10325100" cy="1962150"/>
          </a:xfrm>
          <a:prstGeom xmlns:a="http://schemas.openxmlformats.org/drawingml/2006/main" prst="roundRect">
            <a:avLst>
              <a:gd name="adj" fmla="val 5825"/>
            </a:avLst>
          </a:prstGeom>
          <a:solidFill xmlns:a="http://schemas.openxmlformats.org/drawingml/2006/main">
            <a:srgbClr val="FBF7F0"/>
          </a:solidFill>
          <a:ln xmlns:a="http://schemas.openxmlformats.org/drawingml/2006/main" w="9525">
            <a:solidFill>
              <a:srgbClr val="D8CCBB"/>
            </a:solidFill>
            <a:prstDash val="solid"/>
          </a:ln>
        </p:spPr>
      </p:sp>
      <p:sp>
        <p:nvSpPr>
          <p:cNvPr id="61" name="">
            <a:extLst xmlns:a="http://schemas.openxmlformats.org/drawingml/2006/main">
              <a:ext uri="{FF2B5EF4-FFF2-40B4-BE49-F238E27FC236}">
                <a16:creationId xmlns:a16="http://schemas.microsoft.com/office/drawing/2014/main" id="{3AC257D3-473F-4A2D-8A88-1C7E465A4537}"/>
              </a:ext>
            </a:extLst>
          </p:cNvPr>
          <p:cNvSpPr>
            <a:spLocks xmlns:a="http://schemas.openxmlformats.org/drawingml/2006/main" noGrp="1"/>
          </p:cNvSpPr>
          <p:nvPr/>
        </p:nvSpPr>
        <p:spPr>
          <a:xfrm xmlns:a="http://schemas.openxmlformats.org/drawingml/2006/main">
            <a:off x="1162050" y="40767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717"/>
          </a:bodyPr>
          <a:lstStyle xmlns:a="http://schemas.openxmlformats.org/drawingml/2006/main"/>
          <a:p xmlns:a="http://schemas.openxmlformats.org/drawingml/2006/main">
            <a:pPr algn="l">
              <a:lnSpc>
                <a:spcPct val="105000"/>
              </a:lnSpc>
              <a:buNone/>
              <a:defRPr sz="1725" b="1" i="0">
                <a:solidFill>
                  <a:srgbClr val="818A68"/>
                </a:solidFill>
                <a:latin typeface="Times New Roman"/>
                <a:ea typeface="Times New Roman"/>
                <a:cs typeface="Times New Roman"/>
              </a:defRPr>
            </a:pPr>
            <a:r>
              <a:rPr sz="1725" b="1" i="0">
                <a:solidFill>
                  <a:srgbClr val="818A68"/>
                </a:solidFill>
                <a:latin typeface="Times New Roman"/>
                <a:ea typeface="Times New Roman"/>
                <a:cs typeface="Times New Roman"/>
              </a:rPr>
              <a:t>One participant, one round</a:t>
            </a:r>
          </a:p>
        </p:txBody>
      </p:sp>
      <p:sp>
        <p:nvSpPr>
          <p:cNvPr id="62" name="">
            <a:extLst xmlns:a="http://schemas.openxmlformats.org/drawingml/2006/main">
              <a:ext uri="{FF2B5EF4-FFF2-40B4-BE49-F238E27FC236}">
                <a16:creationId xmlns:a16="http://schemas.microsoft.com/office/drawing/2014/main" id="{FED261BA-21CE-4459-91B2-315E04C3120A}"/>
              </a:ext>
            </a:extLst>
          </p:cNvPr>
          <p:cNvSpPr>
            <a:spLocks xmlns:a="http://schemas.openxmlformats.org/drawingml/2006/main" noGrp="1"/>
          </p:cNvSpPr>
          <p:nvPr/>
        </p:nvSpPr>
        <p:spPr>
          <a:xfrm xmlns:a="http://schemas.openxmlformats.org/drawingml/2006/main">
            <a:off x="7429500" y="409575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i="0">
                <a:solidFill>
                  <a:srgbClr val="23384A"/>
                </a:solidFill>
                <a:latin typeface="Times New Roman"/>
                <a:ea typeface="Times New Roman"/>
                <a:cs typeface="Times New Roman"/>
              </a:defRPr>
            </a:pPr>
            <a:r>
              <a:rPr sz="1125" b="1" i="0">
                <a:solidFill>
                  <a:srgbClr val="23384A"/>
                </a:solidFill>
                <a:latin typeface="Times New Roman"/>
                <a:ea typeface="Times New Roman"/>
                <a:cs typeface="Times New Roman"/>
              </a:rPr>
              <a:t>The same loop repeats for about 20 rounds</a:t>
            </a:r>
          </a:p>
        </p:txBody>
      </p:sp>
      <p:sp>
        <p:nvSpPr>
          <p:cNvPr id="63" name="">
            <a:extLst xmlns:a="http://schemas.openxmlformats.org/drawingml/2006/main">
              <a:ext uri="{FF2B5EF4-FFF2-40B4-BE49-F238E27FC236}">
                <a16:creationId xmlns:a16="http://schemas.microsoft.com/office/drawing/2014/main" id="{90B7083F-2C10-4F2C-B999-67A3110E0979}"/>
              </a:ext>
            </a:extLst>
          </p:cNvPr>
          <p:cNvSpPr>
            <a:spLocks xmlns:a="http://schemas.openxmlformats.org/drawingml/2006/main" noGrp="1"/>
          </p:cNvSpPr>
          <p:nvPr/>
        </p:nvSpPr>
        <p:spPr>
          <a:xfrm xmlns:a="http://schemas.openxmlformats.org/drawingml/2006/main">
            <a:off x="1104900" y="4514850"/>
            <a:ext cx="15621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8CCBB"/>
            </a:solidFill>
            <a:prstDash val="solid"/>
          </a:ln>
        </p:spPr>
      </p:sp>
      <p:sp>
        <p:nvSpPr>
          <p:cNvPr id="64" name="">
            <a:extLst xmlns:a="http://schemas.openxmlformats.org/drawingml/2006/main">
              <a:ext uri="{FF2B5EF4-FFF2-40B4-BE49-F238E27FC236}">
                <a16:creationId xmlns:a16="http://schemas.microsoft.com/office/drawing/2014/main" id="{97AB3A92-3482-45D6-9355-5D38FB89AA62}"/>
              </a:ext>
            </a:extLst>
          </p:cNvPr>
          <p:cNvSpPr>
            <a:spLocks xmlns:a="http://schemas.openxmlformats.org/drawingml/2006/main" noGrp="1"/>
          </p:cNvSpPr>
          <p:nvPr/>
        </p:nvSpPr>
        <p:spPr>
          <a:xfrm xmlns:a="http://schemas.openxmlformats.org/drawingml/2006/main">
            <a:off x="1219200" y="4648200"/>
            <a:ext cx="247650" cy="247650"/>
          </a:xfrm>
          <a:prstGeom xmlns:a="http://schemas.openxmlformats.org/drawingml/2006/main" prst="ellipse">
            <a:avLst/>
          </a:prstGeom>
          <a:solidFill xmlns:a="http://schemas.openxmlformats.org/drawingml/2006/main">
            <a:srgbClr val="23384A"/>
          </a:solidFill>
          <a:ln xmlns:a="http://schemas.openxmlformats.org/drawingml/2006/main" w="9525">
            <a:solidFill>
              <a:srgbClr val="23384A"/>
            </a:solidFill>
            <a:prstDash val="solid"/>
          </a:ln>
        </p:spPr>
      </p:sp>
      <p:sp>
        <p:nvSpPr>
          <p:cNvPr id="65" name="">
            <a:extLst xmlns:a="http://schemas.openxmlformats.org/drawingml/2006/main">
              <a:ext uri="{FF2B5EF4-FFF2-40B4-BE49-F238E27FC236}">
                <a16:creationId xmlns:a16="http://schemas.microsoft.com/office/drawing/2014/main" id="{2723D543-2037-4544-9A89-53BAAA9B0A02}"/>
              </a:ext>
            </a:extLst>
          </p:cNvPr>
          <p:cNvSpPr>
            <a:spLocks xmlns:a="http://schemas.openxmlformats.org/drawingml/2006/main" noGrp="1"/>
          </p:cNvSpPr>
          <p:nvPr/>
        </p:nvSpPr>
        <p:spPr>
          <a:xfrm xmlns:a="http://schemas.openxmlformats.org/drawingml/2006/main">
            <a:off x="1295400" y="4686300"/>
            <a:ext cx="952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470"/>
          </a:bodyPr>
          <a:lstStyle xmlns:a="http://schemas.openxmlformats.org/drawingml/2006/main"/>
          <a:p xmlns:a="http://schemas.openxmlformats.org/drawingml/2006/main">
            <a:pPr algn="ctr">
              <a:lnSpc>
                <a:spcPct val="105000"/>
              </a:lnSpc>
              <a:buNone/>
              <a:defRPr sz="975" b="1" i="0">
                <a:solidFill>
                  <a:srgbClr val="F5F0E6"/>
                </a:solidFill>
                <a:latin typeface="Times New Roman"/>
                <a:ea typeface="Times New Roman"/>
                <a:cs typeface="Times New Roman"/>
              </a:defRPr>
            </a:pPr>
            <a:r>
              <a:rPr sz="975" b="1" i="0">
                <a:solidFill>
                  <a:srgbClr val="F5F0E6"/>
                </a:solidFill>
                <a:latin typeface="Times New Roman"/>
                <a:ea typeface="Times New Roman"/>
                <a:cs typeface="Times New Roman"/>
              </a:rPr>
              <a:t>1</a:t>
            </a:r>
          </a:p>
        </p:txBody>
      </p:sp>
      <p:sp>
        <p:nvSpPr>
          <p:cNvPr id="66" name="">
            <a:extLst xmlns:a="http://schemas.openxmlformats.org/drawingml/2006/main">
              <a:ext uri="{FF2B5EF4-FFF2-40B4-BE49-F238E27FC236}">
                <a16:creationId xmlns:a16="http://schemas.microsoft.com/office/drawing/2014/main" id="{3678DF56-772C-43EC-B29D-AA8B90DB57D7}"/>
              </a:ext>
            </a:extLst>
          </p:cNvPr>
          <p:cNvSpPr>
            <a:spLocks xmlns:a="http://schemas.openxmlformats.org/drawingml/2006/main" noGrp="1"/>
          </p:cNvSpPr>
          <p:nvPr/>
        </p:nvSpPr>
        <p:spPr>
          <a:xfrm xmlns:a="http://schemas.openxmlformats.org/drawingml/2006/main">
            <a:off x="1543050" y="46482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200" b="1" i="0">
                <a:solidFill>
                  <a:srgbClr val="231D17"/>
                </a:solidFill>
                <a:latin typeface="Times New Roman"/>
                <a:ea typeface="Times New Roman"/>
                <a:cs typeface="Times New Roman"/>
              </a:defRPr>
            </a:pPr>
            <a:r>
              <a:rPr sz="1200" b="1" i="0">
                <a:solidFill>
                  <a:srgbClr val="231D17"/>
                </a:solidFill>
                <a:latin typeface="Times New Roman"/>
                <a:ea typeface="Times New Roman"/>
                <a:cs typeface="Times New Roman"/>
              </a:rPr>
              <a:t>History</a:t>
            </a:r>
          </a:p>
        </p:txBody>
      </p:sp>
      <p:sp>
        <p:nvSpPr>
          <p:cNvPr id="67" name="">
            <a:extLst xmlns:a="http://schemas.openxmlformats.org/drawingml/2006/main">
              <a:ext uri="{FF2B5EF4-FFF2-40B4-BE49-F238E27FC236}">
                <a16:creationId xmlns:a16="http://schemas.microsoft.com/office/drawing/2014/main" id="{AEEE04CC-B1E9-4CB2-9D25-01705EA3E261}"/>
              </a:ext>
            </a:extLst>
          </p:cNvPr>
          <p:cNvSpPr>
            <a:spLocks xmlns:a="http://schemas.openxmlformats.org/drawingml/2006/main" noGrp="1"/>
          </p:cNvSpPr>
          <p:nvPr/>
        </p:nvSpPr>
        <p:spPr>
          <a:xfrm xmlns:a="http://schemas.openxmlformats.org/drawingml/2006/main">
            <a:off x="1276350" y="499110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80"/>
          </a:bodyPr>
          <a:lstStyle xmlns:a="http://schemas.openxmlformats.org/drawingml/2006/main"/>
          <a:p xmlns:a="http://schemas.openxmlformats.org/drawingml/2006/main">
            <a:pPr algn="l">
              <a:lnSpc>
                <a:spcPct val="105000"/>
              </a:lnSpc>
              <a:buNone/>
              <a:defRPr sz="915" b="0" i="0">
                <a:solidFill>
                  <a:srgbClr val="6F665C"/>
                </a:solidFill>
                <a:latin typeface="Times New Roman"/>
                <a:ea typeface="Times New Roman"/>
                <a:cs typeface="Times New Roman"/>
              </a:defRPr>
            </a:pPr>
            <a:r>
              <a:rPr sz="915" b="0" i="0">
                <a:solidFill>
                  <a:srgbClr val="6F665C"/>
                </a:solidFill>
                <a:latin typeface="Times New Roman"/>
                <a:ea typeface="Times New Roman"/>
                <a:cs typeface="Times New Roman"/>
              </a:rPr>
              <a:t>View recent values for alpha, beta, gamma.</a:t>
            </a:r>
          </a:p>
        </p:txBody>
      </p:sp>
      <p:sp>
        <p:nvSpPr>
          <p:cNvPr id="68" name="">
            <a:extLst xmlns:a="http://schemas.openxmlformats.org/drawingml/2006/main">
              <a:ext uri="{FF2B5EF4-FFF2-40B4-BE49-F238E27FC236}">
                <a16:creationId xmlns:a16="http://schemas.microsoft.com/office/drawing/2014/main" id="{4AC8D955-F228-4BC7-8C4E-A53C2C019B4C}"/>
              </a:ext>
            </a:extLst>
          </p:cNvPr>
          <p:cNvSpPr>
            <a:spLocks xmlns:a="http://schemas.openxmlformats.org/drawingml/2006/main" noGrp="1"/>
          </p:cNvSpPr>
          <p:nvPr/>
        </p:nvSpPr>
        <p:spPr>
          <a:xfrm xmlns:a="http://schemas.openxmlformats.org/drawingml/2006/main">
            <a:off x="2800350" y="4514850"/>
            <a:ext cx="15621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8CCBB"/>
            </a:solidFill>
            <a:prstDash val="solid"/>
          </a:ln>
        </p:spPr>
      </p:sp>
      <p:sp>
        <p:nvSpPr>
          <p:cNvPr id="69" name="">
            <a:extLst xmlns:a="http://schemas.openxmlformats.org/drawingml/2006/main">
              <a:ext uri="{FF2B5EF4-FFF2-40B4-BE49-F238E27FC236}">
                <a16:creationId xmlns:a16="http://schemas.microsoft.com/office/drawing/2014/main" id="{47D3ACF7-6954-44F2-91CD-8EE441BDD482}"/>
              </a:ext>
            </a:extLst>
          </p:cNvPr>
          <p:cNvSpPr>
            <a:spLocks xmlns:a="http://schemas.openxmlformats.org/drawingml/2006/main" noGrp="1"/>
          </p:cNvSpPr>
          <p:nvPr/>
        </p:nvSpPr>
        <p:spPr>
          <a:xfrm xmlns:a="http://schemas.openxmlformats.org/drawingml/2006/main">
            <a:off x="2914650" y="4648200"/>
            <a:ext cx="247650" cy="247650"/>
          </a:xfrm>
          <a:prstGeom xmlns:a="http://schemas.openxmlformats.org/drawingml/2006/main" prst="ellipse">
            <a:avLst/>
          </a:prstGeom>
          <a:solidFill xmlns:a="http://schemas.openxmlformats.org/drawingml/2006/main">
            <a:srgbClr val="23384A"/>
          </a:solidFill>
          <a:ln xmlns:a="http://schemas.openxmlformats.org/drawingml/2006/main" w="9525">
            <a:solidFill>
              <a:srgbClr val="23384A"/>
            </a:solidFill>
            <a:prstDash val="solid"/>
          </a:ln>
        </p:spPr>
      </p:sp>
      <p:sp>
        <p:nvSpPr>
          <p:cNvPr id="70" name="">
            <a:extLst xmlns:a="http://schemas.openxmlformats.org/drawingml/2006/main">
              <a:ext uri="{FF2B5EF4-FFF2-40B4-BE49-F238E27FC236}">
                <a16:creationId xmlns:a16="http://schemas.microsoft.com/office/drawing/2014/main" id="{F616E294-3F3E-4012-B7AB-C7A4114AA32D}"/>
              </a:ext>
            </a:extLst>
          </p:cNvPr>
          <p:cNvSpPr>
            <a:spLocks xmlns:a="http://schemas.openxmlformats.org/drawingml/2006/main" noGrp="1"/>
          </p:cNvSpPr>
          <p:nvPr/>
        </p:nvSpPr>
        <p:spPr>
          <a:xfrm xmlns:a="http://schemas.openxmlformats.org/drawingml/2006/main">
            <a:off x="2990850" y="4686300"/>
            <a:ext cx="952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470"/>
          </a:bodyPr>
          <a:lstStyle xmlns:a="http://schemas.openxmlformats.org/drawingml/2006/main"/>
          <a:p xmlns:a="http://schemas.openxmlformats.org/drawingml/2006/main">
            <a:pPr algn="ctr">
              <a:lnSpc>
                <a:spcPct val="105000"/>
              </a:lnSpc>
              <a:buNone/>
              <a:defRPr sz="975" b="1" i="0">
                <a:solidFill>
                  <a:srgbClr val="F5F0E6"/>
                </a:solidFill>
                <a:latin typeface="Times New Roman"/>
                <a:ea typeface="Times New Roman"/>
                <a:cs typeface="Times New Roman"/>
              </a:defRPr>
            </a:pPr>
            <a:r>
              <a:rPr sz="975" b="1" i="0">
                <a:solidFill>
                  <a:srgbClr val="F5F0E6"/>
                </a:solidFill>
                <a:latin typeface="Times New Roman"/>
                <a:ea typeface="Times New Roman"/>
                <a:cs typeface="Times New Roman"/>
              </a:rPr>
              <a:t>2</a:t>
            </a:r>
          </a:p>
        </p:txBody>
      </p:sp>
      <p:sp>
        <p:nvSpPr>
          <p:cNvPr id="71" name="">
            <a:extLst xmlns:a="http://schemas.openxmlformats.org/drawingml/2006/main">
              <a:ext uri="{FF2B5EF4-FFF2-40B4-BE49-F238E27FC236}">
                <a16:creationId xmlns:a16="http://schemas.microsoft.com/office/drawing/2014/main" id="{26A19500-D596-4291-8BAF-C9596D80518B}"/>
              </a:ext>
            </a:extLst>
          </p:cNvPr>
          <p:cNvSpPr>
            <a:spLocks xmlns:a="http://schemas.openxmlformats.org/drawingml/2006/main" noGrp="1"/>
          </p:cNvSpPr>
          <p:nvPr/>
        </p:nvSpPr>
        <p:spPr>
          <a:xfrm xmlns:a="http://schemas.openxmlformats.org/drawingml/2006/main">
            <a:off x="3238500" y="46482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200" b="1" i="0">
                <a:solidFill>
                  <a:srgbClr val="231D17"/>
                </a:solidFill>
                <a:latin typeface="Times New Roman"/>
                <a:ea typeface="Times New Roman"/>
                <a:cs typeface="Times New Roman"/>
              </a:defRPr>
            </a:pPr>
            <a:r>
              <a:rPr sz="1200" b="1" i="0">
                <a:solidFill>
                  <a:srgbClr val="231D17"/>
                </a:solidFill>
                <a:latin typeface="Times New Roman"/>
                <a:ea typeface="Times New Roman"/>
                <a:cs typeface="Times New Roman"/>
              </a:rPr>
              <a:t>Self plan</a:t>
            </a:r>
          </a:p>
        </p:txBody>
      </p:sp>
      <p:sp>
        <p:nvSpPr>
          <p:cNvPr id="72" name="">
            <a:extLst xmlns:a="http://schemas.openxmlformats.org/drawingml/2006/main">
              <a:ext uri="{FF2B5EF4-FFF2-40B4-BE49-F238E27FC236}">
                <a16:creationId xmlns:a16="http://schemas.microsoft.com/office/drawing/2014/main" id="{1DEBA484-D302-4905-8C62-25D7F8B270B9}"/>
              </a:ext>
            </a:extLst>
          </p:cNvPr>
          <p:cNvSpPr>
            <a:spLocks xmlns:a="http://schemas.openxmlformats.org/drawingml/2006/main" noGrp="1"/>
          </p:cNvSpPr>
          <p:nvPr/>
        </p:nvSpPr>
        <p:spPr>
          <a:xfrm xmlns:a="http://schemas.openxmlformats.org/drawingml/2006/main">
            <a:off x="2971800" y="499110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80"/>
          </a:bodyPr>
          <a:lstStyle xmlns:a="http://schemas.openxmlformats.org/drawingml/2006/main"/>
          <a:p xmlns:a="http://schemas.openxmlformats.org/drawingml/2006/main">
            <a:pPr algn="l">
              <a:lnSpc>
                <a:spcPct val="105000"/>
              </a:lnSpc>
              <a:buNone/>
              <a:defRPr sz="915" b="0" i="0">
                <a:solidFill>
                  <a:srgbClr val="6F665C"/>
                </a:solidFill>
                <a:latin typeface="Times New Roman"/>
                <a:ea typeface="Times New Roman"/>
                <a:cs typeface="Times New Roman"/>
              </a:defRPr>
            </a:pPr>
            <a:r>
              <a:rPr sz="915" b="0" i="0">
                <a:solidFill>
                  <a:srgbClr val="6F665C"/>
                </a:solidFill>
                <a:latin typeface="Times New Roman"/>
                <a:ea typeface="Times New Roman"/>
                <a:cs typeface="Times New Roman"/>
              </a:rPr>
              <a:t>Allocate 100 points across three channels.</a:t>
            </a:r>
          </a:p>
        </p:txBody>
      </p:sp>
      <p:sp>
        <p:nvSpPr>
          <p:cNvPr id="73" name="">
            <a:extLst xmlns:a="http://schemas.openxmlformats.org/drawingml/2006/main">
              <a:ext uri="{FF2B5EF4-FFF2-40B4-BE49-F238E27FC236}">
                <a16:creationId xmlns:a16="http://schemas.microsoft.com/office/drawing/2014/main" id="{ED5B155C-51A8-4044-A1BD-6F57D58E249C}"/>
              </a:ext>
            </a:extLst>
          </p:cNvPr>
          <p:cNvSpPr>
            <a:spLocks xmlns:a="http://schemas.openxmlformats.org/drawingml/2006/main" noGrp="1"/>
          </p:cNvSpPr>
          <p:nvPr/>
        </p:nvSpPr>
        <p:spPr>
          <a:xfrm xmlns:a="http://schemas.openxmlformats.org/drawingml/2006/main">
            <a:off x="4495800" y="4514850"/>
            <a:ext cx="15621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8CCBB"/>
            </a:solidFill>
            <a:prstDash val="solid"/>
          </a:ln>
        </p:spPr>
      </p:sp>
      <p:sp>
        <p:nvSpPr>
          <p:cNvPr id="74" name="">
            <a:extLst xmlns:a="http://schemas.openxmlformats.org/drawingml/2006/main">
              <a:ext uri="{FF2B5EF4-FFF2-40B4-BE49-F238E27FC236}">
                <a16:creationId xmlns:a16="http://schemas.microsoft.com/office/drawing/2014/main" id="{6083BFCD-AE75-4525-BF78-825DD576C925}"/>
              </a:ext>
            </a:extLst>
          </p:cNvPr>
          <p:cNvSpPr>
            <a:spLocks xmlns:a="http://schemas.openxmlformats.org/drawingml/2006/main" noGrp="1"/>
          </p:cNvSpPr>
          <p:nvPr/>
        </p:nvSpPr>
        <p:spPr>
          <a:xfrm xmlns:a="http://schemas.openxmlformats.org/drawingml/2006/main">
            <a:off x="4610100" y="4648200"/>
            <a:ext cx="247650" cy="247650"/>
          </a:xfrm>
          <a:prstGeom xmlns:a="http://schemas.openxmlformats.org/drawingml/2006/main" prst="ellipse">
            <a:avLst/>
          </a:prstGeom>
          <a:solidFill xmlns:a="http://schemas.openxmlformats.org/drawingml/2006/main">
            <a:srgbClr val="23384A"/>
          </a:solidFill>
          <a:ln xmlns:a="http://schemas.openxmlformats.org/drawingml/2006/main" w="9525">
            <a:solidFill>
              <a:srgbClr val="23384A"/>
            </a:solidFill>
            <a:prstDash val="solid"/>
          </a:ln>
        </p:spPr>
      </p:sp>
      <p:sp>
        <p:nvSpPr>
          <p:cNvPr id="75" name="">
            <a:extLst xmlns:a="http://schemas.openxmlformats.org/drawingml/2006/main">
              <a:ext uri="{FF2B5EF4-FFF2-40B4-BE49-F238E27FC236}">
                <a16:creationId xmlns:a16="http://schemas.microsoft.com/office/drawing/2014/main" id="{E6C4695A-5387-42A9-A8BA-2A92383A9921}"/>
              </a:ext>
            </a:extLst>
          </p:cNvPr>
          <p:cNvSpPr>
            <a:spLocks xmlns:a="http://schemas.openxmlformats.org/drawingml/2006/main" noGrp="1"/>
          </p:cNvSpPr>
          <p:nvPr/>
        </p:nvSpPr>
        <p:spPr>
          <a:xfrm xmlns:a="http://schemas.openxmlformats.org/drawingml/2006/main">
            <a:off x="4686300" y="4686300"/>
            <a:ext cx="952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470"/>
          </a:bodyPr>
          <a:lstStyle xmlns:a="http://schemas.openxmlformats.org/drawingml/2006/main"/>
          <a:p xmlns:a="http://schemas.openxmlformats.org/drawingml/2006/main">
            <a:pPr algn="ctr">
              <a:lnSpc>
                <a:spcPct val="105000"/>
              </a:lnSpc>
              <a:buNone/>
              <a:defRPr sz="975" b="1" i="0">
                <a:solidFill>
                  <a:srgbClr val="F5F0E6"/>
                </a:solidFill>
                <a:latin typeface="Times New Roman"/>
                <a:ea typeface="Times New Roman"/>
                <a:cs typeface="Times New Roman"/>
              </a:defRPr>
            </a:pPr>
            <a:r>
              <a:rPr sz="975" b="1" i="0">
                <a:solidFill>
                  <a:srgbClr val="F5F0E6"/>
                </a:solidFill>
                <a:latin typeface="Times New Roman"/>
                <a:ea typeface="Times New Roman"/>
                <a:cs typeface="Times New Roman"/>
              </a:rPr>
              <a:t>3</a:t>
            </a:r>
          </a:p>
        </p:txBody>
      </p:sp>
      <p:sp>
        <p:nvSpPr>
          <p:cNvPr id="76" name="">
            <a:extLst xmlns:a="http://schemas.openxmlformats.org/drawingml/2006/main">
              <a:ext uri="{FF2B5EF4-FFF2-40B4-BE49-F238E27FC236}">
                <a16:creationId xmlns:a16="http://schemas.microsoft.com/office/drawing/2014/main" id="{89E51219-3519-470D-B468-CB020F264A2C}"/>
              </a:ext>
            </a:extLst>
          </p:cNvPr>
          <p:cNvSpPr>
            <a:spLocks xmlns:a="http://schemas.openxmlformats.org/drawingml/2006/main" noGrp="1"/>
          </p:cNvSpPr>
          <p:nvPr/>
        </p:nvSpPr>
        <p:spPr>
          <a:xfrm xmlns:a="http://schemas.openxmlformats.org/drawingml/2006/main">
            <a:off x="4933950" y="46482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200" b="1" i="0">
                <a:solidFill>
                  <a:srgbClr val="231D17"/>
                </a:solidFill>
                <a:latin typeface="Times New Roman"/>
                <a:ea typeface="Times New Roman"/>
                <a:cs typeface="Times New Roman"/>
              </a:defRPr>
            </a:pPr>
            <a:r>
              <a:rPr sz="1200" b="1" i="0">
                <a:solidFill>
                  <a:srgbClr val="231D17"/>
                </a:solidFill>
                <a:latin typeface="Times New Roman"/>
                <a:ea typeface="Times New Roman"/>
                <a:cs typeface="Times New Roman"/>
              </a:rPr>
              <a:t>AI plan</a:t>
            </a:r>
          </a:p>
        </p:txBody>
      </p:sp>
      <p:sp>
        <p:nvSpPr>
          <p:cNvPr id="77" name="">
            <a:extLst xmlns:a="http://schemas.openxmlformats.org/drawingml/2006/main">
              <a:ext uri="{FF2B5EF4-FFF2-40B4-BE49-F238E27FC236}">
                <a16:creationId xmlns:a16="http://schemas.microsoft.com/office/drawing/2014/main" id="{BCE32CE7-F92C-4F8F-B404-1FF109AFE84C}"/>
              </a:ext>
            </a:extLst>
          </p:cNvPr>
          <p:cNvSpPr>
            <a:spLocks xmlns:a="http://schemas.openxmlformats.org/drawingml/2006/main" noGrp="1"/>
          </p:cNvSpPr>
          <p:nvPr/>
        </p:nvSpPr>
        <p:spPr>
          <a:xfrm xmlns:a="http://schemas.openxmlformats.org/drawingml/2006/main">
            <a:off x="4667250" y="499110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80"/>
          </a:bodyPr>
          <a:lstStyle xmlns:a="http://schemas.openxmlformats.org/drawingml/2006/main"/>
          <a:p xmlns:a="http://schemas.openxmlformats.org/drawingml/2006/main">
            <a:pPr algn="l">
              <a:lnSpc>
                <a:spcPct val="105000"/>
              </a:lnSpc>
              <a:buNone/>
              <a:defRPr sz="915" b="0" i="0">
                <a:solidFill>
                  <a:srgbClr val="6F665C"/>
                </a:solidFill>
                <a:latin typeface="Times New Roman"/>
                <a:ea typeface="Times New Roman"/>
                <a:cs typeface="Times New Roman"/>
              </a:defRPr>
            </a:pPr>
            <a:r>
              <a:rPr sz="915" b="0" i="0">
                <a:solidFill>
                  <a:srgbClr val="6F665C"/>
                </a:solidFill>
                <a:latin typeface="Times New Roman"/>
                <a:ea typeface="Times New Roman"/>
                <a:cs typeface="Times New Roman"/>
              </a:rPr>
              <a:t>See AI allocation for the same round.</a:t>
            </a:r>
          </a:p>
        </p:txBody>
      </p:sp>
      <p:sp>
        <p:nvSpPr>
          <p:cNvPr id="78" name="">
            <a:extLst xmlns:a="http://schemas.openxmlformats.org/drawingml/2006/main">
              <a:ext uri="{FF2B5EF4-FFF2-40B4-BE49-F238E27FC236}">
                <a16:creationId xmlns:a16="http://schemas.microsoft.com/office/drawing/2014/main" id="{5C248014-E4DD-46CA-9E38-602EB7B225C7}"/>
              </a:ext>
            </a:extLst>
          </p:cNvPr>
          <p:cNvSpPr>
            <a:spLocks xmlns:a="http://schemas.openxmlformats.org/drawingml/2006/main" noGrp="1"/>
          </p:cNvSpPr>
          <p:nvPr/>
        </p:nvSpPr>
        <p:spPr>
          <a:xfrm xmlns:a="http://schemas.openxmlformats.org/drawingml/2006/main">
            <a:off x="6191250" y="4514850"/>
            <a:ext cx="15621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8CCBB"/>
            </a:solidFill>
            <a:prstDash val="solid"/>
          </a:ln>
        </p:spPr>
      </p:sp>
      <p:sp>
        <p:nvSpPr>
          <p:cNvPr id="79" name="">
            <a:extLst xmlns:a="http://schemas.openxmlformats.org/drawingml/2006/main">
              <a:ext uri="{FF2B5EF4-FFF2-40B4-BE49-F238E27FC236}">
                <a16:creationId xmlns:a16="http://schemas.microsoft.com/office/drawing/2014/main" id="{C4794D1D-5471-4AD2-9325-90D75222A3F7}"/>
              </a:ext>
            </a:extLst>
          </p:cNvPr>
          <p:cNvSpPr>
            <a:spLocks xmlns:a="http://schemas.openxmlformats.org/drawingml/2006/main" noGrp="1"/>
          </p:cNvSpPr>
          <p:nvPr/>
        </p:nvSpPr>
        <p:spPr>
          <a:xfrm xmlns:a="http://schemas.openxmlformats.org/drawingml/2006/main">
            <a:off x="6305550" y="4648200"/>
            <a:ext cx="247650" cy="247650"/>
          </a:xfrm>
          <a:prstGeom xmlns:a="http://schemas.openxmlformats.org/drawingml/2006/main" prst="ellipse">
            <a:avLst/>
          </a:prstGeom>
          <a:solidFill xmlns:a="http://schemas.openxmlformats.org/drawingml/2006/main">
            <a:srgbClr val="23384A"/>
          </a:solidFill>
          <a:ln xmlns:a="http://schemas.openxmlformats.org/drawingml/2006/main" w="9525">
            <a:solidFill>
              <a:srgbClr val="23384A"/>
            </a:solidFill>
            <a:prstDash val="solid"/>
          </a:ln>
        </p:spPr>
      </p:sp>
      <p:sp>
        <p:nvSpPr>
          <p:cNvPr id="80" name="">
            <a:extLst xmlns:a="http://schemas.openxmlformats.org/drawingml/2006/main">
              <a:ext uri="{FF2B5EF4-FFF2-40B4-BE49-F238E27FC236}">
                <a16:creationId xmlns:a16="http://schemas.microsoft.com/office/drawing/2014/main" id="{9803C750-3144-423C-A230-9F4E2E942827}"/>
              </a:ext>
            </a:extLst>
          </p:cNvPr>
          <p:cNvSpPr>
            <a:spLocks xmlns:a="http://schemas.openxmlformats.org/drawingml/2006/main" noGrp="1"/>
          </p:cNvSpPr>
          <p:nvPr/>
        </p:nvSpPr>
        <p:spPr>
          <a:xfrm xmlns:a="http://schemas.openxmlformats.org/drawingml/2006/main">
            <a:off x="6381750" y="4686300"/>
            <a:ext cx="952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470"/>
          </a:bodyPr>
          <a:lstStyle xmlns:a="http://schemas.openxmlformats.org/drawingml/2006/main"/>
          <a:p xmlns:a="http://schemas.openxmlformats.org/drawingml/2006/main">
            <a:pPr algn="ctr">
              <a:lnSpc>
                <a:spcPct val="105000"/>
              </a:lnSpc>
              <a:buNone/>
              <a:defRPr sz="975" b="1" i="0">
                <a:solidFill>
                  <a:srgbClr val="F5F0E6"/>
                </a:solidFill>
                <a:latin typeface="Times New Roman"/>
                <a:ea typeface="Times New Roman"/>
                <a:cs typeface="Times New Roman"/>
              </a:defRPr>
            </a:pPr>
            <a:r>
              <a:rPr sz="975" b="1" i="0">
                <a:solidFill>
                  <a:srgbClr val="F5F0E6"/>
                </a:solidFill>
                <a:latin typeface="Times New Roman"/>
                <a:ea typeface="Times New Roman"/>
                <a:cs typeface="Times New Roman"/>
              </a:rPr>
              <a:t>4</a:t>
            </a:r>
          </a:p>
        </p:txBody>
      </p:sp>
      <p:sp>
        <p:nvSpPr>
          <p:cNvPr id="81" name="">
            <a:extLst xmlns:a="http://schemas.openxmlformats.org/drawingml/2006/main">
              <a:ext uri="{FF2B5EF4-FFF2-40B4-BE49-F238E27FC236}">
                <a16:creationId xmlns:a16="http://schemas.microsoft.com/office/drawing/2014/main" id="{C8E1E4F7-0305-4117-A756-B1AB4E82DC77}"/>
              </a:ext>
            </a:extLst>
          </p:cNvPr>
          <p:cNvSpPr>
            <a:spLocks xmlns:a="http://schemas.openxmlformats.org/drawingml/2006/main" noGrp="1"/>
          </p:cNvSpPr>
          <p:nvPr/>
        </p:nvSpPr>
        <p:spPr>
          <a:xfrm xmlns:a="http://schemas.openxmlformats.org/drawingml/2006/main">
            <a:off x="6629400" y="46482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200" b="1" i="0">
                <a:solidFill>
                  <a:srgbClr val="231D17"/>
                </a:solidFill>
                <a:latin typeface="Times New Roman"/>
                <a:ea typeface="Times New Roman"/>
                <a:cs typeface="Times New Roman"/>
              </a:defRPr>
            </a:pPr>
            <a:r>
              <a:rPr sz="1200" b="1" i="0">
                <a:solidFill>
                  <a:srgbClr val="231D17"/>
                </a:solidFill>
                <a:latin typeface="Times New Roman"/>
                <a:ea typeface="Times New Roman"/>
                <a:cs typeface="Times New Roman"/>
              </a:rPr>
              <a:t>Submit</a:t>
            </a:r>
          </a:p>
        </p:txBody>
      </p:sp>
      <p:sp>
        <p:nvSpPr>
          <p:cNvPr id="82" name="">
            <a:extLst xmlns:a="http://schemas.openxmlformats.org/drawingml/2006/main">
              <a:ext uri="{FF2B5EF4-FFF2-40B4-BE49-F238E27FC236}">
                <a16:creationId xmlns:a16="http://schemas.microsoft.com/office/drawing/2014/main" id="{FAF14374-03F1-4E50-8038-6C30ACBA6FAD}"/>
              </a:ext>
            </a:extLst>
          </p:cNvPr>
          <p:cNvSpPr>
            <a:spLocks xmlns:a="http://schemas.openxmlformats.org/drawingml/2006/main" noGrp="1"/>
          </p:cNvSpPr>
          <p:nvPr/>
        </p:nvSpPr>
        <p:spPr>
          <a:xfrm xmlns:a="http://schemas.openxmlformats.org/drawingml/2006/main">
            <a:off x="6362700" y="499110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80"/>
          </a:bodyPr>
          <a:lstStyle xmlns:a="http://schemas.openxmlformats.org/drawingml/2006/main"/>
          <a:p xmlns:a="http://schemas.openxmlformats.org/drawingml/2006/main">
            <a:pPr algn="l">
              <a:lnSpc>
                <a:spcPct val="105000"/>
              </a:lnSpc>
              <a:buNone/>
              <a:defRPr sz="915" b="0" i="0">
                <a:solidFill>
                  <a:srgbClr val="6F665C"/>
                </a:solidFill>
                <a:latin typeface="Times New Roman"/>
                <a:ea typeface="Times New Roman"/>
                <a:cs typeface="Times New Roman"/>
              </a:defRPr>
            </a:pPr>
            <a:r>
              <a:rPr sz="915" b="0" i="0">
                <a:solidFill>
                  <a:srgbClr val="6F665C"/>
                </a:solidFill>
                <a:latin typeface="Times New Roman"/>
                <a:ea typeface="Times New Roman"/>
                <a:cs typeface="Times New Roman"/>
              </a:rPr>
              <a:t>Choose self or AI as final submission.</a:t>
            </a:r>
          </a:p>
        </p:txBody>
      </p:sp>
      <p:sp>
        <p:nvSpPr>
          <p:cNvPr id="83" name="">
            <a:extLst xmlns:a="http://schemas.openxmlformats.org/drawingml/2006/main">
              <a:ext uri="{FF2B5EF4-FFF2-40B4-BE49-F238E27FC236}">
                <a16:creationId xmlns:a16="http://schemas.microsoft.com/office/drawing/2014/main" id="{301326C0-DAE5-4E87-9575-5144701C2F03}"/>
              </a:ext>
            </a:extLst>
          </p:cNvPr>
          <p:cNvSpPr>
            <a:spLocks xmlns:a="http://schemas.openxmlformats.org/drawingml/2006/main" noGrp="1"/>
          </p:cNvSpPr>
          <p:nvPr/>
        </p:nvSpPr>
        <p:spPr>
          <a:xfrm xmlns:a="http://schemas.openxmlformats.org/drawingml/2006/main">
            <a:off x="7886700" y="4514850"/>
            <a:ext cx="15621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8CCBB"/>
            </a:solidFill>
            <a:prstDash val="solid"/>
          </a:ln>
        </p:spPr>
      </p:sp>
      <p:sp>
        <p:nvSpPr>
          <p:cNvPr id="84" name="">
            <a:extLst xmlns:a="http://schemas.openxmlformats.org/drawingml/2006/main">
              <a:ext uri="{FF2B5EF4-FFF2-40B4-BE49-F238E27FC236}">
                <a16:creationId xmlns:a16="http://schemas.microsoft.com/office/drawing/2014/main" id="{6A06467C-409E-42DE-8A8D-23D2D93DC3BD}"/>
              </a:ext>
            </a:extLst>
          </p:cNvPr>
          <p:cNvSpPr>
            <a:spLocks xmlns:a="http://schemas.openxmlformats.org/drawingml/2006/main" noGrp="1"/>
          </p:cNvSpPr>
          <p:nvPr/>
        </p:nvSpPr>
        <p:spPr>
          <a:xfrm xmlns:a="http://schemas.openxmlformats.org/drawingml/2006/main">
            <a:off x="8001000" y="4648200"/>
            <a:ext cx="247650" cy="247650"/>
          </a:xfrm>
          <a:prstGeom xmlns:a="http://schemas.openxmlformats.org/drawingml/2006/main" prst="ellipse">
            <a:avLst/>
          </a:prstGeom>
          <a:solidFill xmlns:a="http://schemas.openxmlformats.org/drawingml/2006/main">
            <a:srgbClr val="23384A"/>
          </a:solidFill>
          <a:ln xmlns:a="http://schemas.openxmlformats.org/drawingml/2006/main" w="9525">
            <a:solidFill>
              <a:srgbClr val="23384A"/>
            </a:solidFill>
            <a:prstDash val="solid"/>
          </a:ln>
        </p:spPr>
      </p:sp>
      <p:sp>
        <p:nvSpPr>
          <p:cNvPr id="85" name="">
            <a:extLst xmlns:a="http://schemas.openxmlformats.org/drawingml/2006/main">
              <a:ext uri="{FF2B5EF4-FFF2-40B4-BE49-F238E27FC236}">
                <a16:creationId xmlns:a16="http://schemas.microsoft.com/office/drawing/2014/main" id="{CEB770CF-D854-497B-9B61-805DF1D7B0B2}"/>
              </a:ext>
            </a:extLst>
          </p:cNvPr>
          <p:cNvSpPr>
            <a:spLocks xmlns:a="http://schemas.openxmlformats.org/drawingml/2006/main" noGrp="1"/>
          </p:cNvSpPr>
          <p:nvPr/>
        </p:nvSpPr>
        <p:spPr>
          <a:xfrm xmlns:a="http://schemas.openxmlformats.org/drawingml/2006/main">
            <a:off x="8077200" y="4686300"/>
            <a:ext cx="952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470"/>
          </a:bodyPr>
          <a:lstStyle xmlns:a="http://schemas.openxmlformats.org/drawingml/2006/main"/>
          <a:p xmlns:a="http://schemas.openxmlformats.org/drawingml/2006/main">
            <a:pPr algn="ctr">
              <a:lnSpc>
                <a:spcPct val="105000"/>
              </a:lnSpc>
              <a:buNone/>
              <a:defRPr sz="975" b="1" i="0">
                <a:solidFill>
                  <a:srgbClr val="F5F0E6"/>
                </a:solidFill>
                <a:latin typeface="Times New Roman"/>
                <a:ea typeface="Times New Roman"/>
                <a:cs typeface="Times New Roman"/>
              </a:defRPr>
            </a:pPr>
            <a:r>
              <a:rPr sz="975" b="1" i="0">
                <a:solidFill>
                  <a:srgbClr val="F5F0E6"/>
                </a:solidFill>
                <a:latin typeface="Times New Roman"/>
                <a:ea typeface="Times New Roman"/>
                <a:cs typeface="Times New Roman"/>
              </a:rPr>
              <a:t>5</a:t>
            </a:r>
          </a:p>
        </p:txBody>
      </p:sp>
      <p:sp>
        <p:nvSpPr>
          <p:cNvPr id="86" name="">
            <a:extLst xmlns:a="http://schemas.openxmlformats.org/drawingml/2006/main">
              <a:ext uri="{FF2B5EF4-FFF2-40B4-BE49-F238E27FC236}">
                <a16:creationId xmlns:a16="http://schemas.microsoft.com/office/drawing/2014/main" id="{C23FBA5E-D4EC-4917-874A-609BF72842EE}"/>
              </a:ext>
            </a:extLst>
          </p:cNvPr>
          <p:cNvSpPr>
            <a:spLocks xmlns:a="http://schemas.openxmlformats.org/drawingml/2006/main" noGrp="1"/>
          </p:cNvSpPr>
          <p:nvPr/>
        </p:nvSpPr>
        <p:spPr>
          <a:xfrm xmlns:a="http://schemas.openxmlformats.org/drawingml/2006/main">
            <a:off x="8324850" y="46482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200" b="1" i="0">
                <a:solidFill>
                  <a:srgbClr val="231D17"/>
                </a:solidFill>
                <a:latin typeface="Times New Roman"/>
                <a:ea typeface="Times New Roman"/>
                <a:cs typeface="Times New Roman"/>
              </a:defRPr>
            </a:pPr>
            <a:r>
              <a:rPr sz="1200" b="1" i="0">
                <a:solidFill>
                  <a:srgbClr val="231D17"/>
                </a:solidFill>
                <a:latin typeface="Times New Roman"/>
                <a:ea typeface="Times New Roman"/>
                <a:cs typeface="Times New Roman"/>
              </a:rPr>
              <a:t>Full feedback</a:t>
            </a:r>
          </a:p>
        </p:txBody>
      </p:sp>
      <p:sp>
        <p:nvSpPr>
          <p:cNvPr id="87" name="">
            <a:extLst xmlns:a="http://schemas.openxmlformats.org/drawingml/2006/main">
              <a:ext uri="{FF2B5EF4-FFF2-40B4-BE49-F238E27FC236}">
                <a16:creationId xmlns:a16="http://schemas.microsoft.com/office/drawing/2014/main" id="{7CA9F210-7B7B-4B9D-96A6-B15BDE0BC440}"/>
              </a:ext>
            </a:extLst>
          </p:cNvPr>
          <p:cNvSpPr>
            <a:spLocks xmlns:a="http://schemas.openxmlformats.org/drawingml/2006/main" noGrp="1"/>
          </p:cNvSpPr>
          <p:nvPr/>
        </p:nvSpPr>
        <p:spPr>
          <a:xfrm xmlns:a="http://schemas.openxmlformats.org/drawingml/2006/main">
            <a:off x="8058150" y="499110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80"/>
          </a:bodyPr>
          <a:lstStyle xmlns:a="http://schemas.openxmlformats.org/drawingml/2006/main"/>
          <a:p xmlns:a="http://schemas.openxmlformats.org/drawingml/2006/main">
            <a:pPr algn="l">
              <a:lnSpc>
                <a:spcPct val="105000"/>
              </a:lnSpc>
              <a:buNone/>
              <a:defRPr sz="915" b="0" i="0">
                <a:solidFill>
                  <a:srgbClr val="6F665C"/>
                </a:solidFill>
                <a:latin typeface="Times New Roman"/>
                <a:ea typeface="Times New Roman"/>
                <a:cs typeface="Times New Roman"/>
              </a:defRPr>
            </a:pPr>
            <a:r>
              <a:rPr sz="915" b="0" i="0">
                <a:solidFill>
                  <a:srgbClr val="6F665C"/>
                </a:solidFill>
                <a:latin typeface="Times New Roman"/>
                <a:ea typeface="Times New Roman"/>
                <a:cs typeface="Times New Roman"/>
              </a:rPr>
              <a:t>Observe chosen and unchosen payoffs.</a:t>
            </a:r>
          </a:p>
        </p:txBody>
      </p:sp>
      <p:sp>
        <p:nvSpPr>
          <p:cNvPr id="88" name="">
            <a:extLst xmlns:a="http://schemas.openxmlformats.org/drawingml/2006/main">
              <a:ext uri="{FF2B5EF4-FFF2-40B4-BE49-F238E27FC236}">
                <a16:creationId xmlns:a16="http://schemas.microsoft.com/office/drawing/2014/main" id="{2D7FE9C4-3B1D-4C6A-B733-14085C1051D6}"/>
              </a:ext>
            </a:extLst>
          </p:cNvPr>
          <p:cNvSpPr>
            <a:spLocks xmlns:a="http://schemas.openxmlformats.org/drawingml/2006/main" noGrp="1"/>
          </p:cNvSpPr>
          <p:nvPr/>
        </p:nvSpPr>
        <p:spPr>
          <a:xfrm xmlns:a="http://schemas.openxmlformats.org/drawingml/2006/main">
            <a:off x="9582150" y="4514850"/>
            <a:ext cx="15621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8CCBB"/>
            </a:solidFill>
            <a:prstDash val="solid"/>
          </a:ln>
        </p:spPr>
      </p:sp>
      <p:sp>
        <p:nvSpPr>
          <p:cNvPr id="89" name="">
            <a:extLst xmlns:a="http://schemas.openxmlformats.org/drawingml/2006/main">
              <a:ext uri="{FF2B5EF4-FFF2-40B4-BE49-F238E27FC236}">
                <a16:creationId xmlns:a16="http://schemas.microsoft.com/office/drawing/2014/main" id="{25E25211-EB79-4FF6-A40D-A4CC36A242EA}"/>
              </a:ext>
            </a:extLst>
          </p:cNvPr>
          <p:cNvSpPr>
            <a:spLocks xmlns:a="http://schemas.openxmlformats.org/drawingml/2006/main" noGrp="1"/>
          </p:cNvSpPr>
          <p:nvPr/>
        </p:nvSpPr>
        <p:spPr>
          <a:xfrm xmlns:a="http://schemas.openxmlformats.org/drawingml/2006/main">
            <a:off x="9696450" y="4648200"/>
            <a:ext cx="247650" cy="247650"/>
          </a:xfrm>
          <a:prstGeom xmlns:a="http://schemas.openxmlformats.org/drawingml/2006/main" prst="ellipse">
            <a:avLst/>
          </a:prstGeom>
          <a:solidFill xmlns:a="http://schemas.openxmlformats.org/drawingml/2006/main">
            <a:srgbClr val="23384A"/>
          </a:solidFill>
          <a:ln xmlns:a="http://schemas.openxmlformats.org/drawingml/2006/main" w="9525">
            <a:solidFill>
              <a:srgbClr val="23384A"/>
            </a:solidFill>
            <a:prstDash val="solid"/>
          </a:ln>
        </p:spPr>
      </p:sp>
      <p:sp>
        <p:nvSpPr>
          <p:cNvPr id="90" name="">
            <a:extLst xmlns:a="http://schemas.openxmlformats.org/drawingml/2006/main">
              <a:ext uri="{FF2B5EF4-FFF2-40B4-BE49-F238E27FC236}">
                <a16:creationId xmlns:a16="http://schemas.microsoft.com/office/drawing/2014/main" id="{F5931AD4-8273-4CA8-9426-BD7C52D9AD35}"/>
              </a:ext>
            </a:extLst>
          </p:cNvPr>
          <p:cNvSpPr>
            <a:spLocks xmlns:a="http://schemas.openxmlformats.org/drawingml/2006/main" noGrp="1"/>
          </p:cNvSpPr>
          <p:nvPr/>
        </p:nvSpPr>
        <p:spPr>
          <a:xfrm xmlns:a="http://schemas.openxmlformats.org/drawingml/2006/main">
            <a:off x="9772650" y="4686300"/>
            <a:ext cx="952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470"/>
          </a:bodyPr>
          <a:lstStyle xmlns:a="http://schemas.openxmlformats.org/drawingml/2006/main"/>
          <a:p xmlns:a="http://schemas.openxmlformats.org/drawingml/2006/main">
            <a:pPr algn="ctr">
              <a:lnSpc>
                <a:spcPct val="105000"/>
              </a:lnSpc>
              <a:buNone/>
              <a:defRPr sz="975" b="1" i="0">
                <a:solidFill>
                  <a:srgbClr val="F5F0E6"/>
                </a:solidFill>
                <a:latin typeface="Times New Roman"/>
                <a:ea typeface="Times New Roman"/>
                <a:cs typeface="Times New Roman"/>
              </a:defRPr>
            </a:pPr>
            <a:r>
              <a:rPr sz="975" b="1" i="0">
                <a:solidFill>
                  <a:srgbClr val="F5F0E6"/>
                </a:solidFill>
                <a:latin typeface="Times New Roman"/>
                <a:ea typeface="Times New Roman"/>
                <a:cs typeface="Times New Roman"/>
              </a:rPr>
              <a:t>6</a:t>
            </a:r>
          </a:p>
        </p:txBody>
      </p:sp>
      <p:sp>
        <p:nvSpPr>
          <p:cNvPr id="91" name="">
            <a:extLst xmlns:a="http://schemas.openxmlformats.org/drawingml/2006/main">
              <a:ext uri="{FF2B5EF4-FFF2-40B4-BE49-F238E27FC236}">
                <a16:creationId xmlns:a16="http://schemas.microsoft.com/office/drawing/2014/main" id="{739358D8-1987-4FA4-8E62-CAAB054FFF77}"/>
              </a:ext>
            </a:extLst>
          </p:cNvPr>
          <p:cNvSpPr>
            <a:spLocks xmlns:a="http://schemas.openxmlformats.org/drawingml/2006/main" noGrp="1"/>
          </p:cNvSpPr>
          <p:nvPr/>
        </p:nvSpPr>
        <p:spPr>
          <a:xfrm xmlns:a="http://schemas.openxmlformats.org/drawingml/2006/main">
            <a:off x="10020300" y="46482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200" b="1" i="0">
                <a:solidFill>
                  <a:srgbClr val="231D17"/>
                </a:solidFill>
                <a:latin typeface="Times New Roman"/>
                <a:ea typeface="Times New Roman"/>
                <a:cs typeface="Times New Roman"/>
              </a:defRPr>
            </a:pPr>
            <a:r>
              <a:rPr sz="1200" b="1" i="0">
                <a:solidFill>
                  <a:srgbClr val="231D17"/>
                </a:solidFill>
                <a:latin typeface="Times New Roman"/>
                <a:ea typeface="Times New Roman"/>
                <a:cs typeface="Times New Roman"/>
              </a:rPr>
              <a:t>Update</a:t>
            </a:r>
          </a:p>
        </p:txBody>
      </p:sp>
      <p:sp>
        <p:nvSpPr>
          <p:cNvPr id="92" name="">
            <a:extLst xmlns:a="http://schemas.openxmlformats.org/drawingml/2006/main">
              <a:ext uri="{FF2B5EF4-FFF2-40B4-BE49-F238E27FC236}">
                <a16:creationId xmlns:a16="http://schemas.microsoft.com/office/drawing/2014/main" id="{DF64BB94-4D7E-4D97-9884-FA78428696CC}"/>
              </a:ext>
            </a:extLst>
          </p:cNvPr>
          <p:cNvSpPr>
            <a:spLocks xmlns:a="http://schemas.openxmlformats.org/drawingml/2006/main" noGrp="1"/>
          </p:cNvSpPr>
          <p:nvPr/>
        </p:nvSpPr>
        <p:spPr>
          <a:xfrm xmlns:a="http://schemas.openxmlformats.org/drawingml/2006/main">
            <a:off x="9753600" y="499110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80"/>
          </a:bodyPr>
          <a:lstStyle xmlns:a="http://schemas.openxmlformats.org/drawingml/2006/main"/>
          <a:p xmlns:a="http://schemas.openxmlformats.org/drawingml/2006/main">
            <a:pPr algn="l">
              <a:lnSpc>
                <a:spcPct val="105000"/>
              </a:lnSpc>
              <a:buNone/>
              <a:defRPr sz="915" b="0" i="0">
                <a:solidFill>
                  <a:srgbClr val="6F665C"/>
                </a:solidFill>
                <a:latin typeface="Times New Roman"/>
                <a:ea typeface="Times New Roman"/>
                <a:cs typeface="Times New Roman"/>
              </a:defRPr>
            </a:pPr>
            <a:r>
              <a:rPr sz="915" b="0" i="0">
                <a:solidFill>
                  <a:srgbClr val="6F665C"/>
                </a:solidFill>
                <a:latin typeface="Times New Roman"/>
                <a:ea typeface="Times New Roman"/>
                <a:cs typeface="Times New Roman"/>
              </a:rPr>
              <a:t>Next choice reveals reliance updating.</a:t>
            </a:r>
          </a:p>
        </p:txBody>
      </p:sp>
      <p:sp>
        <p:nvSpPr>
          <p:cNvPr id="93" name="">
            <a:extLst xmlns:a="http://schemas.openxmlformats.org/drawingml/2006/main">
              <a:ext uri="{FF2B5EF4-FFF2-40B4-BE49-F238E27FC236}">
                <a16:creationId xmlns:a16="http://schemas.microsoft.com/office/drawing/2014/main" id="{1B20E2FE-2156-4012-A425-F21C1E08433C}"/>
              </a:ext>
            </a:extLst>
          </p:cNvPr>
          <p:cNvSpPr>
            <a:spLocks xmlns:a="http://schemas.openxmlformats.org/drawingml/2006/main" noGrp="1"/>
          </p:cNvSpPr>
          <p:nvPr/>
        </p:nvSpPr>
        <p:spPr>
          <a:xfrm xmlns:a="http://schemas.openxmlformats.org/drawingml/2006/main">
            <a:off x="2705100" y="4953000"/>
            <a:ext cx="38100" cy="0"/>
          </a:xfrm>
          <a:prstGeom xmlns:a="http://schemas.openxmlformats.org/drawingml/2006/main" prst="line">
            <a:avLst/>
          </a:prstGeom>
          <a:ln xmlns:a="http://schemas.openxmlformats.org/drawingml/2006/main" w="14288">
            <a:solidFill>
              <a:srgbClr val="B77845"/>
            </a:solidFill>
            <a:prstDash val="solid"/>
          </a:ln>
        </p:spPr>
      </p:sp>
      <p:sp>
        <p:nvSpPr>
          <p:cNvPr id="94" name="">
            <a:extLst xmlns:a="http://schemas.openxmlformats.org/drawingml/2006/main">
              <a:ext uri="{FF2B5EF4-FFF2-40B4-BE49-F238E27FC236}">
                <a16:creationId xmlns:a16="http://schemas.microsoft.com/office/drawing/2014/main" id="{9AA6E271-71B2-4BE8-8A20-05A0B47DED21}"/>
              </a:ext>
            </a:extLst>
          </p:cNvPr>
          <p:cNvSpPr>
            <a:spLocks xmlns:a="http://schemas.openxmlformats.org/drawingml/2006/main" noGrp="1"/>
          </p:cNvSpPr>
          <p:nvPr/>
        </p:nvSpPr>
        <p:spPr>
          <a:xfrm xmlns:a="http://schemas.openxmlformats.org/drawingml/2006/main">
            <a:off x="4400550" y="4953000"/>
            <a:ext cx="38100" cy="0"/>
          </a:xfrm>
          <a:prstGeom xmlns:a="http://schemas.openxmlformats.org/drawingml/2006/main" prst="line">
            <a:avLst/>
          </a:prstGeom>
          <a:ln xmlns:a="http://schemas.openxmlformats.org/drawingml/2006/main" w="14288">
            <a:solidFill>
              <a:srgbClr val="B77845"/>
            </a:solidFill>
            <a:prstDash val="solid"/>
          </a:ln>
        </p:spPr>
      </p:sp>
      <p:sp>
        <p:nvSpPr>
          <p:cNvPr id="95" name="">
            <a:extLst xmlns:a="http://schemas.openxmlformats.org/drawingml/2006/main">
              <a:ext uri="{FF2B5EF4-FFF2-40B4-BE49-F238E27FC236}">
                <a16:creationId xmlns:a16="http://schemas.microsoft.com/office/drawing/2014/main" id="{43C202A5-06C3-4375-B5C3-A0BDDA7BEBF8}"/>
              </a:ext>
            </a:extLst>
          </p:cNvPr>
          <p:cNvSpPr>
            <a:spLocks xmlns:a="http://schemas.openxmlformats.org/drawingml/2006/main" noGrp="1"/>
          </p:cNvSpPr>
          <p:nvPr/>
        </p:nvSpPr>
        <p:spPr>
          <a:xfrm xmlns:a="http://schemas.openxmlformats.org/drawingml/2006/main">
            <a:off x="6096000" y="4953000"/>
            <a:ext cx="38100" cy="0"/>
          </a:xfrm>
          <a:prstGeom xmlns:a="http://schemas.openxmlformats.org/drawingml/2006/main" prst="line">
            <a:avLst/>
          </a:prstGeom>
          <a:ln xmlns:a="http://schemas.openxmlformats.org/drawingml/2006/main" w="14288">
            <a:solidFill>
              <a:srgbClr val="B77845"/>
            </a:solidFill>
            <a:prstDash val="solid"/>
          </a:ln>
        </p:spPr>
      </p:sp>
      <p:sp>
        <p:nvSpPr>
          <p:cNvPr id="96" name="">
            <a:extLst xmlns:a="http://schemas.openxmlformats.org/drawingml/2006/main">
              <a:ext uri="{FF2B5EF4-FFF2-40B4-BE49-F238E27FC236}">
                <a16:creationId xmlns:a16="http://schemas.microsoft.com/office/drawing/2014/main" id="{FFCE9F16-5E8B-4F22-91DC-AD453C34008D}"/>
              </a:ext>
            </a:extLst>
          </p:cNvPr>
          <p:cNvSpPr>
            <a:spLocks xmlns:a="http://schemas.openxmlformats.org/drawingml/2006/main" noGrp="1"/>
          </p:cNvSpPr>
          <p:nvPr/>
        </p:nvSpPr>
        <p:spPr>
          <a:xfrm xmlns:a="http://schemas.openxmlformats.org/drawingml/2006/main">
            <a:off x="7791450" y="4953000"/>
            <a:ext cx="38100" cy="0"/>
          </a:xfrm>
          <a:prstGeom xmlns:a="http://schemas.openxmlformats.org/drawingml/2006/main" prst="line">
            <a:avLst/>
          </a:prstGeom>
          <a:ln xmlns:a="http://schemas.openxmlformats.org/drawingml/2006/main" w="14288">
            <a:solidFill>
              <a:srgbClr val="B77845"/>
            </a:solidFill>
            <a:prstDash val="solid"/>
          </a:ln>
        </p:spPr>
      </p:sp>
      <p:sp>
        <p:nvSpPr>
          <p:cNvPr id="97" name="">
            <a:extLst xmlns:a="http://schemas.openxmlformats.org/drawingml/2006/main">
              <a:ext uri="{FF2B5EF4-FFF2-40B4-BE49-F238E27FC236}">
                <a16:creationId xmlns:a16="http://schemas.microsoft.com/office/drawing/2014/main" id="{8B2AC8E8-1793-4805-AD24-6DDD85D15A07}"/>
              </a:ext>
            </a:extLst>
          </p:cNvPr>
          <p:cNvSpPr>
            <a:spLocks xmlns:a="http://schemas.openxmlformats.org/drawingml/2006/main" noGrp="1"/>
          </p:cNvSpPr>
          <p:nvPr/>
        </p:nvSpPr>
        <p:spPr>
          <a:xfrm xmlns:a="http://schemas.openxmlformats.org/drawingml/2006/main">
            <a:off x="9486900" y="4953000"/>
            <a:ext cx="38100" cy="0"/>
          </a:xfrm>
          <a:prstGeom xmlns:a="http://schemas.openxmlformats.org/drawingml/2006/main" prst="line">
            <a:avLst/>
          </a:prstGeom>
          <a:ln xmlns:a="http://schemas.openxmlformats.org/drawingml/2006/main" w="14288">
            <a:solidFill>
              <a:srgbClr val="B77845"/>
            </a:solidFill>
            <a:prstDash val="solid"/>
          </a:ln>
        </p:spPr>
      </p:sp>
      <p:sp>
        <p:nvSpPr>
          <p:cNvPr id="98" name="">
            <a:extLst xmlns:a="http://schemas.openxmlformats.org/drawingml/2006/main">
              <a:ext uri="{FF2B5EF4-FFF2-40B4-BE49-F238E27FC236}">
                <a16:creationId xmlns:a16="http://schemas.microsoft.com/office/drawing/2014/main" id="{CEEE5706-CD58-44F0-82BF-E87D4ADA6A32}"/>
              </a:ext>
            </a:extLst>
          </p:cNvPr>
          <p:cNvSpPr>
            <a:spLocks xmlns:a="http://schemas.openxmlformats.org/drawingml/2006/main" noGrp="1"/>
          </p:cNvSpPr>
          <p:nvPr/>
        </p:nvSpPr>
        <p:spPr>
          <a:xfrm xmlns:a="http://schemas.openxmlformats.org/drawingml/2006/main">
            <a:off x="914400" y="6115050"/>
            <a:ext cx="10325100" cy="400050"/>
          </a:xfrm>
          <a:prstGeom xmlns:a="http://schemas.openxmlformats.org/drawingml/2006/main" prst="roundRect">
            <a:avLst>
              <a:gd name="adj" fmla="val 19048"/>
            </a:avLst>
          </a:prstGeom>
          <a:solidFill xmlns:a="http://schemas.openxmlformats.org/drawingml/2006/main">
            <a:srgbClr val="23384A"/>
          </a:solidFill>
          <a:ln xmlns:a="http://schemas.openxmlformats.org/drawingml/2006/main" w="9525">
            <a:solidFill>
              <a:srgbClr val="23384A"/>
            </a:solidFill>
            <a:prstDash val="solid"/>
          </a:ln>
        </p:spPr>
      </p:sp>
      <p:sp>
        <p:nvSpPr>
          <p:cNvPr id="99" name="">
            <a:extLst xmlns:a="http://schemas.openxmlformats.org/drawingml/2006/main">
              <a:ext uri="{FF2B5EF4-FFF2-40B4-BE49-F238E27FC236}">
                <a16:creationId xmlns:a16="http://schemas.microsoft.com/office/drawing/2014/main" id="{C022F75B-597B-4EE7-80FB-C17FCB556792}"/>
              </a:ext>
            </a:extLst>
          </p:cNvPr>
          <p:cNvSpPr>
            <a:spLocks xmlns:a="http://schemas.openxmlformats.org/drawingml/2006/main" noGrp="1"/>
          </p:cNvSpPr>
          <p:nvPr/>
        </p:nvSpPr>
        <p:spPr>
          <a:xfrm xmlns:a="http://schemas.openxmlformats.org/drawingml/2006/main">
            <a:off x="1219200" y="6219825"/>
            <a:ext cx="967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286"/>
          </a:bodyPr>
          <a:lstStyle xmlns:a="http://schemas.openxmlformats.org/drawingml/2006/main"/>
          <a:p xmlns:a="http://schemas.openxmlformats.org/drawingml/2006/main">
            <a:pPr algn="ctr">
              <a:lnSpc>
                <a:spcPct val="105000"/>
              </a:lnSpc>
              <a:buNone/>
              <a:defRPr sz="1200" b="1" i="0">
                <a:solidFill>
                  <a:srgbClr val="F5F0E6"/>
                </a:solidFill>
                <a:latin typeface="Times New Roman"/>
                <a:ea typeface="Times New Roman"/>
                <a:cs typeface="Times New Roman"/>
              </a:defRPr>
            </a:pPr>
            <a:r>
              <a:rPr sz="1200" b="1" i="0">
                <a:solidFill>
                  <a:srgbClr val="F5F0E6"/>
                </a:solidFill>
                <a:latin typeface="Times New Roman"/>
                <a:ea typeface="Times New Roman"/>
                <a:cs typeface="Times New Roman"/>
              </a:rPr>
              <a:t>What this identifies: whether a local AI error shock changes later AI adoption beyond what can be explained by average performance.</a:t>
            </a:r>
          </a:p>
        </p:txBody>
      </p:sp>
    </p:spTree>
    <p:extLst>
      <p:ext uri="{BB962C8B-B14F-4D97-AF65-F5344CB8AC3E}">
        <p14:creationId xmlns:p14="http://schemas.microsoft.com/office/powerpoint/2010/main" val="7091101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2026-07-06T10:30:19.8650000Z</dcterms:created>
  <dcterms:modified xsi:type="dcterms:W3CDTF">2026-07-06T10:30:19.8650000Z</dcterms:modified>
</coreProperties>
</file>