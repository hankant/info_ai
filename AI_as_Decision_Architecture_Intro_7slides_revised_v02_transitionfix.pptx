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3" r:id="rId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everyone.</a:t>
            </a:r>
          </a:p>
          <a:p>
            <a:r>
              <a:rPr lang="en-US" altLang="zh-CN"/>
              <a:t>Today I'd like to introduce my doctoral research.</a:t>
            </a:r>
          </a:p>
          <a:p>
            <a:r>
              <a:rPr lang="en-US" altLang="zh-CN"/>
              <a:t>Let me begin with a simple observation.</a:t>
            </a:r>
          </a:p>
          <a:p>
            <a:r>
              <a:rPr lang="en-US" altLang="zh-CN"/>
              <a:t>AI is becoming part of many important decisions that we make every day.</a:t>
            </a:r>
          </a:p>
          <a:p>
            <a:r>
              <a:rPr lang="en-US" altLang="zh-CN"/>
              <a:t>We can already see it in healthcare, public administration, organizational governance, financial investment, and many other high-risk settings.</a:t>
            </a:r>
          </a:p>
          <a:p>
            <a:r>
              <a:rPr lang="en-US" altLang="zh-CN"/>
              <a:t>In other words, AI is no longer just a technology in the laboratory.</a:t>
            </a:r>
          </a:p>
          <a:p>
            <a:r>
              <a:rPr lang="en-US" altLang="zh-CN"/>
              <a:t>It is becoming part of real decision-making systems.</a:t>
            </a:r>
          </a:p>
          <a:p>
            <a:r>
              <a:rPr lang="en-US" altLang="zh-CN"/>
              <a:t>Because of this change, AI governance can no longer focus only on model performance or safety.</a:t>
            </a:r>
          </a:p>
          <a:p>
            <a:r>
              <a:rPr lang="en-US" altLang="zh-CN"/>
              <a:t>We also need to understand what happens to people once AI becomes part of the decision process.</a:t>
            </a:r>
          </a:p>
          <a:p>
            <a:r>
              <a:rPr lang="en-US" altLang="zh-CN"/>
              <a:t>This is the starting point of my dissertation.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So what do we already know?</a:t>
            </a:r>
          </a:p>
          <a:p>
            <a:r>
              <a:rPr lang="en-US" altLang="zh-CN"/>
              <a:t>Existing research mainly studies AI from three perspectives.</a:t>
            </a:r>
          </a:p>
          <a:p>
            <a:r>
              <a:rPr lang="en-US" altLang="zh-CN"/>
              <a:t>The first asks whether AI improves human judgment.</a:t>
            </a:r>
          </a:p>
          <a:p>
            <a:r>
              <a:rPr lang="en-US" altLang="zh-CN"/>
              <a:t>The second asks whether people trust and rely on AI.</a:t>
            </a:r>
          </a:p>
          <a:p>
            <a:r>
              <a:rPr lang="en-US" altLang="zh-CN"/>
              <a:t>The third asks who should be responsible after AI-assisted decisions.</a:t>
            </a:r>
          </a:p>
          <a:p>
            <a:r>
              <a:rPr lang="en-US" altLang="zh-CN"/>
              <a:t>These are all important questions.</a:t>
            </a:r>
          </a:p>
          <a:p>
            <a:r>
              <a:rPr lang="en-US" altLang="zh-CN"/>
              <a:t>However, they share one common assumption.</a:t>
            </a:r>
          </a:p>
          <a:p>
            <a:r>
              <a:rPr lang="en-US" altLang="zh-CN"/>
              <a:t>They all treat AI as an external tool.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summarizes the main research </a:t>
            </a:r>
          </a:p>
          <a:p>
            <a:r>
              <a:rPr lang="en-US" altLang="zh-CN"/>
              <a:t>The existing literature is very important.</a:t>
            </a:r>
          </a:p>
          <a:p>
            <a:r>
              <a:rPr lang="en-US" altLang="zh-CN"/>
              <a:t>One stream studies decision quality and calibration.</a:t>
            </a:r>
          </a:p>
          <a:p>
            <a:r>
              <a:rPr lang="en-US" altLang="zh-CN"/>
              <a:t>It asks whether AI can improve human judgment.</a:t>
            </a:r>
          </a:p>
          <a:p>
            <a:r>
              <a:rPr lang="en-US" altLang="zh-CN"/>
              <a:t>Another stream studies trust and reliance.</a:t>
            </a:r>
          </a:p>
          <a:p>
            <a:r>
              <a:rPr lang="en-US" altLang="zh-CN"/>
              <a:t>It asks whether people accept AI advice, reject it, or rely on it too much.</a:t>
            </a:r>
          </a:p>
          <a:p>
            <a:r>
              <a:rPr lang="en-US" altLang="zh-CN"/>
              <a:t>A third stream studies responsibility and ownership.</a:t>
            </a:r>
          </a:p>
          <a:p>
            <a:r>
              <a:rPr lang="en-US" altLang="zh-CN"/>
              <a:t>It asks who should be responsible after an AI-assisted decision.</a:t>
            </a:r>
          </a:p>
          <a:p>
            <a:r>
              <a:rPr lang="en-US" altLang="zh-CN"/>
              <a:t>Much of this literature still treats AI as a traditional algorithm.</a:t>
            </a:r>
          </a:p>
          <a:p>
            <a:r>
              <a:rPr lang="en-US" altLang="zh-CN"/>
              <a:t>For example, it often explains human-AI interaction through ideas such as algorithm aversion, algorithm appreciation, or advice-taking.</a:t>
            </a:r>
          </a:p>
          <a:p>
            <a:r>
              <a:rPr lang="en-US" altLang="zh-CN"/>
              <a:t>However, it is clear that this cannot explain why people sometimes place excessive trust in AIs while at other times distrust them overly, despite all being artificial intelligence.</a:t>
            </a:r>
          </a:p>
          <a:p>
            <a:r>
              <a:rPr lang="en-US" altLang="zh-CN"/>
              <a:t>Another limitation is that many studies still focus too much on the AI side.</a:t>
            </a:r>
          </a:p>
          <a:p>
            <a:r>
              <a:rPr lang="en-US" altLang="zh-CN"/>
              <a:t>They ask whether AI improves performance, whether the model is accurate,</a:t>
            </a:r>
          </a:p>
          <a:p>
            <a:r>
              <a:rPr lang="en-US" altLang="zh-CN"/>
              <a:t>The more important question is what happens on the human side.</a:t>
            </a:r>
          </a:p>
          <a:p>
            <a:r>
              <a:rPr lang="en-US" altLang="zh-CN"/>
              <a:t>we need a different way to understand AI-assisted decision-making.</a:t>
            </a:r>
          </a:p>
          <a:p>
            <a:r>
              <a:rPr lang="en-US" altLang="zh-CN"/>
              <a:t>We need to move from seeing AI as an external algorithmic tool, to seeing AI as part of the human decision process itself.</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Why is this important?</a:t>
            </a:r>
          </a:p>
          <a:p>
            <a:r>
              <a:rPr lang="en-US" altLang="zh-CN"/>
              <a:t>Because large language models communicate through language rather than simple numerical outputs.</a:t>
            </a:r>
          </a:p>
          <a:p>
            <a:r>
              <a:rPr lang="en-US" altLang="zh-CN"/>
              <a:t>They explain,</a:t>
            </a:r>
          </a:p>
          <a:p>
            <a:r>
              <a:rPr lang="en-US" altLang="zh-CN"/>
              <a:t>summarize,</a:t>
            </a:r>
          </a:p>
          <a:p>
            <a:r>
              <a:rPr lang="en-US" altLang="zh-CN"/>
              <a:t>persuade,</a:t>
            </a:r>
          </a:p>
          <a:p>
            <a:r>
              <a:rPr lang="en-US" altLang="zh-CN"/>
              <a:t>reassure,</a:t>
            </a:r>
          </a:p>
          <a:p>
            <a:r>
              <a:rPr lang="en-US" altLang="zh-CN"/>
              <a:t>and organize information.</a:t>
            </a:r>
          </a:p>
          <a:p>
            <a:r>
              <a:rPr lang="en-US" altLang="zh-CN"/>
              <a:t>As a result,</a:t>
            </a:r>
          </a:p>
          <a:p>
            <a:r>
              <a:rPr lang="en-US" altLang="zh-CN"/>
              <a:t>they influence how people understand problems before making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a:p>
            <a:r>
              <a:rPr lang="en-US" altLang="zh-CN"/>
              <a:t>So why do large language models feel different from earlier AI systems?</a:t>
            </a:r>
          </a:p>
          <a:p>
            <a:r>
              <a:rPr lang="en-US" altLang="zh-CN"/>
              <a:t>Large language models are built to work with context.</a:t>
            </a:r>
          </a:p>
          <a:p>
            <a:r>
              <a:rPr lang="en-US" altLang="zh-CN"/>
              <a:t>They can take a question, connect it with surrounding information, and generate a response in natural language.</a:t>
            </a:r>
          </a:p>
          <a:p>
            <a:r>
              <a:rPr lang="en-US" altLang="zh-CN"/>
              <a:t>LLMs give explanations.</a:t>
            </a:r>
          </a:p>
          <a:p>
            <a:r>
              <a:rPr lang="en-US" altLang="zh-CN"/>
              <a:t>They give a narrative.</a:t>
            </a:r>
          </a:p>
          <a:p>
            <a:r>
              <a:rPr lang="en-US" altLang="zh-CN"/>
              <a:t>Because of this, they enter the human decision process in a much more direct way.</a:t>
            </a:r>
          </a:p>
          <a:p>
            <a:r>
              <a:rPr lang="en-US" altLang="zh-CN"/>
              <a:t>And they can make a suggestion sound more convincing.</a:t>
            </a:r>
          </a:p>
          <a:p>
            <a:r>
              <a:rPr lang="en-US" altLang="zh-CN"/>
              <a:t>So users are not only influenced by what the AI says.</a:t>
            </a:r>
          </a:p>
          <a:p>
            <a:r>
              <a:rPr lang="en-US" altLang="zh-CN"/>
              <a:t>They are also influenced by how the AI says it.</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So at this point, I want to move from the background to the core structure of my research.</a:t>
            </a:r>
          </a:p>
          <a:p>
            <a:r>
              <a:rPr lang="en-US" altLang="zh-CN"/>
              <a:t>My argument is that AI does not only affect one single decision.</a:t>
            </a:r>
          </a:p>
          <a:p>
            <a:r>
              <a:rPr lang="en-US" altLang="zh-CN"/>
              <a:t>It affects a whole process.</a:t>
            </a:r>
          </a:p>
          <a:p>
            <a:r>
              <a:rPr lang="en-US" altLang="zh-CN"/>
              <a:t>Before people make a decision, AI may shape how they form beliefs.</a:t>
            </a:r>
          </a:p>
          <a:p>
            <a:r>
              <a:rPr lang="en-US" altLang="zh-CN"/>
              <a:t>Then, after people form a belief, AI may change how they judge risk.</a:t>
            </a:r>
          </a:p>
          <a:p>
            <a:r>
              <a:rPr lang="en-US" altLang="zh-CN"/>
              <a:t>It may also change how much they rely on the system, and when they decide to take action.</a:t>
            </a:r>
          </a:p>
          <a:p>
            <a:r>
              <a:rPr lang="en-US" altLang="zh-CN"/>
              <a:t>Finally, after the action leads to an outcome, AI may also change how responsibility is understood.</a:t>
            </a:r>
          </a:p>
          <a:p>
            <a:r>
              <a:rPr lang="en-US" altLang="zh-CN"/>
              <a:t>So the process is not just:</a:t>
            </a:r>
          </a:p>
          <a:p>
            <a:r>
              <a:rPr lang="en-US" altLang="zh-CN"/>
              <a:t>AI gives advice, and humans accept or reject it.</a:t>
            </a:r>
          </a:p>
          <a:p>
            <a:r>
              <a:rPr lang="en-US" altLang="zh-CN"/>
              <a:t>The process is closer to this:</a:t>
            </a:r>
          </a:p>
          <a:p>
            <a:r>
              <a:rPr lang="en-US" altLang="zh-CN"/>
              <a:t>AI shapes belief formation.</a:t>
            </a:r>
          </a:p>
          <a:p>
            <a:r>
              <a:rPr lang="en-US" altLang="zh-CN"/>
              <a:t>Then it affects reliance and action.</a:t>
            </a:r>
          </a:p>
          <a:p>
            <a:r>
              <a:rPr lang="en-US" altLang="zh-CN"/>
              <a:t>And finally, it influences responsibility attribution.</a:t>
            </a:r>
          </a:p>
          <a:p>
            <a:r>
              <a:rPr lang="en-US" altLang="zh-CN"/>
              <a:t>This is the shared process behind the three papers in my dissertation.</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is the transition from the overall map to Paper 1. The point is sequential. Before people decide whether to rely on AI, and before anyone can attribute responsibility for an action, they first form a belief about the situation. Generative AI changes that first step because it gives an answer before the user has personally inspected the evidence. So Paper 1 asks whether that answer-first interface changes the stopping threshold for search, the quality of posterior belief updating, and the user's subjective sense of information mastery. Once this upstream belief state is shifted, later reliance and responsibility are no longer starting from the same baseline.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1F2A44"/>
          </a:solidFill>
          <a:ln w="0">
            <a:solidFill>
              <a:srgbClr val="1F2A44"/>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314062"/>
          </a:solidFill>
          <a:ln w="0">
            <a:solidFill>
              <a:srgbClr val="314062"/>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273554"/>
          </a:solidFill>
          <a:ln w="0">
            <a:solidFill>
              <a:srgbClr val="273554"/>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C89B4A"/>
          </a:solidFill>
          <a:ln w="0">
            <a:solidFill>
              <a:srgbClr val="C89B4A"/>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C89B4A"/>
          </a:solidFill>
          <a:ln w="0">
            <a:solidFill>
              <a:srgbClr val="C89B4A"/>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C89B4A"/>
                </a:solidFill>
                <a:latin typeface="Times New Roman" panose="02020603050405020304"/>
                <a:ea typeface="Times New Roman" panose="02020603050405020304"/>
                <a:cs typeface="Times New Roman" panose="02020603050405020304"/>
              </a:defRPr>
            </a:pPr>
            <a:r>
              <a:rPr sz="1050" b="1">
                <a:solidFill>
                  <a:srgbClr val="C89B4A"/>
                </a:solidFill>
                <a:latin typeface="Times New Roman" panose="02020603050405020304"/>
                <a:ea typeface="Times New Roman" panose="02020603050405020304"/>
                <a:cs typeface="Times New Roman" panose="02020603050405020304"/>
              </a:rPr>
              <a:t>DOCTORAL PROJECT</a:t>
            </a:r>
          </a:p>
        </p:txBody>
      </p:sp>
      <p:sp>
        <p:nvSpPr>
          <p:cNvPr id="8" name="矩形 7"/>
          <p:cNvSpPr>
            <a:spLocks noGrp="1"/>
          </p:cNvSpPr>
          <p:nvPr/>
        </p:nvSpPr>
        <p:spPr>
          <a:xfrm>
            <a:off x="914400" y="1123950"/>
            <a:ext cx="6096000" cy="1333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850" b="1">
                <a:solidFill>
                  <a:srgbClr val="FFFFFF"/>
                </a:solidFill>
                <a:latin typeface="Times New Roman" panose="02020603050405020304"/>
                <a:ea typeface="Times New Roman" panose="02020603050405020304"/>
                <a:cs typeface="Times New Roman" panose="02020603050405020304"/>
              </a:defRPr>
            </a:pPr>
            <a:r>
              <a:rPr sz="2850" b="1">
                <a:solidFill>
                  <a:srgbClr val="FFFFFF"/>
                </a:solidFill>
                <a:latin typeface="Times New Roman" panose="02020603050405020304"/>
                <a:ea typeface="Times New Roman" panose="02020603050405020304"/>
                <a:cs typeface="Times New Roman" panose="02020603050405020304"/>
              </a:rPr>
              <a:t>The Puzzle That Motivates the Work</a:t>
            </a:r>
          </a:p>
        </p:txBody>
      </p:sp>
      <p:sp>
        <p:nvSpPr>
          <p:cNvPr id="9" name="矩形 8"/>
          <p:cNvSpPr>
            <a:spLocks noGrp="1"/>
          </p:cNvSpPr>
          <p:nvPr/>
        </p:nvSpPr>
        <p:spPr>
          <a:xfrm>
            <a:off x="914400" y="2476500"/>
            <a:ext cx="590550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0">
                <a:solidFill>
                  <a:srgbClr val="D8DDE7"/>
                </a:solidFill>
                <a:latin typeface="Times New Roman" panose="02020603050405020304"/>
                <a:ea typeface="Times New Roman" panose="02020603050405020304"/>
                <a:cs typeface="Times New Roman" panose="02020603050405020304"/>
              </a:defRPr>
            </a:pPr>
            <a:r>
              <a:rPr sz="1500" b="0">
                <a:solidFill>
                  <a:srgbClr val="D8DDE7"/>
                </a:solidFill>
                <a:latin typeface="Times New Roman" panose="02020603050405020304"/>
                <a:ea typeface="Times New Roman" panose="02020603050405020304"/>
                <a:cs typeface="Times New Roman" panose="02020603050405020304"/>
              </a:rPr>
              <a:t>AI is entering more real decision settings, and the key question is how human judgment changes once AI becomes part of the decision process</a:t>
            </a:r>
          </a:p>
        </p:txBody>
      </p:sp>
      <p:sp>
        <p:nvSpPr>
          <p:cNvPr id="10" name="矩形 9"/>
          <p:cNvSpPr>
            <a:spLocks noGrp="1"/>
          </p:cNvSpPr>
          <p:nvPr/>
        </p:nvSpPr>
        <p:spPr>
          <a:xfrm>
            <a:off x="914400" y="3657600"/>
            <a:ext cx="2857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C89B4A"/>
                </a:solidFill>
                <a:latin typeface="Times New Roman" panose="02020603050405020304"/>
                <a:ea typeface="Times New Roman" panose="02020603050405020304"/>
                <a:cs typeface="Times New Roman" panose="02020603050405020304"/>
              </a:defRPr>
            </a:pPr>
            <a:r>
              <a:rPr sz="1200" b="1">
                <a:solidFill>
                  <a:srgbClr val="C89B4A"/>
                </a:solidFill>
                <a:latin typeface="Times New Roman" panose="02020603050405020304"/>
                <a:ea typeface="Times New Roman" panose="02020603050405020304"/>
                <a:cs typeface="Times New Roman" panose="02020603050405020304"/>
              </a:rPr>
              <a:t>Xu | Doctoral Project Intro | July 2026</a:t>
            </a:r>
          </a:p>
        </p:txBody>
      </p:sp>
      <p:sp>
        <p:nvSpPr>
          <p:cNvPr id="11" name="矩形 10"/>
          <p:cNvSpPr>
            <a:spLocks noGrp="1"/>
          </p:cNvSpPr>
          <p:nvPr/>
        </p:nvSpPr>
        <p:spPr>
          <a:xfrm>
            <a:off x="7620000" y="1123950"/>
            <a:ext cx="3048000" cy="1047750"/>
          </a:xfrm>
          <a:prstGeom prst="rect">
            <a:avLst/>
          </a:prstGeom>
          <a:solidFill>
            <a:srgbClr val="273654"/>
          </a:solidFill>
          <a:ln w="9525">
            <a:solidFill>
              <a:srgbClr val="435071"/>
            </a:solidFill>
            <a:prstDash val="solid"/>
          </a:ln>
        </p:spPr>
        <p:txBody>
          <a:bodyPr/>
          <a:lstStyle/>
          <a:p>
            <a:endParaRPr/>
          </a:p>
        </p:txBody>
      </p:sp>
      <p:sp>
        <p:nvSpPr>
          <p:cNvPr id="12" name="矩形 11"/>
          <p:cNvSpPr>
            <a:spLocks noGrp="1"/>
          </p:cNvSpPr>
          <p:nvPr/>
        </p:nvSpPr>
        <p:spPr>
          <a:xfrm>
            <a:off x="7620000" y="1123950"/>
            <a:ext cx="57150" cy="1047750"/>
          </a:xfrm>
          <a:prstGeom prst="rect">
            <a:avLst/>
          </a:prstGeom>
          <a:solidFill>
            <a:srgbClr val="C89B4A"/>
          </a:solidFill>
          <a:ln w="0">
            <a:solidFill>
              <a:srgbClr val="C89B4A"/>
            </a:solidFill>
            <a:prstDash val="solid"/>
          </a:ln>
        </p:spPr>
        <p:txBody>
          <a:bodyPr/>
          <a:lstStyle/>
          <a:p>
            <a:endParaRPr/>
          </a:p>
        </p:txBody>
      </p:sp>
      <p:sp>
        <p:nvSpPr>
          <p:cNvPr id="13" name="矩形 12"/>
          <p:cNvSpPr>
            <a:spLocks noGrp="1"/>
          </p:cNvSpPr>
          <p:nvPr/>
        </p:nvSpPr>
        <p:spPr>
          <a:xfrm>
            <a:off x="7829550" y="12763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REAL SETTINGS</a:t>
            </a:r>
          </a:p>
        </p:txBody>
      </p:sp>
      <p:sp>
        <p:nvSpPr>
          <p:cNvPr id="14" name="矩形 13"/>
          <p:cNvSpPr>
            <a:spLocks noGrp="1"/>
          </p:cNvSpPr>
          <p:nvPr/>
        </p:nvSpPr>
        <p:spPr>
          <a:xfrm>
            <a:off x="7829550" y="144780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Where AI is entering</a:t>
            </a:r>
          </a:p>
        </p:txBody>
      </p:sp>
      <p:sp>
        <p:nvSpPr>
          <p:cNvPr id="15" name="矩形 14"/>
          <p:cNvSpPr>
            <a:spLocks noGrp="1"/>
          </p:cNvSpPr>
          <p:nvPr/>
        </p:nvSpPr>
        <p:spPr>
          <a:xfrm>
            <a:off x="7829550" y="18859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Crisis judgment, organizational governance, public administration, healthcare, and other high-risk settings.</a:t>
            </a:r>
          </a:p>
        </p:txBody>
      </p:sp>
      <p:sp>
        <p:nvSpPr>
          <p:cNvPr id="16" name="矩形 15"/>
          <p:cNvSpPr>
            <a:spLocks noGrp="1"/>
          </p:cNvSpPr>
          <p:nvPr/>
        </p:nvSpPr>
        <p:spPr>
          <a:xfrm>
            <a:off x="8191500" y="2552700"/>
            <a:ext cx="3048000" cy="1047750"/>
          </a:xfrm>
          <a:prstGeom prst="rect">
            <a:avLst/>
          </a:prstGeom>
          <a:solidFill>
            <a:srgbClr val="273654"/>
          </a:solidFill>
          <a:ln w="9525">
            <a:solidFill>
              <a:srgbClr val="435071"/>
            </a:solidFill>
            <a:prstDash val="solid"/>
          </a:ln>
        </p:spPr>
        <p:txBody>
          <a:bodyPr/>
          <a:lstStyle/>
          <a:p>
            <a:endParaRPr/>
          </a:p>
        </p:txBody>
      </p:sp>
      <p:sp>
        <p:nvSpPr>
          <p:cNvPr id="17" name="矩形 16"/>
          <p:cNvSpPr>
            <a:spLocks noGrp="1"/>
          </p:cNvSpPr>
          <p:nvPr/>
        </p:nvSpPr>
        <p:spPr>
          <a:xfrm>
            <a:off x="8191500" y="2552700"/>
            <a:ext cx="57150" cy="1047750"/>
          </a:xfrm>
          <a:prstGeom prst="rect">
            <a:avLst/>
          </a:prstGeom>
          <a:solidFill>
            <a:srgbClr val="C89B4A"/>
          </a:solidFill>
          <a:ln w="0">
            <a:solidFill>
              <a:srgbClr val="C89B4A"/>
            </a:solidFill>
            <a:prstDash val="solid"/>
          </a:ln>
        </p:spPr>
        <p:txBody>
          <a:bodyPr/>
          <a:lstStyle/>
          <a:p>
            <a:endParaRPr/>
          </a:p>
        </p:txBody>
      </p:sp>
      <p:sp>
        <p:nvSpPr>
          <p:cNvPr id="18" name="矩形 17"/>
          <p:cNvSpPr>
            <a:spLocks noGrp="1"/>
          </p:cNvSpPr>
          <p:nvPr/>
        </p:nvSpPr>
        <p:spPr>
          <a:xfrm>
            <a:off x="8401050" y="270510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WHAT CHANGES</a:t>
            </a:r>
          </a:p>
        </p:txBody>
      </p:sp>
      <p:sp>
        <p:nvSpPr>
          <p:cNvPr id="19" name="矩形 18"/>
          <p:cNvSpPr>
            <a:spLocks noGrp="1"/>
          </p:cNvSpPr>
          <p:nvPr/>
        </p:nvSpPr>
        <p:spPr>
          <a:xfrm>
            <a:off x="8401050" y="28765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Embedded decision chains</a:t>
            </a:r>
          </a:p>
        </p:txBody>
      </p:sp>
      <p:sp>
        <p:nvSpPr>
          <p:cNvPr id="20" name="矩形 19"/>
          <p:cNvSpPr>
            <a:spLocks noGrp="1"/>
          </p:cNvSpPr>
          <p:nvPr/>
        </p:nvSpPr>
        <p:spPr>
          <a:xfrm>
            <a:off x="8401050" y="331470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AI is no longer only a lab system or a stand-alone tool. It is becoming part of real organizational and institutional processes.</a:t>
            </a:r>
          </a:p>
        </p:txBody>
      </p:sp>
      <p:sp>
        <p:nvSpPr>
          <p:cNvPr id="21" name="矩形 20"/>
          <p:cNvSpPr>
            <a:spLocks noGrp="1"/>
          </p:cNvSpPr>
          <p:nvPr/>
        </p:nvSpPr>
        <p:spPr>
          <a:xfrm>
            <a:off x="7620000" y="3981450"/>
            <a:ext cx="3048000" cy="1047750"/>
          </a:xfrm>
          <a:prstGeom prst="rect">
            <a:avLst/>
          </a:prstGeom>
          <a:solidFill>
            <a:srgbClr val="273654"/>
          </a:solidFill>
          <a:ln w="9525">
            <a:solidFill>
              <a:srgbClr val="435071"/>
            </a:solidFill>
            <a:prstDash val="solid"/>
          </a:ln>
        </p:spPr>
        <p:txBody>
          <a:bodyPr/>
          <a:lstStyle/>
          <a:p>
            <a:endParaRPr/>
          </a:p>
        </p:txBody>
      </p:sp>
      <p:sp>
        <p:nvSpPr>
          <p:cNvPr id="22" name="矩形 21"/>
          <p:cNvSpPr>
            <a:spLocks noGrp="1"/>
          </p:cNvSpPr>
          <p:nvPr/>
        </p:nvSpPr>
        <p:spPr>
          <a:xfrm>
            <a:off x="7620000" y="3981450"/>
            <a:ext cx="57150" cy="1047750"/>
          </a:xfrm>
          <a:prstGeom prst="rect">
            <a:avLst/>
          </a:prstGeom>
          <a:solidFill>
            <a:srgbClr val="C89B4A"/>
          </a:solidFill>
          <a:ln w="0">
            <a:solidFill>
              <a:srgbClr val="C89B4A"/>
            </a:solidFill>
            <a:prstDash val="solid"/>
          </a:ln>
        </p:spPr>
        <p:txBody>
          <a:bodyPr/>
          <a:lstStyle/>
          <a:p>
            <a:endParaRPr/>
          </a:p>
        </p:txBody>
      </p:sp>
      <p:sp>
        <p:nvSpPr>
          <p:cNvPr id="23" name="矩形 22"/>
          <p:cNvSpPr>
            <a:spLocks noGrp="1"/>
          </p:cNvSpPr>
          <p:nvPr/>
        </p:nvSpPr>
        <p:spPr>
          <a:xfrm>
            <a:off x="7829550" y="41338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WHY THIS MATTERS</a:t>
            </a:r>
          </a:p>
        </p:txBody>
      </p:sp>
      <p:sp>
        <p:nvSpPr>
          <p:cNvPr id="24" name="矩形 23"/>
          <p:cNvSpPr>
            <a:spLocks noGrp="1"/>
          </p:cNvSpPr>
          <p:nvPr/>
        </p:nvSpPr>
        <p:spPr>
          <a:xfrm>
            <a:off x="7829550" y="430530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Why study the human side</a:t>
            </a:r>
          </a:p>
        </p:txBody>
      </p:sp>
      <p:sp>
        <p:nvSpPr>
          <p:cNvPr id="25" name="矩形 24"/>
          <p:cNvSpPr>
            <a:spLocks noGrp="1"/>
          </p:cNvSpPr>
          <p:nvPr/>
        </p:nvSpPr>
        <p:spPr>
          <a:xfrm>
            <a:off x="7829550" y="47434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Once AI enters consequential decision chains, we need to understand what happens to people as they interpret, rely on, and act with AI.</a:t>
            </a:r>
          </a:p>
        </p:txBody>
      </p:sp>
      <p:cxnSp>
        <p:nvCxnSpPr>
          <p:cNvPr id="79" name="肘形连接符 78"/>
          <p:cNvCxnSpPr>
            <a:stCxn id="10" idx="2"/>
            <a:endCxn id="15" idx="0"/>
          </p:cNvCxnSpPr>
          <p:nvPr/>
        </p:nvCxnSpPr>
        <p:spPr>
          <a:xfrm>
            <a:off x="9144000" y="2171700"/>
            <a:ext cx="571500" cy="381000"/>
          </a:xfrm>
          <a:prstGeom prst="bentConnector4">
            <a:avLst>
              <a:gd name="adj1" fmla="val 0"/>
              <a:gd name="adj2" fmla="val 50000"/>
            </a:avLst>
          </a:prstGeom>
          <a:ln w="19050">
            <a:solidFill>
              <a:srgbClr val="C89B4A"/>
            </a:solidFill>
            <a:prstDash val="solid"/>
            <a:headEnd type="arrow" w="med" len="med"/>
          </a:ln>
        </p:spPr>
      </p:cxnSp>
      <p:cxnSp>
        <p:nvCxnSpPr>
          <p:cNvPr id="80" name="肘形连接符 79"/>
          <p:cNvCxnSpPr>
            <a:stCxn id="15" idx="2"/>
            <a:endCxn id="20" idx="0"/>
          </p:cNvCxnSpPr>
          <p:nvPr/>
        </p:nvCxnSpPr>
        <p:spPr>
          <a:xfrm flipH="1">
            <a:off x="9144000" y="3600450"/>
            <a:ext cx="571500" cy="381000"/>
          </a:xfrm>
          <a:prstGeom prst="bentConnector4">
            <a:avLst>
              <a:gd name="adj1" fmla="val 0"/>
              <a:gd name="adj2" fmla="val 50000"/>
            </a:avLst>
          </a:prstGeom>
          <a:ln w="19050">
            <a:solidFill>
              <a:srgbClr val="C89B4A"/>
            </a:solidFill>
            <a:prstDash val="solid"/>
            <a:headEnd type="arrow" w="med" len="med"/>
          </a:ln>
        </p:spPr>
      </p:cxnSp>
      <p:sp>
        <p:nvSpPr>
          <p:cNvPr id="27" name="矩形 26"/>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D7DCE7"/>
                </a:solidFill>
                <a:latin typeface="Times New Roman" panose="02020603050405020304"/>
                <a:ea typeface="Times New Roman" panose="02020603050405020304"/>
                <a:cs typeface="Times New Roman" panose="02020603050405020304"/>
              </a:defRPr>
            </a:pPr>
            <a:r>
              <a:rPr sz="750" b="0">
                <a:solidFill>
                  <a:srgbClr val="D7DCE7"/>
                </a:solidFill>
                <a:latin typeface="Times New Roman" panose="02020603050405020304"/>
                <a:ea typeface="Times New Roman" panose="02020603050405020304"/>
                <a:cs typeface="Times New Roman" panose="02020603050405020304"/>
              </a:rPr>
              <a:t>The dissertation starts from that broader shift.</a:t>
            </a:r>
          </a:p>
        </p:txBody>
      </p:sp>
      <p:sp>
        <p:nvSpPr>
          <p:cNvPr id="28" name="矩形 27"/>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Aptos Mono"/>
                <a:ea typeface="Aptos Mono"/>
                <a:cs typeface="Aptos Mono"/>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CURRENT RESEARCH</a:t>
            </a:r>
          </a:p>
        </p:txBody>
      </p:sp>
      <p:sp>
        <p:nvSpPr>
          <p:cNvPr id="8" name="矩形 7"/>
          <p:cNvSpPr>
            <a:spLocks noGrp="1"/>
          </p:cNvSpPr>
          <p:nvPr/>
        </p:nvSpPr>
        <p:spPr>
          <a:xfrm>
            <a:off x="914400" y="914400"/>
            <a:ext cx="6667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Existing research usually asks three separate questions</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Does AI improve judgment quality? Do people trust and rely on AI? How is responsibility assigned after AI-assisted decisions?</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02</a:t>
            </a:r>
          </a:p>
        </p:txBody>
      </p:sp>
      <p:sp>
        <p:nvSpPr>
          <p:cNvPr id="11" name="矩形 10"/>
          <p:cNvSpPr>
            <a:spLocks noGrp="1"/>
          </p:cNvSpPr>
          <p:nvPr/>
        </p:nvSpPr>
        <p:spPr>
          <a:xfrm>
            <a:off x="914400" y="24574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2" name="矩形 11"/>
          <p:cNvSpPr>
            <a:spLocks noGrp="1"/>
          </p:cNvSpPr>
          <p:nvPr/>
        </p:nvSpPr>
        <p:spPr>
          <a:xfrm>
            <a:off x="1181100" y="24384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first question is whether AI improves human judgment quality or performance.</a:t>
            </a:r>
          </a:p>
        </p:txBody>
      </p:sp>
      <p:sp>
        <p:nvSpPr>
          <p:cNvPr id="13" name="矩形 12"/>
          <p:cNvSpPr>
            <a:spLocks noGrp="1"/>
          </p:cNvSpPr>
          <p:nvPr/>
        </p:nvSpPr>
        <p:spPr>
          <a:xfrm>
            <a:off x="914400" y="323850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4" name="矩形 13"/>
          <p:cNvSpPr>
            <a:spLocks noGrp="1"/>
          </p:cNvSpPr>
          <p:nvPr/>
        </p:nvSpPr>
        <p:spPr>
          <a:xfrm>
            <a:off x="1181100" y="321945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second is whether people trust, adopt, or rely on AI advice.</a:t>
            </a:r>
          </a:p>
        </p:txBody>
      </p:sp>
      <p:sp>
        <p:nvSpPr>
          <p:cNvPr id="15" name="矩形 14"/>
          <p:cNvSpPr>
            <a:spLocks noGrp="1"/>
          </p:cNvSpPr>
          <p:nvPr/>
        </p:nvSpPr>
        <p:spPr>
          <a:xfrm>
            <a:off x="914400" y="40195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6" name="矩形 15"/>
          <p:cNvSpPr>
            <a:spLocks noGrp="1"/>
          </p:cNvSpPr>
          <p:nvPr/>
        </p:nvSpPr>
        <p:spPr>
          <a:xfrm>
            <a:off x="1181100" y="40005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third is how responsibility should be allocated once AI is involved in decision-making.</a:t>
            </a:r>
          </a:p>
        </p:txBody>
      </p:sp>
      <p:sp>
        <p:nvSpPr>
          <p:cNvPr id="17" name="矩形 16"/>
          <p:cNvSpPr>
            <a:spLocks noGrp="1"/>
          </p:cNvSpPr>
          <p:nvPr/>
        </p:nvSpPr>
        <p:spPr>
          <a:xfrm>
            <a:off x="7239000" y="2171700"/>
            <a:ext cx="3429000" cy="2628900"/>
          </a:xfrm>
          <a:prstGeom prst="rect">
            <a:avLst/>
          </a:prstGeom>
          <a:solidFill>
            <a:srgbClr val="FFF9F0"/>
          </a:solidFill>
          <a:ln w="9525">
            <a:solidFill>
              <a:srgbClr val="E9DDCB"/>
            </a:solidFill>
            <a:prstDash val="solid"/>
          </a:ln>
        </p:spPr>
        <p:txBody>
          <a:bodyPr/>
          <a:lstStyle/>
          <a:p>
            <a:endParaRPr/>
          </a:p>
        </p:txBody>
      </p:sp>
      <p:sp>
        <p:nvSpPr>
          <p:cNvPr id="18" name="矩形 17"/>
          <p:cNvSpPr>
            <a:spLocks noGrp="1"/>
          </p:cNvSpPr>
          <p:nvPr/>
        </p:nvSpPr>
        <p:spPr>
          <a:xfrm>
            <a:off x="7239000" y="2171700"/>
            <a:ext cx="57150" cy="2628900"/>
          </a:xfrm>
          <a:prstGeom prst="rect">
            <a:avLst/>
          </a:prstGeom>
          <a:solidFill>
            <a:srgbClr val="B45A3C"/>
          </a:solidFill>
          <a:ln w="0">
            <a:solidFill>
              <a:srgbClr val="B45A3C"/>
            </a:solidFill>
            <a:prstDash val="solid"/>
          </a:ln>
        </p:spPr>
        <p:txBody>
          <a:bodyPr/>
          <a:lstStyle/>
          <a:p>
            <a:endParaRPr/>
          </a:p>
        </p:txBody>
      </p:sp>
      <p:sp>
        <p:nvSpPr>
          <p:cNvPr id="19" name="矩形 18"/>
          <p:cNvSpPr>
            <a:spLocks noGrp="1"/>
          </p:cNvSpPr>
          <p:nvPr/>
        </p:nvSpPr>
        <p:spPr>
          <a:xfrm>
            <a:off x="7448550" y="2324100"/>
            <a:ext cx="3009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THREE STREAMS</a:t>
            </a:r>
          </a:p>
        </p:txBody>
      </p:sp>
      <p:sp>
        <p:nvSpPr>
          <p:cNvPr id="20" name="矩形 19"/>
          <p:cNvSpPr>
            <a:spLocks noGrp="1"/>
          </p:cNvSpPr>
          <p:nvPr/>
        </p:nvSpPr>
        <p:spPr>
          <a:xfrm>
            <a:off x="7448550" y="24955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What they ask</a:t>
            </a:r>
          </a:p>
        </p:txBody>
      </p:sp>
      <p:sp>
        <p:nvSpPr>
          <p:cNvPr id="21" name="圆角矩形 20"/>
          <p:cNvSpPr>
            <a:spLocks noGrp="1"/>
          </p:cNvSpPr>
          <p:nvPr/>
        </p:nvSpPr>
        <p:spPr>
          <a:xfrm>
            <a:off x="7715250" y="2762250"/>
            <a:ext cx="2476500" cy="400050"/>
          </a:xfrm>
          <a:prstGeom prst="roundRect">
            <a:avLst>
              <a:gd name="adj" fmla="val 19048"/>
            </a:avLst>
          </a:prstGeom>
          <a:solidFill>
            <a:srgbClr val="E8C6B8"/>
          </a:solidFill>
          <a:ln w="0">
            <a:solidFill>
              <a:srgbClr val="E8C6B8"/>
            </a:solidFill>
            <a:prstDash val="solid"/>
          </a:ln>
        </p:spPr>
        <p:txBody>
          <a:bodyPr/>
          <a:lstStyle/>
          <a:p>
            <a:endParaRPr/>
          </a:p>
        </p:txBody>
      </p:sp>
      <p:sp>
        <p:nvSpPr>
          <p:cNvPr id="22" name="矩形 21"/>
          <p:cNvSpPr>
            <a:spLocks noGrp="1"/>
          </p:cNvSpPr>
          <p:nvPr/>
        </p:nvSpPr>
        <p:spPr>
          <a:xfrm>
            <a:off x="7829550" y="27908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Judgment quality</a:t>
            </a:r>
          </a:p>
        </p:txBody>
      </p:sp>
      <p:sp>
        <p:nvSpPr>
          <p:cNvPr id="23" name="圆角矩形 22"/>
          <p:cNvSpPr>
            <a:spLocks noGrp="1"/>
          </p:cNvSpPr>
          <p:nvPr/>
        </p:nvSpPr>
        <p:spPr>
          <a:xfrm>
            <a:off x="7715250" y="3352800"/>
            <a:ext cx="2476500" cy="400050"/>
          </a:xfrm>
          <a:prstGeom prst="roundRect">
            <a:avLst>
              <a:gd name="adj" fmla="val 19048"/>
            </a:avLst>
          </a:prstGeom>
          <a:solidFill>
            <a:srgbClr val="E9DDCB"/>
          </a:solidFill>
          <a:ln w="0">
            <a:solidFill>
              <a:srgbClr val="E9DDCB"/>
            </a:solidFill>
            <a:prstDash val="solid"/>
          </a:ln>
        </p:spPr>
        <p:txBody>
          <a:bodyPr/>
          <a:lstStyle/>
          <a:p>
            <a:endParaRPr/>
          </a:p>
        </p:txBody>
      </p:sp>
      <p:sp>
        <p:nvSpPr>
          <p:cNvPr id="24" name="矩形 23"/>
          <p:cNvSpPr>
            <a:spLocks noGrp="1"/>
          </p:cNvSpPr>
          <p:nvPr/>
        </p:nvSpPr>
        <p:spPr>
          <a:xfrm>
            <a:off x="7829550" y="338137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Trust / reliance</a:t>
            </a:r>
          </a:p>
        </p:txBody>
      </p:sp>
      <p:sp>
        <p:nvSpPr>
          <p:cNvPr id="25" name="圆角矩形 24"/>
          <p:cNvSpPr>
            <a:spLocks noGrp="1"/>
          </p:cNvSpPr>
          <p:nvPr/>
        </p:nvSpPr>
        <p:spPr>
          <a:xfrm>
            <a:off x="7715250" y="3943350"/>
            <a:ext cx="2476500" cy="400050"/>
          </a:xfrm>
          <a:prstGeom prst="roundRect">
            <a:avLst>
              <a:gd name="adj" fmla="val 19048"/>
            </a:avLst>
          </a:prstGeom>
          <a:solidFill>
            <a:srgbClr val="E6E0D4"/>
          </a:solidFill>
          <a:ln w="0">
            <a:solidFill>
              <a:srgbClr val="E6E0D4"/>
            </a:solidFill>
            <a:prstDash val="solid"/>
          </a:ln>
        </p:spPr>
        <p:txBody>
          <a:bodyPr/>
          <a:lstStyle/>
          <a:p>
            <a:endParaRPr/>
          </a:p>
        </p:txBody>
      </p:sp>
      <p:sp>
        <p:nvSpPr>
          <p:cNvPr id="26" name="矩形 25"/>
          <p:cNvSpPr>
            <a:spLocks noGrp="1"/>
          </p:cNvSpPr>
          <p:nvPr/>
        </p:nvSpPr>
        <p:spPr>
          <a:xfrm>
            <a:off x="7829550" y="39719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Responsibility</a:t>
            </a:r>
          </a:p>
        </p:txBody>
      </p:sp>
      <p:sp>
        <p:nvSpPr>
          <p:cNvPr id="27" name="矩形 26"/>
          <p:cNvSpPr>
            <a:spLocks noGrp="1"/>
          </p:cNvSpPr>
          <p:nvPr/>
        </p:nvSpPr>
        <p:spPr>
          <a:xfrm>
            <a:off x="914400" y="5486400"/>
            <a:ext cx="9715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These questions are important, but they still tend to treat AI as an external tool.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RESEARCH GAP</a:t>
            </a: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These literatures are important, but they still leave the process itself underexplained</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They are analytically useful, but they rarely show how belief formation, reliance calibration, and responsibility unfold inside one connected decision process.</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03</a:t>
            </a:r>
          </a:p>
        </p:txBody>
      </p:sp>
      <p:sp>
        <p:nvSpPr>
          <p:cNvPr id="11" name="矩形 10"/>
          <p:cNvSpPr>
            <a:spLocks noGrp="1"/>
          </p:cNvSpPr>
          <p:nvPr/>
        </p:nvSpPr>
        <p:spPr>
          <a:xfrm>
            <a:off x="914400" y="2343150"/>
            <a:ext cx="4076700" cy="1314450"/>
          </a:xfrm>
          <a:prstGeom prst="rect">
            <a:avLst/>
          </a:prstGeom>
          <a:solidFill>
            <a:srgbClr val="FFF9F0"/>
          </a:solidFill>
          <a:ln w="9525">
            <a:solidFill>
              <a:srgbClr val="E9DDCB"/>
            </a:solidFill>
            <a:prstDash val="solid"/>
          </a:ln>
        </p:spPr>
        <p:txBody>
          <a:bodyPr/>
          <a:lstStyle/>
          <a:p>
            <a:endParaRPr/>
          </a:p>
        </p:txBody>
      </p:sp>
      <p:sp>
        <p:nvSpPr>
          <p:cNvPr id="12" name="矩形 11"/>
          <p:cNvSpPr>
            <a:spLocks noGrp="1"/>
          </p:cNvSpPr>
          <p:nvPr/>
        </p:nvSpPr>
        <p:spPr>
          <a:xfrm>
            <a:off x="914400" y="2343150"/>
            <a:ext cx="57150" cy="1314450"/>
          </a:xfrm>
          <a:prstGeom prst="rect">
            <a:avLst/>
          </a:prstGeom>
          <a:solidFill>
            <a:srgbClr val="B45A3C"/>
          </a:solidFill>
          <a:ln w="0">
            <a:solidFill>
              <a:srgbClr val="B45A3C"/>
            </a:solidFill>
            <a:prstDash val="solid"/>
          </a:ln>
        </p:spPr>
        <p:txBody>
          <a:bodyPr/>
          <a:lstStyle/>
          <a:p>
            <a:endParaRPr/>
          </a:p>
        </p:txBody>
      </p:sp>
      <p:sp>
        <p:nvSpPr>
          <p:cNvPr id="13" name="矩形 12"/>
          <p:cNvSpPr>
            <a:spLocks noGrp="1"/>
          </p:cNvSpPr>
          <p:nvPr/>
        </p:nvSpPr>
        <p:spPr>
          <a:xfrm>
            <a:off x="11239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Decision quality / calibration</a:t>
            </a:r>
          </a:p>
        </p:txBody>
      </p:sp>
      <p:sp>
        <p:nvSpPr>
          <p:cNvPr id="14" name="矩形 13"/>
          <p:cNvSpPr>
            <a:spLocks noGrp="1"/>
          </p:cNvSpPr>
          <p:nvPr/>
        </p:nvSpPr>
        <p:spPr>
          <a:xfrm>
            <a:off x="11239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Zhang et al., 2020; Ma et al., 2023; Vaccaro et al., 2024</a:t>
            </a:r>
          </a:p>
        </p:txBody>
      </p:sp>
      <p:sp>
        <p:nvSpPr>
          <p:cNvPr id="15" name="矩形 14"/>
          <p:cNvSpPr>
            <a:spLocks noGrp="1"/>
          </p:cNvSpPr>
          <p:nvPr/>
        </p:nvSpPr>
        <p:spPr>
          <a:xfrm>
            <a:off x="11239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Research here asks whether AI improves joint judgment quality and calibration.</a:t>
            </a:r>
          </a:p>
        </p:txBody>
      </p:sp>
      <p:sp>
        <p:nvSpPr>
          <p:cNvPr id="16" name="矩形 15"/>
          <p:cNvSpPr>
            <a:spLocks noGrp="1"/>
          </p:cNvSpPr>
          <p:nvPr/>
        </p:nvSpPr>
        <p:spPr>
          <a:xfrm>
            <a:off x="5638800" y="2343150"/>
            <a:ext cx="4076700" cy="1314450"/>
          </a:xfrm>
          <a:prstGeom prst="rect">
            <a:avLst/>
          </a:prstGeom>
          <a:solidFill>
            <a:srgbClr val="FFF9F0"/>
          </a:solidFill>
          <a:ln w="9525">
            <a:solidFill>
              <a:srgbClr val="E9DDCB"/>
            </a:solidFill>
            <a:prstDash val="solid"/>
          </a:ln>
        </p:spPr>
        <p:txBody>
          <a:bodyPr/>
          <a:lstStyle/>
          <a:p>
            <a:endParaRPr/>
          </a:p>
        </p:txBody>
      </p:sp>
      <p:sp>
        <p:nvSpPr>
          <p:cNvPr id="17" name="矩形 16"/>
          <p:cNvSpPr>
            <a:spLocks noGrp="1"/>
          </p:cNvSpPr>
          <p:nvPr/>
        </p:nvSpPr>
        <p:spPr>
          <a:xfrm>
            <a:off x="5638800" y="2343150"/>
            <a:ext cx="57150" cy="1314450"/>
          </a:xfrm>
          <a:prstGeom prst="rect">
            <a:avLst/>
          </a:prstGeom>
          <a:solidFill>
            <a:srgbClr val="B45A3C"/>
          </a:solidFill>
          <a:ln w="0">
            <a:solidFill>
              <a:srgbClr val="B45A3C"/>
            </a:solidFill>
            <a:prstDash val="solid"/>
          </a:ln>
        </p:spPr>
        <p:txBody>
          <a:bodyPr/>
          <a:lstStyle/>
          <a:p>
            <a:endParaRPr/>
          </a:p>
        </p:txBody>
      </p:sp>
      <p:sp>
        <p:nvSpPr>
          <p:cNvPr id="18" name="矩形 17"/>
          <p:cNvSpPr>
            <a:spLocks noGrp="1"/>
          </p:cNvSpPr>
          <p:nvPr/>
        </p:nvSpPr>
        <p:spPr>
          <a:xfrm>
            <a:off x="58483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Trust / reliance</a:t>
            </a:r>
          </a:p>
        </p:txBody>
      </p:sp>
      <p:sp>
        <p:nvSpPr>
          <p:cNvPr id="19" name="矩形 18"/>
          <p:cNvSpPr>
            <a:spLocks noGrp="1"/>
          </p:cNvSpPr>
          <p:nvPr/>
        </p:nvSpPr>
        <p:spPr>
          <a:xfrm>
            <a:off x="58483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Lee &amp; See, 2004; Dietvorst et al., 2015; Logg et al., 2019</a:t>
            </a:r>
          </a:p>
        </p:txBody>
      </p:sp>
      <p:sp>
        <p:nvSpPr>
          <p:cNvPr id="20" name="矩形 19"/>
          <p:cNvSpPr>
            <a:spLocks noGrp="1"/>
          </p:cNvSpPr>
          <p:nvPr/>
        </p:nvSpPr>
        <p:spPr>
          <a:xfrm>
            <a:off x="58483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This stream studies appropriate reliance, algorithm aversion, and algorithm appreciation.</a:t>
            </a:r>
          </a:p>
        </p:txBody>
      </p:sp>
      <p:sp>
        <p:nvSpPr>
          <p:cNvPr id="21" name="矩形 20"/>
          <p:cNvSpPr>
            <a:spLocks noGrp="1"/>
          </p:cNvSpPr>
          <p:nvPr/>
        </p:nvSpPr>
        <p:spPr>
          <a:xfrm>
            <a:off x="914400" y="4000500"/>
            <a:ext cx="4076700" cy="1314450"/>
          </a:xfrm>
          <a:prstGeom prst="rect">
            <a:avLst/>
          </a:prstGeom>
          <a:solidFill>
            <a:srgbClr val="FFF9F0"/>
          </a:solidFill>
          <a:ln w="9525">
            <a:solidFill>
              <a:srgbClr val="E9DDCB"/>
            </a:solidFill>
            <a:prstDash val="solid"/>
          </a:ln>
        </p:spPr>
        <p:txBody>
          <a:bodyPr/>
          <a:lstStyle/>
          <a:p>
            <a:endParaRPr/>
          </a:p>
        </p:txBody>
      </p:sp>
      <p:sp>
        <p:nvSpPr>
          <p:cNvPr id="22" name="矩形 21"/>
          <p:cNvSpPr>
            <a:spLocks noGrp="1"/>
          </p:cNvSpPr>
          <p:nvPr/>
        </p:nvSpPr>
        <p:spPr>
          <a:xfrm>
            <a:off x="914400" y="4000500"/>
            <a:ext cx="57150" cy="1314450"/>
          </a:xfrm>
          <a:prstGeom prst="rect">
            <a:avLst/>
          </a:prstGeom>
          <a:solidFill>
            <a:srgbClr val="B45A3C"/>
          </a:solidFill>
          <a:ln w="0">
            <a:solidFill>
              <a:srgbClr val="B45A3C"/>
            </a:solidFill>
            <a:prstDash val="solid"/>
          </a:ln>
        </p:spPr>
        <p:txBody>
          <a:bodyPr/>
          <a:lstStyle/>
          <a:p>
            <a:endParaRPr/>
          </a:p>
        </p:txBody>
      </p:sp>
      <p:sp>
        <p:nvSpPr>
          <p:cNvPr id="23" name="矩形 22"/>
          <p:cNvSpPr>
            <a:spLocks noGrp="1"/>
          </p:cNvSpPr>
          <p:nvPr/>
        </p:nvSpPr>
        <p:spPr>
          <a:xfrm>
            <a:off x="11239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Responsibility / ownership</a:t>
            </a:r>
          </a:p>
        </p:txBody>
      </p:sp>
      <p:sp>
        <p:nvSpPr>
          <p:cNvPr id="24" name="矩形 23"/>
          <p:cNvSpPr>
            <a:spLocks noGrp="1"/>
          </p:cNvSpPr>
          <p:nvPr/>
        </p:nvSpPr>
        <p:spPr>
          <a:xfrm>
            <a:off x="11239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Kirchkamp &amp; Strobel, 2019; Kobis et al., 2025; Chevrier &amp; Teixeira, 2024</a:t>
            </a:r>
          </a:p>
        </p:txBody>
      </p:sp>
      <p:sp>
        <p:nvSpPr>
          <p:cNvPr id="25" name="矩形 24"/>
          <p:cNvSpPr>
            <a:spLocks noGrp="1"/>
          </p:cNvSpPr>
          <p:nvPr/>
        </p:nvSpPr>
        <p:spPr>
          <a:xfrm>
            <a:off x="11239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altLang="zh-CN" sz="1200" b="0">
                <a:solidFill>
                  <a:srgbClr val="5F6775"/>
                </a:solidFill>
                <a:latin typeface="Times New Roman" panose="02020603050405020304"/>
                <a:ea typeface="Times New Roman" panose="02020603050405020304"/>
                <a:cs typeface="Times New Roman" panose="02020603050405020304"/>
              </a:rPr>
              <a:t>This stream studies how AI participation redistributes ownership, moral cost, and blame, mostly in delegation or ex post attribution settings.</a:t>
            </a:r>
          </a:p>
        </p:txBody>
      </p:sp>
      <p:sp>
        <p:nvSpPr>
          <p:cNvPr id="26" name="矩形 25"/>
          <p:cNvSpPr>
            <a:spLocks noGrp="1"/>
          </p:cNvSpPr>
          <p:nvPr/>
        </p:nvSpPr>
        <p:spPr>
          <a:xfrm>
            <a:off x="5638800" y="4000500"/>
            <a:ext cx="4076700" cy="1314450"/>
          </a:xfrm>
          <a:prstGeom prst="rect">
            <a:avLst/>
          </a:prstGeom>
          <a:solidFill>
            <a:srgbClr val="FFF9F0"/>
          </a:solidFill>
          <a:ln w="9525">
            <a:solidFill>
              <a:srgbClr val="E9DDCB"/>
            </a:solidFill>
            <a:prstDash val="solid"/>
          </a:ln>
        </p:spPr>
        <p:txBody>
          <a:bodyPr/>
          <a:lstStyle/>
          <a:p>
            <a:endParaRPr/>
          </a:p>
        </p:txBody>
      </p:sp>
      <p:sp>
        <p:nvSpPr>
          <p:cNvPr id="27" name="矩形 26"/>
          <p:cNvSpPr>
            <a:spLocks noGrp="1"/>
          </p:cNvSpPr>
          <p:nvPr/>
        </p:nvSpPr>
        <p:spPr>
          <a:xfrm>
            <a:off x="5638800" y="4000500"/>
            <a:ext cx="57150" cy="1314450"/>
          </a:xfrm>
          <a:prstGeom prst="rect">
            <a:avLst/>
          </a:prstGeom>
          <a:solidFill>
            <a:srgbClr val="B45A3C"/>
          </a:solidFill>
          <a:ln w="0">
            <a:solidFill>
              <a:srgbClr val="B45A3C"/>
            </a:solidFill>
            <a:prstDash val="solid"/>
          </a:ln>
        </p:spPr>
        <p:txBody>
          <a:bodyPr/>
          <a:lstStyle/>
          <a:p>
            <a:endParaRPr/>
          </a:p>
        </p:txBody>
      </p:sp>
      <p:sp>
        <p:nvSpPr>
          <p:cNvPr id="28" name="矩形 27"/>
          <p:cNvSpPr>
            <a:spLocks noGrp="1"/>
          </p:cNvSpPr>
          <p:nvPr/>
        </p:nvSpPr>
        <p:spPr>
          <a:xfrm>
            <a:off x="58483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What is still missing</a:t>
            </a:r>
          </a:p>
        </p:txBody>
      </p:sp>
      <p:sp>
        <p:nvSpPr>
          <p:cNvPr id="29" name="矩形 28"/>
          <p:cNvSpPr>
            <a:spLocks noGrp="1"/>
          </p:cNvSpPr>
          <p:nvPr/>
        </p:nvSpPr>
        <p:spPr>
          <a:xfrm>
            <a:off x="58483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Kidd &amp; Birhane, 2023; Harvey &amp; Fischer, 1997; Lee &amp; See, 2004</a:t>
            </a:r>
          </a:p>
        </p:txBody>
      </p:sp>
      <p:sp>
        <p:nvSpPr>
          <p:cNvPr id="30" name="矩形 29"/>
          <p:cNvSpPr>
            <a:spLocks noGrp="1"/>
          </p:cNvSpPr>
          <p:nvPr/>
        </p:nvSpPr>
        <p:spPr>
          <a:xfrm>
            <a:off x="58483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What is still missing is a process-level account of how these stages connect.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WHY GENERATIVE AI</a:t>
            </a: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People increasingly treat AI as a source of judgment, not just a tool</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In these interactions, AI does not simply give an answer. It shapes how people understand the problem itself.</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04</a:t>
            </a:r>
          </a:p>
        </p:txBody>
      </p:sp>
      <p:sp>
        <p:nvSpPr>
          <p:cNvPr id="11" name="矩形 10"/>
          <p:cNvSpPr>
            <a:spLocks noGrp="1"/>
          </p:cNvSpPr>
          <p:nvPr/>
        </p:nvSpPr>
        <p:spPr>
          <a:xfrm>
            <a:off x="1143000" y="2095500"/>
            <a:ext cx="2667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B45A3C"/>
                </a:solidFill>
                <a:latin typeface="Times New Roman" panose="02020603050405020304"/>
                <a:ea typeface="Times New Roman" panose="02020603050405020304"/>
                <a:cs typeface="Times New Roman" panose="02020603050405020304"/>
              </a:defRPr>
            </a:pPr>
            <a:r>
              <a:rPr sz="1500" b="1">
                <a:solidFill>
                  <a:srgbClr val="B45A3C"/>
                </a:solidFill>
                <a:latin typeface="Times New Roman" panose="02020603050405020304"/>
                <a:ea typeface="Times New Roman" panose="02020603050405020304"/>
                <a:cs typeface="Times New Roman" panose="02020603050405020304"/>
              </a:rPr>
              <a:t>Using AI as a tool</a:t>
            </a:r>
          </a:p>
        </p:txBody>
      </p:sp>
      <p:sp>
        <p:nvSpPr>
          <p:cNvPr id="12" name="矩形 11"/>
          <p:cNvSpPr>
            <a:spLocks noGrp="1"/>
          </p:cNvSpPr>
          <p:nvPr/>
        </p:nvSpPr>
        <p:spPr>
          <a:xfrm>
            <a:off x="6572250" y="2095500"/>
            <a:ext cx="3048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B45A3C"/>
                </a:solidFill>
                <a:latin typeface="Times New Roman" panose="02020603050405020304"/>
                <a:ea typeface="Times New Roman" panose="02020603050405020304"/>
                <a:cs typeface="Times New Roman" panose="02020603050405020304"/>
              </a:defRPr>
            </a:pPr>
            <a:r>
              <a:rPr sz="1500" b="1">
                <a:solidFill>
                  <a:srgbClr val="B45A3C"/>
                </a:solidFill>
                <a:latin typeface="Times New Roman" panose="02020603050405020304"/>
                <a:ea typeface="Times New Roman" panose="02020603050405020304"/>
                <a:cs typeface="Times New Roman" panose="02020603050405020304"/>
              </a:rPr>
              <a:t>Using AI as a judgment source</a:t>
            </a:r>
          </a:p>
        </p:txBody>
      </p:sp>
      <p:sp>
        <p:nvSpPr>
          <p:cNvPr id="13" name="矩形 12"/>
          <p:cNvSpPr>
            <a:spLocks noGrp="1"/>
          </p:cNvSpPr>
          <p:nvPr/>
        </p:nvSpPr>
        <p:spPr>
          <a:xfrm>
            <a:off x="1143000" y="2552700"/>
            <a:ext cx="3048000" cy="628650"/>
          </a:xfrm>
          <a:prstGeom prst="rect">
            <a:avLst/>
          </a:prstGeom>
          <a:solidFill>
            <a:srgbClr val="FFF9F0"/>
          </a:solidFill>
          <a:ln w="9525">
            <a:solidFill>
              <a:srgbClr val="E9DDCB"/>
            </a:solidFill>
            <a:prstDash val="solid"/>
          </a:ln>
        </p:spPr>
        <p:txBody>
          <a:bodyPr/>
          <a:lstStyle/>
          <a:p>
            <a:endParaRPr/>
          </a:p>
        </p:txBody>
      </p:sp>
      <p:sp>
        <p:nvSpPr>
          <p:cNvPr id="14" name="矩形 13"/>
          <p:cNvSpPr>
            <a:spLocks noGrp="1"/>
          </p:cNvSpPr>
          <p:nvPr/>
        </p:nvSpPr>
        <p:spPr>
          <a:xfrm>
            <a:off x="1143000" y="2552700"/>
            <a:ext cx="57150" cy="628650"/>
          </a:xfrm>
          <a:prstGeom prst="rect">
            <a:avLst/>
          </a:prstGeom>
          <a:solidFill>
            <a:srgbClr val="B45A3C"/>
          </a:solidFill>
          <a:ln w="0">
            <a:solidFill>
              <a:srgbClr val="B45A3C"/>
            </a:solidFill>
            <a:prstDash val="solid"/>
          </a:ln>
        </p:spPr>
        <p:txBody>
          <a:bodyPr/>
          <a:lstStyle/>
          <a:p>
            <a:endParaRPr/>
          </a:p>
        </p:txBody>
      </p:sp>
      <p:sp>
        <p:nvSpPr>
          <p:cNvPr id="15" name="矩形 14"/>
          <p:cNvSpPr>
            <a:spLocks noGrp="1"/>
          </p:cNvSpPr>
          <p:nvPr/>
        </p:nvSpPr>
        <p:spPr>
          <a:xfrm>
            <a:off x="1352550" y="27241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Search, calculate,</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or automate</a:t>
            </a:r>
          </a:p>
        </p:txBody>
      </p:sp>
      <p:sp>
        <p:nvSpPr>
          <p:cNvPr id="16" name="矩形 15"/>
          <p:cNvSpPr>
            <a:spLocks noGrp="1"/>
          </p:cNvSpPr>
          <p:nvPr/>
        </p:nvSpPr>
        <p:spPr>
          <a:xfrm>
            <a:off x="1143000" y="3429000"/>
            <a:ext cx="3048000" cy="628650"/>
          </a:xfrm>
          <a:prstGeom prst="rect">
            <a:avLst/>
          </a:prstGeom>
          <a:solidFill>
            <a:srgbClr val="FFF9F0"/>
          </a:solidFill>
          <a:ln w="9525">
            <a:solidFill>
              <a:srgbClr val="E9DDCB"/>
            </a:solidFill>
            <a:prstDash val="solid"/>
          </a:ln>
        </p:spPr>
        <p:txBody>
          <a:bodyPr/>
          <a:lstStyle/>
          <a:p>
            <a:endParaRPr/>
          </a:p>
        </p:txBody>
      </p:sp>
      <p:sp>
        <p:nvSpPr>
          <p:cNvPr id="17" name="矩形 16"/>
          <p:cNvSpPr>
            <a:spLocks noGrp="1"/>
          </p:cNvSpPr>
          <p:nvPr/>
        </p:nvSpPr>
        <p:spPr>
          <a:xfrm>
            <a:off x="1143000" y="3429000"/>
            <a:ext cx="57150" cy="628650"/>
          </a:xfrm>
          <a:prstGeom prst="rect">
            <a:avLst/>
          </a:prstGeom>
          <a:solidFill>
            <a:srgbClr val="B45A3C"/>
          </a:solidFill>
          <a:ln w="0">
            <a:solidFill>
              <a:srgbClr val="B45A3C"/>
            </a:solidFill>
            <a:prstDash val="solid"/>
          </a:ln>
        </p:spPr>
        <p:txBody>
          <a:bodyPr/>
          <a:lstStyle/>
          <a:p>
            <a:endParaRPr/>
          </a:p>
        </p:txBody>
      </p:sp>
      <p:sp>
        <p:nvSpPr>
          <p:cNvPr id="18" name="矩形 17"/>
          <p:cNvSpPr>
            <a:spLocks noGrp="1"/>
          </p:cNvSpPr>
          <p:nvPr/>
        </p:nvSpPr>
        <p:spPr>
          <a:xfrm>
            <a:off x="1352550" y="36004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Interpret the</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result yourself</a:t>
            </a:r>
          </a:p>
        </p:txBody>
      </p:sp>
      <p:sp>
        <p:nvSpPr>
          <p:cNvPr id="19" name="矩形 18"/>
          <p:cNvSpPr>
            <a:spLocks noGrp="1"/>
          </p:cNvSpPr>
          <p:nvPr/>
        </p:nvSpPr>
        <p:spPr>
          <a:xfrm>
            <a:off x="1143000" y="4305300"/>
            <a:ext cx="3048000" cy="628650"/>
          </a:xfrm>
          <a:prstGeom prst="rect">
            <a:avLst/>
          </a:prstGeom>
          <a:solidFill>
            <a:srgbClr val="FFF9F0"/>
          </a:solidFill>
          <a:ln w="9525">
            <a:solidFill>
              <a:srgbClr val="E9DDCB"/>
            </a:solidFill>
            <a:prstDash val="solid"/>
          </a:ln>
        </p:spPr>
        <p:txBody>
          <a:bodyPr/>
          <a:lstStyle/>
          <a:p>
            <a:endParaRPr/>
          </a:p>
        </p:txBody>
      </p:sp>
      <p:sp>
        <p:nvSpPr>
          <p:cNvPr id="20" name="矩形 19"/>
          <p:cNvSpPr>
            <a:spLocks noGrp="1"/>
          </p:cNvSpPr>
          <p:nvPr/>
        </p:nvSpPr>
        <p:spPr>
          <a:xfrm>
            <a:off x="1143000" y="4305300"/>
            <a:ext cx="57150" cy="628650"/>
          </a:xfrm>
          <a:prstGeom prst="rect">
            <a:avLst/>
          </a:prstGeom>
          <a:solidFill>
            <a:srgbClr val="B45A3C"/>
          </a:solidFill>
          <a:ln w="0">
            <a:solidFill>
              <a:srgbClr val="B45A3C"/>
            </a:solidFill>
            <a:prstDash val="solid"/>
          </a:ln>
        </p:spPr>
        <p:txBody>
          <a:bodyPr/>
          <a:lstStyle/>
          <a:p>
            <a:endParaRPr/>
          </a:p>
        </p:txBody>
      </p:sp>
      <p:sp>
        <p:nvSpPr>
          <p:cNvPr id="21" name="矩形 20"/>
          <p:cNvSpPr>
            <a:spLocks noGrp="1"/>
          </p:cNvSpPr>
          <p:nvPr/>
        </p:nvSpPr>
        <p:spPr>
          <a:xfrm>
            <a:off x="1352550" y="44767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The tool stays</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outside the judgment</a:t>
            </a:r>
          </a:p>
        </p:txBody>
      </p:sp>
      <p:sp>
        <p:nvSpPr>
          <p:cNvPr id="22" name="矩形 21"/>
          <p:cNvSpPr>
            <a:spLocks noGrp="1"/>
          </p:cNvSpPr>
          <p:nvPr/>
        </p:nvSpPr>
        <p:spPr>
          <a:xfrm>
            <a:off x="6572250" y="2552700"/>
            <a:ext cx="3429000" cy="628650"/>
          </a:xfrm>
          <a:prstGeom prst="rect">
            <a:avLst/>
          </a:prstGeom>
          <a:solidFill>
            <a:srgbClr val="FFF9F0"/>
          </a:solidFill>
          <a:ln w="9525">
            <a:solidFill>
              <a:srgbClr val="E9DDCB"/>
            </a:solidFill>
            <a:prstDash val="solid"/>
          </a:ln>
        </p:spPr>
        <p:txBody>
          <a:bodyPr/>
          <a:lstStyle/>
          <a:p>
            <a:endParaRPr/>
          </a:p>
        </p:txBody>
      </p:sp>
      <p:sp>
        <p:nvSpPr>
          <p:cNvPr id="23" name="矩形 22"/>
          <p:cNvSpPr>
            <a:spLocks noGrp="1"/>
          </p:cNvSpPr>
          <p:nvPr/>
        </p:nvSpPr>
        <p:spPr>
          <a:xfrm>
            <a:off x="6572250" y="2552700"/>
            <a:ext cx="57150" cy="628650"/>
          </a:xfrm>
          <a:prstGeom prst="rect">
            <a:avLst/>
          </a:prstGeom>
          <a:solidFill>
            <a:srgbClr val="B45A3C"/>
          </a:solidFill>
          <a:ln w="0">
            <a:solidFill>
              <a:srgbClr val="B45A3C"/>
            </a:solidFill>
            <a:prstDash val="solid"/>
          </a:ln>
        </p:spPr>
        <p:txBody>
          <a:bodyPr/>
          <a:lstStyle/>
          <a:p>
            <a:endParaRPr/>
          </a:p>
        </p:txBody>
      </p:sp>
      <p:sp>
        <p:nvSpPr>
          <p:cNvPr id="24" name="矩形 23"/>
          <p:cNvSpPr>
            <a:spLocks noGrp="1"/>
          </p:cNvSpPr>
          <p:nvPr/>
        </p:nvSpPr>
        <p:spPr>
          <a:xfrm>
            <a:off x="6781800" y="27241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Consult, discuss,</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or confirm</a:t>
            </a:r>
          </a:p>
        </p:txBody>
      </p:sp>
      <p:sp>
        <p:nvSpPr>
          <p:cNvPr id="25" name="矩形 24"/>
          <p:cNvSpPr>
            <a:spLocks noGrp="1"/>
          </p:cNvSpPr>
          <p:nvPr/>
        </p:nvSpPr>
        <p:spPr>
          <a:xfrm>
            <a:off x="6572250" y="3429000"/>
            <a:ext cx="3429000" cy="628650"/>
          </a:xfrm>
          <a:prstGeom prst="rect">
            <a:avLst/>
          </a:prstGeom>
          <a:solidFill>
            <a:srgbClr val="FFF9F0"/>
          </a:solidFill>
          <a:ln w="9525">
            <a:solidFill>
              <a:srgbClr val="E9DDCB"/>
            </a:solidFill>
            <a:prstDash val="solid"/>
          </a:ln>
        </p:spPr>
        <p:txBody>
          <a:bodyPr/>
          <a:lstStyle/>
          <a:p>
            <a:endParaRPr/>
          </a:p>
        </p:txBody>
      </p:sp>
      <p:sp>
        <p:nvSpPr>
          <p:cNvPr id="26" name="矩形 25"/>
          <p:cNvSpPr>
            <a:spLocks noGrp="1"/>
          </p:cNvSpPr>
          <p:nvPr/>
        </p:nvSpPr>
        <p:spPr>
          <a:xfrm>
            <a:off x="6572250" y="3429000"/>
            <a:ext cx="57150" cy="628650"/>
          </a:xfrm>
          <a:prstGeom prst="rect">
            <a:avLst/>
          </a:prstGeom>
          <a:solidFill>
            <a:srgbClr val="B45A3C"/>
          </a:solidFill>
          <a:ln w="0">
            <a:solidFill>
              <a:srgbClr val="B45A3C"/>
            </a:solidFill>
            <a:prstDash val="solid"/>
          </a:ln>
        </p:spPr>
        <p:txBody>
          <a:bodyPr/>
          <a:lstStyle/>
          <a:p>
            <a:endParaRPr/>
          </a:p>
        </p:txBody>
      </p:sp>
      <p:sp>
        <p:nvSpPr>
          <p:cNvPr id="27" name="矩形 26"/>
          <p:cNvSpPr>
            <a:spLocks noGrp="1"/>
          </p:cNvSpPr>
          <p:nvPr/>
        </p:nvSpPr>
        <p:spPr>
          <a:xfrm>
            <a:off x="6781800" y="36004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Use AI to interpret</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complex situations</a:t>
            </a:r>
          </a:p>
        </p:txBody>
      </p:sp>
      <p:sp>
        <p:nvSpPr>
          <p:cNvPr id="28" name="矩形 27"/>
          <p:cNvSpPr>
            <a:spLocks noGrp="1"/>
          </p:cNvSpPr>
          <p:nvPr/>
        </p:nvSpPr>
        <p:spPr>
          <a:xfrm>
            <a:off x="6572250" y="4305300"/>
            <a:ext cx="3429000" cy="628650"/>
          </a:xfrm>
          <a:prstGeom prst="rect">
            <a:avLst/>
          </a:prstGeom>
          <a:solidFill>
            <a:srgbClr val="FFF9F0"/>
          </a:solidFill>
          <a:ln w="9525">
            <a:solidFill>
              <a:srgbClr val="E9DDCB"/>
            </a:solidFill>
            <a:prstDash val="solid"/>
          </a:ln>
        </p:spPr>
        <p:txBody>
          <a:bodyPr/>
          <a:lstStyle/>
          <a:p>
            <a:endParaRPr/>
          </a:p>
        </p:txBody>
      </p:sp>
      <p:sp>
        <p:nvSpPr>
          <p:cNvPr id="29" name="矩形 28"/>
          <p:cNvSpPr>
            <a:spLocks noGrp="1"/>
          </p:cNvSpPr>
          <p:nvPr/>
        </p:nvSpPr>
        <p:spPr>
          <a:xfrm>
            <a:off x="6572250" y="4305300"/>
            <a:ext cx="57150" cy="628650"/>
          </a:xfrm>
          <a:prstGeom prst="rect">
            <a:avLst/>
          </a:prstGeom>
          <a:solidFill>
            <a:srgbClr val="B45A3C"/>
          </a:solidFill>
          <a:ln w="0">
            <a:solidFill>
              <a:srgbClr val="B45A3C"/>
            </a:solidFill>
            <a:prstDash val="solid"/>
          </a:ln>
        </p:spPr>
        <p:txBody>
          <a:bodyPr/>
          <a:lstStyle/>
          <a:p>
            <a:endParaRPr/>
          </a:p>
        </p:txBody>
      </p:sp>
      <p:sp>
        <p:nvSpPr>
          <p:cNvPr id="30" name="矩形 29"/>
          <p:cNvSpPr>
            <a:spLocks noGrp="1"/>
          </p:cNvSpPr>
          <p:nvPr/>
        </p:nvSpPr>
        <p:spPr>
          <a:xfrm>
            <a:off x="6781800" y="44767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Rely on its explanation</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and framing</a:t>
            </a:r>
          </a:p>
        </p:txBody>
      </p:sp>
      <p:cxnSp>
        <p:nvCxnSpPr>
          <p:cNvPr id="101" name="直接箭头连接符 100"/>
          <p:cNvCxnSpPr>
            <a:stCxn id="12" idx="2"/>
            <a:endCxn id="15" idx="0"/>
          </p:cNvCxnSpPr>
          <p:nvPr/>
        </p:nvCxnSpPr>
        <p:spPr>
          <a:xfrm>
            <a:off x="2667000" y="3181350"/>
            <a:ext cx="0" cy="247650"/>
          </a:xfrm>
          <a:prstGeom prst="straightConnector1">
            <a:avLst/>
          </a:prstGeom>
          <a:ln w="19050">
            <a:solidFill>
              <a:srgbClr val="667561"/>
            </a:solidFill>
            <a:prstDash val="solid"/>
            <a:headEnd type="arrow" w="med" len="med"/>
          </a:ln>
        </p:spPr>
      </p:cxnSp>
      <p:cxnSp>
        <p:nvCxnSpPr>
          <p:cNvPr id="102" name="直接箭头连接符 101"/>
          <p:cNvCxnSpPr>
            <a:stCxn id="15" idx="2"/>
            <a:endCxn id="18" idx="0"/>
          </p:cNvCxnSpPr>
          <p:nvPr/>
        </p:nvCxnSpPr>
        <p:spPr>
          <a:xfrm>
            <a:off x="2667000" y="4057650"/>
            <a:ext cx="0" cy="247650"/>
          </a:xfrm>
          <a:prstGeom prst="straightConnector1">
            <a:avLst/>
          </a:prstGeom>
          <a:ln w="19050">
            <a:solidFill>
              <a:srgbClr val="667561"/>
            </a:solidFill>
            <a:prstDash val="solid"/>
            <a:headEnd type="arrow" w="med" len="med"/>
          </a:ln>
        </p:spPr>
      </p:cxnSp>
      <p:cxnSp>
        <p:nvCxnSpPr>
          <p:cNvPr id="103" name="直接箭头连接符 102"/>
          <p:cNvCxnSpPr>
            <a:stCxn id="21" idx="2"/>
            <a:endCxn id="24" idx="0"/>
          </p:cNvCxnSpPr>
          <p:nvPr/>
        </p:nvCxnSpPr>
        <p:spPr>
          <a:xfrm>
            <a:off x="8286750" y="3181350"/>
            <a:ext cx="0" cy="247650"/>
          </a:xfrm>
          <a:prstGeom prst="straightConnector1">
            <a:avLst/>
          </a:prstGeom>
          <a:ln w="19050">
            <a:solidFill>
              <a:srgbClr val="B45A3C"/>
            </a:solidFill>
            <a:prstDash val="solid"/>
            <a:headEnd type="arrow" w="med" len="med"/>
          </a:ln>
        </p:spPr>
      </p:cxnSp>
      <p:cxnSp>
        <p:nvCxnSpPr>
          <p:cNvPr id="104" name="直接箭头连接符 103"/>
          <p:cNvCxnSpPr>
            <a:stCxn id="24" idx="2"/>
            <a:endCxn id="27" idx="0"/>
          </p:cNvCxnSpPr>
          <p:nvPr/>
        </p:nvCxnSpPr>
        <p:spPr>
          <a:xfrm>
            <a:off x="8286750" y="4057650"/>
            <a:ext cx="0" cy="247650"/>
          </a:xfrm>
          <a:prstGeom prst="straightConnector1">
            <a:avLst/>
          </a:prstGeom>
          <a:ln w="19050">
            <a:solidFill>
              <a:srgbClr val="B45A3C"/>
            </a:solidFill>
            <a:prstDash val="solid"/>
            <a:headEnd type="arrow" w="med" len="med"/>
          </a:ln>
        </p:spPr>
      </p:cxnSp>
      <p:sp>
        <p:nvSpPr>
          <p:cNvPr id="34" name="矩形 33"/>
          <p:cNvSpPr>
            <a:spLocks noGrp="1"/>
          </p:cNvSpPr>
          <p:nvPr/>
        </p:nvSpPr>
        <p:spPr>
          <a:xfrm>
            <a:off x="4210050" y="3067050"/>
            <a:ext cx="1733550" cy="1143000"/>
          </a:xfrm>
          <a:prstGeom prst="rect">
            <a:avLst/>
          </a:prstGeom>
          <a:solidFill>
            <a:srgbClr val="EFE5D9"/>
          </a:solidFill>
          <a:ln w="9525">
            <a:solidFill>
              <a:srgbClr val="E9DDCB"/>
            </a:solidFill>
            <a:prstDash val="solid"/>
          </a:ln>
        </p:spPr>
        <p:txBody>
          <a:bodyPr/>
          <a:lstStyle/>
          <a:p>
            <a:endParaRPr/>
          </a:p>
        </p:txBody>
      </p:sp>
      <p:sp>
        <p:nvSpPr>
          <p:cNvPr id="35" name="矩形 34"/>
          <p:cNvSpPr>
            <a:spLocks noGrp="1"/>
          </p:cNvSpPr>
          <p:nvPr/>
        </p:nvSpPr>
        <p:spPr>
          <a:xfrm>
            <a:off x="4210050" y="3067050"/>
            <a:ext cx="57150" cy="1143000"/>
          </a:xfrm>
          <a:prstGeom prst="rect">
            <a:avLst/>
          </a:prstGeom>
          <a:solidFill>
            <a:srgbClr val="C89B4A"/>
          </a:solidFill>
          <a:ln w="0">
            <a:solidFill>
              <a:srgbClr val="C89B4A"/>
            </a:solidFill>
            <a:prstDash val="solid"/>
          </a:ln>
        </p:spPr>
        <p:txBody>
          <a:bodyPr/>
          <a:lstStyle/>
          <a:p>
            <a:endParaRPr/>
          </a:p>
        </p:txBody>
      </p:sp>
      <p:sp>
        <p:nvSpPr>
          <p:cNvPr id="36" name="矩形 35"/>
          <p:cNvSpPr>
            <a:spLocks noGrp="1"/>
          </p:cNvSpPr>
          <p:nvPr/>
        </p:nvSpPr>
        <p:spPr>
          <a:xfrm>
            <a:off x="4419600" y="3219450"/>
            <a:ext cx="1314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Aptos"/>
                <a:ea typeface="Aptos"/>
                <a:cs typeface="Aptos"/>
              </a:rPr>
              <a:t>SHIFT</a:t>
            </a:r>
          </a:p>
        </p:txBody>
      </p:sp>
      <p:sp>
        <p:nvSpPr>
          <p:cNvPr id="37" name="矩形 36"/>
          <p:cNvSpPr>
            <a:spLocks noGrp="1"/>
          </p:cNvSpPr>
          <p:nvPr/>
        </p:nvSpPr>
        <p:spPr>
          <a:xfrm>
            <a:off x="4419600" y="3390900"/>
            <a:ext cx="13144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From tool use</a:t>
            </a:r>
          </a:p>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to judgment</a:t>
            </a:r>
          </a:p>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interaction</a:t>
            </a:r>
          </a:p>
        </p:txBody>
      </p:sp>
      <p:sp>
        <p:nvSpPr>
          <p:cNvPr id="38" name="矩形 37"/>
          <p:cNvSpPr>
            <a:spLocks noGrp="1"/>
          </p:cNvSpPr>
          <p:nvPr/>
        </p:nvSpPr>
        <p:spPr>
          <a:xfrm>
            <a:off x="914400" y="5619750"/>
            <a:ext cx="1009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More and more users do not use AI only to search, calculate, or automate. They consult it, discuss with it, confirm with it, and sometimes rely on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WHY LLMs FEEL DIFFERENT</a:t>
            </a:r>
          </a:p>
        </p:txBody>
      </p:sp>
      <p:sp>
        <p:nvSpPr>
          <p:cNvPr id="8" name="矩形 7"/>
          <p:cNvSpPr>
            <a:spLocks noGrp="1"/>
          </p:cNvSpPr>
          <p:nvPr/>
        </p:nvSpPr>
        <p:spPr>
          <a:xfrm>
            <a:off x="914400" y="914400"/>
            <a:ext cx="6667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Large language models change interaction through language, explanation, and narrative</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Their Transformer architecture supports contextual integration, and later tuning makes them able to explain, respond, and interact continuously with users.</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05</a:t>
            </a:r>
          </a:p>
        </p:txBody>
      </p:sp>
      <p:sp>
        <p:nvSpPr>
          <p:cNvPr id="11" name="矩形 10"/>
          <p:cNvSpPr>
            <a:spLocks noGrp="1"/>
          </p:cNvSpPr>
          <p:nvPr/>
        </p:nvSpPr>
        <p:spPr>
          <a:xfrm>
            <a:off x="914400" y="24574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2" name="矩形 11"/>
          <p:cNvSpPr>
            <a:spLocks noGrp="1"/>
          </p:cNvSpPr>
          <p:nvPr/>
        </p:nvSpPr>
        <p:spPr>
          <a:xfrm>
            <a:off x="1181100" y="24384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This means the difference is not only more accurate output.</a:t>
            </a:r>
          </a:p>
        </p:txBody>
      </p:sp>
      <p:sp>
        <p:nvSpPr>
          <p:cNvPr id="13" name="矩形 12"/>
          <p:cNvSpPr>
            <a:spLocks noGrp="1"/>
          </p:cNvSpPr>
          <p:nvPr/>
        </p:nvSpPr>
        <p:spPr>
          <a:xfrm>
            <a:off x="914400" y="323850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4" name="矩形 13"/>
          <p:cNvSpPr>
            <a:spLocks noGrp="1"/>
          </p:cNvSpPr>
          <p:nvPr/>
        </p:nvSpPr>
        <p:spPr>
          <a:xfrm>
            <a:off x="1181100" y="321945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form of output and the mode of interaction also change.</a:t>
            </a:r>
          </a:p>
        </p:txBody>
      </p:sp>
      <p:sp>
        <p:nvSpPr>
          <p:cNvPr id="15" name="矩形 14"/>
          <p:cNvSpPr>
            <a:spLocks noGrp="1"/>
          </p:cNvSpPr>
          <p:nvPr/>
        </p:nvSpPr>
        <p:spPr>
          <a:xfrm>
            <a:off x="914400" y="40195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6" name="矩形 15"/>
          <p:cNvSpPr>
            <a:spLocks noGrp="1"/>
          </p:cNvSpPr>
          <p:nvPr/>
        </p:nvSpPr>
        <p:spPr>
          <a:xfrm>
            <a:off x="1181100" y="40005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LLMs enter the cognitive process through natural language, explanation, and narrative framing.</a:t>
            </a:r>
          </a:p>
        </p:txBody>
      </p:sp>
      <p:sp>
        <p:nvSpPr>
          <p:cNvPr id="17" name="矩形 16"/>
          <p:cNvSpPr>
            <a:spLocks noGrp="1"/>
          </p:cNvSpPr>
          <p:nvPr/>
        </p:nvSpPr>
        <p:spPr>
          <a:xfrm>
            <a:off x="7239000" y="2171700"/>
            <a:ext cx="3429000" cy="2628900"/>
          </a:xfrm>
          <a:prstGeom prst="rect">
            <a:avLst/>
          </a:prstGeom>
          <a:solidFill>
            <a:srgbClr val="FFF9F0"/>
          </a:solidFill>
          <a:ln w="9525">
            <a:solidFill>
              <a:srgbClr val="E9DDCB"/>
            </a:solidFill>
            <a:prstDash val="solid"/>
          </a:ln>
        </p:spPr>
        <p:txBody>
          <a:bodyPr/>
          <a:lstStyle/>
          <a:p>
            <a:endParaRPr/>
          </a:p>
        </p:txBody>
      </p:sp>
      <p:sp>
        <p:nvSpPr>
          <p:cNvPr id="18" name="矩形 17"/>
          <p:cNvSpPr>
            <a:spLocks noGrp="1"/>
          </p:cNvSpPr>
          <p:nvPr/>
        </p:nvSpPr>
        <p:spPr>
          <a:xfrm>
            <a:off x="7239000" y="2171700"/>
            <a:ext cx="57150" cy="2628900"/>
          </a:xfrm>
          <a:prstGeom prst="rect">
            <a:avLst/>
          </a:prstGeom>
          <a:solidFill>
            <a:srgbClr val="B45A3C"/>
          </a:solidFill>
          <a:ln w="0">
            <a:solidFill>
              <a:srgbClr val="B45A3C"/>
            </a:solidFill>
            <a:prstDash val="solid"/>
          </a:ln>
        </p:spPr>
        <p:txBody>
          <a:bodyPr/>
          <a:lstStyle/>
          <a:p>
            <a:endParaRPr/>
          </a:p>
        </p:txBody>
      </p:sp>
      <p:sp>
        <p:nvSpPr>
          <p:cNvPr id="19" name="矩形 18"/>
          <p:cNvSpPr>
            <a:spLocks noGrp="1"/>
          </p:cNvSpPr>
          <p:nvPr/>
        </p:nvSpPr>
        <p:spPr>
          <a:xfrm>
            <a:off x="7448550" y="2324100"/>
            <a:ext cx="3009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WHAT THIS ENABLES</a:t>
            </a:r>
          </a:p>
        </p:txBody>
      </p:sp>
      <p:sp>
        <p:nvSpPr>
          <p:cNvPr id="20" name="矩形 19"/>
          <p:cNvSpPr>
            <a:spLocks noGrp="1"/>
          </p:cNvSpPr>
          <p:nvPr/>
        </p:nvSpPr>
        <p:spPr>
          <a:xfrm>
            <a:off x="7448550" y="24955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Why it matters</a:t>
            </a:r>
          </a:p>
        </p:txBody>
      </p:sp>
      <p:sp>
        <p:nvSpPr>
          <p:cNvPr id="21" name="圆角矩形 20"/>
          <p:cNvSpPr>
            <a:spLocks noGrp="1"/>
          </p:cNvSpPr>
          <p:nvPr/>
        </p:nvSpPr>
        <p:spPr>
          <a:xfrm>
            <a:off x="7715250" y="2762250"/>
            <a:ext cx="2476500" cy="400050"/>
          </a:xfrm>
          <a:prstGeom prst="roundRect">
            <a:avLst>
              <a:gd name="adj" fmla="val 19048"/>
            </a:avLst>
          </a:prstGeom>
          <a:solidFill>
            <a:srgbClr val="E8C6B8"/>
          </a:solidFill>
          <a:ln w="0">
            <a:solidFill>
              <a:srgbClr val="E8C6B8"/>
            </a:solidFill>
            <a:prstDash val="solid"/>
          </a:ln>
        </p:spPr>
        <p:txBody>
          <a:bodyPr/>
          <a:lstStyle/>
          <a:p>
            <a:endParaRPr/>
          </a:p>
        </p:txBody>
      </p:sp>
      <p:sp>
        <p:nvSpPr>
          <p:cNvPr id="22" name="矩形 21"/>
          <p:cNvSpPr>
            <a:spLocks noGrp="1"/>
          </p:cNvSpPr>
          <p:nvPr/>
        </p:nvSpPr>
        <p:spPr>
          <a:xfrm>
            <a:off x="7829550" y="27908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Context integration</a:t>
            </a:r>
          </a:p>
        </p:txBody>
      </p:sp>
      <p:sp>
        <p:nvSpPr>
          <p:cNvPr id="23" name="圆角矩形 22"/>
          <p:cNvSpPr>
            <a:spLocks noGrp="1"/>
          </p:cNvSpPr>
          <p:nvPr/>
        </p:nvSpPr>
        <p:spPr>
          <a:xfrm>
            <a:off x="7715250" y="3352800"/>
            <a:ext cx="2476500" cy="400050"/>
          </a:xfrm>
          <a:prstGeom prst="roundRect">
            <a:avLst>
              <a:gd name="adj" fmla="val 19048"/>
            </a:avLst>
          </a:prstGeom>
          <a:solidFill>
            <a:srgbClr val="E9DDCB"/>
          </a:solidFill>
          <a:ln w="0">
            <a:solidFill>
              <a:srgbClr val="E9DDCB"/>
            </a:solidFill>
            <a:prstDash val="solid"/>
          </a:ln>
        </p:spPr>
        <p:txBody>
          <a:bodyPr/>
          <a:lstStyle/>
          <a:p>
            <a:endParaRPr/>
          </a:p>
        </p:txBody>
      </p:sp>
      <p:sp>
        <p:nvSpPr>
          <p:cNvPr id="24" name="矩形 23"/>
          <p:cNvSpPr>
            <a:spLocks noGrp="1"/>
          </p:cNvSpPr>
          <p:nvPr/>
        </p:nvSpPr>
        <p:spPr>
          <a:xfrm>
            <a:off x="7829550" y="338137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Continuous explanation</a:t>
            </a:r>
          </a:p>
        </p:txBody>
      </p:sp>
      <p:sp>
        <p:nvSpPr>
          <p:cNvPr id="25" name="圆角矩形 24"/>
          <p:cNvSpPr>
            <a:spLocks noGrp="1"/>
          </p:cNvSpPr>
          <p:nvPr/>
        </p:nvSpPr>
        <p:spPr>
          <a:xfrm>
            <a:off x="7715250" y="3943350"/>
            <a:ext cx="2476500" cy="400050"/>
          </a:xfrm>
          <a:prstGeom prst="roundRect">
            <a:avLst>
              <a:gd name="adj" fmla="val 19048"/>
            </a:avLst>
          </a:prstGeom>
          <a:solidFill>
            <a:srgbClr val="E6E0D4"/>
          </a:solidFill>
          <a:ln w="0">
            <a:solidFill>
              <a:srgbClr val="E6E0D4"/>
            </a:solidFill>
            <a:prstDash val="solid"/>
          </a:ln>
        </p:spPr>
        <p:txBody>
          <a:bodyPr/>
          <a:lstStyle/>
          <a:p>
            <a:endParaRPr/>
          </a:p>
        </p:txBody>
      </p:sp>
      <p:sp>
        <p:nvSpPr>
          <p:cNvPr id="26" name="矩形 25"/>
          <p:cNvSpPr>
            <a:spLocks noGrp="1"/>
          </p:cNvSpPr>
          <p:nvPr/>
        </p:nvSpPr>
        <p:spPr>
          <a:xfrm>
            <a:off x="7829550" y="39719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Narrative influence</a:t>
            </a:r>
          </a:p>
        </p:txBody>
      </p:sp>
      <p:sp>
        <p:nvSpPr>
          <p:cNvPr id="27" name="矩形 26"/>
          <p:cNvSpPr>
            <a:spLocks noGrp="1"/>
          </p:cNvSpPr>
          <p:nvPr/>
        </p:nvSpPr>
        <p:spPr>
          <a:xfrm>
            <a:off x="914400" y="5486400"/>
            <a:ext cx="9715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That is why people can be influenced not only by answers, but by the way answers are framed.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lang="en-US" sz="1050" b="1">
                <a:solidFill>
                  <a:srgbClr val="B45A3C"/>
                </a:solidFill>
                <a:latin typeface="Times New Roman" panose="02020603050405020304"/>
                <a:ea typeface="Times New Roman" panose="02020603050405020304"/>
                <a:cs typeface="Times New Roman" panose="02020603050405020304"/>
              </a:rPr>
              <a:t>ONE CONNECTED PROCESS</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8191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lang="en-US" sz="2550" b="1">
                <a:solidFill>
                  <a:srgbClr val="1D2433"/>
                </a:solidFill>
                <a:latin typeface="Times New Roman" panose="02020603050405020304"/>
                <a:ea typeface="Times New Roman" panose="02020603050405020304"/>
                <a:cs typeface="Times New Roman" panose="02020603050405020304"/>
              </a:rPr>
              <a:t>The three papers study different stages of one connected human-AI decision process</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lang="en-US" sz="750" b="0">
                <a:solidFill>
                  <a:srgbClr val="7B7F88"/>
                </a:solidFill>
                <a:latin typeface="Times New Roman" panose="02020603050405020304"/>
                <a:ea typeface="Times New Roman" panose="02020603050405020304"/>
                <a:cs typeface="Times New Roman" panose="02020603050405020304"/>
              </a:rPr>
              <a:t>Belief Formation -&gt; Reliance Calibration / Action Threshold -&gt; Responsibility Attribution</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06</a:t>
            </a:r>
          </a:p>
        </p:txBody>
      </p:sp>
      <p:sp>
        <p:nvSpPr>
          <p:cNvPr id="11" name="矩形 10"/>
          <p:cNvSpPr>
            <a:spLocks noGrp="1"/>
          </p:cNvSpPr>
          <p:nvPr/>
        </p:nvSpPr>
        <p:spPr>
          <a:xfrm>
            <a:off x="914400" y="2266950"/>
            <a:ext cx="3143250" cy="3257550"/>
          </a:xfrm>
          <a:prstGeom prst="rect">
            <a:avLst/>
          </a:prstGeom>
          <a:solidFill>
            <a:srgbClr val="FFF9F0"/>
          </a:solidFill>
          <a:ln w="9525">
            <a:solidFill>
              <a:srgbClr val="E9DDCB"/>
            </a:solidFill>
            <a:prstDash val="solid"/>
          </a:ln>
        </p:spPr>
        <p:txBody>
          <a:bodyPr/>
          <a:lstStyle/>
          <a:p>
            <a:endParaRPr/>
          </a:p>
        </p:txBody>
      </p:sp>
      <p:sp>
        <p:nvSpPr>
          <p:cNvPr id="12" name="矩形 11"/>
          <p:cNvSpPr>
            <a:spLocks noGrp="1"/>
          </p:cNvSpPr>
          <p:nvPr/>
        </p:nvSpPr>
        <p:spPr>
          <a:xfrm>
            <a:off x="914400" y="2266950"/>
            <a:ext cx="57150" cy="3257550"/>
          </a:xfrm>
          <a:prstGeom prst="rect">
            <a:avLst/>
          </a:prstGeom>
          <a:solidFill>
            <a:srgbClr val="B45A3C"/>
          </a:solidFill>
          <a:ln w="0">
            <a:solidFill>
              <a:srgbClr val="B45A3C"/>
            </a:solidFill>
            <a:prstDash val="solid"/>
          </a:ln>
        </p:spPr>
        <p:txBody>
          <a:bodyPr/>
          <a:lstStyle/>
          <a:p>
            <a:endParaRPr/>
          </a:p>
        </p:txBody>
      </p:sp>
      <p:sp>
        <p:nvSpPr>
          <p:cNvPr id="13" name="矩形 12"/>
          <p:cNvSpPr>
            <a:spLocks noGrp="1"/>
          </p:cNvSpPr>
          <p:nvPr/>
        </p:nvSpPr>
        <p:spPr>
          <a:xfrm>
            <a:off x="11239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1</a:t>
            </a:r>
          </a:p>
        </p:txBody>
      </p:sp>
      <p:sp>
        <p:nvSpPr>
          <p:cNvPr id="14" name="矩形 13"/>
          <p:cNvSpPr>
            <a:spLocks noGrp="1"/>
          </p:cNvSpPr>
          <p:nvPr/>
        </p:nvSpPr>
        <p:spPr>
          <a:xfrm>
            <a:off x="11239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Belief formation</a:t>
            </a:r>
          </a:p>
        </p:txBody>
      </p:sp>
      <p:sp>
        <p:nvSpPr>
          <p:cNvPr id="15" name="矩形 14"/>
          <p:cNvSpPr>
            <a:spLocks noGrp="1"/>
          </p:cNvSpPr>
          <p:nvPr/>
        </p:nvSpPr>
        <p:spPr>
          <a:xfrm>
            <a:off x="11049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16" name="矩形 15"/>
          <p:cNvSpPr>
            <a:spLocks noGrp="1"/>
          </p:cNvSpPr>
          <p:nvPr/>
        </p:nvSpPr>
        <p:spPr>
          <a:xfrm>
            <a:off x="13716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information -&gt; belief</a:t>
            </a:r>
          </a:p>
        </p:txBody>
      </p:sp>
      <p:sp>
        <p:nvSpPr>
          <p:cNvPr id="17" name="矩形 16"/>
          <p:cNvSpPr>
            <a:spLocks noGrp="1"/>
          </p:cNvSpPr>
          <p:nvPr/>
        </p:nvSpPr>
        <p:spPr>
          <a:xfrm>
            <a:off x="11049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18" name="矩形 17"/>
          <p:cNvSpPr>
            <a:spLocks noGrp="1"/>
          </p:cNvSpPr>
          <p:nvPr/>
        </p:nvSpPr>
        <p:spPr>
          <a:xfrm>
            <a:off x="13716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is a belief formed before people decide what to do?</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11049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20" name="矩形 19"/>
          <p:cNvSpPr>
            <a:spLocks noGrp="1"/>
          </p:cNvSpPr>
          <p:nvPr/>
        </p:nvSpPr>
        <p:spPr>
          <a:xfrm>
            <a:off x="13716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AI can shape what feels sufficient, relevant, or already processed.</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11049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belief-formation stage.</a:t>
            </a:r>
            <a:endParaRPr sz="900" b="0">
              <a:solidFill>
                <a:srgbClr val="5F6775"/>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4381500" y="2266950"/>
            <a:ext cx="3143250" cy="3257550"/>
          </a:xfrm>
          <a:prstGeom prst="rect">
            <a:avLst/>
          </a:prstGeom>
          <a:solidFill>
            <a:srgbClr val="FFF9F0"/>
          </a:solidFill>
          <a:ln w="9525">
            <a:solidFill>
              <a:srgbClr val="E9DDCB"/>
            </a:solidFill>
            <a:prstDash val="solid"/>
          </a:ln>
        </p:spPr>
        <p:txBody>
          <a:bodyPr/>
          <a:lstStyle/>
          <a:p>
            <a:endParaRPr/>
          </a:p>
        </p:txBody>
      </p:sp>
      <p:sp>
        <p:nvSpPr>
          <p:cNvPr id="23" name="矩形 22"/>
          <p:cNvSpPr>
            <a:spLocks noGrp="1"/>
          </p:cNvSpPr>
          <p:nvPr/>
        </p:nvSpPr>
        <p:spPr>
          <a:xfrm>
            <a:off x="4381500" y="2266950"/>
            <a:ext cx="57150" cy="3257550"/>
          </a:xfrm>
          <a:prstGeom prst="rect">
            <a:avLst/>
          </a:prstGeom>
          <a:solidFill>
            <a:srgbClr val="B45A3C"/>
          </a:solidFill>
          <a:ln w="0">
            <a:solidFill>
              <a:srgbClr val="B45A3C"/>
            </a:solidFill>
            <a:prstDash val="solid"/>
          </a:ln>
        </p:spPr>
        <p:txBody>
          <a:bodyPr/>
          <a:lstStyle/>
          <a:p>
            <a:endParaRPr/>
          </a:p>
        </p:txBody>
      </p:sp>
      <p:sp>
        <p:nvSpPr>
          <p:cNvPr id="24" name="矩形 23"/>
          <p:cNvSpPr>
            <a:spLocks noGrp="1"/>
          </p:cNvSpPr>
          <p:nvPr/>
        </p:nvSpPr>
        <p:spPr>
          <a:xfrm>
            <a:off x="45910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2</a:t>
            </a:r>
          </a:p>
        </p:txBody>
      </p:sp>
      <p:sp>
        <p:nvSpPr>
          <p:cNvPr id="25" name="矩形 24"/>
          <p:cNvSpPr>
            <a:spLocks noGrp="1"/>
          </p:cNvSpPr>
          <p:nvPr/>
        </p:nvSpPr>
        <p:spPr>
          <a:xfrm>
            <a:off x="45910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Reliance /</a:t>
            </a:r>
          </a:p>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action</a:t>
            </a:r>
          </a:p>
        </p:txBody>
      </p:sp>
      <p:sp>
        <p:nvSpPr>
          <p:cNvPr id="26" name="矩形 25"/>
          <p:cNvSpPr>
            <a:spLocks noGrp="1"/>
          </p:cNvSpPr>
          <p:nvPr/>
        </p:nvSpPr>
        <p:spPr>
          <a:xfrm>
            <a:off x="45720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27" name="矩形 26"/>
          <p:cNvSpPr>
            <a:spLocks noGrp="1"/>
          </p:cNvSpPr>
          <p:nvPr/>
        </p:nvSpPr>
        <p:spPr>
          <a:xfrm>
            <a:off x="48387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belief / feedback</a:t>
            </a:r>
          </a:p>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-&gt; action</a:t>
            </a:r>
          </a:p>
        </p:txBody>
      </p:sp>
      <p:sp>
        <p:nvSpPr>
          <p:cNvPr id="28" name="矩形 27"/>
          <p:cNvSpPr>
            <a:spLocks noGrp="1"/>
          </p:cNvSpPr>
          <p:nvPr/>
        </p:nvSpPr>
        <p:spPr>
          <a:xfrm>
            <a:off x="45720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29" name="矩形 28"/>
          <p:cNvSpPr>
            <a:spLocks noGrp="1"/>
          </p:cNvSpPr>
          <p:nvPr/>
        </p:nvSpPr>
        <p:spPr>
          <a:xfrm>
            <a:off x="48387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does feedback reshape reliance and the threshold for action?</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nvSpPr>
        <p:spPr>
          <a:xfrm>
            <a:off x="45720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31" name="矩形 30"/>
          <p:cNvSpPr>
            <a:spLocks noGrp="1"/>
          </p:cNvSpPr>
          <p:nvPr/>
        </p:nvSpPr>
        <p:spPr>
          <a:xfrm>
            <a:off x="48387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People may rely, defer, or act differently once AI enters the process.</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2" name="矩形 31"/>
          <p:cNvSpPr>
            <a:spLocks noGrp="1"/>
          </p:cNvSpPr>
          <p:nvPr/>
        </p:nvSpPr>
        <p:spPr>
          <a:xfrm>
            <a:off x="45720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reliance-and-action stage.</a:t>
            </a:r>
            <a:endParaRPr sz="900" b="0">
              <a:solidFill>
                <a:srgbClr val="5F6775"/>
              </a:solidFill>
              <a:latin typeface="Times New Roman" panose="02020603050405020304"/>
              <a:ea typeface="Times New Roman" panose="02020603050405020304"/>
              <a:cs typeface="Times New Roman" panose="02020603050405020304"/>
            </a:endParaRPr>
          </a:p>
        </p:txBody>
      </p:sp>
      <p:sp>
        <p:nvSpPr>
          <p:cNvPr id="33" name="矩形 32"/>
          <p:cNvSpPr>
            <a:spLocks noGrp="1"/>
          </p:cNvSpPr>
          <p:nvPr/>
        </p:nvSpPr>
        <p:spPr>
          <a:xfrm>
            <a:off x="7848600" y="2266950"/>
            <a:ext cx="3143250" cy="3257550"/>
          </a:xfrm>
          <a:prstGeom prst="rect">
            <a:avLst/>
          </a:prstGeom>
          <a:solidFill>
            <a:srgbClr val="FFF9F0"/>
          </a:solidFill>
          <a:ln w="9525">
            <a:solidFill>
              <a:srgbClr val="E9DDCB"/>
            </a:solidFill>
            <a:prstDash val="solid"/>
          </a:ln>
        </p:spPr>
        <p:txBody>
          <a:bodyPr/>
          <a:lstStyle/>
          <a:p>
            <a:endParaRPr/>
          </a:p>
        </p:txBody>
      </p:sp>
      <p:sp>
        <p:nvSpPr>
          <p:cNvPr id="34" name="矩形 33"/>
          <p:cNvSpPr>
            <a:spLocks noGrp="1"/>
          </p:cNvSpPr>
          <p:nvPr/>
        </p:nvSpPr>
        <p:spPr>
          <a:xfrm>
            <a:off x="7848600" y="2266950"/>
            <a:ext cx="57150" cy="3257550"/>
          </a:xfrm>
          <a:prstGeom prst="rect">
            <a:avLst/>
          </a:prstGeom>
          <a:solidFill>
            <a:srgbClr val="B45A3C"/>
          </a:solidFill>
          <a:ln w="0">
            <a:solidFill>
              <a:srgbClr val="B45A3C"/>
            </a:solidFill>
            <a:prstDash val="solid"/>
          </a:ln>
        </p:spPr>
        <p:txBody>
          <a:bodyPr/>
          <a:lstStyle/>
          <a:p>
            <a:endParaRPr/>
          </a:p>
        </p:txBody>
      </p:sp>
      <p:sp>
        <p:nvSpPr>
          <p:cNvPr id="35" name="矩形 34"/>
          <p:cNvSpPr>
            <a:spLocks noGrp="1"/>
          </p:cNvSpPr>
          <p:nvPr/>
        </p:nvSpPr>
        <p:spPr>
          <a:xfrm>
            <a:off x="80581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3</a:t>
            </a:r>
          </a:p>
        </p:txBody>
      </p:sp>
      <p:sp>
        <p:nvSpPr>
          <p:cNvPr id="36" name="矩形 35"/>
          <p:cNvSpPr>
            <a:spLocks noGrp="1"/>
          </p:cNvSpPr>
          <p:nvPr/>
        </p:nvSpPr>
        <p:spPr>
          <a:xfrm>
            <a:off x="80581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Responsibility</a:t>
            </a:r>
          </a:p>
        </p:txBody>
      </p:sp>
      <p:sp>
        <p:nvSpPr>
          <p:cNvPr id="37" name="矩形 36"/>
          <p:cNvSpPr>
            <a:spLocks noGrp="1"/>
          </p:cNvSpPr>
          <p:nvPr/>
        </p:nvSpPr>
        <p:spPr>
          <a:xfrm>
            <a:off x="80391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38" name="矩形 37"/>
          <p:cNvSpPr>
            <a:spLocks noGrp="1"/>
          </p:cNvSpPr>
          <p:nvPr/>
        </p:nvSpPr>
        <p:spPr>
          <a:xfrm>
            <a:off x="83058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action -&gt; consequence</a:t>
            </a:r>
          </a:p>
        </p:txBody>
      </p:sp>
      <p:sp>
        <p:nvSpPr>
          <p:cNvPr id="39" name="矩形 38"/>
          <p:cNvSpPr>
            <a:spLocks noGrp="1"/>
          </p:cNvSpPr>
          <p:nvPr/>
        </p:nvSpPr>
        <p:spPr>
          <a:xfrm>
            <a:off x="80391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40" name="矩形 39"/>
          <p:cNvSpPr>
            <a:spLocks noGrp="1"/>
          </p:cNvSpPr>
          <p:nvPr/>
        </p:nvSpPr>
        <p:spPr>
          <a:xfrm>
            <a:off x="83058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is responsibility understood once action produces consequences?</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41" name="矩形 40"/>
          <p:cNvSpPr>
            <a:spLocks noGrp="1"/>
          </p:cNvSpPr>
          <p:nvPr/>
        </p:nvSpPr>
        <p:spPr>
          <a:xfrm>
            <a:off x="80391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42" name="矩形 41"/>
          <p:cNvSpPr>
            <a:spLocks noGrp="1"/>
          </p:cNvSpPr>
          <p:nvPr/>
        </p:nvSpPr>
        <p:spPr>
          <a:xfrm>
            <a:off x="83058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AI can also reshape ownership and responsibility after outcomes occur.</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43" name="矩形 42"/>
          <p:cNvSpPr>
            <a:spLocks noGrp="1"/>
          </p:cNvSpPr>
          <p:nvPr/>
        </p:nvSpPr>
        <p:spPr>
          <a:xfrm>
            <a:off x="80391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responsibility stage.</a:t>
            </a:r>
            <a:endParaRPr sz="9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A46E4314-CFD6-B305-3062-409A9FFC57C5}"/>
              </a:ext>
            </a:extLst>
          </p:cNvPr>
          <p:cNvSpPr/>
          <p:nvPr/>
        </p:nvSpPr>
        <p:spPr>
          <a:xfrm>
            <a:off x="533400" y="533400"/>
            <a:ext cx="15240" cy="5486400"/>
          </a:xfrm>
          <a:prstGeom prst="rect">
            <a:avLst/>
          </a:prstGeom>
          <a:solidFill>
            <a:srgbClr val="E4D8C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C0FE1514-D66E-A739-3D59-49D17ED64506}"/>
              </a:ext>
            </a:extLst>
          </p:cNvPr>
          <p:cNvSpPr/>
          <p:nvPr/>
        </p:nvSpPr>
        <p:spPr>
          <a:xfrm>
            <a:off x="889000" y="622300"/>
            <a:ext cx="165100" cy="1651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8FA292F7-827F-2D80-07AD-FCB44F2C212A}"/>
              </a:ext>
            </a:extLst>
          </p:cNvPr>
          <p:cNvSpPr txBox="1"/>
          <p:nvPr/>
        </p:nvSpPr>
        <p:spPr>
          <a:xfrm>
            <a:off x="1168400" y="596900"/>
            <a:ext cx="3302000" cy="369332"/>
          </a:xfrm>
          <a:prstGeom prst="rect">
            <a:avLst/>
          </a:prstGeom>
          <a:noFill/>
        </p:spPr>
        <p:txBody>
          <a:bodyPr vert="horz" wrap="square" lIns="0" tIns="0" rIns="0" bIns="0" rtlCol="0">
            <a:noAutofit/>
          </a:bodyPr>
          <a:lstStyle/>
          <a:p>
            <a:r>
              <a:rPr lang="en-US" altLang="zh-CN" sz="950" b="1">
                <a:solidFill>
                  <a:srgbClr val="B45A3C"/>
                </a:solidFill>
                <a:latin typeface="Times New Roman" panose="02020603050405020304" pitchFamily="18" charset="0"/>
              </a:rPr>
              <a:t>TRANSITION TO PAPER 1</a:t>
            </a:r>
            <a:endParaRPr lang="zh-CN" altLang="en-US" sz="950" b="1">
              <a:solidFill>
                <a:srgbClr val="B45A3C"/>
              </a:solidFill>
              <a:latin typeface="Times New Roman" panose="02020603050405020304" pitchFamily="18" charset="0"/>
            </a:endParaRPr>
          </a:p>
        </p:txBody>
      </p:sp>
      <p:sp>
        <p:nvSpPr>
          <p:cNvPr id="34" name="文本框 33">
            <a:extLst>
              <a:ext uri="{FF2B5EF4-FFF2-40B4-BE49-F238E27FC236}">
                <a16:creationId xmlns:a16="http://schemas.microsoft.com/office/drawing/2014/main" id="{DF95ECE7-F912-E97D-AB0B-676BFD2DE73E}"/>
              </a:ext>
            </a:extLst>
          </p:cNvPr>
          <p:cNvSpPr txBox="1"/>
          <p:nvPr/>
        </p:nvSpPr>
        <p:spPr>
          <a:xfrm>
            <a:off x="889000" y="965200"/>
            <a:ext cx="9652000" cy="369332"/>
          </a:xfrm>
          <a:prstGeom prst="rect">
            <a:avLst/>
          </a:prstGeom>
          <a:noFill/>
        </p:spPr>
        <p:txBody>
          <a:bodyPr vert="horz" wrap="square" lIns="0" tIns="0" rIns="0" bIns="0" rtlCol="0">
            <a:noAutofit/>
          </a:bodyPr>
          <a:lstStyle/>
          <a:p>
            <a:r>
              <a:rPr lang="en-US" altLang="zh-CN" sz="2800" b="1">
                <a:solidFill>
                  <a:srgbClr val="203443"/>
                </a:solidFill>
                <a:latin typeface="Times New Roman" panose="02020603050405020304" pitchFamily="18" charset="0"/>
              </a:rPr>
              <a:t>Why begin with belief formation?</a:t>
            </a:r>
            <a:endParaRPr lang="zh-CN" altLang="en-US" sz="2800" b="1">
              <a:solidFill>
                <a:srgbClr val="203443"/>
              </a:solidFill>
              <a:latin typeface="Times New Roman" panose="02020603050405020304" pitchFamily="18" charset="0"/>
            </a:endParaRPr>
          </a:p>
        </p:txBody>
      </p:sp>
      <p:sp>
        <p:nvSpPr>
          <p:cNvPr id="35" name="文本框 34">
            <a:extLst>
              <a:ext uri="{FF2B5EF4-FFF2-40B4-BE49-F238E27FC236}">
                <a16:creationId xmlns:a16="http://schemas.microsoft.com/office/drawing/2014/main" id="{7B19D798-7F39-2A55-84CB-6254480D6869}"/>
              </a:ext>
            </a:extLst>
          </p:cNvPr>
          <p:cNvSpPr txBox="1"/>
          <p:nvPr/>
        </p:nvSpPr>
        <p:spPr>
          <a:xfrm>
            <a:off x="889000" y="1536700"/>
            <a:ext cx="9906000" cy="369332"/>
          </a:xfrm>
          <a:prstGeom prst="rect">
            <a:avLst/>
          </a:prstGeom>
          <a:noFill/>
        </p:spPr>
        <p:txBody>
          <a:bodyPr vert="horz" wrap="square" lIns="0" tIns="0" rIns="0" bIns="0" rtlCol="0">
            <a:noAutofit/>
          </a:bodyPr>
          <a:lstStyle/>
          <a:p>
            <a:r>
              <a:rPr lang="en-US" altLang="zh-CN" sz="1550">
                <a:solidFill>
                  <a:srgbClr val="6B716F"/>
                </a:solidFill>
                <a:latin typeface="Times New Roman" panose="02020603050405020304" pitchFamily="18" charset="0"/>
              </a:rPr>
              <a:t>Paper 1 is the upstream test: before people rely on AI, act with AI, or assign responsibility, they first form a belief about the situation.</a:t>
            </a:r>
            <a:endParaRPr lang="zh-CN" altLang="en-US" sz="1550">
              <a:solidFill>
                <a:srgbClr val="6B716F"/>
              </a:solidFill>
              <a:latin typeface="Times New Roman" panose="02020603050405020304" pitchFamily="18" charset="0"/>
            </a:endParaRPr>
          </a:p>
        </p:txBody>
      </p:sp>
      <p:sp>
        <p:nvSpPr>
          <p:cNvPr id="36" name="矩形 35">
            <a:extLst>
              <a:ext uri="{FF2B5EF4-FFF2-40B4-BE49-F238E27FC236}">
                <a16:creationId xmlns:a16="http://schemas.microsoft.com/office/drawing/2014/main" id="{0E1A09E7-C938-FDF2-1913-3D4763F3D6BD}"/>
              </a:ext>
            </a:extLst>
          </p:cNvPr>
          <p:cNvSpPr/>
          <p:nvPr/>
        </p:nvSpPr>
        <p:spPr>
          <a:xfrm>
            <a:off x="889000" y="2311400"/>
            <a:ext cx="2235200" cy="1549400"/>
          </a:xfrm>
          <a:prstGeom prst="rect">
            <a:avLst/>
          </a:prstGeom>
          <a:solidFill>
            <a:srgbClr val="FFFDF8"/>
          </a:solidFill>
          <a:ln w="9525">
            <a:solidFill>
              <a:srgbClr val="E4D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CB459588-DEB6-22DD-68D3-66023FE5A314}"/>
              </a:ext>
            </a:extLst>
          </p:cNvPr>
          <p:cNvSpPr/>
          <p:nvPr/>
        </p:nvSpPr>
        <p:spPr>
          <a:xfrm>
            <a:off x="889000" y="2311400"/>
            <a:ext cx="38100" cy="15494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2DCFC021-E76A-3E5A-AAE5-5853E0173CCA}"/>
              </a:ext>
            </a:extLst>
          </p:cNvPr>
          <p:cNvSpPr txBox="1"/>
          <p:nvPr/>
        </p:nvSpPr>
        <p:spPr>
          <a:xfrm>
            <a:off x="1054100" y="2489200"/>
            <a:ext cx="1905000" cy="369332"/>
          </a:xfrm>
          <a:prstGeom prst="rect">
            <a:avLst/>
          </a:prstGeom>
          <a:noFill/>
        </p:spPr>
        <p:txBody>
          <a:bodyPr vert="horz" wrap="square" lIns="0" tIns="0" rIns="0" bIns="0" rtlCol="0">
            <a:noAutofit/>
          </a:bodyPr>
          <a:lstStyle/>
          <a:p>
            <a:r>
              <a:rPr lang="en-US" altLang="zh-CN" sz="1600" b="1">
                <a:solidFill>
                  <a:srgbClr val="B45A3C"/>
                </a:solidFill>
                <a:latin typeface="Times New Roman" panose="02020603050405020304" pitchFamily="18" charset="0"/>
              </a:rPr>
              <a:t>1. Answer first</a:t>
            </a:r>
            <a:endParaRPr lang="zh-CN" altLang="en-US" sz="1600" b="1">
              <a:solidFill>
                <a:srgbClr val="B45A3C"/>
              </a:solidFill>
              <a:latin typeface="Times New Roman" panose="02020603050405020304" pitchFamily="18" charset="0"/>
            </a:endParaRPr>
          </a:p>
        </p:txBody>
      </p:sp>
      <p:sp>
        <p:nvSpPr>
          <p:cNvPr id="39" name="文本框 38">
            <a:extLst>
              <a:ext uri="{FF2B5EF4-FFF2-40B4-BE49-F238E27FC236}">
                <a16:creationId xmlns:a16="http://schemas.microsoft.com/office/drawing/2014/main" id="{38154A18-8A11-09CF-75BD-4CC5C4FF226A}"/>
              </a:ext>
            </a:extLst>
          </p:cNvPr>
          <p:cNvSpPr txBox="1"/>
          <p:nvPr/>
        </p:nvSpPr>
        <p:spPr>
          <a:xfrm>
            <a:off x="1054100" y="2882900"/>
            <a:ext cx="1905000" cy="369332"/>
          </a:xfrm>
          <a:prstGeom prst="rect">
            <a:avLst/>
          </a:prstGeom>
          <a:noFill/>
        </p:spPr>
        <p:txBody>
          <a:bodyPr vert="horz" wrap="square" lIns="0" tIns="0" rIns="0" bIns="0" rtlCol="0">
            <a:noAutofit/>
          </a:bodyPr>
          <a:lstStyle/>
          <a:p>
            <a:r>
              <a:rPr lang="en-US" altLang="zh-CN" sz="1350">
                <a:solidFill>
                  <a:srgbClr val="203443"/>
                </a:solidFill>
                <a:latin typeface="Times New Roman" panose="02020603050405020304" pitchFamily="18" charset="0"/>
              </a:rPr>
              <a:t>AI gives a coherent answer before the user personally inspects the evidence.</a:t>
            </a:r>
            <a:endParaRPr lang="zh-CN" altLang="en-US" sz="1350">
              <a:solidFill>
                <a:srgbClr val="203443"/>
              </a:solidFill>
              <a:latin typeface="Times New Roman" panose="02020603050405020304" pitchFamily="18" charset="0"/>
            </a:endParaRPr>
          </a:p>
        </p:txBody>
      </p:sp>
      <p:sp>
        <p:nvSpPr>
          <p:cNvPr id="40" name="矩形 39">
            <a:extLst>
              <a:ext uri="{FF2B5EF4-FFF2-40B4-BE49-F238E27FC236}">
                <a16:creationId xmlns:a16="http://schemas.microsoft.com/office/drawing/2014/main" id="{FFAE2F44-8D80-9E2A-42CB-03433EF07EB9}"/>
              </a:ext>
            </a:extLst>
          </p:cNvPr>
          <p:cNvSpPr/>
          <p:nvPr/>
        </p:nvSpPr>
        <p:spPr>
          <a:xfrm>
            <a:off x="3454400" y="2311400"/>
            <a:ext cx="2235200" cy="1549400"/>
          </a:xfrm>
          <a:prstGeom prst="rect">
            <a:avLst/>
          </a:prstGeom>
          <a:solidFill>
            <a:srgbClr val="FFFDF8"/>
          </a:solidFill>
          <a:ln w="9525">
            <a:solidFill>
              <a:srgbClr val="E4D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0D68318B-BDB9-020A-CA6C-75A744333254}"/>
              </a:ext>
            </a:extLst>
          </p:cNvPr>
          <p:cNvSpPr/>
          <p:nvPr/>
        </p:nvSpPr>
        <p:spPr>
          <a:xfrm>
            <a:off x="3454400" y="2311400"/>
            <a:ext cx="38100" cy="15494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4A197248-F331-A60F-1EE9-85309962F4AF}"/>
              </a:ext>
            </a:extLst>
          </p:cNvPr>
          <p:cNvSpPr txBox="1"/>
          <p:nvPr/>
        </p:nvSpPr>
        <p:spPr>
          <a:xfrm>
            <a:off x="3619500" y="2489200"/>
            <a:ext cx="1905000" cy="369332"/>
          </a:xfrm>
          <a:prstGeom prst="rect">
            <a:avLst/>
          </a:prstGeom>
          <a:noFill/>
        </p:spPr>
        <p:txBody>
          <a:bodyPr vert="horz" wrap="square" lIns="0" tIns="0" rIns="0" bIns="0" rtlCol="0">
            <a:noAutofit/>
          </a:bodyPr>
          <a:lstStyle/>
          <a:p>
            <a:r>
              <a:rPr lang="en-US" altLang="zh-CN" sz="1600" b="1">
                <a:solidFill>
                  <a:srgbClr val="B45A3C"/>
                </a:solidFill>
                <a:latin typeface="Times New Roman" panose="02020603050405020304" pitchFamily="18" charset="0"/>
              </a:rPr>
              <a:t>2. Search threshold</a:t>
            </a:r>
            <a:endParaRPr lang="zh-CN" altLang="en-US" sz="1600" b="1">
              <a:solidFill>
                <a:srgbClr val="B45A3C"/>
              </a:solidFill>
              <a:latin typeface="Times New Roman" panose="02020603050405020304" pitchFamily="18" charset="0"/>
            </a:endParaRPr>
          </a:p>
        </p:txBody>
      </p:sp>
      <p:sp>
        <p:nvSpPr>
          <p:cNvPr id="43" name="文本框 42">
            <a:extLst>
              <a:ext uri="{FF2B5EF4-FFF2-40B4-BE49-F238E27FC236}">
                <a16:creationId xmlns:a16="http://schemas.microsoft.com/office/drawing/2014/main" id="{3B3AF515-C079-DA15-A123-9DEF0B44B33C}"/>
              </a:ext>
            </a:extLst>
          </p:cNvPr>
          <p:cNvSpPr txBox="1"/>
          <p:nvPr/>
        </p:nvSpPr>
        <p:spPr>
          <a:xfrm>
            <a:off x="3619500" y="2882900"/>
            <a:ext cx="1905000" cy="369332"/>
          </a:xfrm>
          <a:prstGeom prst="rect">
            <a:avLst/>
          </a:prstGeom>
          <a:noFill/>
        </p:spPr>
        <p:txBody>
          <a:bodyPr vert="horz" wrap="square" lIns="0" tIns="0" rIns="0" bIns="0" rtlCol="0">
            <a:noAutofit/>
          </a:bodyPr>
          <a:lstStyle/>
          <a:p>
            <a:r>
              <a:rPr lang="en-US" altLang="zh-CN" sz="1350">
                <a:solidFill>
                  <a:srgbClr val="203443"/>
                </a:solidFill>
                <a:latin typeface="Times New Roman" panose="02020603050405020304" pitchFamily="18" charset="0"/>
              </a:rPr>
              <a:t>The user decides whether more evidence is still worth the cost.</a:t>
            </a:r>
            <a:endParaRPr lang="zh-CN" altLang="en-US" sz="1350">
              <a:solidFill>
                <a:srgbClr val="203443"/>
              </a:solidFill>
              <a:latin typeface="Times New Roman" panose="02020603050405020304" pitchFamily="18" charset="0"/>
            </a:endParaRPr>
          </a:p>
        </p:txBody>
      </p:sp>
      <p:sp>
        <p:nvSpPr>
          <p:cNvPr id="44" name="矩形 43">
            <a:extLst>
              <a:ext uri="{FF2B5EF4-FFF2-40B4-BE49-F238E27FC236}">
                <a16:creationId xmlns:a16="http://schemas.microsoft.com/office/drawing/2014/main" id="{CD1CC740-FBBD-A8AE-1F06-C77BBF0A4188}"/>
              </a:ext>
            </a:extLst>
          </p:cNvPr>
          <p:cNvSpPr/>
          <p:nvPr/>
        </p:nvSpPr>
        <p:spPr>
          <a:xfrm>
            <a:off x="6019800" y="2311400"/>
            <a:ext cx="2235200" cy="1549400"/>
          </a:xfrm>
          <a:prstGeom prst="rect">
            <a:avLst/>
          </a:prstGeom>
          <a:solidFill>
            <a:srgbClr val="FFFDF8"/>
          </a:solidFill>
          <a:ln w="9525">
            <a:solidFill>
              <a:srgbClr val="E4D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739CB041-148B-0AA6-9231-6DB665847A9F}"/>
              </a:ext>
            </a:extLst>
          </p:cNvPr>
          <p:cNvSpPr/>
          <p:nvPr/>
        </p:nvSpPr>
        <p:spPr>
          <a:xfrm>
            <a:off x="6019800" y="2311400"/>
            <a:ext cx="38100" cy="15494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807810DC-68BB-5BC0-C287-FC794CF729BE}"/>
              </a:ext>
            </a:extLst>
          </p:cNvPr>
          <p:cNvSpPr txBox="1"/>
          <p:nvPr/>
        </p:nvSpPr>
        <p:spPr>
          <a:xfrm>
            <a:off x="6184900" y="2489200"/>
            <a:ext cx="1905000" cy="369332"/>
          </a:xfrm>
          <a:prstGeom prst="rect">
            <a:avLst/>
          </a:prstGeom>
          <a:noFill/>
        </p:spPr>
        <p:txBody>
          <a:bodyPr vert="horz" wrap="square" lIns="0" tIns="0" rIns="0" bIns="0" rtlCol="0">
            <a:noAutofit/>
          </a:bodyPr>
          <a:lstStyle/>
          <a:p>
            <a:r>
              <a:rPr lang="en-US" altLang="zh-CN" sz="1600" b="1">
                <a:solidFill>
                  <a:srgbClr val="B45A3C"/>
                </a:solidFill>
                <a:latin typeface="Times New Roman" panose="02020603050405020304" pitchFamily="18" charset="0"/>
              </a:rPr>
              <a:t>3. Posterior belief</a:t>
            </a:r>
            <a:endParaRPr lang="zh-CN" altLang="en-US" sz="1600" b="1">
              <a:solidFill>
                <a:srgbClr val="B45A3C"/>
              </a:solidFill>
              <a:latin typeface="Times New Roman" panose="02020603050405020304" pitchFamily="18" charset="0"/>
            </a:endParaRPr>
          </a:p>
        </p:txBody>
      </p:sp>
      <p:sp>
        <p:nvSpPr>
          <p:cNvPr id="47" name="文本框 46">
            <a:extLst>
              <a:ext uri="{FF2B5EF4-FFF2-40B4-BE49-F238E27FC236}">
                <a16:creationId xmlns:a16="http://schemas.microsoft.com/office/drawing/2014/main" id="{CFA80865-7908-8517-EC10-03F162020221}"/>
              </a:ext>
            </a:extLst>
          </p:cNvPr>
          <p:cNvSpPr txBox="1"/>
          <p:nvPr/>
        </p:nvSpPr>
        <p:spPr>
          <a:xfrm>
            <a:off x="6184900" y="2882900"/>
            <a:ext cx="1905000" cy="369332"/>
          </a:xfrm>
          <a:prstGeom prst="rect">
            <a:avLst/>
          </a:prstGeom>
          <a:noFill/>
        </p:spPr>
        <p:txBody>
          <a:bodyPr vert="horz" wrap="square" lIns="0" tIns="0" rIns="0" bIns="0" rtlCol="0">
            <a:noAutofit/>
          </a:bodyPr>
          <a:lstStyle/>
          <a:p>
            <a:r>
              <a:rPr lang="en-US" altLang="zh-CN" sz="1350">
                <a:solidFill>
                  <a:srgbClr val="203443"/>
                </a:solidFill>
                <a:latin typeface="Times New Roman" panose="02020603050405020304" pitchFamily="18" charset="0"/>
              </a:rPr>
              <a:t>Judgment quality depends on both evidence seen and Bayesian updating.</a:t>
            </a:r>
            <a:endParaRPr lang="zh-CN" altLang="en-US" sz="1350">
              <a:solidFill>
                <a:srgbClr val="203443"/>
              </a:solidFill>
              <a:latin typeface="Times New Roman" panose="02020603050405020304" pitchFamily="18" charset="0"/>
            </a:endParaRPr>
          </a:p>
        </p:txBody>
      </p:sp>
      <p:sp>
        <p:nvSpPr>
          <p:cNvPr id="48" name="矩形 47">
            <a:extLst>
              <a:ext uri="{FF2B5EF4-FFF2-40B4-BE49-F238E27FC236}">
                <a16:creationId xmlns:a16="http://schemas.microsoft.com/office/drawing/2014/main" id="{64CDB06B-2E05-155B-B324-F65C136E6CF2}"/>
              </a:ext>
            </a:extLst>
          </p:cNvPr>
          <p:cNvSpPr/>
          <p:nvPr/>
        </p:nvSpPr>
        <p:spPr>
          <a:xfrm>
            <a:off x="8585200" y="2311400"/>
            <a:ext cx="2235200" cy="1549400"/>
          </a:xfrm>
          <a:prstGeom prst="rect">
            <a:avLst/>
          </a:prstGeom>
          <a:solidFill>
            <a:srgbClr val="FFFDF8"/>
          </a:solidFill>
          <a:ln w="9525">
            <a:solidFill>
              <a:srgbClr val="E4D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FCD77FCE-9946-93EC-C7F5-DBFF90467742}"/>
              </a:ext>
            </a:extLst>
          </p:cNvPr>
          <p:cNvSpPr/>
          <p:nvPr/>
        </p:nvSpPr>
        <p:spPr>
          <a:xfrm>
            <a:off x="8585200" y="2311400"/>
            <a:ext cx="38100" cy="15494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AA271C27-DEA6-49C6-CC34-DC7E34F75D4E}"/>
              </a:ext>
            </a:extLst>
          </p:cNvPr>
          <p:cNvSpPr txBox="1"/>
          <p:nvPr/>
        </p:nvSpPr>
        <p:spPr>
          <a:xfrm>
            <a:off x="8750300" y="2489200"/>
            <a:ext cx="1905000" cy="369332"/>
          </a:xfrm>
          <a:prstGeom prst="rect">
            <a:avLst/>
          </a:prstGeom>
          <a:noFill/>
        </p:spPr>
        <p:txBody>
          <a:bodyPr vert="horz" wrap="square" lIns="0" tIns="0" rIns="0" bIns="0" rtlCol="0">
            <a:noAutofit/>
          </a:bodyPr>
          <a:lstStyle/>
          <a:p>
            <a:r>
              <a:rPr lang="en-US" altLang="zh-CN" sz="1600" b="1">
                <a:solidFill>
                  <a:srgbClr val="B45A3C"/>
                </a:solidFill>
                <a:latin typeface="Times New Roman" panose="02020603050405020304" pitchFamily="18" charset="0"/>
              </a:rPr>
              <a:t>4. Later stages</a:t>
            </a:r>
            <a:endParaRPr lang="zh-CN" altLang="en-US" sz="1600" b="1">
              <a:solidFill>
                <a:srgbClr val="B45A3C"/>
              </a:solidFill>
              <a:latin typeface="Times New Roman" panose="02020603050405020304" pitchFamily="18" charset="0"/>
            </a:endParaRPr>
          </a:p>
        </p:txBody>
      </p:sp>
      <p:sp>
        <p:nvSpPr>
          <p:cNvPr id="51" name="文本框 50">
            <a:extLst>
              <a:ext uri="{FF2B5EF4-FFF2-40B4-BE49-F238E27FC236}">
                <a16:creationId xmlns:a16="http://schemas.microsoft.com/office/drawing/2014/main" id="{4552CA93-1EB3-B229-F7C2-8A51E4413249}"/>
              </a:ext>
            </a:extLst>
          </p:cNvPr>
          <p:cNvSpPr txBox="1"/>
          <p:nvPr/>
        </p:nvSpPr>
        <p:spPr>
          <a:xfrm>
            <a:off x="8750300" y="2882900"/>
            <a:ext cx="1905000" cy="369332"/>
          </a:xfrm>
          <a:prstGeom prst="rect">
            <a:avLst/>
          </a:prstGeom>
          <a:noFill/>
        </p:spPr>
        <p:txBody>
          <a:bodyPr vert="horz" wrap="square" lIns="0" tIns="0" rIns="0" bIns="0" rtlCol="0">
            <a:noAutofit/>
          </a:bodyPr>
          <a:lstStyle/>
          <a:p>
            <a:r>
              <a:rPr lang="en-US" altLang="zh-CN" sz="1350">
                <a:solidFill>
                  <a:srgbClr val="203443"/>
                </a:solidFill>
                <a:latin typeface="Times New Roman" panose="02020603050405020304" pitchFamily="18" charset="0"/>
              </a:rPr>
              <a:t>Reliance calibration and responsibility attribution inherit this belief state.</a:t>
            </a:r>
            <a:endParaRPr lang="zh-CN" altLang="en-US" sz="1350">
              <a:solidFill>
                <a:srgbClr val="203443"/>
              </a:solidFill>
              <a:latin typeface="Times New Roman" panose="02020603050405020304" pitchFamily="18" charset="0"/>
            </a:endParaRPr>
          </a:p>
        </p:txBody>
      </p:sp>
      <p:cxnSp>
        <p:nvCxnSpPr>
          <p:cNvPr id="52" name="直接连接符 51">
            <a:extLst>
              <a:ext uri="{FF2B5EF4-FFF2-40B4-BE49-F238E27FC236}">
                <a16:creationId xmlns:a16="http://schemas.microsoft.com/office/drawing/2014/main" id="{B3DEFF2C-D494-3B3C-5FE8-A7E892E5EEE7}"/>
              </a:ext>
            </a:extLst>
          </p:cNvPr>
          <p:cNvCxnSpPr/>
          <p:nvPr/>
        </p:nvCxnSpPr>
        <p:spPr>
          <a:xfrm>
            <a:off x="3187700" y="3086100"/>
            <a:ext cx="203200" cy="0"/>
          </a:xfrm>
          <a:prstGeom prst="line">
            <a:avLst/>
          </a:prstGeom>
          <a:ln w="17780">
            <a:solidFill>
              <a:srgbClr val="C69A54"/>
            </a:solidFill>
            <a:tailEnd type="arrow"/>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6F086378-B5D3-DAC8-96DD-DE8BE97B7C81}"/>
              </a:ext>
            </a:extLst>
          </p:cNvPr>
          <p:cNvCxnSpPr/>
          <p:nvPr/>
        </p:nvCxnSpPr>
        <p:spPr>
          <a:xfrm>
            <a:off x="5753100" y="3086100"/>
            <a:ext cx="203200" cy="0"/>
          </a:xfrm>
          <a:prstGeom prst="line">
            <a:avLst/>
          </a:prstGeom>
          <a:ln w="17780">
            <a:solidFill>
              <a:srgbClr val="C69A54"/>
            </a:solidFill>
            <a:tailEnd type="arrow"/>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14697DB3-0AB4-06B8-65FC-B4D51047957E}"/>
              </a:ext>
            </a:extLst>
          </p:cNvPr>
          <p:cNvCxnSpPr/>
          <p:nvPr/>
        </p:nvCxnSpPr>
        <p:spPr>
          <a:xfrm>
            <a:off x="8318500" y="3086100"/>
            <a:ext cx="203200" cy="0"/>
          </a:xfrm>
          <a:prstGeom prst="line">
            <a:avLst/>
          </a:prstGeom>
          <a:ln w="17780">
            <a:solidFill>
              <a:srgbClr val="C69A54"/>
            </a:solidFill>
            <a:tailEnd type="arrow"/>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0117084D-876E-2CA1-EFFD-03ADCDB8F189}"/>
              </a:ext>
            </a:extLst>
          </p:cNvPr>
          <p:cNvSpPr/>
          <p:nvPr/>
        </p:nvSpPr>
        <p:spPr>
          <a:xfrm>
            <a:off x="889000" y="4394200"/>
            <a:ext cx="9931400" cy="965200"/>
          </a:xfrm>
          <a:prstGeom prst="rect">
            <a:avLst/>
          </a:prstGeom>
          <a:solidFill>
            <a:srgbClr val="1F3646"/>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49734235-3A6E-08E5-081F-B39FB0D3CCA5}"/>
              </a:ext>
            </a:extLst>
          </p:cNvPr>
          <p:cNvSpPr txBox="1"/>
          <p:nvPr/>
        </p:nvSpPr>
        <p:spPr>
          <a:xfrm>
            <a:off x="1193800" y="4648200"/>
            <a:ext cx="9296400" cy="369332"/>
          </a:xfrm>
          <a:prstGeom prst="rect">
            <a:avLst/>
          </a:prstGeom>
          <a:noFill/>
        </p:spPr>
        <p:txBody>
          <a:bodyPr vert="horz" wrap="square" lIns="0" tIns="0" rIns="0" bIns="0" rtlCol="0">
            <a:noAutofit/>
          </a:bodyPr>
          <a:lstStyle/>
          <a:p>
            <a:pPr algn="ctr"/>
            <a:r>
              <a:rPr lang="en-US" altLang="zh-CN" b="1">
                <a:solidFill>
                  <a:srgbClr val="FFFFFF"/>
                </a:solidFill>
                <a:latin typeface="Times New Roman" panose="02020603050405020304" pitchFamily="18" charset="0"/>
              </a:rPr>
              <a:t>So the dissertation begins with Paper 1: it asks how AI reshapes what people believe before action and responsibility are even on the table.</a:t>
            </a:r>
            <a:endParaRPr lang="zh-CN" altLang="en-US" b="1">
              <a:solidFill>
                <a:srgbClr val="FFFFFF"/>
              </a:solidFill>
              <a:latin typeface="Times New Roman" panose="02020603050405020304" pitchFamily="18" charset="0"/>
            </a:endParaRPr>
          </a:p>
        </p:txBody>
      </p:sp>
      <p:sp>
        <p:nvSpPr>
          <p:cNvPr id="57" name="文本框 56">
            <a:extLst>
              <a:ext uri="{FF2B5EF4-FFF2-40B4-BE49-F238E27FC236}">
                <a16:creationId xmlns:a16="http://schemas.microsoft.com/office/drawing/2014/main" id="{89E5C595-635A-DB73-CC3D-A46D7DCA3576}"/>
              </a:ext>
            </a:extLst>
          </p:cNvPr>
          <p:cNvSpPr txBox="1"/>
          <p:nvPr/>
        </p:nvSpPr>
        <p:spPr>
          <a:xfrm>
            <a:off x="889000" y="5676900"/>
            <a:ext cx="9931400" cy="369332"/>
          </a:xfrm>
          <a:prstGeom prst="rect">
            <a:avLst/>
          </a:prstGeom>
          <a:noFill/>
        </p:spPr>
        <p:txBody>
          <a:bodyPr vert="horz" wrap="square" lIns="0" tIns="0" rIns="0" bIns="0" rtlCol="0">
            <a:noAutofit/>
          </a:bodyPr>
          <a:lstStyle/>
          <a:p>
            <a:r>
              <a:rPr lang="en-US" altLang="zh-CN" sz="1150">
                <a:solidFill>
                  <a:srgbClr val="6B716F"/>
                </a:solidFill>
                <a:latin typeface="Times New Roman" panose="02020603050405020304" pitchFamily="18" charset="0"/>
              </a:rPr>
              <a:t>This turns the previous map into a sequence: belief formation is not a side topic; it is the starting condition for the later papers.</a:t>
            </a:r>
            <a:endParaRPr lang="zh-CN" altLang="en-US" sz="1150">
              <a:solidFill>
                <a:srgbClr val="6B716F"/>
              </a:solidFill>
              <a:latin typeface="Times New Roman" panose="02020603050405020304" pitchFamily="18" charset="0"/>
            </a:endParaRPr>
          </a:p>
        </p:txBody>
      </p:sp>
      <p:sp>
        <p:nvSpPr>
          <p:cNvPr id="58" name="文本框 57">
            <a:extLst>
              <a:ext uri="{FF2B5EF4-FFF2-40B4-BE49-F238E27FC236}">
                <a16:creationId xmlns:a16="http://schemas.microsoft.com/office/drawing/2014/main" id="{58116C62-FF7C-EB35-640A-6A069D514FDA}"/>
              </a:ext>
            </a:extLst>
          </p:cNvPr>
          <p:cNvSpPr txBox="1"/>
          <p:nvPr/>
        </p:nvSpPr>
        <p:spPr>
          <a:xfrm>
            <a:off x="10541000" y="6426200"/>
            <a:ext cx="279400" cy="369332"/>
          </a:xfrm>
          <a:prstGeom prst="rect">
            <a:avLst/>
          </a:prstGeom>
          <a:noFill/>
        </p:spPr>
        <p:txBody>
          <a:bodyPr vert="horz" wrap="square" lIns="0" tIns="0" rIns="0" bIns="0" rtlCol="0">
            <a:noAutofit/>
          </a:bodyPr>
          <a:lstStyle/>
          <a:p>
            <a:pPr algn="ctr"/>
            <a:r>
              <a:rPr lang="en-US" altLang="zh-CN" sz="850" b="1">
                <a:solidFill>
                  <a:srgbClr val="B45A3C"/>
                </a:solidFill>
                <a:latin typeface="Times New Roman" panose="02020603050405020304" pitchFamily="18" charset="0"/>
              </a:rPr>
              <a:t>07</a:t>
            </a:r>
            <a:endParaRPr lang="zh-CN" altLang="en-US" sz="850" b="1">
              <a:solidFill>
                <a:srgbClr val="B45A3C"/>
              </a:solidFill>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1814</Words>
  <Application>Microsoft Office PowerPoint</Application>
  <PresentationFormat>宽屏</PresentationFormat>
  <Paragraphs>201</Paragraphs>
  <Slides>7</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7</vt:i4>
      </vt:variant>
    </vt:vector>
  </HeadingPairs>
  <TitlesOfParts>
    <vt:vector size="12" baseType="lpstr">
      <vt:lpstr>Aptos</vt:lpstr>
      <vt:lpstr>Aptos Mono</vt:lpstr>
      <vt:lpstr>Calibri</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Xiangyu XU</cp:lastModifiedBy>
  <cp:revision>17</cp:revision>
  <dcterms:created xsi:type="dcterms:W3CDTF">2026-07-05T17:54:00Z</dcterms:created>
  <dcterms:modified xsi:type="dcterms:W3CDTF">2026-07-06T16:38:37Z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FC4ED24489424AEB9888716CB5877813_12</vt:lpwstr>
  </property>
</Properties>
</file>